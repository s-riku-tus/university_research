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99" r:id="rId3"/>
    <p:sldId id="373" r:id="rId4"/>
    <p:sldId id="372" r:id="rId5"/>
    <p:sldId id="375" r:id="rId6"/>
    <p:sldId id="369" r:id="rId7"/>
    <p:sldId id="370" r:id="rId8"/>
    <p:sldId id="374" r:id="rId9"/>
    <p:sldId id="362" r:id="rId10"/>
    <p:sldId id="364" r:id="rId11"/>
    <p:sldId id="352" r:id="rId12"/>
    <p:sldId id="350" r:id="rId13"/>
    <p:sldId id="359" r:id="rId14"/>
    <p:sldId id="298" r:id="rId15"/>
    <p:sldId id="342" r:id="rId16"/>
    <p:sldId id="343" r:id="rId17"/>
    <p:sldId id="302" r:id="rId18"/>
    <p:sldId id="344" r:id="rId19"/>
    <p:sldId id="303" r:id="rId20"/>
    <p:sldId id="353" r:id="rId21"/>
    <p:sldId id="354" r:id="rId22"/>
  </p:sldIdLst>
  <p:sldSz cx="18288000" cy="10287000"/>
  <p:notesSz cx="6858000" cy="9144000"/>
  <p:embeddedFontLst>
    <p:embeddedFont>
      <p:font typeface="Source Han Sans JP" panose="020B0600070205080204" charset="-128"/>
      <p:regular r:id="rId24"/>
    </p:embeddedFont>
    <p:embeddedFont>
      <p:font typeface="Source Han Sans JP Bold" panose="020B0600070205080204" charset="-128"/>
      <p:regular r:id="rId25"/>
    </p:embeddedFont>
    <p:embeddedFont>
      <p:font typeface="Source Han Sans JP Medium" panose="020B0600070205080204" charset="-128"/>
      <p:regular r:id="rId26"/>
    </p:embeddedFont>
    <p:embeddedFont>
      <p:font typeface="Cambria Math" panose="02040503050406030204" pitchFamily="18" charset="0"/>
      <p:regular r:id="rId27"/>
    </p:embeddedFont>
    <p:embeddedFont>
      <p:font typeface="Meiryo UI" panose="020B0604030504040204" pitchFamily="50" charset="-128"/>
      <p:regular r:id="rId28"/>
      <p:bold r:id="rId29"/>
      <p:italic r:id="rId30"/>
      <p:boldItalic r:id="rId31"/>
    </p:embeddedFont>
    <p:embeddedFont>
      <p:font typeface="Now" panose="020B0600070205080204" charset="0"/>
      <p:regular r:id="rId32"/>
    </p:embeddedFont>
    <p:embeddedFont>
      <p:font typeface="游ゴシック" panose="020B0400000000000000" pitchFamily="50" charset="-128"/>
      <p:regular r:id="rId33"/>
      <p:bold r:id="rId34"/>
    </p:embeddedFont>
    <p:embeddedFont>
      <p:font typeface="游ゴシック Medium" panose="020B0500000000000000" pitchFamily="50" charset="-128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4FD809A-16E9-4A61-A3AB-0BA26E6F3F4C}">
          <p14:sldIdLst>
            <p14:sldId id="256"/>
            <p14:sldId id="299"/>
            <p14:sldId id="373"/>
            <p14:sldId id="372"/>
            <p14:sldId id="375"/>
            <p14:sldId id="369"/>
            <p14:sldId id="370"/>
            <p14:sldId id="374"/>
            <p14:sldId id="362"/>
            <p14:sldId id="364"/>
          </p14:sldIdLst>
        </p14:section>
        <p14:section name="テンプレート" id="{8EC063C3-38F5-405D-BD10-6AC59FF97235}">
          <p14:sldIdLst>
            <p14:sldId id="352"/>
            <p14:sldId id="350"/>
            <p14:sldId id="359"/>
            <p14:sldId id="298"/>
            <p14:sldId id="342"/>
            <p14:sldId id="343"/>
            <p14:sldId id="302"/>
            <p14:sldId id="344"/>
            <p14:sldId id="303"/>
            <p14:sldId id="353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5276F8"/>
    <a:srgbClr val="ECF1F1"/>
    <a:srgbClr val="86B8B7"/>
    <a:srgbClr val="DBE9E8"/>
    <a:srgbClr val="C8DEDD"/>
    <a:srgbClr val="93BFBE"/>
    <a:srgbClr val="76AEAD"/>
    <a:srgbClr val="5DC77B"/>
    <a:srgbClr val="64A4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0AAE3-35CE-44A7-A913-7ACB3356B8EB}" v="4" dt="2025-12-19T01:23:46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80364" autoAdjust="0"/>
  </p:normalViewPr>
  <p:slideViewPr>
    <p:cSldViewPr>
      <p:cViewPr varScale="1">
        <p:scale>
          <a:sx n="50" d="100"/>
          <a:sy n="50" d="100"/>
        </p:scale>
        <p:origin x="392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陸 柴崎" userId="47b6e960b06a1f92" providerId="LiveId" clId="{DFDF2D9E-0FA2-4FD2-962D-E4713059FE82}"/>
    <pc:docChg chg="custSel modSld">
      <pc:chgData name="陸 柴崎" userId="47b6e960b06a1f92" providerId="LiveId" clId="{DFDF2D9E-0FA2-4FD2-962D-E4713059FE82}" dt="2025-12-19T01:57:23.801" v="39" actId="207"/>
      <pc:docMkLst>
        <pc:docMk/>
      </pc:docMkLst>
      <pc:sldChg chg="addSp delSp modSp mod">
        <pc:chgData name="陸 柴崎" userId="47b6e960b06a1f92" providerId="LiveId" clId="{DFDF2D9E-0FA2-4FD2-962D-E4713059FE82}" dt="2025-12-19T01:57:23.801" v="39" actId="207"/>
        <pc:sldMkLst>
          <pc:docMk/>
          <pc:sldMk cId="953242606" sldId="362"/>
        </pc:sldMkLst>
        <pc:spChg chg="del mod">
          <ac:chgData name="陸 柴崎" userId="47b6e960b06a1f92" providerId="LiveId" clId="{DFDF2D9E-0FA2-4FD2-962D-E4713059FE82}" dt="2025-12-19T01:23:52.452" v="20" actId="478"/>
          <ac:spMkLst>
            <pc:docMk/>
            <pc:sldMk cId="953242606" sldId="362"/>
            <ac:spMk id="7" creationId="{9CAF2F11-850B-FE92-D50B-335F879B6B6E}"/>
          </ac:spMkLst>
        </pc:spChg>
        <pc:spChg chg="mod">
          <ac:chgData name="陸 柴崎" userId="47b6e960b06a1f92" providerId="LiveId" clId="{DFDF2D9E-0FA2-4FD2-962D-E4713059FE82}" dt="2025-12-19T01:57:23.801" v="39" actId="207"/>
          <ac:spMkLst>
            <pc:docMk/>
            <pc:sldMk cId="953242606" sldId="362"/>
            <ac:spMk id="27" creationId="{E4589225-5EA6-058C-F5B2-B94BC2B6A006}"/>
          </ac:spMkLst>
        </pc:spChg>
        <pc:spChg chg="mod">
          <ac:chgData name="陸 柴崎" userId="47b6e960b06a1f92" providerId="LiveId" clId="{DFDF2D9E-0FA2-4FD2-962D-E4713059FE82}" dt="2025-12-19T01:23:59.981" v="22" actId="207"/>
          <ac:spMkLst>
            <pc:docMk/>
            <pc:sldMk cId="953242606" sldId="362"/>
            <ac:spMk id="29" creationId="{7324584D-4C6C-0D9F-2800-3FCF8A299990}"/>
          </ac:spMkLst>
        </pc:spChg>
        <pc:spChg chg="add mod">
          <ac:chgData name="陸 柴崎" userId="47b6e960b06a1f92" providerId="LiveId" clId="{DFDF2D9E-0FA2-4FD2-962D-E4713059FE82}" dt="2025-12-19T01:23:45.084" v="17" actId="14100"/>
          <ac:spMkLst>
            <pc:docMk/>
            <pc:sldMk cId="953242606" sldId="362"/>
            <ac:spMk id="32" creationId="{721355A8-9482-793D-BBA0-C0146D892C3A}"/>
          </ac:spMkLst>
        </pc:spChg>
        <pc:spChg chg="add mod">
          <ac:chgData name="陸 柴崎" userId="47b6e960b06a1f92" providerId="LiveId" clId="{DFDF2D9E-0FA2-4FD2-962D-E4713059FE82}" dt="2025-12-19T01:23:28.649" v="5" actId="1076"/>
          <ac:spMkLst>
            <pc:docMk/>
            <pc:sldMk cId="953242606" sldId="362"/>
            <ac:spMk id="33" creationId="{3B648837-2A4A-AE6A-5A3E-D72B0C3E9D92}"/>
          </ac:spMkLst>
        </pc:spChg>
        <pc:spChg chg="add mod">
          <ac:chgData name="陸 柴崎" userId="47b6e960b06a1f92" providerId="LiveId" clId="{DFDF2D9E-0FA2-4FD2-962D-E4713059FE82}" dt="2025-12-19T01:23:22.200" v="4" actId="1076"/>
          <ac:spMkLst>
            <pc:docMk/>
            <pc:sldMk cId="953242606" sldId="362"/>
            <ac:spMk id="34" creationId="{6D992348-E27E-1196-C8D9-285C37887F48}"/>
          </ac:spMkLst>
        </pc:spChg>
        <pc:spChg chg="add mod">
          <ac:chgData name="陸 柴崎" userId="47b6e960b06a1f92" providerId="LiveId" clId="{DFDF2D9E-0FA2-4FD2-962D-E4713059FE82}" dt="2025-12-19T01:23:49.076" v="19" actId="1076"/>
          <ac:spMkLst>
            <pc:docMk/>
            <pc:sldMk cId="953242606" sldId="362"/>
            <ac:spMk id="35" creationId="{727CA507-3C8E-6971-54C6-E10E7C1971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vml-expertguide.net/terms/dl/layers/convolution-layer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ウィグナーヴィレ分布・・・スペクトログラムの特徴量の差を強調してシャープにした感じのもの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endParaRPr kumimoji="1"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r>
              <a:rPr kumimoji="1"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InceptionNet</a:t>
            </a:r>
            <a:r>
              <a:rPr kumimoji="1"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・・・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各</a:t>
            </a:r>
            <a:r>
              <a:rPr lang="ja-JP" altLang="en-US" b="0" i="0" u="none" strike="noStrike" dirty="0">
                <a:solidFill>
                  <a:srgbClr val="016391"/>
                </a:solidFill>
                <a:effectLst/>
                <a:latin typeface="Arial" panose="020B0604020202020204" pitchFamily="34" charset="0"/>
                <a:hlinkClick r:id="rId3" tooltip="畳み込み層(Convolution Layer)とその発展型"/>
              </a:rPr>
              <a:t>畳み込み層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を，計算効率の良い </a:t>
            </a:r>
            <a:r>
              <a:rPr lang="en-US" altLang="ja-JP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Inception</a:t>
            </a:r>
            <a:r>
              <a:rPr lang="ja-JP" altLang="en-US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ブロック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で近似・代替させた．</a:t>
            </a:r>
            <a:r>
              <a:rPr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より精度が高い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>
              <a:buNone/>
            </a:pP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画像をパッチに分割し、</a:t>
            </a:r>
            <a:r>
              <a:rPr lang="en-US" altLang="ja-JP" dirty="0"/>
              <a:t>Transformer</a:t>
            </a:r>
            <a:r>
              <a:rPr lang="ja-JP" altLang="en-US" dirty="0"/>
              <a:t>構造で処理するモデル。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自己注意機構により、長距離の依存関係を捉えやすい。大規模データセットで特に高精度を示す。</a:t>
            </a:r>
            <a:endParaRPr lang="en-US" altLang="ja-JP" dirty="0"/>
          </a:p>
          <a:p>
            <a:pPr>
              <a:buNone/>
            </a:pPr>
            <a:r>
              <a:rPr lang="en-US" altLang="ja-JP" dirty="0" err="1"/>
              <a:t>DenseNet</a:t>
            </a:r>
            <a:r>
              <a:rPr lang="ja-JP" altLang="en-US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各層がすべての前の層とフィーチャマップを共有し合う“密結合”構造。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パラメータ効率が高く、深い層でも勾配消失を抑制。小規模データにも比較的強いとされる。</a:t>
            </a:r>
          </a:p>
          <a:p>
            <a:pPr>
              <a:buNone/>
            </a:pPr>
            <a:r>
              <a:rPr lang="en-US" altLang="ja-JP" b="1" dirty="0"/>
              <a:t>Inception</a:t>
            </a:r>
            <a:r>
              <a:rPr lang="ja-JP" altLang="en-US" b="1" dirty="0"/>
              <a:t>系 </a:t>
            </a:r>
            <a:r>
              <a:rPr lang="en-US" altLang="ja-JP" b="1" dirty="0"/>
              <a:t>(</a:t>
            </a:r>
            <a:r>
              <a:rPr lang="en-US" altLang="ja-JP" b="1" dirty="0" err="1"/>
              <a:t>GoogLeNet</a:t>
            </a:r>
            <a:r>
              <a:rPr lang="en-US" altLang="ja-JP" b="1" dirty="0"/>
              <a:t>, Inception-v3 </a:t>
            </a:r>
            <a:r>
              <a:rPr lang="ja-JP" altLang="en-US" b="1" dirty="0"/>
              <a:t>等</a:t>
            </a:r>
            <a:r>
              <a:rPr lang="en-US" altLang="ja-JP" b="1" dirty="0"/>
              <a:t>)</a:t>
            </a:r>
            <a:r>
              <a:rPr lang="ja-JP" altLang="en-US" b="0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“Inception</a:t>
            </a:r>
            <a:r>
              <a:rPr lang="ja-JP" altLang="en-US" dirty="0"/>
              <a:t>モジュール”を用いた畳み込み層の多層化により、計算効率を保ちつつ高い精度を実現。</a:t>
            </a:r>
          </a:p>
          <a:p>
            <a:pPr>
              <a:buNone/>
            </a:pPr>
            <a:r>
              <a:rPr lang="en-US" altLang="ja-JP" dirty="0"/>
              <a:t>WaveNet</a:t>
            </a:r>
            <a:r>
              <a:rPr lang="ja-JP" altLang="en-US" dirty="0"/>
              <a:t>系・・・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時系列・音響特性を詳細に学習でき、特に高解像度の音声解析で有用。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4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8200" y="1523999"/>
            <a:ext cx="16649700" cy="1407239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838200" y="3019733"/>
            <a:ext cx="16649700" cy="6858000"/>
          </a:xfrm>
        </p:spPr>
        <p:txBody>
          <a:bodyPr/>
          <a:lstStyle>
            <a:lvl1pPr marL="685800" indent="-6858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1200150" marR="0" indent="-514350" algn="l" defTabSz="13716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315861" y="522339"/>
            <a:ext cx="17183100" cy="70485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7240250" y="473473"/>
            <a:ext cx="728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36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36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1238250"/>
            <a:ext cx="18288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進捗報告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植木研究室　　</a:t>
            </a:r>
            <a:r>
              <a:rPr lang="en-US" altLang="ja-JP" sz="4000" dirty="0">
                <a:latin typeface="Source Han Sans JP" panose="020B0600070205080204" charset="-128"/>
                <a:ea typeface="Source Han Sans JP" panose="020B0600070205080204" charset="-128"/>
              </a:rPr>
              <a:t>8125517</a:t>
            </a: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　　</a:t>
            </a:r>
            <a:r>
              <a:rPr lang="ja-JP" altLang="en-US" sz="4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2025年10月3日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9E46055B-DA28-1F66-CD59-78CAAB0910E0}"/>
              </a:ext>
            </a:extLst>
          </p:cNvPr>
          <p:cNvSpPr txBox="1"/>
          <p:nvPr/>
        </p:nvSpPr>
        <p:spPr>
          <a:xfrm>
            <a:off x="2514600" y="4829466"/>
            <a:ext cx="16306800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ー</a:t>
            </a:r>
            <a:r>
              <a:rPr 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CNN</a:t>
            </a: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アンサンブル学習に基づく音響識別によるプール沸騰の発生検知ー</a:t>
            </a:r>
            <a:endParaRPr lang="en-US" sz="32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1E877648-141E-2FED-599C-AC5E92A13D5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A00AF81C-D86D-C07A-3F1F-78B9E44DF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787A3FF-958C-EBE9-52DF-D247C70AB5E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D83F56E-025F-21B4-21B5-7CE1068CF5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30B28B0-361D-0A34-B344-0CF7B75C2C1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BFE15D1-B194-B181-AC41-0EC9DAC01C9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19D6CF3-783B-2BEB-000A-8FCFFFCD18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5183898-DA7F-FAA5-6C4A-BF13209DA88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F9DE793-621A-3BDA-ABCC-4984981079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E54EF43-91FF-6E0F-058B-1405023065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8BA66A8F-9866-DC4A-98C9-37EE0066000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6A319B7-D50F-ED65-AF6B-DF2231064C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BE997E21-DD0B-1294-5BF3-75ACAF7CA26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A0D9D66-A21B-66AC-D788-D1C54AAAEF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1D02DA1C-0B30-93CB-EEA0-B2BC98F0CE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09164D7-2F1A-4555-1BC2-B2D96C3A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A0635B8-BCCD-4E74-98AE-0624FFDD6BD6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62302C4-E809-FCAB-957F-A716CD8F0562}"/>
              </a:ext>
            </a:extLst>
          </p:cNvPr>
          <p:cNvGrpSpPr/>
          <p:nvPr/>
        </p:nvGrpSpPr>
        <p:grpSpPr>
          <a:xfrm>
            <a:off x="3657600" y="36957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A243EAE5-356B-1894-75BE-66367ECE2D1E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前期取り組んだこと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D03FC3B-8BEB-F105-968D-F000DB9D8CC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96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5C3C1-7A9C-9990-5B42-77C62BCC8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86831838-8762-3F6B-127A-7C54A7D99546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292FE132-EC0D-DF2C-482A-27839F9A8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54745D3-A73B-6322-8466-1B3D55E231AE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4A2A79E6-7780-840B-CF02-F207C1FA8B4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4381965E-378A-C04E-4516-C35D1BFBA163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E5F952C5-35C0-0CA0-5833-5D50A59B01A3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7493137-D192-7C7B-A66D-1B9648BC3F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C2C84770-7050-2C88-8458-AEF6322BD0A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F4AF10FC-F861-3470-1D04-AAE391F6AD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9D8DB8CB-10CE-B654-E9E1-A3F0B6918CC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4ACEDA7E-BA90-A7B6-9FCE-B818FF317AA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2A0614FF-6D54-8B75-D241-7F644CFEA2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7EEFB2F8-9B80-3A5A-4343-749E533E065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D8F47508-BB6D-3929-33F0-AA23DCFCFC8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4421C306-383E-285F-ED98-663E14D7461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69D2D3C4-4EB6-1646-0F6E-95A46FD7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05A4E6EC-7D5D-13E0-70CE-6814D7D1E789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2FBFF6B3-3257-9F17-7C95-C6D8EA8466A7}"/>
              </a:ext>
            </a:extLst>
          </p:cNvPr>
          <p:cNvGrpSpPr/>
          <p:nvPr/>
        </p:nvGrpSpPr>
        <p:grpSpPr>
          <a:xfrm>
            <a:off x="3657600" y="36957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78FB6446-2986-B79D-2F0B-B51B486553E7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前期取り組んだこと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816F446-AD36-6DA6-96AF-663E8026643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3006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59CC-FC29-4B0B-9B70-22FB240C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7BA0998-CEB8-C6A4-951B-192D7C86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92890D5-EA6B-8415-AA15-3E663876403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DBC77A22-554B-568A-50D2-BE94A5A19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F17FFFC-0905-33B0-8045-C16BA8D366A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7496536-3133-F99C-2F0F-EF8E2A73F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154DDFE-FB2C-7256-457E-F3B42ADA92D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FDE3F02-27CE-9B13-DC92-A1A4AA10BDB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2CFA170E-BFCC-4456-19C3-DE68D69C5CF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F18FD63-443E-1003-8D27-798754FA417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127CAE4B-180E-6718-D64E-31B86F49A5F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52CFCAF-CB99-A202-559C-C93C832C92C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F02EBF89-3DAD-00DE-BB77-A797BD8351E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D6936B7A-90A2-66CF-F389-61ABD6332CB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28DC4A4E-AB01-60D9-7D6D-D2DEDF682A8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1E5EFB04-4C43-2406-74B5-998E1ECDDC6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E4D37E83-CF75-340E-B9F5-530CABEA22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CB75389-F04B-8DA0-49FB-89ECC5248E59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4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666EE45-64D5-EC2F-2370-8F2980800896}"/>
              </a:ext>
            </a:extLst>
          </p:cNvPr>
          <p:cNvSpPr txBox="1"/>
          <p:nvPr/>
        </p:nvSpPr>
        <p:spPr>
          <a:xfrm>
            <a:off x="1806795" y="305043"/>
            <a:ext cx="84802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前期の問題点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73CC8C1-83F1-C2F4-0757-DDB3FC534B46}"/>
              </a:ext>
            </a:extLst>
          </p:cNvPr>
          <p:cNvGrpSpPr/>
          <p:nvPr/>
        </p:nvGrpSpPr>
        <p:grpSpPr>
          <a:xfrm>
            <a:off x="1524000" y="1543414"/>
            <a:ext cx="76200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6D68DE7A-4E02-1BAB-8600-265A9B52A517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2800" dirty="0" err="1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AlexNet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，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Conformer 2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種でアンサンブル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5305FBE-4BAC-85C5-EF0F-28DE0A51E70F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32" name="図 31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FF9E507-674E-EFB7-A629-61D24B4A1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92" y="2646473"/>
            <a:ext cx="8366773" cy="6275079"/>
          </a:xfrm>
          <a:prstGeom prst="rect">
            <a:avLst/>
          </a:prstGeom>
        </p:spPr>
      </p:pic>
      <p:sp>
        <p:nvSpPr>
          <p:cNvPr id="4" name="矢印: 下 3">
            <a:extLst>
              <a:ext uri="{FF2B5EF4-FFF2-40B4-BE49-F238E27FC236}">
                <a16:creationId xmlns:a16="http://schemas.microsoft.com/office/drawing/2014/main" id="{862D27BF-DABC-B7A1-3EED-4C4994374A9E}"/>
              </a:ext>
            </a:extLst>
          </p:cNvPr>
          <p:cNvSpPr/>
          <p:nvPr/>
        </p:nvSpPr>
        <p:spPr>
          <a:xfrm>
            <a:off x="12649200" y="4684848"/>
            <a:ext cx="911479" cy="45865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8CDA23A2-6B11-2609-9825-DB9A155F454C}"/>
              </a:ext>
            </a:extLst>
          </p:cNvPr>
          <p:cNvSpPr txBox="1"/>
          <p:nvPr/>
        </p:nvSpPr>
        <p:spPr>
          <a:xfrm>
            <a:off x="9416794" y="3546335"/>
            <a:ext cx="7512306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の方法を修正し，学習データが変わり，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沸騰開始点近傍の予測精度が悪くなった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27" name="図 26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DDAF505-5E84-A309-2409-77F3462EB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0679" y="6336891"/>
            <a:ext cx="4498721" cy="3662098"/>
          </a:xfrm>
          <a:prstGeom prst="rect">
            <a:avLst/>
          </a:prstGeom>
        </p:spPr>
      </p:pic>
      <p:sp>
        <p:nvSpPr>
          <p:cNvPr id="29" name="TextBox 24">
            <a:extLst>
              <a:ext uri="{FF2B5EF4-FFF2-40B4-BE49-F238E27FC236}">
                <a16:creationId xmlns:a16="http://schemas.microsoft.com/office/drawing/2014/main" id="{4AF78726-7A3A-3DE0-0D51-704E049569A6}"/>
              </a:ext>
            </a:extLst>
          </p:cNvPr>
          <p:cNvSpPr txBox="1"/>
          <p:nvPr/>
        </p:nvSpPr>
        <p:spPr>
          <a:xfrm>
            <a:off x="11161229" y="9006257"/>
            <a:ext cx="2975941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卒論時の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ノイズなしの結果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80E4A470-7C03-A07B-C73B-DAA29E7F4B4C}"/>
              </a:ext>
            </a:extLst>
          </p:cNvPr>
          <p:cNvSpPr txBox="1"/>
          <p:nvPr/>
        </p:nvSpPr>
        <p:spPr>
          <a:xfrm>
            <a:off x="9416794" y="5378674"/>
            <a:ext cx="8261606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音圧が比較的低く，沸騰音の特徴的なデータが読み取れていない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4166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463F-A070-1C07-E27D-B19BCF47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C219F10F-85D0-82EF-73AB-E13FFF0B0316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259F0741-000A-1D86-54D1-E139993B6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392D404-C070-5BC8-CC70-1470AAE7A72E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8133410-9B9A-9D8B-CA2F-6D0350DC7EA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7F2B0AC9-BD11-BBD3-EC8C-F608EEC84F3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611A740D-5100-B489-C96F-AB154568071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5852115-8913-066B-FD47-35104780EBF7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A84576C6-DBF2-588E-EC51-7B0F22E8EE4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42E33ACF-5B03-532D-1B26-53C774B7A56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45C84F0C-8652-9F33-9504-0A3128F58A47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081C32F7-44A8-9604-FBF2-441E4DA5ECB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B8CE58F5-BB1E-2CD1-7C57-220E5BFEA4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A6C9C20D-7B79-2590-140A-52677312549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69F3803B-A1CA-86DB-F4B6-45D2D23D659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BEDFE49D-CAE2-005C-08A1-1F34217238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4CE7AC30-D399-F815-1E9E-5337D65D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5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00B3241-1D02-5F90-E3DD-B74EFABA5D30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A82B5968-0F07-91E7-F762-790A19170D82}"/>
              </a:ext>
            </a:extLst>
          </p:cNvPr>
          <p:cNvGrpSpPr/>
          <p:nvPr/>
        </p:nvGrpSpPr>
        <p:grpSpPr>
          <a:xfrm>
            <a:off x="3657600" y="36957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1052ABC0-154A-1A49-E5DA-9C2FBC6623C5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前期取り組んだこと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C2084B47-26C3-2FDD-DBBE-F9F484A5AF0B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801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5EE3-CB81-6C30-12F1-23565E28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ED237D9-0A97-3EED-A5CA-5059541C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03F2C2F-446A-1E28-CB16-D9A31819040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07A3E63D-4733-2039-0619-915095642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0A3E237-A3EC-E67D-F878-23A5BA9CE8B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CAD4C307-D92C-1A46-6751-4774EC1A20D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363A850B-0BBD-126C-31AF-EE003A523F7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0D3B2F59-6770-5A2F-C69F-8D7EA0925B5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00F149EB-B8AE-EE47-F5AF-008EA23692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1F40A32C-B3BF-FC43-A60D-A52259E2879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F9A9472-A3F2-A014-D4A8-DD63D29445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36083AF-9873-6660-5452-0ABD774B3DFD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9B42650F-A202-32DE-DF71-D6C52054BF5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4E2F8A98-8939-0049-9EB1-E4921C9762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31E9817-314B-A069-19E3-C6599E9FC11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43CE0BCD-B2F2-4058-FB54-ECCFC9AFB79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67B7BBB7-DB80-8468-39D9-3A5BA72FEF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D588AE78-1CB0-AF6D-058A-3AB3BDFE2EA2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6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3F17B35F-383B-0EEC-4E2E-45B2060962F4}"/>
              </a:ext>
            </a:extLst>
          </p:cNvPr>
          <p:cNvSpPr txBox="1"/>
          <p:nvPr/>
        </p:nvSpPr>
        <p:spPr>
          <a:xfrm>
            <a:off x="1806795" y="305043"/>
            <a:ext cx="79468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19D22AA-BF2F-DB36-0630-BC8F51E58B20}"/>
              </a:ext>
            </a:extLst>
          </p:cNvPr>
          <p:cNvGrpSpPr/>
          <p:nvPr/>
        </p:nvGrpSpPr>
        <p:grpSpPr>
          <a:xfrm>
            <a:off x="1524000" y="1543414"/>
            <a:ext cx="89154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528E2267-62E2-5E44-3578-0597CE496E7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決定係数の計算の変更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B31D59CE-39DA-6D25-C9C9-4FD77BE7FF65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" name="TextBox 24">
            <a:extLst>
              <a:ext uri="{FF2B5EF4-FFF2-40B4-BE49-F238E27FC236}">
                <a16:creationId xmlns:a16="http://schemas.microsoft.com/office/drawing/2014/main" id="{8051D341-3F4E-05E2-FAF3-B13E18C06953}"/>
              </a:ext>
            </a:extLst>
          </p:cNvPr>
          <p:cNvSpPr txBox="1"/>
          <p:nvPr/>
        </p:nvSpPr>
        <p:spPr>
          <a:xfrm>
            <a:off x="1917187" y="2417840"/>
            <a:ext cx="15380201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未沸騰＋沸騰の全データ　→　沸騰データのみ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6" name="図 5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551C7C4-BC95-5C39-A657-3F83220A4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629" y="3121099"/>
            <a:ext cx="8381997" cy="6286498"/>
          </a:xfrm>
          <a:prstGeom prst="rect">
            <a:avLst/>
          </a:prstGeom>
        </p:spPr>
      </p:pic>
      <p:sp>
        <p:nvSpPr>
          <p:cNvPr id="7" name="TextBox 24">
            <a:extLst>
              <a:ext uri="{FF2B5EF4-FFF2-40B4-BE49-F238E27FC236}">
                <a16:creationId xmlns:a16="http://schemas.microsoft.com/office/drawing/2014/main" id="{9335D46D-4CD3-A050-0D25-E69F0BCAD80F}"/>
              </a:ext>
            </a:extLst>
          </p:cNvPr>
          <p:cNvSpPr txBox="1"/>
          <p:nvPr/>
        </p:nvSpPr>
        <p:spPr>
          <a:xfrm>
            <a:off x="10659326" y="5981700"/>
            <a:ext cx="6929795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All</a:t>
            </a:r>
            <a:r>
              <a:rPr lang="ja-JP" altLang="en-US" sz="2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：未沸騰＋沸騰</a:t>
            </a:r>
            <a:endParaRPr lang="en-US" altLang="ja-JP" sz="2800" dirty="0"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High</a:t>
            </a:r>
            <a:r>
              <a:rPr lang="ja-JP" altLang="en-US" sz="2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：沸騰</a:t>
            </a:r>
            <a:endParaRPr lang="en-US" altLang="ja-JP" sz="2800" dirty="0"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91775254-DC9A-3498-4138-15C6A2E74E86}"/>
              </a:ext>
            </a:extLst>
          </p:cNvPr>
          <p:cNvSpPr txBox="1"/>
          <p:nvPr/>
        </p:nvSpPr>
        <p:spPr>
          <a:xfrm>
            <a:off x="11611145" y="8496300"/>
            <a:ext cx="6295890" cy="498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u="sng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決定係数が下がった</a:t>
            </a:r>
            <a:endParaRPr lang="en-US" altLang="ja-JP" sz="4000" u="sng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3487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677AA-FCD0-F2AF-3F58-E8B1BC7C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FCFAEE8-8C43-E323-4EE4-FDD01E49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57DD919-424B-A5C3-74C8-C2B1EA93AD0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7F1165A-DCCE-1B20-F81A-AA84C63AC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0CE30EE-3FFA-9093-A43A-12621947E54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F2A4ECE9-0793-046A-2866-3A1410E2CC7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8D92C79-A8BA-73D1-622A-115FAD21CA38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75D1FFF-01E6-937B-6934-EAF46633AB5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571B376-6A66-97F4-F9AA-1C133590D2F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DB1F409E-40F6-0117-DAD2-C179476769C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5B20F4D-657C-3239-A389-0A572D3850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DA16DE8-038C-778A-4119-A5E82467EEF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F975C2C4-0724-FE44-35CE-E4400BE214B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0636F41-CDC8-F930-E209-4377046DDB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4121776E-8B9B-F628-94E2-B7D4A1F436F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C95C7EA5-A92A-0EEA-25A5-ED1FE95D86B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2530F323-AE3F-8609-63F1-E9AA75A9AAC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295DCBF7-C7FF-8668-6D46-5C30062B1AD6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7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5E83D6AF-4670-5FAA-7FAA-927F018BFF7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今週取り組んだこと</a:t>
            </a:r>
            <a:endParaRPr lang="en-US" altLang="ja-JP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4EE0CB8-E167-BB51-41B2-00102866A510}"/>
              </a:ext>
            </a:extLst>
          </p:cNvPr>
          <p:cNvGrpSpPr/>
          <p:nvPr/>
        </p:nvGrpSpPr>
        <p:grpSpPr>
          <a:xfrm>
            <a:off x="1524000" y="1543414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6FA22FA4-09FE-C5E1-F7B8-374118DC5BC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決定係数が上がらない原因について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4024EB2-909D-3798-872F-AC0AB4467080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4">
                <a:extLst>
                  <a:ext uri="{FF2B5EF4-FFF2-40B4-BE49-F238E27FC236}">
                    <a16:creationId xmlns:a16="http://schemas.microsoft.com/office/drawing/2014/main" id="{75291582-50E3-A026-30B7-6BF9F5E0EC56}"/>
                  </a:ext>
                </a:extLst>
              </p:cNvPr>
              <p:cNvSpPr txBox="1"/>
              <p:nvPr/>
            </p:nvSpPr>
            <p:spPr>
              <a:xfrm>
                <a:off x="8915400" y="5866445"/>
                <a:ext cx="8643567" cy="386984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</a:pPr>
                <a:r>
                  <a:rPr lang="ja-JP" altLang="en-US" sz="2800" dirty="0">
                    <a:solidFill>
                      <a:srgbClr val="292B2B"/>
                    </a:solidFill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原因？</a:t>
                </a:r>
                <a:endPara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</a:pPr>
                <a:endPara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 marL="457200" indent="-457200"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未沸騰領域の平均との差があまりなかった</a:t>
                </a:r>
                <a:endParaRPr lang="en-US" altLang="ja-JP" sz="28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</a:pPr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→未沸騰領域も当てはまり的には良いという判定がされてた</a:t>
                </a:r>
                <a:endParaRPr lang="en-US" altLang="ja-JP" sz="28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 marL="457200" indent="-457200" algn="l"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  <a:buFont typeface="Wingdings" panose="05000000000000000000" pitchFamily="2" charset="2"/>
                  <a:buChar char="l"/>
                </a:pPr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沸騰領域のみの平均にすることで平均が急激に大きくなった</a:t>
                </a:r>
                <a:endParaRPr lang="en-US" altLang="ja-JP" sz="28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  <a:p>
                <a:pPr>
                  <a:lnSpc>
                    <a:spcPts val="3800"/>
                  </a:lnSpc>
                  <a:spcBef>
                    <a:spcPct val="0"/>
                  </a:spcBef>
                  <a:buClr>
                    <a:srgbClr val="64A4A3"/>
                  </a:buClr>
                </a:pPr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→分母が急激に小さくなり，</a:t>
                </a:r>
                <a:r>
                  <a:rPr kumimoji="1" lang="en-US" altLang="ja-JP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kumimoji="1" lang="en-US" altLang="ja-JP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800" dirty="0">
                    <a:latin typeface="Source Han Sans JP Medium"/>
                    <a:ea typeface="Source Han Sans JP Medium"/>
                    <a:cs typeface="Source Han Sans JP Medium"/>
                    <a:sym typeface="Source Han Sans JP Medium"/>
                  </a:rPr>
                  <a:t>が大きくなった</a:t>
                </a:r>
                <a:endParaRPr lang="en-US" altLang="ja-JP" sz="28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endParaRPr>
              </a:p>
            </p:txBody>
          </p:sp>
        </mc:Choice>
        <mc:Fallback xmlns="">
          <p:sp>
            <p:nvSpPr>
              <p:cNvPr id="28" name="TextBox 24">
                <a:extLst>
                  <a:ext uri="{FF2B5EF4-FFF2-40B4-BE49-F238E27FC236}">
                    <a16:creationId xmlns:a16="http://schemas.microsoft.com/office/drawing/2014/main" id="{75291582-50E3-A026-30B7-6BF9F5E0E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0" y="5866445"/>
                <a:ext cx="8643567" cy="3869842"/>
              </a:xfrm>
              <a:prstGeom prst="rect">
                <a:avLst/>
              </a:prstGeom>
              <a:blipFill>
                <a:blip r:embed="rId3"/>
                <a:stretch>
                  <a:fillRect l="-2541" t="-2205" r="-2117" b="-47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24">
            <a:extLst>
              <a:ext uri="{FF2B5EF4-FFF2-40B4-BE49-F238E27FC236}">
                <a16:creationId xmlns:a16="http://schemas.microsoft.com/office/drawing/2014/main" id="{2DD76D85-B9BD-B136-E944-C7A057CE81B1}"/>
              </a:ext>
            </a:extLst>
          </p:cNvPr>
          <p:cNvSpPr txBox="1"/>
          <p:nvPr/>
        </p:nvSpPr>
        <p:spPr>
          <a:xfrm>
            <a:off x="9152305" y="3725786"/>
            <a:ext cx="8526095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モデルの当てはまりの良さ，平均を予測する時よりどれくらい良いか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6F960731-65DC-C89C-B532-4F7A74388816}"/>
              </a:ext>
            </a:extLst>
          </p:cNvPr>
          <p:cNvSpPr txBox="1"/>
          <p:nvPr/>
        </p:nvSpPr>
        <p:spPr>
          <a:xfrm>
            <a:off x="1917187" y="2417840"/>
            <a:ext cx="15380201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未沸騰＋沸騰の全データ　→　沸騰データのみ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362DB46-3E4A-B779-A5A5-98EE16F0F52F}"/>
                  </a:ext>
                </a:extLst>
              </p:cNvPr>
              <p:cNvSpPr txBox="1"/>
              <p:nvPr/>
            </p:nvSpPr>
            <p:spPr>
              <a:xfrm>
                <a:off x="848697" y="3532401"/>
                <a:ext cx="7696200" cy="1332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ja-JP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ja-JP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ja-JP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1" lang="en-US" altLang="ja-JP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ja-JP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ja-JP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en-US" altLang="ja-JP" sz="36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ja-JP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ja-JP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ja-JP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362DB46-3E4A-B779-A5A5-98EE16F0F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97" y="3532401"/>
                <a:ext cx="7696200" cy="13327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図 33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6B2CAAFE-9850-1892-793F-67C034E4A6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991" y="4836442"/>
            <a:ext cx="6505410" cy="4879058"/>
          </a:xfrm>
          <a:prstGeom prst="rect">
            <a:avLst/>
          </a:prstGeom>
        </p:spPr>
      </p:pic>
      <p:sp>
        <p:nvSpPr>
          <p:cNvPr id="35" name="矢印: 下 34">
            <a:extLst>
              <a:ext uri="{FF2B5EF4-FFF2-40B4-BE49-F238E27FC236}">
                <a16:creationId xmlns:a16="http://schemas.microsoft.com/office/drawing/2014/main" id="{E083E8D9-6692-38D1-D4CF-BCEB961D7E6C}"/>
              </a:ext>
            </a:extLst>
          </p:cNvPr>
          <p:cNvSpPr/>
          <p:nvPr/>
        </p:nvSpPr>
        <p:spPr>
          <a:xfrm rot="16200000">
            <a:off x="7911769" y="3857236"/>
            <a:ext cx="761265" cy="764188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5CF789C-73A1-1C0D-8245-E54AF6E99B90}"/>
              </a:ext>
            </a:extLst>
          </p:cNvPr>
          <p:cNvSpPr/>
          <p:nvPr/>
        </p:nvSpPr>
        <p:spPr>
          <a:xfrm>
            <a:off x="2514600" y="5213927"/>
            <a:ext cx="1447800" cy="41310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2852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2249-D5D6-275C-0AC9-CA7AF348A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B1AA1338-CF58-8969-74E7-C6275497096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1A489B14-3C86-00A5-0FBF-1066498F3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74C901D-88BF-2250-BC36-B32EEED12C5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CC7B5C18-B31D-44A5-9824-57AA6094104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C219C94-A876-3B9A-E21A-B8E731CF8F5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61D3F3FF-5269-89E0-D6FF-0B0F1AB60C67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D9B934D4-09A9-353F-A7BB-7BC2CCA55BE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DA5AE0BD-BC1C-EC9A-D21B-B69D0B01F15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C96FF3E0-6E93-C8CD-8DA5-7AFA27CFE69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1EB1AFA8-250E-FE0B-1DFE-775600381F58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5D62EC95-7B04-D360-6D70-A7793271B91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51E8EE75-400C-C3B5-1310-10D6E6866F8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70C5301C-F983-30C3-C9D5-FE2D403FF8F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ABDFCA1A-AC99-A6D3-7B0F-61C966C7597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806B4622-7FFB-30B0-1232-DF15780527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87B1918F-0ED9-25A6-8CBA-FA0943EE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8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4C5DF990-A2B5-D9D9-2550-D9B4785A222D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859D7FBB-B2C1-FA6B-9266-E4A7920EF988}"/>
              </a:ext>
            </a:extLst>
          </p:cNvPr>
          <p:cNvGrpSpPr/>
          <p:nvPr/>
        </p:nvGrpSpPr>
        <p:grpSpPr>
          <a:xfrm>
            <a:off x="3657600" y="36957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6F25FF86-76C2-A33B-95D0-A3DEEC793B2A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前期取り組んだこと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今週取り組んだこと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2B234433-D043-EDA9-06B3-F3DE7B5F8434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7340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380CD6-6546-7D10-A42A-9E7F5014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9</a:t>
            </a:fld>
            <a:endParaRPr lang="en-US" sz="24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BAFD11F-3F10-483E-AB62-E981D12E431D}"/>
              </a:ext>
            </a:extLst>
          </p:cNvPr>
          <p:cNvGraphicFramePr>
            <a:graphicFrameLocks noGrp="1"/>
          </p:cNvGraphicFramePr>
          <p:nvPr/>
        </p:nvGraphicFramePr>
        <p:xfrm>
          <a:off x="1092167" y="1301729"/>
          <a:ext cx="16623854" cy="8874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2643">
                  <a:extLst>
                    <a:ext uri="{9D8B030D-6E8A-4147-A177-3AD203B41FA5}">
                      <a16:colId xmlns:a16="http://schemas.microsoft.com/office/drawing/2014/main" val="3953687446"/>
                    </a:ext>
                  </a:extLst>
                </a:gridCol>
                <a:gridCol w="1992643">
                  <a:extLst>
                    <a:ext uri="{9D8B030D-6E8A-4147-A177-3AD203B41FA5}">
                      <a16:colId xmlns:a16="http://schemas.microsoft.com/office/drawing/2014/main" val="391039663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960058633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72001258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249843332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98001216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4928631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51082018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0910689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6112197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911321481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29867615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838375867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65989910"/>
                    </a:ext>
                  </a:extLst>
                </a:gridCol>
              </a:tblGrid>
              <a:tr h="4536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4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5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6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7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8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9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10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924179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特徴量抽出手法の比較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CWT, SWT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3629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MFCC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03684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Wigner-Ville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16785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Highpass</a:t>
                      </a: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, noise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8514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アンサンブル，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モデル数選定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8065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Efficientnet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0212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Densenet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58289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Transformer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07726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最適特徴量選定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6739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入れるか否か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71694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モデル・特徴量組み合わせ選定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458810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音響データを直接入力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単体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457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Wavenet+stft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0209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メルフィルタで検証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315728"/>
                  </a:ext>
                </a:extLst>
              </a:tr>
            </a:tbl>
          </a:graphicData>
        </a:graphic>
      </p:graphicFrame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CED69314-6E5C-D99F-C791-7A0B1D5015E9}"/>
              </a:ext>
            </a:extLst>
          </p:cNvPr>
          <p:cNvSpPr/>
          <p:nvPr/>
        </p:nvSpPr>
        <p:spPr>
          <a:xfrm>
            <a:off x="6612568" y="8337392"/>
            <a:ext cx="134791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4C6E962-1682-6D74-EA96-1F07AA9F6988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951803F5-EC90-EC35-59D3-589C48EB2B8E}"/>
              </a:ext>
            </a:extLst>
          </p:cNvPr>
          <p:cNvSpPr/>
          <p:nvPr/>
        </p:nvSpPr>
        <p:spPr>
          <a:xfrm>
            <a:off x="11963909" y="7670111"/>
            <a:ext cx="262499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最終的な結果</a:t>
            </a:r>
          </a:p>
        </p:txBody>
      </p:sp>
      <p:sp>
        <p:nvSpPr>
          <p:cNvPr id="47" name="矢印: 五方向 46">
            <a:extLst>
              <a:ext uri="{FF2B5EF4-FFF2-40B4-BE49-F238E27FC236}">
                <a16:creationId xmlns:a16="http://schemas.microsoft.com/office/drawing/2014/main" id="{7607518D-507C-07C4-578C-30FC47FCAD07}"/>
              </a:ext>
            </a:extLst>
          </p:cNvPr>
          <p:cNvSpPr/>
          <p:nvPr/>
        </p:nvSpPr>
        <p:spPr>
          <a:xfrm>
            <a:off x="9021213" y="5165089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5925079C-A3D2-1314-A80B-F9DB857AE7A4}"/>
              </a:ext>
            </a:extLst>
          </p:cNvPr>
          <p:cNvSpPr/>
          <p:nvPr/>
        </p:nvSpPr>
        <p:spPr>
          <a:xfrm>
            <a:off x="6606706" y="7040841"/>
            <a:ext cx="2170742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9" name="矢印: 五方向 48">
            <a:extLst>
              <a:ext uri="{FF2B5EF4-FFF2-40B4-BE49-F238E27FC236}">
                <a16:creationId xmlns:a16="http://schemas.microsoft.com/office/drawing/2014/main" id="{0B034D57-E1BA-C570-920A-B3CF0276F4EE}"/>
              </a:ext>
            </a:extLst>
          </p:cNvPr>
          <p:cNvSpPr/>
          <p:nvPr/>
        </p:nvSpPr>
        <p:spPr>
          <a:xfrm>
            <a:off x="5685222" y="6399854"/>
            <a:ext cx="959820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0" name="矢印: 五方向 49">
            <a:extLst>
              <a:ext uri="{FF2B5EF4-FFF2-40B4-BE49-F238E27FC236}">
                <a16:creationId xmlns:a16="http://schemas.microsoft.com/office/drawing/2014/main" id="{FF232047-0DD0-325E-C43E-C53931E002D2}"/>
              </a:ext>
            </a:extLst>
          </p:cNvPr>
          <p:cNvSpPr/>
          <p:nvPr/>
        </p:nvSpPr>
        <p:spPr>
          <a:xfrm>
            <a:off x="7960483" y="8978379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1" name="矢印: 五方向 50">
            <a:extLst>
              <a:ext uri="{FF2B5EF4-FFF2-40B4-BE49-F238E27FC236}">
                <a16:creationId xmlns:a16="http://schemas.microsoft.com/office/drawing/2014/main" id="{D5A8678C-3663-692F-D544-6DBF90417BEE}"/>
              </a:ext>
            </a:extLst>
          </p:cNvPr>
          <p:cNvSpPr/>
          <p:nvPr/>
        </p:nvSpPr>
        <p:spPr>
          <a:xfrm>
            <a:off x="5760223" y="2484205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2" name="矢印: 五方向 51">
            <a:extLst>
              <a:ext uri="{FF2B5EF4-FFF2-40B4-BE49-F238E27FC236}">
                <a16:creationId xmlns:a16="http://schemas.microsoft.com/office/drawing/2014/main" id="{8E440685-BCCB-F718-68EF-9FA7ED6991B2}"/>
              </a:ext>
            </a:extLst>
          </p:cNvPr>
          <p:cNvSpPr/>
          <p:nvPr/>
        </p:nvSpPr>
        <p:spPr>
          <a:xfrm>
            <a:off x="5671307" y="1965796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3" name="矢印: 五方向 52">
            <a:extLst>
              <a:ext uri="{FF2B5EF4-FFF2-40B4-BE49-F238E27FC236}">
                <a16:creationId xmlns:a16="http://schemas.microsoft.com/office/drawing/2014/main" id="{441C1260-52CE-C0CD-A020-116428F9F0A8}"/>
              </a:ext>
            </a:extLst>
          </p:cNvPr>
          <p:cNvSpPr/>
          <p:nvPr/>
        </p:nvSpPr>
        <p:spPr>
          <a:xfrm>
            <a:off x="5948505" y="2934663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6" name="矢印: 五方向 55">
            <a:extLst>
              <a:ext uri="{FF2B5EF4-FFF2-40B4-BE49-F238E27FC236}">
                <a16:creationId xmlns:a16="http://schemas.microsoft.com/office/drawing/2014/main" id="{CF8BAFD6-8353-7912-B7D0-981F037DEC6F}"/>
              </a:ext>
            </a:extLst>
          </p:cNvPr>
          <p:cNvSpPr/>
          <p:nvPr/>
        </p:nvSpPr>
        <p:spPr>
          <a:xfrm>
            <a:off x="6070869" y="3437342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7" name="矢印: 五方向 56">
            <a:extLst>
              <a:ext uri="{FF2B5EF4-FFF2-40B4-BE49-F238E27FC236}">
                <a16:creationId xmlns:a16="http://schemas.microsoft.com/office/drawing/2014/main" id="{A50ABF9A-B8DC-B70A-A095-F2E1C1E3B357}"/>
              </a:ext>
            </a:extLst>
          </p:cNvPr>
          <p:cNvSpPr/>
          <p:nvPr/>
        </p:nvSpPr>
        <p:spPr>
          <a:xfrm>
            <a:off x="7960483" y="9606531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62" name="矢印: 五方向 61">
            <a:extLst>
              <a:ext uri="{FF2B5EF4-FFF2-40B4-BE49-F238E27FC236}">
                <a16:creationId xmlns:a16="http://schemas.microsoft.com/office/drawing/2014/main" id="{337B0EAC-3E72-754C-43C1-B6FE50699758}"/>
              </a:ext>
            </a:extLst>
          </p:cNvPr>
          <p:cNvSpPr/>
          <p:nvPr/>
        </p:nvSpPr>
        <p:spPr>
          <a:xfrm>
            <a:off x="10337337" y="3908181"/>
            <a:ext cx="162657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特徴量固定</a:t>
            </a:r>
          </a:p>
        </p:txBody>
      </p:sp>
      <p:sp>
        <p:nvSpPr>
          <p:cNvPr id="64" name="矢印: 五方向 63">
            <a:extLst>
              <a:ext uri="{FF2B5EF4-FFF2-40B4-BE49-F238E27FC236}">
                <a16:creationId xmlns:a16="http://schemas.microsoft.com/office/drawing/2014/main" id="{7FD6CC0C-B025-53C1-1D20-33E9AB37F20A}"/>
              </a:ext>
            </a:extLst>
          </p:cNvPr>
          <p:cNvSpPr/>
          <p:nvPr/>
        </p:nvSpPr>
        <p:spPr>
          <a:xfrm>
            <a:off x="9230490" y="5793241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598EDCB1-FFF3-5A52-A644-55976191A447}"/>
              </a:ext>
            </a:extLst>
          </p:cNvPr>
          <p:cNvCxnSpPr>
            <a:cxnSpLocks/>
          </p:cNvCxnSpPr>
          <p:nvPr/>
        </p:nvCxnSpPr>
        <p:spPr>
          <a:xfrm>
            <a:off x="5665446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E37EE498-64D0-7E1D-0F26-5D015B8EDBFD}"/>
              </a:ext>
            </a:extLst>
          </p:cNvPr>
          <p:cNvCxnSpPr>
            <a:cxnSpLocks/>
          </p:cNvCxnSpPr>
          <p:nvPr/>
        </p:nvCxnSpPr>
        <p:spPr>
          <a:xfrm>
            <a:off x="6604480" y="1872723"/>
            <a:ext cx="20785" cy="7105656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矢印: 五方向 73">
            <a:extLst>
              <a:ext uri="{FF2B5EF4-FFF2-40B4-BE49-F238E27FC236}">
                <a16:creationId xmlns:a16="http://schemas.microsoft.com/office/drawing/2014/main" id="{1602FFF9-E65F-6166-78B1-07B686D26BA6}"/>
              </a:ext>
            </a:extLst>
          </p:cNvPr>
          <p:cNvSpPr/>
          <p:nvPr/>
        </p:nvSpPr>
        <p:spPr>
          <a:xfrm>
            <a:off x="8777448" y="4486208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632C3475-130B-6B0C-082A-60E65AE118AA}"/>
              </a:ext>
            </a:extLst>
          </p:cNvPr>
          <p:cNvCxnSpPr>
            <a:cxnSpLocks/>
          </p:cNvCxnSpPr>
          <p:nvPr/>
        </p:nvCxnSpPr>
        <p:spPr>
          <a:xfrm>
            <a:off x="8757672" y="1872723"/>
            <a:ext cx="19776" cy="8303970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0BAED29-BFAC-F152-6E4B-899CE76EBB00}"/>
              </a:ext>
            </a:extLst>
          </p:cNvPr>
          <p:cNvCxnSpPr>
            <a:cxnSpLocks/>
          </p:cNvCxnSpPr>
          <p:nvPr/>
        </p:nvCxnSpPr>
        <p:spPr>
          <a:xfrm>
            <a:off x="10339021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843A9429-66BF-D880-EEF1-2A18E562DA6A}"/>
              </a:ext>
            </a:extLst>
          </p:cNvPr>
          <p:cNvCxnSpPr>
            <a:cxnSpLocks/>
          </p:cNvCxnSpPr>
          <p:nvPr/>
        </p:nvCxnSpPr>
        <p:spPr>
          <a:xfrm>
            <a:off x="11963910" y="1892469"/>
            <a:ext cx="0" cy="6234842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5537BA97-770A-4C8F-6F10-DAC68F5324CD}"/>
              </a:ext>
            </a:extLst>
          </p:cNvPr>
          <p:cNvSpPr txBox="1"/>
          <p:nvPr/>
        </p:nvSpPr>
        <p:spPr>
          <a:xfrm>
            <a:off x="-943001" y="4088337"/>
            <a:ext cx="769338" cy="466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完了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F493C2CB-2CB4-A3EC-966A-5BC75178FCD5}"/>
              </a:ext>
            </a:extLst>
          </p:cNvPr>
          <p:cNvSpPr txBox="1"/>
          <p:nvPr/>
        </p:nvSpPr>
        <p:spPr>
          <a:xfrm>
            <a:off x="6714982" y="6399854"/>
            <a:ext cx="1155783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未完了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BC8E04E3-1812-E659-B9C6-25B78BB2E7FC}"/>
              </a:ext>
            </a:extLst>
          </p:cNvPr>
          <p:cNvSpPr txBox="1"/>
          <p:nvPr/>
        </p:nvSpPr>
        <p:spPr>
          <a:xfrm>
            <a:off x="6446376" y="2393959"/>
            <a:ext cx="2405342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やっていない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DB46AAEF-FF06-A19C-323E-51CEFE2D48F5}"/>
              </a:ext>
            </a:extLst>
          </p:cNvPr>
          <p:cNvSpPr txBox="1"/>
          <p:nvPr/>
        </p:nvSpPr>
        <p:spPr>
          <a:xfrm>
            <a:off x="6390431" y="1847844"/>
            <a:ext cx="5348803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CWT</a:t>
            </a: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入力で学習はしていない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E4589225-5EA6-058C-F5B2-B94BC2B6A006}"/>
              </a:ext>
            </a:extLst>
          </p:cNvPr>
          <p:cNvSpPr txBox="1"/>
          <p:nvPr/>
        </p:nvSpPr>
        <p:spPr>
          <a:xfrm>
            <a:off x="6719048" y="3332812"/>
            <a:ext cx="3872751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完了</a:t>
            </a:r>
            <a:endParaRPr lang="en-US" altLang="ja-JP" sz="2800" b="1" dirty="0"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692DCBD6-27CE-243F-1E80-5D05F66342EF}"/>
              </a:ext>
            </a:extLst>
          </p:cNvPr>
          <p:cNvSpPr txBox="1"/>
          <p:nvPr/>
        </p:nvSpPr>
        <p:spPr>
          <a:xfrm>
            <a:off x="6533465" y="2833747"/>
            <a:ext cx="2405343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やっていない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7324584D-4C6C-0D9F-2800-3FCF8A299990}"/>
              </a:ext>
            </a:extLst>
          </p:cNvPr>
          <p:cNvSpPr txBox="1"/>
          <p:nvPr/>
        </p:nvSpPr>
        <p:spPr>
          <a:xfrm>
            <a:off x="10450400" y="5801025"/>
            <a:ext cx="3951399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FF0000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今行っている</a:t>
            </a:r>
            <a:endParaRPr lang="en-US" altLang="ja-JP" sz="2800" b="1" dirty="0">
              <a:solidFill>
                <a:srgbClr val="FF0000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DD3EF4C7-F2C6-B162-6AE2-456689D4E97B}"/>
              </a:ext>
            </a:extLst>
          </p:cNvPr>
          <p:cNvSpPr txBox="1"/>
          <p:nvPr/>
        </p:nvSpPr>
        <p:spPr>
          <a:xfrm>
            <a:off x="10225957" y="5164485"/>
            <a:ext cx="769338" cy="466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完了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F07B3577-F920-198C-69C0-84E9BB7EA312}"/>
              </a:ext>
            </a:extLst>
          </p:cNvPr>
          <p:cNvSpPr txBox="1"/>
          <p:nvPr/>
        </p:nvSpPr>
        <p:spPr>
          <a:xfrm>
            <a:off x="10051981" y="4527945"/>
            <a:ext cx="769338" cy="466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完了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721355A8-9482-793D-BBA0-C0146D892C3A}"/>
              </a:ext>
            </a:extLst>
          </p:cNvPr>
          <p:cNvSpPr txBox="1"/>
          <p:nvPr/>
        </p:nvSpPr>
        <p:spPr>
          <a:xfrm>
            <a:off x="8968054" y="9031619"/>
            <a:ext cx="2461946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やっていない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3B648837-2A4A-AE6A-5A3E-D72B0C3E9D92}"/>
              </a:ext>
            </a:extLst>
          </p:cNvPr>
          <p:cNvSpPr txBox="1"/>
          <p:nvPr/>
        </p:nvSpPr>
        <p:spPr>
          <a:xfrm>
            <a:off x="8125679" y="8347630"/>
            <a:ext cx="769338" cy="466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完了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6D992348-E27E-1196-C8D9-285C37887F48}"/>
              </a:ext>
            </a:extLst>
          </p:cNvPr>
          <p:cNvSpPr txBox="1"/>
          <p:nvPr/>
        </p:nvSpPr>
        <p:spPr>
          <a:xfrm>
            <a:off x="8895017" y="7093858"/>
            <a:ext cx="769338" cy="466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完了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727CA507-3C8E-6971-54C6-E10E7C1971A3}"/>
              </a:ext>
            </a:extLst>
          </p:cNvPr>
          <p:cNvSpPr txBox="1"/>
          <p:nvPr/>
        </p:nvSpPr>
        <p:spPr>
          <a:xfrm>
            <a:off x="8938298" y="9601800"/>
            <a:ext cx="2461946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b="1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やっていない</a:t>
            </a:r>
            <a:endParaRPr lang="en-US" altLang="ja-JP" sz="2800" b="1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95324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F469-778D-9F9C-3947-11BA8515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28546D5-9555-F734-ED48-B60D3C07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F111527-7969-5F9C-0FB5-19AD2E8D7FC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265FC20-AA95-0DA0-F03E-D88F88BA9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594A856-3E86-31E6-970B-8B864FC2EEF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73772385-4F02-A7F0-AF87-BFC2A31346D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F562A09-D22B-56CF-9BDB-A8CE25C8A5D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E7C9948E-8642-E8A5-EC20-415E6C9B37B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C50386B2-29D5-C464-A1D3-58C9335A893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5367299-068D-EE13-559F-2028F29CEF4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96A9C35B-6312-D99D-D002-CCF5C95DA7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FCE1AC4-8196-8AEB-E717-38ECDA29E55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EB415064-F6DB-7A27-B0F0-BCC74E743A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6A5749A-643B-B24C-DCC9-5B2393FEE6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5E0C664-2755-2D2D-A32C-53CDAD8BF77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1AADC28C-BE6E-20F3-E213-DDBF85DE517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419D9C16-FD82-94B7-9862-8899E63C05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852A462A-D8CA-28F4-1BDD-771F74EB9565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10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A1DF3554-EC11-AB5C-67F2-E3400E588E79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37E7B577-1053-1411-4C84-15CE3559CB40}"/>
              </a:ext>
            </a:extLst>
          </p:cNvPr>
          <p:cNvSpPr txBox="1"/>
          <p:nvPr/>
        </p:nvSpPr>
        <p:spPr>
          <a:xfrm>
            <a:off x="1806795" y="2677650"/>
            <a:ext cx="12929353" cy="2407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決定係数でうまくいかなかった原因を特定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他の評価指標を使用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MAE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：誤差の絶対値の平均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RMSE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：予測値の実測値の差の二乗平均の平方根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lvl="1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→モデルの予測の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32233F6B-EBD5-E4F8-74EA-64E0471467D6}"/>
              </a:ext>
            </a:extLst>
          </p:cNvPr>
          <p:cNvGrpSpPr/>
          <p:nvPr/>
        </p:nvGrpSpPr>
        <p:grpSpPr>
          <a:xfrm>
            <a:off x="1371600" y="1680854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57AA8263-2BC9-8894-CEDD-D8B08D194ABD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今日以降やること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7C553263-A8DF-2D80-9D66-B78866C692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9468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F64734-8985-81E7-F02C-1F029A1E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A156E-8575-6B69-3622-E39FE025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6CE293C-5E1F-D18B-FDB5-65D38221484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966F3BC-CA96-088C-0BC0-9F1CDC5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1E0F52-8445-CFF5-E8F5-1DA3652875F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A7B44FE-C6D6-E641-E877-AB39157888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457E236-8E0F-A1E6-C866-D08525F305F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FB77E1-55B9-6DAC-DAC7-0D6224378FD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1568253F-8C4A-AFC2-A164-FCDDA21278C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59406484-643D-B43D-711B-AC121845886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D767C6C-9D45-CD83-BA9D-1CC1FE433E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E2EB27D-B1FA-DA25-C3AC-2C33F8BBF00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FCDB979-A4B9-F2C9-C274-5A66996D55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85D3DC2-05F1-9758-61E0-7252AB0F9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4041AA0-9856-2EDC-4DBC-3C6BDCB952D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4C95E30-A392-7B8E-DA75-5129C342B65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D2236D4-6E05-37AF-0079-3422FEB9A0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72CE283-7FFF-5153-2645-DD8BA021BED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11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180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31921-B9FC-3DA2-B765-8A0BBA4C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BF47597-5171-166F-315A-BD02F09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93738A-DFDC-3E1B-8EA4-1C5A472B367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169EBC2-5E7B-3555-E436-A4172F481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F4CBB17-4D36-FE32-2C0C-11836061C7E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B79A041-70A5-4B0B-BBF7-7696516B362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A29C6B5-A687-2034-B604-03DB0845CB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465CA50-DCD9-E6D1-DF50-26EDD12BCA4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77A288C-1C2E-C07C-1C06-8422BC8B08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8588DBA-4A30-EC6C-9035-85D6BA240FE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2003900-3796-3F86-EB96-0E0E66E3B8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B350E013-3D70-3E7F-C4B6-8517EC5CB7F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173C1D9-4CE9-93FC-FD61-9710D738325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3D772C60-8A47-7764-F787-8B2B9E186C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F4F462E7-CE58-683B-75EC-F8D7FAF42AC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5B63D461-705B-0407-0394-EF8CF7C3C6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5024502-93C6-2444-B0F5-CC3F5A4C43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410EC24-8FBF-330D-E681-616ADBCF282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12</a:t>
            </a:fld>
            <a:endParaRPr lang="en-US" sz="2400" dirty="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A93A78-E2A3-2B8A-54F0-862FD69A2B5D}"/>
              </a:ext>
            </a:extLst>
          </p:cNvPr>
          <p:cNvSpPr/>
          <p:nvPr/>
        </p:nvSpPr>
        <p:spPr>
          <a:xfrm>
            <a:off x="4505864" y="3248630"/>
            <a:ext cx="9796460" cy="437401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406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A979A-2232-B18F-94AD-CE522D42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A7B271B-5ABC-22CA-D17A-37FB9584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6907253-5DFE-D856-0578-347D8EC8EC2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AAC7754-86CA-3FFF-3BD1-1D68547A5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2DCDF5B-E11A-7623-CE80-751974F6E98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726FDD1-E140-7398-6DE0-FABEA317E5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56E3F16A-16C7-EEAC-22BC-F6A786BB67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AB03A1-094E-D0F2-240D-924E676976D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DAB48B91-42CE-B23B-D329-E6CEAB4AB32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A38163E-472D-88F0-5AC0-909456E2C3F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E776157F-3EFE-B90B-9B16-25C6CA7AC9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970744D-84EB-1F9D-AE65-A4498CA8C99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CD00C64-A0C9-C0D9-22C9-569C9AF08E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77CCE5B6-F293-4F0A-A78D-2D2957C1E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A5147E1-4B27-A80D-AD07-8BA0AC1C610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7F44DCD-7218-FCF2-EAF1-9F860830478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8FDF732-E1E1-3DFA-DA38-E3EE41D46A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B2592BE-DC5F-84A8-CD14-1E93CBEC8EA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13</a:t>
            </a:fld>
            <a:endParaRPr lang="en-US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3564E9A-48F7-A2BF-BDB9-894FE932ACB4}"/>
              </a:ext>
            </a:extLst>
          </p:cNvPr>
          <p:cNvGrpSpPr/>
          <p:nvPr/>
        </p:nvGrpSpPr>
        <p:grpSpPr>
          <a:xfrm>
            <a:off x="1418285" y="2853056"/>
            <a:ext cx="2109371" cy="6698440"/>
            <a:chOff x="1418285" y="2853056"/>
            <a:chExt cx="2109371" cy="669844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B7EBC46-835F-0297-30D3-0E98C64C6C35}"/>
                </a:ext>
              </a:extLst>
            </p:cNvPr>
            <p:cNvGrpSpPr/>
            <p:nvPr/>
          </p:nvGrpSpPr>
          <p:grpSpPr>
            <a:xfrm>
              <a:off x="1418285" y="2853056"/>
              <a:ext cx="2109371" cy="1008000"/>
              <a:chOff x="1656058" y="3294906"/>
              <a:chExt cx="2109371" cy="1008000"/>
            </a:xfrm>
          </p:grpSpPr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6E348C05-9A1A-D122-EEAB-CFD55EE6D88D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1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2CF08CEB-2BAA-6612-C602-A26369FE46A4}"/>
                  </a:ext>
                </a:extLst>
              </p:cNvPr>
              <p:cNvCxnSpPr>
                <a:cxnSpLocks/>
                <a:endCxn id="36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58AB4EF-9178-D10F-2B7E-AB53EFC60FC1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5" name="矢印: 下 4">
              <a:extLst>
                <a:ext uri="{FF2B5EF4-FFF2-40B4-BE49-F238E27FC236}">
                  <a16:creationId xmlns:a16="http://schemas.microsoft.com/office/drawing/2014/main" id="{882C9F4E-2EAE-5AFA-4E98-427F2C9D9585}"/>
                </a:ext>
              </a:extLst>
            </p:cNvPr>
            <p:cNvSpPr/>
            <p:nvPr/>
          </p:nvSpPr>
          <p:spPr>
            <a:xfrm>
              <a:off x="2977323" y="3850839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19C0457-BFA4-617F-B1B5-7BB08C4AEE88}"/>
                </a:ext>
              </a:extLst>
            </p:cNvPr>
            <p:cNvGrpSpPr/>
            <p:nvPr/>
          </p:nvGrpSpPr>
          <p:grpSpPr>
            <a:xfrm>
              <a:off x="1418285" y="4750923"/>
              <a:ext cx="2109371" cy="1008000"/>
              <a:chOff x="1656058" y="3294906"/>
              <a:chExt cx="2109371" cy="1008000"/>
            </a:xfrm>
          </p:grpSpPr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814483B7-FC9A-09AE-F50F-576B0C8F9494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2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A560ABD3-2469-2242-0899-4B910D99EE21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10A100C-A7EF-4A15-07CB-FD95148FC385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8CAE8D0-EC04-A256-96D0-EC12F4DE1F94}"/>
                </a:ext>
              </a:extLst>
            </p:cNvPr>
            <p:cNvGrpSpPr/>
            <p:nvPr/>
          </p:nvGrpSpPr>
          <p:grpSpPr>
            <a:xfrm>
              <a:off x="1418285" y="6648790"/>
              <a:ext cx="2109371" cy="1008000"/>
              <a:chOff x="1656058" y="3294906"/>
              <a:chExt cx="2109371" cy="1008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D57DB331-D7A3-4F3B-1225-AF1B51264791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3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BC242994-3810-F8C3-F5A0-585E4A64B43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C9D61664-2954-9D78-9C5E-BF923A0CE8FC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3C7638F-6F35-F7EC-7F78-BAEAE0F27CF9}"/>
                </a:ext>
              </a:extLst>
            </p:cNvPr>
            <p:cNvGrpSpPr/>
            <p:nvPr/>
          </p:nvGrpSpPr>
          <p:grpSpPr>
            <a:xfrm>
              <a:off x="1418285" y="8543496"/>
              <a:ext cx="2109371" cy="1008000"/>
              <a:chOff x="1656058" y="3294906"/>
              <a:chExt cx="2109371" cy="1008000"/>
            </a:xfrm>
          </p:grpSpPr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6ED34ABB-271D-19B8-B07C-9B8099631699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4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F02B6CEA-3828-54E2-4DEA-AC913B84DB1E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EAF984D-8798-2A72-8CF7-6E0AC1D81912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9" name="矢印: 下 8">
              <a:extLst>
                <a:ext uri="{FF2B5EF4-FFF2-40B4-BE49-F238E27FC236}">
                  <a16:creationId xmlns:a16="http://schemas.microsoft.com/office/drawing/2014/main" id="{74F26521-2F7F-1B87-CB57-1D58BFF65561}"/>
                </a:ext>
              </a:extLst>
            </p:cNvPr>
            <p:cNvSpPr/>
            <p:nvPr/>
          </p:nvSpPr>
          <p:spPr>
            <a:xfrm>
              <a:off x="2975459" y="5765948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矢印: 下 25">
              <a:extLst>
                <a:ext uri="{FF2B5EF4-FFF2-40B4-BE49-F238E27FC236}">
                  <a16:creationId xmlns:a16="http://schemas.microsoft.com/office/drawing/2014/main" id="{9AE6FACA-FE53-AB50-3856-ED5455A3D375}"/>
                </a:ext>
              </a:extLst>
            </p:cNvPr>
            <p:cNvSpPr/>
            <p:nvPr/>
          </p:nvSpPr>
          <p:spPr>
            <a:xfrm>
              <a:off x="2975459" y="7663815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279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625500" y="4280081"/>
            <a:ext cx="1802963" cy="2351474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5644050" y="3680489"/>
            <a:ext cx="1277850" cy="3301794"/>
            <a:chOff x="4004187" y="2684206"/>
            <a:chExt cx="851900" cy="2201196"/>
          </a:xfrm>
          <a:solidFill>
            <a:srgbClr val="64A4A3"/>
          </a:solidFill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7894115" y="4814048"/>
            <a:ext cx="3539613" cy="2168237"/>
            <a:chOff x="4837472" y="2490841"/>
            <a:chExt cx="2359742" cy="1445491"/>
          </a:xfrm>
          <a:solidFill>
            <a:srgbClr val="64A4A3"/>
          </a:solidFill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3950372" y="3529255"/>
            <a:ext cx="1260987" cy="3738716"/>
            <a:chOff x="7800489" y="2818451"/>
            <a:chExt cx="840658" cy="2492477"/>
          </a:xfrm>
          <a:solidFill>
            <a:srgbClr val="64A4A3"/>
          </a:solidFill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11199965" y="4025627"/>
            <a:ext cx="788670" cy="1187847"/>
          </a:xfrm>
          <a:prstGeom prst="line">
            <a:avLst/>
          </a:prstGeom>
          <a:ln>
            <a:solidFill>
              <a:srgbClr val="64A4A3"/>
            </a:solidFill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11746932" y="3180362"/>
            <a:ext cx="972000" cy="972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42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962177" y="6982284"/>
            <a:ext cx="1407456" cy="1260987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884582" y="9529028"/>
            <a:ext cx="2070099" cy="303300"/>
          </a:xfrm>
          <a:custGeom>
            <a:avLst/>
            <a:gdLst>
              <a:gd name="csX0" fmla="*/ 0 w 2070099"/>
              <a:gd name="csY0" fmla="*/ 303300 h 303300"/>
              <a:gd name="csX1" fmla="*/ 2070099 w 2070099"/>
              <a:gd name="csY1" fmla="*/ 0 h 303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070099" h="303300" extrusionOk="0">
                <a:moveTo>
                  <a:pt x="0" y="303300"/>
                </a:moveTo>
                <a:cubicBezTo>
                  <a:pt x="665539" y="251203"/>
                  <a:pt x="1437177" y="72383"/>
                  <a:pt x="2070099" y="0"/>
                </a:cubicBezTo>
              </a:path>
            </a:pathLst>
          </a:custGeom>
          <a:noFill/>
          <a:ln cap="rnd">
            <a:solidFill>
              <a:srgbClr val="64A4A3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6312828" y="5143500"/>
            <a:ext cx="113813" cy="3216954"/>
          </a:xfrm>
          <a:custGeom>
            <a:avLst/>
            <a:gdLst>
              <a:gd name="csX0" fmla="*/ 0 w 113813"/>
              <a:gd name="csY0" fmla="*/ 0 h 3216954"/>
              <a:gd name="csX1" fmla="*/ 113813 w 113813"/>
              <a:gd name="csY1" fmla="*/ 9484 h 3216954"/>
              <a:gd name="csX2" fmla="*/ 113813 w 113813"/>
              <a:gd name="csY2" fmla="*/ 3207470 h 3216954"/>
              <a:gd name="csX3" fmla="*/ 0 w 113813"/>
              <a:gd name="csY3" fmla="*/ 3216954 h 3216954"/>
              <a:gd name="csX4" fmla="*/ 0 w 113813"/>
              <a:gd name="csY4" fmla="*/ 0 h 3216954"/>
              <a:gd name="csX0" fmla="*/ 0 w 113813"/>
              <a:gd name="csY0" fmla="*/ 0 h 3216954"/>
              <a:gd name="csX1" fmla="*/ 113813 w 113813"/>
              <a:gd name="csY1" fmla="*/ 9484 h 3216954"/>
              <a:gd name="csX2" fmla="*/ 113813 w 113813"/>
              <a:gd name="csY2" fmla="*/ 3207470 h 3216954"/>
              <a:gd name="csX3" fmla="*/ 0 w 113813"/>
              <a:gd name="csY3" fmla="*/ 3216954 h 3216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813" h="3216954" stroke="0" extrusionOk="0">
                <a:moveTo>
                  <a:pt x="0" y="0"/>
                </a:moveTo>
                <a:cubicBezTo>
                  <a:pt x="62916" y="47"/>
                  <a:pt x="113694" y="4668"/>
                  <a:pt x="113813" y="9484"/>
                </a:cubicBezTo>
                <a:cubicBezTo>
                  <a:pt x="73971" y="492516"/>
                  <a:pt x="155502" y="2426519"/>
                  <a:pt x="113813" y="3207470"/>
                </a:cubicBezTo>
                <a:cubicBezTo>
                  <a:pt x="109639" y="3210082"/>
                  <a:pt x="61642" y="3216009"/>
                  <a:pt x="0" y="3216954"/>
                </a:cubicBezTo>
                <a:cubicBezTo>
                  <a:pt x="132240" y="1817127"/>
                  <a:pt x="-92512" y="858553"/>
                  <a:pt x="0" y="0"/>
                </a:cubicBezTo>
                <a:close/>
              </a:path>
              <a:path w="113813" h="3216954" fill="none" extrusionOk="0">
                <a:moveTo>
                  <a:pt x="0" y="0"/>
                </a:moveTo>
                <a:cubicBezTo>
                  <a:pt x="63532" y="114"/>
                  <a:pt x="114293" y="4747"/>
                  <a:pt x="113813" y="9484"/>
                </a:cubicBezTo>
                <a:cubicBezTo>
                  <a:pt x="13846" y="1049752"/>
                  <a:pt x="21762" y="1612197"/>
                  <a:pt x="113813" y="3207470"/>
                </a:cubicBezTo>
                <a:cubicBezTo>
                  <a:pt x="112898" y="3213012"/>
                  <a:pt x="68013" y="3217462"/>
                  <a:pt x="0" y="3216954"/>
                </a:cubicBezTo>
              </a:path>
              <a:path w="113813" h="3216954" fill="none" stroke="0" extrusionOk="0">
                <a:moveTo>
                  <a:pt x="0" y="0"/>
                </a:moveTo>
                <a:cubicBezTo>
                  <a:pt x="63573" y="-666"/>
                  <a:pt x="114514" y="4859"/>
                  <a:pt x="113813" y="9484"/>
                </a:cubicBezTo>
                <a:cubicBezTo>
                  <a:pt x="271694" y="1262670"/>
                  <a:pt x="182013" y="2163840"/>
                  <a:pt x="113813" y="3207470"/>
                </a:cubicBezTo>
                <a:cubicBezTo>
                  <a:pt x="118347" y="3212067"/>
                  <a:pt x="63843" y="3215482"/>
                  <a:pt x="0" y="3216954"/>
                </a:cubicBezTo>
              </a:path>
            </a:pathLst>
          </a:custGeom>
          <a:ln w="1905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12920096" y="5980866"/>
            <a:ext cx="2574021" cy="507831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849420" y="8034742"/>
            <a:ext cx="1674323" cy="1872653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5586608" y="7965593"/>
            <a:ext cx="2696796" cy="1689941"/>
          </a:xfrm>
          <a:custGeom>
            <a:avLst/>
            <a:gdLst>
              <a:gd name="csX0" fmla="*/ 0 w 2696796"/>
              <a:gd name="csY0" fmla="*/ 422485 h 1689941"/>
              <a:gd name="csX1" fmla="*/ 1851826 w 2696796"/>
              <a:gd name="csY1" fmla="*/ 422485 h 1689941"/>
              <a:gd name="csX2" fmla="*/ 1851826 w 2696796"/>
              <a:gd name="csY2" fmla="*/ 0 h 1689941"/>
              <a:gd name="csX3" fmla="*/ 2696796 w 2696796"/>
              <a:gd name="csY3" fmla="*/ 844971 h 1689941"/>
              <a:gd name="csX4" fmla="*/ 1851826 w 2696796"/>
              <a:gd name="csY4" fmla="*/ 1689941 h 1689941"/>
              <a:gd name="csX5" fmla="*/ 1851826 w 2696796"/>
              <a:gd name="csY5" fmla="*/ 1267456 h 1689941"/>
              <a:gd name="csX6" fmla="*/ 0 w 2696796"/>
              <a:gd name="csY6" fmla="*/ 1267456 h 1689941"/>
              <a:gd name="csX7" fmla="*/ 0 w 2696796"/>
              <a:gd name="csY7" fmla="*/ 422485 h 1689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696796" h="1689941" fill="none" extrusionOk="0">
                <a:moveTo>
                  <a:pt x="0" y="422485"/>
                </a:moveTo>
                <a:cubicBezTo>
                  <a:pt x="750059" y="538289"/>
                  <a:pt x="1374274" y="509958"/>
                  <a:pt x="1851826" y="422485"/>
                </a:cubicBezTo>
                <a:cubicBezTo>
                  <a:pt x="1837742" y="317939"/>
                  <a:pt x="1819521" y="86815"/>
                  <a:pt x="1851826" y="0"/>
                </a:cubicBezTo>
                <a:cubicBezTo>
                  <a:pt x="2055125" y="337359"/>
                  <a:pt x="2355223" y="517283"/>
                  <a:pt x="2696796" y="844971"/>
                </a:cubicBezTo>
                <a:cubicBezTo>
                  <a:pt x="2529130" y="935746"/>
                  <a:pt x="1941185" y="1523172"/>
                  <a:pt x="1851826" y="1689941"/>
                </a:cubicBezTo>
                <a:cubicBezTo>
                  <a:pt x="1860372" y="1627371"/>
                  <a:pt x="1879261" y="1353147"/>
                  <a:pt x="1851826" y="1267456"/>
                </a:cubicBezTo>
                <a:cubicBezTo>
                  <a:pt x="933186" y="1162485"/>
                  <a:pt x="808602" y="1165236"/>
                  <a:pt x="0" y="1267456"/>
                </a:cubicBezTo>
                <a:cubicBezTo>
                  <a:pt x="31610" y="880851"/>
                  <a:pt x="-14985" y="712018"/>
                  <a:pt x="0" y="422485"/>
                </a:cubicBezTo>
                <a:close/>
              </a:path>
              <a:path w="2696796" h="1689941" stroke="0" extrusionOk="0">
                <a:moveTo>
                  <a:pt x="0" y="422485"/>
                </a:moveTo>
                <a:cubicBezTo>
                  <a:pt x="813686" y="377686"/>
                  <a:pt x="1468457" y="388744"/>
                  <a:pt x="1851826" y="422485"/>
                </a:cubicBezTo>
                <a:cubicBezTo>
                  <a:pt x="1875898" y="270205"/>
                  <a:pt x="1879465" y="54995"/>
                  <a:pt x="1851826" y="0"/>
                </a:cubicBezTo>
                <a:cubicBezTo>
                  <a:pt x="2253481" y="267547"/>
                  <a:pt x="2577189" y="613101"/>
                  <a:pt x="2696796" y="844971"/>
                </a:cubicBezTo>
                <a:cubicBezTo>
                  <a:pt x="2387423" y="1230962"/>
                  <a:pt x="2048119" y="1445984"/>
                  <a:pt x="1851826" y="1689941"/>
                </a:cubicBezTo>
                <a:cubicBezTo>
                  <a:pt x="1878023" y="1627206"/>
                  <a:pt x="1880690" y="1324605"/>
                  <a:pt x="1851826" y="1267456"/>
                </a:cubicBezTo>
                <a:cubicBezTo>
                  <a:pt x="1381968" y="1101894"/>
                  <a:pt x="725925" y="1125102"/>
                  <a:pt x="0" y="1267456"/>
                </a:cubicBezTo>
                <a:cubicBezTo>
                  <a:pt x="-29062" y="886853"/>
                  <a:pt x="-43012" y="569395"/>
                  <a:pt x="0" y="422485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793952" y="4466906"/>
            <a:ext cx="3686175" cy="830102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solidFill>
            <a:srgbClr val="64A4A3"/>
          </a:solidFill>
          <a:ln w="38100">
            <a:solidFill>
              <a:srgbClr val="64A4A3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11620311" y="7721874"/>
            <a:ext cx="1299785" cy="1384718"/>
            <a:chOff x="5897144" y="3284788"/>
            <a:chExt cx="866523" cy="923145"/>
          </a:xfrm>
          <a:solidFill>
            <a:srgbClr val="64A4A3"/>
          </a:solidFill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0811D00-B639-7D58-D363-8290AD29E62C}"/>
              </a:ext>
            </a:extLst>
          </p:cNvPr>
          <p:cNvSpPr/>
          <p:nvPr/>
        </p:nvSpPr>
        <p:spPr>
          <a:xfrm>
            <a:off x="4184884" y="20224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E3C2FA-C4E2-9188-98AB-D6750654E01E}"/>
              </a:ext>
            </a:extLst>
          </p:cNvPr>
          <p:cNvSpPr txBox="1"/>
          <p:nvPr/>
        </p:nvSpPr>
        <p:spPr>
          <a:xfrm>
            <a:off x="4133428" y="284524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ひとつめ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600B182-1E03-FE3F-38CF-BE77E0F38AC6}"/>
              </a:ext>
            </a:extLst>
          </p:cNvPr>
          <p:cNvSpPr/>
          <p:nvPr/>
        </p:nvSpPr>
        <p:spPr>
          <a:xfrm>
            <a:off x="2147695" y="542755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636C0C-4196-FBC8-E6B1-2A2B6B9C99B7}"/>
              </a:ext>
            </a:extLst>
          </p:cNvPr>
          <p:cNvSpPr txBox="1"/>
          <p:nvPr/>
        </p:nvSpPr>
        <p:spPr>
          <a:xfrm>
            <a:off x="2024176" y="6275208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みっつめ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1B58024-0DF9-700C-3393-339C7F03622C}"/>
              </a:ext>
            </a:extLst>
          </p:cNvPr>
          <p:cNvSpPr/>
          <p:nvPr/>
        </p:nvSpPr>
        <p:spPr>
          <a:xfrm>
            <a:off x="6272491" y="54085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243A9B-ED86-339C-E2EB-EFDFA00CF9EF}"/>
              </a:ext>
            </a:extLst>
          </p:cNvPr>
          <p:cNvSpPr txBox="1"/>
          <p:nvPr/>
        </p:nvSpPr>
        <p:spPr>
          <a:xfrm>
            <a:off x="6191896" y="626197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➁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ふたつめ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7510278-8BCC-2772-B7D4-6900CC651828}"/>
              </a:ext>
            </a:extLst>
          </p:cNvPr>
          <p:cNvGrpSpPr/>
          <p:nvPr/>
        </p:nvGrpSpPr>
        <p:grpSpPr>
          <a:xfrm flipV="1">
            <a:off x="7656401" y="3988125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88C38720-FF04-C2D5-1BFB-D6E04C38989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CA25AA5-6EC2-3A91-C987-1FA6D6720F6A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9545FA0-67FF-9A70-C888-13A69A398782}"/>
              </a:ext>
            </a:extLst>
          </p:cNvPr>
          <p:cNvGrpSpPr/>
          <p:nvPr/>
        </p:nvGrpSpPr>
        <p:grpSpPr>
          <a:xfrm rot="7241964" flipV="1">
            <a:off x="5188908" y="7778500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3767BD8E-FB78-2A44-9179-41A94C34D17A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5A6798D-20C7-E00B-7A02-153B6F17D077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CC218CC-EEBC-1865-D9BB-837546C65874}"/>
              </a:ext>
            </a:extLst>
          </p:cNvPr>
          <p:cNvGrpSpPr/>
          <p:nvPr/>
        </p:nvGrpSpPr>
        <p:grpSpPr>
          <a:xfrm rot="14081671" flipV="1">
            <a:off x="3008535" y="3805423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F2F7520D-B9C9-EE46-43C0-1974C9EE110E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91521E69-6981-7659-CD42-1242DA646433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BABD0C2-66B5-256B-4604-E348FEFAC56D}"/>
              </a:ext>
            </a:extLst>
          </p:cNvPr>
          <p:cNvSpPr txBox="1"/>
          <p:nvPr/>
        </p:nvSpPr>
        <p:spPr>
          <a:xfrm>
            <a:off x="8172533" y="4335169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D28F20-D312-FC56-A45A-9A9DD0F018F0}"/>
              </a:ext>
            </a:extLst>
          </p:cNvPr>
          <p:cNvSpPr txBox="1"/>
          <p:nvPr/>
        </p:nvSpPr>
        <p:spPr>
          <a:xfrm>
            <a:off x="4750090" y="8830626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2857B8-91F1-CA95-91BD-24CB159AB079}"/>
              </a:ext>
            </a:extLst>
          </p:cNvPr>
          <p:cNvSpPr txBox="1"/>
          <p:nvPr/>
        </p:nvSpPr>
        <p:spPr>
          <a:xfrm>
            <a:off x="924026" y="4403562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11193983" y="2476893"/>
            <a:ext cx="485775" cy="48577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12162225" y="2476668"/>
            <a:ext cx="486000" cy="486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11595549" y="3247604"/>
            <a:ext cx="514350" cy="49990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12792395" y="4590541"/>
            <a:ext cx="4352231" cy="1854809"/>
          </a:xfrm>
          <a:custGeom>
            <a:avLst/>
            <a:gdLst>
              <a:gd name="csX0" fmla="*/ 0 w 4352231"/>
              <a:gd name="csY0" fmla="*/ 927405 h 1854809"/>
              <a:gd name="csX1" fmla="*/ 2176116 w 4352231"/>
              <a:gd name="csY1" fmla="*/ 0 h 1854809"/>
              <a:gd name="csX2" fmla="*/ 4352232 w 4352231"/>
              <a:gd name="csY2" fmla="*/ 927405 h 1854809"/>
              <a:gd name="csX3" fmla="*/ 2176116 w 4352231"/>
              <a:gd name="csY3" fmla="*/ 1854810 h 1854809"/>
              <a:gd name="csX4" fmla="*/ 0 w 4352231"/>
              <a:gd name="csY4" fmla="*/ 927405 h 1854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52231" h="1854809" fill="none" extrusionOk="0">
                <a:moveTo>
                  <a:pt x="0" y="927405"/>
                </a:moveTo>
                <a:cubicBezTo>
                  <a:pt x="88957" y="330664"/>
                  <a:pt x="1036204" y="4086"/>
                  <a:pt x="2176116" y="0"/>
                </a:cubicBezTo>
                <a:cubicBezTo>
                  <a:pt x="3424330" y="79274"/>
                  <a:pt x="4334726" y="414837"/>
                  <a:pt x="4352232" y="927405"/>
                </a:cubicBezTo>
                <a:cubicBezTo>
                  <a:pt x="4538447" y="1466601"/>
                  <a:pt x="3219053" y="1782293"/>
                  <a:pt x="2176116" y="1854810"/>
                </a:cubicBezTo>
                <a:cubicBezTo>
                  <a:pt x="964531" y="1857719"/>
                  <a:pt x="57048" y="1362262"/>
                  <a:pt x="0" y="927405"/>
                </a:cubicBezTo>
                <a:close/>
              </a:path>
              <a:path w="4352231" h="1854809" stroke="0" extrusionOk="0">
                <a:moveTo>
                  <a:pt x="0" y="927405"/>
                </a:moveTo>
                <a:cubicBezTo>
                  <a:pt x="-13236" y="438434"/>
                  <a:pt x="897001" y="-31912"/>
                  <a:pt x="2176116" y="0"/>
                </a:cubicBezTo>
                <a:cubicBezTo>
                  <a:pt x="3410746" y="-4841"/>
                  <a:pt x="4332356" y="451413"/>
                  <a:pt x="4352232" y="927405"/>
                </a:cubicBezTo>
                <a:cubicBezTo>
                  <a:pt x="4293016" y="1459389"/>
                  <a:pt x="3346187" y="1892372"/>
                  <a:pt x="2176116" y="1854810"/>
                </a:cubicBezTo>
                <a:cubicBezTo>
                  <a:pt x="1017127" y="1827082"/>
                  <a:pt x="-51413" y="1451390"/>
                  <a:pt x="0" y="927405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14277877" y="2351718"/>
            <a:ext cx="3352691" cy="3265911"/>
          </a:xfrm>
          <a:custGeom>
            <a:avLst/>
            <a:gdLst>
              <a:gd name="csX0" fmla="*/ 0 w 3352691"/>
              <a:gd name="csY0" fmla="*/ 1632956 h 3265911"/>
              <a:gd name="csX1" fmla="*/ 1676346 w 3352691"/>
              <a:gd name="csY1" fmla="*/ 0 h 3265911"/>
              <a:gd name="csX2" fmla="*/ 3352692 w 3352691"/>
              <a:gd name="csY2" fmla="*/ 1632956 h 3265911"/>
              <a:gd name="csX3" fmla="*/ 1676346 w 3352691"/>
              <a:gd name="csY3" fmla="*/ 3265912 h 3265911"/>
              <a:gd name="csX4" fmla="*/ 0 w 3352691"/>
              <a:gd name="csY4" fmla="*/ 1632956 h 3265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52691" h="3265911" fill="none" extrusionOk="0">
                <a:moveTo>
                  <a:pt x="0" y="1632956"/>
                </a:moveTo>
                <a:cubicBezTo>
                  <a:pt x="-97699" y="748535"/>
                  <a:pt x="738675" y="32818"/>
                  <a:pt x="1676346" y="0"/>
                </a:cubicBezTo>
                <a:cubicBezTo>
                  <a:pt x="2462672" y="-52220"/>
                  <a:pt x="3428322" y="768244"/>
                  <a:pt x="3352692" y="1632956"/>
                </a:cubicBezTo>
                <a:cubicBezTo>
                  <a:pt x="3420273" y="2363079"/>
                  <a:pt x="2615245" y="3285864"/>
                  <a:pt x="1676346" y="3265912"/>
                </a:cubicBezTo>
                <a:cubicBezTo>
                  <a:pt x="769438" y="3282794"/>
                  <a:pt x="48290" y="2512588"/>
                  <a:pt x="0" y="1632956"/>
                </a:cubicBezTo>
                <a:close/>
              </a:path>
              <a:path w="3352691" h="3265911" stroke="0" extrusionOk="0">
                <a:moveTo>
                  <a:pt x="0" y="1632956"/>
                </a:moveTo>
                <a:cubicBezTo>
                  <a:pt x="46380" y="805402"/>
                  <a:pt x="750896" y="-39621"/>
                  <a:pt x="1676346" y="0"/>
                </a:cubicBezTo>
                <a:cubicBezTo>
                  <a:pt x="2634870" y="157129"/>
                  <a:pt x="3332799" y="717393"/>
                  <a:pt x="3352692" y="1632956"/>
                </a:cubicBezTo>
                <a:cubicBezTo>
                  <a:pt x="3359065" y="2487079"/>
                  <a:pt x="2599756" y="3181794"/>
                  <a:pt x="1676346" y="3265912"/>
                </a:cubicBezTo>
                <a:cubicBezTo>
                  <a:pt x="754001" y="3248309"/>
                  <a:pt x="16605" y="2464779"/>
                  <a:pt x="0" y="1632956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2700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13193370" y="5255011"/>
            <a:ext cx="4740048" cy="251132"/>
          </a:xfrm>
          <a:custGeom>
            <a:avLst/>
            <a:gdLst>
              <a:gd name="csX0" fmla="*/ 0 w 4740048"/>
              <a:gd name="csY0" fmla="*/ 0 h 251132"/>
              <a:gd name="csX1" fmla="*/ 4740048 w 4740048"/>
              <a:gd name="csY1" fmla="*/ 0 h 251132"/>
              <a:gd name="csX2" fmla="*/ 4740048 w 4740048"/>
              <a:gd name="csY2" fmla="*/ 251132 h 251132"/>
              <a:gd name="csX3" fmla="*/ 0 w 4740048"/>
              <a:gd name="csY3" fmla="*/ 251132 h 251132"/>
              <a:gd name="csX4" fmla="*/ 0 w 4740048"/>
              <a:gd name="csY4" fmla="*/ 0 h 251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40048" h="251132" fill="none" extrusionOk="0">
                <a:moveTo>
                  <a:pt x="0" y="0"/>
                </a:moveTo>
                <a:cubicBezTo>
                  <a:pt x="1734634" y="-130857"/>
                  <a:pt x="3117599" y="63250"/>
                  <a:pt x="4740048" y="0"/>
                </a:cubicBezTo>
                <a:cubicBezTo>
                  <a:pt x="4755970" y="41621"/>
                  <a:pt x="4740267" y="197754"/>
                  <a:pt x="4740048" y="251132"/>
                </a:cubicBezTo>
                <a:cubicBezTo>
                  <a:pt x="3980916" y="305796"/>
                  <a:pt x="1888052" y="299234"/>
                  <a:pt x="0" y="251132"/>
                </a:cubicBezTo>
                <a:cubicBezTo>
                  <a:pt x="4336" y="213336"/>
                  <a:pt x="-10589" y="59554"/>
                  <a:pt x="0" y="0"/>
                </a:cubicBezTo>
                <a:close/>
              </a:path>
              <a:path w="4740048" h="251132" stroke="0" extrusionOk="0">
                <a:moveTo>
                  <a:pt x="0" y="0"/>
                </a:moveTo>
                <a:cubicBezTo>
                  <a:pt x="1979577" y="93023"/>
                  <a:pt x="3628114" y="111448"/>
                  <a:pt x="4740048" y="0"/>
                </a:cubicBezTo>
                <a:cubicBezTo>
                  <a:pt x="4752646" y="86854"/>
                  <a:pt x="4755007" y="191159"/>
                  <a:pt x="4740048" y="251132"/>
                </a:cubicBezTo>
                <a:cubicBezTo>
                  <a:pt x="4207713" y="249248"/>
                  <a:pt x="2324524" y="327263"/>
                  <a:pt x="0" y="251132"/>
                </a:cubicBezTo>
                <a:cubicBezTo>
                  <a:pt x="-18793" y="149885"/>
                  <a:pt x="-20569" y="8440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12398882" y="6619589"/>
            <a:ext cx="2804579" cy="2829827"/>
          </a:xfrm>
          <a:custGeom>
            <a:avLst/>
            <a:gdLst>
              <a:gd name="csX0" fmla="*/ 0 w 2804579"/>
              <a:gd name="csY0" fmla="*/ 1307523 h 2829827"/>
              <a:gd name="csX1" fmla="*/ 1307523 w 2804579"/>
              <a:gd name="csY1" fmla="*/ 1307523 h 2829827"/>
              <a:gd name="csX2" fmla="*/ 1307523 w 2804579"/>
              <a:gd name="csY2" fmla="*/ 0 h 2829827"/>
              <a:gd name="csX3" fmla="*/ 1497056 w 2804579"/>
              <a:gd name="csY3" fmla="*/ 0 h 2829827"/>
              <a:gd name="csX4" fmla="*/ 1497056 w 2804579"/>
              <a:gd name="csY4" fmla="*/ 1307523 h 2829827"/>
              <a:gd name="csX5" fmla="*/ 2804579 w 2804579"/>
              <a:gd name="csY5" fmla="*/ 1307523 h 2829827"/>
              <a:gd name="csX6" fmla="*/ 2804579 w 2804579"/>
              <a:gd name="csY6" fmla="*/ 1522304 h 2829827"/>
              <a:gd name="csX7" fmla="*/ 1497056 w 2804579"/>
              <a:gd name="csY7" fmla="*/ 1522304 h 2829827"/>
              <a:gd name="csX8" fmla="*/ 1497056 w 2804579"/>
              <a:gd name="csY8" fmla="*/ 2829827 h 2829827"/>
              <a:gd name="csX9" fmla="*/ 1307523 w 2804579"/>
              <a:gd name="csY9" fmla="*/ 2829827 h 2829827"/>
              <a:gd name="csX10" fmla="*/ 1307523 w 2804579"/>
              <a:gd name="csY10" fmla="*/ 1522304 h 2829827"/>
              <a:gd name="csX11" fmla="*/ 0 w 2804579"/>
              <a:gd name="csY11" fmla="*/ 1522304 h 2829827"/>
              <a:gd name="csX12" fmla="*/ 0 w 2804579"/>
              <a:gd name="csY12" fmla="*/ 1307523 h 2829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04579" h="2829827" fill="none" extrusionOk="0">
                <a:moveTo>
                  <a:pt x="0" y="1307523"/>
                </a:moveTo>
                <a:cubicBezTo>
                  <a:pt x="546129" y="1353204"/>
                  <a:pt x="911528" y="1222900"/>
                  <a:pt x="1307523" y="1307523"/>
                </a:cubicBezTo>
                <a:cubicBezTo>
                  <a:pt x="1341216" y="1088394"/>
                  <a:pt x="1342035" y="206473"/>
                  <a:pt x="1307523" y="0"/>
                </a:cubicBezTo>
                <a:cubicBezTo>
                  <a:pt x="1369576" y="12874"/>
                  <a:pt x="1417781" y="10368"/>
                  <a:pt x="1497056" y="0"/>
                </a:cubicBezTo>
                <a:cubicBezTo>
                  <a:pt x="1415750" y="252949"/>
                  <a:pt x="1496548" y="1114016"/>
                  <a:pt x="1497056" y="1307523"/>
                </a:cubicBezTo>
                <a:cubicBezTo>
                  <a:pt x="1775166" y="1237105"/>
                  <a:pt x="2311653" y="1292227"/>
                  <a:pt x="2804579" y="1307523"/>
                </a:cubicBezTo>
                <a:cubicBezTo>
                  <a:pt x="2807269" y="1352914"/>
                  <a:pt x="2785612" y="1478252"/>
                  <a:pt x="2804579" y="1522304"/>
                </a:cubicBezTo>
                <a:cubicBezTo>
                  <a:pt x="2613178" y="1487643"/>
                  <a:pt x="1694709" y="1488030"/>
                  <a:pt x="1497056" y="1522304"/>
                </a:cubicBezTo>
                <a:cubicBezTo>
                  <a:pt x="1419620" y="1858364"/>
                  <a:pt x="1386465" y="2356596"/>
                  <a:pt x="1497056" y="2829827"/>
                </a:cubicBezTo>
                <a:cubicBezTo>
                  <a:pt x="1423672" y="2826318"/>
                  <a:pt x="1377315" y="2846623"/>
                  <a:pt x="1307523" y="2829827"/>
                </a:cubicBezTo>
                <a:cubicBezTo>
                  <a:pt x="1218376" y="2194120"/>
                  <a:pt x="1360294" y="1756082"/>
                  <a:pt x="1307523" y="1522304"/>
                </a:cubicBezTo>
                <a:cubicBezTo>
                  <a:pt x="718539" y="1520958"/>
                  <a:pt x="586764" y="1507087"/>
                  <a:pt x="0" y="1522304"/>
                </a:cubicBezTo>
                <a:cubicBezTo>
                  <a:pt x="-17792" y="1448935"/>
                  <a:pt x="-15342" y="1329404"/>
                  <a:pt x="0" y="1307523"/>
                </a:cubicBezTo>
                <a:close/>
              </a:path>
              <a:path w="2804579" h="2829827" stroke="0" extrusionOk="0">
                <a:moveTo>
                  <a:pt x="0" y="1307523"/>
                </a:moveTo>
                <a:cubicBezTo>
                  <a:pt x="563140" y="1203224"/>
                  <a:pt x="995196" y="1223847"/>
                  <a:pt x="1307523" y="1307523"/>
                </a:cubicBezTo>
                <a:cubicBezTo>
                  <a:pt x="1250057" y="671566"/>
                  <a:pt x="1261814" y="237231"/>
                  <a:pt x="1307523" y="0"/>
                </a:cubicBezTo>
                <a:cubicBezTo>
                  <a:pt x="1347624" y="13670"/>
                  <a:pt x="1426167" y="5277"/>
                  <a:pt x="1497056" y="0"/>
                </a:cubicBezTo>
                <a:cubicBezTo>
                  <a:pt x="1451848" y="379705"/>
                  <a:pt x="1471064" y="751305"/>
                  <a:pt x="1497056" y="1307523"/>
                </a:cubicBezTo>
                <a:cubicBezTo>
                  <a:pt x="1901207" y="1374512"/>
                  <a:pt x="2231359" y="1302522"/>
                  <a:pt x="2804579" y="1307523"/>
                </a:cubicBezTo>
                <a:cubicBezTo>
                  <a:pt x="2805706" y="1370535"/>
                  <a:pt x="2804669" y="1481285"/>
                  <a:pt x="2804579" y="1522304"/>
                </a:cubicBezTo>
                <a:cubicBezTo>
                  <a:pt x="2480120" y="1629485"/>
                  <a:pt x="1655909" y="1425656"/>
                  <a:pt x="1497056" y="1522304"/>
                </a:cubicBezTo>
                <a:cubicBezTo>
                  <a:pt x="1435266" y="1676934"/>
                  <a:pt x="1552363" y="2510066"/>
                  <a:pt x="1497056" y="2829827"/>
                </a:cubicBezTo>
                <a:cubicBezTo>
                  <a:pt x="1423552" y="2816915"/>
                  <a:pt x="1354516" y="2844796"/>
                  <a:pt x="1307523" y="2829827"/>
                </a:cubicBezTo>
                <a:cubicBezTo>
                  <a:pt x="1371595" y="2453642"/>
                  <a:pt x="1334464" y="1679310"/>
                  <a:pt x="1307523" y="1522304"/>
                </a:cubicBezTo>
                <a:cubicBezTo>
                  <a:pt x="826046" y="1499581"/>
                  <a:pt x="347693" y="1473210"/>
                  <a:pt x="0" y="1522304"/>
                </a:cubicBezTo>
                <a:cubicBezTo>
                  <a:pt x="592" y="1489249"/>
                  <a:pt x="615" y="1357665"/>
                  <a:pt x="0" y="1307523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10636382" y="7189093"/>
            <a:ext cx="1880229" cy="1854809"/>
          </a:xfrm>
          <a:custGeom>
            <a:avLst/>
            <a:gdLst>
              <a:gd name="csX0" fmla="*/ 0 w 1880229"/>
              <a:gd name="csY0" fmla="*/ 927405 h 1854809"/>
              <a:gd name="csX1" fmla="*/ 940115 w 1880229"/>
              <a:gd name="csY1" fmla="*/ 0 h 1854809"/>
              <a:gd name="csX2" fmla="*/ 1880230 w 1880229"/>
              <a:gd name="csY2" fmla="*/ 927405 h 1854809"/>
              <a:gd name="csX3" fmla="*/ 940115 w 1880229"/>
              <a:gd name="csY3" fmla="*/ 1854810 h 1854809"/>
              <a:gd name="csX4" fmla="*/ 0 w 1880229"/>
              <a:gd name="csY4" fmla="*/ 927405 h 1854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0229" h="1854809" fill="none" extrusionOk="0">
                <a:moveTo>
                  <a:pt x="0" y="927405"/>
                </a:moveTo>
                <a:cubicBezTo>
                  <a:pt x="-31656" y="465265"/>
                  <a:pt x="380975" y="23539"/>
                  <a:pt x="940115" y="0"/>
                </a:cubicBezTo>
                <a:cubicBezTo>
                  <a:pt x="1409338" y="81906"/>
                  <a:pt x="1945919" y="359550"/>
                  <a:pt x="1880230" y="927405"/>
                </a:cubicBezTo>
                <a:cubicBezTo>
                  <a:pt x="1897146" y="1424287"/>
                  <a:pt x="1513839" y="1852201"/>
                  <a:pt x="940115" y="1854810"/>
                </a:cubicBezTo>
                <a:cubicBezTo>
                  <a:pt x="380899" y="1927985"/>
                  <a:pt x="37518" y="1380507"/>
                  <a:pt x="0" y="927405"/>
                </a:cubicBezTo>
                <a:close/>
              </a:path>
              <a:path w="1880229" h="1854809" stroke="0" extrusionOk="0">
                <a:moveTo>
                  <a:pt x="0" y="927405"/>
                </a:moveTo>
                <a:cubicBezTo>
                  <a:pt x="13242" y="429430"/>
                  <a:pt x="374410" y="60284"/>
                  <a:pt x="940115" y="0"/>
                </a:cubicBezTo>
                <a:cubicBezTo>
                  <a:pt x="1447961" y="-60579"/>
                  <a:pt x="1833167" y="413132"/>
                  <a:pt x="1880230" y="927405"/>
                </a:cubicBezTo>
                <a:cubicBezTo>
                  <a:pt x="1889290" y="1508620"/>
                  <a:pt x="1497226" y="1859062"/>
                  <a:pt x="940115" y="1854810"/>
                </a:cubicBezTo>
                <a:cubicBezTo>
                  <a:pt x="423948" y="1868344"/>
                  <a:pt x="75426" y="1470206"/>
                  <a:pt x="0" y="927405"/>
                </a:cubicBezTo>
                <a:close/>
              </a:path>
            </a:pathLst>
          </a:custGeom>
          <a:solidFill>
            <a:srgbClr val="64A4A3"/>
          </a:solidFill>
          <a:ln w="7620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6472065" y="2981670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2197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537153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6499666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2304028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2222295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6" y="2991765"/>
            <a:ext cx="6500603" cy="5179002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5963245" y="3711716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1219584" y="4444320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028334" y="373560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5990846" y="4150604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1325705" y="445811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1243972" y="4873113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7018232" y="285277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12264131" y="353029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8945065" y="7587607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10306592" y="5778655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8433982" y="4615708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7198267" y="6321241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ED241A-C9FC-FF15-3966-AAEA80CC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FA1AE13-BB24-F776-672F-0480F675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7B588F8-D1F9-A7CB-7907-D079845B8A5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531EF3E-8726-0237-E35D-3957828D1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286439-0A2D-6434-0473-D5C48760162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E6D59ED-7DF4-275C-4BDE-606D258867C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2030A6D4-F810-D3A2-C445-08B1FD4E12E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79D9877D-6650-4197-B730-0B54C1BD818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A2A5BD0-F660-7AC7-7241-FF963A7B3DD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0E3039CB-E991-5B2A-CEA9-89E6384A18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F33ACF9-7C4A-E330-5505-51E00FAC23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0CB57FE4-A55C-3206-1173-9546E7018A3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D81D15F9-4298-1A4A-CDF4-00D94FF1053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249ED53-69BF-2B50-97CA-38FA65381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6B1CFBC1-307E-481A-9800-861D29E310E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13A1C20-1CAE-E8FA-9E54-AAAE2951307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1D0245B8-0F77-418E-D6F2-F1B08E5860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747B3D34-4759-4E95-4DFA-E27801C70E5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20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E8FD745-6583-A4E2-96D5-550D9CD753F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研究概要・目的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F056377-98C0-F647-35AE-818CBE60B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304" y="1492657"/>
            <a:ext cx="5645284" cy="4020316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88ACCB2-BF29-D5D4-7DCD-76178E698937}"/>
              </a:ext>
            </a:extLst>
          </p:cNvPr>
          <p:cNvGrpSpPr/>
          <p:nvPr/>
        </p:nvGrpSpPr>
        <p:grpSpPr>
          <a:xfrm>
            <a:off x="1433699" y="1726516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9AEA600C-7DC7-491F-2610-794663655BEF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背景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728D633-723E-FC3E-3569-1F1B359141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9BA32C65-E2AB-29BE-89FF-84943B5F1B94}"/>
              </a:ext>
            </a:extLst>
          </p:cNvPr>
          <p:cNvSpPr txBox="1"/>
          <p:nvPr/>
        </p:nvSpPr>
        <p:spPr>
          <a:xfrm>
            <a:off x="1820969" y="2228279"/>
            <a:ext cx="9331364" cy="66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炉心局所閉塞による冷却材沸騰現象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7D6250E1-4234-5829-2BED-A233DBEE4B18}"/>
              </a:ext>
            </a:extLst>
          </p:cNvPr>
          <p:cNvSpPr txBox="1"/>
          <p:nvPr/>
        </p:nvSpPr>
        <p:spPr>
          <a:xfrm>
            <a:off x="9246872" y="2333003"/>
            <a:ext cx="2180698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solidFill>
                  <a:srgbClr val="5276F8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早期検知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047786E-814E-AA8C-0089-D190BCD9C103}"/>
              </a:ext>
            </a:extLst>
          </p:cNvPr>
          <p:cNvGrpSpPr/>
          <p:nvPr/>
        </p:nvGrpSpPr>
        <p:grpSpPr>
          <a:xfrm>
            <a:off x="1433699" y="5512973"/>
            <a:ext cx="7086600" cy="552410"/>
            <a:chOff x="1535808" y="1451163"/>
            <a:chExt cx="8639037" cy="552410"/>
          </a:xfrm>
        </p:grpSpPr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1748A553-7691-7BB2-FAE7-DE23A26395F0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方法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856F9FBA-A477-1AF8-AC8B-631C752F0AD6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33" name="TextBox 24">
            <a:extLst>
              <a:ext uri="{FF2B5EF4-FFF2-40B4-BE49-F238E27FC236}">
                <a16:creationId xmlns:a16="http://schemas.microsoft.com/office/drawing/2014/main" id="{2290DD55-5868-8A71-4438-C87EF6FB3036}"/>
              </a:ext>
            </a:extLst>
          </p:cNvPr>
          <p:cNvSpPr txBox="1"/>
          <p:nvPr/>
        </p:nvSpPr>
        <p:spPr>
          <a:xfrm>
            <a:off x="1820970" y="6236100"/>
            <a:ext cx="913772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プール沸騰実験で取得した音響データを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STFT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解析後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CNN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アンサンブルで回帰分析し，熱流束予測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4" name="矢印: 下 33">
            <a:extLst>
              <a:ext uri="{FF2B5EF4-FFF2-40B4-BE49-F238E27FC236}">
                <a16:creationId xmlns:a16="http://schemas.microsoft.com/office/drawing/2014/main" id="{C46BDFA9-E811-6F15-5241-C1D9BDDA46E3}"/>
              </a:ext>
            </a:extLst>
          </p:cNvPr>
          <p:cNvSpPr/>
          <p:nvPr/>
        </p:nvSpPr>
        <p:spPr>
          <a:xfrm rot="16200000">
            <a:off x="8240557" y="2404407"/>
            <a:ext cx="687239" cy="54443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CF4B3684-5CC8-016C-ACCF-A2281BFE663A}"/>
              </a:ext>
            </a:extLst>
          </p:cNvPr>
          <p:cNvSpPr txBox="1"/>
          <p:nvPr/>
        </p:nvSpPr>
        <p:spPr>
          <a:xfrm>
            <a:off x="1820969" y="4121248"/>
            <a:ext cx="93313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ラベル付与によらない沸騰発生検知手法の構築・検証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ノイズ耐性，予測安定性の精度向上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77AFF26-1458-3CB4-28F3-5612EC8FDD17}"/>
              </a:ext>
            </a:extLst>
          </p:cNvPr>
          <p:cNvGrpSpPr/>
          <p:nvPr/>
        </p:nvGrpSpPr>
        <p:grpSpPr>
          <a:xfrm>
            <a:off x="1433698" y="3426501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A66FE43E-0D02-30E3-C5AC-FAE445B7A941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目的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BACC1F7-16E5-CEF4-18BC-9133D52CBA41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39" name="図 38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DCDB9DF-84CA-4F74-8996-879D8BF7C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10320" r="8579"/>
          <a:stretch/>
        </p:blipFill>
        <p:spPr>
          <a:xfrm>
            <a:off x="11829031" y="5729758"/>
            <a:ext cx="5938366" cy="4448478"/>
          </a:xfrm>
          <a:prstGeom prst="rect">
            <a:avLst/>
          </a:prstGeom>
        </p:spPr>
      </p:pic>
      <p:sp>
        <p:nvSpPr>
          <p:cNvPr id="41" name="矢印: 下 40">
            <a:extLst>
              <a:ext uri="{FF2B5EF4-FFF2-40B4-BE49-F238E27FC236}">
                <a16:creationId xmlns:a16="http://schemas.microsoft.com/office/drawing/2014/main" id="{EFD7DA9D-A1C5-E58E-24EC-DE88E7D637FE}"/>
              </a:ext>
            </a:extLst>
          </p:cNvPr>
          <p:cNvSpPr/>
          <p:nvPr/>
        </p:nvSpPr>
        <p:spPr>
          <a:xfrm>
            <a:off x="5718973" y="7311887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5F3C078-4010-EED2-4A08-9F4AD53B9BAB}"/>
              </a:ext>
            </a:extLst>
          </p:cNvPr>
          <p:cNvSpPr txBox="1"/>
          <p:nvPr/>
        </p:nvSpPr>
        <p:spPr>
          <a:xfrm>
            <a:off x="1806794" y="7953997"/>
            <a:ext cx="809920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実際の沸騰開始熱流束と予測熱流束を比較し，</a:t>
            </a:r>
            <a:r>
              <a:rPr lang="ja-JP" altLang="en-US" sz="4000" dirty="0">
                <a:solidFill>
                  <a:srgbClr val="5276F8"/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沸騰発生検知下限熱流束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を定量評価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9823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5EBCF2-66FE-50AD-430A-AE796CEA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49822320-4F42-63FC-50BD-66784AF93ED1}"/>
              </a:ext>
            </a:extLst>
          </p:cNvPr>
          <p:cNvSpPr/>
          <p:nvPr/>
        </p:nvSpPr>
        <p:spPr>
          <a:xfrm>
            <a:off x="8902409" y="6058049"/>
            <a:ext cx="2984791" cy="1130291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E0903AFE-C435-779F-32AC-20BD95A60CC3}"/>
              </a:ext>
            </a:extLst>
          </p:cNvPr>
          <p:cNvSpPr/>
          <p:nvPr/>
        </p:nvSpPr>
        <p:spPr>
          <a:xfrm>
            <a:off x="8902409" y="7900382"/>
            <a:ext cx="6155923" cy="199768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A53FB69D-2B41-EC42-2A66-D90425E4E7A9}"/>
              </a:ext>
            </a:extLst>
          </p:cNvPr>
          <p:cNvSpPr/>
          <p:nvPr/>
        </p:nvSpPr>
        <p:spPr>
          <a:xfrm>
            <a:off x="8831010" y="3333484"/>
            <a:ext cx="8583411" cy="1998887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ECC09C4C-217C-9855-FA25-980B3A1FD1E7}"/>
              </a:ext>
            </a:extLst>
          </p:cNvPr>
          <p:cNvSpPr/>
          <p:nvPr/>
        </p:nvSpPr>
        <p:spPr>
          <a:xfrm>
            <a:off x="8839517" y="1434447"/>
            <a:ext cx="7579003" cy="156672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F47781F-16B9-83C0-EDF8-E2DFABA8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C8DE4F2-467D-CAAF-17CF-1467033D3C73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68CA480-91D9-6E59-B5C3-FFF3F604E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42EE9D9-4155-C45D-D9F1-D468905E99E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109078D-CDEE-5133-6EDF-C6DD41D9E6A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52A209A-2B60-5BF4-E526-711F653E18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A5F636E9-9FDE-C6A8-7993-72FCF9C8C8D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BD9DE42-F188-DE83-E120-93DA70AD904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C675EFD7-04B0-4A71-887F-C2655C3A7AB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7E599D1-C474-5D2C-90AC-AC21D723B3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C16FD54-9A02-0E75-5377-882BF2C74C3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8D7559D-2A3B-D635-0AD4-F99324F608A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D01229B-F32C-A13C-35E0-139E9A3F7F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502F4A2B-4C3D-2B19-20EC-72897CCAF2F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72D99A4-97E6-46F7-9C36-663C8638CFA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6D770E4-E924-C831-8000-D9EDBA168E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F91BE15-7A6C-4D4B-A801-40A996F917F4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21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C63A3F2-F528-F444-0694-96656D4D2EE7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課題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F654432F-30B3-B2B1-6908-94C95F95F10D}"/>
              </a:ext>
            </a:extLst>
          </p:cNvPr>
          <p:cNvSpPr txBox="1"/>
          <p:nvPr/>
        </p:nvSpPr>
        <p:spPr>
          <a:xfrm>
            <a:off x="2157732" y="2236987"/>
            <a:ext cx="5538468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（短時間フーリエ変換）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9DCD4B87-F981-F368-07DB-159F93AD6E73}"/>
              </a:ext>
            </a:extLst>
          </p:cNvPr>
          <p:cNvSpPr txBox="1"/>
          <p:nvPr/>
        </p:nvSpPr>
        <p:spPr>
          <a:xfrm>
            <a:off x="1759652" y="1533456"/>
            <a:ext cx="5538468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特徴量抽出手法の比較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9D54E7EB-D170-71C9-9A5D-37BC4AE1D604}"/>
              </a:ext>
            </a:extLst>
          </p:cNvPr>
          <p:cNvSpPr/>
          <p:nvPr/>
        </p:nvSpPr>
        <p:spPr>
          <a:xfrm rot="16200000">
            <a:off x="7726542" y="1916555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3116C781-842F-0649-B753-C32F5959CADF}"/>
              </a:ext>
            </a:extLst>
          </p:cNvPr>
          <p:cNvSpPr txBox="1"/>
          <p:nvPr/>
        </p:nvSpPr>
        <p:spPr>
          <a:xfrm>
            <a:off x="9034179" y="1582644"/>
            <a:ext cx="7843197" cy="1327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ウェーブレット変換（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メル周波数ケプストラム係数（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MFCC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Wigner-Ville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分布）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22BA9913-4133-9691-CCD6-B7A21EDD07B8}"/>
              </a:ext>
            </a:extLst>
          </p:cNvPr>
          <p:cNvSpPr txBox="1"/>
          <p:nvPr/>
        </p:nvSpPr>
        <p:spPr>
          <a:xfrm>
            <a:off x="1751145" y="3120462"/>
            <a:ext cx="4641140" cy="1129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2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アンサンブル手法，モデル選定基準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304B879A-56A1-794D-7013-49911F49614B}"/>
              </a:ext>
            </a:extLst>
          </p:cNvPr>
          <p:cNvSpPr txBox="1"/>
          <p:nvPr/>
        </p:nvSpPr>
        <p:spPr>
          <a:xfrm>
            <a:off x="2153354" y="4383982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ResNet-50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を重み付き平均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7" name="矢印: 下 36">
            <a:extLst>
              <a:ext uri="{FF2B5EF4-FFF2-40B4-BE49-F238E27FC236}">
                <a16:creationId xmlns:a16="http://schemas.microsoft.com/office/drawing/2014/main" id="{B95166D6-74A7-F064-E749-A74A6FA4BDB6}"/>
              </a:ext>
            </a:extLst>
          </p:cNvPr>
          <p:cNvSpPr/>
          <p:nvPr/>
        </p:nvSpPr>
        <p:spPr>
          <a:xfrm rot="16200000">
            <a:off x="7718034" y="408844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B5876D98-1CE6-CD92-293B-2F7245D03592}"/>
              </a:ext>
            </a:extLst>
          </p:cNvPr>
          <p:cNvSpPr txBox="1"/>
          <p:nvPr/>
        </p:nvSpPr>
        <p:spPr>
          <a:xfrm>
            <a:off x="9121840" y="3453109"/>
            <a:ext cx="8069755" cy="1776320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系（</a:t>
            </a: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Inception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DenseNet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EfficientNet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0826B590-5BC7-BE29-01E3-4932A09CA75B}"/>
              </a:ext>
            </a:extLst>
          </p:cNvPr>
          <p:cNvSpPr txBox="1"/>
          <p:nvPr/>
        </p:nvSpPr>
        <p:spPr>
          <a:xfrm>
            <a:off x="1751145" y="7700887"/>
            <a:ext cx="5140386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4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規制基準と検知要件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73D8E9A-AF05-B5DC-9821-D6F43798DFB4}"/>
              </a:ext>
            </a:extLst>
          </p:cNvPr>
          <p:cNvSpPr txBox="1"/>
          <p:nvPr/>
        </p:nvSpPr>
        <p:spPr>
          <a:xfrm>
            <a:off x="12059433" y="4766254"/>
            <a:ext cx="5132163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＆　特徴量とのアンサンブル？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ABDC11CB-F4EF-0711-E86F-4B53569677F7}"/>
              </a:ext>
            </a:extLst>
          </p:cNvPr>
          <p:cNvSpPr txBox="1"/>
          <p:nvPr/>
        </p:nvSpPr>
        <p:spPr>
          <a:xfrm>
            <a:off x="2185811" y="8454127"/>
            <a:ext cx="514038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沸騰発生検知下限を定量的に予測するだけ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DA43D8C3-0B04-4A76-C0E1-C1063F81D74B}"/>
              </a:ext>
            </a:extLst>
          </p:cNvPr>
          <p:cNvSpPr txBox="1"/>
          <p:nvPr/>
        </p:nvSpPr>
        <p:spPr>
          <a:xfrm>
            <a:off x="9087547" y="8005286"/>
            <a:ext cx="6046991" cy="1776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IAEA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安全基準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NRC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原子炉保護システム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EUR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原子力プラント異常検知性能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その他の国際基準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5" name="矢印: 下 44">
            <a:extLst>
              <a:ext uri="{FF2B5EF4-FFF2-40B4-BE49-F238E27FC236}">
                <a16:creationId xmlns:a16="http://schemas.microsoft.com/office/drawing/2014/main" id="{66D5E141-3D79-304A-87A0-FBCDCEE101ED}"/>
              </a:ext>
            </a:extLst>
          </p:cNvPr>
          <p:cNvSpPr/>
          <p:nvPr/>
        </p:nvSpPr>
        <p:spPr>
          <a:xfrm rot="16200000">
            <a:off x="7710363" y="837817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E2D0E963-BAA0-8729-70DC-2DB283D2676D}"/>
              </a:ext>
            </a:extLst>
          </p:cNvPr>
          <p:cNvSpPr txBox="1"/>
          <p:nvPr/>
        </p:nvSpPr>
        <p:spPr>
          <a:xfrm>
            <a:off x="1751145" y="5626976"/>
            <a:ext cx="5909301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3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音響データを画像に変換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7F2007BA-29E6-D354-F36C-8B51F0373C17}"/>
              </a:ext>
            </a:extLst>
          </p:cNvPr>
          <p:cNvSpPr txBox="1"/>
          <p:nvPr/>
        </p:nvSpPr>
        <p:spPr>
          <a:xfrm>
            <a:off x="2153354" y="6381514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周波数解析（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）でスペクトログラムに変換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354345D9-FC41-6BC9-B070-59AFBA435D96}"/>
              </a:ext>
            </a:extLst>
          </p:cNvPr>
          <p:cNvSpPr/>
          <p:nvPr/>
        </p:nvSpPr>
        <p:spPr>
          <a:xfrm rot="16200000">
            <a:off x="7706056" y="6295802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93ACDEA6-F40A-CF9F-FE1F-51F4FA31536D}"/>
              </a:ext>
            </a:extLst>
          </p:cNvPr>
          <p:cNvSpPr txBox="1"/>
          <p:nvPr/>
        </p:nvSpPr>
        <p:spPr>
          <a:xfrm>
            <a:off x="9126793" y="6177057"/>
            <a:ext cx="237940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次元</a:t>
            </a: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CNN</a:t>
            </a: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WaveNet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altLang="ja-JP" sz="2800" dirty="0">
              <a:solidFill>
                <a:srgbClr val="232425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512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26906</TotalTime>
  <Words>1062</Words>
  <Application>Microsoft Office PowerPoint</Application>
  <PresentationFormat>ユーザー設定</PresentationFormat>
  <Paragraphs>254</Paragraphs>
  <Slides>21</Slides>
  <Notes>3</Notes>
  <HiddenSlides>11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33" baseType="lpstr">
      <vt:lpstr>Now</vt:lpstr>
      <vt:lpstr>Source Han Sans JP</vt:lpstr>
      <vt:lpstr>游ゴシック</vt:lpstr>
      <vt:lpstr>Source Han Sans JP Bold</vt:lpstr>
      <vt:lpstr>Calibri</vt:lpstr>
      <vt:lpstr>Cambria Math</vt:lpstr>
      <vt:lpstr>Source Han Sans JP Medium</vt:lpstr>
      <vt:lpstr>Arial</vt:lpstr>
      <vt:lpstr>Wingdings</vt:lpstr>
      <vt:lpstr>游ゴシック Medium</vt:lpstr>
      <vt:lpstr>Meiryo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陸 柴崎</cp:lastModifiedBy>
  <cp:revision>6</cp:revision>
  <dcterms:created xsi:type="dcterms:W3CDTF">2006-08-16T00:00:00Z</dcterms:created>
  <dcterms:modified xsi:type="dcterms:W3CDTF">2025-12-19T01:57:27Z</dcterms:modified>
  <dc:identifier>DAGKJCfN4aw</dc:identifier>
</cp:coreProperties>
</file>