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1" r:id="rId11"/>
    <p:sldId id="266" r:id="rId12"/>
    <p:sldId id="267" r:id="rId13"/>
    <p:sldId id="272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688685-00F9-48A3-B797-C34F792260D5}" v="8" dt="2025-05-23T04:51:05.6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18" y="-150"/>
      </p:cViewPr>
      <p:guideLst/>
    </p:cSldViewPr>
  </p:slideViewPr>
  <p:notesTextViewPr>
    <p:cViewPr>
      <p:scale>
        <a:sx n="3" d="2"/>
        <a:sy n="3" d="2"/>
      </p:scale>
      <p:origin x="-32" y="-2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bariku0623@icloud.com" userId="47b6e960b06a1f92" providerId="LiveId" clId="{73688685-00F9-48A3-B797-C34F792260D5}"/>
    <pc:docChg chg="undo custSel addSld modSld">
      <pc:chgData name="shibariku0623@icloud.com" userId="47b6e960b06a1f92" providerId="LiveId" clId="{73688685-00F9-48A3-B797-C34F792260D5}" dt="2025-05-23T04:52:33.334" v="423" actId="1076"/>
      <pc:docMkLst>
        <pc:docMk/>
      </pc:docMkLst>
      <pc:sldChg chg="addSp modSp mod">
        <pc:chgData name="shibariku0623@icloud.com" userId="47b6e960b06a1f92" providerId="LiveId" clId="{73688685-00F9-48A3-B797-C34F792260D5}" dt="2025-05-23T04:44:23.999" v="210" actId="20577"/>
        <pc:sldMkLst>
          <pc:docMk/>
          <pc:sldMk cId="4023185613" sldId="261"/>
        </pc:sldMkLst>
        <pc:spChg chg="add mod">
          <ac:chgData name="shibariku0623@icloud.com" userId="47b6e960b06a1f92" providerId="LiveId" clId="{73688685-00F9-48A3-B797-C34F792260D5}" dt="2025-05-23T04:43:44.552" v="175" actId="1076"/>
          <ac:spMkLst>
            <pc:docMk/>
            <pc:sldMk cId="4023185613" sldId="261"/>
            <ac:spMk id="9" creationId="{D2EE0266-8C28-6A2D-5D3A-BA6DABE99562}"/>
          </ac:spMkLst>
        </pc:spChg>
        <pc:spChg chg="add mod">
          <ac:chgData name="shibariku0623@icloud.com" userId="47b6e960b06a1f92" providerId="LiveId" clId="{73688685-00F9-48A3-B797-C34F792260D5}" dt="2025-05-23T04:44:23.999" v="210" actId="20577"/>
          <ac:spMkLst>
            <pc:docMk/>
            <pc:sldMk cId="4023185613" sldId="261"/>
            <ac:spMk id="10" creationId="{150BD3C6-643A-F5AD-0B4A-FE471A416416}"/>
          </ac:spMkLst>
        </pc:spChg>
        <pc:picChg chg="mod">
          <ac:chgData name="shibariku0623@icloud.com" userId="47b6e960b06a1f92" providerId="LiveId" clId="{73688685-00F9-48A3-B797-C34F792260D5}" dt="2025-05-23T04:41:35.929" v="169" actId="1076"/>
          <ac:picMkLst>
            <pc:docMk/>
            <pc:sldMk cId="4023185613" sldId="261"/>
            <ac:picMk id="7" creationId="{31F432BE-9031-23B6-F231-2DBA8316EC0C}"/>
          </ac:picMkLst>
        </pc:picChg>
      </pc:sldChg>
      <pc:sldChg chg="addSp modSp mod">
        <pc:chgData name="shibariku0623@icloud.com" userId="47b6e960b06a1f92" providerId="LiveId" clId="{73688685-00F9-48A3-B797-C34F792260D5}" dt="2025-05-23T04:52:33.334" v="423" actId="1076"/>
        <pc:sldMkLst>
          <pc:docMk/>
          <pc:sldMk cId="2344922033" sldId="262"/>
        </pc:sldMkLst>
        <pc:spChg chg="add mod">
          <ac:chgData name="shibariku0623@icloud.com" userId="47b6e960b06a1f92" providerId="LiveId" clId="{73688685-00F9-48A3-B797-C34F792260D5}" dt="2025-05-23T04:45:48.920" v="235" actId="1076"/>
          <ac:spMkLst>
            <pc:docMk/>
            <pc:sldMk cId="2344922033" sldId="262"/>
            <ac:spMk id="15" creationId="{143E5DF5-5ED0-A1DD-CE67-176A21643C59}"/>
          </ac:spMkLst>
        </pc:spChg>
        <pc:spChg chg="add mod">
          <ac:chgData name="shibariku0623@icloud.com" userId="47b6e960b06a1f92" providerId="LiveId" clId="{73688685-00F9-48A3-B797-C34F792260D5}" dt="2025-05-23T04:48:27.830" v="357" actId="1076"/>
          <ac:spMkLst>
            <pc:docMk/>
            <pc:sldMk cId="2344922033" sldId="262"/>
            <ac:spMk id="16" creationId="{77DF66FD-F861-A833-4583-39381A77DE26}"/>
          </ac:spMkLst>
        </pc:spChg>
        <pc:spChg chg="add mod">
          <ac:chgData name="shibariku0623@icloud.com" userId="47b6e960b06a1f92" providerId="LiveId" clId="{73688685-00F9-48A3-B797-C34F792260D5}" dt="2025-05-23T04:52:33.334" v="423" actId="1076"/>
          <ac:spMkLst>
            <pc:docMk/>
            <pc:sldMk cId="2344922033" sldId="262"/>
            <ac:spMk id="17" creationId="{776A2E70-95F0-2284-7F10-D8F4836F9797}"/>
          </ac:spMkLst>
        </pc:spChg>
      </pc:sldChg>
      <pc:sldChg chg="addSp modSp new mod">
        <pc:chgData name="shibariku0623@icloud.com" userId="47b6e960b06a1f92" providerId="LiveId" clId="{73688685-00F9-48A3-B797-C34F792260D5}" dt="2025-05-23T04:40:50.391" v="168" actId="1076"/>
        <pc:sldMkLst>
          <pc:docMk/>
          <pc:sldMk cId="3073577450" sldId="272"/>
        </pc:sldMkLst>
        <pc:spChg chg="add mod">
          <ac:chgData name="shibariku0623@icloud.com" userId="47b6e960b06a1f92" providerId="LiveId" clId="{73688685-00F9-48A3-B797-C34F792260D5}" dt="2025-05-23T04:38:14.202" v="105" actId="20577"/>
          <ac:spMkLst>
            <pc:docMk/>
            <pc:sldMk cId="3073577450" sldId="272"/>
            <ac:spMk id="2" creationId="{39C77082-76E0-697E-8DFC-15A441A88BEF}"/>
          </ac:spMkLst>
        </pc:spChg>
        <pc:spChg chg="add mod">
          <ac:chgData name="shibariku0623@icloud.com" userId="47b6e960b06a1f92" providerId="LiveId" clId="{73688685-00F9-48A3-B797-C34F792260D5}" dt="2025-05-23T04:40:50.391" v="168" actId="1076"/>
          <ac:spMkLst>
            <pc:docMk/>
            <pc:sldMk cId="3073577450" sldId="272"/>
            <ac:spMk id="5" creationId="{7DB3F35D-A547-29C6-C372-6088462A08CA}"/>
          </ac:spMkLst>
        </pc:spChg>
        <pc:picChg chg="add mod">
          <ac:chgData name="shibariku0623@icloud.com" userId="47b6e960b06a1f92" providerId="LiveId" clId="{73688685-00F9-48A3-B797-C34F792260D5}" dt="2025-05-23T04:40:15.717" v="114" actId="1076"/>
          <ac:picMkLst>
            <pc:docMk/>
            <pc:sldMk cId="3073577450" sldId="272"/>
            <ac:picMk id="4" creationId="{81766C07-2E99-6CC5-7A49-E88EEC6E652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C02643-A22B-4DBD-B2E0-92A7D3CDEDEF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F0D8B8-A0D9-451F-8AA0-F2EC481181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3645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0D8B8-A0D9-451F-8AA0-F2EC4811818D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1111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DD73FA-FA0D-A487-76C5-61EE63AB94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D0B61BF-8E07-F97D-6093-F7D49D392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12DD79-4649-3886-D1E0-59334AA36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9B95-B9E9-4CFF-A42B-871305B0A1BF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BBDDEA-BBF9-4C00-BDDB-BCD1AF55A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F58C2A-65C2-568D-99D4-C75D6B3E2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61BE-A251-41B9-A54D-2B2D523401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2130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DAA379-2B92-59D9-2A30-922DCE4B7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47AA37-4DF0-287D-28E1-E2A8BAD1A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8DD9C9-8187-BDB4-779B-847702EBB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9B95-B9E9-4CFF-A42B-871305B0A1BF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04BBD6-C081-7292-AEA5-F06C8F30D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CE99E1-2E35-C34C-32FA-FDC6C1094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61BE-A251-41B9-A54D-2B2D523401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5194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5D5C20-7F42-A20B-EE39-02B8B0A06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7A8DE35-2FF4-CBBD-30E5-F9ED914E2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54BEF1-46A2-40E0-F761-367308EB6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9B95-B9E9-4CFF-A42B-871305B0A1BF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C97F21-9527-6B85-54AE-A2DC180E4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3F0DB7-2508-C42C-9A41-311A661A4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61BE-A251-41B9-A54D-2B2D523401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5235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9C3625-7D82-A294-7C87-799675889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41EE33-164B-D460-149F-645AD3728D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615E81E-41B1-70D0-1860-78B3D5A8CD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E9304C-C1D7-B981-F029-773085868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9B95-B9E9-4CFF-A42B-871305B0A1BF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95E28DD-05F1-85F5-2B53-A5E3E0B25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C09E10-3D4C-391E-052A-5D1B21A9A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61BE-A251-41B9-A54D-2B2D523401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8042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B9CF63-6FFE-DE09-449C-C48191C89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AEEEE93-A678-607F-F8EB-EFBA5F199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D0A6D81-B67B-0B6D-B933-FA2B6E0F55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ADCD950-286F-55BF-17EC-B6872991D7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54DEFAC-414A-08D4-AC6E-A2AD645353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4C9B18F-CF6B-C577-D639-88C41F72A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9B95-B9E9-4CFF-A42B-871305B0A1BF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A4AB795-2C39-9ED1-2D79-66FB81C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51DD59B-204C-FB02-3889-5A8BD959A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61BE-A251-41B9-A54D-2B2D523401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0936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E32266-0832-168A-4938-49E0C4E42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6C5D420-08A9-BC84-CB48-3644D4C53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9B95-B9E9-4CFF-A42B-871305B0A1BF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4D6CFAC-68BD-E348-0C04-9BC768C23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786EAF3-4B45-A37F-5899-72AA7B792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61BE-A251-41B9-A54D-2B2D523401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1760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7A00D5E-8503-17C9-BFAA-5B810B413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9B95-B9E9-4CFF-A42B-871305B0A1BF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B7E791B-BD9E-62C3-B193-08245B299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92410C3-22A9-4CCE-3299-FCDA58E81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61BE-A251-41B9-A54D-2B2D523401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9626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88BEF1-9ED4-9923-E8A5-48BBB6FEF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0A39C3-E203-BF75-8F78-C8352219B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7CE9594-F8C4-3F58-7851-BAA447026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116DDA2-B910-DD4E-E469-6A434F627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9B95-B9E9-4CFF-A42B-871305B0A1BF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6E94738-5D5D-C939-9B8F-08DC43E70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4F8E902-718E-9049-13B0-4A8D0AAB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61BE-A251-41B9-A54D-2B2D523401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7159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7A5817-9BE9-920D-8AF5-2AFA2337A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F11C7F2-776D-D19B-4F60-F4D17BEB87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4A51E13-076A-777B-7338-B43A9690A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C598459-1DE0-A548-8148-1AFA221F0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9B95-B9E9-4CFF-A42B-871305B0A1BF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B832B55-1A27-1960-CF48-9D79791D7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DC4B5F0-5CDD-E888-EC45-51829F96F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61BE-A251-41B9-A54D-2B2D523401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4737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5F30E7-69C9-E0CA-2249-4F6F8BFBC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C498583-66C4-EAF4-33C6-B39946427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50DC503-E06A-9EDC-4CED-2B45946F4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9B95-B9E9-4CFF-A42B-871305B0A1BF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6B6820-9E5F-A917-7465-4856CA2E0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CFD39D-F680-B90D-8217-28708C4D5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61BE-A251-41B9-A54D-2B2D523401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5936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1AED6D3-2B21-0FAD-4470-65FACAE8C2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940550B-E83C-A402-E546-8A0F4B9D3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E0329C-EC88-22D6-6FE3-28400967F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9B95-B9E9-4CFF-A42B-871305B0A1BF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DCD4F9-F146-8B4A-676D-DFE9C2A0A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539CC7-32F7-60BE-C660-FEC830E46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61BE-A251-41B9-A54D-2B2D523401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3732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940595E-C63B-91B6-C344-7F45F542B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F8CC390-5F2F-14B1-A0E2-4EDE89021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5FB085-5837-FA0A-5A9A-7B8111EB9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699B95-B9E9-4CFF-A42B-871305B0A1BF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4BB9AD-7BED-52F0-2BA1-FF9FCBEBC4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2D8E10-E15F-E795-E0FF-71A6A90E32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161BE-A251-41B9-A54D-2B2D523401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7066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ィカル ユーザー インターフェイス, テキスト, アプリケーション, 手紙, メール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2708311-0B0C-FF61-07C9-AD7FDFCDF1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06" y="752323"/>
            <a:ext cx="1071358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724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B089790-F4B6-46A7-BB28-7B74A9A9E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図 4" descr="グラフィカル ユーザー インターフェイス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127498D-7F0F-83A0-FD06-CE640129B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0" b="1326"/>
          <a:stretch>
            <a:fillRect/>
          </a:stretch>
        </p:blipFill>
        <p:spPr>
          <a:xfrm>
            <a:off x="1099456" y="852686"/>
            <a:ext cx="10352313" cy="5152628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9DE3F54D-33BC-4382-A2AB-5E002F0F1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798451A-4EC8-4869-8DFB-BCE4E00BE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0ECD12F-47FF-48FE-A827-069775A8A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8928757-970C-4B99-9F9C-0C07E4A945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13505B-6136-49EC-951C-1FDA2A6C5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08580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テキスト, アプリケーション, メール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A203CFA5-64CA-AE37-1ACC-A54162329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67" y="643466"/>
            <a:ext cx="10175466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032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2F737B4D-1CAA-B7D3-C0BA-475E3D7F61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508" y="4008080"/>
            <a:ext cx="9192984" cy="2694113"/>
          </a:xfrm>
          <a:prstGeom prst="rect">
            <a:avLst/>
          </a:prstGeom>
        </p:spPr>
      </p:pic>
      <p:pic>
        <p:nvPicPr>
          <p:cNvPr id="11" name="図 10" descr="グラフィカル ユーザー インターフェイス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ACDAC921-42DC-87B8-3DFC-7897D4D481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508" y="1143982"/>
            <a:ext cx="9192984" cy="2864098"/>
          </a:xfrm>
          <a:prstGeom prst="rect">
            <a:avLst/>
          </a:prstGeom>
        </p:spPr>
      </p:pic>
      <p:pic>
        <p:nvPicPr>
          <p:cNvPr id="13" name="図 12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6D1DEA9-59B2-4EF0-7DD6-48DD542495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110" y="571717"/>
            <a:ext cx="1919340" cy="57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9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黒い背景に白い文字がある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907F1A86-AA2E-24A1-CA1E-071C233A3C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092" y="547637"/>
            <a:ext cx="3661914" cy="605080"/>
          </a:xfrm>
          <a:prstGeom prst="rect">
            <a:avLst/>
          </a:prstGeom>
        </p:spPr>
      </p:pic>
      <p:pic>
        <p:nvPicPr>
          <p:cNvPr id="5" name="図 4" descr="グラフィカル ユーザー インターフェイス, テキスト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A8DAD454-CBDF-B52F-334E-2D764A7C7B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510" y="1228917"/>
            <a:ext cx="4591691" cy="5287113"/>
          </a:xfrm>
          <a:prstGeom prst="rect">
            <a:avLst/>
          </a:prstGeom>
        </p:spPr>
      </p:pic>
      <p:pic>
        <p:nvPicPr>
          <p:cNvPr id="7" name="図 6" descr="ダイアグラム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1F432BE-9031-23B6-F231-2DBA8316EC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7226" y="2723847"/>
            <a:ext cx="7304774" cy="1989246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2EE0266-8C28-6A2D-5D3A-BA6DABE99562}"/>
              </a:ext>
            </a:extLst>
          </p:cNvPr>
          <p:cNvSpPr txBox="1"/>
          <p:nvPr/>
        </p:nvSpPr>
        <p:spPr>
          <a:xfrm>
            <a:off x="5371023" y="4875897"/>
            <a:ext cx="64854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en-US" altLang="ja-JP" dirty="0" err="1"/>
              <a:t>Sgram</a:t>
            </a:r>
            <a:r>
              <a:rPr lang="ja-JP" altLang="en-US" dirty="0"/>
              <a:t>：ログメルスペクトログラム</a:t>
            </a:r>
            <a:endParaRPr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en-US" altLang="ja-JP" dirty="0" err="1"/>
              <a:t>Tgram</a:t>
            </a:r>
            <a:r>
              <a:rPr kumimoji="1" lang="ja-JP" altLang="en-US" dirty="0"/>
              <a:t>：</a:t>
            </a:r>
            <a:r>
              <a:rPr lang="ja-JP" altLang="en-US" dirty="0"/>
              <a:t>生波形から </a:t>
            </a:r>
            <a:r>
              <a:rPr lang="en-US" altLang="ja-JP" dirty="0"/>
              <a:t>CNN</a:t>
            </a:r>
            <a:r>
              <a:rPr lang="ja-JP" altLang="en-US" dirty="0"/>
              <a:t>（</a:t>
            </a:r>
            <a:r>
              <a:rPr lang="en-US" altLang="ja-JP" dirty="0" err="1"/>
              <a:t>TgramNet</a:t>
            </a:r>
            <a:r>
              <a:rPr lang="ja-JP" altLang="en-US" dirty="0"/>
              <a:t>）で抽出した時間的パターンを、同じ </a:t>
            </a:r>
            <a:r>
              <a:rPr lang="en-US" altLang="ja-JP" dirty="0"/>
              <a:t>Mel×</a:t>
            </a:r>
            <a:r>
              <a:rPr lang="ja-JP" altLang="en-US" dirty="0"/>
              <a:t>時間 の形にマッピングした「時間特徴マップ」</a:t>
            </a:r>
            <a:endParaRPr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en-US" altLang="ja-JP" dirty="0"/>
              <a:t>MFN</a:t>
            </a:r>
            <a:r>
              <a:rPr kumimoji="1" lang="ja-JP" altLang="en-US" dirty="0"/>
              <a:t>：</a:t>
            </a:r>
            <a:r>
              <a:rPr lang="en-US" altLang="ja-JP" dirty="0" err="1"/>
              <a:t>MobileFaceNet</a:t>
            </a:r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50BD3C6-643A-F5AD-0B4A-FE471A416416}"/>
              </a:ext>
            </a:extLst>
          </p:cNvPr>
          <p:cNvSpPr txBox="1"/>
          <p:nvPr/>
        </p:nvSpPr>
        <p:spPr>
          <a:xfrm>
            <a:off x="5328789" y="1152717"/>
            <a:ext cx="65699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自己注意機構（</a:t>
            </a:r>
            <a:r>
              <a:rPr lang="en-US" altLang="ja-JP" b="1" dirty="0"/>
              <a:t>Self-Attention</a:t>
            </a:r>
            <a:r>
              <a:rPr lang="ja-JP" altLang="en-US" b="1" dirty="0"/>
              <a:t>）</a:t>
            </a:r>
            <a:r>
              <a:rPr lang="ja-JP" altLang="en-US" dirty="0"/>
              <a:t> を活用し、機械音の周波数パターンをデータから学習</a:t>
            </a:r>
            <a:endParaRPr lang="en-US" altLang="ja-JP" dirty="0"/>
          </a:p>
          <a:p>
            <a:r>
              <a:rPr lang="ja-JP" altLang="en-US" dirty="0"/>
              <a:t>→重要な周波数成分を強調することで、異常検知の精度向上を目指す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23185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19954-8154-88CA-517E-3C36CAE89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2FF4144-92BF-D6C1-57D4-718CEE0F63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560" y="374149"/>
            <a:ext cx="4847754" cy="553577"/>
          </a:xfrm>
          <a:prstGeom prst="rect">
            <a:avLst/>
          </a:prstGeom>
        </p:spPr>
      </p:pic>
      <p:pic>
        <p:nvPicPr>
          <p:cNvPr id="5" name="図 4" descr="グラフィカル ユーザー インターフェイス, テキスト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BC724143-42C0-FBD3-5B1D-48B3EB6049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391" y="1073352"/>
            <a:ext cx="5123966" cy="1898448"/>
          </a:xfrm>
          <a:prstGeom prst="rect">
            <a:avLst/>
          </a:prstGeom>
        </p:spPr>
      </p:pic>
      <p:pic>
        <p:nvPicPr>
          <p:cNvPr id="7" name="図 6" descr="テキスト, 手紙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3E18160-A628-D4C7-A5E1-3F39F38124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40" y="2971800"/>
            <a:ext cx="5025993" cy="2050679"/>
          </a:xfrm>
          <a:prstGeom prst="rect">
            <a:avLst/>
          </a:prstGeom>
        </p:spPr>
      </p:pic>
      <p:pic>
        <p:nvPicPr>
          <p:cNvPr id="9" name="図 8" descr="グラフィカル ユーザー インターフェイス, 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A3AC8608-9C57-CCC2-5658-C09719E4C6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40" y="5022479"/>
            <a:ext cx="5025993" cy="1535212"/>
          </a:xfrm>
          <a:prstGeom prst="rect">
            <a:avLst/>
          </a:prstGeom>
        </p:spPr>
      </p:pic>
      <p:pic>
        <p:nvPicPr>
          <p:cNvPr id="11" name="図 10" descr="グラフィカル ユーザー インターフェイス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E94DE89-98DF-1D4A-C7A5-593D3F63A0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818" y="1314219"/>
            <a:ext cx="5258534" cy="1657581"/>
          </a:xfrm>
          <a:prstGeom prst="rect">
            <a:avLst/>
          </a:prstGeom>
        </p:spPr>
      </p:pic>
      <p:pic>
        <p:nvPicPr>
          <p:cNvPr id="13" name="図 12" descr="グラフィカル ユーザー インターフェイス, テキスト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4562CEB1-4F26-B820-3363-EFA7C6C8CC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818" y="3071700"/>
            <a:ext cx="5258534" cy="1629002"/>
          </a:xfrm>
          <a:prstGeom prst="rect">
            <a:avLst/>
          </a:prstGeom>
        </p:spPr>
      </p:pic>
      <p:pic>
        <p:nvPicPr>
          <p:cNvPr id="14" name="図 13" descr="ダイアグラム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97B9BD10-AAB7-80D6-35D9-0BE301E463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357" y="4894119"/>
            <a:ext cx="6540282" cy="1781058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43E5DF5-5ED0-A1DD-CE67-176A21643C59}"/>
              </a:ext>
            </a:extLst>
          </p:cNvPr>
          <p:cNvSpPr txBox="1"/>
          <p:nvPr/>
        </p:nvSpPr>
        <p:spPr>
          <a:xfrm>
            <a:off x="5678039" y="466061"/>
            <a:ext cx="6324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入力されたデータ列（この場合はスペクトログラムの各周波数成分）の中で、どの部分が他の部分と関連が深いのかを学習する</a:t>
            </a:r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7DF66FD-F861-A833-4583-39381A77DE26}"/>
              </a:ext>
            </a:extLst>
          </p:cNvPr>
          <p:cNvSpPr txBox="1"/>
          <p:nvPr/>
        </p:nvSpPr>
        <p:spPr>
          <a:xfrm>
            <a:off x="3676347" y="4283815"/>
            <a:ext cx="2309586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ja-JP" sz="1400" dirty="0"/>
              <a:t>Q</a:t>
            </a:r>
            <a:r>
              <a:rPr kumimoji="1" lang="ja-JP" altLang="en-US" sz="1400" dirty="0"/>
              <a:t>：どんな情報が欲しいか</a:t>
            </a:r>
            <a:endParaRPr kumimoji="1" lang="en-US" altLang="ja-JP" sz="1400" dirty="0"/>
          </a:p>
          <a:p>
            <a:r>
              <a:rPr lang="en-US" altLang="ja-JP" sz="1400" dirty="0"/>
              <a:t>K</a:t>
            </a:r>
            <a:r>
              <a:rPr lang="ja-JP" altLang="en-US" sz="1400" dirty="0"/>
              <a:t>：何を持っているか</a:t>
            </a:r>
            <a:endParaRPr lang="en-US" altLang="ja-JP" sz="1400" dirty="0"/>
          </a:p>
          <a:p>
            <a:r>
              <a:rPr kumimoji="1" lang="en-US" altLang="ja-JP" sz="1400" dirty="0"/>
              <a:t>V</a:t>
            </a:r>
            <a:r>
              <a:rPr kumimoji="1" lang="ja-JP" altLang="en-US" sz="1400" dirty="0"/>
              <a:t>：実際に持っている値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76A2E70-95F0-2284-7F10-D8F4836F9797}"/>
              </a:ext>
            </a:extLst>
          </p:cNvPr>
          <p:cNvSpPr txBox="1"/>
          <p:nvPr/>
        </p:nvSpPr>
        <p:spPr>
          <a:xfrm>
            <a:off x="9091200" y="4460653"/>
            <a:ext cx="2911439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1400" dirty="0"/>
              <a:t>複数のヘッドから得られた情報は元の入力に足され、学習が安定かつ元の情報も失われにくくなる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44922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7B7C4-7FAD-E18D-6528-D7723BF80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FE484FB5-AA1E-7AA3-C204-C6B00596FFD9}"/>
              </a:ext>
            </a:extLst>
          </p:cNvPr>
          <p:cNvGrpSpPr/>
          <p:nvPr/>
        </p:nvGrpSpPr>
        <p:grpSpPr>
          <a:xfrm>
            <a:off x="854447" y="378533"/>
            <a:ext cx="1501302" cy="600919"/>
            <a:chOff x="1103948" y="545738"/>
            <a:chExt cx="1501302" cy="600919"/>
          </a:xfrm>
        </p:grpSpPr>
        <p:pic>
          <p:nvPicPr>
            <p:cNvPr id="2" name="図 1" descr="黒い背景に白い文字がある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C7D39CBE-1EA1-3C8B-C0FB-58242B531A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5537"/>
            <a:stretch/>
          </p:blipFill>
          <p:spPr>
            <a:xfrm flipV="1">
              <a:off x="1103948" y="1036359"/>
              <a:ext cx="1501302" cy="110298"/>
            </a:xfrm>
            <a:prstGeom prst="rect">
              <a:avLst/>
            </a:prstGeom>
          </p:spPr>
        </p:pic>
        <p:pic>
          <p:nvPicPr>
            <p:cNvPr id="5" name="図 4" descr="テキスト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3E8C15F0-AE16-2C6E-CDC5-E7972A0AE3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7492" y="545738"/>
              <a:ext cx="1414215" cy="368662"/>
            </a:xfrm>
            <a:prstGeom prst="rect">
              <a:avLst/>
            </a:prstGeom>
          </p:spPr>
        </p:pic>
      </p:grpSp>
      <p:pic>
        <p:nvPicPr>
          <p:cNvPr id="8" name="図 7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F53AEE0-0F6D-F0ED-6AE9-FD50436427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857" y="1308696"/>
            <a:ext cx="3648584" cy="4458322"/>
          </a:xfrm>
          <a:prstGeom prst="rect">
            <a:avLst/>
          </a:prstGeom>
        </p:spPr>
      </p:pic>
      <p:pic>
        <p:nvPicPr>
          <p:cNvPr id="10" name="図 9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69779D79-FEF3-AFA8-5BA4-9C0EE739A8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930" y="1308696"/>
            <a:ext cx="2686425" cy="3762900"/>
          </a:xfrm>
          <a:prstGeom prst="rect">
            <a:avLst/>
          </a:prstGeom>
        </p:spPr>
      </p:pic>
      <p:pic>
        <p:nvPicPr>
          <p:cNvPr id="12" name="図 11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6D1B1E7-BEEE-7348-4737-84B70087C7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6644" y="4157069"/>
            <a:ext cx="2649951" cy="2479852"/>
          </a:xfrm>
          <a:prstGeom prst="rect">
            <a:avLst/>
          </a:prstGeom>
        </p:spPr>
      </p:pic>
      <p:pic>
        <p:nvPicPr>
          <p:cNvPr id="14" name="図 13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D3E127B-BF9D-D649-4699-DE45A2EF58C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6644" y="1308696"/>
            <a:ext cx="3286584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450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172D3-A2AE-FBEA-C5EF-1DE6E8873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黒い背景に白い文字がある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9790152-012A-E093-FC6E-67133A12BC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37"/>
          <a:stretch/>
        </p:blipFill>
        <p:spPr>
          <a:xfrm flipV="1">
            <a:off x="1006846" y="999783"/>
            <a:ext cx="1653041" cy="121446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B2893DF-C49F-7DDD-7871-DB782D451C37}"/>
              </a:ext>
            </a:extLst>
          </p:cNvPr>
          <p:cNvSpPr txBox="1"/>
          <p:nvPr/>
        </p:nvSpPr>
        <p:spPr>
          <a:xfrm>
            <a:off x="1365280" y="476563"/>
            <a:ext cx="1175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結果</a:t>
            </a:r>
          </a:p>
        </p:txBody>
      </p:sp>
      <p:pic>
        <p:nvPicPr>
          <p:cNvPr id="7" name="図 6" descr="テーブル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ACCAF678-DA14-11F4-05E4-4088B584E2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43" y="2071896"/>
            <a:ext cx="11114314" cy="252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222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8F953-F9FD-79A8-549F-57A604042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黒い背景に白い文字がある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C2F2069-E3CB-A48B-E492-AFAE2C081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37"/>
          <a:stretch/>
        </p:blipFill>
        <p:spPr>
          <a:xfrm flipV="1">
            <a:off x="538762" y="1198648"/>
            <a:ext cx="4588410" cy="337102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32121E14-2274-EB74-BDF0-B8207038C1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762" y="830634"/>
            <a:ext cx="4472390" cy="368014"/>
          </a:xfrm>
          <a:prstGeom prst="rect">
            <a:avLst/>
          </a:prstGeom>
        </p:spPr>
      </p:pic>
      <p:pic>
        <p:nvPicPr>
          <p:cNvPr id="6" name="図 5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883C35A-1002-0DCF-48D6-D475BCAE21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3050" y="1438127"/>
            <a:ext cx="4360303" cy="4613074"/>
          </a:xfrm>
          <a:prstGeom prst="rect">
            <a:avLst/>
          </a:prstGeom>
        </p:spPr>
      </p:pic>
      <p:pic>
        <p:nvPicPr>
          <p:cNvPr id="10" name="図 9" descr="グラフィカル ユーザー インターフェイス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48F0429C-0DA5-3DD9-720C-D4ECE69475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47" y="1729947"/>
            <a:ext cx="7442602" cy="402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244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9C0FF-38DC-5D21-97A3-7EF180278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黒い背景に白い文字がある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D5557661-2E20-5550-F1B6-36A5605A98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37"/>
          <a:stretch/>
        </p:blipFill>
        <p:spPr>
          <a:xfrm flipV="1">
            <a:off x="538762" y="1198648"/>
            <a:ext cx="4588410" cy="337102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E9A2EABC-05AC-3DE5-BBA9-813A52575E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762" y="830634"/>
            <a:ext cx="4472390" cy="368014"/>
          </a:xfrm>
          <a:prstGeom prst="rect">
            <a:avLst/>
          </a:prstGeom>
        </p:spPr>
      </p:pic>
      <p:pic>
        <p:nvPicPr>
          <p:cNvPr id="10" name="図 9" descr="グラフィカル ユーザー インターフェイス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4643F7D-0769-E203-BC4F-BC07FA212D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47" y="1729947"/>
            <a:ext cx="7442602" cy="4029435"/>
          </a:xfrm>
          <a:prstGeom prst="rect">
            <a:avLst/>
          </a:prstGeom>
        </p:spPr>
      </p:pic>
      <p:pic>
        <p:nvPicPr>
          <p:cNvPr id="2" name="図 1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45452FAE-3E67-BA81-953F-9241666DEF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0375" y="1367199"/>
            <a:ext cx="3408205" cy="5075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965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2B9B4-7968-9ADA-A0D6-E475D7048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マップ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669B1DA-9600-16B4-4998-CB18AFCD88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847" y="1126024"/>
            <a:ext cx="4616779" cy="5614828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573DD9B-7C75-E5E6-1C8F-982D5CAE6F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818" y="591434"/>
            <a:ext cx="3542566" cy="396030"/>
          </a:xfrm>
          <a:prstGeom prst="rect">
            <a:avLst/>
          </a:prstGeom>
        </p:spPr>
      </p:pic>
      <p:pic>
        <p:nvPicPr>
          <p:cNvPr id="8" name="図 7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64F2E41B-2FEB-4E74-6839-06DB87E350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2626" y="1612926"/>
            <a:ext cx="3200847" cy="4239217"/>
          </a:xfrm>
          <a:prstGeom prst="rect">
            <a:avLst/>
          </a:prstGeom>
        </p:spPr>
      </p:pic>
      <p:pic>
        <p:nvPicPr>
          <p:cNvPr id="10" name="図 9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58F2970-2765-3D41-0D6C-AA3CF9F9B1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3473" y="1432776"/>
            <a:ext cx="3686689" cy="5001323"/>
          </a:xfrm>
          <a:prstGeom prst="rect">
            <a:avLst/>
          </a:prstGeom>
        </p:spPr>
      </p:pic>
      <p:pic>
        <p:nvPicPr>
          <p:cNvPr id="11" name="図 10" descr="黒い背景に白い文字がある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B08853D-39C8-2873-6B8C-70ABB6BA12E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37"/>
          <a:stretch/>
        </p:blipFill>
        <p:spPr>
          <a:xfrm flipV="1">
            <a:off x="625847" y="987464"/>
            <a:ext cx="3771981" cy="27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638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E7BB6-3D1E-1421-709B-D03E26963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黒い背景に白い文字がある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B9516369-8E54-6A67-06B7-F88915B04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37"/>
          <a:stretch/>
        </p:blipFill>
        <p:spPr>
          <a:xfrm flipV="1">
            <a:off x="946404" y="943802"/>
            <a:ext cx="750651" cy="55149"/>
          </a:xfrm>
          <a:prstGeom prst="rect">
            <a:avLst/>
          </a:prstGeom>
        </p:spPr>
      </p:pic>
      <p:pic>
        <p:nvPicPr>
          <p:cNvPr id="4" name="図 3" descr="アイコ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C7C9136-6053-A2F1-339A-608F34A57B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266" y="546830"/>
            <a:ext cx="666926" cy="388557"/>
          </a:xfrm>
          <a:prstGeom prst="rect">
            <a:avLst/>
          </a:prstGeom>
        </p:spPr>
      </p:pic>
      <p:pic>
        <p:nvPicPr>
          <p:cNvPr id="6" name="図 5" descr="グラフィカル ユーザー インターフェイス, テキスト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2B16B90-5971-FA7C-10C7-2B9BBE272D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266" y="1151113"/>
            <a:ext cx="4220164" cy="5334744"/>
          </a:xfrm>
          <a:prstGeom prst="rect">
            <a:avLst/>
          </a:prstGeom>
        </p:spPr>
      </p:pic>
      <p:pic>
        <p:nvPicPr>
          <p:cNvPr id="8" name="図 7" descr="テキスト, 手紙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C3DC7628-F611-2A92-7743-B76C35BC48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4780" y="1151113"/>
            <a:ext cx="3505689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81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9C77082-76E0-697E-8DFC-15A441A88BEF}"/>
              </a:ext>
            </a:extLst>
          </p:cNvPr>
          <p:cNvSpPr txBox="1"/>
          <p:nvPr/>
        </p:nvSpPr>
        <p:spPr>
          <a:xfrm>
            <a:off x="1007533" y="699533"/>
            <a:ext cx="3953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err="1"/>
              <a:t>MobileFaceNet</a:t>
            </a:r>
            <a:r>
              <a:rPr lang="ja-JP" altLang="en-US" dirty="0"/>
              <a:t>の構造</a:t>
            </a:r>
            <a:endParaRPr kumimoji="1" lang="ja-JP" altLang="en-US" dirty="0"/>
          </a:p>
        </p:txBody>
      </p:sp>
      <p:pic>
        <p:nvPicPr>
          <p:cNvPr id="4" name="図 3" descr="テーブル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1766C07-2E99-6CC5-7A49-E88EEC6E65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350604"/>
            <a:ext cx="6578600" cy="4444658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DB3F35D-A547-29C6-C372-6088462A08CA}"/>
              </a:ext>
            </a:extLst>
          </p:cNvPr>
          <p:cNvSpPr txBox="1"/>
          <p:nvPr/>
        </p:nvSpPr>
        <p:spPr>
          <a:xfrm>
            <a:off x="7730066" y="2700866"/>
            <a:ext cx="44619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ja-JP" b="0" i="0" dirty="0">
                <a:effectLst/>
                <a:latin typeface="YakuHanJPs"/>
              </a:rPr>
              <a:t>Conv : </a:t>
            </a:r>
            <a:r>
              <a:rPr lang="ja-JP" altLang="en-US" b="0" i="0" dirty="0">
                <a:effectLst/>
                <a:latin typeface="YakuHanJPs"/>
              </a:rPr>
              <a:t>通常の</a:t>
            </a:r>
            <a:r>
              <a:rPr lang="en-US" altLang="ja-JP" b="0" i="0" dirty="0">
                <a:effectLst/>
                <a:latin typeface="YakuHanJPs"/>
              </a:rPr>
              <a:t>Convolution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ja-JP" b="0" i="0" dirty="0">
                <a:effectLst/>
                <a:latin typeface="YakuHanJPs"/>
              </a:rPr>
              <a:t>Conv </a:t>
            </a:r>
            <a:r>
              <a:rPr lang="en-US" altLang="ja-JP" b="0" i="0" dirty="0" err="1">
                <a:effectLst/>
                <a:latin typeface="YakuHanJPs"/>
              </a:rPr>
              <a:t>dw</a:t>
            </a:r>
            <a:r>
              <a:rPr lang="en-US" altLang="ja-JP" b="0" i="0" dirty="0">
                <a:effectLst/>
                <a:latin typeface="YakuHanJPs"/>
              </a:rPr>
              <a:t> : </a:t>
            </a:r>
            <a:r>
              <a:rPr lang="en-US" altLang="ja-JP" b="0" i="0" dirty="0" err="1">
                <a:effectLst/>
                <a:latin typeface="YakuHanJPs"/>
              </a:rPr>
              <a:t>Depthwise</a:t>
            </a:r>
            <a:r>
              <a:rPr lang="en-US" altLang="ja-JP" b="0" i="0" dirty="0">
                <a:effectLst/>
                <a:latin typeface="YakuHanJPs"/>
              </a:rPr>
              <a:t> Convolution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ja-JP" b="0" i="0" dirty="0">
                <a:effectLst/>
                <a:latin typeface="YakuHanJPs"/>
              </a:rPr>
              <a:t>Conv/s1 : Pointwise Convolution</a:t>
            </a:r>
          </a:p>
          <a:p>
            <a:r>
              <a:rPr kumimoji="1" lang="ja-JP" altLang="en-US" dirty="0">
                <a:latin typeface="YakuHanJPs"/>
              </a:rPr>
              <a:t>→これらをまとめて</a:t>
            </a:r>
            <a:r>
              <a:rPr kumimoji="1" lang="en-US" altLang="ja-JP" dirty="0">
                <a:latin typeface="YakuHanJPs"/>
              </a:rPr>
              <a:t>bottleneck</a:t>
            </a:r>
            <a:r>
              <a:rPr kumimoji="1" lang="ja-JP" altLang="en-US" dirty="0">
                <a:latin typeface="YakuHanJPs"/>
              </a:rPr>
              <a:t>らしい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73577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175</Words>
  <Application>Microsoft Office PowerPoint</Application>
  <PresentationFormat>ワイド画面</PresentationFormat>
  <Paragraphs>17</Paragraphs>
  <Slides>13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20" baseType="lpstr">
      <vt:lpstr>ＭＳ Ｐゴシック</vt:lpstr>
      <vt:lpstr>YakuHanJPs</vt:lpstr>
      <vt:lpstr>游ゴシック</vt:lpstr>
      <vt:lpstr>游ゴシック Light</vt:lpstr>
      <vt:lpstr>Arial</vt:lpstr>
      <vt:lpstr>Wingdings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shibariku0623@icloud.com</dc:creator>
  <cp:lastModifiedBy>shibariku0623@icloud.com</cp:lastModifiedBy>
  <cp:revision>1</cp:revision>
  <dcterms:created xsi:type="dcterms:W3CDTF">2025-05-22T20:55:14Z</dcterms:created>
  <dcterms:modified xsi:type="dcterms:W3CDTF">2025-05-23T05:30:51Z</dcterms:modified>
</cp:coreProperties>
</file>