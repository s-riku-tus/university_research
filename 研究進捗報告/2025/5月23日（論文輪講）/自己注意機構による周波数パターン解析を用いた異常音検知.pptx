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753600" cy="16897350"/>
  <p:notesSz cx="9753600" cy="16897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3A6EA5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-80"/>
              <a:t>Genspark</a:t>
            </a:r>
            <a:r>
              <a:rPr dirty="0" spc="-55"/>
              <a:t> </a:t>
            </a:r>
            <a:r>
              <a:rPr dirty="0" sz="1000" spc="-85">
                <a:latin typeface="SimSun"/>
                <a:cs typeface="SimSun"/>
              </a:rPr>
              <a:t>で作成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6666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090"/>
              </a:lnSpc>
            </a:pPr>
            <a:fld id="{81D60167-4931-47E6-BA6A-407CBD079E47}" type="slidenum">
              <a:rPr dirty="0" spc="-45"/>
              <a:t>#</a:t>
            </a:fld>
            <a:r>
              <a:rPr dirty="0" spc="-45"/>
              <a:t>/</a:t>
            </a:r>
            <a:r>
              <a:rPr dirty="0" spc="-45"/>
              <a:t>13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3A6EA5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-80"/>
              <a:t>Genspark</a:t>
            </a:r>
            <a:r>
              <a:rPr dirty="0" spc="-55"/>
              <a:t> </a:t>
            </a:r>
            <a:r>
              <a:rPr dirty="0" sz="1000" spc="-85">
                <a:latin typeface="SimSun"/>
                <a:cs typeface="SimSun"/>
              </a:rPr>
              <a:t>で作成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6666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090"/>
              </a:lnSpc>
            </a:pPr>
            <a:fld id="{81D60167-4931-47E6-BA6A-407CBD079E47}" type="slidenum">
              <a:rPr dirty="0" spc="-45"/>
              <a:t>#</a:t>
            </a:fld>
            <a:r>
              <a:rPr dirty="0" spc="-45"/>
              <a:t>/</a:t>
            </a:r>
            <a:r>
              <a:rPr dirty="0" spc="-45"/>
              <a:t>13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3A6EA5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-80"/>
              <a:t>Genspark</a:t>
            </a:r>
            <a:r>
              <a:rPr dirty="0" spc="-55"/>
              <a:t> </a:t>
            </a:r>
            <a:r>
              <a:rPr dirty="0" sz="1000" spc="-85">
                <a:latin typeface="SimSun"/>
                <a:cs typeface="SimSun"/>
              </a:rPr>
              <a:t>で作成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6666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090"/>
              </a:lnSpc>
            </a:pPr>
            <a:fld id="{81D60167-4931-47E6-BA6A-407CBD079E47}" type="slidenum">
              <a:rPr dirty="0" spc="-45"/>
              <a:t>#</a:t>
            </a:fld>
            <a:r>
              <a:rPr dirty="0" spc="-45"/>
              <a:t>/</a:t>
            </a:r>
            <a:r>
              <a:rPr dirty="0" spc="-45"/>
              <a:t>13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3A6EA5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-80"/>
              <a:t>Genspark</a:t>
            </a:r>
            <a:r>
              <a:rPr dirty="0" spc="-55"/>
              <a:t> </a:t>
            </a:r>
            <a:r>
              <a:rPr dirty="0" sz="1000" spc="-85">
                <a:latin typeface="SimSun"/>
                <a:cs typeface="SimSun"/>
              </a:rPr>
              <a:t>で作成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6666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090"/>
              </a:lnSpc>
            </a:pPr>
            <a:fld id="{81D60167-4931-47E6-BA6A-407CBD079E47}" type="slidenum">
              <a:rPr dirty="0" spc="-45"/>
              <a:t>#</a:t>
            </a:fld>
            <a:r>
              <a:rPr dirty="0" spc="-45"/>
              <a:t>/</a:t>
            </a:r>
            <a:r>
              <a:rPr dirty="0" spc="-45"/>
              <a:t>13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-80"/>
              <a:t>Genspark</a:t>
            </a:r>
            <a:r>
              <a:rPr dirty="0" spc="-55"/>
              <a:t> </a:t>
            </a:r>
            <a:r>
              <a:rPr dirty="0" sz="1000" spc="-85">
                <a:latin typeface="SimSun"/>
                <a:cs typeface="SimSun"/>
              </a:rPr>
              <a:t>で作成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6666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090"/>
              </a:lnSpc>
            </a:pPr>
            <a:fld id="{81D60167-4931-47E6-BA6A-407CBD079E47}" type="slidenum">
              <a:rPr dirty="0" spc="-45"/>
              <a:t>#</a:t>
            </a:fld>
            <a:r>
              <a:rPr dirty="0" spc="-45"/>
              <a:t>/</a:t>
            </a:r>
            <a:r>
              <a:rPr dirty="0" spc="-45"/>
              <a:t>13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95509" y="240855"/>
            <a:ext cx="4347845" cy="361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3A6EA5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3849" y="2185987"/>
            <a:ext cx="6010275" cy="1687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8561734" y="6897115"/>
            <a:ext cx="899795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-80"/>
              <a:t>Genspark</a:t>
            </a:r>
            <a:r>
              <a:rPr dirty="0" spc="-55"/>
              <a:t> </a:t>
            </a:r>
            <a:r>
              <a:rPr dirty="0" sz="1000" spc="-85">
                <a:latin typeface="SimSun"/>
                <a:cs typeface="SimSun"/>
              </a:rPr>
              <a:t>で作成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156451" y="6973315"/>
            <a:ext cx="324534" cy="1466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66666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090"/>
              </a:lnSpc>
            </a:pPr>
            <a:fld id="{81D60167-4931-47E6-BA6A-407CBD079E47}" type="slidenum">
              <a:rPr dirty="0" spc="-45"/>
              <a:t>#</a:t>
            </a:fld>
            <a:r>
              <a:rPr dirty="0" spc="-45"/>
              <a:t>/</a:t>
            </a:r>
            <a:r>
              <a:rPr dirty="0" spc="-45"/>
              <a:t>13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34.png"/><Relationship Id="rId17" Type="http://schemas.openxmlformats.org/officeDocument/2006/relationships/image" Target="../media/image35.png"/><Relationship Id="rId18" Type="http://schemas.openxmlformats.org/officeDocument/2006/relationships/image" Target="../media/image36.png"/><Relationship Id="rId19" Type="http://schemas.openxmlformats.org/officeDocument/2006/relationships/image" Target="../media/image37.png"/><Relationship Id="rId20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Relationship Id="rId14" Type="http://schemas.openxmlformats.org/officeDocument/2006/relationships/image" Target="../media/image50.png"/><Relationship Id="rId15" Type="http://schemas.openxmlformats.org/officeDocument/2006/relationships/image" Target="../media/image51.png"/><Relationship Id="rId16" Type="http://schemas.openxmlformats.org/officeDocument/2006/relationships/image" Target="../media/image52.png"/><Relationship Id="rId17" Type="http://schemas.openxmlformats.org/officeDocument/2006/relationships/image" Target="../media/image53.png"/><Relationship Id="rId18" Type="http://schemas.openxmlformats.org/officeDocument/2006/relationships/image" Target="../media/image54.png"/><Relationship Id="rId19" Type="http://schemas.openxmlformats.org/officeDocument/2006/relationships/image" Target="../media/image55.png"/><Relationship Id="rId20" Type="http://schemas.openxmlformats.org/officeDocument/2006/relationships/image" Target="../media/image56.png"/><Relationship Id="rId21" Type="http://schemas.openxmlformats.org/officeDocument/2006/relationships/image" Target="../media/image57.png"/><Relationship Id="rId22" Type="http://schemas.openxmlformats.org/officeDocument/2006/relationships/image" Target="../media/image58.png"/><Relationship Id="rId23" Type="http://schemas.openxmlformats.org/officeDocument/2006/relationships/image" Target="../media/image59.png"/><Relationship Id="rId24" Type="http://schemas.openxmlformats.org/officeDocument/2006/relationships/image" Target="../media/image60.png"/><Relationship Id="rId25" Type="http://schemas.openxmlformats.org/officeDocument/2006/relationships/image" Target="../media/image61.png"/><Relationship Id="rId26" Type="http://schemas.openxmlformats.org/officeDocument/2006/relationships/image" Target="../media/image62.png"/><Relationship Id="rId27" Type="http://schemas.openxmlformats.org/officeDocument/2006/relationships/image" Target="../media/image63.png"/><Relationship Id="rId28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71.png"/><Relationship Id="rId10" Type="http://schemas.openxmlformats.org/officeDocument/2006/relationships/image" Target="../media/image72.png"/><Relationship Id="rId11" Type="http://schemas.openxmlformats.org/officeDocument/2006/relationships/image" Target="../media/image73.png"/><Relationship Id="rId12" Type="http://schemas.openxmlformats.org/officeDocument/2006/relationships/image" Target="../media/image74.png"/><Relationship Id="rId13" Type="http://schemas.openxmlformats.org/officeDocument/2006/relationships/image" Target="../media/image75.png"/><Relationship Id="rId14" Type="http://schemas.openxmlformats.org/officeDocument/2006/relationships/image" Target="../media/image76.png"/><Relationship Id="rId15" Type="http://schemas.openxmlformats.org/officeDocument/2006/relationships/image" Target="../media/image77.png"/><Relationship Id="rId16" Type="http://schemas.openxmlformats.org/officeDocument/2006/relationships/image" Target="../media/image78.png"/><Relationship Id="rId17" Type="http://schemas.openxmlformats.org/officeDocument/2006/relationships/image" Target="../media/image79.png"/><Relationship Id="rId18" Type="http://schemas.openxmlformats.org/officeDocument/2006/relationships/image" Target="../media/image80.png"/><Relationship Id="rId19" Type="http://schemas.openxmlformats.org/officeDocument/2006/relationships/image" Target="../media/image81.png"/><Relationship Id="rId20" Type="http://schemas.openxmlformats.org/officeDocument/2006/relationships/image" Target="../media/image82.png"/><Relationship Id="rId21" Type="http://schemas.openxmlformats.org/officeDocument/2006/relationships/image" Target="../media/image83.png"/><Relationship Id="rId22" Type="http://schemas.openxmlformats.org/officeDocument/2006/relationships/image" Target="../media/image84.png"/><Relationship Id="rId23" Type="http://schemas.openxmlformats.org/officeDocument/2006/relationships/image" Target="../media/image85.png"/><Relationship Id="rId24" Type="http://schemas.openxmlformats.org/officeDocument/2006/relationships/image" Target="../media/image86.png"/><Relationship Id="rId25" Type="http://schemas.openxmlformats.org/officeDocument/2006/relationships/image" Target="../media/image87.png"/><Relationship Id="rId26" Type="http://schemas.openxmlformats.org/officeDocument/2006/relationships/image" Target="../media/image88.png"/><Relationship Id="rId27" Type="http://schemas.openxmlformats.org/officeDocument/2006/relationships/image" Target="../media/image89.png"/><Relationship Id="rId28" Type="http://schemas.openxmlformats.org/officeDocument/2006/relationships/image" Target="../media/image90.png"/><Relationship Id="rId29" Type="http://schemas.openxmlformats.org/officeDocument/2006/relationships/image" Target="../media/image91.png"/><Relationship Id="rId30" Type="http://schemas.openxmlformats.org/officeDocument/2006/relationships/image" Target="../media/image92.png"/><Relationship Id="rId31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Relationship Id="rId8" Type="http://schemas.openxmlformats.org/officeDocument/2006/relationships/image" Target="../media/image99.png"/><Relationship Id="rId9" Type="http://schemas.openxmlformats.org/officeDocument/2006/relationships/image" Target="../media/image100.png"/><Relationship Id="rId10" Type="http://schemas.openxmlformats.org/officeDocument/2006/relationships/image" Target="../media/image101.png"/><Relationship Id="rId11" Type="http://schemas.openxmlformats.org/officeDocument/2006/relationships/image" Target="../media/image102.png"/><Relationship Id="rId12" Type="http://schemas.openxmlformats.org/officeDocument/2006/relationships/image" Target="../media/image103.png"/><Relationship Id="rId13" Type="http://schemas.openxmlformats.org/officeDocument/2006/relationships/image" Target="../media/image104.png"/><Relationship Id="rId14" Type="http://schemas.openxmlformats.org/officeDocument/2006/relationships/image" Target="../media/image105.png"/><Relationship Id="rId15" Type="http://schemas.openxmlformats.org/officeDocument/2006/relationships/image" Target="../media/image106.png"/><Relationship Id="rId16" Type="http://schemas.openxmlformats.org/officeDocument/2006/relationships/image" Target="../media/image107.png"/><Relationship Id="rId17" Type="http://schemas.openxmlformats.org/officeDocument/2006/relationships/image" Target="../media/image108.png"/><Relationship Id="rId18" Type="http://schemas.openxmlformats.org/officeDocument/2006/relationships/image" Target="../media/image109.png"/><Relationship Id="rId19" Type="http://schemas.openxmlformats.org/officeDocument/2006/relationships/image" Target="../media/image110.png"/><Relationship Id="rId20" Type="http://schemas.openxmlformats.org/officeDocument/2006/relationships/image" Target="../media/image111.png"/><Relationship Id="rId21" Type="http://schemas.openxmlformats.org/officeDocument/2006/relationships/image" Target="../media/image112.png"/><Relationship Id="rId22" Type="http://schemas.openxmlformats.org/officeDocument/2006/relationships/image" Target="../media/image113.png"/><Relationship Id="rId23" Type="http://schemas.openxmlformats.org/officeDocument/2006/relationships/image" Target="../media/image114.png"/><Relationship Id="rId24" Type="http://schemas.openxmlformats.org/officeDocument/2006/relationships/image" Target="../media/image115.png"/><Relationship Id="rId25" Type="http://schemas.openxmlformats.org/officeDocument/2006/relationships/image" Target="../media/image116.png"/><Relationship Id="rId26" Type="http://schemas.openxmlformats.org/officeDocument/2006/relationships/image" Target="../media/image117.png"/><Relationship Id="rId27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Relationship Id="rId7" Type="http://schemas.openxmlformats.org/officeDocument/2006/relationships/image" Target="../media/image123.png"/><Relationship Id="rId8" Type="http://schemas.openxmlformats.org/officeDocument/2006/relationships/image" Target="../media/image124.png"/><Relationship Id="rId9" Type="http://schemas.openxmlformats.org/officeDocument/2006/relationships/image" Target="../media/image125.png"/><Relationship Id="rId10" Type="http://schemas.openxmlformats.org/officeDocument/2006/relationships/image" Target="../media/image126.png"/><Relationship Id="rId11" Type="http://schemas.openxmlformats.org/officeDocument/2006/relationships/image" Target="../media/image127.png"/><Relationship Id="rId12" Type="http://schemas.openxmlformats.org/officeDocument/2006/relationships/image" Target="../media/image128.png"/><Relationship Id="rId13" Type="http://schemas.openxmlformats.org/officeDocument/2006/relationships/image" Target="../media/image70.png"/><Relationship Id="rId14" Type="http://schemas.openxmlformats.org/officeDocument/2006/relationships/image" Target="../media/image129.png"/><Relationship Id="rId15" Type="http://schemas.openxmlformats.org/officeDocument/2006/relationships/image" Target="../media/image130.png"/><Relationship Id="rId16" Type="http://schemas.openxmlformats.org/officeDocument/2006/relationships/image" Target="../media/image131.png"/><Relationship Id="rId17" Type="http://schemas.openxmlformats.org/officeDocument/2006/relationships/image" Target="../media/image132.png"/><Relationship Id="rId18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137.png"/><Relationship Id="rId7" Type="http://schemas.openxmlformats.org/officeDocument/2006/relationships/image" Target="../media/image138.png"/><Relationship Id="rId8" Type="http://schemas.openxmlformats.org/officeDocument/2006/relationships/image" Target="../media/image139.png"/><Relationship Id="rId9" Type="http://schemas.openxmlformats.org/officeDocument/2006/relationships/image" Target="../media/image140.png"/><Relationship Id="rId10" Type="http://schemas.openxmlformats.org/officeDocument/2006/relationships/image" Target="../media/image141.png"/><Relationship Id="rId11" Type="http://schemas.openxmlformats.org/officeDocument/2006/relationships/image" Target="../media/image142.png"/><Relationship Id="rId12" Type="http://schemas.openxmlformats.org/officeDocument/2006/relationships/image" Target="../media/image143.png"/><Relationship Id="rId13" Type="http://schemas.openxmlformats.org/officeDocument/2006/relationships/image" Target="../media/image144.png"/><Relationship Id="rId14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5.png"/><Relationship Id="rId3" Type="http://schemas.openxmlformats.org/officeDocument/2006/relationships/image" Target="../media/image146.png"/><Relationship Id="rId4" Type="http://schemas.openxmlformats.org/officeDocument/2006/relationships/image" Target="../media/image147.png"/><Relationship Id="rId5" Type="http://schemas.openxmlformats.org/officeDocument/2006/relationships/image" Target="../media/image148.png"/><Relationship Id="rId6" Type="http://schemas.openxmlformats.org/officeDocument/2006/relationships/image" Target="../media/image149.png"/><Relationship Id="rId7" Type="http://schemas.openxmlformats.org/officeDocument/2006/relationships/image" Target="../media/image150.png"/><Relationship Id="rId8" Type="http://schemas.openxmlformats.org/officeDocument/2006/relationships/image" Target="../media/image151.png"/><Relationship Id="rId9" Type="http://schemas.openxmlformats.org/officeDocument/2006/relationships/image" Target="../media/image152.png"/><Relationship Id="rId10" Type="http://schemas.openxmlformats.org/officeDocument/2006/relationships/image" Target="../media/image153.png"/><Relationship Id="rId11" Type="http://schemas.openxmlformats.org/officeDocument/2006/relationships/image" Target="../media/image154.png"/><Relationship Id="rId12" Type="http://schemas.openxmlformats.org/officeDocument/2006/relationships/image" Target="../media/image155.png"/><Relationship Id="rId13" Type="http://schemas.openxmlformats.org/officeDocument/2006/relationships/image" Target="../media/image156.png"/><Relationship Id="rId14" Type="http://schemas.openxmlformats.org/officeDocument/2006/relationships/image" Target="../media/image157.png"/><Relationship Id="rId15" Type="http://schemas.openxmlformats.org/officeDocument/2006/relationships/image" Target="../media/image158.png"/><Relationship Id="rId16" Type="http://schemas.openxmlformats.org/officeDocument/2006/relationships/image" Target="../media/image159.png"/><Relationship Id="rId17" Type="http://schemas.openxmlformats.org/officeDocument/2006/relationships/image" Target="../media/image160.png"/><Relationship Id="rId18" Type="http://schemas.openxmlformats.org/officeDocument/2006/relationships/image" Target="../media/image161.png"/><Relationship Id="rId19" Type="http://schemas.openxmlformats.org/officeDocument/2006/relationships/image" Target="../media/image162.png"/><Relationship Id="rId20" Type="http://schemas.openxmlformats.org/officeDocument/2006/relationships/image" Target="../media/image163.png"/><Relationship Id="rId21" Type="http://schemas.openxmlformats.org/officeDocument/2006/relationships/image" Target="../media/image164.png"/><Relationship Id="rId22" Type="http://schemas.openxmlformats.org/officeDocument/2006/relationships/image" Target="../media/image165.png"/><Relationship Id="rId23" Type="http://schemas.openxmlformats.org/officeDocument/2006/relationships/image" Target="../media/image166.png"/><Relationship Id="rId24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7.png"/><Relationship Id="rId3" Type="http://schemas.openxmlformats.org/officeDocument/2006/relationships/image" Target="../media/image151.png"/><Relationship Id="rId4" Type="http://schemas.openxmlformats.org/officeDocument/2006/relationships/image" Target="../media/image152.png"/><Relationship Id="rId5" Type="http://schemas.openxmlformats.org/officeDocument/2006/relationships/image" Target="../media/image168.png"/><Relationship Id="rId6" Type="http://schemas.openxmlformats.org/officeDocument/2006/relationships/image" Target="../media/image169.png"/><Relationship Id="rId7" Type="http://schemas.openxmlformats.org/officeDocument/2006/relationships/image" Target="../media/image170.png"/><Relationship Id="rId8" Type="http://schemas.openxmlformats.org/officeDocument/2006/relationships/image" Target="../media/image171.png"/><Relationship Id="rId9" Type="http://schemas.openxmlformats.org/officeDocument/2006/relationships/image" Target="../media/image172.png"/><Relationship Id="rId10" Type="http://schemas.openxmlformats.org/officeDocument/2006/relationships/image" Target="../media/image173.png"/><Relationship Id="rId11" Type="http://schemas.openxmlformats.org/officeDocument/2006/relationships/image" Target="../media/image174.png"/><Relationship Id="rId12" Type="http://schemas.openxmlformats.org/officeDocument/2006/relationships/image" Target="../media/image175.png"/><Relationship Id="rId13" Type="http://schemas.openxmlformats.org/officeDocument/2006/relationships/image" Target="../media/image176.png"/><Relationship Id="rId14" Type="http://schemas.openxmlformats.org/officeDocument/2006/relationships/image" Target="../media/image177.png"/><Relationship Id="rId15" Type="http://schemas.openxmlformats.org/officeDocument/2006/relationships/image" Target="../media/image17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9.png"/><Relationship Id="rId3" Type="http://schemas.openxmlformats.org/officeDocument/2006/relationships/image" Target="../media/image151.png"/><Relationship Id="rId4" Type="http://schemas.openxmlformats.org/officeDocument/2006/relationships/image" Target="../media/image180.png"/><Relationship Id="rId5" Type="http://schemas.openxmlformats.org/officeDocument/2006/relationships/image" Target="../media/image181.png"/><Relationship Id="rId6" Type="http://schemas.openxmlformats.org/officeDocument/2006/relationships/image" Target="../media/image182.png"/><Relationship Id="rId7" Type="http://schemas.openxmlformats.org/officeDocument/2006/relationships/image" Target="../media/image183.png"/><Relationship Id="rId8" Type="http://schemas.openxmlformats.org/officeDocument/2006/relationships/image" Target="../media/image184.png"/><Relationship Id="rId9" Type="http://schemas.openxmlformats.org/officeDocument/2006/relationships/image" Target="../media/image18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6.png"/><Relationship Id="rId3" Type="http://schemas.openxmlformats.org/officeDocument/2006/relationships/image" Target="../media/image187.png"/><Relationship Id="rId4" Type="http://schemas.openxmlformats.org/officeDocument/2006/relationships/image" Target="../media/image188.png"/><Relationship Id="rId5" Type="http://schemas.openxmlformats.org/officeDocument/2006/relationships/image" Target="../media/image189.png"/><Relationship Id="rId6" Type="http://schemas.openxmlformats.org/officeDocument/2006/relationships/image" Target="../media/image190.png"/><Relationship Id="rId7" Type="http://schemas.openxmlformats.org/officeDocument/2006/relationships/image" Target="../media/image191.png"/><Relationship Id="rId8" Type="http://schemas.openxmlformats.org/officeDocument/2006/relationships/image" Target="../media/image192.png"/><Relationship Id="rId9" Type="http://schemas.openxmlformats.org/officeDocument/2006/relationships/image" Target="../media/image193.png"/><Relationship Id="rId10" Type="http://schemas.openxmlformats.org/officeDocument/2006/relationships/image" Target="../media/image194.png"/><Relationship Id="rId11" Type="http://schemas.openxmlformats.org/officeDocument/2006/relationships/image" Target="../media/image195.png"/><Relationship Id="rId12" Type="http://schemas.openxmlformats.org/officeDocument/2006/relationships/image" Target="../media/image196.png"/><Relationship Id="rId13" Type="http://schemas.openxmlformats.org/officeDocument/2006/relationships/image" Target="../media/image197.png"/><Relationship Id="rId14" Type="http://schemas.openxmlformats.org/officeDocument/2006/relationships/image" Target="../media/image2.png"/><Relationship Id="rId15" Type="http://schemas.openxmlformats.org/officeDocument/2006/relationships/image" Target="../media/image198.png"/><Relationship Id="rId16" Type="http://schemas.openxmlformats.org/officeDocument/2006/relationships/image" Target="../media/image199.png"/><Relationship Id="rId17" Type="http://schemas.openxmlformats.org/officeDocument/2006/relationships/image" Target="../media/image200.png"/><Relationship Id="rId18" Type="http://schemas.openxmlformats.org/officeDocument/2006/relationships/image" Target="../media/image201.png"/><Relationship Id="rId19" Type="http://schemas.openxmlformats.org/officeDocument/2006/relationships/image" Target="../media/image202.png"/><Relationship Id="rId20" Type="http://schemas.openxmlformats.org/officeDocument/2006/relationships/image" Target="../media/image203.png"/><Relationship Id="rId21" Type="http://schemas.openxmlformats.org/officeDocument/2006/relationships/image" Target="../media/image204.png"/><Relationship Id="rId22" Type="http://schemas.openxmlformats.org/officeDocument/2006/relationships/image" Target="../media/image205.png"/><Relationship Id="rId23" Type="http://schemas.openxmlformats.org/officeDocument/2006/relationships/image" Target="../media/image206.png"/><Relationship Id="rId24" Type="http://schemas.openxmlformats.org/officeDocument/2006/relationships/image" Target="../media/image207.png"/><Relationship Id="rId25" Type="http://schemas.openxmlformats.org/officeDocument/2006/relationships/image" Target="../media/image20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1016" y="933703"/>
            <a:ext cx="5071745" cy="739775"/>
          </a:xfrm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1468755" marR="5080" indent="-1456690">
              <a:lnSpc>
                <a:spcPts val="2780"/>
              </a:lnSpc>
              <a:spcBef>
                <a:spcPts val="245"/>
              </a:spcBef>
            </a:pPr>
            <a:r>
              <a:rPr dirty="0" sz="2350" spc="-260">
                <a:latin typeface="Microsoft JhengHei"/>
                <a:cs typeface="Microsoft JhengHei"/>
              </a:rPr>
              <a:t>自</a:t>
            </a:r>
            <a:r>
              <a:rPr dirty="0" sz="2350" spc="-260"/>
              <a:t>己注意機構</a:t>
            </a:r>
            <a:r>
              <a:rPr dirty="0" sz="2350" spc="-285">
                <a:latin typeface="Microsoft JhengHei"/>
                <a:cs typeface="Microsoft JhengHei"/>
              </a:rPr>
              <a:t>による</a:t>
            </a:r>
            <a:r>
              <a:rPr dirty="0" sz="2350" spc="-260"/>
              <a:t>周波</a:t>
            </a:r>
            <a:r>
              <a:rPr dirty="0" sz="2350" spc="-285">
                <a:latin typeface="Microsoft JhengHei"/>
                <a:cs typeface="Microsoft JhengHei"/>
              </a:rPr>
              <a:t>数パターン</a:t>
            </a:r>
            <a:r>
              <a:rPr dirty="0" sz="2350" spc="-260"/>
              <a:t>解析</a:t>
            </a:r>
            <a:r>
              <a:rPr dirty="0" sz="2350" spc="-310">
                <a:latin typeface="Microsoft JhengHei"/>
                <a:cs typeface="Microsoft JhengHei"/>
              </a:rPr>
              <a:t>を</a:t>
            </a:r>
            <a:r>
              <a:rPr dirty="0" sz="2350" spc="-260"/>
              <a:t>用</a:t>
            </a:r>
            <a:r>
              <a:rPr dirty="0" sz="2350" spc="-260">
                <a:latin typeface="Microsoft JhengHei"/>
                <a:cs typeface="Microsoft JhengHei"/>
              </a:rPr>
              <a:t>いた</a:t>
            </a:r>
            <a:r>
              <a:rPr dirty="0" sz="2350" spc="-260"/>
              <a:t>異常音</a:t>
            </a:r>
            <a:r>
              <a:rPr dirty="0" sz="2350" spc="-285">
                <a:latin typeface="Microsoft JhengHei"/>
                <a:cs typeface="Microsoft JhengHei"/>
              </a:rPr>
              <a:t>検知</a:t>
            </a:r>
            <a:endParaRPr sz="235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083692" y="1818034"/>
            <a:ext cx="5586095" cy="208470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ctr" marL="318135" marR="310515">
              <a:lnSpc>
                <a:spcPct val="101400"/>
              </a:lnSpc>
              <a:spcBef>
                <a:spcPts val="75"/>
              </a:spcBef>
            </a:pPr>
            <a:r>
              <a:rPr dirty="0" sz="1850" spc="-160" i="1">
                <a:solidFill>
                  <a:srgbClr val="444444"/>
                </a:solidFill>
                <a:latin typeface="Arial"/>
                <a:cs typeface="Arial"/>
              </a:rPr>
              <a:t>Anomalous</a:t>
            </a:r>
            <a:r>
              <a:rPr dirty="0" sz="1850" spc="-114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850" spc="-170" i="1">
                <a:solidFill>
                  <a:srgbClr val="444444"/>
                </a:solidFill>
                <a:latin typeface="Arial"/>
                <a:cs typeface="Arial"/>
              </a:rPr>
              <a:t>Sound</a:t>
            </a:r>
            <a:r>
              <a:rPr dirty="0" sz="1850" spc="-11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850" spc="-130" i="1">
                <a:solidFill>
                  <a:srgbClr val="444444"/>
                </a:solidFill>
                <a:latin typeface="Arial"/>
                <a:cs typeface="Arial"/>
              </a:rPr>
              <a:t>Detection</a:t>
            </a:r>
            <a:r>
              <a:rPr dirty="0" sz="1850" spc="-11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850" spc="-175" i="1">
                <a:solidFill>
                  <a:srgbClr val="444444"/>
                </a:solidFill>
                <a:latin typeface="Arial"/>
                <a:cs typeface="Arial"/>
              </a:rPr>
              <a:t>Using</a:t>
            </a:r>
            <a:r>
              <a:rPr dirty="0" sz="1850" spc="-11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850" spc="-145" i="1">
                <a:solidFill>
                  <a:srgbClr val="444444"/>
                </a:solidFill>
                <a:latin typeface="Arial"/>
                <a:cs typeface="Arial"/>
              </a:rPr>
              <a:t>Self-</a:t>
            </a:r>
            <a:r>
              <a:rPr dirty="0" sz="1850" spc="-100" i="1">
                <a:solidFill>
                  <a:srgbClr val="444444"/>
                </a:solidFill>
                <a:latin typeface="Arial"/>
                <a:cs typeface="Arial"/>
              </a:rPr>
              <a:t>Attention-</a:t>
            </a:r>
            <a:r>
              <a:rPr dirty="0" sz="1850" spc="-140" i="1">
                <a:solidFill>
                  <a:srgbClr val="444444"/>
                </a:solidFill>
                <a:latin typeface="Arial"/>
                <a:cs typeface="Arial"/>
              </a:rPr>
              <a:t>Based </a:t>
            </a:r>
            <a:r>
              <a:rPr dirty="0" sz="1850" spc="-170" i="1">
                <a:solidFill>
                  <a:srgbClr val="444444"/>
                </a:solidFill>
                <a:latin typeface="Arial"/>
                <a:cs typeface="Arial"/>
              </a:rPr>
              <a:t>Frequency</a:t>
            </a:r>
            <a:r>
              <a:rPr dirty="0" sz="1850" spc="-1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850" spc="-135" i="1">
                <a:solidFill>
                  <a:srgbClr val="444444"/>
                </a:solidFill>
                <a:latin typeface="Arial"/>
                <a:cs typeface="Arial"/>
              </a:rPr>
              <a:t>Pattern</a:t>
            </a:r>
            <a:r>
              <a:rPr dirty="0" sz="1850" spc="-1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850" spc="-165" i="1">
                <a:solidFill>
                  <a:srgbClr val="444444"/>
                </a:solidFill>
                <a:latin typeface="Arial"/>
                <a:cs typeface="Arial"/>
              </a:rPr>
              <a:t>Analysis</a:t>
            </a:r>
            <a:r>
              <a:rPr dirty="0" sz="1850" spc="-1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850" spc="-85" i="1">
                <a:solidFill>
                  <a:srgbClr val="444444"/>
                </a:solidFill>
                <a:latin typeface="Arial"/>
                <a:cs typeface="Arial"/>
              </a:rPr>
              <a:t>of</a:t>
            </a:r>
            <a:r>
              <a:rPr dirty="0" sz="1850" spc="-1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850" spc="-170" i="1">
                <a:solidFill>
                  <a:srgbClr val="444444"/>
                </a:solidFill>
                <a:latin typeface="Arial"/>
                <a:cs typeface="Arial"/>
              </a:rPr>
              <a:t>Machine</a:t>
            </a:r>
            <a:r>
              <a:rPr dirty="0" sz="1850" spc="-1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850" spc="-10" i="1">
                <a:solidFill>
                  <a:srgbClr val="444444"/>
                </a:solidFill>
                <a:latin typeface="Arial"/>
                <a:cs typeface="Arial"/>
              </a:rPr>
              <a:t>Sounds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5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600" spc="-110" b="1">
                <a:solidFill>
                  <a:srgbClr val="444444"/>
                </a:solidFill>
                <a:latin typeface="Arial"/>
                <a:cs typeface="Arial"/>
              </a:rPr>
              <a:t>Hejing</a:t>
            </a:r>
            <a:r>
              <a:rPr dirty="0" sz="1600" spc="-9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600" spc="-100" b="1">
                <a:solidFill>
                  <a:srgbClr val="444444"/>
                </a:solidFill>
                <a:latin typeface="Arial"/>
                <a:cs typeface="Arial"/>
              </a:rPr>
              <a:t>Zhang¹,</a:t>
            </a:r>
            <a:r>
              <a:rPr dirty="0" sz="1600" spc="-9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600" spc="-100" b="1">
                <a:solidFill>
                  <a:srgbClr val="444444"/>
                </a:solidFill>
                <a:latin typeface="Arial"/>
                <a:cs typeface="Arial"/>
              </a:rPr>
              <a:t>Jian</a:t>
            </a:r>
            <a:r>
              <a:rPr dirty="0" sz="1600" spc="-90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600" spc="-85" b="1">
                <a:solidFill>
                  <a:srgbClr val="444444"/>
                </a:solidFill>
                <a:latin typeface="Arial"/>
                <a:cs typeface="Arial"/>
              </a:rPr>
              <a:t>Guan¹*,</a:t>
            </a:r>
            <a:r>
              <a:rPr dirty="0" sz="1600" spc="-9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600" spc="-125" b="1">
                <a:solidFill>
                  <a:srgbClr val="444444"/>
                </a:solidFill>
                <a:latin typeface="Arial"/>
                <a:cs typeface="Arial"/>
              </a:rPr>
              <a:t>Qiaoxi</a:t>
            </a:r>
            <a:r>
              <a:rPr dirty="0" sz="1600" spc="-90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600" spc="-80" b="1">
                <a:solidFill>
                  <a:srgbClr val="444444"/>
                </a:solidFill>
                <a:latin typeface="Arial"/>
                <a:cs typeface="Arial"/>
              </a:rPr>
              <a:t>Zhu²,</a:t>
            </a:r>
            <a:r>
              <a:rPr dirty="0" sz="1600" spc="-9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600" spc="-140" b="1">
                <a:solidFill>
                  <a:srgbClr val="444444"/>
                </a:solidFill>
                <a:latin typeface="Arial"/>
                <a:cs typeface="Arial"/>
              </a:rPr>
              <a:t>Feiyang</a:t>
            </a:r>
            <a:r>
              <a:rPr dirty="0" sz="1600" spc="-90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600" spc="-85" b="1">
                <a:solidFill>
                  <a:srgbClr val="444444"/>
                </a:solidFill>
                <a:latin typeface="Arial"/>
                <a:cs typeface="Arial"/>
              </a:rPr>
              <a:t>Xiao¹,</a:t>
            </a:r>
            <a:r>
              <a:rPr dirty="0" sz="1600" spc="-9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600" spc="-180" b="1">
                <a:solidFill>
                  <a:srgbClr val="444444"/>
                </a:solidFill>
                <a:latin typeface="Arial"/>
                <a:cs typeface="Arial"/>
              </a:rPr>
              <a:t>Youde</a:t>
            </a:r>
            <a:r>
              <a:rPr dirty="0" sz="1600" spc="-9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444444"/>
                </a:solidFill>
                <a:latin typeface="Arial"/>
                <a:cs typeface="Arial"/>
              </a:rPr>
              <a:t>Liu³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3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250">
                <a:solidFill>
                  <a:srgbClr val="666666"/>
                </a:solidFill>
                <a:latin typeface="Arial MT"/>
                <a:cs typeface="Arial MT"/>
              </a:rPr>
              <a:t>¹</a:t>
            </a:r>
            <a:r>
              <a:rPr dirty="0" sz="1250" spc="-7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100">
                <a:solidFill>
                  <a:srgbClr val="666666"/>
                </a:solidFill>
                <a:latin typeface="Arial MT"/>
                <a:cs typeface="Arial MT"/>
              </a:rPr>
              <a:t>Group</a:t>
            </a:r>
            <a:r>
              <a:rPr dirty="0" sz="1250" spc="-6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50">
                <a:solidFill>
                  <a:srgbClr val="666666"/>
                </a:solidFill>
                <a:latin typeface="Arial MT"/>
                <a:cs typeface="Arial MT"/>
              </a:rPr>
              <a:t>of</a:t>
            </a:r>
            <a:r>
              <a:rPr dirty="0" sz="1250" spc="-6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45">
                <a:solidFill>
                  <a:srgbClr val="666666"/>
                </a:solidFill>
                <a:latin typeface="Arial MT"/>
                <a:cs typeface="Arial MT"/>
              </a:rPr>
              <a:t>Intelligent</a:t>
            </a:r>
            <a:r>
              <a:rPr dirty="0" sz="1250" spc="-7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85">
                <a:solidFill>
                  <a:srgbClr val="666666"/>
                </a:solidFill>
                <a:latin typeface="Arial MT"/>
                <a:cs typeface="Arial MT"/>
              </a:rPr>
              <a:t>Signal</a:t>
            </a:r>
            <a:r>
              <a:rPr dirty="0" sz="1250" spc="-6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100">
                <a:solidFill>
                  <a:srgbClr val="666666"/>
                </a:solidFill>
                <a:latin typeface="Arial MT"/>
                <a:cs typeface="Arial MT"/>
              </a:rPr>
              <a:t>Processing,</a:t>
            </a:r>
            <a:r>
              <a:rPr dirty="0" sz="1250" spc="-6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70">
                <a:solidFill>
                  <a:srgbClr val="666666"/>
                </a:solidFill>
                <a:latin typeface="Arial MT"/>
                <a:cs typeface="Arial MT"/>
              </a:rPr>
              <a:t>Harbin </a:t>
            </a:r>
            <a:r>
              <a:rPr dirty="0" sz="1250" spc="-85">
                <a:solidFill>
                  <a:srgbClr val="666666"/>
                </a:solidFill>
                <a:latin typeface="Arial MT"/>
                <a:cs typeface="Arial MT"/>
              </a:rPr>
              <a:t>Engineering</a:t>
            </a:r>
            <a:r>
              <a:rPr dirty="0" sz="1250" spc="-6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70">
                <a:solidFill>
                  <a:srgbClr val="666666"/>
                </a:solidFill>
                <a:latin typeface="Arial MT"/>
                <a:cs typeface="Arial MT"/>
              </a:rPr>
              <a:t>University,</a:t>
            </a:r>
            <a:r>
              <a:rPr dirty="0" sz="1250" spc="-6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666666"/>
                </a:solidFill>
                <a:latin typeface="Arial MT"/>
                <a:cs typeface="Arial MT"/>
              </a:rPr>
              <a:t>China</a:t>
            </a:r>
            <a:endParaRPr sz="1250">
              <a:latin typeface="Arial MT"/>
              <a:cs typeface="Arial MT"/>
            </a:endParaRPr>
          </a:p>
          <a:p>
            <a:pPr algn="ctr">
              <a:lnSpc>
                <a:spcPts val="1465"/>
              </a:lnSpc>
            </a:pPr>
            <a:r>
              <a:rPr dirty="0" sz="1250">
                <a:solidFill>
                  <a:srgbClr val="666666"/>
                </a:solidFill>
                <a:latin typeface="Arial MT"/>
                <a:cs typeface="Arial MT"/>
              </a:rPr>
              <a:t>²</a:t>
            </a:r>
            <a:r>
              <a:rPr dirty="0" sz="1250" spc="-8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95">
                <a:solidFill>
                  <a:srgbClr val="666666"/>
                </a:solidFill>
                <a:latin typeface="Arial MT"/>
                <a:cs typeface="Arial MT"/>
              </a:rPr>
              <a:t>Centre</a:t>
            </a:r>
            <a:r>
              <a:rPr dirty="0" sz="1250" spc="-6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40">
                <a:solidFill>
                  <a:srgbClr val="666666"/>
                </a:solidFill>
                <a:latin typeface="Arial MT"/>
                <a:cs typeface="Arial MT"/>
              </a:rPr>
              <a:t>for</a:t>
            </a:r>
            <a:r>
              <a:rPr dirty="0" sz="1250" spc="-7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85">
                <a:solidFill>
                  <a:srgbClr val="666666"/>
                </a:solidFill>
                <a:latin typeface="Arial MT"/>
                <a:cs typeface="Arial MT"/>
              </a:rPr>
              <a:t>Audio,</a:t>
            </a:r>
            <a:r>
              <a:rPr dirty="0" sz="1250" spc="-6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95">
                <a:solidFill>
                  <a:srgbClr val="666666"/>
                </a:solidFill>
                <a:latin typeface="Arial MT"/>
                <a:cs typeface="Arial MT"/>
              </a:rPr>
              <a:t>Acoustics</a:t>
            </a:r>
            <a:r>
              <a:rPr dirty="0" sz="1250" spc="-7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80">
                <a:solidFill>
                  <a:srgbClr val="666666"/>
                </a:solidFill>
                <a:latin typeface="Arial MT"/>
                <a:cs typeface="Arial MT"/>
              </a:rPr>
              <a:t>and</a:t>
            </a:r>
            <a:r>
              <a:rPr dirty="0" sz="1250" spc="-65">
                <a:solidFill>
                  <a:srgbClr val="666666"/>
                </a:solidFill>
                <a:latin typeface="Arial MT"/>
                <a:cs typeface="Arial MT"/>
              </a:rPr>
              <a:t> Vibration,</a:t>
            </a:r>
            <a:r>
              <a:rPr dirty="0" sz="1250" spc="-70">
                <a:solidFill>
                  <a:srgbClr val="666666"/>
                </a:solidFill>
                <a:latin typeface="Arial MT"/>
                <a:cs typeface="Arial MT"/>
              </a:rPr>
              <a:t> University</a:t>
            </a:r>
            <a:r>
              <a:rPr dirty="0" sz="1250" spc="-6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50">
                <a:solidFill>
                  <a:srgbClr val="666666"/>
                </a:solidFill>
                <a:latin typeface="Arial MT"/>
                <a:cs typeface="Arial MT"/>
              </a:rPr>
              <a:t>of</a:t>
            </a:r>
            <a:r>
              <a:rPr dirty="0" sz="1250" spc="-7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95">
                <a:solidFill>
                  <a:srgbClr val="666666"/>
                </a:solidFill>
                <a:latin typeface="Arial MT"/>
                <a:cs typeface="Arial MT"/>
              </a:rPr>
              <a:t>Technology</a:t>
            </a:r>
            <a:r>
              <a:rPr dirty="0" sz="1250" spc="-6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110">
                <a:solidFill>
                  <a:srgbClr val="666666"/>
                </a:solidFill>
                <a:latin typeface="Arial MT"/>
                <a:cs typeface="Arial MT"/>
              </a:rPr>
              <a:t>Sydney,</a:t>
            </a:r>
            <a:r>
              <a:rPr dirty="0" sz="1250" spc="-6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666666"/>
                </a:solidFill>
                <a:latin typeface="Arial MT"/>
                <a:cs typeface="Arial MT"/>
              </a:rPr>
              <a:t>Australia</a:t>
            </a:r>
            <a:endParaRPr sz="1250">
              <a:latin typeface="Arial MT"/>
              <a:cs typeface="Arial MT"/>
            </a:endParaRPr>
          </a:p>
          <a:p>
            <a:pPr algn="ctr">
              <a:lnSpc>
                <a:spcPts val="1465"/>
              </a:lnSpc>
            </a:pPr>
            <a:r>
              <a:rPr dirty="0" sz="1250">
                <a:solidFill>
                  <a:srgbClr val="666666"/>
                </a:solidFill>
                <a:latin typeface="Arial MT"/>
                <a:cs typeface="Arial MT"/>
              </a:rPr>
              <a:t>³</a:t>
            </a:r>
            <a:r>
              <a:rPr dirty="0" sz="1250" spc="-7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90">
                <a:solidFill>
                  <a:srgbClr val="666666"/>
                </a:solidFill>
                <a:latin typeface="Arial MT"/>
                <a:cs typeface="Arial MT"/>
              </a:rPr>
              <a:t>School</a:t>
            </a:r>
            <a:r>
              <a:rPr dirty="0" sz="1250" spc="-7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50">
                <a:solidFill>
                  <a:srgbClr val="666666"/>
                </a:solidFill>
                <a:latin typeface="Arial MT"/>
                <a:cs typeface="Arial MT"/>
              </a:rPr>
              <a:t>of</a:t>
            </a:r>
            <a:r>
              <a:rPr dirty="0" sz="1250" spc="-7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80">
                <a:solidFill>
                  <a:srgbClr val="666666"/>
                </a:solidFill>
                <a:latin typeface="Arial MT"/>
                <a:cs typeface="Arial MT"/>
              </a:rPr>
              <a:t>Computer</a:t>
            </a:r>
            <a:r>
              <a:rPr dirty="0" sz="1250" spc="-7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110">
                <a:solidFill>
                  <a:srgbClr val="666666"/>
                </a:solidFill>
                <a:latin typeface="Arial MT"/>
                <a:cs typeface="Arial MT"/>
              </a:rPr>
              <a:t>Science</a:t>
            </a:r>
            <a:r>
              <a:rPr dirty="0" sz="1250" spc="-7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80">
                <a:solidFill>
                  <a:srgbClr val="666666"/>
                </a:solidFill>
                <a:latin typeface="Arial MT"/>
                <a:cs typeface="Arial MT"/>
              </a:rPr>
              <a:t>and</a:t>
            </a:r>
            <a:r>
              <a:rPr dirty="0" sz="1250" spc="-7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95">
                <a:solidFill>
                  <a:srgbClr val="666666"/>
                </a:solidFill>
                <a:latin typeface="Arial MT"/>
                <a:cs typeface="Arial MT"/>
              </a:rPr>
              <a:t>Technology,</a:t>
            </a:r>
            <a:r>
              <a:rPr dirty="0" sz="1250" spc="-7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70">
                <a:solidFill>
                  <a:srgbClr val="666666"/>
                </a:solidFill>
                <a:latin typeface="Arial MT"/>
                <a:cs typeface="Arial MT"/>
              </a:rPr>
              <a:t>Harbin </a:t>
            </a:r>
            <a:r>
              <a:rPr dirty="0" sz="1250" spc="-40">
                <a:solidFill>
                  <a:srgbClr val="666666"/>
                </a:solidFill>
                <a:latin typeface="Arial MT"/>
                <a:cs typeface="Arial MT"/>
              </a:rPr>
              <a:t>Institute</a:t>
            </a:r>
            <a:r>
              <a:rPr dirty="0" sz="1250" spc="-7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50">
                <a:solidFill>
                  <a:srgbClr val="666666"/>
                </a:solidFill>
                <a:latin typeface="Arial MT"/>
                <a:cs typeface="Arial MT"/>
              </a:rPr>
              <a:t>of</a:t>
            </a:r>
            <a:r>
              <a:rPr dirty="0" sz="1250" spc="-7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95">
                <a:solidFill>
                  <a:srgbClr val="666666"/>
                </a:solidFill>
                <a:latin typeface="Arial MT"/>
                <a:cs typeface="Arial MT"/>
              </a:rPr>
              <a:t>Technology,</a:t>
            </a:r>
            <a:r>
              <a:rPr dirty="0" sz="1250" spc="-7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666666"/>
                </a:solidFill>
                <a:latin typeface="Arial MT"/>
                <a:cs typeface="Arial MT"/>
              </a:rPr>
              <a:t>China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924299" y="4476749"/>
            <a:ext cx="1905000" cy="19050"/>
          </a:xfrm>
          <a:custGeom>
            <a:avLst/>
            <a:gdLst/>
            <a:ahLst/>
            <a:cxnLst/>
            <a:rect l="l" t="t" r="r" b="b"/>
            <a:pathLst>
              <a:path w="1905000" h="19050">
                <a:moveTo>
                  <a:pt x="1904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904999" y="0"/>
                </a:lnTo>
                <a:lnTo>
                  <a:pt x="1904999" y="19049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876549" y="5067299"/>
            <a:ext cx="4000500" cy="19050"/>
          </a:xfrm>
          <a:custGeom>
            <a:avLst/>
            <a:gdLst/>
            <a:ahLst/>
            <a:cxnLst/>
            <a:rect l="l" t="t" r="r" b="b"/>
            <a:pathLst>
              <a:path w="4000500" h="19050">
                <a:moveTo>
                  <a:pt x="4000499" y="19049"/>
                </a:moveTo>
                <a:lnTo>
                  <a:pt x="0" y="19049"/>
                </a:lnTo>
                <a:lnTo>
                  <a:pt x="0" y="0"/>
                </a:lnTo>
                <a:lnTo>
                  <a:pt x="4000499" y="0"/>
                </a:lnTo>
                <a:lnTo>
                  <a:pt x="4000499" y="19049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2864891" y="5174767"/>
            <a:ext cx="4023995" cy="1174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00760" marR="993775" indent="553085">
              <a:lnSpc>
                <a:spcPct val="148100"/>
              </a:lnSpc>
              <a:spcBef>
                <a:spcPts val="100"/>
              </a:spcBef>
            </a:pPr>
            <a:r>
              <a:rPr dirty="0" sz="1350" spc="-170" b="1">
                <a:solidFill>
                  <a:srgbClr val="444444"/>
                </a:solidFill>
                <a:latin typeface="Malgun Gothic"/>
                <a:cs typeface="Malgun Gothic"/>
              </a:rPr>
              <a:t>論</a:t>
            </a:r>
            <a:r>
              <a:rPr dirty="0" sz="1350" spc="-170" b="1">
                <a:solidFill>
                  <a:srgbClr val="444444"/>
                </a:solidFill>
                <a:latin typeface="Microsoft JhengHei"/>
                <a:cs typeface="Microsoft JhengHei"/>
              </a:rPr>
              <a:t>文</a:t>
            </a:r>
            <a:r>
              <a:rPr dirty="0" sz="1350" spc="-170" b="1">
                <a:solidFill>
                  <a:srgbClr val="444444"/>
                </a:solidFill>
                <a:latin typeface="Malgun Gothic"/>
                <a:cs typeface="Malgun Gothic"/>
              </a:rPr>
              <a:t>紹介</a:t>
            </a:r>
            <a:r>
              <a:rPr dirty="0" sz="1350" spc="-110" b="1">
                <a:solidFill>
                  <a:srgbClr val="444444"/>
                </a:solidFill>
                <a:latin typeface="Microsoft JhengHei"/>
                <a:cs typeface="Microsoft JhengHei"/>
              </a:rPr>
              <a:t>発表</a:t>
            </a:r>
            <a:r>
              <a:rPr dirty="0" sz="1350" spc="-50" b="1">
                <a:solidFill>
                  <a:srgbClr val="444444"/>
                </a:solidFill>
                <a:latin typeface="Microsoft JhengHei"/>
                <a:cs typeface="Microsoft JhengHei"/>
              </a:rPr>
              <a:t> </a:t>
            </a:r>
            <a:r>
              <a:rPr dirty="0" sz="1300" spc="-135">
                <a:solidFill>
                  <a:srgbClr val="444444"/>
                </a:solidFill>
                <a:latin typeface="Arial MT"/>
                <a:cs typeface="Arial MT"/>
              </a:rPr>
              <a:t>INTERSPEECH</a:t>
            </a:r>
            <a:r>
              <a:rPr dirty="0" sz="13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300" spc="-65">
                <a:solidFill>
                  <a:srgbClr val="444444"/>
                </a:solidFill>
                <a:latin typeface="Arial MT"/>
                <a:cs typeface="Arial MT"/>
              </a:rPr>
              <a:t>2023</a:t>
            </a:r>
            <a:r>
              <a:rPr dirty="0" sz="13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350" spc="-150">
                <a:solidFill>
                  <a:srgbClr val="444444"/>
                </a:solidFill>
                <a:latin typeface="SimSun"/>
                <a:cs typeface="SimSun"/>
              </a:rPr>
              <a:t>採択論文</a:t>
            </a:r>
            <a:endParaRPr sz="1350">
              <a:latin typeface="SimSun"/>
              <a:cs typeface="SimSun"/>
            </a:endParaRPr>
          </a:p>
          <a:p>
            <a:pPr marL="184150" marR="5080" indent="-172085">
              <a:lnSpc>
                <a:spcPct val="114100"/>
              </a:lnSpc>
              <a:spcBef>
                <a:spcPts val="1085"/>
              </a:spcBef>
            </a:pPr>
            <a:r>
              <a:rPr dirty="0" sz="1150" spc="-110">
                <a:solidFill>
                  <a:srgbClr val="444444"/>
                </a:solidFill>
                <a:latin typeface="SimSun"/>
                <a:cs typeface="SimSun"/>
              </a:rPr>
              <a:t>発表者の関連研究：</a:t>
            </a:r>
            <a:r>
              <a:rPr dirty="0" sz="1150" spc="-85">
                <a:solidFill>
                  <a:srgbClr val="444444"/>
                </a:solidFill>
                <a:latin typeface="Yu Gothic Light"/>
                <a:cs typeface="Yu Gothic Light"/>
              </a:rPr>
              <a:t>CNN</a:t>
            </a:r>
            <a:r>
              <a:rPr dirty="0" sz="1150" spc="-135">
                <a:solidFill>
                  <a:srgbClr val="444444"/>
                </a:solidFill>
                <a:latin typeface="SimSun"/>
                <a:cs typeface="SimSun"/>
              </a:rPr>
              <a:t>アンサンブル学習による音響識別を用いた</a:t>
            </a:r>
            <a:r>
              <a:rPr dirty="0" sz="1150" spc="-125">
                <a:solidFill>
                  <a:srgbClr val="444444"/>
                </a:solidFill>
                <a:latin typeface="SimSun"/>
                <a:cs typeface="SimSun"/>
              </a:rPr>
              <a:t>プール沸騰発生検知における </a:t>
            </a:r>
            <a:r>
              <a:rPr dirty="0" sz="1150" spc="-70">
                <a:solidFill>
                  <a:srgbClr val="444444"/>
                </a:solidFill>
                <a:latin typeface="Yu Gothic Light"/>
                <a:cs typeface="Yu Gothic Light"/>
              </a:rPr>
              <a:t>SNR</a:t>
            </a:r>
            <a:r>
              <a:rPr dirty="0" sz="1150" spc="-10">
                <a:solidFill>
                  <a:srgbClr val="444444"/>
                </a:solidFill>
                <a:latin typeface="Yu Gothic Light"/>
                <a:cs typeface="Yu Gothic Light"/>
              </a:rPr>
              <a:t> </a:t>
            </a:r>
            <a:r>
              <a:rPr dirty="0" sz="1150" spc="-105">
                <a:solidFill>
                  <a:srgbClr val="444444"/>
                </a:solidFill>
                <a:latin typeface="SimSun"/>
                <a:cs typeface="SimSun"/>
              </a:rPr>
              <a:t>低下問題の改善アプローチ</a:t>
            </a:r>
            <a:endParaRPr sz="1150">
              <a:latin typeface="SimSun"/>
              <a:cs typeface="SimSun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05850" y="190499"/>
            <a:ext cx="152400" cy="15239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8693150" y="165694"/>
            <a:ext cx="6858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2400">
              <a:lnSpc>
                <a:spcPct val="107100"/>
              </a:lnSpc>
              <a:spcBef>
                <a:spcPts val="100"/>
              </a:spcBef>
            </a:pPr>
            <a:r>
              <a:rPr dirty="0" sz="1400" spc="-10">
                <a:latin typeface="Tahoma"/>
                <a:cs typeface="Tahoma"/>
              </a:rPr>
              <a:t>Self- </a:t>
            </a:r>
            <a:r>
              <a:rPr dirty="0" sz="1400" spc="-55">
                <a:latin typeface="Tahoma"/>
                <a:cs typeface="Tahoma"/>
              </a:rPr>
              <a:t>Attention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8267700" y="6800850"/>
            <a:ext cx="1295400" cy="323850"/>
            <a:chOff x="8267700" y="6800850"/>
            <a:chExt cx="1295400" cy="323850"/>
          </a:xfrm>
        </p:grpSpPr>
        <p:sp>
          <p:nvSpPr>
            <p:cNvPr id="10" name="object 10" descr=""/>
            <p:cNvSpPr/>
            <p:nvPr/>
          </p:nvSpPr>
          <p:spPr>
            <a:xfrm>
              <a:off x="8267700" y="6800850"/>
              <a:ext cx="1295400" cy="323850"/>
            </a:xfrm>
            <a:custGeom>
              <a:avLst/>
              <a:gdLst/>
              <a:ahLst/>
              <a:cxnLst/>
              <a:rect l="l" t="t" r="r" b="b"/>
              <a:pathLst>
                <a:path w="1295400" h="323850">
                  <a:moveTo>
                    <a:pt x="126235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262352" y="0"/>
                  </a:lnTo>
                  <a:lnTo>
                    <a:pt x="1294433" y="28187"/>
                  </a:lnTo>
                  <a:lnTo>
                    <a:pt x="1295399" y="33047"/>
                  </a:lnTo>
                  <a:lnTo>
                    <a:pt x="1295399" y="290802"/>
                  </a:lnTo>
                  <a:lnTo>
                    <a:pt x="1267212" y="322883"/>
                  </a:lnTo>
                  <a:lnTo>
                    <a:pt x="126235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2000" y="6896099"/>
              <a:ext cx="133349" cy="133349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-80"/>
              <a:t>Genspark</a:t>
            </a:r>
            <a:r>
              <a:rPr dirty="0" spc="-55"/>
              <a:t> </a:t>
            </a:r>
            <a:r>
              <a:rPr dirty="0" sz="1000" spc="-85">
                <a:latin typeface="SimSun"/>
                <a:cs typeface="SimSun"/>
              </a:rPr>
              <a:t>で作成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194601" y="6973315"/>
            <a:ext cx="286385" cy="1466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90"/>
              </a:lnSpc>
            </a:pPr>
            <a:fld id="{81D60167-4931-47E6-BA6A-407CBD079E47}" type="slidenum">
              <a:rPr dirty="0" sz="1000" spc="-40">
                <a:solidFill>
                  <a:srgbClr val="666666"/>
                </a:solidFill>
                <a:latin typeface="Tahoma"/>
                <a:cs typeface="Tahoma"/>
              </a:rPr>
              <a:t>1</a:t>
            </a:fld>
            <a:r>
              <a:rPr dirty="0" sz="1000" spc="-40">
                <a:solidFill>
                  <a:srgbClr val="666666"/>
                </a:solidFill>
                <a:latin typeface="Tahoma"/>
                <a:cs typeface="Tahoma"/>
              </a:rPr>
              <a:t>/</a:t>
            </a:r>
            <a:r>
              <a:rPr dirty="0" sz="1000" spc="-40">
                <a:solidFill>
                  <a:srgbClr val="666666"/>
                </a:solidFill>
                <a:latin typeface="Tahoma"/>
                <a:cs typeface="Tahoma"/>
              </a:rPr>
              <a:t>13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1499" y="1019174"/>
            <a:ext cx="8610600" cy="28575"/>
          </a:xfrm>
          <a:custGeom>
            <a:avLst/>
            <a:gdLst/>
            <a:ahLst/>
            <a:cxnLst/>
            <a:rect l="l" t="t" r="r" b="b"/>
            <a:pathLst>
              <a:path w="8610600" h="28575">
                <a:moveTo>
                  <a:pt x="8610599" y="28574"/>
                </a:moveTo>
                <a:lnTo>
                  <a:pt x="0" y="28574"/>
                </a:lnTo>
                <a:lnTo>
                  <a:pt x="0" y="0"/>
                </a:lnTo>
                <a:lnTo>
                  <a:pt x="8610599" y="0"/>
                </a:lnTo>
                <a:lnTo>
                  <a:pt x="8610599" y="28574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571499" y="1428749"/>
            <a:ext cx="8610600" cy="914400"/>
            <a:chOff x="571499" y="1428749"/>
            <a:chExt cx="8610600" cy="914400"/>
          </a:xfrm>
        </p:grpSpPr>
        <p:sp>
          <p:nvSpPr>
            <p:cNvPr id="4" name="object 4" descr=""/>
            <p:cNvSpPr/>
            <p:nvPr/>
          </p:nvSpPr>
          <p:spPr>
            <a:xfrm>
              <a:off x="581024" y="1438274"/>
              <a:ext cx="8591550" cy="895350"/>
            </a:xfrm>
            <a:custGeom>
              <a:avLst/>
              <a:gdLst/>
              <a:ahLst/>
              <a:cxnLst/>
              <a:rect l="l" t="t" r="r" b="b"/>
              <a:pathLst>
                <a:path w="8591550" h="895350">
                  <a:moveTo>
                    <a:pt x="8529251" y="895349"/>
                  </a:moveTo>
                  <a:lnTo>
                    <a:pt x="62297" y="895349"/>
                  </a:lnTo>
                  <a:lnTo>
                    <a:pt x="57961" y="894922"/>
                  </a:lnTo>
                  <a:lnTo>
                    <a:pt x="22624" y="878916"/>
                  </a:lnTo>
                  <a:lnTo>
                    <a:pt x="2135" y="845976"/>
                  </a:lnTo>
                  <a:lnTo>
                    <a:pt x="0" y="833052"/>
                  </a:lnTo>
                  <a:lnTo>
                    <a:pt x="0" y="828674"/>
                  </a:lnTo>
                  <a:lnTo>
                    <a:pt x="0" y="62297"/>
                  </a:lnTo>
                  <a:lnTo>
                    <a:pt x="13669" y="25992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8529251" y="0"/>
                  </a:lnTo>
                  <a:lnTo>
                    <a:pt x="8565556" y="13668"/>
                  </a:lnTo>
                  <a:lnTo>
                    <a:pt x="8588149" y="45204"/>
                  </a:lnTo>
                  <a:lnTo>
                    <a:pt x="8591549" y="62297"/>
                  </a:lnTo>
                  <a:lnTo>
                    <a:pt x="8591549" y="833052"/>
                  </a:lnTo>
                  <a:lnTo>
                    <a:pt x="8577879" y="869357"/>
                  </a:lnTo>
                  <a:lnTo>
                    <a:pt x="8546344" y="891949"/>
                  </a:lnTo>
                  <a:lnTo>
                    <a:pt x="8533587" y="894922"/>
                  </a:lnTo>
                  <a:lnTo>
                    <a:pt x="8529251" y="895349"/>
                  </a:lnTo>
                  <a:close/>
                </a:path>
              </a:pathLst>
            </a:custGeom>
            <a:solidFill>
              <a:srgbClr val="E7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1024" y="1438274"/>
              <a:ext cx="8591550" cy="895350"/>
            </a:xfrm>
            <a:custGeom>
              <a:avLst/>
              <a:gdLst/>
              <a:ahLst/>
              <a:cxnLst/>
              <a:rect l="l" t="t" r="r" b="b"/>
              <a:pathLst>
                <a:path w="8591550" h="895350">
                  <a:moveTo>
                    <a:pt x="0" y="8286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1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4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6" y="29632"/>
                  </a:lnTo>
                  <a:lnTo>
                    <a:pt x="13669" y="25992"/>
                  </a:lnTo>
                  <a:lnTo>
                    <a:pt x="16432" y="22624"/>
                  </a:lnTo>
                  <a:lnTo>
                    <a:pt x="19528" y="19528"/>
                  </a:lnTo>
                  <a:lnTo>
                    <a:pt x="22624" y="16433"/>
                  </a:lnTo>
                  <a:lnTo>
                    <a:pt x="25992" y="13668"/>
                  </a:lnTo>
                  <a:lnTo>
                    <a:pt x="29632" y="11236"/>
                  </a:lnTo>
                  <a:lnTo>
                    <a:pt x="33272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4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8524874" y="0"/>
                  </a:lnTo>
                  <a:lnTo>
                    <a:pt x="8529251" y="0"/>
                  </a:lnTo>
                  <a:lnTo>
                    <a:pt x="8533587" y="427"/>
                  </a:lnTo>
                  <a:lnTo>
                    <a:pt x="8537881" y="1281"/>
                  </a:lnTo>
                  <a:lnTo>
                    <a:pt x="8542175" y="2135"/>
                  </a:lnTo>
                  <a:lnTo>
                    <a:pt x="8546344" y="3399"/>
                  </a:lnTo>
                  <a:lnTo>
                    <a:pt x="8550389" y="5075"/>
                  </a:lnTo>
                  <a:lnTo>
                    <a:pt x="8554434" y="6750"/>
                  </a:lnTo>
                  <a:lnTo>
                    <a:pt x="8558277" y="8804"/>
                  </a:lnTo>
                  <a:lnTo>
                    <a:pt x="8561916" y="11236"/>
                  </a:lnTo>
                  <a:lnTo>
                    <a:pt x="8565556" y="13668"/>
                  </a:lnTo>
                  <a:lnTo>
                    <a:pt x="8580311" y="29632"/>
                  </a:lnTo>
                  <a:lnTo>
                    <a:pt x="8582744" y="33272"/>
                  </a:lnTo>
                  <a:lnTo>
                    <a:pt x="8584798" y="37114"/>
                  </a:lnTo>
                  <a:lnTo>
                    <a:pt x="8586473" y="41159"/>
                  </a:lnTo>
                  <a:lnTo>
                    <a:pt x="8588149" y="45204"/>
                  </a:lnTo>
                  <a:lnTo>
                    <a:pt x="8589413" y="49373"/>
                  </a:lnTo>
                  <a:lnTo>
                    <a:pt x="8590267" y="53667"/>
                  </a:lnTo>
                  <a:lnTo>
                    <a:pt x="8591122" y="57961"/>
                  </a:lnTo>
                  <a:lnTo>
                    <a:pt x="8591549" y="62297"/>
                  </a:lnTo>
                  <a:lnTo>
                    <a:pt x="8591549" y="66674"/>
                  </a:lnTo>
                  <a:lnTo>
                    <a:pt x="8591549" y="828674"/>
                  </a:lnTo>
                  <a:lnTo>
                    <a:pt x="8591549" y="833052"/>
                  </a:lnTo>
                  <a:lnTo>
                    <a:pt x="8591122" y="837388"/>
                  </a:lnTo>
                  <a:lnTo>
                    <a:pt x="8590267" y="841682"/>
                  </a:lnTo>
                  <a:lnTo>
                    <a:pt x="8589413" y="845976"/>
                  </a:lnTo>
                  <a:lnTo>
                    <a:pt x="8588149" y="850145"/>
                  </a:lnTo>
                  <a:lnTo>
                    <a:pt x="8586473" y="854189"/>
                  </a:lnTo>
                  <a:lnTo>
                    <a:pt x="8584798" y="858234"/>
                  </a:lnTo>
                  <a:lnTo>
                    <a:pt x="8561916" y="884112"/>
                  </a:lnTo>
                  <a:lnTo>
                    <a:pt x="8558277" y="886545"/>
                  </a:lnTo>
                  <a:lnTo>
                    <a:pt x="8554434" y="888598"/>
                  </a:lnTo>
                  <a:lnTo>
                    <a:pt x="8550389" y="890274"/>
                  </a:lnTo>
                  <a:lnTo>
                    <a:pt x="8546344" y="891949"/>
                  </a:lnTo>
                  <a:lnTo>
                    <a:pt x="8524874" y="895349"/>
                  </a:lnTo>
                  <a:lnTo>
                    <a:pt x="66675" y="895349"/>
                  </a:lnTo>
                  <a:lnTo>
                    <a:pt x="62297" y="895349"/>
                  </a:lnTo>
                  <a:lnTo>
                    <a:pt x="57961" y="894922"/>
                  </a:lnTo>
                  <a:lnTo>
                    <a:pt x="53667" y="894068"/>
                  </a:lnTo>
                  <a:lnTo>
                    <a:pt x="49373" y="893214"/>
                  </a:lnTo>
                  <a:lnTo>
                    <a:pt x="45204" y="891949"/>
                  </a:lnTo>
                  <a:lnTo>
                    <a:pt x="41159" y="890274"/>
                  </a:lnTo>
                  <a:lnTo>
                    <a:pt x="37114" y="888598"/>
                  </a:lnTo>
                  <a:lnTo>
                    <a:pt x="33272" y="886545"/>
                  </a:lnTo>
                  <a:lnTo>
                    <a:pt x="29632" y="884112"/>
                  </a:lnTo>
                  <a:lnTo>
                    <a:pt x="25992" y="881680"/>
                  </a:lnTo>
                  <a:lnTo>
                    <a:pt x="22624" y="878916"/>
                  </a:lnTo>
                  <a:lnTo>
                    <a:pt x="19528" y="875821"/>
                  </a:lnTo>
                  <a:lnTo>
                    <a:pt x="16432" y="872725"/>
                  </a:lnTo>
                  <a:lnTo>
                    <a:pt x="13669" y="869357"/>
                  </a:lnTo>
                  <a:lnTo>
                    <a:pt x="11236" y="865717"/>
                  </a:lnTo>
                  <a:lnTo>
                    <a:pt x="8804" y="862077"/>
                  </a:lnTo>
                  <a:lnTo>
                    <a:pt x="1281" y="841682"/>
                  </a:lnTo>
                  <a:lnTo>
                    <a:pt x="427" y="837388"/>
                  </a:lnTo>
                  <a:lnTo>
                    <a:pt x="0" y="833052"/>
                  </a:lnTo>
                  <a:lnTo>
                    <a:pt x="0" y="828674"/>
                  </a:lnTo>
                  <a:close/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3989784" y="586978"/>
            <a:ext cx="258445" cy="217170"/>
          </a:xfrm>
          <a:custGeom>
            <a:avLst/>
            <a:gdLst/>
            <a:ahLst/>
            <a:cxnLst/>
            <a:rect l="l" t="t" r="r" b="b"/>
            <a:pathLst>
              <a:path w="258445" h="217170">
                <a:moveTo>
                  <a:pt x="28318" y="50006"/>
                </a:moveTo>
                <a:lnTo>
                  <a:pt x="21687" y="50006"/>
                </a:lnTo>
                <a:lnTo>
                  <a:pt x="18498" y="49371"/>
                </a:lnTo>
                <a:lnTo>
                  <a:pt x="0" y="28318"/>
                </a:lnTo>
                <a:lnTo>
                  <a:pt x="0" y="21687"/>
                </a:lnTo>
                <a:lnTo>
                  <a:pt x="21687" y="0"/>
                </a:lnTo>
                <a:lnTo>
                  <a:pt x="28318" y="0"/>
                </a:lnTo>
                <a:lnTo>
                  <a:pt x="50006" y="21687"/>
                </a:lnTo>
                <a:lnTo>
                  <a:pt x="50006" y="28318"/>
                </a:lnTo>
                <a:lnTo>
                  <a:pt x="28318" y="50006"/>
                </a:lnTo>
                <a:close/>
              </a:path>
              <a:path w="258445" h="217170">
                <a:moveTo>
                  <a:pt x="250916" y="41671"/>
                </a:moveTo>
                <a:lnTo>
                  <a:pt x="82458" y="41671"/>
                </a:lnTo>
                <a:lnTo>
                  <a:pt x="75009" y="34223"/>
                </a:lnTo>
                <a:lnTo>
                  <a:pt x="75009" y="15783"/>
                </a:lnTo>
                <a:lnTo>
                  <a:pt x="82458" y="8334"/>
                </a:lnTo>
                <a:lnTo>
                  <a:pt x="250916" y="8334"/>
                </a:lnTo>
                <a:lnTo>
                  <a:pt x="258365" y="15783"/>
                </a:lnTo>
                <a:lnTo>
                  <a:pt x="258365" y="34223"/>
                </a:lnTo>
                <a:lnTo>
                  <a:pt x="250916" y="41671"/>
                </a:lnTo>
                <a:close/>
              </a:path>
              <a:path w="258445" h="217170">
                <a:moveTo>
                  <a:pt x="250916" y="125015"/>
                </a:moveTo>
                <a:lnTo>
                  <a:pt x="82458" y="125015"/>
                </a:lnTo>
                <a:lnTo>
                  <a:pt x="75009" y="117566"/>
                </a:lnTo>
                <a:lnTo>
                  <a:pt x="75009" y="99126"/>
                </a:lnTo>
                <a:lnTo>
                  <a:pt x="82458" y="91678"/>
                </a:lnTo>
                <a:lnTo>
                  <a:pt x="250916" y="91678"/>
                </a:lnTo>
                <a:lnTo>
                  <a:pt x="258365" y="99126"/>
                </a:lnTo>
                <a:lnTo>
                  <a:pt x="258365" y="117566"/>
                </a:lnTo>
                <a:lnTo>
                  <a:pt x="250916" y="125015"/>
                </a:lnTo>
                <a:close/>
              </a:path>
              <a:path w="258445" h="217170">
                <a:moveTo>
                  <a:pt x="250916" y="208359"/>
                </a:moveTo>
                <a:lnTo>
                  <a:pt x="82458" y="208359"/>
                </a:lnTo>
                <a:lnTo>
                  <a:pt x="75009" y="200910"/>
                </a:lnTo>
                <a:lnTo>
                  <a:pt x="75009" y="182470"/>
                </a:lnTo>
                <a:lnTo>
                  <a:pt x="82458" y="175021"/>
                </a:lnTo>
                <a:lnTo>
                  <a:pt x="250916" y="175021"/>
                </a:lnTo>
                <a:lnTo>
                  <a:pt x="258365" y="182470"/>
                </a:lnTo>
                <a:lnTo>
                  <a:pt x="258365" y="200910"/>
                </a:lnTo>
                <a:lnTo>
                  <a:pt x="250916" y="208359"/>
                </a:lnTo>
                <a:close/>
              </a:path>
              <a:path w="258445" h="217170">
                <a:moveTo>
                  <a:pt x="28318" y="216693"/>
                </a:moveTo>
                <a:lnTo>
                  <a:pt x="21687" y="216693"/>
                </a:lnTo>
                <a:lnTo>
                  <a:pt x="18498" y="216059"/>
                </a:lnTo>
                <a:lnTo>
                  <a:pt x="0" y="195006"/>
                </a:lnTo>
                <a:lnTo>
                  <a:pt x="0" y="188375"/>
                </a:lnTo>
                <a:lnTo>
                  <a:pt x="21687" y="166687"/>
                </a:lnTo>
                <a:lnTo>
                  <a:pt x="28318" y="166687"/>
                </a:lnTo>
                <a:lnTo>
                  <a:pt x="50006" y="188375"/>
                </a:lnTo>
                <a:lnTo>
                  <a:pt x="50006" y="195006"/>
                </a:lnTo>
                <a:lnTo>
                  <a:pt x="28318" y="216693"/>
                </a:lnTo>
                <a:close/>
              </a:path>
              <a:path w="258445" h="217170">
                <a:moveTo>
                  <a:pt x="28318" y="133349"/>
                </a:moveTo>
                <a:lnTo>
                  <a:pt x="21687" y="133349"/>
                </a:lnTo>
                <a:lnTo>
                  <a:pt x="18498" y="132715"/>
                </a:lnTo>
                <a:lnTo>
                  <a:pt x="0" y="111662"/>
                </a:lnTo>
                <a:lnTo>
                  <a:pt x="0" y="105031"/>
                </a:lnTo>
                <a:lnTo>
                  <a:pt x="21687" y="83343"/>
                </a:lnTo>
                <a:lnTo>
                  <a:pt x="28318" y="83343"/>
                </a:lnTo>
                <a:lnTo>
                  <a:pt x="50006" y="105031"/>
                </a:lnTo>
                <a:lnTo>
                  <a:pt x="50006" y="111662"/>
                </a:lnTo>
                <a:lnTo>
                  <a:pt x="28318" y="133349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437675" y="476504"/>
            <a:ext cx="1348740" cy="38735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50" spc="-290"/>
              <a:t>アジェンダ</a:t>
            </a:r>
            <a:endParaRPr sz="2350"/>
          </a:p>
        </p:txBody>
      </p:sp>
      <p:sp>
        <p:nvSpPr>
          <p:cNvPr id="8" name="object 8" descr=""/>
          <p:cNvSpPr txBox="1"/>
          <p:nvPr/>
        </p:nvSpPr>
        <p:spPr>
          <a:xfrm>
            <a:off x="2289224" y="1557209"/>
            <a:ext cx="5175250" cy="57404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dirty="0" sz="1350" spc="-170" b="1">
                <a:solidFill>
                  <a:srgbClr val="3A6EA5"/>
                </a:solidFill>
                <a:latin typeface="Malgun Gothic"/>
                <a:cs typeface="Malgun Gothic"/>
              </a:rPr>
              <a:t>本</a:t>
            </a:r>
            <a:r>
              <a:rPr dirty="0" sz="1350" spc="-170" b="1">
                <a:solidFill>
                  <a:srgbClr val="3A6EA5"/>
                </a:solidFill>
                <a:latin typeface="Microsoft JhengHei"/>
                <a:cs typeface="Microsoft JhengHei"/>
              </a:rPr>
              <a:t>発表</a:t>
            </a:r>
            <a:r>
              <a:rPr dirty="0" sz="1350" spc="-130" b="1">
                <a:solidFill>
                  <a:srgbClr val="3A6EA5"/>
                </a:solidFill>
                <a:latin typeface="Malgun Gothic"/>
                <a:cs typeface="Malgun Gothic"/>
              </a:rPr>
              <a:t>の目的</a:t>
            </a:r>
            <a:endParaRPr sz="135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dirty="0" sz="1250" spc="-105">
                <a:solidFill>
                  <a:srgbClr val="444444"/>
                </a:solidFill>
                <a:latin typeface="Microsoft Sans Serif"/>
                <a:cs typeface="Microsoft Sans Serif"/>
              </a:rPr>
              <a:t>Zhang</a:t>
            </a:r>
            <a:r>
              <a:rPr dirty="0" sz="1250" spc="-4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50">
                <a:solidFill>
                  <a:srgbClr val="444444"/>
                </a:solidFill>
                <a:latin typeface="Microsoft Sans Serif"/>
                <a:cs typeface="Microsoft Sans Serif"/>
              </a:rPr>
              <a:t>et</a:t>
            </a:r>
            <a:r>
              <a:rPr dirty="0" sz="1250" spc="-3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-60">
                <a:solidFill>
                  <a:srgbClr val="444444"/>
                </a:solidFill>
                <a:latin typeface="Microsoft Sans Serif"/>
                <a:cs typeface="Microsoft Sans Serif"/>
              </a:rPr>
              <a:t>al</a:t>
            </a:r>
            <a:r>
              <a:rPr dirty="0" sz="1250" spc="-50">
                <a:solidFill>
                  <a:srgbClr val="444444"/>
                </a:solidFill>
                <a:latin typeface="Microsoft Sans Serif"/>
                <a:cs typeface="Microsoft Sans Serif"/>
              </a:rPr>
              <a:t>. </a:t>
            </a:r>
            <a:r>
              <a:rPr dirty="0" sz="1150" spc="-130">
                <a:solidFill>
                  <a:srgbClr val="444444"/>
                </a:solidFill>
                <a:latin typeface="SimSun"/>
                <a:cs typeface="SimSun"/>
              </a:rPr>
              <a:t>論文の包括的紹介 </a:t>
            </a:r>
            <a:r>
              <a:rPr dirty="0" sz="1250" spc="-100">
                <a:solidFill>
                  <a:srgbClr val="444444"/>
                </a:solidFill>
                <a:latin typeface="Microsoft Sans Serif"/>
                <a:cs typeface="Microsoft Sans Serif"/>
              </a:rPr>
              <a:t>+ </a:t>
            </a:r>
            <a:r>
              <a:rPr dirty="0" sz="1250" spc="-210">
                <a:solidFill>
                  <a:srgbClr val="444444"/>
                </a:solidFill>
                <a:latin typeface="Microsoft Sans Serif"/>
                <a:cs typeface="Microsoft Sans Serif"/>
              </a:rPr>
              <a:t>SNR</a:t>
            </a:r>
            <a:r>
              <a:rPr dirty="0" sz="1150" spc="-114">
                <a:solidFill>
                  <a:srgbClr val="444444"/>
                </a:solidFill>
                <a:latin typeface="SimSun"/>
                <a:cs typeface="SimSun"/>
              </a:rPr>
              <a:t>低下環境での音響識別問題への応用可能性の検討</a:t>
            </a:r>
            <a:endParaRPr sz="1150">
              <a:latin typeface="SimSun"/>
              <a:cs typeface="SimSun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71499" y="2628899"/>
            <a:ext cx="4114800" cy="1743075"/>
            <a:chOff x="571499" y="2628899"/>
            <a:chExt cx="4114800" cy="1743075"/>
          </a:xfrm>
        </p:grpSpPr>
        <p:sp>
          <p:nvSpPr>
            <p:cNvPr id="10" name="object 10" descr=""/>
            <p:cNvSpPr/>
            <p:nvPr/>
          </p:nvSpPr>
          <p:spPr>
            <a:xfrm>
              <a:off x="590549" y="2628899"/>
              <a:ext cx="4095750" cy="1743075"/>
            </a:xfrm>
            <a:custGeom>
              <a:avLst/>
              <a:gdLst/>
              <a:ahLst/>
              <a:cxnLst/>
              <a:rect l="l" t="t" r="r" b="b"/>
              <a:pathLst>
                <a:path w="4095750" h="1743075">
                  <a:moveTo>
                    <a:pt x="4024552" y="1743074"/>
                  </a:moveTo>
                  <a:lnTo>
                    <a:pt x="53397" y="1743074"/>
                  </a:lnTo>
                  <a:lnTo>
                    <a:pt x="49681" y="1742586"/>
                  </a:lnTo>
                  <a:lnTo>
                    <a:pt x="14085" y="1717218"/>
                  </a:lnTo>
                  <a:lnTo>
                    <a:pt x="366" y="1676833"/>
                  </a:lnTo>
                  <a:lnTo>
                    <a:pt x="0" y="1671878"/>
                  </a:lnTo>
                  <a:lnTo>
                    <a:pt x="0" y="1666874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4024552" y="0"/>
                  </a:lnTo>
                  <a:lnTo>
                    <a:pt x="4066043" y="15621"/>
                  </a:lnTo>
                  <a:lnTo>
                    <a:pt x="4091863" y="51661"/>
                  </a:lnTo>
                  <a:lnTo>
                    <a:pt x="4095749" y="71196"/>
                  </a:lnTo>
                  <a:lnTo>
                    <a:pt x="4095749" y="1671878"/>
                  </a:lnTo>
                  <a:lnTo>
                    <a:pt x="4080127" y="1713368"/>
                  </a:lnTo>
                  <a:lnTo>
                    <a:pt x="4044086" y="1739188"/>
                  </a:lnTo>
                  <a:lnTo>
                    <a:pt x="4029508" y="1742586"/>
                  </a:lnTo>
                  <a:lnTo>
                    <a:pt x="4024552" y="1743074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71499" y="2629177"/>
              <a:ext cx="70485" cy="1743075"/>
            </a:xfrm>
            <a:custGeom>
              <a:avLst/>
              <a:gdLst/>
              <a:ahLst/>
              <a:cxnLst/>
              <a:rect l="l" t="t" r="r" b="b"/>
              <a:pathLst>
                <a:path w="70484" h="1743075">
                  <a:moveTo>
                    <a:pt x="70450" y="1742519"/>
                  </a:moveTo>
                  <a:lnTo>
                    <a:pt x="33857" y="1729966"/>
                  </a:lnTo>
                  <a:lnTo>
                    <a:pt x="5800" y="1695757"/>
                  </a:lnTo>
                  <a:lnTo>
                    <a:pt x="0" y="1666597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666597"/>
                  </a:lnTo>
                  <a:lnTo>
                    <a:pt x="44515" y="1708939"/>
                  </a:lnTo>
                  <a:lnTo>
                    <a:pt x="66287" y="1740863"/>
                  </a:lnTo>
                  <a:lnTo>
                    <a:pt x="70450" y="1742519"/>
                  </a:lnTo>
                  <a:close/>
                </a:path>
              </a:pathLst>
            </a:custGeom>
            <a:solidFill>
              <a:srgbClr val="3A6EA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724" y="2905124"/>
              <a:ext cx="171449" cy="171449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1006475" y="2860611"/>
            <a:ext cx="88265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50" b="1">
                <a:solidFill>
                  <a:srgbClr val="3A6EA5"/>
                </a:solidFill>
                <a:latin typeface="Malgun Gothic"/>
                <a:cs typeface="Malgun Gothic"/>
              </a:rPr>
              <a:t>背景</a:t>
            </a:r>
            <a:r>
              <a:rPr dirty="0" sz="1500" spc="875" b="1">
                <a:solidFill>
                  <a:srgbClr val="3A6EA5"/>
                </a:solidFill>
                <a:latin typeface="Tahoma"/>
                <a:cs typeface="Tahoma"/>
              </a:rPr>
              <a:t>‧</a:t>
            </a:r>
            <a:r>
              <a:rPr dirty="0" sz="1500" spc="-150" b="1">
                <a:solidFill>
                  <a:srgbClr val="3A6EA5"/>
                </a:solidFill>
                <a:latin typeface="Malgun Gothic"/>
                <a:cs typeface="Malgun Gothic"/>
              </a:rPr>
              <a:t>動</a:t>
            </a:r>
            <a:r>
              <a:rPr dirty="0" sz="1500" spc="-110" b="1">
                <a:solidFill>
                  <a:srgbClr val="3A6EA5"/>
                </a:solidFill>
                <a:latin typeface="Microsoft JhengHei"/>
                <a:cs typeface="Microsoft JhengHei"/>
              </a:rPr>
              <a:t>機</a:t>
            </a:r>
            <a:endParaRPr sz="1500">
              <a:latin typeface="Microsoft JhengHei"/>
              <a:cs typeface="Microsoft JhengHe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5067299" y="2628899"/>
            <a:ext cx="4114800" cy="1743075"/>
            <a:chOff x="5067299" y="2628899"/>
            <a:chExt cx="4114800" cy="1743075"/>
          </a:xfrm>
        </p:grpSpPr>
        <p:sp>
          <p:nvSpPr>
            <p:cNvPr id="15" name="object 15" descr=""/>
            <p:cNvSpPr/>
            <p:nvPr/>
          </p:nvSpPr>
          <p:spPr>
            <a:xfrm>
              <a:off x="5086348" y="2628899"/>
              <a:ext cx="4095750" cy="1743075"/>
            </a:xfrm>
            <a:custGeom>
              <a:avLst/>
              <a:gdLst/>
              <a:ahLst/>
              <a:cxnLst/>
              <a:rect l="l" t="t" r="r" b="b"/>
              <a:pathLst>
                <a:path w="4095750" h="1743075">
                  <a:moveTo>
                    <a:pt x="4024553" y="1743074"/>
                  </a:moveTo>
                  <a:lnTo>
                    <a:pt x="53397" y="1743074"/>
                  </a:lnTo>
                  <a:lnTo>
                    <a:pt x="49680" y="1742586"/>
                  </a:lnTo>
                  <a:lnTo>
                    <a:pt x="14085" y="1717218"/>
                  </a:lnTo>
                  <a:lnTo>
                    <a:pt x="365" y="1676833"/>
                  </a:lnTo>
                  <a:lnTo>
                    <a:pt x="0" y="1671878"/>
                  </a:lnTo>
                  <a:lnTo>
                    <a:pt x="0" y="1666874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19" y="2439"/>
                  </a:lnTo>
                  <a:lnTo>
                    <a:pt x="53397" y="0"/>
                  </a:lnTo>
                  <a:lnTo>
                    <a:pt x="4024553" y="0"/>
                  </a:lnTo>
                  <a:lnTo>
                    <a:pt x="4066043" y="15621"/>
                  </a:lnTo>
                  <a:lnTo>
                    <a:pt x="4091863" y="51661"/>
                  </a:lnTo>
                  <a:lnTo>
                    <a:pt x="4095750" y="71196"/>
                  </a:lnTo>
                  <a:lnTo>
                    <a:pt x="4095750" y="1671878"/>
                  </a:lnTo>
                  <a:lnTo>
                    <a:pt x="4080127" y="1713368"/>
                  </a:lnTo>
                  <a:lnTo>
                    <a:pt x="4044087" y="1739188"/>
                  </a:lnTo>
                  <a:lnTo>
                    <a:pt x="4029508" y="1742586"/>
                  </a:lnTo>
                  <a:lnTo>
                    <a:pt x="4024553" y="1743074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067299" y="2629177"/>
              <a:ext cx="70485" cy="1743075"/>
            </a:xfrm>
            <a:custGeom>
              <a:avLst/>
              <a:gdLst/>
              <a:ahLst/>
              <a:cxnLst/>
              <a:rect l="l" t="t" r="r" b="b"/>
              <a:pathLst>
                <a:path w="70485" h="1743075">
                  <a:moveTo>
                    <a:pt x="70450" y="1742519"/>
                  </a:moveTo>
                  <a:lnTo>
                    <a:pt x="33857" y="1729966"/>
                  </a:lnTo>
                  <a:lnTo>
                    <a:pt x="5800" y="1695757"/>
                  </a:lnTo>
                  <a:lnTo>
                    <a:pt x="0" y="1666597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0999" y="46761"/>
                  </a:lnTo>
                  <a:lnTo>
                    <a:pt x="38100" y="75922"/>
                  </a:lnTo>
                  <a:lnTo>
                    <a:pt x="38100" y="1666597"/>
                  </a:lnTo>
                  <a:lnTo>
                    <a:pt x="44514" y="1708939"/>
                  </a:lnTo>
                  <a:lnTo>
                    <a:pt x="66287" y="1740863"/>
                  </a:lnTo>
                  <a:lnTo>
                    <a:pt x="70450" y="1742519"/>
                  </a:lnTo>
                  <a:close/>
                </a:path>
              </a:pathLst>
            </a:custGeom>
            <a:solidFill>
              <a:srgbClr val="3A6EA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44060" y="2907803"/>
              <a:ext cx="210967" cy="168168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5545137" y="2860611"/>
            <a:ext cx="71120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50" b="1">
                <a:solidFill>
                  <a:srgbClr val="3A6EA5"/>
                </a:solidFill>
                <a:latin typeface="Microsoft JhengHei"/>
                <a:cs typeface="Microsoft JhengHei"/>
              </a:rPr>
              <a:t>提案</a:t>
            </a:r>
            <a:r>
              <a:rPr dirty="0" sz="1500" spc="-125" b="1">
                <a:solidFill>
                  <a:srgbClr val="3A6EA5"/>
                </a:solidFill>
                <a:latin typeface="Malgun Gothic"/>
                <a:cs typeface="Malgun Gothic"/>
              </a:rPr>
              <a:t>手法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571499" y="4752974"/>
            <a:ext cx="4114800" cy="1752600"/>
            <a:chOff x="571499" y="4752974"/>
            <a:chExt cx="4114800" cy="1752600"/>
          </a:xfrm>
        </p:grpSpPr>
        <p:sp>
          <p:nvSpPr>
            <p:cNvPr id="20" name="object 20" descr=""/>
            <p:cNvSpPr/>
            <p:nvPr/>
          </p:nvSpPr>
          <p:spPr>
            <a:xfrm>
              <a:off x="590549" y="4752974"/>
              <a:ext cx="4095750" cy="1752600"/>
            </a:xfrm>
            <a:custGeom>
              <a:avLst/>
              <a:gdLst/>
              <a:ahLst/>
              <a:cxnLst/>
              <a:rect l="l" t="t" r="r" b="b"/>
              <a:pathLst>
                <a:path w="4095750" h="1752600">
                  <a:moveTo>
                    <a:pt x="4024552" y="1752599"/>
                  </a:moveTo>
                  <a:lnTo>
                    <a:pt x="53397" y="1752599"/>
                  </a:lnTo>
                  <a:lnTo>
                    <a:pt x="49681" y="1752111"/>
                  </a:lnTo>
                  <a:lnTo>
                    <a:pt x="14085" y="1726742"/>
                  </a:lnTo>
                  <a:lnTo>
                    <a:pt x="366" y="1686357"/>
                  </a:lnTo>
                  <a:lnTo>
                    <a:pt x="0" y="1681403"/>
                  </a:lnTo>
                  <a:lnTo>
                    <a:pt x="0" y="16763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4024552" y="0"/>
                  </a:lnTo>
                  <a:lnTo>
                    <a:pt x="4066043" y="15621"/>
                  </a:lnTo>
                  <a:lnTo>
                    <a:pt x="4091863" y="51661"/>
                  </a:lnTo>
                  <a:lnTo>
                    <a:pt x="4095749" y="71196"/>
                  </a:lnTo>
                  <a:lnTo>
                    <a:pt x="4095749" y="1681403"/>
                  </a:lnTo>
                  <a:lnTo>
                    <a:pt x="4080127" y="1722893"/>
                  </a:lnTo>
                  <a:lnTo>
                    <a:pt x="4044086" y="1748713"/>
                  </a:lnTo>
                  <a:lnTo>
                    <a:pt x="4029508" y="1752111"/>
                  </a:lnTo>
                  <a:lnTo>
                    <a:pt x="4024552" y="175259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71499" y="4753252"/>
              <a:ext cx="70485" cy="1752600"/>
            </a:xfrm>
            <a:custGeom>
              <a:avLst/>
              <a:gdLst/>
              <a:ahLst/>
              <a:cxnLst/>
              <a:rect l="l" t="t" r="r" b="b"/>
              <a:pathLst>
                <a:path w="70484" h="1752600">
                  <a:moveTo>
                    <a:pt x="70450" y="1752044"/>
                  </a:moveTo>
                  <a:lnTo>
                    <a:pt x="33857" y="1739491"/>
                  </a:lnTo>
                  <a:lnTo>
                    <a:pt x="5800" y="1705282"/>
                  </a:lnTo>
                  <a:lnTo>
                    <a:pt x="0" y="16761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676122"/>
                  </a:lnTo>
                  <a:lnTo>
                    <a:pt x="44515" y="1718463"/>
                  </a:lnTo>
                  <a:lnTo>
                    <a:pt x="66287" y="1750388"/>
                  </a:lnTo>
                  <a:lnTo>
                    <a:pt x="70450" y="1752044"/>
                  </a:lnTo>
                  <a:close/>
                </a:path>
              </a:pathLst>
            </a:custGeom>
            <a:solidFill>
              <a:srgbClr val="3A6EA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7724" y="5049440"/>
              <a:ext cx="171449" cy="150018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1006475" y="4984686"/>
            <a:ext cx="88265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50" b="1">
                <a:solidFill>
                  <a:srgbClr val="3A6EA5"/>
                </a:solidFill>
                <a:latin typeface="Microsoft JhengHei"/>
                <a:cs typeface="Microsoft JhengHei"/>
              </a:rPr>
              <a:t>実験</a:t>
            </a:r>
            <a:r>
              <a:rPr dirty="0" sz="1500" spc="875" b="1">
                <a:solidFill>
                  <a:srgbClr val="3A6EA5"/>
                </a:solidFill>
                <a:latin typeface="Tahoma"/>
                <a:cs typeface="Tahoma"/>
              </a:rPr>
              <a:t>‧</a:t>
            </a:r>
            <a:r>
              <a:rPr dirty="0" sz="1500" spc="-130" b="1">
                <a:solidFill>
                  <a:srgbClr val="3A6EA5"/>
                </a:solidFill>
                <a:latin typeface="Malgun Gothic"/>
                <a:cs typeface="Malgun Gothic"/>
              </a:rPr>
              <a:t>結果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5067299" y="4752974"/>
            <a:ext cx="4114800" cy="1752600"/>
            <a:chOff x="5067299" y="4752974"/>
            <a:chExt cx="4114800" cy="1752600"/>
          </a:xfrm>
        </p:grpSpPr>
        <p:sp>
          <p:nvSpPr>
            <p:cNvPr id="25" name="object 25" descr=""/>
            <p:cNvSpPr/>
            <p:nvPr/>
          </p:nvSpPr>
          <p:spPr>
            <a:xfrm>
              <a:off x="5086348" y="4752974"/>
              <a:ext cx="4095750" cy="1752600"/>
            </a:xfrm>
            <a:custGeom>
              <a:avLst/>
              <a:gdLst/>
              <a:ahLst/>
              <a:cxnLst/>
              <a:rect l="l" t="t" r="r" b="b"/>
              <a:pathLst>
                <a:path w="4095750" h="1752600">
                  <a:moveTo>
                    <a:pt x="4024553" y="1752599"/>
                  </a:moveTo>
                  <a:lnTo>
                    <a:pt x="53397" y="1752599"/>
                  </a:lnTo>
                  <a:lnTo>
                    <a:pt x="49680" y="1752111"/>
                  </a:lnTo>
                  <a:lnTo>
                    <a:pt x="14085" y="1726742"/>
                  </a:lnTo>
                  <a:lnTo>
                    <a:pt x="365" y="1686357"/>
                  </a:lnTo>
                  <a:lnTo>
                    <a:pt x="0" y="1681403"/>
                  </a:lnTo>
                  <a:lnTo>
                    <a:pt x="0" y="16763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19" y="2440"/>
                  </a:lnTo>
                  <a:lnTo>
                    <a:pt x="53397" y="0"/>
                  </a:lnTo>
                  <a:lnTo>
                    <a:pt x="4024553" y="0"/>
                  </a:lnTo>
                  <a:lnTo>
                    <a:pt x="4066043" y="15621"/>
                  </a:lnTo>
                  <a:lnTo>
                    <a:pt x="4091863" y="51661"/>
                  </a:lnTo>
                  <a:lnTo>
                    <a:pt x="4095750" y="71196"/>
                  </a:lnTo>
                  <a:lnTo>
                    <a:pt x="4095750" y="1681403"/>
                  </a:lnTo>
                  <a:lnTo>
                    <a:pt x="4080127" y="1722893"/>
                  </a:lnTo>
                  <a:lnTo>
                    <a:pt x="4044087" y="1748713"/>
                  </a:lnTo>
                  <a:lnTo>
                    <a:pt x="4029508" y="1752111"/>
                  </a:lnTo>
                  <a:lnTo>
                    <a:pt x="4024553" y="175259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067299" y="4753252"/>
              <a:ext cx="70485" cy="1752600"/>
            </a:xfrm>
            <a:custGeom>
              <a:avLst/>
              <a:gdLst/>
              <a:ahLst/>
              <a:cxnLst/>
              <a:rect l="l" t="t" r="r" b="b"/>
              <a:pathLst>
                <a:path w="70485" h="1752600">
                  <a:moveTo>
                    <a:pt x="70450" y="1752044"/>
                  </a:moveTo>
                  <a:lnTo>
                    <a:pt x="33857" y="1739491"/>
                  </a:lnTo>
                  <a:lnTo>
                    <a:pt x="5800" y="1705282"/>
                  </a:lnTo>
                  <a:lnTo>
                    <a:pt x="0" y="16761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0999" y="46761"/>
                  </a:lnTo>
                  <a:lnTo>
                    <a:pt x="38100" y="75922"/>
                  </a:lnTo>
                  <a:lnTo>
                    <a:pt x="38100" y="1676122"/>
                  </a:lnTo>
                  <a:lnTo>
                    <a:pt x="44514" y="1718463"/>
                  </a:lnTo>
                  <a:lnTo>
                    <a:pt x="66287" y="1750388"/>
                  </a:lnTo>
                  <a:lnTo>
                    <a:pt x="70450" y="1752044"/>
                  </a:lnTo>
                  <a:close/>
                </a:path>
              </a:pathLst>
            </a:custGeom>
            <a:solidFill>
              <a:srgbClr val="3A6EA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48882" y="5038724"/>
              <a:ext cx="117865" cy="171449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5459412" y="4984686"/>
            <a:ext cx="88265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50" b="1">
                <a:solidFill>
                  <a:srgbClr val="3A6EA5"/>
                </a:solidFill>
                <a:latin typeface="Malgun Gothic"/>
                <a:cs typeface="Malgun Gothic"/>
              </a:rPr>
              <a:t>考察</a:t>
            </a:r>
            <a:r>
              <a:rPr dirty="0" sz="1500" spc="875" b="1">
                <a:solidFill>
                  <a:srgbClr val="3A6EA5"/>
                </a:solidFill>
                <a:latin typeface="Tahoma"/>
                <a:cs typeface="Tahoma"/>
              </a:rPr>
              <a:t>‧</a:t>
            </a:r>
            <a:r>
              <a:rPr dirty="0" sz="1500" spc="-130" b="1">
                <a:solidFill>
                  <a:srgbClr val="3A6EA5"/>
                </a:solidFill>
                <a:latin typeface="Malgun Gothic"/>
                <a:cs typeface="Malgun Gothic"/>
              </a:rPr>
              <a:t>展望</a:t>
            </a:r>
            <a:endParaRPr sz="1500">
              <a:latin typeface="Malgun Gothic"/>
              <a:cs typeface="Malgun Gothic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19525" y="6819900"/>
            <a:ext cx="133349" cy="133349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3967664" y="6780338"/>
            <a:ext cx="198183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>
                <a:solidFill>
                  <a:srgbClr val="666666"/>
                </a:solidFill>
                <a:latin typeface="SimSun"/>
                <a:cs typeface="SimSun"/>
              </a:rPr>
              <a:t>発表時間：約</a:t>
            </a:r>
            <a:r>
              <a:rPr dirty="0" sz="1150" spc="-70">
                <a:solidFill>
                  <a:srgbClr val="666666"/>
                </a:solidFill>
                <a:latin typeface="Cambria"/>
                <a:cs typeface="Cambria"/>
              </a:rPr>
              <a:t>15</a:t>
            </a:r>
            <a:r>
              <a:rPr dirty="0" sz="1150" spc="-204">
                <a:solidFill>
                  <a:srgbClr val="666666"/>
                </a:solidFill>
                <a:latin typeface="SimSun"/>
                <a:cs typeface="SimSun"/>
              </a:rPr>
              <a:t>分 </a:t>
            </a:r>
            <a:r>
              <a:rPr dirty="0" sz="1150" spc="-20">
                <a:solidFill>
                  <a:srgbClr val="666666"/>
                </a:solidFill>
                <a:latin typeface="Cambria"/>
                <a:cs typeface="Cambria"/>
              </a:rPr>
              <a:t>+ </a:t>
            </a:r>
            <a:r>
              <a:rPr dirty="0" sz="1150" spc="-110">
                <a:solidFill>
                  <a:srgbClr val="666666"/>
                </a:solidFill>
                <a:latin typeface="SimSun"/>
                <a:cs typeface="SimSun"/>
              </a:rPr>
              <a:t>質疑応答</a:t>
            </a:r>
            <a:r>
              <a:rPr dirty="0" sz="1150" spc="-70">
                <a:solidFill>
                  <a:srgbClr val="666666"/>
                </a:solidFill>
                <a:latin typeface="Cambria"/>
                <a:cs typeface="Cambria"/>
              </a:rPr>
              <a:t>5</a:t>
            </a:r>
            <a:r>
              <a:rPr dirty="0" sz="1150" spc="-50">
                <a:solidFill>
                  <a:srgbClr val="666666"/>
                </a:solidFill>
                <a:latin typeface="SimSun"/>
                <a:cs typeface="SimSun"/>
              </a:rPr>
              <a:t>分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835025" y="3254851"/>
            <a:ext cx="188341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20"/>
              </a:spcBef>
              <a:buClr>
                <a:srgbClr val="3A6EA5"/>
              </a:buClr>
              <a:buFont typeface="Arial MT"/>
              <a:buChar char="•"/>
              <a:tabLst>
                <a:tab pos="155575" algn="l"/>
              </a:tabLst>
            </a:pPr>
            <a:r>
              <a:rPr dirty="0" sz="1250" spc="-125">
                <a:solidFill>
                  <a:srgbClr val="444444"/>
                </a:solidFill>
                <a:latin typeface="SimSun"/>
                <a:cs typeface="SimSun"/>
              </a:rPr>
              <a:t>異常音検知の重要性と課題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835025" y="3535551"/>
            <a:ext cx="1733550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10"/>
              </a:spcBef>
              <a:buClr>
                <a:srgbClr val="3A6EA5"/>
              </a:buClr>
              <a:buFont typeface="Arial MT"/>
              <a:buChar char="•"/>
              <a:tabLst>
                <a:tab pos="155575" algn="l"/>
              </a:tabLst>
            </a:pPr>
            <a:r>
              <a:rPr dirty="0" sz="1250" spc="-140">
                <a:solidFill>
                  <a:srgbClr val="444444"/>
                </a:solidFill>
                <a:latin typeface="SimSun"/>
                <a:cs typeface="SimSun"/>
              </a:rPr>
              <a:t>私の研究：</a:t>
            </a:r>
            <a:r>
              <a:rPr dirty="0" sz="1300" spc="-180">
                <a:solidFill>
                  <a:srgbClr val="444444"/>
                </a:solidFill>
                <a:latin typeface="Arial MT"/>
                <a:cs typeface="Arial MT"/>
              </a:rPr>
              <a:t>SNR</a:t>
            </a:r>
            <a:r>
              <a:rPr dirty="0" sz="1250" spc="-110">
                <a:solidFill>
                  <a:srgbClr val="444444"/>
                </a:solidFill>
                <a:latin typeface="SimSun"/>
                <a:cs typeface="SimSun"/>
              </a:rPr>
              <a:t>低下問題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835025" y="3835876"/>
            <a:ext cx="116840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20"/>
              </a:spcBef>
              <a:buClr>
                <a:srgbClr val="3A6EA5"/>
              </a:buClr>
              <a:buFont typeface="Arial MT"/>
              <a:buChar char="•"/>
              <a:tabLst>
                <a:tab pos="155575" algn="l"/>
              </a:tabLst>
            </a:pPr>
            <a:r>
              <a:rPr dirty="0" sz="1250" spc="-120">
                <a:solidFill>
                  <a:srgbClr val="444444"/>
                </a:solidFill>
                <a:latin typeface="SimSun"/>
                <a:cs typeface="SimSun"/>
              </a:rPr>
              <a:t>従来手法の限界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5330824" y="3249801"/>
            <a:ext cx="1845310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10"/>
              </a:spcBef>
              <a:buClr>
                <a:srgbClr val="3A6EA5"/>
              </a:buClr>
              <a:buSzPct val="96153"/>
              <a:buChar char="•"/>
              <a:tabLst>
                <a:tab pos="155575" algn="l"/>
              </a:tabLst>
            </a:pPr>
            <a:r>
              <a:rPr dirty="0" sz="1300" spc="-160">
                <a:solidFill>
                  <a:srgbClr val="444444"/>
                </a:solidFill>
                <a:latin typeface="Arial MT"/>
                <a:cs typeface="Arial MT"/>
              </a:rPr>
              <a:t>ASD-</a:t>
            </a:r>
            <a:r>
              <a:rPr dirty="0" sz="1300" spc="-204">
                <a:solidFill>
                  <a:srgbClr val="444444"/>
                </a:solidFill>
                <a:latin typeface="Arial MT"/>
                <a:cs typeface="Arial MT"/>
              </a:rPr>
              <a:t>AFPA</a:t>
            </a:r>
            <a:r>
              <a:rPr dirty="0" sz="1300" spc="-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250" spc="-135">
                <a:solidFill>
                  <a:srgbClr val="444444"/>
                </a:solidFill>
                <a:latin typeface="SimSun"/>
                <a:cs typeface="SimSun"/>
              </a:rPr>
              <a:t>アーキテクチャ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330824" y="3535551"/>
            <a:ext cx="1853564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10"/>
              </a:spcBef>
              <a:buClr>
                <a:srgbClr val="3A6EA5"/>
              </a:buClr>
              <a:buSzPct val="96153"/>
              <a:buChar char="•"/>
              <a:tabLst>
                <a:tab pos="155575" algn="l"/>
              </a:tabLst>
            </a:pPr>
            <a:r>
              <a:rPr dirty="0" sz="1300" spc="-35">
                <a:solidFill>
                  <a:srgbClr val="444444"/>
                </a:solidFill>
                <a:latin typeface="Arial MT"/>
                <a:cs typeface="Arial MT"/>
              </a:rPr>
              <a:t>Multi-</a:t>
            </a:r>
            <a:r>
              <a:rPr dirty="0" sz="1300" spc="-105">
                <a:solidFill>
                  <a:srgbClr val="444444"/>
                </a:solidFill>
                <a:latin typeface="Arial MT"/>
                <a:cs typeface="Arial MT"/>
              </a:rPr>
              <a:t>Head</a:t>
            </a:r>
            <a:r>
              <a:rPr dirty="0" sz="1300" spc="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300" spc="-75">
                <a:solidFill>
                  <a:srgbClr val="444444"/>
                </a:solidFill>
                <a:latin typeface="Arial MT"/>
                <a:cs typeface="Arial MT"/>
              </a:rPr>
              <a:t>Self-</a:t>
            </a:r>
            <a:r>
              <a:rPr dirty="0" sz="1300" spc="-25">
                <a:solidFill>
                  <a:srgbClr val="444444"/>
                </a:solidFill>
                <a:latin typeface="Arial MT"/>
                <a:cs typeface="Arial MT"/>
              </a:rPr>
              <a:t>Attention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330824" y="3835876"/>
            <a:ext cx="1732914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20"/>
              </a:spcBef>
              <a:buClr>
                <a:srgbClr val="3A6EA5"/>
              </a:buClr>
              <a:buFont typeface="Arial MT"/>
              <a:buChar char="•"/>
              <a:tabLst>
                <a:tab pos="155575" algn="l"/>
              </a:tabLst>
            </a:pPr>
            <a:r>
              <a:rPr dirty="0" sz="1250" spc="-130">
                <a:solidFill>
                  <a:srgbClr val="444444"/>
                </a:solidFill>
                <a:latin typeface="SimSun"/>
                <a:cs typeface="SimSun"/>
              </a:rPr>
              <a:t>周波数パターン自動学習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835025" y="5373875"/>
            <a:ext cx="1852930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10"/>
              </a:spcBef>
              <a:buClr>
                <a:srgbClr val="3A6EA5"/>
              </a:buClr>
              <a:buSzPct val="96153"/>
              <a:buChar char="•"/>
              <a:tabLst>
                <a:tab pos="155575" algn="l"/>
              </a:tabLst>
            </a:pPr>
            <a:r>
              <a:rPr dirty="0" sz="1300" spc="-210">
                <a:solidFill>
                  <a:srgbClr val="444444"/>
                </a:solidFill>
                <a:latin typeface="Arial MT"/>
                <a:cs typeface="Arial MT"/>
              </a:rPr>
              <a:t>DCASE</a:t>
            </a:r>
            <a:r>
              <a:rPr dirty="0" sz="1300" spc="-8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300" spc="-110">
                <a:solidFill>
                  <a:srgbClr val="444444"/>
                </a:solidFill>
                <a:latin typeface="Arial MT"/>
                <a:cs typeface="Arial MT"/>
              </a:rPr>
              <a:t>2020</a:t>
            </a:r>
            <a:r>
              <a:rPr dirty="0" sz="1300" spc="-7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250" spc="-114">
                <a:solidFill>
                  <a:srgbClr val="444444"/>
                </a:solidFill>
                <a:latin typeface="SimSun"/>
                <a:cs typeface="SimSun"/>
              </a:rPr>
              <a:t>データセット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835025" y="5669150"/>
            <a:ext cx="1824355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10"/>
              </a:spcBef>
              <a:buClr>
                <a:srgbClr val="3A6EA5"/>
              </a:buClr>
              <a:buFont typeface="Arial MT"/>
              <a:buChar char="•"/>
              <a:tabLst>
                <a:tab pos="155575" algn="l"/>
              </a:tabLst>
            </a:pPr>
            <a:r>
              <a:rPr dirty="0" sz="1250" spc="-125">
                <a:solidFill>
                  <a:srgbClr val="444444"/>
                </a:solidFill>
                <a:latin typeface="SimSun"/>
                <a:cs typeface="SimSun"/>
              </a:rPr>
              <a:t>性能比較</a:t>
            </a:r>
            <a:r>
              <a:rPr dirty="0" sz="1250" spc="-185">
                <a:solidFill>
                  <a:srgbClr val="444444"/>
                </a:solidFill>
                <a:latin typeface="SimSun"/>
                <a:cs typeface="SimSun"/>
              </a:rPr>
              <a:t>（</a:t>
            </a:r>
            <a:r>
              <a:rPr dirty="0" sz="1300" spc="-185">
                <a:solidFill>
                  <a:srgbClr val="444444"/>
                </a:solidFill>
                <a:latin typeface="Arial MT"/>
                <a:cs typeface="Arial MT"/>
              </a:rPr>
              <a:t>AUC</a:t>
            </a:r>
            <a:r>
              <a:rPr dirty="0" sz="1300" spc="-95">
                <a:solidFill>
                  <a:srgbClr val="444444"/>
                </a:solidFill>
                <a:latin typeface="Arial MT"/>
                <a:cs typeface="Arial MT"/>
              </a:rPr>
              <a:t> +</a:t>
            </a:r>
            <a:r>
              <a:rPr dirty="0" sz="1300" spc="-100">
                <a:solidFill>
                  <a:srgbClr val="444444"/>
                </a:solidFill>
                <a:latin typeface="Arial MT"/>
                <a:cs typeface="Arial MT"/>
              </a:rPr>
              <a:t>1.55%</a:t>
            </a:r>
            <a:r>
              <a:rPr dirty="0" sz="1250" spc="-100">
                <a:solidFill>
                  <a:srgbClr val="444444"/>
                </a:solidFill>
                <a:latin typeface="SimSun"/>
                <a:cs typeface="SimSun"/>
              </a:rPr>
              <a:t>）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835025" y="5959950"/>
            <a:ext cx="188341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20"/>
              </a:spcBef>
              <a:buClr>
                <a:srgbClr val="3A6EA5"/>
              </a:buClr>
              <a:buFont typeface="Arial MT"/>
              <a:buChar char="•"/>
              <a:tabLst>
                <a:tab pos="155575" algn="l"/>
              </a:tabLst>
            </a:pPr>
            <a:r>
              <a:rPr dirty="0" sz="1250" spc="-125">
                <a:solidFill>
                  <a:srgbClr val="444444"/>
                </a:solidFill>
                <a:latin typeface="SimSun"/>
                <a:cs typeface="SimSun"/>
              </a:rPr>
              <a:t>アテンションマップ可視化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5330824" y="5378925"/>
            <a:ext cx="159766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20"/>
              </a:spcBef>
              <a:buClr>
                <a:srgbClr val="3A6EA5"/>
              </a:buClr>
              <a:buFont typeface="Arial MT"/>
              <a:buChar char="•"/>
              <a:tabLst>
                <a:tab pos="155575" algn="l"/>
              </a:tabLst>
            </a:pPr>
            <a:r>
              <a:rPr dirty="0" sz="1250" spc="-120">
                <a:solidFill>
                  <a:srgbClr val="444444"/>
                </a:solidFill>
                <a:latin typeface="SimSun"/>
                <a:cs typeface="SimSun"/>
              </a:rPr>
              <a:t>周波数強調の効果分析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330824" y="5674200"/>
            <a:ext cx="116840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20"/>
              </a:spcBef>
              <a:buClr>
                <a:srgbClr val="3A6EA5"/>
              </a:buClr>
              <a:buFont typeface="Arial MT"/>
              <a:buChar char="•"/>
              <a:tabLst>
                <a:tab pos="155575" algn="l"/>
              </a:tabLst>
            </a:pPr>
            <a:r>
              <a:rPr dirty="0" sz="1250" spc="-120">
                <a:solidFill>
                  <a:srgbClr val="444444"/>
                </a:solidFill>
                <a:latin typeface="SimSun"/>
                <a:cs typeface="SimSun"/>
              </a:rPr>
              <a:t>特徴空間の改善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5330824" y="5959950"/>
            <a:ext cx="131191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20"/>
              </a:spcBef>
              <a:buClr>
                <a:srgbClr val="3A6EA5"/>
              </a:buClr>
              <a:buFont typeface="Arial MT"/>
              <a:buChar char="•"/>
              <a:tabLst>
                <a:tab pos="155575" algn="l"/>
              </a:tabLst>
            </a:pPr>
            <a:r>
              <a:rPr dirty="0" sz="1250" spc="-120">
                <a:solidFill>
                  <a:srgbClr val="444444"/>
                </a:solidFill>
                <a:latin typeface="SimSun"/>
                <a:cs typeface="SimSun"/>
              </a:rPr>
              <a:t>今後の応用可能性</a:t>
            </a:r>
            <a:endParaRPr sz="1250">
              <a:latin typeface="SimSun"/>
              <a:cs typeface="SimSun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8267700" y="6962775"/>
            <a:ext cx="1295400" cy="323850"/>
            <a:chOff x="8267700" y="6962775"/>
            <a:chExt cx="1295400" cy="323850"/>
          </a:xfrm>
        </p:grpSpPr>
        <p:sp>
          <p:nvSpPr>
            <p:cNvPr id="44" name="object 44" descr=""/>
            <p:cNvSpPr/>
            <p:nvPr/>
          </p:nvSpPr>
          <p:spPr>
            <a:xfrm>
              <a:off x="8267700" y="6962775"/>
              <a:ext cx="1295400" cy="323850"/>
            </a:xfrm>
            <a:custGeom>
              <a:avLst/>
              <a:gdLst/>
              <a:ahLst/>
              <a:cxnLst/>
              <a:rect l="l" t="t" r="r" b="b"/>
              <a:pathLst>
                <a:path w="1295400" h="323850">
                  <a:moveTo>
                    <a:pt x="126235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262352" y="0"/>
                  </a:lnTo>
                  <a:lnTo>
                    <a:pt x="1294433" y="28187"/>
                  </a:lnTo>
                  <a:lnTo>
                    <a:pt x="1295399" y="33047"/>
                  </a:lnTo>
                  <a:lnTo>
                    <a:pt x="1295399" y="290802"/>
                  </a:lnTo>
                  <a:lnTo>
                    <a:pt x="1267212" y="322883"/>
                  </a:lnTo>
                  <a:lnTo>
                    <a:pt x="126235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82000" y="7058024"/>
              <a:ext cx="133349" cy="133349"/>
            </a:xfrm>
            <a:prstGeom prst="rect">
              <a:avLst/>
            </a:prstGeom>
          </p:spPr>
        </p:pic>
      </p:grpSp>
      <p:sp>
        <p:nvSpPr>
          <p:cNvPr id="46" name="object 4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-80"/>
              <a:t>Genspark</a:t>
            </a:r>
            <a:r>
              <a:rPr dirty="0" spc="-55"/>
              <a:t> </a:t>
            </a:r>
            <a:r>
              <a:rPr dirty="0" sz="1000" spc="-85">
                <a:latin typeface="SimSun"/>
                <a:cs typeface="SimSun"/>
              </a:rPr>
              <a:t>で作成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9194601" y="7125715"/>
            <a:ext cx="286385" cy="1466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90"/>
              </a:lnSpc>
            </a:pPr>
            <a:fld id="{81D60167-4931-47E6-BA6A-407CBD079E47}" type="slidenum">
              <a:rPr dirty="0" sz="1000" spc="-40">
                <a:solidFill>
                  <a:srgbClr val="666666"/>
                </a:solidFill>
                <a:latin typeface="Tahoma"/>
                <a:cs typeface="Tahoma"/>
              </a:rPr>
              <a:t>2</a:t>
            </a:fld>
            <a:r>
              <a:rPr dirty="0" sz="1000" spc="-40">
                <a:solidFill>
                  <a:srgbClr val="666666"/>
                </a:solidFill>
                <a:latin typeface="Tahoma"/>
                <a:cs typeface="Tahoma"/>
              </a:rPr>
              <a:t>/</a:t>
            </a:r>
            <a:r>
              <a:rPr dirty="0" sz="1000" spc="-40">
                <a:solidFill>
                  <a:srgbClr val="666666"/>
                </a:solidFill>
                <a:latin typeface="Tahoma"/>
                <a:cs typeface="Tahoma"/>
              </a:rPr>
              <a:t>13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1499" y="942975"/>
            <a:ext cx="8610600" cy="28575"/>
          </a:xfrm>
          <a:custGeom>
            <a:avLst/>
            <a:gdLst/>
            <a:ahLst/>
            <a:cxnLst/>
            <a:rect l="l" t="t" r="r" b="b"/>
            <a:pathLst>
              <a:path w="8610600" h="28575">
                <a:moveTo>
                  <a:pt x="8610599" y="28574"/>
                </a:moveTo>
                <a:lnTo>
                  <a:pt x="0" y="28574"/>
                </a:lnTo>
                <a:lnTo>
                  <a:pt x="0" y="0"/>
                </a:lnTo>
                <a:lnTo>
                  <a:pt x="8610599" y="0"/>
                </a:lnTo>
                <a:lnTo>
                  <a:pt x="8610599" y="28574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571499" y="6562724"/>
            <a:ext cx="8610600" cy="800100"/>
            <a:chOff x="571499" y="6562724"/>
            <a:chExt cx="8610600" cy="800100"/>
          </a:xfrm>
        </p:grpSpPr>
        <p:sp>
          <p:nvSpPr>
            <p:cNvPr id="4" name="object 4" descr=""/>
            <p:cNvSpPr/>
            <p:nvPr/>
          </p:nvSpPr>
          <p:spPr>
            <a:xfrm>
              <a:off x="581024" y="6572249"/>
              <a:ext cx="8591550" cy="781050"/>
            </a:xfrm>
            <a:custGeom>
              <a:avLst/>
              <a:gdLst/>
              <a:ahLst/>
              <a:cxnLst/>
              <a:rect l="l" t="t" r="r" b="b"/>
              <a:pathLst>
                <a:path w="8591550" h="781050">
                  <a:moveTo>
                    <a:pt x="8529251" y="781049"/>
                  </a:moveTo>
                  <a:lnTo>
                    <a:pt x="62297" y="781049"/>
                  </a:lnTo>
                  <a:lnTo>
                    <a:pt x="57961" y="780622"/>
                  </a:lnTo>
                  <a:lnTo>
                    <a:pt x="22624" y="764616"/>
                  </a:lnTo>
                  <a:lnTo>
                    <a:pt x="2135" y="731674"/>
                  </a:lnTo>
                  <a:lnTo>
                    <a:pt x="0" y="718751"/>
                  </a:lnTo>
                  <a:lnTo>
                    <a:pt x="0" y="714374"/>
                  </a:lnTo>
                  <a:lnTo>
                    <a:pt x="0" y="62296"/>
                  </a:lnTo>
                  <a:lnTo>
                    <a:pt x="13669" y="25991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8529251" y="0"/>
                  </a:lnTo>
                  <a:lnTo>
                    <a:pt x="8565556" y="13667"/>
                  </a:lnTo>
                  <a:lnTo>
                    <a:pt x="8588149" y="45203"/>
                  </a:lnTo>
                  <a:lnTo>
                    <a:pt x="8591549" y="62296"/>
                  </a:lnTo>
                  <a:lnTo>
                    <a:pt x="8591549" y="718751"/>
                  </a:lnTo>
                  <a:lnTo>
                    <a:pt x="8577879" y="755056"/>
                  </a:lnTo>
                  <a:lnTo>
                    <a:pt x="8546344" y="777649"/>
                  </a:lnTo>
                  <a:lnTo>
                    <a:pt x="8533587" y="780622"/>
                  </a:lnTo>
                  <a:lnTo>
                    <a:pt x="8529251" y="78104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81024" y="6572249"/>
              <a:ext cx="8591550" cy="781050"/>
            </a:xfrm>
            <a:custGeom>
              <a:avLst/>
              <a:gdLst/>
              <a:ahLst/>
              <a:cxnLst/>
              <a:rect l="l" t="t" r="r" b="b"/>
              <a:pathLst>
                <a:path w="8591550" h="781050">
                  <a:moveTo>
                    <a:pt x="0" y="7143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7"/>
                  </a:lnTo>
                  <a:lnTo>
                    <a:pt x="2135" y="49372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1"/>
                  </a:lnTo>
                  <a:lnTo>
                    <a:pt x="11236" y="29631"/>
                  </a:lnTo>
                  <a:lnTo>
                    <a:pt x="13669" y="25992"/>
                  </a:lnTo>
                  <a:lnTo>
                    <a:pt x="16432" y="22624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2" y="11236"/>
                  </a:lnTo>
                  <a:lnTo>
                    <a:pt x="33272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4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8524874" y="0"/>
                  </a:lnTo>
                  <a:lnTo>
                    <a:pt x="8550389" y="5075"/>
                  </a:lnTo>
                  <a:lnTo>
                    <a:pt x="8554434" y="6750"/>
                  </a:lnTo>
                  <a:lnTo>
                    <a:pt x="8580311" y="29631"/>
                  </a:lnTo>
                  <a:lnTo>
                    <a:pt x="8582744" y="33271"/>
                  </a:lnTo>
                  <a:lnTo>
                    <a:pt x="8584798" y="37114"/>
                  </a:lnTo>
                  <a:lnTo>
                    <a:pt x="8586473" y="41159"/>
                  </a:lnTo>
                  <a:lnTo>
                    <a:pt x="8588149" y="45203"/>
                  </a:lnTo>
                  <a:lnTo>
                    <a:pt x="8589413" y="49372"/>
                  </a:lnTo>
                  <a:lnTo>
                    <a:pt x="8590267" y="53666"/>
                  </a:lnTo>
                  <a:lnTo>
                    <a:pt x="8591122" y="57960"/>
                  </a:lnTo>
                  <a:lnTo>
                    <a:pt x="8591549" y="62296"/>
                  </a:lnTo>
                  <a:lnTo>
                    <a:pt x="8591549" y="66674"/>
                  </a:lnTo>
                  <a:lnTo>
                    <a:pt x="8591549" y="714374"/>
                  </a:lnTo>
                  <a:lnTo>
                    <a:pt x="8591549" y="718752"/>
                  </a:lnTo>
                  <a:lnTo>
                    <a:pt x="8591122" y="723088"/>
                  </a:lnTo>
                  <a:lnTo>
                    <a:pt x="8590267" y="727381"/>
                  </a:lnTo>
                  <a:lnTo>
                    <a:pt x="8589413" y="731675"/>
                  </a:lnTo>
                  <a:lnTo>
                    <a:pt x="8568924" y="764616"/>
                  </a:lnTo>
                  <a:lnTo>
                    <a:pt x="8550389" y="775974"/>
                  </a:lnTo>
                  <a:lnTo>
                    <a:pt x="8546344" y="777650"/>
                  </a:lnTo>
                  <a:lnTo>
                    <a:pt x="8542175" y="778915"/>
                  </a:lnTo>
                  <a:lnTo>
                    <a:pt x="8537881" y="779769"/>
                  </a:lnTo>
                  <a:lnTo>
                    <a:pt x="8533587" y="780623"/>
                  </a:lnTo>
                  <a:lnTo>
                    <a:pt x="8529251" y="781049"/>
                  </a:lnTo>
                  <a:lnTo>
                    <a:pt x="8524874" y="781049"/>
                  </a:lnTo>
                  <a:lnTo>
                    <a:pt x="66675" y="781049"/>
                  </a:lnTo>
                  <a:lnTo>
                    <a:pt x="62297" y="781049"/>
                  </a:lnTo>
                  <a:lnTo>
                    <a:pt x="57961" y="780623"/>
                  </a:lnTo>
                  <a:lnTo>
                    <a:pt x="53667" y="779769"/>
                  </a:lnTo>
                  <a:lnTo>
                    <a:pt x="49373" y="778915"/>
                  </a:lnTo>
                  <a:lnTo>
                    <a:pt x="45204" y="777650"/>
                  </a:lnTo>
                  <a:lnTo>
                    <a:pt x="41159" y="775974"/>
                  </a:lnTo>
                  <a:lnTo>
                    <a:pt x="37114" y="774299"/>
                  </a:lnTo>
                  <a:lnTo>
                    <a:pt x="33272" y="772245"/>
                  </a:lnTo>
                  <a:lnTo>
                    <a:pt x="29632" y="769812"/>
                  </a:lnTo>
                  <a:lnTo>
                    <a:pt x="25992" y="767380"/>
                  </a:lnTo>
                  <a:lnTo>
                    <a:pt x="3399" y="735844"/>
                  </a:lnTo>
                  <a:lnTo>
                    <a:pt x="1281" y="727381"/>
                  </a:lnTo>
                  <a:lnTo>
                    <a:pt x="427" y="723088"/>
                  </a:lnTo>
                  <a:lnTo>
                    <a:pt x="0" y="718752"/>
                  </a:lnTo>
                  <a:lnTo>
                    <a:pt x="0" y="714374"/>
                  </a:lnTo>
                  <a:close/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3170887" y="531018"/>
            <a:ext cx="268605" cy="233679"/>
          </a:xfrm>
          <a:custGeom>
            <a:avLst/>
            <a:gdLst/>
            <a:ahLst/>
            <a:cxnLst/>
            <a:rect l="l" t="t" r="r" b="b"/>
            <a:pathLst>
              <a:path w="268604" h="233679">
                <a:moveTo>
                  <a:pt x="254250" y="233362"/>
                </a:moveTo>
                <a:lnTo>
                  <a:pt x="14324" y="233362"/>
                </a:lnTo>
                <a:lnTo>
                  <a:pt x="7396" y="229351"/>
                </a:lnTo>
                <a:lnTo>
                  <a:pt x="0" y="216433"/>
                </a:lnTo>
                <a:lnTo>
                  <a:pt x="52" y="208411"/>
                </a:lnTo>
                <a:lnTo>
                  <a:pt x="120067" y="3906"/>
                </a:lnTo>
                <a:lnTo>
                  <a:pt x="126890" y="0"/>
                </a:lnTo>
                <a:lnTo>
                  <a:pt x="141684" y="0"/>
                </a:lnTo>
                <a:lnTo>
                  <a:pt x="148508" y="3906"/>
                </a:lnTo>
                <a:lnTo>
                  <a:pt x="185350" y="66675"/>
                </a:lnTo>
                <a:lnTo>
                  <a:pt x="127359" y="66675"/>
                </a:lnTo>
                <a:lnTo>
                  <a:pt x="121786" y="72248"/>
                </a:lnTo>
                <a:lnTo>
                  <a:pt x="121786" y="144445"/>
                </a:lnTo>
                <a:lnTo>
                  <a:pt x="127359" y="150018"/>
                </a:lnTo>
                <a:lnTo>
                  <a:pt x="234270" y="150018"/>
                </a:lnTo>
                <a:lnTo>
                  <a:pt x="244054" y="166687"/>
                </a:lnTo>
                <a:lnTo>
                  <a:pt x="132077" y="166687"/>
                </a:lnTo>
                <a:lnTo>
                  <a:pt x="129950" y="167110"/>
                </a:lnTo>
                <a:lnTo>
                  <a:pt x="117618" y="181145"/>
                </a:lnTo>
                <a:lnTo>
                  <a:pt x="117618" y="185566"/>
                </a:lnTo>
                <a:lnTo>
                  <a:pt x="263622" y="200024"/>
                </a:lnTo>
                <a:lnTo>
                  <a:pt x="268544" y="208411"/>
                </a:lnTo>
                <a:lnTo>
                  <a:pt x="268575" y="216433"/>
                </a:lnTo>
                <a:lnTo>
                  <a:pt x="261178" y="229351"/>
                </a:lnTo>
                <a:lnTo>
                  <a:pt x="254250" y="233362"/>
                </a:lnTo>
                <a:close/>
              </a:path>
              <a:path w="268604" h="233679">
                <a:moveTo>
                  <a:pt x="234270" y="150018"/>
                </a:moveTo>
                <a:lnTo>
                  <a:pt x="141215" y="150018"/>
                </a:lnTo>
                <a:lnTo>
                  <a:pt x="146789" y="144445"/>
                </a:lnTo>
                <a:lnTo>
                  <a:pt x="146789" y="72248"/>
                </a:lnTo>
                <a:lnTo>
                  <a:pt x="141215" y="66675"/>
                </a:lnTo>
                <a:lnTo>
                  <a:pt x="185350" y="66675"/>
                </a:lnTo>
                <a:lnTo>
                  <a:pt x="234270" y="150018"/>
                </a:lnTo>
                <a:close/>
              </a:path>
              <a:path w="268604" h="233679">
                <a:moveTo>
                  <a:pt x="263622" y="200024"/>
                </a:moveTo>
                <a:lnTo>
                  <a:pt x="136498" y="200024"/>
                </a:lnTo>
                <a:lnTo>
                  <a:pt x="138624" y="199602"/>
                </a:lnTo>
                <a:lnTo>
                  <a:pt x="142708" y="197910"/>
                </a:lnTo>
                <a:lnTo>
                  <a:pt x="150956" y="185566"/>
                </a:lnTo>
                <a:lnTo>
                  <a:pt x="150956" y="181145"/>
                </a:lnTo>
                <a:lnTo>
                  <a:pt x="136498" y="166687"/>
                </a:lnTo>
                <a:lnTo>
                  <a:pt x="244054" y="166687"/>
                </a:lnTo>
                <a:lnTo>
                  <a:pt x="263622" y="200024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32217" y="428879"/>
            <a:ext cx="2959735" cy="38735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50" spc="-260"/>
              <a:t>背景</a:t>
            </a:r>
            <a:r>
              <a:rPr dirty="0" sz="2350" spc="-260">
                <a:latin typeface="Microsoft JhengHei"/>
                <a:cs typeface="Microsoft JhengHei"/>
              </a:rPr>
              <a:t>：</a:t>
            </a:r>
            <a:r>
              <a:rPr dirty="0" sz="2350" spc="-260"/>
              <a:t>異常音</a:t>
            </a:r>
            <a:r>
              <a:rPr dirty="0" sz="2350" spc="-260">
                <a:latin typeface="Microsoft JhengHei"/>
                <a:cs typeface="Microsoft JhengHei"/>
              </a:rPr>
              <a:t>検知</a:t>
            </a:r>
            <a:r>
              <a:rPr dirty="0" sz="2350" spc="-280"/>
              <a:t>と課題</a:t>
            </a:r>
            <a:endParaRPr sz="2350">
              <a:latin typeface="Microsoft JhengHei"/>
              <a:cs typeface="Microsoft JhengHe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1475" y="6790372"/>
            <a:ext cx="134272" cy="11620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267025" y="6649258"/>
            <a:ext cx="3220085" cy="54737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083945">
              <a:lnSpc>
                <a:spcPct val="100000"/>
              </a:lnSpc>
              <a:spcBef>
                <a:spcPts val="665"/>
              </a:spcBef>
            </a:pPr>
            <a:r>
              <a:rPr dirty="0" sz="1350" spc="-195" b="1">
                <a:solidFill>
                  <a:srgbClr val="3A6EA5"/>
                </a:solidFill>
                <a:latin typeface="Malgun Gothic"/>
                <a:cs typeface="Malgun Gothic"/>
              </a:rPr>
              <a:t>求めら れる解決策</a:t>
            </a:r>
            <a:endParaRPr sz="1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150" spc="-110" b="1">
                <a:solidFill>
                  <a:srgbClr val="444444"/>
                </a:solidFill>
                <a:latin typeface="Malgun Gothic"/>
                <a:cs typeface="Malgun Gothic"/>
              </a:rPr>
              <a:t>適</a:t>
            </a:r>
            <a:r>
              <a:rPr dirty="0" sz="1150" spc="-110" b="1">
                <a:solidFill>
                  <a:srgbClr val="444444"/>
                </a:solidFill>
                <a:latin typeface="Microsoft JhengHei"/>
                <a:cs typeface="Microsoft JhengHei"/>
              </a:rPr>
              <a:t>応</a:t>
            </a:r>
            <a:r>
              <a:rPr dirty="0" sz="1150" spc="-110" b="1">
                <a:solidFill>
                  <a:srgbClr val="444444"/>
                </a:solidFill>
                <a:latin typeface="Malgun Gothic"/>
                <a:cs typeface="Malgun Gothic"/>
              </a:rPr>
              <a:t>的</a:t>
            </a:r>
            <a:r>
              <a:rPr dirty="0" sz="1150" spc="-135">
                <a:solidFill>
                  <a:srgbClr val="444444"/>
                </a:solidFill>
                <a:latin typeface="SimSun"/>
                <a:cs typeface="SimSun"/>
              </a:rPr>
              <a:t>な周波数パターン学習 </a:t>
            </a:r>
            <a:r>
              <a:rPr dirty="0" sz="1150" spc="-25">
                <a:solidFill>
                  <a:srgbClr val="444444"/>
                </a:solidFill>
                <a:latin typeface="Times New Roman"/>
                <a:cs typeface="Times New Roman"/>
              </a:rPr>
              <a:t>+ </a:t>
            </a:r>
            <a:r>
              <a:rPr dirty="0" sz="1150" spc="-110" b="1">
                <a:solidFill>
                  <a:srgbClr val="444444"/>
                </a:solidFill>
                <a:latin typeface="Malgun Gothic"/>
                <a:cs typeface="Malgun Gothic"/>
              </a:rPr>
              <a:t>自動</a:t>
            </a:r>
            <a:r>
              <a:rPr dirty="0" sz="1150" spc="-110" b="1">
                <a:solidFill>
                  <a:srgbClr val="444444"/>
                </a:solidFill>
                <a:latin typeface="Microsoft JhengHei"/>
                <a:cs typeface="Microsoft JhengHei"/>
              </a:rPr>
              <a:t>化</a:t>
            </a:r>
            <a:r>
              <a:rPr dirty="0" sz="1150" spc="-105">
                <a:solidFill>
                  <a:srgbClr val="444444"/>
                </a:solidFill>
                <a:latin typeface="SimSun"/>
                <a:cs typeface="SimSun"/>
              </a:rPr>
              <a:t>された特徴抽出</a:t>
            </a:r>
            <a:endParaRPr sz="1150">
              <a:latin typeface="SimSun"/>
              <a:cs typeface="SimSun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71499" y="1304924"/>
            <a:ext cx="4143375" cy="2847975"/>
            <a:chOff x="571499" y="1304924"/>
            <a:chExt cx="4143375" cy="2847975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124" y="1304924"/>
              <a:ext cx="4095749" cy="2847974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571499" y="1305271"/>
              <a:ext cx="88265" cy="2847340"/>
            </a:xfrm>
            <a:custGeom>
              <a:avLst/>
              <a:gdLst/>
              <a:ahLst/>
              <a:cxnLst/>
              <a:rect l="l" t="t" r="r" b="b"/>
              <a:pathLst>
                <a:path w="88265" h="2847340">
                  <a:moveTo>
                    <a:pt x="88062" y="2847280"/>
                  </a:moveTo>
                  <a:lnTo>
                    <a:pt x="50303" y="2836367"/>
                  </a:lnTo>
                  <a:lnTo>
                    <a:pt x="16037" y="2805305"/>
                  </a:lnTo>
                  <a:lnTo>
                    <a:pt x="453" y="2761760"/>
                  </a:lnTo>
                  <a:lnTo>
                    <a:pt x="0" y="2752377"/>
                  </a:lnTo>
                  <a:lnTo>
                    <a:pt x="0" y="94902"/>
                  </a:lnTo>
                  <a:lnTo>
                    <a:pt x="11259" y="49956"/>
                  </a:lnTo>
                  <a:lnTo>
                    <a:pt x="42321" y="15690"/>
                  </a:lnTo>
                  <a:lnTo>
                    <a:pt x="85866" y="106"/>
                  </a:lnTo>
                  <a:lnTo>
                    <a:pt x="88061" y="0"/>
                  </a:lnTo>
                  <a:lnTo>
                    <a:pt x="82859" y="2069"/>
                  </a:lnTo>
                  <a:lnTo>
                    <a:pt x="77024" y="6903"/>
                  </a:lnTo>
                  <a:lnTo>
                    <a:pt x="55643" y="41974"/>
                  </a:lnTo>
                  <a:lnTo>
                    <a:pt x="47851" y="85519"/>
                  </a:lnTo>
                  <a:lnTo>
                    <a:pt x="47625" y="94902"/>
                  </a:lnTo>
                  <a:lnTo>
                    <a:pt x="47625" y="2752377"/>
                  </a:lnTo>
                  <a:lnTo>
                    <a:pt x="53254" y="2797323"/>
                  </a:lnTo>
                  <a:lnTo>
                    <a:pt x="72776" y="2836367"/>
                  </a:lnTo>
                  <a:lnTo>
                    <a:pt x="82859" y="2845210"/>
                  </a:lnTo>
                  <a:lnTo>
                    <a:pt x="88062" y="2847280"/>
                  </a:lnTo>
                  <a:close/>
                </a:path>
              </a:pathLst>
            </a:custGeom>
            <a:solidFill>
              <a:srgbClr val="3A6E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57249" y="3171824"/>
              <a:ext cx="3619500" cy="704850"/>
            </a:xfrm>
            <a:custGeom>
              <a:avLst/>
              <a:gdLst/>
              <a:ahLst/>
              <a:cxnLst/>
              <a:rect l="l" t="t" r="r" b="b"/>
              <a:pathLst>
                <a:path w="3619500" h="704850">
                  <a:moveTo>
                    <a:pt x="3548302" y="704849"/>
                  </a:moveTo>
                  <a:lnTo>
                    <a:pt x="71196" y="704849"/>
                  </a:lnTo>
                  <a:lnTo>
                    <a:pt x="66241" y="704361"/>
                  </a:lnTo>
                  <a:lnTo>
                    <a:pt x="29705" y="689227"/>
                  </a:lnTo>
                  <a:lnTo>
                    <a:pt x="3885" y="653187"/>
                  </a:lnTo>
                  <a:lnTo>
                    <a:pt x="0" y="633653"/>
                  </a:lnTo>
                  <a:lnTo>
                    <a:pt x="0" y="6286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548302" y="0"/>
                  </a:lnTo>
                  <a:lnTo>
                    <a:pt x="3589793" y="15621"/>
                  </a:lnTo>
                  <a:lnTo>
                    <a:pt x="3615613" y="51661"/>
                  </a:lnTo>
                  <a:lnTo>
                    <a:pt x="3619499" y="71196"/>
                  </a:lnTo>
                  <a:lnTo>
                    <a:pt x="3619499" y="633653"/>
                  </a:lnTo>
                  <a:lnTo>
                    <a:pt x="3603877" y="675144"/>
                  </a:lnTo>
                  <a:lnTo>
                    <a:pt x="3567837" y="700964"/>
                  </a:lnTo>
                  <a:lnTo>
                    <a:pt x="3553258" y="704361"/>
                  </a:lnTo>
                  <a:lnTo>
                    <a:pt x="3548302" y="704849"/>
                  </a:lnTo>
                  <a:close/>
                </a:path>
              </a:pathLst>
            </a:custGeom>
            <a:solidFill>
              <a:srgbClr val="3A6EA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7833" y="1601258"/>
              <a:ext cx="169333" cy="148166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1037431" y="1536636"/>
            <a:ext cx="156845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50" b="1">
                <a:solidFill>
                  <a:srgbClr val="3A6EA5"/>
                </a:solidFill>
                <a:latin typeface="Malgun Gothic"/>
                <a:cs typeface="Malgun Gothic"/>
              </a:rPr>
              <a:t>異常音</a:t>
            </a:r>
            <a:r>
              <a:rPr dirty="0" sz="1500" spc="-150" b="1">
                <a:solidFill>
                  <a:srgbClr val="3A6EA5"/>
                </a:solidFill>
                <a:latin typeface="Microsoft JhengHei"/>
                <a:cs typeface="Microsoft JhengHei"/>
              </a:rPr>
              <a:t>検知</a:t>
            </a:r>
            <a:r>
              <a:rPr dirty="0" sz="1500" spc="-150" b="1">
                <a:solidFill>
                  <a:srgbClr val="3A6EA5"/>
                </a:solidFill>
                <a:latin typeface="Malgun Gothic"/>
                <a:cs typeface="Malgun Gothic"/>
              </a:rPr>
              <a:t>の重</a:t>
            </a:r>
            <a:r>
              <a:rPr dirty="0" sz="1500" spc="-150" b="1">
                <a:solidFill>
                  <a:srgbClr val="3A6EA5"/>
                </a:solidFill>
                <a:latin typeface="Microsoft JhengHei"/>
                <a:cs typeface="Microsoft JhengHei"/>
              </a:rPr>
              <a:t>要</a:t>
            </a:r>
            <a:r>
              <a:rPr dirty="0" sz="1500" spc="-100" b="1">
                <a:solidFill>
                  <a:srgbClr val="3A6EA5"/>
                </a:solidFill>
                <a:latin typeface="Malgun Gothic"/>
                <a:cs typeface="Malgun Gothic"/>
              </a:rPr>
              <a:t>性</a:t>
            </a:r>
            <a:endParaRPr sz="1500">
              <a:latin typeface="Malgun Gothic"/>
              <a:cs typeface="Malgun Gothic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4292" y="3352800"/>
            <a:ext cx="91672" cy="133350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987425" y="3240670"/>
            <a:ext cx="1879600" cy="495934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630"/>
              </a:spcBef>
            </a:pPr>
            <a:r>
              <a:rPr dirty="0" sz="1150" spc="-110" b="1">
                <a:solidFill>
                  <a:srgbClr val="3A6EA5"/>
                </a:solidFill>
                <a:latin typeface="Malgun Gothic"/>
                <a:cs typeface="Malgun Gothic"/>
              </a:rPr>
              <a:t>音響</a:t>
            </a:r>
            <a:r>
              <a:rPr dirty="0" sz="1150" spc="-125" b="1">
                <a:solidFill>
                  <a:srgbClr val="3A6EA5"/>
                </a:solidFill>
                <a:latin typeface="Microsoft JhengHei"/>
                <a:cs typeface="Microsoft JhengHei"/>
              </a:rPr>
              <a:t>ベース検知の</a:t>
            </a:r>
            <a:r>
              <a:rPr dirty="0" sz="1150" spc="-80" b="1">
                <a:solidFill>
                  <a:srgbClr val="3A6EA5"/>
                </a:solidFill>
                <a:latin typeface="Malgun Gothic"/>
                <a:cs typeface="Malgun Gothic"/>
              </a:rPr>
              <a:t>利点</a:t>
            </a:r>
            <a:endParaRPr sz="11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100" spc="-140">
                <a:solidFill>
                  <a:srgbClr val="444444"/>
                </a:solidFill>
                <a:latin typeface="SimSun"/>
                <a:cs typeface="SimSun"/>
              </a:rPr>
              <a:t>非接触</a:t>
            </a:r>
            <a:r>
              <a:rPr dirty="0" sz="1100" spc="160">
                <a:solidFill>
                  <a:srgbClr val="444444"/>
                </a:solidFill>
                <a:latin typeface="MS PGothic"/>
                <a:cs typeface="MS PGothic"/>
              </a:rPr>
              <a:t>‧リアルタイム‧</a:t>
            </a:r>
            <a:r>
              <a:rPr dirty="0" sz="1100" spc="-140">
                <a:solidFill>
                  <a:srgbClr val="444444"/>
                </a:solidFill>
                <a:latin typeface="SimSun"/>
                <a:cs typeface="SimSun"/>
              </a:rPr>
              <a:t>低</a:t>
            </a:r>
            <a:r>
              <a:rPr dirty="0" sz="1100" spc="85">
                <a:solidFill>
                  <a:srgbClr val="444444"/>
                </a:solidFill>
                <a:latin typeface="MS PGothic"/>
                <a:cs typeface="MS PGothic"/>
              </a:rPr>
              <a:t>コスト</a:t>
            </a:r>
            <a:endParaRPr sz="1100">
              <a:latin typeface="MS PGothic"/>
              <a:cs typeface="MS PGothic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19150" y="1930876"/>
            <a:ext cx="155321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16666" sz="1500" spc="277">
                <a:solidFill>
                  <a:srgbClr val="3A6EA5"/>
                </a:solidFill>
                <a:latin typeface="Lucida Sans Unicode"/>
                <a:cs typeface="Lucida Sans Unicode"/>
              </a:rPr>
              <a:t>▶ </a:t>
            </a:r>
            <a:r>
              <a:rPr dirty="0" sz="1250" spc="-125">
                <a:solidFill>
                  <a:srgbClr val="444444"/>
                </a:solidFill>
                <a:latin typeface="SimSun"/>
                <a:cs typeface="SimSun"/>
              </a:rPr>
              <a:t>工場設備</a:t>
            </a:r>
            <a:r>
              <a:rPr dirty="0" sz="1250" spc="-125">
                <a:solidFill>
                  <a:srgbClr val="444444"/>
                </a:solidFill>
                <a:latin typeface="MS PGothic"/>
                <a:cs typeface="MS PGothic"/>
              </a:rPr>
              <a:t>の</a:t>
            </a:r>
            <a:r>
              <a:rPr dirty="0" sz="1250" spc="-110">
                <a:solidFill>
                  <a:srgbClr val="444444"/>
                </a:solidFill>
                <a:latin typeface="SimSun"/>
                <a:cs typeface="SimSun"/>
              </a:rPr>
              <a:t>予防保全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19150" y="2226151"/>
            <a:ext cx="140716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16666" sz="1500" spc="330">
                <a:solidFill>
                  <a:srgbClr val="3A6EA5"/>
                </a:solidFill>
                <a:latin typeface="Lucida Sans Unicode"/>
                <a:cs typeface="Lucida Sans Unicode"/>
              </a:rPr>
              <a:t>▶ </a:t>
            </a:r>
            <a:r>
              <a:rPr dirty="0" sz="1250" spc="-5">
                <a:solidFill>
                  <a:srgbClr val="444444"/>
                </a:solidFill>
                <a:latin typeface="MS PGothic"/>
                <a:cs typeface="MS PGothic"/>
              </a:rPr>
              <a:t>ダウンタイム</a:t>
            </a:r>
            <a:r>
              <a:rPr dirty="0" sz="1250" spc="-90">
                <a:solidFill>
                  <a:srgbClr val="444444"/>
                </a:solidFill>
                <a:latin typeface="SimSun"/>
                <a:cs typeface="SimSun"/>
              </a:rPr>
              <a:t>削減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19150" y="2521426"/>
            <a:ext cx="126682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16666" sz="1500" spc="284">
                <a:solidFill>
                  <a:srgbClr val="3A6EA5"/>
                </a:solidFill>
                <a:latin typeface="Lucida Sans Unicode"/>
                <a:cs typeface="Lucida Sans Unicode"/>
              </a:rPr>
              <a:t>▶ </a:t>
            </a:r>
            <a:r>
              <a:rPr dirty="0" sz="1250" spc="-125">
                <a:solidFill>
                  <a:srgbClr val="444444"/>
                </a:solidFill>
                <a:latin typeface="SimSun"/>
                <a:cs typeface="SimSun"/>
              </a:rPr>
              <a:t>保守</a:t>
            </a:r>
            <a:r>
              <a:rPr dirty="0" sz="1250" spc="145">
                <a:solidFill>
                  <a:srgbClr val="444444"/>
                </a:solidFill>
                <a:latin typeface="MS PGothic"/>
                <a:cs typeface="MS PGothic"/>
              </a:rPr>
              <a:t>コスト</a:t>
            </a:r>
            <a:r>
              <a:rPr dirty="0" sz="1250" spc="-90">
                <a:solidFill>
                  <a:srgbClr val="444444"/>
                </a:solidFill>
                <a:latin typeface="SimSun"/>
                <a:cs typeface="SimSun"/>
              </a:rPr>
              <a:t>低減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19150" y="2816701"/>
            <a:ext cx="98107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16666" sz="1500" spc="277">
                <a:solidFill>
                  <a:srgbClr val="3A6EA5"/>
                </a:solidFill>
                <a:latin typeface="Lucida Sans Unicode"/>
                <a:cs typeface="Lucida Sans Unicode"/>
              </a:rPr>
              <a:t>▶ </a:t>
            </a:r>
            <a:r>
              <a:rPr dirty="0" sz="1250" spc="-110">
                <a:solidFill>
                  <a:srgbClr val="444444"/>
                </a:solidFill>
                <a:latin typeface="SimSun"/>
                <a:cs typeface="SimSun"/>
              </a:rPr>
              <a:t>安全性向上</a:t>
            </a:r>
            <a:endParaRPr sz="1250">
              <a:latin typeface="SimSun"/>
              <a:cs typeface="SimSun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5048249" y="1304924"/>
            <a:ext cx="4133850" cy="2847975"/>
            <a:chOff x="5048249" y="1304924"/>
            <a:chExt cx="4133850" cy="2847975"/>
          </a:xfrm>
        </p:grpSpPr>
        <p:sp>
          <p:nvSpPr>
            <p:cNvPr id="23" name="object 23" descr=""/>
            <p:cNvSpPr/>
            <p:nvPr/>
          </p:nvSpPr>
          <p:spPr>
            <a:xfrm>
              <a:off x="5048249" y="1304924"/>
              <a:ext cx="4133850" cy="2847975"/>
            </a:xfrm>
            <a:custGeom>
              <a:avLst/>
              <a:gdLst/>
              <a:ahLst/>
              <a:cxnLst/>
              <a:rect l="l" t="t" r="r" b="b"/>
              <a:pathLst>
                <a:path w="4133850" h="2847975">
                  <a:moveTo>
                    <a:pt x="4038599" y="2847974"/>
                  </a:moveTo>
                  <a:lnTo>
                    <a:pt x="95249" y="2847974"/>
                  </a:lnTo>
                  <a:lnTo>
                    <a:pt x="85866" y="2847521"/>
                  </a:lnTo>
                  <a:lnTo>
                    <a:pt x="42321" y="2831936"/>
                  </a:lnTo>
                  <a:lnTo>
                    <a:pt x="11259" y="2797670"/>
                  </a:lnTo>
                  <a:lnTo>
                    <a:pt x="0" y="2752724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038599" y="0"/>
                  </a:lnTo>
                  <a:lnTo>
                    <a:pt x="4083544" y="11259"/>
                  </a:lnTo>
                  <a:lnTo>
                    <a:pt x="4117811" y="42321"/>
                  </a:lnTo>
                  <a:lnTo>
                    <a:pt x="4133396" y="85866"/>
                  </a:lnTo>
                  <a:lnTo>
                    <a:pt x="4133849" y="95249"/>
                  </a:lnTo>
                  <a:lnTo>
                    <a:pt x="4133849" y="2752724"/>
                  </a:lnTo>
                  <a:lnTo>
                    <a:pt x="4122588" y="2797670"/>
                  </a:lnTo>
                  <a:lnTo>
                    <a:pt x="4091526" y="2831936"/>
                  </a:lnTo>
                  <a:lnTo>
                    <a:pt x="4047982" y="2847521"/>
                  </a:lnTo>
                  <a:lnTo>
                    <a:pt x="4038599" y="2847974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048237" y="1304937"/>
              <a:ext cx="4133850" cy="2847975"/>
            </a:xfrm>
            <a:custGeom>
              <a:avLst/>
              <a:gdLst/>
              <a:ahLst/>
              <a:cxnLst/>
              <a:rect l="l" t="t" r="r" b="b"/>
              <a:pathLst>
                <a:path w="4133850" h="2847975">
                  <a:moveTo>
                    <a:pt x="19050" y="2672143"/>
                  </a:moveTo>
                  <a:lnTo>
                    <a:pt x="0" y="2672143"/>
                  </a:lnTo>
                  <a:lnTo>
                    <a:pt x="0" y="2729293"/>
                  </a:lnTo>
                  <a:lnTo>
                    <a:pt x="19050" y="2729293"/>
                  </a:lnTo>
                  <a:lnTo>
                    <a:pt x="19050" y="2672143"/>
                  </a:lnTo>
                  <a:close/>
                </a:path>
                <a:path w="4133850" h="2847975">
                  <a:moveTo>
                    <a:pt x="19050" y="2576766"/>
                  </a:moveTo>
                  <a:lnTo>
                    <a:pt x="0" y="2576766"/>
                  </a:lnTo>
                  <a:lnTo>
                    <a:pt x="0" y="2633916"/>
                  </a:lnTo>
                  <a:lnTo>
                    <a:pt x="19050" y="2633916"/>
                  </a:lnTo>
                  <a:lnTo>
                    <a:pt x="19050" y="2576766"/>
                  </a:lnTo>
                  <a:close/>
                </a:path>
                <a:path w="4133850" h="2847975">
                  <a:moveTo>
                    <a:pt x="19050" y="2481376"/>
                  </a:moveTo>
                  <a:lnTo>
                    <a:pt x="0" y="2481376"/>
                  </a:lnTo>
                  <a:lnTo>
                    <a:pt x="0" y="2538526"/>
                  </a:lnTo>
                  <a:lnTo>
                    <a:pt x="19050" y="2538526"/>
                  </a:lnTo>
                  <a:lnTo>
                    <a:pt x="19050" y="2481376"/>
                  </a:lnTo>
                  <a:close/>
                </a:path>
                <a:path w="4133850" h="2847975">
                  <a:moveTo>
                    <a:pt x="19050" y="2385999"/>
                  </a:moveTo>
                  <a:lnTo>
                    <a:pt x="0" y="2385999"/>
                  </a:lnTo>
                  <a:lnTo>
                    <a:pt x="0" y="2443149"/>
                  </a:lnTo>
                  <a:lnTo>
                    <a:pt x="19050" y="2443149"/>
                  </a:lnTo>
                  <a:lnTo>
                    <a:pt x="19050" y="2385999"/>
                  </a:lnTo>
                  <a:close/>
                </a:path>
                <a:path w="4133850" h="2847975">
                  <a:moveTo>
                    <a:pt x="19050" y="2290610"/>
                  </a:moveTo>
                  <a:lnTo>
                    <a:pt x="0" y="2290610"/>
                  </a:lnTo>
                  <a:lnTo>
                    <a:pt x="0" y="2347760"/>
                  </a:lnTo>
                  <a:lnTo>
                    <a:pt x="19050" y="2347760"/>
                  </a:lnTo>
                  <a:lnTo>
                    <a:pt x="19050" y="2290610"/>
                  </a:lnTo>
                  <a:close/>
                </a:path>
                <a:path w="4133850" h="2847975">
                  <a:moveTo>
                    <a:pt x="19050" y="2195233"/>
                  </a:moveTo>
                  <a:lnTo>
                    <a:pt x="0" y="2195233"/>
                  </a:lnTo>
                  <a:lnTo>
                    <a:pt x="0" y="2252383"/>
                  </a:lnTo>
                  <a:lnTo>
                    <a:pt x="19050" y="2252383"/>
                  </a:lnTo>
                  <a:lnTo>
                    <a:pt x="19050" y="2195233"/>
                  </a:lnTo>
                  <a:close/>
                </a:path>
                <a:path w="4133850" h="2847975">
                  <a:moveTo>
                    <a:pt x="19050" y="2099856"/>
                  </a:moveTo>
                  <a:lnTo>
                    <a:pt x="0" y="2099856"/>
                  </a:lnTo>
                  <a:lnTo>
                    <a:pt x="0" y="2157006"/>
                  </a:lnTo>
                  <a:lnTo>
                    <a:pt x="19050" y="2157006"/>
                  </a:lnTo>
                  <a:lnTo>
                    <a:pt x="19050" y="2099856"/>
                  </a:lnTo>
                  <a:close/>
                </a:path>
                <a:path w="4133850" h="2847975">
                  <a:moveTo>
                    <a:pt x="19050" y="2004466"/>
                  </a:moveTo>
                  <a:lnTo>
                    <a:pt x="0" y="2004466"/>
                  </a:lnTo>
                  <a:lnTo>
                    <a:pt x="0" y="2061616"/>
                  </a:lnTo>
                  <a:lnTo>
                    <a:pt x="19050" y="2061616"/>
                  </a:lnTo>
                  <a:lnTo>
                    <a:pt x="19050" y="2004466"/>
                  </a:lnTo>
                  <a:close/>
                </a:path>
                <a:path w="4133850" h="2847975">
                  <a:moveTo>
                    <a:pt x="19050" y="1909089"/>
                  </a:moveTo>
                  <a:lnTo>
                    <a:pt x="0" y="1909089"/>
                  </a:lnTo>
                  <a:lnTo>
                    <a:pt x="0" y="1966239"/>
                  </a:lnTo>
                  <a:lnTo>
                    <a:pt x="19050" y="1966239"/>
                  </a:lnTo>
                  <a:lnTo>
                    <a:pt x="19050" y="1909089"/>
                  </a:lnTo>
                  <a:close/>
                </a:path>
                <a:path w="4133850" h="2847975">
                  <a:moveTo>
                    <a:pt x="19050" y="1813712"/>
                  </a:moveTo>
                  <a:lnTo>
                    <a:pt x="0" y="1813712"/>
                  </a:lnTo>
                  <a:lnTo>
                    <a:pt x="0" y="1870862"/>
                  </a:lnTo>
                  <a:lnTo>
                    <a:pt x="19050" y="1870862"/>
                  </a:lnTo>
                  <a:lnTo>
                    <a:pt x="19050" y="1813712"/>
                  </a:lnTo>
                  <a:close/>
                </a:path>
                <a:path w="4133850" h="2847975">
                  <a:moveTo>
                    <a:pt x="19050" y="1718322"/>
                  </a:moveTo>
                  <a:lnTo>
                    <a:pt x="0" y="1718322"/>
                  </a:lnTo>
                  <a:lnTo>
                    <a:pt x="0" y="1775472"/>
                  </a:lnTo>
                  <a:lnTo>
                    <a:pt x="19050" y="1775472"/>
                  </a:lnTo>
                  <a:lnTo>
                    <a:pt x="19050" y="1718322"/>
                  </a:lnTo>
                  <a:close/>
                </a:path>
                <a:path w="4133850" h="2847975">
                  <a:moveTo>
                    <a:pt x="19050" y="1622945"/>
                  </a:moveTo>
                  <a:lnTo>
                    <a:pt x="0" y="1622945"/>
                  </a:lnTo>
                  <a:lnTo>
                    <a:pt x="0" y="1680095"/>
                  </a:lnTo>
                  <a:lnTo>
                    <a:pt x="19050" y="1680095"/>
                  </a:lnTo>
                  <a:lnTo>
                    <a:pt x="19050" y="1622945"/>
                  </a:lnTo>
                  <a:close/>
                </a:path>
                <a:path w="4133850" h="2847975">
                  <a:moveTo>
                    <a:pt x="19050" y="1527556"/>
                  </a:moveTo>
                  <a:lnTo>
                    <a:pt x="0" y="1527556"/>
                  </a:lnTo>
                  <a:lnTo>
                    <a:pt x="0" y="1584706"/>
                  </a:lnTo>
                  <a:lnTo>
                    <a:pt x="19050" y="1584706"/>
                  </a:lnTo>
                  <a:lnTo>
                    <a:pt x="19050" y="1527556"/>
                  </a:lnTo>
                  <a:close/>
                </a:path>
                <a:path w="4133850" h="2847975">
                  <a:moveTo>
                    <a:pt x="19050" y="1432179"/>
                  </a:moveTo>
                  <a:lnTo>
                    <a:pt x="0" y="1432179"/>
                  </a:lnTo>
                  <a:lnTo>
                    <a:pt x="0" y="1489329"/>
                  </a:lnTo>
                  <a:lnTo>
                    <a:pt x="19050" y="1489329"/>
                  </a:lnTo>
                  <a:lnTo>
                    <a:pt x="19050" y="1432179"/>
                  </a:lnTo>
                  <a:close/>
                </a:path>
                <a:path w="4133850" h="2847975">
                  <a:moveTo>
                    <a:pt x="19050" y="1336789"/>
                  </a:moveTo>
                  <a:lnTo>
                    <a:pt x="0" y="1336789"/>
                  </a:lnTo>
                  <a:lnTo>
                    <a:pt x="0" y="1393939"/>
                  </a:lnTo>
                  <a:lnTo>
                    <a:pt x="19050" y="1393939"/>
                  </a:lnTo>
                  <a:lnTo>
                    <a:pt x="19050" y="1336789"/>
                  </a:lnTo>
                  <a:close/>
                </a:path>
                <a:path w="4133850" h="2847975">
                  <a:moveTo>
                    <a:pt x="19050" y="1241412"/>
                  </a:moveTo>
                  <a:lnTo>
                    <a:pt x="0" y="1241412"/>
                  </a:lnTo>
                  <a:lnTo>
                    <a:pt x="0" y="1298562"/>
                  </a:lnTo>
                  <a:lnTo>
                    <a:pt x="19050" y="1298562"/>
                  </a:lnTo>
                  <a:lnTo>
                    <a:pt x="19050" y="1241412"/>
                  </a:lnTo>
                  <a:close/>
                </a:path>
                <a:path w="4133850" h="2847975">
                  <a:moveTo>
                    <a:pt x="19050" y="1146035"/>
                  </a:moveTo>
                  <a:lnTo>
                    <a:pt x="0" y="1146035"/>
                  </a:lnTo>
                  <a:lnTo>
                    <a:pt x="0" y="1203185"/>
                  </a:lnTo>
                  <a:lnTo>
                    <a:pt x="19050" y="1203185"/>
                  </a:lnTo>
                  <a:lnTo>
                    <a:pt x="19050" y="1146035"/>
                  </a:lnTo>
                  <a:close/>
                </a:path>
                <a:path w="4133850" h="2847975">
                  <a:moveTo>
                    <a:pt x="19050" y="1050645"/>
                  </a:moveTo>
                  <a:lnTo>
                    <a:pt x="0" y="1050645"/>
                  </a:lnTo>
                  <a:lnTo>
                    <a:pt x="0" y="1107795"/>
                  </a:lnTo>
                  <a:lnTo>
                    <a:pt x="19050" y="1107795"/>
                  </a:lnTo>
                  <a:lnTo>
                    <a:pt x="19050" y="1050645"/>
                  </a:lnTo>
                  <a:close/>
                </a:path>
                <a:path w="4133850" h="2847975">
                  <a:moveTo>
                    <a:pt x="19050" y="955268"/>
                  </a:moveTo>
                  <a:lnTo>
                    <a:pt x="0" y="955268"/>
                  </a:lnTo>
                  <a:lnTo>
                    <a:pt x="0" y="1012418"/>
                  </a:lnTo>
                  <a:lnTo>
                    <a:pt x="19050" y="1012418"/>
                  </a:lnTo>
                  <a:lnTo>
                    <a:pt x="19050" y="955268"/>
                  </a:lnTo>
                  <a:close/>
                </a:path>
                <a:path w="4133850" h="2847975">
                  <a:moveTo>
                    <a:pt x="19050" y="859878"/>
                  </a:moveTo>
                  <a:lnTo>
                    <a:pt x="0" y="859878"/>
                  </a:lnTo>
                  <a:lnTo>
                    <a:pt x="0" y="917028"/>
                  </a:lnTo>
                  <a:lnTo>
                    <a:pt x="19050" y="917028"/>
                  </a:lnTo>
                  <a:lnTo>
                    <a:pt x="19050" y="859878"/>
                  </a:lnTo>
                  <a:close/>
                </a:path>
                <a:path w="4133850" h="2847975">
                  <a:moveTo>
                    <a:pt x="19050" y="764501"/>
                  </a:moveTo>
                  <a:lnTo>
                    <a:pt x="0" y="764501"/>
                  </a:lnTo>
                  <a:lnTo>
                    <a:pt x="0" y="821651"/>
                  </a:lnTo>
                  <a:lnTo>
                    <a:pt x="19050" y="821651"/>
                  </a:lnTo>
                  <a:lnTo>
                    <a:pt x="19050" y="764501"/>
                  </a:lnTo>
                  <a:close/>
                </a:path>
                <a:path w="4133850" h="2847975">
                  <a:moveTo>
                    <a:pt x="19050" y="669112"/>
                  </a:moveTo>
                  <a:lnTo>
                    <a:pt x="0" y="669112"/>
                  </a:lnTo>
                  <a:lnTo>
                    <a:pt x="0" y="726262"/>
                  </a:lnTo>
                  <a:lnTo>
                    <a:pt x="19050" y="726262"/>
                  </a:lnTo>
                  <a:lnTo>
                    <a:pt x="19050" y="669112"/>
                  </a:lnTo>
                  <a:close/>
                </a:path>
                <a:path w="4133850" h="2847975">
                  <a:moveTo>
                    <a:pt x="19050" y="573735"/>
                  </a:moveTo>
                  <a:lnTo>
                    <a:pt x="0" y="573735"/>
                  </a:lnTo>
                  <a:lnTo>
                    <a:pt x="0" y="630885"/>
                  </a:lnTo>
                  <a:lnTo>
                    <a:pt x="19050" y="630885"/>
                  </a:lnTo>
                  <a:lnTo>
                    <a:pt x="19050" y="573735"/>
                  </a:lnTo>
                  <a:close/>
                </a:path>
                <a:path w="4133850" h="2847975">
                  <a:moveTo>
                    <a:pt x="19050" y="478358"/>
                  </a:moveTo>
                  <a:lnTo>
                    <a:pt x="0" y="478358"/>
                  </a:lnTo>
                  <a:lnTo>
                    <a:pt x="0" y="535508"/>
                  </a:lnTo>
                  <a:lnTo>
                    <a:pt x="19050" y="535508"/>
                  </a:lnTo>
                  <a:lnTo>
                    <a:pt x="19050" y="478358"/>
                  </a:lnTo>
                  <a:close/>
                </a:path>
                <a:path w="4133850" h="2847975">
                  <a:moveTo>
                    <a:pt x="19050" y="382968"/>
                  </a:moveTo>
                  <a:lnTo>
                    <a:pt x="0" y="382968"/>
                  </a:lnTo>
                  <a:lnTo>
                    <a:pt x="0" y="440118"/>
                  </a:lnTo>
                  <a:lnTo>
                    <a:pt x="19050" y="440118"/>
                  </a:lnTo>
                  <a:lnTo>
                    <a:pt x="19050" y="382968"/>
                  </a:lnTo>
                  <a:close/>
                </a:path>
                <a:path w="4133850" h="2847975">
                  <a:moveTo>
                    <a:pt x="19050" y="287591"/>
                  </a:moveTo>
                  <a:lnTo>
                    <a:pt x="0" y="287591"/>
                  </a:lnTo>
                  <a:lnTo>
                    <a:pt x="0" y="344741"/>
                  </a:lnTo>
                  <a:lnTo>
                    <a:pt x="19050" y="344741"/>
                  </a:lnTo>
                  <a:lnTo>
                    <a:pt x="19050" y="287591"/>
                  </a:lnTo>
                  <a:close/>
                </a:path>
                <a:path w="4133850" h="2847975">
                  <a:moveTo>
                    <a:pt x="19050" y="192201"/>
                  </a:moveTo>
                  <a:lnTo>
                    <a:pt x="0" y="192201"/>
                  </a:lnTo>
                  <a:lnTo>
                    <a:pt x="0" y="249351"/>
                  </a:lnTo>
                  <a:lnTo>
                    <a:pt x="19050" y="249351"/>
                  </a:lnTo>
                  <a:lnTo>
                    <a:pt x="19050" y="192201"/>
                  </a:lnTo>
                  <a:close/>
                </a:path>
                <a:path w="4133850" h="2847975">
                  <a:moveTo>
                    <a:pt x="19050" y="96824"/>
                  </a:moveTo>
                  <a:lnTo>
                    <a:pt x="0" y="96824"/>
                  </a:lnTo>
                  <a:lnTo>
                    <a:pt x="0" y="153974"/>
                  </a:lnTo>
                  <a:lnTo>
                    <a:pt x="19050" y="153974"/>
                  </a:lnTo>
                  <a:lnTo>
                    <a:pt x="19050" y="96824"/>
                  </a:lnTo>
                  <a:close/>
                </a:path>
                <a:path w="4133850" h="2847975">
                  <a:moveTo>
                    <a:pt x="44780" y="2809684"/>
                  </a:moveTo>
                  <a:lnTo>
                    <a:pt x="22313" y="2774810"/>
                  </a:lnTo>
                  <a:lnTo>
                    <a:pt x="20193" y="2765475"/>
                  </a:lnTo>
                  <a:lnTo>
                    <a:pt x="1422" y="2768663"/>
                  </a:lnTo>
                  <a:lnTo>
                    <a:pt x="16040" y="2805646"/>
                  </a:lnTo>
                  <a:lnTo>
                    <a:pt x="32156" y="2823934"/>
                  </a:lnTo>
                  <a:lnTo>
                    <a:pt x="44780" y="2809684"/>
                  </a:lnTo>
                  <a:close/>
                </a:path>
                <a:path w="4133850" h="2847975">
                  <a:moveTo>
                    <a:pt x="60934" y="27279"/>
                  </a:moveTo>
                  <a:lnTo>
                    <a:pt x="52362" y="10287"/>
                  </a:lnTo>
                  <a:lnTo>
                    <a:pt x="50304" y="11252"/>
                  </a:lnTo>
                  <a:lnTo>
                    <a:pt x="42329" y="16027"/>
                  </a:lnTo>
                  <a:lnTo>
                    <a:pt x="11264" y="50292"/>
                  </a:lnTo>
                  <a:lnTo>
                    <a:pt x="8724" y="55676"/>
                  </a:lnTo>
                  <a:lnTo>
                    <a:pt x="26035" y="63588"/>
                  </a:lnTo>
                  <a:lnTo>
                    <a:pt x="28067" y="59283"/>
                  </a:lnTo>
                  <a:lnTo>
                    <a:pt x="31889" y="52895"/>
                  </a:lnTo>
                  <a:lnTo>
                    <a:pt x="59296" y="28054"/>
                  </a:lnTo>
                  <a:lnTo>
                    <a:pt x="60934" y="27279"/>
                  </a:lnTo>
                  <a:close/>
                </a:path>
                <a:path w="4133850" h="2847975">
                  <a:moveTo>
                    <a:pt x="128816" y="2828912"/>
                  </a:moveTo>
                  <a:lnTo>
                    <a:pt x="95250" y="2828912"/>
                  </a:lnTo>
                  <a:lnTo>
                    <a:pt x="87744" y="2828556"/>
                  </a:lnTo>
                  <a:lnTo>
                    <a:pt x="80391" y="2827464"/>
                  </a:lnTo>
                  <a:lnTo>
                    <a:pt x="74739" y="2826054"/>
                  </a:lnTo>
                  <a:lnTo>
                    <a:pt x="69608" y="2844381"/>
                  </a:lnTo>
                  <a:lnTo>
                    <a:pt x="76669" y="2846159"/>
                  </a:lnTo>
                  <a:lnTo>
                    <a:pt x="85877" y="2847517"/>
                  </a:lnTo>
                  <a:lnTo>
                    <a:pt x="95250" y="2847962"/>
                  </a:lnTo>
                  <a:lnTo>
                    <a:pt x="128816" y="2847962"/>
                  </a:lnTo>
                  <a:lnTo>
                    <a:pt x="128816" y="2828912"/>
                  </a:lnTo>
                  <a:close/>
                </a:path>
                <a:path w="4133850" h="2847975">
                  <a:moveTo>
                    <a:pt x="152400" y="0"/>
                  </a:moveTo>
                  <a:lnTo>
                    <a:pt x="93408" y="0"/>
                  </a:lnTo>
                  <a:lnTo>
                    <a:pt x="93776" y="19050"/>
                  </a:lnTo>
                  <a:lnTo>
                    <a:pt x="152400" y="19050"/>
                  </a:lnTo>
                  <a:lnTo>
                    <a:pt x="152400" y="0"/>
                  </a:lnTo>
                  <a:close/>
                </a:path>
                <a:path w="4133850" h="2847975">
                  <a:moveTo>
                    <a:pt x="224193" y="2828912"/>
                  </a:moveTo>
                  <a:lnTo>
                    <a:pt x="167043" y="2828912"/>
                  </a:lnTo>
                  <a:lnTo>
                    <a:pt x="167043" y="2847962"/>
                  </a:lnTo>
                  <a:lnTo>
                    <a:pt x="224193" y="2847962"/>
                  </a:lnTo>
                  <a:lnTo>
                    <a:pt x="224193" y="2828912"/>
                  </a:lnTo>
                  <a:close/>
                </a:path>
                <a:path w="4133850" h="2847975">
                  <a:moveTo>
                    <a:pt x="247789" y="0"/>
                  </a:moveTo>
                  <a:lnTo>
                    <a:pt x="190639" y="0"/>
                  </a:lnTo>
                  <a:lnTo>
                    <a:pt x="190639" y="19050"/>
                  </a:lnTo>
                  <a:lnTo>
                    <a:pt x="247789" y="19050"/>
                  </a:lnTo>
                  <a:lnTo>
                    <a:pt x="247789" y="0"/>
                  </a:lnTo>
                  <a:close/>
                </a:path>
                <a:path w="4133850" h="2847975">
                  <a:moveTo>
                    <a:pt x="319570" y="2828912"/>
                  </a:moveTo>
                  <a:lnTo>
                    <a:pt x="262420" y="2828912"/>
                  </a:lnTo>
                  <a:lnTo>
                    <a:pt x="262420" y="2847962"/>
                  </a:lnTo>
                  <a:lnTo>
                    <a:pt x="319570" y="2847962"/>
                  </a:lnTo>
                  <a:lnTo>
                    <a:pt x="319570" y="2828912"/>
                  </a:lnTo>
                  <a:close/>
                </a:path>
                <a:path w="4133850" h="2847975">
                  <a:moveTo>
                    <a:pt x="343166" y="0"/>
                  </a:moveTo>
                  <a:lnTo>
                    <a:pt x="286016" y="0"/>
                  </a:lnTo>
                  <a:lnTo>
                    <a:pt x="286016" y="19050"/>
                  </a:lnTo>
                  <a:lnTo>
                    <a:pt x="343166" y="19050"/>
                  </a:lnTo>
                  <a:lnTo>
                    <a:pt x="343166" y="0"/>
                  </a:lnTo>
                  <a:close/>
                </a:path>
                <a:path w="4133850" h="2847975">
                  <a:moveTo>
                    <a:pt x="414959" y="2828912"/>
                  </a:moveTo>
                  <a:lnTo>
                    <a:pt x="357809" y="2828912"/>
                  </a:lnTo>
                  <a:lnTo>
                    <a:pt x="357809" y="2847962"/>
                  </a:lnTo>
                  <a:lnTo>
                    <a:pt x="414959" y="2847962"/>
                  </a:lnTo>
                  <a:lnTo>
                    <a:pt x="414959" y="2828912"/>
                  </a:lnTo>
                  <a:close/>
                </a:path>
                <a:path w="4133850" h="2847975">
                  <a:moveTo>
                    <a:pt x="438556" y="0"/>
                  </a:moveTo>
                  <a:lnTo>
                    <a:pt x="381406" y="0"/>
                  </a:lnTo>
                  <a:lnTo>
                    <a:pt x="381406" y="19050"/>
                  </a:lnTo>
                  <a:lnTo>
                    <a:pt x="438556" y="19050"/>
                  </a:lnTo>
                  <a:lnTo>
                    <a:pt x="438556" y="0"/>
                  </a:lnTo>
                  <a:close/>
                </a:path>
                <a:path w="4133850" h="2847975">
                  <a:moveTo>
                    <a:pt x="510336" y="2828912"/>
                  </a:moveTo>
                  <a:lnTo>
                    <a:pt x="453186" y="2828912"/>
                  </a:lnTo>
                  <a:lnTo>
                    <a:pt x="453186" y="2847962"/>
                  </a:lnTo>
                  <a:lnTo>
                    <a:pt x="510336" y="2847962"/>
                  </a:lnTo>
                  <a:lnTo>
                    <a:pt x="510336" y="2828912"/>
                  </a:lnTo>
                  <a:close/>
                </a:path>
                <a:path w="4133850" h="2847975">
                  <a:moveTo>
                    <a:pt x="533933" y="0"/>
                  </a:moveTo>
                  <a:lnTo>
                    <a:pt x="476783" y="0"/>
                  </a:lnTo>
                  <a:lnTo>
                    <a:pt x="476783" y="19050"/>
                  </a:lnTo>
                  <a:lnTo>
                    <a:pt x="533933" y="19050"/>
                  </a:lnTo>
                  <a:lnTo>
                    <a:pt x="533933" y="0"/>
                  </a:lnTo>
                  <a:close/>
                </a:path>
                <a:path w="4133850" h="2847975">
                  <a:moveTo>
                    <a:pt x="605726" y="2828912"/>
                  </a:moveTo>
                  <a:lnTo>
                    <a:pt x="548576" y="2828912"/>
                  </a:lnTo>
                  <a:lnTo>
                    <a:pt x="548576" y="2847962"/>
                  </a:lnTo>
                  <a:lnTo>
                    <a:pt x="605726" y="2847962"/>
                  </a:lnTo>
                  <a:lnTo>
                    <a:pt x="605726" y="2828912"/>
                  </a:lnTo>
                  <a:close/>
                </a:path>
                <a:path w="4133850" h="2847975">
                  <a:moveTo>
                    <a:pt x="629323" y="0"/>
                  </a:moveTo>
                  <a:lnTo>
                    <a:pt x="572173" y="0"/>
                  </a:lnTo>
                  <a:lnTo>
                    <a:pt x="572173" y="19050"/>
                  </a:lnTo>
                  <a:lnTo>
                    <a:pt x="629323" y="19050"/>
                  </a:lnTo>
                  <a:lnTo>
                    <a:pt x="629323" y="0"/>
                  </a:lnTo>
                  <a:close/>
                </a:path>
                <a:path w="4133850" h="2847975">
                  <a:moveTo>
                    <a:pt x="701103" y="2828912"/>
                  </a:moveTo>
                  <a:lnTo>
                    <a:pt x="643953" y="2828912"/>
                  </a:lnTo>
                  <a:lnTo>
                    <a:pt x="643953" y="2847962"/>
                  </a:lnTo>
                  <a:lnTo>
                    <a:pt x="701103" y="2847962"/>
                  </a:lnTo>
                  <a:lnTo>
                    <a:pt x="701103" y="2828912"/>
                  </a:lnTo>
                  <a:close/>
                </a:path>
                <a:path w="4133850" h="2847975">
                  <a:moveTo>
                    <a:pt x="724700" y="0"/>
                  </a:moveTo>
                  <a:lnTo>
                    <a:pt x="667550" y="0"/>
                  </a:lnTo>
                  <a:lnTo>
                    <a:pt x="667550" y="19050"/>
                  </a:lnTo>
                  <a:lnTo>
                    <a:pt x="724700" y="19050"/>
                  </a:lnTo>
                  <a:lnTo>
                    <a:pt x="724700" y="0"/>
                  </a:lnTo>
                  <a:close/>
                </a:path>
                <a:path w="4133850" h="2847975">
                  <a:moveTo>
                    <a:pt x="796493" y="2828912"/>
                  </a:moveTo>
                  <a:lnTo>
                    <a:pt x="739343" y="2828912"/>
                  </a:lnTo>
                  <a:lnTo>
                    <a:pt x="739343" y="2847962"/>
                  </a:lnTo>
                  <a:lnTo>
                    <a:pt x="796493" y="2847962"/>
                  </a:lnTo>
                  <a:lnTo>
                    <a:pt x="796493" y="2828912"/>
                  </a:lnTo>
                  <a:close/>
                </a:path>
                <a:path w="4133850" h="2847975">
                  <a:moveTo>
                    <a:pt x="820077" y="0"/>
                  </a:moveTo>
                  <a:lnTo>
                    <a:pt x="762927" y="0"/>
                  </a:lnTo>
                  <a:lnTo>
                    <a:pt x="762927" y="19050"/>
                  </a:lnTo>
                  <a:lnTo>
                    <a:pt x="820077" y="19050"/>
                  </a:lnTo>
                  <a:lnTo>
                    <a:pt x="820077" y="0"/>
                  </a:lnTo>
                  <a:close/>
                </a:path>
                <a:path w="4133850" h="2847975">
                  <a:moveTo>
                    <a:pt x="891870" y="2828912"/>
                  </a:moveTo>
                  <a:lnTo>
                    <a:pt x="834720" y="2828912"/>
                  </a:lnTo>
                  <a:lnTo>
                    <a:pt x="834720" y="2847962"/>
                  </a:lnTo>
                  <a:lnTo>
                    <a:pt x="891870" y="2847962"/>
                  </a:lnTo>
                  <a:lnTo>
                    <a:pt x="891870" y="2828912"/>
                  </a:lnTo>
                  <a:close/>
                </a:path>
                <a:path w="4133850" h="2847975">
                  <a:moveTo>
                    <a:pt x="915466" y="0"/>
                  </a:moveTo>
                  <a:lnTo>
                    <a:pt x="858316" y="0"/>
                  </a:lnTo>
                  <a:lnTo>
                    <a:pt x="858316" y="19050"/>
                  </a:lnTo>
                  <a:lnTo>
                    <a:pt x="915466" y="19050"/>
                  </a:lnTo>
                  <a:lnTo>
                    <a:pt x="915466" y="0"/>
                  </a:lnTo>
                  <a:close/>
                </a:path>
                <a:path w="4133850" h="2847975">
                  <a:moveTo>
                    <a:pt x="987247" y="2828912"/>
                  </a:moveTo>
                  <a:lnTo>
                    <a:pt x="930097" y="2828912"/>
                  </a:lnTo>
                  <a:lnTo>
                    <a:pt x="930097" y="2847962"/>
                  </a:lnTo>
                  <a:lnTo>
                    <a:pt x="987247" y="2847962"/>
                  </a:lnTo>
                  <a:lnTo>
                    <a:pt x="987247" y="2828912"/>
                  </a:lnTo>
                  <a:close/>
                </a:path>
                <a:path w="4133850" h="2847975">
                  <a:moveTo>
                    <a:pt x="1010843" y="0"/>
                  </a:moveTo>
                  <a:lnTo>
                    <a:pt x="953693" y="0"/>
                  </a:lnTo>
                  <a:lnTo>
                    <a:pt x="953693" y="19050"/>
                  </a:lnTo>
                  <a:lnTo>
                    <a:pt x="1010843" y="19050"/>
                  </a:lnTo>
                  <a:lnTo>
                    <a:pt x="1010843" y="0"/>
                  </a:lnTo>
                  <a:close/>
                </a:path>
                <a:path w="4133850" h="2847975">
                  <a:moveTo>
                    <a:pt x="1082636" y="2828912"/>
                  </a:moveTo>
                  <a:lnTo>
                    <a:pt x="1025486" y="2828912"/>
                  </a:lnTo>
                  <a:lnTo>
                    <a:pt x="1025486" y="2847962"/>
                  </a:lnTo>
                  <a:lnTo>
                    <a:pt x="1082636" y="2847962"/>
                  </a:lnTo>
                  <a:lnTo>
                    <a:pt x="1082636" y="2828912"/>
                  </a:lnTo>
                  <a:close/>
                </a:path>
                <a:path w="4133850" h="2847975">
                  <a:moveTo>
                    <a:pt x="1106233" y="0"/>
                  </a:moveTo>
                  <a:lnTo>
                    <a:pt x="1049083" y="0"/>
                  </a:lnTo>
                  <a:lnTo>
                    <a:pt x="1049083" y="19050"/>
                  </a:lnTo>
                  <a:lnTo>
                    <a:pt x="1106233" y="19050"/>
                  </a:lnTo>
                  <a:lnTo>
                    <a:pt x="1106233" y="0"/>
                  </a:lnTo>
                  <a:close/>
                </a:path>
                <a:path w="4133850" h="2847975">
                  <a:moveTo>
                    <a:pt x="1178013" y="2828912"/>
                  </a:moveTo>
                  <a:lnTo>
                    <a:pt x="1120863" y="2828912"/>
                  </a:lnTo>
                  <a:lnTo>
                    <a:pt x="1120863" y="2847962"/>
                  </a:lnTo>
                  <a:lnTo>
                    <a:pt x="1178013" y="2847962"/>
                  </a:lnTo>
                  <a:lnTo>
                    <a:pt x="1178013" y="2828912"/>
                  </a:lnTo>
                  <a:close/>
                </a:path>
                <a:path w="4133850" h="2847975">
                  <a:moveTo>
                    <a:pt x="1201610" y="0"/>
                  </a:moveTo>
                  <a:lnTo>
                    <a:pt x="1144460" y="0"/>
                  </a:lnTo>
                  <a:lnTo>
                    <a:pt x="1144460" y="19050"/>
                  </a:lnTo>
                  <a:lnTo>
                    <a:pt x="1201610" y="19050"/>
                  </a:lnTo>
                  <a:lnTo>
                    <a:pt x="1201610" y="0"/>
                  </a:lnTo>
                  <a:close/>
                </a:path>
                <a:path w="4133850" h="2847975">
                  <a:moveTo>
                    <a:pt x="1273403" y="2828912"/>
                  </a:moveTo>
                  <a:lnTo>
                    <a:pt x="1216253" y="2828912"/>
                  </a:lnTo>
                  <a:lnTo>
                    <a:pt x="1216253" y="2847962"/>
                  </a:lnTo>
                  <a:lnTo>
                    <a:pt x="1273403" y="2847962"/>
                  </a:lnTo>
                  <a:lnTo>
                    <a:pt x="1273403" y="2828912"/>
                  </a:lnTo>
                  <a:close/>
                </a:path>
                <a:path w="4133850" h="2847975">
                  <a:moveTo>
                    <a:pt x="1296987" y="0"/>
                  </a:moveTo>
                  <a:lnTo>
                    <a:pt x="1239837" y="0"/>
                  </a:lnTo>
                  <a:lnTo>
                    <a:pt x="1239837" y="19050"/>
                  </a:lnTo>
                  <a:lnTo>
                    <a:pt x="1296987" y="19050"/>
                  </a:lnTo>
                  <a:lnTo>
                    <a:pt x="1296987" y="0"/>
                  </a:lnTo>
                  <a:close/>
                </a:path>
                <a:path w="4133850" h="2847975">
                  <a:moveTo>
                    <a:pt x="1368780" y="2828912"/>
                  </a:moveTo>
                  <a:lnTo>
                    <a:pt x="1311630" y="2828912"/>
                  </a:lnTo>
                  <a:lnTo>
                    <a:pt x="1311630" y="2847962"/>
                  </a:lnTo>
                  <a:lnTo>
                    <a:pt x="1368780" y="2847962"/>
                  </a:lnTo>
                  <a:lnTo>
                    <a:pt x="1368780" y="2828912"/>
                  </a:lnTo>
                  <a:close/>
                </a:path>
                <a:path w="4133850" h="2847975">
                  <a:moveTo>
                    <a:pt x="1392377" y="0"/>
                  </a:moveTo>
                  <a:lnTo>
                    <a:pt x="1335227" y="0"/>
                  </a:lnTo>
                  <a:lnTo>
                    <a:pt x="1335227" y="19050"/>
                  </a:lnTo>
                  <a:lnTo>
                    <a:pt x="1392377" y="19050"/>
                  </a:lnTo>
                  <a:lnTo>
                    <a:pt x="1392377" y="0"/>
                  </a:lnTo>
                  <a:close/>
                </a:path>
                <a:path w="4133850" h="2847975">
                  <a:moveTo>
                    <a:pt x="1464157" y="2828912"/>
                  </a:moveTo>
                  <a:lnTo>
                    <a:pt x="1407007" y="2828912"/>
                  </a:lnTo>
                  <a:lnTo>
                    <a:pt x="1407007" y="2847962"/>
                  </a:lnTo>
                  <a:lnTo>
                    <a:pt x="1464157" y="2847962"/>
                  </a:lnTo>
                  <a:lnTo>
                    <a:pt x="1464157" y="2828912"/>
                  </a:lnTo>
                  <a:close/>
                </a:path>
                <a:path w="4133850" h="2847975">
                  <a:moveTo>
                    <a:pt x="1487754" y="0"/>
                  </a:moveTo>
                  <a:lnTo>
                    <a:pt x="1430604" y="0"/>
                  </a:lnTo>
                  <a:lnTo>
                    <a:pt x="1430604" y="19050"/>
                  </a:lnTo>
                  <a:lnTo>
                    <a:pt x="1487754" y="19050"/>
                  </a:lnTo>
                  <a:lnTo>
                    <a:pt x="1487754" y="0"/>
                  </a:lnTo>
                  <a:close/>
                </a:path>
                <a:path w="4133850" h="2847975">
                  <a:moveTo>
                    <a:pt x="1559547" y="2828912"/>
                  </a:moveTo>
                  <a:lnTo>
                    <a:pt x="1502397" y="2828912"/>
                  </a:lnTo>
                  <a:lnTo>
                    <a:pt x="1502397" y="2847962"/>
                  </a:lnTo>
                  <a:lnTo>
                    <a:pt x="1559547" y="2847962"/>
                  </a:lnTo>
                  <a:lnTo>
                    <a:pt x="1559547" y="2828912"/>
                  </a:lnTo>
                  <a:close/>
                </a:path>
                <a:path w="4133850" h="2847975">
                  <a:moveTo>
                    <a:pt x="1583143" y="0"/>
                  </a:moveTo>
                  <a:lnTo>
                    <a:pt x="1525993" y="0"/>
                  </a:lnTo>
                  <a:lnTo>
                    <a:pt x="1525993" y="19050"/>
                  </a:lnTo>
                  <a:lnTo>
                    <a:pt x="1583143" y="19050"/>
                  </a:lnTo>
                  <a:lnTo>
                    <a:pt x="1583143" y="0"/>
                  </a:lnTo>
                  <a:close/>
                </a:path>
                <a:path w="4133850" h="2847975">
                  <a:moveTo>
                    <a:pt x="1654924" y="2828912"/>
                  </a:moveTo>
                  <a:lnTo>
                    <a:pt x="1597774" y="2828912"/>
                  </a:lnTo>
                  <a:lnTo>
                    <a:pt x="1597774" y="2847962"/>
                  </a:lnTo>
                  <a:lnTo>
                    <a:pt x="1654924" y="2847962"/>
                  </a:lnTo>
                  <a:lnTo>
                    <a:pt x="1654924" y="2828912"/>
                  </a:lnTo>
                  <a:close/>
                </a:path>
                <a:path w="4133850" h="2847975">
                  <a:moveTo>
                    <a:pt x="1678520" y="0"/>
                  </a:moveTo>
                  <a:lnTo>
                    <a:pt x="1621370" y="0"/>
                  </a:lnTo>
                  <a:lnTo>
                    <a:pt x="1621370" y="19050"/>
                  </a:lnTo>
                  <a:lnTo>
                    <a:pt x="1678520" y="19050"/>
                  </a:lnTo>
                  <a:lnTo>
                    <a:pt x="1678520" y="0"/>
                  </a:lnTo>
                  <a:close/>
                </a:path>
                <a:path w="4133850" h="2847975">
                  <a:moveTo>
                    <a:pt x="1750314" y="2828912"/>
                  </a:moveTo>
                  <a:lnTo>
                    <a:pt x="1693164" y="2828912"/>
                  </a:lnTo>
                  <a:lnTo>
                    <a:pt x="1693164" y="2847962"/>
                  </a:lnTo>
                  <a:lnTo>
                    <a:pt x="1750314" y="2847962"/>
                  </a:lnTo>
                  <a:lnTo>
                    <a:pt x="1750314" y="2828912"/>
                  </a:lnTo>
                  <a:close/>
                </a:path>
                <a:path w="4133850" h="2847975">
                  <a:moveTo>
                    <a:pt x="1773910" y="0"/>
                  </a:moveTo>
                  <a:lnTo>
                    <a:pt x="1716760" y="0"/>
                  </a:lnTo>
                  <a:lnTo>
                    <a:pt x="1716760" y="19050"/>
                  </a:lnTo>
                  <a:lnTo>
                    <a:pt x="1773910" y="19050"/>
                  </a:lnTo>
                  <a:lnTo>
                    <a:pt x="1773910" y="0"/>
                  </a:lnTo>
                  <a:close/>
                </a:path>
                <a:path w="4133850" h="2847975">
                  <a:moveTo>
                    <a:pt x="1845691" y="2828912"/>
                  </a:moveTo>
                  <a:lnTo>
                    <a:pt x="1788541" y="2828912"/>
                  </a:lnTo>
                  <a:lnTo>
                    <a:pt x="1788541" y="2847962"/>
                  </a:lnTo>
                  <a:lnTo>
                    <a:pt x="1845691" y="2847962"/>
                  </a:lnTo>
                  <a:lnTo>
                    <a:pt x="1845691" y="2828912"/>
                  </a:lnTo>
                  <a:close/>
                </a:path>
                <a:path w="4133850" h="2847975">
                  <a:moveTo>
                    <a:pt x="1869287" y="0"/>
                  </a:moveTo>
                  <a:lnTo>
                    <a:pt x="1812137" y="0"/>
                  </a:lnTo>
                  <a:lnTo>
                    <a:pt x="1812137" y="19050"/>
                  </a:lnTo>
                  <a:lnTo>
                    <a:pt x="1869287" y="19050"/>
                  </a:lnTo>
                  <a:lnTo>
                    <a:pt x="1869287" y="0"/>
                  </a:lnTo>
                  <a:close/>
                </a:path>
                <a:path w="4133850" h="2847975">
                  <a:moveTo>
                    <a:pt x="1941080" y="2828912"/>
                  </a:moveTo>
                  <a:lnTo>
                    <a:pt x="1883930" y="2828912"/>
                  </a:lnTo>
                  <a:lnTo>
                    <a:pt x="1883930" y="2847962"/>
                  </a:lnTo>
                  <a:lnTo>
                    <a:pt x="1941080" y="2847962"/>
                  </a:lnTo>
                  <a:lnTo>
                    <a:pt x="1941080" y="2828912"/>
                  </a:lnTo>
                  <a:close/>
                </a:path>
                <a:path w="4133850" h="2847975">
                  <a:moveTo>
                    <a:pt x="1964664" y="0"/>
                  </a:moveTo>
                  <a:lnTo>
                    <a:pt x="1907514" y="0"/>
                  </a:lnTo>
                  <a:lnTo>
                    <a:pt x="1907514" y="19050"/>
                  </a:lnTo>
                  <a:lnTo>
                    <a:pt x="1964664" y="19050"/>
                  </a:lnTo>
                  <a:lnTo>
                    <a:pt x="1964664" y="0"/>
                  </a:lnTo>
                  <a:close/>
                </a:path>
                <a:path w="4133850" h="2847975">
                  <a:moveTo>
                    <a:pt x="2036457" y="2828912"/>
                  </a:moveTo>
                  <a:lnTo>
                    <a:pt x="1979307" y="2828912"/>
                  </a:lnTo>
                  <a:lnTo>
                    <a:pt x="1979307" y="2847962"/>
                  </a:lnTo>
                  <a:lnTo>
                    <a:pt x="2036457" y="2847962"/>
                  </a:lnTo>
                  <a:lnTo>
                    <a:pt x="2036457" y="2828912"/>
                  </a:lnTo>
                  <a:close/>
                </a:path>
                <a:path w="4133850" h="2847975">
                  <a:moveTo>
                    <a:pt x="2060054" y="0"/>
                  </a:moveTo>
                  <a:lnTo>
                    <a:pt x="2002904" y="0"/>
                  </a:lnTo>
                  <a:lnTo>
                    <a:pt x="2002904" y="19050"/>
                  </a:lnTo>
                  <a:lnTo>
                    <a:pt x="2060054" y="19050"/>
                  </a:lnTo>
                  <a:lnTo>
                    <a:pt x="2060054" y="0"/>
                  </a:lnTo>
                  <a:close/>
                </a:path>
                <a:path w="4133850" h="2847975">
                  <a:moveTo>
                    <a:pt x="2131834" y="2828912"/>
                  </a:moveTo>
                  <a:lnTo>
                    <a:pt x="2074684" y="2828912"/>
                  </a:lnTo>
                  <a:lnTo>
                    <a:pt x="2074684" y="2847962"/>
                  </a:lnTo>
                  <a:lnTo>
                    <a:pt x="2131834" y="2847962"/>
                  </a:lnTo>
                  <a:lnTo>
                    <a:pt x="2131834" y="2828912"/>
                  </a:lnTo>
                  <a:close/>
                </a:path>
                <a:path w="4133850" h="2847975">
                  <a:moveTo>
                    <a:pt x="2155431" y="0"/>
                  </a:moveTo>
                  <a:lnTo>
                    <a:pt x="2098281" y="0"/>
                  </a:lnTo>
                  <a:lnTo>
                    <a:pt x="2098281" y="19050"/>
                  </a:lnTo>
                  <a:lnTo>
                    <a:pt x="2155431" y="19050"/>
                  </a:lnTo>
                  <a:lnTo>
                    <a:pt x="2155431" y="0"/>
                  </a:lnTo>
                  <a:close/>
                </a:path>
                <a:path w="4133850" h="2847975">
                  <a:moveTo>
                    <a:pt x="2227224" y="2828912"/>
                  </a:moveTo>
                  <a:lnTo>
                    <a:pt x="2170074" y="2828912"/>
                  </a:lnTo>
                  <a:lnTo>
                    <a:pt x="2170074" y="2847962"/>
                  </a:lnTo>
                  <a:lnTo>
                    <a:pt x="2227224" y="2847962"/>
                  </a:lnTo>
                  <a:lnTo>
                    <a:pt x="2227224" y="2828912"/>
                  </a:lnTo>
                  <a:close/>
                </a:path>
                <a:path w="4133850" h="2847975">
                  <a:moveTo>
                    <a:pt x="2250821" y="0"/>
                  </a:moveTo>
                  <a:lnTo>
                    <a:pt x="2193671" y="0"/>
                  </a:lnTo>
                  <a:lnTo>
                    <a:pt x="2193671" y="19050"/>
                  </a:lnTo>
                  <a:lnTo>
                    <a:pt x="2250821" y="19050"/>
                  </a:lnTo>
                  <a:lnTo>
                    <a:pt x="2250821" y="0"/>
                  </a:lnTo>
                  <a:close/>
                </a:path>
                <a:path w="4133850" h="2847975">
                  <a:moveTo>
                    <a:pt x="2322601" y="2828912"/>
                  </a:moveTo>
                  <a:lnTo>
                    <a:pt x="2265451" y="2828912"/>
                  </a:lnTo>
                  <a:lnTo>
                    <a:pt x="2265451" y="2847962"/>
                  </a:lnTo>
                  <a:lnTo>
                    <a:pt x="2322601" y="2847962"/>
                  </a:lnTo>
                  <a:lnTo>
                    <a:pt x="2322601" y="2828912"/>
                  </a:lnTo>
                  <a:close/>
                </a:path>
                <a:path w="4133850" h="2847975">
                  <a:moveTo>
                    <a:pt x="2346198" y="0"/>
                  </a:moveTo>
                  <a:lnTo>
                    <a:pt x="2289048" y="0"/>
                  </a:lnTo>
                  <a:lnTo>
                    <a:pt x="2289048" y="19050"/>
                  </a:lnTo>
                  <a:lnTo>
                    <a:pt x="2346198" y="19050"/>
                  </a:lnTo>
                  <a:lnTo>
                    <a:pt x="2346198" y="0"/>
                  </a:lnTo>
                  <a:close/>
                </a:path>
                <a:path w="4133850" h="2847975">
                  <a:moveTo>
                    <a:pt x="2417991" y="2828912"/>
                  </a:moveTo>
                  <a:lnTo>
                    <a:pt x="2360841" y="2828912"/>
                  </a:lnTo>
                  <a:lnTo>
                    <a:pt x="2360841" y="2847962"/>
                  </a:lnTo>
                  <a:lnTo>
                    <a:pt x="2417991" y="2847962"/>
                  </a:lnTo>
                  <a:lnTo>
                    <a:pt x="2417991" y="2828912"/>
                  </a:lnTo>
                  <a:close/>
                </a:path>
                <a:path w="4133850" h="2847975">
                  <a:moveTo>
                    <a:pt x="2441575" y="0"/>
                  </a:moveTo>
                  <a:lnTo>
                    <a:pt x="2384425" y="0"/>
                  </a:lnTo>
                  <a:lnTo>
                    <a:pt x="2384425" y="19050"/>
                  </a:lnTo>
                  <a:lnTo>
                    <a:pt x="2441575" y="19050"/>
                  </a:lnTo>
                  <a:lnTo>
                    <a:pt x="2441575" y="0"/>
                  </a:lnTo>
                  <a:close/>
                </a:path>
                <a:path w="4133850" h="2847975">
                  <a:moveTo>
                    <a:pt x="2513368" y="2828912"/>
                  </a:moveTo>
                  <a:lnTo>
                    <a:pt x="2456218" y="2828912"/>
                  </a:lnTo>
                  <a:lnTo>
                    <a:pt x="2456218" y="2847962"/>
                  </a:lnTo>
                  <a:lnTo>
                    <a:pt x="2513368" y="2847962"/>
                  </a:lnTo>
                  <a:lnTo>
                    <a:pt x="2513368" y="2828912"/>
                  </a:lnTo>
                  <a:close/>
                </a:path>
                <a:path w="4133850" h="2847975">
                  <a:moveTo>
                    <a:pt x="2536964" y="0"/>
                  </a:moveTo>
                  <a:lnTo>
                    <a:pt x="2479814" y="0"/>
                  </a:lnTo>
                  <a:lnTo>
                    <a:pt x="2479814" y="19050"/>
                  </a:lnTo>
                  <a:lnTo>
                    <a:pt x="2536964" y="19050"/>
                  </a:lnTo>
                  <a:lnTo>
                    <a:pt x="2536964" y="0"/>
                  </a:lnTo>
                  <a:close/>
                </a:path>
                <a:path w="4133850" h="2847975">
                  <a:moveTo>
                    <a:pt x="2608745" y="2828912"/>
                  </a:moveTo>
                  <a:lnTo>
                    <a:pt x="2551595" y="2828912"/>
                  </a:lnTo>
                  <a:lnTo>
                    <a:pt x="2551595" y="2847962"/>
                  </a:lnTo>
                  <a:lnTo>
                    <a:pt x="2608745" y="2847962"/>
                  </a:lnTo>
                  <a:lnTo>
                    <a:pt x="2608745" y="2828912"/>
                  </a:lnTo>
                  <a:close/>
                </a:path>
                <a:path w="4133850" h="2847975">
                  <a:moveTo>
                    <a:pt x="2632341" y="0"/>
                  </a:moveTo>
                  <a:lnTo>
                    <a:pt x="2575191" y="0"/>
                  </a:lnTo>
                  <a:lnTo>
                    <a:pt x="2575191" y="19050"/>
                  </a:lnTo>
                  <a:lnTo>
                    <a:pt x="2632341" y="19050"/>
                  </a:lnTo>
                  <a:lnTo>
                    <a:pt x="2632341" y="0"/>
                  </a:lnTo>
                  <a:close/>
                </a:path>
                <a:path w="4133850" h="2847975">
                  <a:moveTo>
                    <a:pt x="2704134" y="2828912"/>
                  </a:moveTo>
                  <a:lnTo>
                    <a:pt x="2646984" y="2828912"/>
                  </a:lnTo>
                  <a:lnTo>
                    <a:pt x="2646984" y="2847962"/>
                  </a:lnTo>
                  <a:lnTo>
                    <a:pt x="2704134" y="2847962"/>
                  </a:lnTo>
                  <a:lnTo>
                    <a:pt x="2704134" y="2828912"/>
                  </a:lnTo>
                  <a:close/>
                </a:path>
                <a:path w="4133850" h="2847975">
                  <a:moveTo>
                    <a:pt x="2727731" y="0"/>
                  </a:moveTo>
                  <a:lnTo>
                    <a:pt x="2670581" y="0"/>
                  </a:lnTo>
                  <a:lnTo>
                    <a:pt x="2670581" y="19050"/>
                  </a:lnTo>
                  <a:lnTo>
                    <a:pt x="2727731" y="19050"/>
                  </a:lnTo>
                  <a:lnTo>
                    <a:pt x="2727731" y="0"/>
                  </a:lnTo>
                  <a:close/>
                </a:path>
                <a:path w="4133850" h="2847975">
                  <a:moveTo>
                    <a:pt x="2799511" y="2828912"/>
                  </a:moveTo>
                  <a:lnTo>
                    <a:pt x="2742361" y="2828912"/>
                  </a:lnTo>
                  <a:lnTo>
                    <a:pt x="2742361" y="2847962"/>
                  </a:lnTo>
                  <a:lnTo>
                    <a:pt x="2799511" y="2847962"/>
                  </a:lnTo>
                  <a:lnTo>
                    <a:pt x="2799511" y="2828912"/>
                  </a:lnTo>
                  <a:close/>
                </a:path>
                <a:path w="4133850" h="2847975">
                  <a:moveTo>
                    <a:pt x="2823108" y="0"/>
                  </a:moveTo>
                  <a:lnTo>
                    <a:pt x="2765958" y="0"/>
                  </a:lnTo>
                  <a:lnTo>
                    <a:pt x="2765958" y="19050"/>
                  </a:lnTo>
                  <a:lnTo>
                    <a:pt x="2823108" y="19050"/>
                  </a:lnTo>
                  <a:lnTo>
                    <a:pt x="2823108" y="0"/>
                  </a:lnTo>
                  <a:close/>
                </a:path>
                <a:path w="4133850" h="2847975">
                  <a:moveTo>
                    <a:pt x="2894901" y="2828912"/>
                  </a:moveTo>
                  <a:lnTo>
                    <a:pt x="2837751" y="2828912"/>
                  </a:lnTo>
                  <a:lnTo>
                    <a:pt x="2837751" y="2847962"/>
                  </a:lnTo>
                  <a:lnTo>
                    <a:pt x="2894901" y="2847962"/>
                  </a:lnTo>
                  <a:lnTo>
                    <a:pt x="2894901" y="2828912"/>
                  </a:lnTo>
                  <a:close/>
                </a:path>
                <a:path w="4133850" h="2847975">
                  <a:moveTo>
                    <a:pt x="2918498" y="0"/>
                  </a:moveTo>
                  <a:lnTo>
                    <a:pt x="2861348" y="0"/>
                  </a:lnTo>
                  <a:lnTo>
                    <a:pt x="2861348" y="19050"/>
                  </a:lnTo>
                  <a:lnTo>
                    <a:pt x="2918498" y="19050"/>
                  </a:lnTo>
                  <a:lnTo>
                    <a:pt x="2918498" y="0"/>
                  </a:lnTo>
                  <a:close/>
                </a:path>
                <a:path w="4133850" h="2847975">
                  <a:moveTo>
                    <a:pt x="2990278" y="2828912"/>
                  </a:moveTo>
                  <a:lnTo>
                    <a:pt x="2933128" y="2828912"/>
                  </a:lnTo>
                  <a:lnTo>
                    <a:pt x="2933128" y="2847962"/>
                  </a:lnTo>
                  <a:lnTo>
                    <a:pt x="2990278" y="2847962"/>
                  </a:lnTo>
                  <a:lnTo>
                    <a:pt x="2990278" y="2828912"/>
                  </a:lnTo>
                  <a:close/>
                </a:path>
                <a:path w="4133850" h="2847975">
                  <a:moveTo>
                    <a:pt x="3013875" y="0"/>
                  </a:moveTo>
                  <a:lnTo>
                    <a:pt x="2956725" y="0"/>
                  </a:lnTo>
                  <a:lnTo>
                    <a:pt x="2956725" y="19050"/>
                  </a:lnTo>
                  <a:lnTo>
                    <a:pt x="3013875" y="19050"/>
                  </a:lnTo>
                  <a:lnTo>
                    <a:pt x="3013875" y="0"/>
                  </a:lnTo>
                  <a:close/>
                </a:path>
                <a:path w="4133850" h="2847975">
                  <a:moveTo>
                    <a:pt x="3085655" y="2828912"/>
                  </a:moveTo>
                  <a:lnTo>
                    <a:pt x="3028505" y="2828912"/>
                  </a:lnTo>
                  <a:lnTo>
                    <a:pt x="3028505" y="2847962"/>
                  </a:lnTo>
                  <a:lnTo>
                    <a:pt x="3085655" y="2847962"/>
                  </a:lnTo>
                  <a:lnTo>
                    <a:pt x="3085655" y="2828912"/>
                  </a:lnTo>
                  <a:close/>
                </a:path>
                <a:path w="4133850" h="2847975">
                  <a:moveTo>
                    <a:pt x="3109252" y="0"/>
                  </a:moveTo>
                  <a:lnTo>
                    <a:pt x="3052102" y="0"/>
                  </a:lnTo>
                  <a:lnTo>
                    <a:pt x="3052102" y="19050"/>
                  </a:lnTo>
                  <a:lnTo>
                    <a:pt x="3109252" y="19050"/>
                  </a:lnTo>
                  <a:lnTo>
                    <a:pt x="3109252" y="0"/>
                  </a:lnTo>
                  <a:close/>
                </a:path>
                <a:path w="4133850" h="2847975">
                  <a:moveTo>
                    <a:pt x="3181045" y="2828912"/>
                  </a:moveTo>
                  <a:lnTo>
                    <a:pt x="3123895" y="2828912"/>
                  </a:lnTo>
                  <a:lnTo>
                    <a:pt x="3123895" y="2847962"/>
                  </a:lnTo>
                  <a:lnTo>
                    <a:pt x="3181045" y="2847962"/>
                  </a:lnTo>
                  <a:lnTo>
                    <a:pt x="3181045" y="2828912"/>
                  </a:lnTo>
                  <a:close/>
                </a:path>
                <a:path w="4133850" h="2847975">
                  <a:moveTo>
                    <a:pt x="3204641" y="0"/>
                  </a:moveTo>
                  <a:lnTo>
                    <a:pt x="3147491" y="0"/>
                  </a:lnTo>
                  <a:lnTo>
                    <a:pt x="3147491" y="19050"/>
                  </a:lnTo>
                  <a:lnTo>
                    <a:pt x="3204641" y="19050"/>
                  </a:lnTo>
                  <a:lnTo>
                    <a:pt x="3204641" y="0"/>
                  </a:lnTo>
                  <a:close/>
                </a:path>
                <a:path w="4133850" h="2847975">
                  <a:moveTo>
                    <a:pt x="3276422" y="2828912"/>
                  </a:moveTo>
                  <a:lnTo>
                    <a:pt x="3219272" y="2828912"/>
                  </a:lnTo>
                  <a:lnTo>
                    <a:pt x="3219272" y="2847962"/>
                  </a:lnTo>
                  <a:lnTo>
                    <a:pt x="3276422" y="2847962"/>
                  </a:lnTo>
                  <a:lnTo>
                    <a:pt x="3276422" y="2828912"/>
                  </a:lnTo>
                  <a:close/>
                </a:path>
                <a:path w="4133850" h="2847975">
                  <a:moveTo>
                    <a:pt x="3300018" y="0"/>
                  </a:moveTo>
                  <a:lnTo>
                    <a:pt x="3242868" y="0"/>
                  </a:lnTo>
                  <a:lnTo>
                    <a:pt x="3242868" y="19050"/>
                  </a:lnTo>
                  <a:lnTo>
                    <a:pt x="3300018" y="19050"/>
                  </a:lnTo>
                  <a:lnTo>
                    <a:pt x="3300018" y="0"/>
                  </a:lnTo>
                  <a:close/>
                </a:path>
                <a:path w="4133850" h="2847975">
                  <a:moveTo>
                    <a:pt x="3371812" y="2828912"/>
                  </a:moveTo>
                  <a:lnTo>
                    <a:pt x="3314662" y="2828912"/>
                  </a:lnTo>
                  <a:lnTo>
                    <a:pt x="3314662" y="2847962"/>
                  </a:lnTo>
                  <a:lnTo>
                    <a:pt x="3371812" y="2847962"/>
                  </a:lnTo>
                  <a:lnTo>
                    <a:pt x="3371812" y="2828912"/>
                  </a:lnTo>
                  <a:close/>
                </a:path>
                <a:path w="4133850" h="2847975">
                  <a:moveTo>
                    <a:pt x="3395408" y="0"/>
                  </a:moveTo>
                  <a:lnTo>
                    <a:pt x="3338258" y="0"/>
                  </a:lnTo>
                  <a:lnTo>
                    <a:pt x="3338258" y="19050"/>
                  </a:lnTo>
                  <a:lnTo>
                    <a:pt x="3395408" y="19050"/>
                  </a:lnTo>
                  <a:lnTo>
                    <a:pt x="3395408" y="0"/>
                  </a:lnTo>
                  <a:close/>
                </a:path>
                <a:path w="4133850" h="2847975">
                  <a:moveTo>
                    <a:pt x="3467189" y="2828912"/>
                  </a:moveTo>
                  <a:lnTo>
                    <a:pt x="3410039" y="2828912"/>
                  </a:lnTo>
                  <a:lnTo>
                    <a:pt x="3410039" y="2847962"/>
                  </a:lnTo>
                  <a:lnTo>
                    <a:pt x="3467189" y="2847962"/>
                  </a:lnTo>
                  <a:lnTo>
                    <a:pt x="3467189" y="2828912"/>
                  </a:lnTo>
                  <a:close/>
                </a:path>
                <a:path w="4133850" h="2847975">
                  <a:moveTo>
                    <a:pt x="3490785" y="0"/>
                  </a:moveTo>
                  <a:lnTo>
                    <a:pt x="3433635" y="0"/>
                  </a:lnTo>
                  <a:lnTo>
                    <a:pt x="3433635" y="19050"/>
                  </a:lnTo>
                  <a:lnTo>
                    <a:pt x="3490785" y="19050"/>
                  </a:lnTo>
                  <a:lnTo>
                    <a:pt x="3490785" y="0"/>
                  </a:lnTo>
                  <a:close/>
                </a:path>
                <a:path w="4133850" h="2847975">
                  <a:moveTo>
                    <a:pt x="3562578" y="2828912"/>
                  </a:moveTo>
                  <a:lnTo>
                    <a:pt x="3505428" y="2828912"/>
                  </a:lnTo>
                  <a:lnTo>
                    <a:pt x="3505428" y="2847962"/>
                  </a:lnTo>
                  <a:lnTo>
                    <a:pt x="3562578" y="2847962"/>
                  </a:lnTo>
                  <a:lnTo>
                    <a:pt x="3562578" y="2828912"/>
                  </a:lnTo>
                  <a:close/>
                </a:path>
                <a:path w="4133850" h="2847975">
                  <a:moveTo>
                    <a:pt x="3586162" y="0"/>
                  </a:moveTo>
                  <a:lnTo>
                    <a:pt x="3529012" y="0"/>
                  </a:lnTo>
                  <a:lnTo>
                    <a:pt x="3529012" y="19050"/>
                  </a:lnTo>
                  <a:lnTo>
                    <a:pt x="3586162" y="19050"/>
                  </a:lnTo>
                  <a:lnTo>
                    <a:pt x="3586162" y="0"/>
                  </a:lnTo>
                  <a:close/>
                </a:path>
                <a:path w="4133850" h="2847975">
                  <a:moveTo>
                    <a:pt x="3657955" y="2828912"/>
                  </a:moveTo>
                  <a:lnTo>
                    <a:pt x="3600805" y="2828912"/>
                  </a:lnTo>
                  <a:lnTo>
                    <a:pt x="3600805" y="2847962"/>
                  </a:lnTo>
                  <a:lnTo>
                    <a:pt x="3657955" y="2847962"/>
                  </a:lnTo>
                  <a:lnTo>
                    <a:pt x="3657955" y="2828912"/>
                  </a:lnTo>
                  <a:close/>
                </a:path>
                <a:path w="4133850" h="2847975">
                  <a:moveTo>
                    <a:pt x="3681552" y="0"/>
                  </a:moveTo>
                  <a:lnTo>
                    <a:pt x="3624402" y="0"/>
                  </a:lnTo>
                  <a:lnTo>
                    <a:pt x="3624402" y="19050"/>
                  </a:lnTo>
                  <a:lnTo>
                    <a:pt x="3681552" y="19050"/>
                  </a:lnTo>
                  <a:lnTo>
                    <a:pt x="3681552" y="0"/>
                  </a:lnTo>
                  <a:close/>
                </a:path>
                <a:path w="4133850" h="2847975">
                  <a:moveTo>
                    <a:pt x="3753332" y="2828912"/>
                  </a:moveTo>
                  <a:lnTo>
                    <a:pt x="3696182" y="2828912"/>
                  </a:lnTo>
                  <a:lnTo>
                    <a:pt x="3696182" y="2847962"/>
                  </a:lnTo>
                  <a:lnTo>
                    <a:pt x="3753332" y="2847962"/>
                  </a:lnTo>
                  <a:lnTo>
                    <a:pt x="3753332" y="2828912"/>
                  </a:lnTo>
                  <a:close/>
                </a:path>
                <a:path w="4133850" h="2847975">
                  <a:moveTo>
                    <a:pt x="3776929" y="0"/>
                  </a:moveTo>
                  <a:lnTo>
                    <a:pt x="3719779" y="0"/>
                  </a:lnTo>
                  <a:lnTo>
                    <a:pt x="3719779" y="19050"/>
                  </a:lnTo>
                  <a:lnTo>
                    <a:pt x="3776929" y="19050"/>
                  </a:lnTo>
                  <a:lnTo>
                    <a:pt x="3776929" y="0"/>
                  </a:lnTo>
                  <a:close/>
                </a:path>
                <a:path w="4133850" h="2847975">
                  <a:moveTo>
                    <a:pt x="3848722" y="2828912"/>
                  </a:moveTo>
                  <a:lnTo>
                    <a:pt x="3791572" y="2828912"/>
                  </a:lnTo>
                  <a:lnTo>
                    <a:pt x="3791572" y="2847962"/>
                  </a:lnTo>
                  <a:lnTo>
                    <a:pt x="3848722" y="2847962"/>
                  </a:lnTo>
                  <a:lnTo>
                    <a:pt x="3848722" y="2828912"/>
                  </a:lnTo>
                  <a:close/>
                </a:path>
                <a:path w="4133850" h="2847975">
                  <a:moveTo>
                    <a:pt x="3872319" y="0"/>
                  </a:moveTo>
                  <a:lnTo>
                    <a:pt x="3815169" y="0"/>
                  </a:lnTo>
                  <a:lnTo>
                    <a:pt x="3815169" y="19050"/>
                  </a:lnTo>
                  <a:lnTo>
                    <a:pt x="3872319" y="19050"/>
                  </a:lnTo>
                  <a:lnTo>
                    <a:pt x="3872319" y="0"/>
                  </a:lnTo>
                  <a:close/>
                </a:path>
                <a:path w="4133850" h="2847975">
                  <a:moveTo>
                    <a:pt x="3944099" y="2828912"/>
                  </a:moveTo>
                  <a:lnTo>
                    <a:pt x="3886949" y="2828912"/>
                  </a:lnTo>
                  <a:lnTo>
                    <a:pt x="3886949" y="2847962"/>
                  </a:lnTo>
                  <a:lnTo>
                    <a:pt x="3944099" y="2847962"/>
                  </a:lnTo>
                  <a:lnTo>
                    <a:pt x="3944099" y="2828912"/>
                  </a:lnTo>
                  <a:close/>
                </a:path>
                <a:path w="4133850" h="2847975">
                  <a:moveTo>
                    <a:pt x="3967696" y="0"/>
                  </a:moveTo>
                  <a:lnTo>
                    <a:pt x="3910546" y="0"/>
                  </a:lnTo>
                  <a:lnTo>
                    <a:pt x="3910546" y="19050"/>
                  </a:lnTo>
                  <a:lnTo>
                    <a:pt x="3967696" y="19050"/>
                  </a:lnTo>
                  <a:lnTo>
                    <a:pt x="3967696" y="0"/>
                  </a:lnTo>
                  <a:close/>
                </a:path>
                <a:path w="4133850" h="2847975">
                  <a:moveTo>
                    <a:pt x="4039476" y="2847924"/>
                  </a:moveTo>
                  <a:lnTo>
                    <a:pt x="4039387" y="2828912"/>
                  </a:lnTo>
                  <a:lnTo>
                    <a:pt x="3982339" y="2828912"/>
                  </a:lnTo>
                  <a:lnTo>
                    <a:pt x="3982339" y="2847924"/>
                  </a:lnTo>
                  <a:lnTo>
                    <a:pt x="4039476" y="2847924"/>
                  </a:lnTo>
                  <a:close/>
                </a:path>
                <a:path w="4133850" h="2847975">
                  <a:moveTo>
                    <a:pt x="4065232" y="3822"/>
                  </a:moveTo>
                  <a:lnTo>
                    <a:pt x="4057192" y="1803"/>
                  </a:lnTo>
                  <a:lnTo>
                    <a:pt x="4047985" y="444"/>
                  </a:lnTo>
                  <a:lnTo>
                    <a:pt x="4038600" y="0"/>
                  </a:lnTo>
                  <a:lnTo>
                    <a:pt x="4005935" y="0"/>
                  </a:lnTo>
                  <a:lnTo>
                    <a:pt x="4005935" y="19050"/>
                  </a:lnTo>
                  <a:lnTo>
                    <a:pt x="4038600" y="19050"/>
                  </a:lnTo>
                  <a:lnTo>
                    <a:pt x="4046118" y="19405"/>
                  </a:lnTo>
                  <a:lnTo>
                    <a:pt x="4053471" y="20497"/>
                  </a:lnTo>
                  <a:lnTo>
                    <a:pt x="4059898" y="22110"/>
                  </a:lnTo>
                  <a:lnTo>
                    <a:pt x="4065232" y="3822"/>
                  </a:lnTo>
                  <a:close/>
                </a:path>
                <a:path w="4133850" h="2847975">
                  <a:moveTo>
                    <a:pt x="4124718" y="2793161"/>
                  </a:moveTo>
                  <a:lnTo>
                    <a:pt x="4107497" y="2785072"/>
                  </a:lnTo>
                  <a:lnTo>
                    <a:pt x="4105795" y="2788678"/>
                  </a:lnTo>
                  <a:lnTo>
                    <a:pt x="4101973" y="2795066"/>
                  </a:lnTo>
                  <a:lnTo>
                    <a:pt x="4072217" y="2821013"/>
                  </a:lnTo>
                  <a:lnTo>
                    <a:pt x="4080624" y="2838094"/>
                  </a:lnTo>
                  <a:lnTo>
                    <a:pt x="4112272" y="2813113"/>
                  </a:lnTo>
                  <a:lnTo>
                    <a:pt x="4122597" y="2797670"/>
                  </a:lnTo>
                  <a:lnTo>
                    <a:pt x="4124718" y="2793161"/>
                  </a:lnTo>
                  <a:close/>
                </a:path>
                <a:path w="4133850" h="2847975">
                  <a:moveTo>
                    <a:pt x="4132580" y="80264"/>
                  </a:moveTo>
                  <a:lnTo>
                    <a:pt x="4117822" y="42316"/>
                  </a:lnTo>
                  <a:lnTo>
                    <a:pt x="4102443" y="24701"/>
                  </a:lnTo>
                  <a:lnTo>
                    <a:pt x="4089679" y="38811"/>
                  </a:lnTo>
                  <a:lnTo>
                    <a:pt x="4092486" y="41363"/>
                  </a:lnTo>
                  <a:lnTo>
                    <a:pt x="4097540" y="46926"/>
                  </a:lnTo>
                  <a:lnTo>
                    <a:pt x="4113784" y="83261"/>
                  </a:lnTo>
                  <a:lnTo>
                    <a:pt x="4132580" y="80264"/>
                  </a:lnTo>
                  <a:close/>
                </a:path>
                <a:path w="4133850" h="2847975">
                  <a:moveTo>
                    <a:pt x="4133850" y="2694863"/>
                  </a:moveTo>
                  <a:lnTo>
                    <a:pt x="4114800" y="2694863"/>
                  </a:lnTo>
                  <a:lnTo>
                    <a:pt x="4114800" y="2752013"/>
                  </a:lnTo>
                  <a:lnTo>
                    <a:pt x="4133850" y="2752013"/>
                  </a:lnTo>
                  <a:lnTo>
                    <a:pt x="4133850" y="2694863"/>
                  </a:lnTo>
                  <a:close/>
                </a:path>
                <a:path w="4133850" h="2847975">
                  <a:moveTo>
                    <a:pt x="4133850" y="2599486"/>
                  </a:moveTo>
                  <a:lnTo>
                    <a:pt x="4114800" y="2599486"/>
                  </a:lnTo>
                  <a:lnTo>
                    <a:pt x="4114800" y="2656636"/>
                  </a:lnTo>
                  <a:lnTo>
                    <a:pt x="4133850" y="2656636"/>
                  </a:lnTo>
                  <a:lnTo>
                    <a:pt x="4133850" y="2599486"/>
                  </a:lnTo>
                  <a:close/>
                </a:path>
                <a:path w="4133850" h="2847975">
                  <a:moveTo>
                    <a:pt x="4133850" y="2504097"/>
                  </a:moveTo>
                  <a:lnTo>
                    <a:pt x="4114800" y="2504097"/>
                  </a:lnTo>
                  <a:lnTo>
                    <a:pt x="4114800" y="2561247"/>
                  </a:lnTo>
                  <a:lnTo>
                    <a:pt x="4133850" y="2561247"/>
                  </a:lnTo>
                  <a:lnTo>
                    <a:pt x="4133850" y="2504097"/>
                  </a:lnTo>
                  <a:close/>
                </a:path>
                <a:path w="4133850" h="2847975">
                  <a:moveTo>
                    <a:pt x="4133850" y="2408720"/>
                  </a:moveTo>
                  <a:lnTo>
                    <a:pt x="4114800" y="2408720"/>
                  </a:lnTo>
                  <a:lnTo>
                    <a:pt x="4114800" y="2465870"/>
                  </a:lnTo>
                  <a:lnTo>
                    <a:pt x="4133850" y="2465870"/>
                  </a:lnTo>
                  <a:lnTo>
                    <a:pt x="4133850" y="2408720"/>
                  </a:lnTo>
                  <a:close/>
                </a:path>
                <a:path w="4133850" h="2847975">
                  <a:moveTo>
                    <a:pt x="4133850" y="2313330"/>
                  </a:moveTo>
                  <a:lnTo>
                    <a:pt x="4114800" y="2313330"/>
                  </a:lnTo>
                  <a:lnTo>
                    <a:pt x="4114800" y="2370480"/>
                  </a:lnTo>
                  <a:lnTo>
                    <a:pt x="4133850" y="2370480"/>
                  </a:lnTo>
                  <a:lnTo>
                    <a:pt x="4133850" y="2313330"/>
                  </a:lnTo>
                  <a:close/>
                </a:path>
                <a:path w="4133850" h="2847975">
                  <a:moveTo>
                    <a:pt x="4133850" y="2217953"/>
                  </a:moveTo>
                  <a:lnTo>
                    <a:pt x="4114800" y="2217953"/>
                  </a:lnTo>
                  <a:lnTo>
                    <a:pt x="4114800" y="2275103"/>
                  </a:lnTo>
                  <a:lnTo>
                    <a:pt x="4133850" y="2275103"/>
                  </a:lnTo>
                  <a:lnTo>
                    <a:pt x="4133850" y="2217953"/>
                  </a:lnTo>
                  <a:close/>
                </a:path>
                <a:path w="4133850" h="2847975">
                  <a:moveTo>
                    <a:pt x="4133850" y="2122576"/>
                  </a:moveTo>
                  <a:lnTo>
                    <a:pt x="4114800" y="2122576"/>
                  </a:lnTo>
                  <a:lnTo>
                    <a:pt x="4114800" y="2179726"/>
                  </a:lnTo>
                  <a:lnTo>
                    <a:pt x="4133850" y="2179726"/>
                  </a:lnTo>
                  <a:lnTo>
                    <a:pt x="4133850" y="2122576"/>
                  </a:lnTo>
                  <a:close/>
                </a:path>
                <a:path w="4133850" h="2847975">
                  <a:moveTo>
                    <a:pt x="4133850" y="2027186"/>
                  </a:moveTo>
                  <a:lnTo>
                    <a:pt x="4114800" y="2027186"/>
                  </a:lnTo>
                  <a:lnTo>
                    <a:pt x="4114800" y="2084336"/>
                  </a:lnTo>
                  <a:lnTo>
                    <a:pt x="4133850" y="2084336"/>
                  </a:lnTo>
                  <a:lnTo>
                    <a:pt x="4133850" y="2027186"/>
                  </a:lnTo>
                  <a:close/>
                </a:path>
                <a:path w="4133850" h="2847975">
                  <a:moveTo>
                    <a:pt x="4133850" y="1931809"/>
                  </a:moveTo>
                  <a:lnTo>
                    <a:pt x="4114800" y="1931809"/>
                  </a:lnTo>
                  <a:lnTo>
                    <a:pt x="4114800" y="1988959"/>
                  </a:lnTo>
                  <a:lnTo>
                    <a:pt x="4133850" y="1988959"/>
                  </a:lnTo>
                  <a:lnTo>
                    <a:pt x="4133850" y="1931809"/>
                  </a:lnTo>
                  <a:close/>
                </a:path>
                <a:path w="4133850" h="2847975">
                  <a:moveTo>
                    <a:pt x="4133850" y="1836420"/>
                  </a:moveTo>
                  <a:lnTo>
                    <a:pt x="4114800" y="1836420"/>
                  </a:lnTo>
                  <a:lnTo>
                    <a:pt x="4114800" y="1893570"/>
                  </a:lnTo>
                  <a:lnTo>
                    <a:pt x="4133850" y="1893570"/>
                  </a:lnTo>
                  <a:lnTo>
                    <a:pt x="4133850" y="1836420"/>
                  </a:lnTo>
                  <a:close/>
                </a:path>
                <a:path w="4133850" h="2847975">
                  <a:moveTo>
                    <a:pt x="4133850" y="1741043"/>
                  </a:moveTo>
                  <a:lnTo>
                    <a:pt x="4114800" y="1741043"/>
                  </a:lnTo>
                  <a:lnTo>
                    <a:pt x="4114800" y="1798193"/>
                  </a:lnTo>
                  <a:lnTo>
                    <a:pt x="4133850" y="1798193"/>
                  </a:lnTo>
                  <a:lnTo>
                    <a:pt x="4133850" y="1741043"/>
                  </a:lnTo>
                  <a:close/>
                </a:path>
                <a:path w="4133850" h="2847975">
                  <a:moveTo>
                    <a:pt x="4133850" y="1645666"/>
                  </a:moveTo>
                  <a:lnTo>
                    <a:pt x="4114800" y="1645666"/>
                  </a:lnTo>
                  <a:lnTo>
                    <a:pt x="4114800" y="1702816"/>
                  </a:lnTo>
                  <a:lnTo>
                    <a:pt x="4133850" y="1702816"/>
                  </a:lnTo>
                  <a:lnTo>
                    <a:pt x="4133850" y="1645666"/>
                  </a:lnTo>
                  <a:close/>
                </a:path>
                <a:path w="4133850" h="2847975">
                  <a:moveTo>
                    <a:pt x="4133850" y="1550276"/>
                  </a:moveTo>
                  <a:lnTo>
                    <a:pt x="4114800" y="1550276"/>
                  </a:lnTo>
                  <a:lnTo>
                    <a:pt x="4114800" y="1607426"/>
                  </a:lnTo>
                  <a:lnTo>
                    <a:pt x="4133850" y="1607426"/>
                  </a:lnTo>
                  <a:lnTo>
                    <a:pt x="4133850" y="1550276"/>
                  </a:lnTo>
                  <a:close/>
                </a:path>
                <a:path w="4133850" h="2847975">
                  <a:moveTo>
                    <a:pt x="4133850" y="1454899"/>
                  </a:moveTo>
                  <a:lnTo>
                    <a:pt x="4114800" y="1454899"/>
                  </a:lnTo>
                  <a:lnTo>
                    <a:pt x="4114800" y="1512049"/>
                  </a:lnTo>
                  <a:lnTo>
                    <a:pt x="4133850" y="1512049"/>
                  </a:lnTo>
                  <a:lnTo>
                    <a:pt x="4133850" y="1454899"/>
                  </a:lnTo>
                  <a:close/>
                </a:path>
                <a:path w="4133850" h="2847975">
                  <a:moveTo>
                    <a:pt x="4133850" y="1359509"/>
                  </a:moveTo>
                  <a:lnTo>
                    <a:pt x="4114800" y="1359509"/>
                  </a:lnTo>
                  <a:lnTo>
                    <a:pt x="4114800" y="1416659"/>
                  </a:lnTo>
                  <a:lnTo>
                    <a:pt x="4133850" y="1416659"/>
                  </a:lnTo>
                  <a:lnTo>
                    <a:pt x="4133850" y="1359509"/>
                  </a:lnTo>
                  <a:close/>
                </a:path>
                <a:path w="4133850" h="2847975">
                  <a:moveTo>
                    <a:pt x="4133850" y="1264132"/>
                  </a:moveTo>
                  <a:lnTo>
                    <a:pt x="4114800" y="1264132"/>
                  </a:lnTo>
                  <a:lnTo>
                    <a:pt x="4114800" y="1321282"/>
                  </a:lnTo>
                  <a:lnTo>
                    <a:pt x="4133850" y="1321282"/>
                  </a:lnTo>
                  <a:lnTo>
                    <a:pt x="4133850" y="1264132"/>
                  </a:lnTo>
                  <a:close/>
                </a:path>
                <a:path w="4133850" h="2847975">
                  <a:moveTo>
                    <a:pt x="4133850" y="1168742"/>
                  </a:moveTo>
                  <a:lnTo>
                    <a:pt x="4114800" y="1168742"/>
                  </a:lnTo>
                  <a:lnTo>
                    <a:pt x="4114800" y="1225892"/>
                  </a:lnTo>
                  <a:lnTo>
                    <a:pt x="4133850" y="1225892"/>
                  </a:lnTo>
                  <a:lnTo>
                    <a:pt x="4133850" y="1168742"/>
                  </a:lnTo>
                  <a:close/>
                </a:path>
                <a:path w="4133850" h="2847975">
                  <a:moveTo>
                    <a:pt x="4133850" y="1073365"/>
                  </a:moveTo>
                  <a:lnTo>
                    <a:pt x="4114800" y="1073365"/>
                  </a:lnTo>
                  <a:lnTo>
                    <a:pt x="4114800" y="1130515"/>
                  </a:lnTo>
                  <a:lnTo>
                    <a:pt x="4133850" y="1130515"/>
                  </a:lnTo>
                  <a:lnTo>
                    <a:pt x="4133850" y="1073365"/>
                  </a:lnTo>
                  <a:close/>
                </a:path>
                <a:path w="4133850" h="2847975">
                  <a:moveTo>
                    <a:pt x="4133850" y="977988"/>
                  </a:moveTo>
                  <a:lnTo>
                    <a:pt x="4114800" y="977988"/>
                  </a:lnTo>
                  <a:lnTo>
                    <a:pt x="4114800" y="1035138"/>
                  </a:lnTo>
                  <a:lnTo>
                    <a:pt x="4133850" y="1035138"/>
                  </a:lnTo>
                  <a:lnTo>
                    <a:pt x="4133850" y="977988"/>
                  </a:lnTo>
                  <a:close/>
                </a:path>
                <a:path w="4133850" h="2847975">
                  <a:moveTo>
                    <a:pt x="4133850" y="882599"/>
                  </a:moveTo>
                  <a:lnTo>
                    <a:pt x="4114800" y="882599"/>
                  </a:lnTo>
                  <a:lnTo>
                    <a:pt x="4114800" y="939749"/>
                  </a:lnTo>
                  <a:lnTo>
                    <a:pt x="4133850" y="939749"/>
                  </a:lnTo>
                  <a:lnTo>
                    <a:pt x="4133850" y="882599"/>
                  </a:lnTo>
                  <a:close/>
                </a:path>
                <a:path w="4133850" h="2847975">
                  <a:moveTo>
                    <a:pt x="4133850" y="787222"/>
                  </a:moveTo>
                  <a:lnTo>
                    <a:pt x="4114800" y="787222"/>
                  </a:lnTo>
                  <a:lnTo>
                    <a:pt x="4114800" y="844372"/>
                  </a:lnTo>
                  <a:lnTo>
                    <a:pt x="4133850" y="844372"/>
                  </a:lnTo>
                  <a:lnTo>
                    <a:pt x="4133850" y="787222"/>
                  </a:lnTo>
                  <a:close/>
                </a:path>
                <a:path w="4133850" h="2847975">
                  <a:moveTo>
                    <a:pt x="4133850" y="691832"/>
                  </a:moveTo>
                  <a:lnTo>
                    <a:pt x="4114800" y="691832"/>
                  </a:lnTo>
                  <a:lnTo>
                    <a:pt x="4114800" y="748982"/>
                  </a:lnTo>
                  <a:lnTo>
                    <a:pt x="4133850" y="748982"/>
                  </a:lnTo>
                  <a:lnTo>
                    <a:pt x="4133850" y="691832"/>
                  </a:lnTo>
                  <a:close/>
                </a:path>
                <a:path w="4133850" h="2847975">
                  <a:moveTo>
                    <a:pt x="4133850" y="596455"/>
                  </a:moveTo>
                  <a:lnTo>
                    <a:pt x="4114800" y="596455"/>
                  </a:lnTo>
                  <a:lnTo>
                    <a:pt x="4114800" y="653605"/>
                  </a:lnTo>
                  <a:lnTo>
                    <a:pt x="4133850" y="653605"/>
                  </a:lnTo>
                  <a:lnTo>
                    <a:pt x="4133850" y="596455"/>
                  </a:lnTo>
                  <a:close/>
                </a:path>
                <a:path w="4133850" h="2847975">
                  <a:moveTo>
                    <a:pt x="4133850" y="501078"/>
                  </a:moveTo>
                  <a:lnTo>
                    <a:pt x="4114800" y="501078"/>
                  </a:lnTo>
                  <a:lnTo>
                    <a:pt x="4114800" y="558228"/>
                  </a:lnTo>
                  <a:lnTo>
                    <a:pt x="4133850" y="558228"/>
                  </a:lnTo>
                  <a:lnTo>
                    <a:pt x="4133850" y="501078"/>
                  </a:lnTo>
                  <a:close/>
                </a:path>
                <a:path w="4133850" h="2847975">
                  <a:moveTo>
                    <a:pt x="4133850" y="405688"/>
                  </a:moveTo>
                  <a:lnTo>
                    <a:pt x="4114800" y="405688"/>
                  </a:lnTo>
                  <a:lnTo>
                    <a:pt x="4114800" y="462838"/>
                  </a:lnTo>
                  <a:lnTo>
                    <a:pt x="4133850" y="462838"/>
                  </a:lnTo>
                  <a:lnTo>
                    <a:pt x="4133850" y="405688"/>
                  </a:lnTo>
                  <a:close/>
                </a:path>
                <a:path w="4133850" h="2847975">
                  <a:moveTo>
                    <a:pt x="4133850" y="310311"/>
                  </a:moveTo>
                  <a:lnTo>
                    <a:pt x="4114800" y="310311"/>
                  </a:lnTo>
                  <a:lnTo>
                    <a:pt x="4114800" y="367461"/>
                  </a:lnTo>
                  <a:lnTo>
                    <a:pt x="4133850" y="367461"/>
                  </a:lnTo>
                  <a:lnTo>
                    <a:pt x="4133850" y="310311"/>
                  </a:lnTo>
                  <a:close/>
                </a:path>
                <a:path w="4133850" h="2847975">
                  <a:moveTo>
                    <a:pt x="4133850" y="214922"/>
                  </a:moveTo>
                  <a:lnTo>
                    <a:pt x="4114800" y="214922"/>
                  </a:lnTo>
                  <a:lnTo>
                    <a:pt x="4114800" y="272072"/>
                  </a:lnTo>
                  <a:lnTo>
                    <a:pt x="4133850" y="272072"/>
                  </a:lnTo>
                  <a:lnTo>
                    <a:pt x="4133850" y="214922"/>
                  </a:lnTo>
                  <a:close/>
                </a:path>
                <a:path w="4133850" h="2847975">
                  <a:moveTo>
                    <a:pt x="4133850" y="119545"/>
                  </a:moveTo>
                  <a:lnTo>
                    <a:pt x="4114800" y="119545"/>
                  </a:lnTo>
                  <a:lnTo>
                    <a:pt x="4114800" y="176695"/>
                  </a:lnTo>
                  <a:lnTo>
                    <a:pt x="4133850" y="176695"/>
                  </a:lnTo>
                  <a:lnTo>
                    <a:pt x="4133850" y="119545"/>
                  </a:lnTo>
                  <a:close/>
                </a:path>
              </a:pathLst>
            </a:custGeom>
            <a:solidFill>
              <a:srgbClr val="D533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305424" y="3190874"/>
              <a:ext cx="3619500" cy="704850"/>
            </a:xfrm>
            <a:custGeom>
              <a:avLst/>
              <a:gdLst/>
              <a:ahLst/>
              <a:cxnLst/>
              <a:rect l="l" t="t" r="r" b="b"/>
              <a:pathLst>
                <a:path w="3619500" h="704850">
                  <a:moveTo>
                    <a:pt x="3548302" y="704849"/>
                  </a:moveTo>
                  <a:lnTo>
                    <a:pt x="71196" y="704849"/>
                  </a:lnTo>
                  <a:lnTo>
                    <a:pt x="66240" y="704361"/>
                  </a:lnTo>
                  <a:lnTo>
                    <a:pt x="29703" y="689227"/>
                  </a:lnTo>
                  <a:lnTo>
                    <a:pt x="3885" y="653187"/>
                  </a:lnTo>
                  <a:lnTo>
                    <a:pt x="0" y="633653"/>
                  </a:lnTo>
                  <a:lnTo>
                    <a:pt x="0" y="6286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0" y="3885"/>
                  </a:lnTo>
                  <a:lnTo>
                    <a:pt x="71196" y="0"/>
                  </a:lnTo>
                  <a:lnTo>
                    <a:pt x="3548302" y="0"/>
                  </a:lnTo>
                  <a:lnTo>
                    <a:pt x="3589792" y="15621"/>
                  </a:lnTo>
                  <a:lnTo>
                    <a:pt x="3615613" y="51661"/>
                  </a:lnTo>
                  <a:lnTo>
                    <a:pt x="3619499" y="71196"/>
                  </a:lnTo>
                  <a:lnTo>
                    <a:pt x="3619499" y="633653"/>
                  </a:lnTo>
                  <a:lnTo>
                    <a:pt x="3603876" y="675144"/>
                  </a:lnTo>
                  <a:lnTo>
                    <a:pt x="3567836" y="700963"/>
                  </a:lnTo>
                  <a:lnTo>
                    <a:pt x="3553257" y="704361"/>
                  </a:lnTo>
                  <a:lnTo>
                    <a:pt x="3548302" y="704849"/>
                  </a:lnTo>
                  <a:close/>
                </a:path>
              </a:pathLst>
            </a:custGeom>
            <a:solidFill>
              <a:srgbClr val="D53383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04621" y="1619502"/>
              <a:ext cx="172253" cy="145598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5459412" y="1555686"/>
            <a:ext cx="88265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50" b="1">
                <a:solidFill>
                  <a:srgbClr val="D53383"/>
                </a:solidFill>
                <a:latin typeface="Microsoft JhengHei"/>
                <a:cs typeface="Microsoft JhengHei"/>
              </a:rPr>
              <a:t>従来</a:t>
            </a:r>
            <a:r>
              <a:rPr dirty="0" sz="1500" spc="-135" b="1">
                <a:solidFill>
                  <a:srgbClr val="D53383"/>
                </a:solidFill>
                <a:latin typeface="Malgun Gothic"/>
                <a:cs typeface="Malgun Gothic"/>
              </a:rPr>
              <a:t>の課題</a:t>
            </a:r>
            <a:endParaRPr sz="1500">
              <a:latin typeface="Malgun Gothic"/>
              <a:cs typeface="Malgun Gothic"/>
            </a:endParaRPr>
          </a:p>
        </p:txBody>
      </p:sp>
      <p:pic>
        <p:nvPicPr>
          <p:cNvPr id="28" name="object 2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48299" y="3371850"/>
            <a:ext cx="114299" cy="130628"/>
          </a:xfrm>
          <a:prstGeom prst="rect">
            <a:avLst/>
          </a:prstGeom>
        </p:spPr>
      </p:pic>
      <p:sp>
        <p:nvSpPr>
          <p:cNvPr id="29" name="object 29" descr=""/>
          <p:cNvSpPr txBox="1"/>
          <p:nvPr/>
        </p:nvSpPr>
        <p:spPr>
          <a:xfrm>
            <a:off x="5430837" y="3259720"/>
            <a:ext cx="1239520" cy="495934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59385">
              <a:lnSpc>
                <a:spcPct val="100000"/>
              </a:lnSpc>
              <a:spcBef>
                <a:spcPts val="630"/>
              </a:spcBef>
            </a:pPr>
            <a:r>
              <a:rPr dirty="0" sz="1150" spc="-110" b="1">
                <a:solidFill>
                  <a:srgbClr val="D53383"/>
                </a:solidFill>
                <a:latin typeface="Microsoft JhengHei"/>
                <a:cs typeface="Microsoft JhengHei"/>
              </a:rPr>
              <a:t>データ</a:t>
            </a:r>
            <a:r>
              <a:rPr dirty="0" sz="1150" spc="-100" b="1">
                <a:solidFill>
                  <a:srgbClr val="D53383"/>
                </a:solidFill>
                <a:latin typeface="Malgun Gothic"/>
                <a:cs typeface="Malgun Gothic"/>
              </a:rPr>
              <a:t>不均衡問題</a:t>
            </a:r>
            <a:endParaRPr sz="11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100" spc="-175">
                <a:solidFill>
                  <a:srgbClr val="545454"/>
                </a:solidFill>
                <a:latin typeface="SimSun"/>
                <a:cs typeface="SimSun"/>
              </a:rPr>
              <a:t>正常：異常 </a:t>
            </a:r>
            <a:r>
              <a:rPr dirty="0" sz="1100" spc="145">
                <a:solidFill>
                  <a:srgbClr val="545454"/>
                </a:solidFill>
                <a:latin typeface="Arial MT"/>
                <a:cs typeface="Arial MT"/>
              </a:rPr>
              <a:t>≈ </a:t>
            </a:r>
            <a:r>
              <a:rPr dirty="0" sz="1050" spc="-20">
                <a:solidFill>
                  <a:srgbClr val="545454"/>
                </a:solidFill>
                <a:latin typeface="Arial MT"/>
                <a:cs typeface="Arial MT"/>
              </a:rPr>
              <a:t>99</a:t>
            </a:r>
            <a:r>
              <a:rPr dirty="0" sz="1100" spc="-20">
                <a:solidFill>
                  <a:srgbClr val="545454"/>
                </a:solidFill>
                <a:latin typeface="SimSun"/>
                <a:cs typeface="SimSun"/>
              </a:rPr>
              <a:t>：</a:t>
            </a:r>
            <a:r>
              <a:rPr dirty="0" sz="1050" spc="-20">
                <a:solidFill>
                  <a:srgbClr val="545454"/>
                </a:solidFill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262562" y="1949926"/>
            <a:ext cx="155321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7246" sz="1725" spc="-300">
                <a:solidFill>
                  <a:srgbClr val="D53383"/>
                </a:solidFill>
                <a:latin typeface="Segoe UI Emoji"/>
                <a:cs typeface="Segoe UI Emoji"/>
              </a:rPr>
              <a:t>⚠ </a:t>
            </a:r>
            <a:r>
              <a:rPr dirty="0" sz="1250" spc="-125">
                <a:solidFill>
                  <a:srgbClr val="545454"/>
                </a:solidFill>
                <a:latin typeface="SimSun"/>
                <a:cs typeface="SimSun"/>
              </a:rPr>
              <a:t>正常音</a:t>
            </a:r>
            <a:r>
              <a:rPr dirty="0" sz="1250" spc="-35">
                <a:solidFill>
                  <a:srgbClr val="545454"/>
                </a:solidFill>
                <a:latin typeface="MS PGothic"/>
                <a:cs typeface="MS PGothic"/>
              </a:rPr>
              <a:t>データは</a:t>
            </a:r>
            <a:r>
              <a:rPr dirty="0" sz="1250" spc="-90">
                <a:solidFill>
                  <a:srgbClr val="545454"/>
                </a:solidFill>
                <a:latin typeface="SimSun"/>
                <a:cs typeface="SimSun"/>
              </a:rPr>
              <a:t>豊富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5262562" y="2245201"/>
            <a:ext cx="198183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7246" sz="1725" spc="-300">
                <a:solidFill>
                  <a:srgbClr val="D53383"/>
                </a:solidFill>
                <a:latin typeface="Segoe UI Emoji"/>
                <a:cs typeface="Segoe UI Emoji"/>
              </a:rPr>
              <a:t>⚠ </a:t>
            </a:r>
            <a:r>
              <a:rPr dirty="0" sz="1250" spc="-125">
                <a:solidFill>
                  <a:srgbClr val="545454"/>
                </a:solidFill>
                <a:latin typeface="SimSun"/>
                <a:cs typeface="SimSun"/>
              </a:rPr>
              <a:t>異常音</a:t>
            </a:r>
            <a:r>
              <a:rPr dirty="0" sz="1250" spc="-35">
                <a:solidFill>
                  <a:srgbClr val="545454"/>
                </a:solidFill>
                <a:latin typeface="MS PGothic"/>
                <a:cs typeface="MS PGothic"/>
              </a:rPr>
              <a:t>データは</a:t>
            </a:r>
            <a:r>
              <a:rPr dirty="0" sz="1250" spc="-125">
                <a:solidFill>
                  <a:srgbClr val="545454"/>
                </a:solidFill>
                <a:latin typeface="SimSun"/>
                <a:cs typeface="SimSun"/>
              </a:rPr>
              <a:t>希少</a:t>
            </a:r>
            <a:r>
              <a:rPr dirty="0" sz="1250" spc="805">
                <a:solidFill>
                  <a:srgbClr val="545454"/>
                </a:solidFill>
                <a:latin typeface="MS PGothic"/>
                <a:cs typeface="MS PGothic"/>
              </a:rPr>
              <a:t>‧</a:t>
            </a:r>
            <a:r>
              <a:rPr dirty="0" sz="1250" spc="-90">
                <a:solidFill>
                  <a:srgbClr val="545454"/>
                </a:solidFill>
                <a:latin typeface="SimSun"/>
                <a:cs typeface="SimSun"/>
              </a:rPr>
              <a:t>多様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262562" y="2540476"/>
            <a:ext cx="155321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7246" sz="1725" spc="-300">
                <a:solidFill>
                  <a:srgbClr val="D53383"/>
                </a:solidFill>
                <a:latin typeface="Segoe UI Emoji"/>
                <a:cs typeface="Segoe UI Emoji"/>
              </a:rPr>
              <a:t>⚠ </a:t>
            </a:r>
            <a:r>
              <a:rPr dirty="0" sz="1250" spc="-125">
                <a:solidFill>
                  <a:srgbClr val="545454"/>
                </a:solidFill>
                <a:latin typeface="SimSun"/>
                <a:cs typeface="SimSun"/>
              </a:rPr>
              <a:t>教師</a:t>
            </a:r>
            <a:r>
              <a:rPr dirty="0" sz="1250" spc="85">
                <a:solidFill>
                  <a:srgbClr val="545454"/>
                </a:solidFill>
                <a:latin typeface="MS PGothic"/>
                <a:cs typeface="MS PGothic"/>
              </a:rPr>
              <a:t>なし</a:t>
            </a:r>
            <a:r>
              <a:rPr dirty="0" sz="1250" spc="-125">
                <a:solidFill>
                  <a:srgbClr val="545454"/>
                </a:solidFill>
                <a:latin typeface="SimSun"/>
                <a:cs typeface="SimSun"/>
              </a:rPr>
              <a:t>学習</a:t>
            </a:r>
            <a:r>
              <a:rPr dirty="0" sz="1250" spc="-125">
                <a:solidFill>
                  <a:srgbClr val="545454"/>
                </a:solidFill>
                <a:latin typeface="MS PGothic"/>
                <a:cs typeface="MS PGothic"/>
              </a:rPr>
              <a:t>が</a:t>
            </a:r>
            <a:r>
              <a:rPr dirty="0" sz="1250" spc="-90">
                <a:solidFill>
                  <a:srgbClr val="545454"/>
                </a:solidFill>
                <a:latin typeface="SimSun"/>
                <a:cs typeface="SimSun"/>
              </a:rPr>
              <a:t>主流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262562" y="2835751"/>
            <a:ext cx="140843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7246" sz="1725" spc="-300">
                <a:solidFill>
                  <a:srgbClr val="D53383"/>
                </a:solidFill>
                <a:latin typeface="Segoe UI Emoji"/>
                <a:cs typeface="Segoe UI Emoji"/>
              </a:rPr>
              <a:t>⚠ </a:t>
            </a:r>
            <a:r>
              <a:rPr dirty="0" sz="1250" spc="-125">
                <a:solidFill>
                  <a:srgbClr val="545454"/>
                </a:solidFill>
                <a:latin typeface="SimSun"/>
                <a:cs typeface="SimSun"/>
              </a:rPr>
              <a:t>機械</a:t>
            </a:r>
            <a:r>
              <a:rPr dirty="0" sz="1250" spc="5">
                <a:solidFill>
                  <a:srgbClr val="545454"/>
                </a:solidFill>
                <a:latin typeface="MS PGothic"/>
                <a:cs typeface="MS PGothic"/>
              </a:rPr>
              <a:t>ごとの</a:t>
            </a:r>
            <a:r>
              <a:rPr dirty="0" sz="1250" spc="-100">
                <a:solidFill>
                  <a:srgbClr val="545454"/>
                </a:solidFill>
                <a:latin typeface="SimSun"/>
                <a:cs typeface="SimSun"/>
              </a:rPr>
              <a:t>個体差</a:t>
            </a:r>
            <a:endParaRPr sz="1250">
              <a:latin typeface="SimSun"/>
              <a:cs typeface="SimSun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571499" y="4438649"/>
            <a:ext cx="8610600" cy="1885950"/>
            <a:chOff x="571499" y="4438649"/>
            <a:chExt cx="8610600" cy="1885950"/>
          </a:xfrm>
        </p:grpSpPr>
        <p:pic>
          <p:nvPicPr>
            <p:cNvPr id="35" name="object 3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1499" y="4438649"/>
              <a:ext cx="8610599" cy="1885949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7249" y="4688681"/>
              <a:ext cx="190499" cy="166687"/>
            </a:xfrm>
            <a:prstGeom prst="rect">
              <a:avLst/>
            </a:prstGeom>
          </p:spPr>
        </p:pic>
      </p:grpSp>
      <p:sp>
        <p:nvSpPr>
          <p:cNvPr id="37" name="object 37" descr=""/>
          <p:cNvSpPr txBox="1"/>
          <p:nvPr/>
        </p:nvSpPr>
        <p:spPr>
          <a:xfrm>
            <a:off x="1035050" y="4607498"/>
            <a:ext cx="2887980" cy="299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180" b="1">
                <a:solidFill>
                  <a:srgbClr val="FFFFFF"/>
                </a:solidFill>
                <a:latin typeface="Arial"/>
                <a:cs typeface="Arial"/>
              </a:rPr>
              <a:t>Log-</a:t>
            </a:r>
            <a:r>
              <a:rPr dirty="0" sz="1800" spc="-130" b="1">
                <a:solidFill>
                  <a:srgbClr val="FFFFFF"/>
                </a:solidFill>
                <a:latin typeface="Arial"/>
                <a:cs typeface="Arial"/>
              </a:rPr>
              <a:t>Mel</a:t>
            </a:r>
            <a:r>
              <a:rPr dirty="0" sz="18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29" b="1">
                <a:solidFill>
                  <a:srgbClr val="FFFFFF"/>
                </a:solidFill>
                <a:latin typeface="Malgun Gothic"/>
                <a:cs typeface="Malgun Gothic"/>
              </a:rPr>
              <a:t>スペクトログラムの限界</a:t>
            </a:r>
            <a:endParaRPr sz="1700">
              <a:latin typeface="Malgun Gothic"/>
              <a:cs typeface="Malgun Gothic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571500" y="4438649"/>
            <a:ext cx="8324850" cy="1885950"/>
            <a:chOff x="571500" y="4438649"/>
            <a:chExt cx="8324850" cy="1885950"/>
          </a:xfrm>
        </p:grpSpPr>
        <p:sp>
          <p:nvSpPr>
            <p:cNvPr id="39" name="object 39" descr=""/>
            <p:cNvSpPr/>
            <p:nvPr/>
          </p:nvSpPr>
          <p:spPr>
            <a:xfrm>
              <a:off x="857249" y="5057774"/>
              <a:ext cx="2552700" cy="1076325"/>
            </a:xfrm>
            <a:custGeom>
              <a:avLst/>
              <a:gdLst/>
              <a:ahLst/>
              <a:cxnLst/>
              <a:rect l="l" t="t" r="r" b="b"/>
              <a:pathLst>
                <a:path w="2552700" h="1076325">
                  <a:moveTo>
                    <a:pt x="2476499" y="1076324"/>
                  </a:moveTo>
                  <a:lnTo>
                    <a:pt x="76199" y="1076324"/>
                  </a:lnTo>
                  <a:lnTo>
                    <a:pt x="68693" y="1075962"/>
                  </a:lnTo>
                  <a:lnTo>
                    <a:pt x="27882" y="1059057"/>
                  </a:lnTo>
                  <a:lnTo>
                    <a:pt x="3262" y="1022210"/>
                  </a:lnTo>
                  <a:lnTo>
                    <a:pt x="0" y="100012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2476499" y="0"/>
                  </a:lnTo>
                  <a:lnTo>
                    <a:pt x="2518841" y="12829"/>
                  </a:lnTo>
                  <a:lnTo>
                    <a:pt x="2546898" y="47038"/>
                  </a:lnTo>
                  <a:lnTo>
                    <a:pt x="2552699" y="76199"/>
                  </a:lnTo>
                  <a:lnTo>
                    <a:pt x="2552699" y="1000124"/>
                  </a:lnTo>
                  <a:lnTo>
                    <a:pt x="2539869" y="1042466"/>
                  </a:lnTo>
                  <a:lnTo>
                    <a:pt x="2505659" y="1070523"/>
                  </a:lnTo>
                  <a:lnTo>
                    <a:pt x="2476499" y="107632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857249" y="5057774"/>
              <a:ext cx="2552700" cy="1076325"/>
            </a:xfrm>
            <a:custGeom>
              <a:avLst/>
              <a:gdLst/>
              <a:ahLst/>
              <a:cxnLst/>
              <a:rect l="l" t="t" r="r" b="b"/>
              <a:pathLst>
                <a:path w="2552700" h="1076325">
                  <a:moveTo>
                    <a:pt x="2476499" y="1076324"/>
                  </a:moveTo>
                  <a:lnTo>
                    <a:pt x="76199" y="1076324"/>
                  </a:lnTo>
                  <a:lnTo>
                    <a:pt x="68693" y="1075962"/>
                  </a:lnTo>
                  <a:lnTo>
                    <a:pt x="27882" y="1059057"/>
                  </a:lnTo>
                  <a:lnTo>
                    <a:pt x="3262" y="1022210"/>
                  </a:lnTo>
                  <a:lnTo>
                    <a:pt x="0" y="100012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2476499" y="0"/>
                  </a:lnTo>
                  <a:lnTo>
                    <a:pt x="2513320" y="9524"/>
                  </a:lnTo>
                  <a:lnTo>
                    <a:pt x="71821" y="9524"/>
                  </a:lnTo>
                  <a:lnTo>
                    <a:pt x="67486" y="9952"/>
                  </a:lnTo>
                  <a:lnTo>
                    <a:pt x="32149" y="25957"/>
                  </a:lnTo>
                  <a:lnTo>
                    <a:pt x="11660" y="58897"/>
                  </a:lnTo>
                  <a:lnTo>
                    <a:pt x="9524" y="71821"/>
                  </a:lnTo>
                  <a:lnTo>
                    <a:pt x="9524" y="1004502"/>
                  </a:lnTo>
                  <a:lnTo>
                    <a:pt x="23193" y="1040806"/>
                  </a:lnTo>
                  <a:lnTo>
                    <a:pt x="54729" y="1063399"/>
                  </a:lnTo>
                  <a:lnTo>
                    <a:pt x="71821" y="1066799"/>
                  </a:lnTo>
                  <a:lnTo>
                    <a:pt x="2513319" y="1066799"/>
                  </a:lnTo>
                  <a:lnTo>
                    <a:pt x="2512456" y="1067315"/>
                  </a:lnTo>
                  <a:lnTo>
                    <a:pt x="2505659" y="1070523"/>
                  </a:lnTo>
                  <a:lnTo>
                    <a:pt x="2498586" y="1073061"/>
                  </a:lnTo>
                  <a:lnTo>
                    <a:pt x="2491368" y="1074874"/>
                  </a:lnTo>
                  <a:lnTo>
                    <a:pt x="2484006" y="1075962"/>
                  </a:lnTo>
                  <a:lnTo>
                    <a:pt x="2476499" y="1076324"/>
                  </a:lnTo>
                  <a:close/>
                </a:path>
                <a:path w="2552700" h="1076325">
                  <a:moveTo>
                    <a:pt x="2513319" y="1066799"/>
                  </a:moveTo>
                  <a:lnTo>
                    <a:pt x="2480877" y="1066799"/>
                  </a:lnTo>
                  <a:lnTo>
                    <a:pt x="2485213" y="1066371"/>
                  </a:lnTo>
                  <a:lnTo>
                    <a:pt x="2493801" y="1064663"/>
                  </a:lnTo>
                  <a:lnTo>
                    <a:pt x="2526741" y="1044174"/>
                  </a:lnTo>
                  <a:lnTo>
                    <a:pt x="2542747" y="1008837"/>
                  </a:lnTo>
                  <a:lnTo>
                    <a:pt x="2543174" y="1004502"/>
                  </a:lnTo>
                  <a:lnTo>
                    <a:pt x="2543174" y="71821"/>
                  </a:lnTo>
                  <a:lnTo>
                    <a:pt x="2529505" y="35516"/>
                  </a:lnTo>
                  <a:lnTo>
                    <a:pt x="2497656" y="12829"/>
                  </a:lnTo>
                  <a:lnTo>
                    <a:pt x="2480877" y="9524"/>
                  </a:lnTo>
                  <a:lnTo>
                    <a:pt x="2513320" y="9524"/>
                  </a:lnTo>
                  <a:lnTo>
                    <a:pt x="2543691" y="40242"/>
                  </a:lnTo>
                  <a:lnTo>
                    <a:pt x="2552699" y="1000124"/>
                  </a:lnTo>
                  <a:lnTo>
                    <a:pt x="2552337" y="1007631"/>
                  </a:lnTo>
                  <a:lnTo>
                    <a:pt x="2535432" y="1048441"/>
                  </a:lnTo>
                  <a:lnTo>
                    <a:pt x="2518969" y="1063399"/>
                  </a:lnTo>
                  <a:lnTo>
                    <a:pt x="2513319" y="1066799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56685" y="5257085"/>
              <a:ext cx="153798" cy="153828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3600449" y="5057774"/>
              <a:ext cx="2552700" cy="1076325"/>
            </a:xfrm>
            <a:custGeom>
              <a:avLst/>
              <a:gdLst/>
              <a:ahLst/>
              <a:cxnLst/>
              <a:rect l="l" t="t" r="r" b="b"/>
              <a:pathLst>
                <a:path w="2552700" h="1076325">
                  <a:moveTo>
                    <a:pt x="2476499" y="1076324"/>
                  </a:moveTo>
                  <a:lnTo>
                    <a:pt x="76199" y="1076324"/>
                  </a:lnTo>
                  <a:lnTo>
                    <a:pt x="68693" y="1075962"/>
                  </a:lnTo>
                  <a:lnTo>
                    <a:pt x="27882" y="1059057"/>
                  </a:lnTo>
                  <a:lnTo>
                    <a:pt x="3262" y="1022210"/>
                  </a:lnTo>
                  <a:lnTo>
                    <a:pt x="0" y="100012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2476499" y="0"/>
                  </a:lnTo>
                  <a:lnTo>
                    <a:pt x="2518841" y="12829"/>
                  </a:lnTo>
                  <a:lnTo>
                    <a:pt x="2546898" y="47038"/>
                  </a:lnTo>
                  <a:lnTo>
                    <a:pt x="2552699" y="76199"/>
                  </a:lnTo>
                  <a:lnTo>
                    <a:pt x="2552699" y="1000124"/>
                  </a:lnTo>
                  <a:lnTo>
                    <a:pt x="2539868" y="1042466"/>
                  </a:lnTo>
                  <a:lnTo>
                    <a:pt x="2505659" y="1070523"/>
                  </a:lnTo>
                  <a:lnTo>
                    <a:pt x="2476499" y="107632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600449" y="5057774"/>
              <a:ext cx="2552700" cy="1076325"/>
            </a:xfrm>
            <a:custGeom>
              <a:avLst/>
              <a:gdLst/>
              <a:ahLst/>
              <a:cxnLst/>
              <a:rect l="l" t="t" r="r" b="b"/>
              <a:pathLst>
                <a:path w="2552700" h="1076325">
                  <a:moveTo>
                    <a:pt x="2476499" y="1076324"/>
                  </a:moveTo>
                  <a:lnTo>
                    <a:pt x="76199" y="1076324"/>
                  </a:lnTo>
                  <a:lnTo>
                    <a:pt x="68693" y="1075962"/>
                  </a:lnTo>
                  <a:lnTo>
                    <a:pt x="27882" y="1059057"/>
                  </a:lnTo>
                  <a:lnTo>
                    <a:pt x="3262" y="1022210"/>
                  </a:lnTo>
                  <a:lnTo>
                    <a:pt x="0" y="100012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2476499" y="0"/>
                  </a:lnTo>
                  <a:lnTo>
                    <a:pt x="2513320" y="9524"/>
                  </a:lnTo>
                  <a:lnTo>
                    <a:pt x="71821" y="9524"/>
                  </a:lnTo>
                  <a:lnTo>
                    <a:pt x="67485" y="9952"/>
                  </a:lnTo>
                  <a:lnTo>
                    <a:pt x="32148" y="25957"/>
                  </a:lnTo>
                  <a:lnTo>
                    <a:pt x="11659" y="58897"/>
                  </a:lnTo>
                  <a:lnTo>
                    <a:pt x="9524" y="71821"/>
                  </a:lnTo>
                  <a:lnTo>
                    <a:pt x="9524" y="1004502"/>
                  </a:lnTo>
                  <a:lnTo>
                    <a:pt x="9832" y="1007631"/>
                  </a:lnTo>
                  <a:lnTo>
                    <a:pt x="9951" y="1008837"/>
                  </a:lnTo>
                  <a:lnTo>
                    <a:pt x="25957" y="1044174"/>
                  </a:lnTo>
                  <a:lnTo>
                    <a:pt x="58898" y="1064663"/>
                  </a:lnTo>
                  <a:lnTo>
                    <a:pt x="71821" y="1066799"/>
                  </a:lnTo>
                  <a:lnTo>
                    <a:pt x="2513319" y="1066799"/>
                  </a:lnTo>
                  <a:lnTo>
                    <a:pt x="2512455" y="1067315"/>
                  </a:lnTo>
                  <a:lnTo>
                    <a:pt x="2505659" y="1070523"/>
                  </a:lnTo>
                  <a:lnTo>
                    <a:pt x="2498586" y="1073061"/>
                  </a:lnTo>
                  <a:lnTo>
                    <a:pt x="2491368" y="1074874"/>
                  </a:lnTo>
                  <a:lnTo>
                    <a:pt x="2484006" y="1075962"/>
                  </a:lnTo>
                  <a:lnTo>
                    <a:pt x="2476499" y="1076324"/>
                  </a:lnTo>
                  <a:close/>
                </a:path>
                <a:path w="2552700" h="1076325">
                  <a:moveTo>
                    <a:pt x="2513319" y="1066799"/>
                  </a:moveTo>
                  <a:lnTo>
                    <a:pt x="2480877" y="1066799"/>
                  </a:lnTo>
                  <a:lnTo>
                    <a:pt x="2485213" y="1066371"/>
                  </a:lnTo>
                  <a:lnTo>
                    <a:pt x="2493800" y="1064663"/>
                  </a:lnTo>
                  <a:lnTo>
                    <a:pt x="2526741" y="1044174"/>
                  </a:lnTo>
                  <a:lnTo>
                    <a:pt x="2542746" y="1008837"/>
                  </a:lnTo>
                  <a:lnTo>
                    <a:pt x="2543173" y="1004502"/>
                  </a:lnTo>
                  <a:lnTo>
                    <a:pt x="2543173" y="71821"/>
                  </a:lnTo>
                  <a:lnTo>
                    <a:pt x="2529505" y="35516"/>
                  </a:lnTo>
                  <a:lnTo>
                    <a:pt x="2497657" y="12829"/>
                  </a:lnTo>
                  <a:lnTo>
                    <a:pt x="2480877" y="9524"/>
                  </a:lnTo>
                  <a:lnTo>
                    <a:pt x="2513320" y="9524"/>
                  </a:lnTo>
                  <a:lnTo>
                    <a:pt x="2543691" y="40242"/>
                  </a:lnTo>
                  <a:lnTo>
                    <a:pt x="2552699" y="1000124"/>
                  </a:lnTo>
                  <a:lnTo>
                    <a:pt x="2552337" y="1007631"/>
                  </a:lnTo>
                  <a:lnTo>
                    <a:pt x="2535432" y="1048441"/>
                  </a:lnTo>
                  <a:lnTo>
                    <a:pt x="2518968" y="1063399"/>
                  </a:lnTo>
                  <a:lnTo>
                    <a:pt x="2513319" y="1066799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04409" y="5257799"/>
              <a:ext cx="144750" cy="152370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6343649" y="5057774"/>
              <a:ext cx="2552700" cy="1076325"/>
            </a:xfrm>
            <a:custGeom>
              <a:avLst/>
              <a:gdLst/>
              <a:ahLst/>
              <a:cxnLst/>
              <a:rect l="l" t="t" r="r" b="b"/>
              <a:pathLst>
                <a:path w="2552700" h="1076325">
                  <a:moveTo>
                    <a:pt x="2476499" y="1076324"/>
                  </a:moveTo>
                  <a:lnTo>
                    <a:pt x="76199" y="1076324"/>
                  </a:lnTo>
                  <a:lnTo>
                    <a:pt x="68693" y="1075962"/>
                  </a:lnTo>
                  <a:lnTo>
                    <a:pt x="27882" y="1059057"/>
                  </a:lnTo>
                  <a:lnTo>
                    <a:pt x="3261" y="1022210"/>
                  </a:lnTo>
                  <a:lnTo>
                    <a:pt x="0" y="100012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2476499" y="0"/>
                  </a:lnTo>
                  <a:lnTo>
                    <a:pt x="2518841" y="12829"/>
                  </a:lnTo>
                  <a:lnTo>
                    <a:pt x="2546898" y="47038"/>
                  </a:lnTo>
                  <a:lnTo>
                    <a:pt x="2552699" y="76199"/>
                  </a:lnTo>
                  <a:lnTo>
                    <a:pt x="2552699" y="1000124"/>
                  </a:lnTo>
                  <a:lnTo>
                    <a:pt x="2539868" y="1042466"/>
                  </a:lnTo>
                  <a:lnTo>
                    <a:pt x="2505659" y="1070523"/>
                  </a:lnTo>
                  <a:lnTo>
                    <a:pt x="2476499" y="107632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343649" y="5057774"/>
              <a:ext cx="2552700" cy="1076325"/>
            </a:xfrm>
            <a:custGeom>
              <a:avLst/>
              <a:gdLst/>
              <a:ahLst/>
              <a:cxnLst/>
              <a:rect l="l" t="t" r="r" b="b"/>
              <a:pathLst>
                <a:path w="2552700" h="1076325">
                  <a:moveTo>
                    <a:pt x="2476499" y="1076324"/>
                  </a:moveTo>
                  <a:lnTo>
                    <a:pt x="76199" y="1076324"/>
                  </a:lnTo>
                  <a:lnTo>
                    <a:pt x="68693" y="1075962"/>
                  </a:lnTo>
                  <a:lnTo>
                    <a:pt x="27882" y="1059057"/>
                  </a:lnTo>
                  <a:lnTo>
                    <a:pt x="3261" y="1022210"/>
                  </a:lnTo>
                  <a:lnTo>
                    <a:pt x="0" y="100012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2476499" y="0"/>
                  </a:lnTo>
                  <a:lnTo>
                    <a:pt x="2513320" y="9524"/>
                  </a:lnTo>
                  <a:lnTo>
                    <a:pt x="71821" y="9524"/>
                  </a:lnTo>
                  <a:lnTo>
                    <a:pt x="67485" y="9952"/>
                  </a:lnTo>
                  <a:lnTo>
                    <a:pt x="32148" y="25957"/>
                  </a:lnTo>
                  <a:lnTo>
                    <a:pt x="11659" y="58897"/>
                  </a:lnTo>
                  <a:lnTo>
                    <a:pt x="9524" y="71821"/>
                  </a:lnTo>
                  <a:lnTo>
                    <a:pt x="9524" y="1004502"/>
                  </a:lnTo>
                  <a:lnTo>
                    <a:pt x="23193" y="1040806"/>
                  </a:lnTo>
                  <a:lnTo>
                    <a:pt x="54728" y="1063399"/>
                  </a:lnTo>
                  <a:lnTo>
                    <a:pt x="71821" y="1066799"/>
                  </a:lnTo>
                  <a:lnTo>
                    <a:pt x="2513319" y="1066799"/>
                  </a:lnTo>
                  <a:lnTo>
                    <a:pt x="2512455" y="1067315"/>
                  </a:lnTo>
                  <a:lnTo>
                    <a:pt x="2505659" y="1070523"/>
                  </a:lnTo>
                  <a:lnTo>
                    <a:pt x="2498586" y="1073061"/>
                  </a:lnTo>
                  <a:lnTo>
                    <a:pt x="2491368" y="1074874"/>
                  </a:lnTo>
                  <a:lnTo>
                    <a:pt x="2484006" y="1075962"/>
                  </a:lnTo>
                  <a:lnTo>
                    <a:pt x="2476499" y="1076324"/>
                  </a:lnTo>
                  <a:close/>
                </a:path>
                <a:path w="2552700" h="1076325">
                  <a:moveTo>
                    <a:pt x="2513319" y="1066799"/>
                  </a:moveTo>
                  <a:lnTo>
                    <a:pt x="2480877" y="1066799"/>
                  </a:lnTo>
                  <a:lnTo>
                    <a:pt x="2485212" y="1066371"/>
                  </a:lnTo>
                  <a:lnTo>
                    <a:pt x="2493800" y="1064663"/>
                  </a:lnTo>
                  <a:lnTo>
                    <a:pt x="2526740" y="1044174"/>
                  </a:lnTo>
                  <a:lnTo>
                    <a:pt x="2542745" y="1008837"/>
                  </a:lnTo>
                  <a:lnTo>
                    <a:pt x="2543173" y="1004502"/>
                  </a:lnTo>
                  <a:lnTo>
                    <a:pt x="2543173" y="71821"/>
                  </a:lnTo>
                  <a:lnTo>
                    <a:pt x="2542865" y="68693"/>
                  </a:lnTo>
                  <a:lnTo>
                    <a:pt x="2542745" y="67485"/>
                  </a:lnTo>
                  <a:lnTo>
                    <a:pt x="2526740" y="32148"/>
                  </a:lnTo>
                  <a:lnTo>
                    <a:pt x="2493799" y="11660"/>
                  </a:lnTo>
                  <a:lnTo>
                    <a:pt x="2480877" y="9524"/>
                  </a:lnTo>
                  <a:lnTo>
                    <a:pt x="2513320" y="9524"/>
                  </a:lnTo>
                  <a:lnTo>
                    <a:pt x="2543691" y="40242"/>
                  </a:lnTo>
                  <a:lnTo>
                    <a:pt x="2552699" y="1000124"/>
                  </a:lnTo>
                  <a:lnTo>
                    <a:pt x="2552337" y="1007631"/>
                  </a:lnTo>
                  <a:lnTo>
                    <a:pt x="2535432" y="1048441"/>
                  </a:lnTo>
                  <a:lnTo>
                    <a:pt x="2518969" y="1063399"/>
                  </a:lnTo>
                  <a:lnTo>
                    <a:pt x="2513319" y="1066799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24749" y="5257799"/>
              <a:ext cx="190499" cy="152399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1500" y="4438649"/>
              <a:ext cx="4864323" cy="1885949"/>
            </a:xfrm>
            <a:prstGeom prst="rect">
              <a:avLst/>
            </a:prstGeom>
          </p:spPr>
        </p:pic>
      </p:grpSp>
      <p:sp>
        <p:nvSpPr>
          <p:cNvPr id="49" name="object 49" descr=""/>
          <p:cNvSpPr txBox="1"/>
          <p:nvPr/>
        </p:nvSpPr>
        <p:spPr>
          <a:xfrm>
            <a:off x="1037877" y="5358047"/>
            <a:ext cx="2192020" cy="64325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dirty="0" sz="1150" spc="-110" b="1">
                <a:solidFill>
                  <a:srgbClr val="FFFFFF"/>
                </a:solidFill>
                <a:latin typeface="Malgun Gothic"/>
                <a:cs typeface="Malgun Gothic"/>
              </a:rPr>
              <a:t>高周波</a:t>
            </a:r>
            <a:r>
              <a:rPr dirty="0" sz="1150" spc="-110" b="1">
                <a:solidFill>
                  <a:srgbClr val="FFFFFF"/>
                </a:solidFill>
                <a:latin typeface="Microsoft JhengHei"/>
                <a:cs typeface="Microsoft JhengHei"/>
              </a:rPr>
              <a:t>圧</a:t>
            </a:r>
            <a:r>
              <a:rPr dirty="0" sz="1150" spc="-50" b="1">
                <a:solidFill>
                  <a:srgbClr val="FFFFFF"/>
                </a:solidFill>
                <a:latin typeface="Malgun Gothic"/>
                <a:cs typeface="Malgun Gothic"/>
              </a:rPr>
              <a:t>縮</a:t>
            </a:r>
            <a:endParaRPr sz="1150">
              <a:latin typeface="Malgun Gothic"/>
              <a:cs typeface="Malgun Gothic"/>
            </a:endParaRPr>
          </a:p>
          <a:p>
            <a:pPr algn="ctr" marL="12065" marR="5080">
              <a:lnSpc>
                <a:spcPct val="100000"/>
              </a:lnSpc>
              <a:spcBef>
                <a:spcPts val="495"/>
              </a:spcBef>
            </a:pPr>
            <a:r>
              <a:rPr dirty="0" sz="1000" spc="-110">
                <a:solidFill>
                  <a:srgbClr val="FFFFFF"/>
                </a:solidFill>
                <a:latin typeface="SimSun"/>
                <a:cs typeface="SimSun"/>
              </a:rPr>
              <a:t>異常音の特徴的な高周波成分が失われる可</a:t>
            </a:r>
            <a:r>
              <a:rPr dirty="0" sz="1000" spc="-75">
                <a:solidFill>
                  <a:srgbClr val="FFFFFF"/>
                </a:solidFill>
                <a:latin typeface="SimSun"/>
                <a:cs typeface="SimSun"/>
              </a:rPr>
              <a:t>能性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3778101" y="5358047"/>
            <a:ext cx="2197735" cy="64325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dirty="0" sz="1150" spc="-100" b="1">
                <a:solidFill>
                  <a:srgbClr val="FFFFFF"/>
                </a:solidFill>
                <a:latin typeface="Malgun Gothic"/>
                <a:cs typeface="Malgun Gothic"/>
              </a:rPr>
              <a:t>手動調整依存</a:t>
            </a:r>
            <a:endParaRPr sz="1150">
              <a:latin typeface="Malgun Gothic"/>
              <a:cs typeface="Malgun Gothic"/>
            </a:endParaRPr>
          </a:p>
          <a:p>
            <a:pPr algn="ctr" marL="12700" marR="5080">
              <a:lnSpc>
                <a:spcPct val="100000"/>
              </a:lnSpc>
              <a:spcBef>
                <a:spcPts val="495"/>
              </a:spcBef>
            </a:pPr>
            <a:r>
              <a:rPr dirty="0" sz="1000" spc="-130">
                <a:solidFill>
                  <a:srgbClr val="FFFFFF"/>
                </a:solidFill>
                <a:latin typeface="SimSun"/>
                <a:cs typeface="SimSun"/>
              </a:rPr>
              <a:t>機械種別ごとに専門知識に基づく 手動設定</a:t>
            </a:r>
            <a:r>
              <a:rPr dirty="0" sz="1000" spc="-85">
                <a:solidFill>
                  <a:srgbClr val="FFFFFF"/>
                </a:solidFill>
                <a:latin typeface="SimSun"/>
                <a:cs typeface="SimSun"/>
              </a:rPr>
              <a:t>が必要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6524277" y="5358047"/>
            <a:ext cx="2192020" cy="49085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dirty="0" sz="1150" spc="-110" b="1">
                <a:solidFill>
                  <a:srgbClr val="FFFFFF"/>
                </a:solidFill>
                <a:latin typeface="Malgun Gothic"/>
                <a:cs typeface="Malgun Gothic"/>
              </a:rPr>
              <a:t>適</a:t>
            </a:r>
            <a:r>
              <a:rPr dirty="0" sz="1150" spc="-110" b="1">
                <a:solidFill>
                  <a:srgbClr val="FFFFFF"/>
                </a:solidFill>
                <a:latin typeface="Microsoft JhengHei"/>
                <a:cs typeface="Microsoft JhengHei"/>
              </a:rPr>
              <a:t>応</a:t>
            </a:r>
            <a:r>
              <a:rPr dirty="0" sz="1150" spc="-110" b="1">
                <a:solidFill>
                  <a:srgbClr val="FFFFFF"/>
                </a:solidFill>
                <a:latin typeface="Malgun Gothic"/>
                <a:cs typeface="Malgun Gothic"/>
              </a:rPr>
              <a:t>性</a:t>
            </a:r>
            <a:r>
              <a:rPr dirty="0" sz="1150" spc="-110" b="1">
                <a:solidFill>
                  <a:srgbClr val="FFFFFF"/>
                </a:solidFill>
                <a:latin typeface="Microsoft JhengHei"/>
                <a:cs typeface="Microsoft JhengHei"/>
              </a:rPr>
              <a:t>不</a:t>
            </a:r>
            <a:r>
              <a:rPr dirty="0" sz="1150" spc="-50" b="1">
                <a:solidFill>
                  <a:srgbClr val="FFFFFF"/>
                </a:solidFill>
                <a:latin typeface="Malgun Gothic"/>
                <a:cs typeface="Malgun Gothic"/>
              </a:rPr>
              <a:t>足</a:t>
            </a:r>
            <a:endParaRPr sz="115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dirty="0" sz="1000" spc="-110">
                <a:solidFill>
                  <a:srgbClr val="FFFFFF"/>
                </a:solidFill>
                <a:latin typeface="SimSun"/>
                <a:cs typeface="SimSun"/>
              </a:rPr>
              <a:t>多様な機械音パターンへの自動対応が困難</a:t>
            </a:r>
            <a:endParaRPr sz="1000">
              <a:latin typeface="SimSun"/>
              <a:cs typeface="SimSun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8267700" y="7353300"/>
            <a:ext cx="1295400" cy="323850"/>
            <a:chOff x="8267700" y="7353300"/>
            <a:chExt cx="1295400" cy="323850"/>
          </a:xfrm>
        </p:grpSpPr>
        <p:sp>
          <p:nvSpPr>
            <p:cNvPr id="53" name="object 53" descr=""/>
            <p:cNvSpPr/>
            <p:nvPr/>
          </p:nvSpPr>
          <p:spPr>
            <a:xfrm>
              <a:off x="8267700" y="7353300"/>
              <a:ext cx="1295400" cy="323850"/>
            </a:xfrm>
            <a:custGeom>
              <a:avLst/>
              <a:gdLst/>
              <a:ahLst/>
              <a:cxnLst/>
              <a:rect l="l" t="t" r="r" b="b"/>
              <a:pathLst>
                <a:path w="1295400" h="323850">
                  <a:moveTo>
                    <a:pt x="126235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262352" y="0"/>
                  </a:lnTo>
                  <a:lnTo>
                    <a:pt x="1294433" y="28187"/>
                  </a:lnTo>
                  <a:lnTo>
                    <a:pt x="1295399" y="33047"/>
                  </a:lnTo>
                  <a:lnTo>
                    <a:pt x="1295399" y="290802"/>
                  </a:lnTo>
                  <a:lnTo>
                    <a:pt x="1267212" y="322883"/>
                  </a:lnTo>
                  <a:lnTo>
                    <a:pt x="126235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82000" y="7448549"/>
              <a:ext cx="133349" cy="133349"/>
            </a:xfrm>
            <a:prstGeom prst="rect">
              <a:avLst/>
            </a:prstGeom>
          </p:spPr>
        </p:pic>
      </p:grpSp>
      <p:sp>
        <p:nvSpPr>
          <p:cNvPr id="55" name="object 55" descr=""/>
          <p:cNvSpPr txBox="1"/>
          <p:nvPr/>
        </p:nvSpPr>
        <p:spPr>
          <a:xfrm>
            <a:off x="8561734" y="7415431"/>
            <a:ext cx="918844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50" spc="-80">
                <a:solidFill>
                  <a:srgbClr val="FFFFFF"/>
                </a:solidFill>
                <a:latin typeface="Arial MT"/>
                <a:cs typeface="Arial MT"/>
              </a:rPr>
              <a:t>Genspark</a:t>
            </a:r>
            <a:r>
              <a:rPr dirty="0" sz="10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505">
                <a:solidFill>
                  <a:srgbClr val="FFFFFF"/>
                </a:solidFill>
                <a:latin typeface="SimSun"/>
                <a:cs typeface="SimSun"/>
              </a:rPr>
              <a:t>で作</a:t>
            </a:r>
            <a:r>
              <a:rPr dirty="0" sz="1000" spc="-75">
                <a:solidFill>
                  <a:srgbClr val="666666"/>
                </a:solidFill>
                <a:latin typeface="Tahoma"/>
                <a:cs typeface="Tahoma"/>
              </a:rPr>
              <a:t>3/</a:t>
            </a:r>
            <a:r>
              <a:rPr dirty="0" sz="1000" spc="-950">
                <a:solidFill>
                  <a:srgbClr val="FFFFFF"/>
                </a:solidFill>
                <a:latin typeface="SimSun"/>
                <a:cs typeface="SimSun"/>
              </a:rPr>
              <a:t>成</a:t>
            </a:r>
            <a:r>
              <a:rPr dirty="0" sz="1000" spc="-25">
                <a:solidFill>
                  <a:srgbClr val="666666"/>
                </a:solidFill>
                <a:latin typeface="Tahoma"/>
                <a:cs typeface="Tahoma"/>
              </a:rPr>
              <a:t>13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6249" y="847724"/>
            <a:ext cx="8801100" cy="28575"/>
          </a:xfrm>
          <a:custGeom>
            <a:avLst/>
            <a:gdLst/>
            <a:ahLst/>
            <a:cxnLst/>
            <a:rect l="l" t="t" r="r" b="b"/>
            <a:pathLst>
              <a:path w="8801100" h="28575">
                <a:moveTo>
                  <a:pt x="8801099" y="28574"/>
                </a:moveTo>
                <a:lnTo>
                  <a:pt x="0" y="28574"/>
                </a:lnTo>
                <a:lnTo>
                  <a:pt x="0" y="0"/>
                </a:lnTo>
                <a:lnTo>
                  <a:pt x="8801099" y="0"/>
                </a:lnTo>
                <a:lnTo>
                  <a:pt x="8801099" y="28574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476249" y="7505699"/>
            <a:ext cx="8801100" cy="714375"/>
            <a:chOff x="476249" y="7505699"/>
            <a:chExt cx="8801100" cy="714375"/>
          </a:xfrm>
        </p:grpSpPr>
        <p:sp>
          <p:nvSpPr>
            <p:cNvPr id="4" name="object 4" descr=""/>
            <p:cNvSpPr/>
            <p:nvPr/>
          </p:nvSpPr>
          <p:spPr>
            <a:xfrm>
              <a:off x="485774" y="7515224"/>
              <a:ext cx="8782050" cy="695325"/>
            </a:xfrm>
            <a:custGeom>
              <a:avLst/>
              <a:gdLst/>
              <a:ahLst/>
              <a:cxnLst/>
              <a:rect l="l" t="t" r="r" b="b"/>
              <a:pathLst>
                <a:path w="8782050" h="695325">
                  <a:moveTo>
                    <a:pt x="8719751" y="695324"/>
                  </a:moveTo>
                  <a:lnTo>
                    <a:pt x="62297" y="695324"/>
                  </a:lnTo>
                  <a:lnTo>
                    <a:pt x="57961" y="694897"/>
                  </a:lnTo>
                  <a:lnTo>
                    <a:pt x="22624" y="678892"/>
                  </a:lnTo>
                  <a:lnTo>
                    <a:pt x="2135" y="645950"/>
                  </a:lnTo>
                  <a:lnTo>
                    <a:pt x="0" y="633027"/>
                  </a:lnTo>
                  <a:lnTo>
                    <a:pt x="0" y="628649"/>
                  </a:lnTo>
                  <a:lnTo>
                    <a:pt x="0" y="62296"/>
                  </a:lnTo>
                  <a:lnTo>
                    <a:pt x="13669" y="25991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8719751" y="0"/>
                  </a:lnTo>
                  <a:lnTo>
                    <a:pt x="8756055" y="13668"/>
                  </a:lnTo>
                  <a:lnTo>
                    <a:pt x="8778648" y="45203"/>
                  </a:lnTo>
                  <a:lnTo>
                    <a:pt x="8782049" y="62296"/>
                  </a:lnTo>
                  <a:lnTo>
                    <a:pt x="8782049" y="633027"/>
                  </a:lnTo>
                  <a:lnTo>
                    <a:pt x="8768379" y="669332"/>
                  </a:lnTo>
                  <a:lnTo>
                    <a:pt x="8736843" y="691923"/>
                  </a:lnTo>
                  <a:lnTo>
                    <a:pt x="8724087" y="694897"/>
                  </a:lnTo>
                  <a:lnTo>
                    <a:pt x="8719751" y="695324"/>
                  </a:lnTo>
                  <a:close/>
                </a:path>
              </a:pathLst>
            </a:custGeom>
            <a:solidFill>
              <a:srgbClr val="E7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85774" y="7515224"/>
              <a:ext cx="8782050" cy="695325"/>
            </a:xfrm>
            <a:custGeom>
              <a:avLst/>
              <a:gdLst/>
              <a:ahLst/>
              <a:cxnLst/>
              <a:rect l="l" t="t" r="r" b="b"/>
              <a:pathLst>
                <a:path w="8782050" h="695325">
                  <a:moveTo>
                    <a:pt x="0" y="628649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6"/>
                  </a:lnTo>
                  <a:lnTo>
                    <a:pt x="2135" y="49371"/>
                  </a:lnTo>
                  <a:lnTo>
                    <a:pt x="3399" y="45203"/>
                  </a:lnTo>
                  <a:lnTo>
                    <a:pt x="5075" y="41158"/>
                  </a:lnTo>
                  <a:lnTo>
                    <a:pt x="6750" y="37113"/>
                  </a:lnTo>
                  <a:lnTo>
                    <a:pt x="8804" y="33271"/>
                  </a:lnTo>
                  <a:lnTo>
                    <a:pt x="11236" y="29631"/>
                  </a:lnTo>
                  <a:lnTo>
                    <a:pt x="13669" y="25991"/>
                  </a:lnTo>
                  <a:lnTo>
                    <a:pt x="16432" y="22623"/>
                  </a:lnTo>
                  <a:lnTo>
                    <a:pt x="19528" y="19527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2" y="11236"/>
                  </a:lnTo>
                  <a:lnTo>
                    <a:pt x="33272" y="8803"/>
                  </a:lnTo>
                  <a:lnTo>
                    <a:pt x="37114" y="6749"/>
                  </a:lnTo>
                  <a:lnTo>
                    <a:pt x="41159" y="5074"/>
                  </a:lnTo>
                  <a:lnTo>
                    <a:pt x="45204" y="3399"/>
                  </a:lnTo>
                  <a:lnTo>
                    <a:pt x="49373" y="2134"/>
                  </a:lnTo>
                  <a:lnTo>
                    <a:pt x="53667" y="1280"/>
                  </a:lnTo>
                  <a:lnTo>
                    <a:pt x="57961" y="426"/>
                  </a:lnTo>
                  <a:lnTo>
                    <a:pt x="62297" y="0"/>
                  </a:lnTo>
                  <a:lnTo>
                    <a:pt x="66674" y="0"/>
                  </a:lnTo>
                  <a:lnTo>
                    <a:pt x="8715374" y="0"/>
                  </a:lnTo>
                  <a:lnTo>
                    <a:pt x="8719751" y="0"/>
                  </a:lnTo>
                  <a:lnTo>
                    <a:pt x="8724087" y="426"/>
                  </a:lnTo>
                  <a:lnTo>
                    <a:pt x="8728381" y="1280"/>
                  </a:lnTo>
                  <a:lnTo>
                    <a:pt x="8732675" y="2134"/>
                  </a:lnTo>
                  <a:lnTo>
                    <a:pt x="8736843" y="3399"/>
                  </a:lnTo>
                  <a:lnTo>
                    <a:pt x="8740888" y="5074"/>
                  </a:lnTo>
                  <a:lnTo>
                    <a:pt x="8744932" y="6749"/>
                  </a:lnTo>
                  <a:lnTo>
                    <a:pt x="8748775" y="8803"/>
                  </a:lnTo>
                  <a:lnTo>
                    <a:pt x="8752415" y="11236"/>
                  </a:lnTo>
                  <a:lnTo>
                    <a:pt x="8756055" y="13668"/>
                  </a:lnTo>
                  <a:lnTo>
                    <a:pt x="8778648" y="45203"/>
                  </a:lnTo>
                  <a:lnTo>
                    <a:pt x="8780767" y="53666"/>
                  </a:lnTo>
                  <a:lnTo>
                    <a:pt x="8781622" y="57960"/>
                  </a:lnTo>
                  <a:lnTo>
                    <a:pt x="8782049" y="62296"/>
                  </a:lnTo>
                  <a:lnTo>
                    <a:pt x="8782049" y="66674"/>
                  </a:lnTo>
                  <a:lnTo>
                    <a:pt x="8782049" y="628649"/>
                  </a:lnTo>
                  <a:lnTo>
                    <a:pt x="8782049" y="633027"/>
                  </a:lnTo>
                  <a:lnTo>
                    <a:pt x="8781622" y="637363"/>
                  </a:lnTo>
                  <a:lnTo>
                    <a:pt x="8765616" y="672700"/>
                  </a:lnTo>
                  <a:lnTo>
                    <a:pt x="8752415" y="684087"/>
                  </a:lnTo>
                  <a:lnTo>
                    <a:pt x="8748775" y="686519"/>
                  </a:lnTo>
                  <a:lnTo>
                    <a:pt x="8728381" y="694043"/>
                  </a:lnTo>
                  <a:lnTo>
                    <a:pt x="8724087" y="694897"/>
                  </a:lnTo>
                  <a:lnTo>
                    <a:pt x="8719751" y="695324"/>
                  </a:lnTo>
                  <a:lnTo>
                    <a:pt x="8715374" y="695324"/>
                  </a:lnTo>
                  <a:lnTo>
                    <a:pt x="66674" y="695324"/>
                  </a:lnTo>
                  <a:lnTo>
                    <a:pt x="62297" y="695324"/>
                  </a:lnTo>
                  <a:lnTo>
                    <a:pt x="57961" y="694897"/>
                  </a:lnTo>
                  <a:lnTo>
                    <a:pt x="53667" y="694043"/>
                  </a:lnTo>
                  <a:lnTo>
                    <a:pt x="49373" y="693189"/>
                  </a:lnTo>
                  <a:lnTo>
                    <a:pt x="29632" y="684087"/>
                  </a:lnTo>
                  <a:lnTo>
                    <a:pt x="25992" y="681655"/>
                  </a:lnTo>
                  <a:lnTo>
                    <a:pt x="22624" y="678892"/>
                  </a:lnTo>
                  <a:lnTo>
                    <a:pt x="19528" y="675796"/>
                  </a:lnTo>
                  <a:lnTo>
                    <a:pt x="16432" y="672700"/>
                  </a:lnTo>
                  <a:lnTo>
                    <a:pt x="13669" y="669332"/>
                  </a:lnTo>
                  <a:lnTo>
                    <a:pt x="11236" y="665691"/>
                  </a:lnTo>
                  <a:lnTo>
                    <a:pt x="8804" y="662051"/>
                  </a:lnTo>
                  <a:lnTo>
                    <a:pt x="0" y="633027"/>
                  </a:lnTo>
                  <a:lnTo>
                    <a:pt x="0" y="628649"/>
                  </a:lnTo>
                  <a:close/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2770742" y="467361"/>
            <a:ext cx="288290" cy="223520"/>
          </a:xfrm>
          <a:custGeom>
            <a:avLst/>
            <a:gdLst/>
            <a:ahLst/>
            <a:cxnLst/>
            <a:rect l="l" t="t" r="r" b="b"/>
            <a:pathLst>
              <a:path w="288289" h="223520">
                <a:moveTo>
                  <a:pt x="189159" y="42722"/>
                </a:moveTo>
                <a:lnTo>
                  <a:pt x="188618" y="42722"/>
                </a:lnTo>
                <a:lnTo>
                  <a:pt x="179530" y="41177"/>
                </a:lnTo>
                <a:lnTo>
                  <a:pt x="169720" y="27557"/>
                </a:lnTo>
                <a:lnTo>
                  <a:pt x="171291" y="18032"/>
                </a:lnTo>
                <a:lnTo>
                  <a:pt x="178149" y="13126"/>
                </a:lnTo>
                <a:lnTo>
                  <a:pt x="178911" y="12602"/>
                </a:lnTo>
                <a:lnTo>
                  <a:pt x="200979" y="2142"/>
                </a:lnTo>
                <a:lnTo>
                  <a:pt x="224613" y="0"/>
                </a:lnTo>
                <a:lnTo>
                  <a:pt x="247578" y="5992"/>
                </a:lnTo>
                <a:lnTo>
                  <a:pt x="267637" y="19937"/>
                </a:lnTo>
                <a:lnTo>
                  <a:pt x="274549" y="30343"/>
                </a:lnTo>
                <a:lnTo>
                  <a:pt x="222113" y="30343"/>
                </a:lnTo>
                <a:lnTo>
                  <a:pt x="208940" y="31538"/>
                </a:lnTo>
                <a:lnTo>
                  <a:pt x="196628" y="37367"/>
                </a:lnTo>
                <a:lnTo>
                  <a:pt x="195866" y="37891"/>
                </a:lnTo>
                <a:lnTo>
                  <a:pt x="189159" y="42722"/>
                </a:lnTo>
                <a:close/>
              </a:path>
              <a:path w="288289" h="223520">
                <a:moveTo>
                  <a:pt x="224429" y="160537"/>
                </a:moveTo>
                <a:lnTo>
                  <a:pt x="165481" y="160537"/>
                </a:lnTo>
                <a:lnTo>
                  <a:pt x="179925" y="157725"/>
                </a:lnTo>
                <a:lnTo>
                  <a:pt x="192627" y="149286"/>
                </a:lnTo>
                <a:lnTo>
                  <a:pt x="246082" y="95726"/>
                </a:lnTo>
                <a:lnTo>
                  <a:pt x="254501" y="83053"/>
                </a:lnTo>
                <a:lnTo>
                  <a:pt x="257314" y="68609"/>
                </a:lnTo>
                <a:lnTo>
                  <a:pt x="254501" y="54165"/>
                </a:lnTo>
                <a:lnTo>
                  <a:pt x="246062" y="41463"/>
                </a:lnTo>
                <a:lnTo>
                  <a:pt x="234903" y="33684"/>
                </a:lnTo>
                <a:lnTo>
                  <a:pt x="222113" y="30343"/>
                </a:lnTo>
                <a:lnTo>
                  <a:pt x="274549" y="30343"/>
                </a:lnTo>
                <a:lnTo>
                  <a:pt x="282772" y="42722"/>
                </a:lnTo>
                <a:lnTo>
                  <a:pt x="287813" y="68609"/>
                </a:lnTo>
                <a:lnTo>
                  <a:pt x="282772" y="94544"/>
                </a:lnTo>
                <a:lnTo>
                  <a:pt x="267637" y="117330"/>
                </a:lnTo>
                <a:lnTo>
                  <a:pt x="224429" y="160537"/>
                </a:lnTo>
                <a:close/>
              </a:path>
              <a:path w="288289" h="223520">
                <a:moveTo>
                  <a:pt x="63200" y="223516"/>
                </a:moveTo>
                <a:lnTo>
                  <a:pt x="20177" y="203578"/>
                </a:lnTo>
                <a:lnTo>
                  <a:pt x="0" y="154864"/>
                </a:lnTo>
                <a:lnTo>
                  <a:pt x="5041" y="128971"/>
                </a:lnTo>
                <a:lnTo>
                  <a:pt x="20177" y="106185"/>
                </a:lnTo>
                <a:lnTo>
                  <a:pt x="73660" y="52703"/>
                </a:lnTo>
                <a:lnTo>
                  <a:pt x="96446" y="37567"/>
                </a:lnTo>
                <a:lnTo>
                  <a:pt x="122357" y="32521"/>
                </a:lnTo>
                <a:lnTo>
                  <a:pt x="148268" y="37567"/>
                </a:lnTo>
                <a:lnTo>
                  <a:pt x="171053" y="52703"/>
                </a:lnTo>
                <a:lnTo>
                  <a:pt x="178196" y="62978"/>
                </a:lnTo>
                <a:lnTo>
                  <a:pt x="122333" y="62978"/>
                </a:lnTo>
                <a:lnTo>
                  <a:pt x="107889" y="65790"/>
                </a:lnTo>
                <a:lnTo>
                  <a:pt x="95186" y="74229"/>
                </a:lnTo>
                <a:lnTo>
                  <a:pt x="41751" y="127712"/>
                </a:lnTo>
                <a:lnTo>
                  <a:pt x="33313" y="140415"/>
                </a:lnTo>
                <a:lnTo>
                  <a:pt x="30500" y="154864"/>
                </a:lnTo>
                <a:lnTo>
                  <a:pt x="33313" y="169322"/>
                </a:lnTo>
                <a:lnTo>
                  <a:pt x="41751" y="182052"/>
                </a:lnTo>
                <a:lnTo>
                  <a:pt x="52911" y="189831"/>
                </a:lnTo>
                <a:lnTo>
                  <a:pt x="65701" y="193172"/>
                </a:lnTo>
                <a:lnTo>
                  <a:pt x="116087" y="193172"/>
                </a:lnTo>
                <a:lnTo>
                  <a:pt x="118094" y="195958"/>
                </a:lnTo>
                <a:lnTo>
                  <a:pt x="116522" y="205483"/>
                </a:lnTo>
                <a:lnTo>
                  <a:pt x="109664" y="210389"/>
                </a:lnTo>
                <a:lnTo>
                  <a:pt x="108902" y="210913"/>
                </a:lnTo>
                <a:lnTo>
                  <a:pt x="86835" y="221373"/>
                </a:lnTo>
                <a:lnTo>
                  <a:pt x="63200" y="223516"/>
                </a:lnTo>
                <a:close/>
              </a:path>
              <a:path w="288289" h="223520">
                <a:moveTo>
                  <a:pt x="163385" y="150572"/>
                </a:moveTo>
                <a:lnTo>
                  <a:pt x="149765" y="140856"/>
                </a:lnTo>
                <a:lnTo>
                  <a:pt x="148145" y="131331"/>
                </a:lnTo>
                <a:lnTo>
                  <a:pt x="153051" y="124473"/>
                </a:lnTo>
                <a:lnTo>
                  <a:pt x="153575" y="123711"/>
                </a:lnTo>
                <a:lnTo>
                  <a:pt x="159404" y="111399"/>
                </a:lnTo>
                <a:lnTo>
                  <a:pt x="160452" y="99851"/>
                </a:lnTo>
                <a:lnTo>
                  <a:pt x="160521" y="99089"/>
                </a:lnTo>
                <a:lnTo>
                  <a:pt x="136777" y="65790"/>
                </a:lnTo>
                <a:lnTo>
                  <a:pt x="122333" y="62978"/>
                </a:lnTo>
                <a:lnTo>
                  <a:pt x="178196" y="62978"/>
                </a:lnTo>
                <a:lnTo>
                  <a:pt x="184997" y="72761"/>
                </a:lnTo>
                <a:lnTo>
                  <a:pt x="190984" y="95726"/>
                </a:lnTo>
                <a:lnTo>
                  <a:pt x="188828" y="119360"/>
                </a:lnTo>
                <a:lnTo>
                  <a:pt x="178340" y="141428"/>
                </a:lnTo>
                <a:lnTo>
                  <a:pt x="177816" y="142190"/>
                </a:lnTo>
                <a:lnTo>
                  <a:pt x="172958" y="149000"/>
                </a:lnTo>
                <a:lnTo>
                  <a:pt x="163385" y="150572"/>
                </a:lnTo>
                <a:close/>
              </a:path>
              <a:path w="288289" h="223520">
                <a:moveTo>
                  <a:pt x="165457" y="190994"/>
                </a:moveTo>
                <a:lnTo>
                  <a:pt x="116761" y="170812"/>
                </a:lnTo>
                <a:lnTo>
                  <a:pt x="97136" y="128971"/>
                </a:lnTo>
                <a:lnTo>
                  <a:pt x="96837" y="127712"/>
                </a:lnTo>
                <a:lnTo>
                  <a:pt x="98986" y="104175"/>
                </a:lnTo>
                <a:lnTo>
                  <a:pt x="109474" y="82135"/>
                </a:lnTo>
                <a:lnTo>
                  <a:pt x="109998" y="81373"/>
                </a:lnTo>
                <a:lnTo>
                  <a:pt x="114856" y="74562"/>
                </a:lnTo>
                <a:lnTo>
                  <a:pt x="124428" y="72991"/>
                </a:lnTo>
                <a:lnTo>
                  <a:pt x="138049" y="82706"/>
                </a:lnTo>
                <a:lnTo>
                  <a:pt x="139668" y="92231"/>
                </a:lnTo>
                <a:lnTo>
                  <a:pt x="134763" y="99089"/>
                </a:lnTo>
                <a:lnTo>
                  <a:pt x="134239" y="99851"/>
                </a:lnTo>
                <a:lnTo>
                  <a:pt x="128409" y="112136"/>
                </a:lnTo>
                <a:lnTo>
                  <a:pt x="127359" y="123711"/>
                </a:lnTo>
                <a:lnTo>
                  <a:pt x="127289" y="124473"/>
                </a:lnTo>
                <a:lnTo>
                  <a:pt x="151037" y="157725"/>
                </a:lnTo>
                <a:lnTo>
                  <a:pt x="165481" y="160537"/>
                </a:lnTo>
                <a:lnTo>
                  <a:pt x="224429" y="160537"/>
                </a:lnTo>
                <a:lnTo>
                  <a:pt x="214154" y="170812"/>
                </a:lnTo>
                <a:lnTo>
                  <a:pt x="191368" y="185948"/>
                </a:lnTo>
                <a:lnTo>
                  <a:pt x="165457" y="190994"/>
                </a:lnTo>
                <a:close/>
              </a:path>
              <a:path w="288289" h="223520">
                <a:moveTo>
                  <a:pt x="116087" y="193172"/>
                </a:moveTo>
                <a:lnTo>
                  <a:pt x="65701" y="193172"/>
                </a:lnTo>
                <a:lnTo>
                  <a:pt x="78874" y="191977"/>
                </a:lnTo>
                <a:lnTo>
                  <a:pt x="91186" y="186148"/>
                </a:lnTo>
                <a:lnTo>
                  <a:pt x="91948" y="185624"/>
                </a:lnTo>
                <a:lnTo>
                  <a:pt x="98758" y="180718"/>
                </a:lnTo>
                <a:lnTo>
                  <a:pt x="108283" y="182338"/>
                </a:lnTo>
                <a:lnTo>
                  <a:pt x="116087" y="193172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55376" y="383730"/>
            <a:ext cx="3751579" cy="3613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5"/>
              <a:t>私の</a:t>
            </a:r>
            <a:r>
              <a:rPr dirty="0" spc="-265">
                <a:latin typeface="Microsoft JhengHei"/>
                <a:cs typeface="Microsoft JhengHei"/>
              </a:rPr>
              <a:t>研</a:t>
            </a:r>
            <a:r>
              <a:rPr dirty="0" spc="-275"/>
              <a:t>究との</a:t>
            </a:r>
            <a:r>
              <a:rPr dirty="0" spc="-265">
                <a:latin typeface="Microsoft JhengHei"/>
                <a:cs typeface="Microsoft JhengHei"/>
              </a:rPr>
              <a:t>関係</a:t>
            </a:r>
            <a:r>
              <a:rPr dirty="0" spc="-215"/>
              <a:t>：</a:t>
            </a:r>
            <a:r>
              <a:rPr dirty="0" sz="2150" spc="-215">
                <a:latin typeface="Arial"/>
                <a:cs typeface="Arial"/>
              </a:rPr>
              <a:t>SNR</a:t>
            </a:r>
            <a:r>
              <a:rPr dirty="0" spc="-265"/>
              <a:t>低下</a:t>
            </a:r>
            <a:r>
              <a:rPr dirty="0" spc="-265">
                <a:latin typeface="Microsoft JhengHei"/>
                <a:cs typeface="Microsoft JhengHei"/>
              </a:rPr>
              <a:t>問</a:t>
            </a:r>
            <a:r>
              <a:rPr dirty="0" spc="-315"/>
              <a:t>題</a:t>
            </a:r>
            <a:endParaRPr sz="2150">
              <a:latin typeface="Microsoft JhengHei"/>
              <a:cs typeface="Microsoft JhengHe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9582" y="7677150"/>
            <a:ext cx="141959" cy="14287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978894" y="7550772"/>
            <a:ext cx="3796029" cy="52959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algn="ctr" marL="175260">
              <a:lnSpc>
                <a:spcPct val="100000"/>
              </a:lnSpc>
              <a:spcBef>
                <a:spcPts val="720"/>
              </a:spcBef>
            </a:pPr>
            <a:r>
              <a:rPr dirty="0" sz="1250" spc="-125" b="1">
                <a:solidFill>
                  <a:srgbClr val="3A6EA5"/>
                </a:solidFill>
                <a:latin typeface="Microsoft JhengHei"/>
                <a:cs typeface="Microsoft JhengHei"/>
              </a:rPr>
              <a:t>研</a:t>
            </a:r>
            <a:r>
              <a:rPr dirty="0" sz="1250" spc="-110" b="1">
                <a:solidFill>
                  <a:srgbClr val="3A6EA5"/>
                </a:solidFill>
                <a:latin typeface="Malgun Gothic"/>
                <a:cs typeface="Malgun Gothic"/>
              </a:rPr>
              <a:t>究の意義</a:t>
            </a:r>
            <a:endParaRPr sz="12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100" spc="-150">
                <a:solidFill>
                  <a:srgbClr val="444444"/>
                </a:solidFill>
                <a:latin typeface="SimSun"/>
                <a:cs typeface="SimSun"/>
              </a:rPr>
              <a:t>汎用的な音響異常検知 </a:t>
            </a:r>
            <a:r>
              <a:rPr dirty="0" sz="1100" spc="-45">
                <a:solidFill>
                  <a:srgbClr val="444444"/>
                </a:solidFill>
                <a:latin typeface="Lucida Sans Unicode"/>
                <a:cs typeface="Lucida Sans Unicode"/>
              </a:rPr>
              <a:t>→ </a:t>
            </a:r>
            <a:r>
              <a:rPr dirty="0" sz="1100" spc="-140">
                <a:solidFill>
                  <a:srgbClr val="444444"/>
                </a:solidFill>
                <a:latin typeface="SimSun"/>
                <a:cs typeface="SimSun"/>
              </a:rPr>
              <a:t>特定用途（沸騰検知）</a:t>
            </a:r>
            <a:r>
              <a:rPr dirty="0" sz="1100" spc="-130">
                <a:solidFill>
                  <a:srgbClr val="444444"/>
                </a:solidFill>
                <a:latin typeface="SimSun"/>
                <a:cs typeface="SimSun"/>
              </a:rPr>
              <a:t>への応用展開の検討</a:t>
            </a:r>
            <a:endParaRPr sz="1100">
              <a:latin typeface="SimSun"/>
              <a:cs typeface="SimSun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76249" y="1162049"/>
            <a:ext cx="4257675" cy="3609975"/>
            <a:chOff x="476249" y="1162049"/>
            <a:chExt cx="4257675" cy="3609975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299" y="1181100"/>
              <a:ext cx="4219574" cy="3571874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485774" y="1171574"/>
              <a:ext cx="4238625" cy="3590925"/>
            </a:xfrm>
            <a:custGeom>
              <a:avLst/>
              <a:gdLst/>
              <a:ahLst/>
              <a:cxnLst/>
              <a:rect l="l" t="t" r="r" b="b"/>
              <a:pathLst>
                <a:path w="4238625" h="3590925">
                  <a:moveTo>
                    <a:pt x="0" y="3486149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13835" y="52285"/>
                  </a:lnTo>
                  <a:lnTo>
                    <a:pt x="17657" y="46565"/>
                  </a:lnTo>
                  <a:lnTo>
                    <a:pt x="21479" y="40844"/>
                  </a:lnTo>
                  <a:lnTo>
                    <a:pt x="25823" y="35552"/>
                  </a:lnTo>
                  <a:lnTo>
                    <a:pt x="30687" y="30687"/>
                  </a:lnTo>
                  <a:lnTo>
                    <a:pt x="35552" y="25823"/>
                  </a:lnTo>
                  <a:lnTo>
                    <a:pt x="71035" y="5342"/>
                  </a:lnTo>
                  <a:lnTo>
                    <a:pt x="84334" y="2013"/>
                  </a:lnTo>
                  <a:lnTo>
                    <a:pt x="91081" y="671"/>
                  </a:lnTo>
                  <a:lnTo>
                    <a:pt x="97895" y="0"/>
                  </a:lnTo>
                  <a:lnTo>
                    <a:pt x="104774" y="0"/>
                  </a:lnTo>
                  <a:lnTo>
                    <a:pt x="4133849" y="0"/>
                  </a:lnTo>
                  <a:lnTo>
                    <a:pt x="4140729" y="0"/>
                  </a:lnTo>
                  <a:lnTo>
                    <a:pt x="4147542" y="671"/>
                  </a:lnTo>
                  <a:lnTo>
                    <a:pt x="4154290" y="2013"/>
                  </a:lnTo>
                  <a:lnTo>
                    <a:pt x="4161037" y="3355"/>
                  </a:lnTo>
                  <a:lnTo>
                    <a:pt x="4167589" y="5342"/>
                  </a:lnTo>
                  <a:lnTo>
                    <a:pt x="4173944" y="7975"/>
                  </a:lnTo>
                  <a:lnTo>
                    <a:pt x="4180300" y="10608"/>
                  </a:lnTo>
                  <a:lnTo>
                    <a:pt x="4186338" y="13835"/>
                  </a:lnTo>
                  <a:lnTo>
                    <a:pt x="4192058" y="17657"/>
                  </a:lnTo>
                  <a:lnTo>
                    <a:pt x="4197779" y="21479"/>
                  </a:lnTo>
                  <a:lnTo>
                    <a:pt x="4224788" y="52285"/>
                  </a:lnTo>
                  <a:lnTo>
                    <a:pt x="4237953" y="91081"/>
                  </a:lnTo>
                  <a:lnTo>
                    <a:pt x="4238624" y="104774"/>
                  </a:lnTo>
                  <a:lnTo>
                    <a:pt x="4238624" y="3486149"/>
                  </a:lnTo>
                  <a:lnTo>
                    <a:pt x="4230648" y="3526244"/>
                  </a:lnTo>
                  <a:lnTo>
                    <a:pt x="4207936" y="3560236"/>
                  </a:lnTo>
                  <a:lnTo>
                    <a:pt x="4192058" y="3573266"/>
                  </a:lnTo>
                  <a:lnTo>
                    <a:pt x="4186338" y="3577088"/>
                  </a:lnTo>
                  <a:lnTo>
                    <a:pt x="4180300" y="3580315"/>
                  </a:lnTo>
                  <a:lnTo>
                    <a:pt x="4173944" y="3582948"/>
                  </a:lnTo>
                  <a:lnTo>
                    <a:pt x="4167589" y="3585581"/>
                  </a:lnTo>
                  <a:lnTo>
                    <a:pt x="4161037" y="3587568"/>
                  </a:lnTo>
                  <a:lnTo>
                    <a:pt x="4154290" y="3588910"/>
                  </a:lnTo>
                  <a:lnTo>
                    <a:pt x="4147542" y="3590253"/>
                  </a:lnTo>
                  <a:lnTo>
                    <a:pt x="4140729" y="3590924"/>
                  </a:lnTo>
                  <a:lnTo>
                    <a:pt x="4133849" y="3590924"/>
                  </a:lnTo>
                  <a:lnTo>
                    <a:pt x="104774" y="3590924"/>
                  </a:lnTo>
                  <a:lnTo>
                    <a:pt x="97895" y="3590924"/>
                  </a:lnTo>
                  <a:lnTo>
                    <a:pt x="91081" y="3590253"/>
                  </a:lnTo>
                  <a:lnTo>
                    <a:pt x="84334" y="3588910"/>
                  </a:lnTo>
                  <a:lnTo>
                    <a:pt x="77586" y="3587568"/>
                  </a:lnTo>
                  <a:lnTo>
                    <a:pt x="71035" y="3585581"/>
                  </a:lnTo>
                  <a:lnTo>
                    <a:pt x="64679" y="3582948"/>
                  </a:lnTo>
                  <a:lnTo>
                    <a:pt x="58323" y="3580315"/>
                  </a:lnTo>
                  <a:lnTo>
                    <a:pt x="52285" y="3577088"/>
                  </a:lnTo>
                  <a:lnTo>
                    <a:pt x="46565" y="3573265"/>
                  </a:lnTo>
                  <a:lnTo>
                    <a:pt x="40844" y="3569444"/>
                  </a:lnTo>
                  <a:lnTo>
                    <a:pt x="13835" y="3538638"/>
                  </a:lnTo>
                  <a:lnTo>
                    <a:pt x="7975" y="3526244"/>
                  </a:lnTo>
                  <a:lnTo>
                    <a:pt x="5342" y="3519888"/>
                  </a:lnTo>
                  <a:lnTo>
                    <a:pt x="3355" y="3513337"/>
                  </a:lnTo>
                  <a:lnTo>
                    <a:pt x="2013" y="3506589"/>
                  </a:lnTo>
                  <a:lnTo>
                    <a:pt x="671" y="3499842"/>
                  </a:lnTo>
                  <a:lnTo>
                    <a:pt x="0" y="3493029"/>
                  </a:lnTo>
                  <a:lnTo>
                    <a:pt x="0" y="3486149"/>
                  </a:lnTo>
                  <a:close/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33424" y="2933699"/>
              <a:ext cx="3743325" cy="1466850"/>
            </a:xfrm>
            <a:custGeom>
              <a:avLst/>
              <a:gdLst/>
              <a:ahLst/>
              <a:cxnLst/>
              <a:rect l="l" t="t" r="r" b="b"/>
              <a:pathLst>
                <a:path w="3743325" h="1466850">
                  <a:moveTo>
                    <a:pt x="3667124" y="1466849"/>
                  </a:moveTo>
                  <a:lnTo>
                    <a:pt x="76199" y="1466849"/>
                  </a:lnTo>
                  <a:lnTo>
                    <a:pt x="68693" y="1466487"/>
                  </a:lnTo>
                  <a:lnTo>
                    <a:pt x="27882" y="1449582"/>
                  </a:lnTo>
                  <a:lnTo>
                    <a:pt x="3262" y="1412735"/>
                  </a:lnTo>
                  <a:lnTo>
                    <a:pt x="0" y="139064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3667124" y="0"/>
                  </a:lnTo>
                  <a:lnTo>
                    <a:pt x="3709466" y="12829"/>
                  </a:lnTo>
                  <a:lnTo>
                    <a:pt x="3737523" y="47039"/>
                  </a:lnTo>
                  <a:lnTo>
                    <a:pt x="3743324" y="76199"/>
                  </a:lnTo>
                  <a:lnTo>
                    <a:pt x="3743324" y="1390649"/>
                  </a:lnTo>
                  <a:lnTo>
                    <a:pt x="3730493" y="1432991"/>
                  </a:lnTo>
                  <a:lnTo>
                    <a:pt x="3696283" y="1461049"/>
                  </a:lnTo>
                  <a:lnTo>
                    <a:pt x="3667124" y="1466849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33412" y="2933699"/>
              <a:ext cx="3743325" cy="1466850"/>
            </a:xfrm>
            <a:custGeom>
              <a:avLst/>
              <a:gdLst/>
              <a:ahLst/>
              <a:cxnLst/>
              <a:rect l="l" t="t" r="r" b="b"/>
              <a:pathLst>
                <a:path w="3743325" h="1466850">
                  <a:moveTo>
                    <a:pt x="19050" y="1258887"/>
                  </a:moveTo>
                  <a:lnTo>
                    <a:pt x="0" y="1258887"/>
                  </a:lnTo>
                  <a:lnTo>
                    <a:pt x="0" y="1316037"/>
                  </a:lnTo>
                  <a:lnTo>
                    <a:pt x="19050" y="1316037"/>
                  </a:lnTo>
                  <a:lnTo>
                    <a:pt x="19050" y="1258887"/>
                  </a:lnTo>
                  <a:close/>
                </a:path>
                <a:path w="3743325" h="1466850">
                  <a:moveTo>
                    <a:pt x="19050" y="1163370"/>
                  </a:moveTo>
                  <a:lnTo>
                    <a:pt x="0" y="1163370"/>
                  </a:lnTo>
                  <a:lnTo>
                    <a:pt x="0" y="1220520"/>
                  </a:lnTo>
                  <a:lnTo>
                    <a:pt x="19050" y="1220520"/>
                  </a:lnTo>
                  <a:lnTo>
                    <a:pt x="19050" y="1163370"/>
                  </a:lnTo>
                  <a:close/>
                </a:path>
                <a:path w="3743325" h="1466850">
                  <a:moveTo>
                    <a:pt x="19050" y="1067854"/>
                  </a:moveTo>
                  <a:lnTo>
                    <a:pt x="0" y="1067854"/>
                  </a:lnTo>
                  <a:lnTo>
                    <a:pt x="0" y="1125004"/>
                  </a:lnTo>
                  <a:lnTo>
                    <a:pt x="19050" y="1125004"/>
                  </a:lnTo>
                  <a:lnTo>
                    <a:pt x="19050" y="1067854"/>
                  </a:lnTo>
                  <a:close/>
                </a:path>
                <a:path w="3743325" h="1466850">
                  <a:moveTo>
                    <a:pt x="19050" y="972337"/>
                  </a:moveTo>
                  <a:lnTo>
                    <a:pt x="0" y="972337"/>
                  </a:lnTo>
                  <a:lnTo>
                    <a:pt x="0" y="1029487"/>
                  </a:lnTo>
                  <a:lnTo>
                    <a:pt x="19050" y="1029487"/>
                  </a:lnTo>
                  <a:lnTo>
                    <a:pt x="19050" y="972337"/>
                  </a:lnTo>
                  <a:close/>
                </a:path>
                <a:path w="3743325" h="1466850">
                  <a:moveTo>
                    <a:pt x="19050" y="876820"/>
                  </a:moveTo>
                  <a:lnTo>
                    <a:pt x="0" y="876820"/>
                  </a:lnTo>
                  <a:lnTo>
                    <a:pt x="0" y="933970"/>
                  </a:lnTo>
                  <a:lnTo>
                    <a:pt x="19050" y="933970"/>
                  </a:lnTo>
                  <a:lnTo>
                    <a:pt x="19050" y="876820"/>
                  </a:lnTo>
                  <a:close/>
                </a:path>
                <a:path w="3743325" h="1466850">
                  <a:moveTo>
                    <a:pt x="19050" y="781304"/>
                  </a:moveTo>
                  <a:lnTo>
                    <a:pt x="0" y="781304"/>
                  </a:lnTo>
                  <a:lnTo>
                    <a:pt x="0" y="838454"/>
                  </a:lnTo>
                  <a:lnTo>
                    <a:pt x="19050" y="838454"/>
                  </a:lnTo>
                  <a:lnTo>
                    <a:pt x="19050" y="781304"/>
                  </a:lnTo>
                  <a:close/>
                </a:path>
                <a:path w="3743325" h="1466850">
                  <a:moveTo>
                    <a:pt x="19050" y="685787"/>
                  </a:moveTo>
                  <a:lnTo>
                    <a:pt x="0" y="685787"/>
                  </a:lnTo>
                  <a:lnTo>
                    <a:pt x="0" y="742937"/>
                  </a:lnTo>
                  <a:lnTo>
                    <a:pt x="19050" y="742937"/>
                  </a:lnTo>
                  <a:lnTo>
                    <a:pt x="19050" y="685787"/>
                  </a:lnTo>
                  <a:close/>
                </a:path>
                <a:path w="3743325" h="1466850">
                  <a:moveTo>
                    <a:pt x="19050" y="590270"/>
                  </a:moveTo>
                  <a:lnTo>
                    <a:pt x="0" y="590270"/>
                  </a:lnTo>
                  <a:lnTo>
                    <a:pt x="0" y="647420"/>
                  </a:lnTo>
                  <a:lnTo>
                    <a:pt x="19050" y="647420"/>
                  </a:lnTo>
                  <a:lnTo>
                    <a:pt x="19050" y="590270"/>
                  </a:lnTo>
                  <a:close/>
                </a:path>
                <a:path w="3743325" h="1466850">
                  <a:moveTo>
                    <a:pt x="19050" y="494753"/>
                  </a:moveTo>
                  <a:lnTo>
                    <a:pt x="0" y="494753"/>
                  </a:lnTo>
                  <a:lnTo>
                    <a:pt x="0" y="551903"/>
                  </a:lnTo>
                  <a:lnTo>
                    <a:pt x="19050" y="551903"/>
                  </a:lnTo>
                  <a:lnTo>
                    <a:pt x="19050" y="494753"/>
                  </a:lnTo>
                  <a:close/>
                </a:path>
                <a:path w="3743325" h="1466850">
                  <a:moveTo>
                    <a:pt x="19050" y="399237"/>
                  </a:moveTo>
                  <a:lnTo>
                    <a:pt x="0" y="399237"/>
                  </a:lnTo>
                  <a:lnTo>
                    <a:pt x="0" y="456387"/>
                  </a:lnTo>
                  <a:lnTo>
                    <a:pt x="19050" y="456387"/>
                  </a:lnTo>
                  <a:lnTo>
                    <a:pt x="19050" y="399237"/>
                  </a:lnTo>
                  <a:close/>
                </a:path>
                <a:path w="3743325" h="1466850">
                  <a:moveTo>
                    <a:pt x="19050" y="303720"/>
                  </a:moveTo>
                  <a:lnTo>
                    <a:pt x="0" y="303720"/>
                  </a:lnTo>
                  <a:lnTo>
                    <a:pt x="0" y="360870"/>
                  </a:lnTo>
                  <a:lnTo>
                    <a:pt x="19050" y="360870"/>
                  </a:lnTo>
                  <a:lnTo>
                    <a:pt x="19050" y="303720"/>
                  </a:lnTo>
                  <a:close/>
                </a:path>
                <a:path w="3743325" h="1466850">
                  <a:moveTo>
                    <a:pt x="19050" y="208203"/>
                  </a:moveTo>
                  <a:lnTo>
                    <a:pt x="0" y="208203"/>
                  </a:lnTo>
                  <a:lnTo>
                    <a:pt x="0" y="265353"/>
                  </a:lnTo>
                  <a:lnTo>
                    <a:pt x="19050" y="265353"/>
                  </a:lnTo>
                  <a:lnTo>
                    <a:pt x="19050" y="208203"/>
                  </a:lnTo>
                  <a:close/>
                </a:path>
                <a:path w="3743325" h="1466850">
                  <a:moveTo>
                    <a:pt x="19050" y="112687"/>
                  </a:moveTo>
                  <a:lnTo>
                    <a:pt x="0" y="112687"/>
                  </a:lnTo>
                  <a:lnTo>
                    <a:pt x="0" y="169837"/>
                  </a:lnTo>
                  <a:lnTo>
                    <a:pt x="19050" y="169837"/>
                  </a:lnTo>
                  <a:lnTo>
                    <a:pt x="19050" y="112687"/>
                  </a:lnTo>
                  <a:close/>
                </a:path>
                <a:path w="3743325" h="1466850">
                  <a:moveTo>
                    <a:pt x="21653" y="1408290"/>
                  </a:moveTo>
                  <a:lnTo>
                    <a:pt x="20510" y="1405521"/>
                  </a:lnTo>
                  <a:lnTo>
                    <a:pt x="19050" y="1398168"/>
                  </a:lnTo>
                  <a:lnTo>
                    <a:pt x="19050" y="1354404"/>
                  </a:lnTo>
                  <a:lnTo>
                    <a:pt x="0" y="1354404"/>
                  </a:lnTo>
                  <a:lnTo>
                    <a:pt x="0" y="1390650"/>
                  </a:lnTo>
                  <a:lnTo>
                    <a:pt x="368" y="1398168"/>
                  </a:lnTo>
                  <a:lnTo>
                    <a:pt x="1460" y="1405521"/>
                  </a:lnTo>
                  <a:lnTo>
                    <a:pt x="3263" y="1412748"/>
                  </a:lnTo>
                  <a:lnTo>
                    <a:pt x="3746" y="1414068"/>
                  </a:lnTo>
                  <a:lnTo>
                    <a:pt x="21653" y="1408290"/>
                  </a:lnTo>
                  <a:close/>
                </a:path>
                <a:path w="3743325" h="1466850">
                  <a:moveTo>
                    <a:pt x="40144" y="31445"/>
                  </a:moveTo>
                  <a:lnTo>
                    <a:pt x="28409" y="16891"/>
                  </a:lnTo>
                  <a:lnTo>
                    <a:pt x="27889" y="17272"/>
                  </a:lnTo>
                  <a:lnTo>
                    <a:pt x="22326" y="22326"/>
                  </a:lnTo>
                  <a:lnTo>
                    <a:pt x="5702" y="47332"/>
                  </a:lnTo>
                  <a:lnTo>
                    <a:pt x="3263" y="54114"/>
                  </a:lnTo>
                  <a:lnTo>
                    <a:pt x="1460" y="61341"/>
                  </a:lnTo>
                  <a:lnTo>
                    <a:pt x="381" y="68630"/>
                  </a:lnTo>
                  <a:lnTo>
                    <a:pt x="101" y="74168"/>
                  </a:lnTo>
                  <a:lnTo>
                    <a:pt x="19050" y="74676"/>
                  </a:lnTo>
                  <a:lnTo>
                    <a:pt x="19050" y="68630"/>
                  </a:lnTo>
                  <a:lnTo>
                    <a:pt x="20510" y="61341"/>
                  </a:lnTo>
                  <a:lnTo>
                    <a:pt x="26301" y="47332"/>
                  </a:lnTo>
                  <a:lnTo>
                    <a:pt x="30441" y="41148"/>
                  </a:lnTo>
                  <a:lnTo>
                    <a:pt x="35801" y="35801"/>
                  </a:lnTo>
                  <a:lnTo>
                    <a:pt x="40144" y="31445"/>
                  </a:lnTo>
                  <a:close/>
                </a:path>
                <a:path w="3743325" h="1466850">
                  <a:moveTo>
                    <a:pt x="88569" y="1447800"/>
                  </a:moveTo>
                  <a:lnTo>
                    <a:pt x="68630" y="1447800"/>
                  </a:lnTo>
                  <a:lnTo>
                    <a:pt x="61341" y="1446352"/>
                  </a:lnTo>
                  <a:lnTo>
                    <a:pt x="47332" y="1440561"/>
                  </a:lnTo>
                  <a:lnTo>
                    <a:pt x="41148" y="1436420"/>
                  </a:lnTo>
                  <a:lnTo>
                    <a:pt x="40297" y="1435569"/>
                  </a:lnTo>
                  <a:lnTo>
                    <a:pt x="28638" y="1450136"/>
                  </a:lnTo>
                  <a:lnTo>
                    <a:pt x="68694" y="1466494"/>
                  </a:lnTo>
                  <a:lnTo>
                    <a:pt x="76200" y="1466850"/>
                  </a:lnTo>
                  <a:lnTo>
                    <a:pt x="88569" y="1466850"/>
                  </a:lnTo>
                  <a:lnTo>
                    <a:pt x="88569" y="1447800"/>
                  </a:lnTo>
                  <a:close/>
                </a:path>
                <a:path w="3743325" h="1466850">
                  <a:moveTo>
                    <a:pt x="133350" y="0"/>
                  </a:moveTo>
                  <a:lnTo>
                    <a:pt x="76200" y="0"/>
                  </a:lnTo>
                  <a:lnTo>
                    <a:pt x="68897" y="355"/>
                  </a:lnTo>
                  <a:lnTo>
                    <a:pt x="70700" y="19050"/>
                  </a:lnTo>
                  <a:lnTo>
                    <a:pt x="133350" y="19050"/>
                  </a:lnTo>
                  <a:lnTo>
                    <a:pt x="133350" y="0"/>
                  </a:lnTo>
                  <a:close/>
                </a:path>
                <a:path w="3743325" h="1466850">
                  <a:moveTo>
                    <a:pt x="184086" y="1447800"/>
                  </a:moveTo>
                  <a:lnTo>
                    <a:pt x="126936" y="1447800"/>
                  </a:lnTo>
                  <a:lnTo>
                    <a:pt x="126936" y="1466850"/>
                  </a:lnTo>
                  <a:lnTo>
                    <a:pt x="184086" y="1466850"/>
                  </a:lnTo>
                  <a:lnTo>
                    <a:pt x="184086" y="1447800"/>
                  </a:lnTo>
                  <a:close/>
                </a:path>
                <a:path w="3743325" h="1466850">
                  <a:moveTo>
                    <a:pt x="228879" y="0"/>
                  </a:moveTo>
                  <a:lnTo>
                    <a:pt x="171729" y="0"/>
                  </a:lnTo>
                  <a:lnTo>
                    <a:pt x="171729" y="19050"/>
                  </a:lnTo>
                  <a:lnTo>
                    <a:pt x="228879" y="19050"/>
                  </a:lnTo>
                  <a:lnTo>
                    <a:pt x="228879" y="0"/>
                  </a:lnTo>
                  <a:close/>
                </a:path>
                <a:path w="3743325" h="1466850">
                  <a:moveTo>
                    <a:pt x="279603" y="1447800"/>
                  </a:moveTo>
                  <a:lnTo>
                    <a:pt x="222453" y="1447800"/>
                  </a:lnTo>
                  <a:lnTo>
                    <a:pt x="222453" y="1466850"/>
                  </a:lnTo>
                  <a:lnTo>
                    <a:pt x="279603" y="1466850"/>
                  </a:lnTo>
                  <a:lnTo>
                    <a:pt x="279603" y="1447800"/>
                  </a:lnTo>
                  <a:close/>
                </a:path>
                <a:path w="3743325" h="1466850">
                  <a:moveTo>
                    <a:pt x="324396" y="0"/>
                  </a:moveTo>
                  <a:lnTo>
                    <a:pt x="267246" y="0"/>
                  </a:lnTo>
                  <a:lnTo>
                    <a:pt x="267246" y="19050"/>
                  </a:lnTo>
                  <a:lnTo>
                    <a:pt x="324396" y="19050"/>
                  </a:lnTo>
                  <a:lnTo>
                    <a:pt x="324396" y="0"/>
                  </a:lnTo>
                  <a:close/>
                </a:path>
                <a:path w="3743325" h="1466850">
                  <a:moveTo>
                    <a:pt x="375119" y="1447800"/>
                  </a:moveTo>
                  <a:lnTo>
                    <a:pt x="317969" y="1447800"/>
                  </a:lnTo>
                  <a:lnTo>
                    <a:pt x="317969" y="1466850"/>
                  </a:lnTo>
                  <a:lnTo>
                    <a:pt x="375119" y="1466850"/>
                  </a:lnTo>
                  <a:lnTo>
                    <a:pt x="375119" y="1447800"/>
                  </a:lnTo>
                  <a:close/>
                </a:path>
                <a:path w="3743325" h="1466850">
                  <a:moveTo>
                    <a:pt x="419912" y="0"/>
                  </a:moveTo>
                  <a:lnTo>
                    <a:pt x="362762" y="0"/>
                  </a:lnTo>
                  <a:lnTo>
                    <a:pt x="362762" y="19050"/>
                  </a:lnTo>
                  <a:lnTo>
                    <a:pt x="419912" y="19050"/>
                  </a:lnTo>
                  <a:lnTo>
                    <a:pt x="419912" y="0"/>
                  </a:lnTo>
                  <a:close/>
                </a:path>
                <a:path w="3743325" h="1466850">
                  <a:moveTo>
                    <a:pt x="470636" y="1447800"/>
                  </a:moveTo>
                  <a:lnTo>
                    <a:pt x="413486" y="1447800"/>
                  </a:lnTo>
                  <a:lnTo>
                    <a:pt x="413486" y="1466850"/>
                  </a:lnTo>
                  <a:lnTo>
                    <a:pt x="470636" y="1466850"/>
                  </a:lnTo>
                  <a:lnTo>
                    <a:pt x="470636" y="1447800"/>
                  </a:lnTo>
                  <a:close/>
                </a:path>
                <a:path w="3743325" h="1466850">
                  <a:moveTo>
                    <a:pt x="515429" y="0"/>
                  </a:moveTo>
                  <a:lnTo>
                    <a:pt x="458279" y="0"/>
                  </a:lnTo>
                  <a:lnTo>
                    <a:pt x="458279" y="19050"/>
                  </a:lnTo>
                  <a:lnTo>
                    <a:pt x="515429" y="19050"/>
                  </a:lnTo>
                  <a:lnTo>
                    <a:pt x="515429" y="0"/>
                  </a:lnTo>
                  <a:close/>
                </a:path>
                <a:path w="3743325" h="1466850">
                  <a:moveTo>
                    <a:pt x="566153" y="1447800"/>
                  </a:moveTo>
                  <a:lnTo>
                    <a:pt x="509003" y="1447800"/>
                  </a:lnTo>
                  <a:lnTo>
                    <a:pt x="509003" y="1466850"/>
                  </a:lnTo>
                  <a:lnTo>
                    <a:pt x="566153" y="1466850"/>
                  </a:lnTo>
                  <a:lnTo>
                    <a:pt x="566153" y="1447800"/>
                  </a:lnTo>
                  <a:close/>
                </a:path>
                <a:path w="3743325" h="1466850">
                  <a:moveTo>
                    <a:pt x="610946" y="0"/>
                  </a:moveTo>
                  <a:lnTo>
                    <a:pt x="553796" y="0"/>
                  </a:lnTo>
                  <a:lnTo>
                    <a:pt x="553796" y="19050"/>
                  </a:lnTo>
                  <a:lnTo>
                    <a:pt x="610946" y="19050"/>
                  </a:lnTo>
                  <a:lnTo>
                    <a:pt x="610946" y="0"/>
                  </a:lnTo>
                  <a:close/>
                </a:path>
                <a:path w="3743325" h="1466850">
                  <a:moveTo>
                    <a:pt x="661670" y="1447800"/>
                  </a:moveTo>
                  <a:lnTo>
                    <a:pt x="604520" y="1447800"/>
                  </a:lnTo>
                  <a:lnTo>
                    <a:pt x="604520" y="1466850"/>
                  </a:lnTo>
                  <a:lnTo>
                    <a:pt x="661670" y="1466850"/>
                  </a:lnTo>
                  <a:lnTo>
                    <a:pt x="661670" y="1447800"/>
                  </a:lnTo>
                  <a:close/>
                </a:path>
                <a:path w="3743325" h="1466850">
                  <a:moveTo>
                    <a:pt x="706462" y="0"/>
                  </a:moveTo>
                  <a:lnTo>
                    <a:pt x="649312" y="0"/>
                  </a:lnTo>
                  <a:lnTo>
                    <a:pt x="649312" y="19050"/>
                  </a:lnTo>
                  <a:lnTo>
                    <a:pt x="706462" y="19050"/>
                  </a:lnTo>
                  <a:lnTo>
                    <a:pt x="706462" y="0"/>
                  </a:lnTo>
                  <a:close/>
                </a:path>
                <a:path w="3743325" h="1466850">
                  <a:moveTo>
                    <a:pt x="757186" y="1447800"/>
                  </a:moveTo>
                  <a:lnTo>
                    <a:pt x="700036" y="1447800"/>
                  </a:lnTo>
                  <a:lnTo>
                    <a:pt x="700036" y="1466850"/>
                  </a:lnTo>
                  <a:lnTo>
                    <a:pt x="757186" y="1466850"/>
                  </a:lnTo>
                  <a:lnTo>
                    <a:pt x="757186" y="1447800"/>
                  </a:lnTo>
                  <a:close/>
                </a:path>
                <a:path w="3743325" h="1466850">
                  <a:moveTo>
                    <a:pt x="801979" y="0"/>
                  </a:moveTo>
                  <a:lnTo>
                    <a:pt x="744829" y="0"/>
                  </a:lnTo>
                  <a:lnTo>
                    <a:pt x="744829" y="19050"/>
                  </a:lnTo>
                  <a:lnTo>
                    <a:pt x="801979" y="19050"/>
                  </a:lnTo>
                  <a:lnTo>
                    <a:pt x="801979" y="0"/>
                  </a:lnTo>
                  <a:close/>
                </a:path>
                <a:path w="3743325" h="1466850">
                  <a:moveTo>
                    <a:pt x="852703" y="1447800"/>
                  </a:moveTo>
                  <a:lnTo>
                    <a:pt x="795553" y="1447800"/>
                  </a:lnTo>
                  <a:lnTo>
                    <a:pt x="795553" y="1466850"/>
                  </a:lnTo>
                  <a:lnTo>
                    <a:pt x="852703" y="1466850"/>
                  </a:lnTo>
                  <a:lnTo>
                    <a:pt x="852703" y="1447800"/>
                  </a:lnTo>
                  <a:close/>
                </a:path>
                <a:path w="3743325" h="1466850">
                  <a:moveTo>
                    <a:pt x="897496" y="0"/>
                  </a:moveTo>
                  <a:lnTo>
                    <a:pt x="840346" y="0"/>
                  </a:lnTo>
                  <a:lnTo>
                    <a:pt x="840346" y="19050"/>
                  </a:lnTo>
                  <a:lnTo>
                    <a:pt x="897496" y="19050"/>
                  </a:lnTo>
                  <a:lnTo>
                    <a:pt x="897496" y="0"/>
                  </a:lnTo>
                  <a:close/>
                </a:path>
                <a:path w="3743325" h="1466850">
                  <a:moveTo>
                    <a:pt x="948220" y="1447800"/>
                  </a:moveTo>
                  <a:lnTo>
                    <a:pt x="891070" y="1447800"/>
                  </a:lnTo>
                  <a:lnTo>
                    <a:pt x="891070" y="1466850"/>
                  </a:lnTo>
                  <a:lnTo>
                    <a:pt x="948220" y="1466850"/>
                  </a:lnTo>
                  <a:lnTo>
                    <a:pt x="948220" y="1447800"/>
                  </a:lnTo>
                  <a:close/>
                </a:path>
                <a:path w="3743325" h="1466850">
                  <a:moveTo>
                    <a:pt x="993013" y="0"/>
                  </a:moveTo>
                  <a:lnTo>
                    <a:pt x="935863" y="0"/>
                  </a:lnTo>
                  <a:lnTo>
                    <a:pt x="935863" y="19050"/>
                  </a:lnTo>
                  <a:lnTo>
                    <a:pt x="993013" y="19050"/>
                  </a:lnTo>
                  <a:lnTo>
                    <a:pt x="993013" y="0"/>
                  </a:lnTo>
                  <a:close/>
                </a:path>
                <a:path w="3743325" h="1466850">
                  <a:moveTo>
                    <a:pt x="1043736" y="1447800"/>
                  </a:moveTo>
                  <a:lnTo>
                    <a:pt x="986586" y="1447800"/>
                  </a:lnTo>
                  <a:lnTo>
                    <a:pt x="986586" y="1466850"/>
                  </a:lnTo>
                  <a:lnTo>
                    <a:pt x="1043736" y="1466850"/>
                  </a:lnTo>
                  <a:lnTo>
                    <a:pt x="1043736" y="1447800"/>
                  </a:lnTo>
                  <a:close/>
                </a:path>
                <a:path w="3743325" h="1466850">
                  <a:moveTo>
                    <a:pt x="1088529" y="0"/>
                  </a:moveTo>
                  <a:lnTo>
                    <a:pt x="1031379" y="0"/>
                  </a:lnTo>
                  <a:lnTo>
                    <a:pt x="1031379" y="19050"/>
                  </a:lnTo>
                  <a:lnTo>
                    <a:pt x="1088529" y="19050"/>
                  </a:lnTo>
                  <a:lnTo>
                    <a:pt x="1088529" y="0"/>
                  </a:lnTo>
                  <a:close/>
                </a:path>
                <a:path w="3743325" h="1466850">
                  <a:moveTo>
                    <a:pt x="1139253" y="1447800"/>
                  </a:moveTo>
                  <a:lnTo>
                    <a:pt x="1082103" y="1447800"/>
                  </a:lnTo>
                  <a:lnTo>
                    <a:pt x="1082103" y="1466850"/>
                  </a:lnTo>
                  <a:lnTo>
                    <a:pt x="1139253" y="1466850"/>
                  </a:lnTo>
                  <a:lnTo>
                    <a:pt x="1139253" y="1447800"/>
                  </a:lnTo>
                  <a:close/>
                </a:path>
                <a:path w="3743325" h="1466850">
                  <a:moveTo>
                    <a:pt x="1184046" y="0"/>
                  </a:moveTo>
                  <a:lnTo>
                    <a:pt x="1126896" y="0"/>
                  </a:lnTo>
                  <a:lnTo>
                    <a:pt x="1126896" y="19050"/>
                  </a:lnTo>
                  <a:lnTo>
                    <a:pt x="1184046" y="19050"/>
                  </a:lnTo>
                  <a:lnTo>
                    <a:pt x="1184046" y="0"/>
                  </a:lnTo>
                  <a:close/>
                </a:path>
                <a:path w="3743325" h="1466850">
                  <a:moveTo>
                    <a:pt x="1234770" y="1447800"/>
                  </a:moveTo>
                  <a:lnTo>
                    <a:pt x="1177620" y="1447800"/>
                  </a:lnTo>
                  <a:lnTo>
                    <a:pt x="1177620" y="1466850"/>
                  </a:lnTo>
                  <a:lnTo>
                    <a:pt x="1234770" y="1466850"/>
                  </a:lnTo>
                  <a:lnTo>
                    <a:pt x="1234770" y="1447800"/>
                  </a:lnTo>
                  <a:close/>
                </a:path>
                <a:path w="3743325" h="1466850">
                  <a:moveTo>
                    <a:pt x="1279563" y="0"/>
                  </a:moveTo>
                  <a:lnTo>
                    <a:pt x="1222413" y="0"/>
                  </a:lnTo>
                  <a:lnTo>
                    <a:pt x="1222413" y="19050"/>
                  </a:lnTo>
                  <a:lnTo>
                    <a:pt x="1279563" y="19050"/>
                  </a:lnTo>
                  <a:lnTo>
                    <a:pt x="1279563" y="0"/>
                  </a:lnTo>
                  <a:close/>
                </a:path>
                <a:path w="3743325" h="1466850">
                  <a:moveTo>
                    <a:pt x="1330286" y="1447800"/>
                  </a:moveTo>
                  <a:lnTo>
                    <a:pt x="1273136" y="1447800"/>
                  </a:lnTo>
                  <a:lnTo>
                    <a:pt x="1273136" y="1466850"/>
                  </a:lnTo>
                  <a:lnTo>
                    <a:pt x="1330286" y="1466850"/>
                  </a:lnTo>
                  <a:lnTo>
                    <a:pt x="1330286" y="1447800"/>
                  </a:lnTo>
                  <a:close/>
                </a:path>
                <a:path w="3743325" h="1466850">
                  <a:moveTo>
                    <a:pt x="1375079" y="0"/>
                  </a:moveTo>
                  <a:lnTo>
                    <a:pt x="1317929" y="0"/>
                  </a:lnTo>
                  <a:lnTo>
                    <a:pt x="1317929" y="19050"/>
                  </a:lnTo>
                  <a:lnTo>
                    <a:pt x="1375079" y="19050"/>
                  </a:lnTo>
                  <a:lnTo>
                    <a:pt x="1375079" y="0"/>
                  </a:lnTo>
                  <a:close/>
                </a:path>
                <a:path w="3743325" h="1466850">
                  <a:moveTo>
                    <a:pt x="1425803" y="1447800"/>
                  </a:moveTo>
                  <a:lnTo>
                    <a:pt x="1368653" y="1447800"/>
                  </a:lnTo>
                  <a:lnTo>
                    <a:pt x="1368653" y="1466850"/>
                  </a:lnTo>
                  <a:lnTo>
                    <a:pt x="1425803" y="1466850"/>
                  </a:lnTo>
                  <a:lnTo>
                    <a:pt x="1425803" y="1447800"/>
                  </a:lnTo>
                  <a:close/>
                </a:path>
                <a:path w="3743325" h="1466850">
                  <a:moveTo>
                    <a:pt x="1470596" y="0"/>
                  </a:moveTo>
                  <a:lnTo>
                    <a:pt x="1413446" y="0"/>
                  </a:lnTo>
                  <a:lnTo>
                    <a:pt x="1413446" y="19050"/>
                  </a:lnTo>
                  <a:lnTo>
                    <a:pt x="1470596" y="19050"/>
                  </a:lnTo>
                  <a:lnTo>
                    <a:pt x="1470596" y="0"/>
                  </a:lnTo>
                  <a:close/>
                </a:path>
                <a:path w="3743325" h="1466850">
                  <a:moveTo>
                    <a:pt x="1521320" y="1447800"/>
                  </a:moveTo>
                  <a:lnTo>
                    <a:pt x="1464170" y="1447800"/>
                  </a:lnTo>
                  <a:lnTo>
                    <a:pt x="1464170" y="1466850"/>
                  </a:lnTo>
                  <a:lnTo>
                    <a:pt x="1521320" y="1466850"/>
                  </a:lnTo>
                  <a:lnTo>
                    <a:pt x="1521320" y="1447800"/>
                  </a:lnTo>
                  <a:close/>
                </a:path>
                <a:path w="3743325" h="1466850">
                  <a:moveTo>
                    <a:pt x="1566113" y="0"/>
                  </a:moveTo>
                  <a:lnTo>
                    <a:pt x="1508963" y="0"/>
                  </a:lnTo>
                  <a:lnTo>
                    <a:pt x="1508963" y="19050"/>
                  </a:lnTo>
                  <a:lnTo>
                    <a:pt x="1566113" y="19050"/>
                  </a:lnTo>
                  <a:lnTo>
                    <a:pt x="1566113" y="0"/>
                  </a:lnTo>
                  <a:close/>
                </a:path>
                <a:path w="3743325" h="1466850">
                  <a:moveTo>
                    <a:pt x="1616837" y="1447800"/>
                  </a:moveTo>
                  <a:lnTo>
                    <a:pt x="1559687" y="1447800"/>
                  </a:lnTo>
                  <a:lnTo>
                    <a:pt x="1559687" y="1466850"/>
                  </a:lnTo>
                  <a:lnTo>
                    <a:pt x="1616837" y="1466850"/>
                  </a:lnTo>
                  <a:lnTo>
                    <a:pt x="1616837" y="1447800"/>
                  </a:lnTo>
                  <a:close/>
                </a:path>
                <a:path w="3743325" h="1466850">
                  <a:moveTo>
                    <a:pt x="1661629" y="0"/>
                  </a:moveTo>
                  <a:lnTo>
                    <a:pt x="1604479" y="0"/>
                  </a:lnTo>
                  <a:lnTo>
                    <a:pt x="1604479" y="19050"/>
                  </a:lnTo>
                  <a:lnTo>
                    <a:pt x="1661629" y="19050"/>
                  </a:lnTo>
                  <a:lnTo>
                    <a:pt x="1661629" y="0"/>
                  </a:lnTo>
                  <a:close/>
                </a:path>
                <a:path w="3743325" h="1466850">
                  <a:moveTo>
                    <a:pt x="1712353" y="1447800"/>
                  </a:moveTo>
                  <a:lnTo>
                    <a:pt x="1655203" y="1447800"/>
                  </a:lnTo>
                  <a:lnTo>
                    <a:pt x="1655203" y="1466850"/>
                  </a:lnTo>
                  <a:lnTo>
                    <a:pt x="1712353" y="1466850"/>
                  </a:lnTo>
                  <a:lnTo>
                    <a:pt x="1712353" y="1447800"/>
                  </a:lnTo>
                  <a:close/>
                </a:path>
                <a:path w="3743325" h="1466850">
                  <a:moveTo>
                    <a:pt x="1757146" y="0"/>
                  </a:moveTo>
                  <a:lnTo>
                    <a:pt x="1699996" y="0"/>
                  </a:lnTo>
                  <a:lnTo>
                    <a:pt x="1699996" y="19050"/>
                  </a:lnTo>
                  <a:lnTo>
                    <a:pt x="1757146" y="19050"/>
                  </a:lnTo>
                  <a:lnTo>
                    <a:pt x="1757146" y="0"/>
                  </a:lnTo>
                  <a:close/>
                </a:path>
                <a:path w="3743325" h="1466850">
                  <a:moveTo>
                    <a:pt x="1807870" y="1447800"/>
                  </a:moveTo>
                  <a:lnTo>
                    <a:pt x="1750720" y="1447800"/>
                  </a:lnTo>
                  <a:lnTo>
                    <a:pt x="1750720" y="1466850"/>
                  </a:lnTo>
                  <a:lnTo>
                    <a:pt x="1807870" y="1466850"/>
                  </a:lnTo>
                  <a:lnTo>
                    <a:pt x="1807870" y="1447800"/>
                  </a:lnTo>
                  <a:close/>
                </a:path>
                <a:path w="3743325" h="1466850">
                  <a:moveTo>
                    <a:pt x="1852663" y="0"/>
                  </a:moveTo>
                  <a:lnTo>
                    <a:pt x="1795513" y="0"/>
                  </a:lnTo>
                  <a:lnTo>
                    <a:pt x="1795513" y="19050"/>
                  </a:lnTo>
                  <a:lnTo>
                    <a:pt x="1852663" y="19050"/>
                  </a:lnTo>
                  <a:lnTo>
                    <a:pt x="1852663" y="0"/>
                  </a:lnTo>
                  <a:close/>
                </a:path>
                <a:path w="3743325" h="1466850">
                  <a:moveTo>
                    <a:pt x="1903387" y="1447800"/>
                  </a:moveTo>
                  <a:lnTo>
                    <a:pt x="1846237" y="1447800"/>
                  </a:lnTo>
                  <a:lnTo>
                    <a:pt x="1846237" y="1466850"/>
                  </a:lnTo>
                  <a:lnTo>
                    <a:pt x="1903387" y="1466850"/>
                  </a:lnTo>
                  <a:lnTo>
                    <a:pt x="1903387" y="1447800"/>
                  </a:lnTo>
                  <a:close/>
                </a:path>
                <a:path w="3743325" h="1466850">
                  <a:moveTo>
                    <a:pt x="1948180" y="0"/>
                  </a:moveTo>
                  <a:lnTo>
                    <a:pt x="1891030" y="0"/>
                  </a:lnTo>
                  <a:lnTo>
                    <a:pt x="1891030" y="19050"/>
                  </a:lnTo>
                  <a:lnTo>
                    <a:pt x="1948180" y="19050"/>
                  </a:lnTo>
                  <a:lnTo>
                    <a:pt x="1948180" y="0"/>
                  </a:lnTo>
                  <a:close/>
                </a:path>
                <a:path w="3743325" h="1466850">
                  <a:moveTo>
                    <a:pt x="1998916" y="1447800"/>
                  </a:moveTo>
                  <a:lnTo>
                    <a:pt x="1941766" y="1447800"/>
                  </a:lnTo>
                  <a:lnTo>
                    <a:pt x="1941766" y="1466850"/>
                  </a:lnTo>
                  <a:lnTo>
                    <a:pt x="1998916" y="1466850"/>
                  </a:lnTo>
                  <a:lnTo>
                    <a:pt x="1998916" y="1447800"/>
                  </a:lnTo>
                  <a:close/>
                </a:path>
                <a:path w="3743325" h="1466850">
                  <a:moveTo>
                    <a:pt x="2043696" y="0"/>
                  </a:moveTo>
                  <a:lnTo>
                    <a:pt x="1986546" y="0"/>
                  </a:lnTo>
                  <a:lnTo>
                    <a:pt x="1986546" y="19050"/>
                  </a:lnTo>
                  <a:lnTo>
                    <a:pt x="2043696" y="19050"/>
                  </a:lnTo>
                  <a:lnTo>
                    <a:pt x="2043696" y="0"/>
                  </a:lnTo>
                  <a:close/>
                </a:path>
                <a:path w="3743325" h="1466850">
                  <a:moveTo>
                    <a:pt x="2094433" y="1447800"/>
                  </a:moveTo>
                  <a:lnTo>
                    <a:pt x="2037283" y="1447800"/>
                  </a:lnTo>
                  <a:lnTo>
                    <a:pt x="2037283" y="1466850"/>
                  </a:lnTo>
                  <a:lnTo>
                    <a:pt x="2094433" y="1466850"/>
                  </a:lnTo>
                  <a:lnTo>
                    <a:pt x="2094433" y="1447800"/>
                  </a:lnTo>
                  <a:close/>
                </a:path>
                <a:path w="3743325" h="1466850">
                  <a:moveTo>
                    <a:pt x="2139213" y="0"/>
                  </a:moveTo>
                  <a:lnTo>
                    <a:pt x="2082063" y="0"/>
                  </a:lnTo>
                  <a:lnTo>
                    <a:pt x="2082063" y="19050"/>
                  </a:lnTo>
                  <a:lnTo>
                    <a:pt x="2139213" y="19050"/>
                  </a:lnTo>
                  <a:lnTo>
                    <a:pt x="2139213" y="0"/>
                  </a:lnTo>
                  <a:close/>
                </a:path>
                <a:path w="3743325" h="1466850">
                  <a:moveTo>
                    <a:pt x="2189950" y="1447800"/>
                  </a:moveTo>
                  <a:lnTo>
                    <a:pt x="2132800" y="1447800"/>
                  </a:lnTo>
                  <a:lnTo>
                    <a:pt x="2132800" y="1466850"/>
                  </a:lnTo>
                  <a:lnTo>
                    <a:pt x="2189950" y="1466850"/>
                  </a:lnTo>
                  <a:lnTo>
                    <a:pt x="2189950" y="1447800"/>
                  </a:lnTo>
                  <a:close/>
                </a:path>
                <a:path w="3743325" h="1466850">
                  <a:moveTo>
                    <a:pt x="2234730" y="0"/>
                  </a:moveTo>
                  <a:lnTo>
                    <a:pt x="2177580" y="0"/>
                  </a:lnTo>
                  <a:lnTo>
                    <a:pt x="2177580" y="19050"/>
                  </a:lnTo>
                  <a:lnTo>
                    <a:pt x="2234730" y="19050"/>
                  </a:lnTo>
                  <a:lnTo>
                    <a:pt x="2234730" y="0"/>
                  </a:lnTo>
                  <a:close/>
                </a:path>
                <a:path w="3743325" h="1466850">
                  <a:moveTo>
                    <a:pt x="2285466" y="1447800"/>
                  </a:moveTo>
                  <a:lnTo>
                    <a:pt x="2228316" y="1447800"/>
                  </a:lnTo>
                  <a:lnTo>
                    <a:pt x="2228316" y="1466850"/>
                  </a:lnTo>
                  <a:lnTo>
                    <a:pt x="2285466" y="1466850"/>
                  </a:lnTo>
                  <a:lnTo>
                    <a:pt x="2285466" y="1447800"/>
                  </a:lnTo>
                  <a:close/>
                </a:path>
                <a:path w="3743325" h="1466850">
                  <a:moveTo>
                    <a:pt x="2330246" y="0"/>
                  </a:moveTo>
                  <a:lnTo>
                    <a:pt x="2273096" y="0"/>
                  </a:lnTo>
                  <a:lnTo>
                    <a:pt x="2273096" y="19050"/>
                  </a:lnTo>
                  <a:lnTo>
                    <a:pt x="2330246" y="19050"/>
                  </a:lnTo>
                  <a:lnTo>
                    <a:pt x="2330246" y="0"/>
                  </a:lnTo>
                  <a:close/>
                </a:path>
                <a:path w="3743325" h="1466850">
                  <a:moveTo>
                    <a:pt x="2380983" y="1447800"/>
                  </a:moveTo>
                  <a:lnTo>
                    <a:pt x="2323833" y="1447800"/>
                  </a:lnTo>
                  <a:lnTo>
                    <a:pt x="2323833" y="1466850"/>
                  </a:lnTo>
                  <a:lnTo>
                    <a:pt x="2380983" y="1466850"/>
                  </a:lnTo>
                  <a:lnTo>
                    <a:pt x="2380983" y="1447800"/>
                  </a:lnTo>
                  <a:close/>
                </a:path>
                <a:path w="3743325" h="1466850">
                  <a:moveTo>
                    <a:pt x="2425763" y="0"/>
                  </a:moveTo>
                  <a:lnTo>
                    <a:pt x="2368613" y="0"/>
                  </a:lnTo>
                  <a:lnTo>
                    <a:pt x="2368613" y="19050"/>
                  </a:lnTo>
                  <a:lnTo>
                    <a:pt x="2425763" y="19050"/>
                  </a:lnTo>
                  <a:lnTo>
                    <a:pt x="2425763" y="0"/>
                  </a:lnTo>
                  <a:close/>
                </a:path>
                <a:path w="3743325" h="1466850">
                  <a:moveTo>
                    <a:pt x="2476500" y="1447800"/>
                  </a:moveTo>
                  <a:lnTo>
                    <a:pt x="2419350" y="1447800"/>
                  </a:lnTo>
                  <a:lnTo>
                    <a:pt x="2419350" y="1466850"/>
                  </a:lnTo>
                  <a:lnTo>
                    <a:pt x="2476500" y="1466850"/>
                  </a:lnTo>
                  <a:lnTo>
                    <a:pt x="2476500" y="1447800"/>
                  </a:lnTo>
                  <a:close/>
                </a:path>
                <a:path w="3743325" h="1466850">
                  <a:moveTo>
                    <a:pt x="2521280" y="0"/>
                  </a:moveTo>
                  <a:lnTo>
                    <a:pt x="2464130" y="0"/>
                  </a:lnTo>
                  <a:lnTo>
                    <a:pt x="2464130" y="19050"/>
                  </a:lnTo>
                  <a:lnTo>
                    <a:pt x="2521280" y="19050"/>
                  </a:lnTo>
                  <a:lnTo>
                    <a:pt x="2521280" y="0"/>
                  </a:lnTo>
                  <a:close/>
                </a:path>
                <a:path w="3743325" h="1466850">
                  <a:moveTo>
                    <a:pt x="2572016" y="1447800"/>
                  </a:moveTo>
                  <a:lnTo>
                    <a:pt x="2514866" y="1447800"/>
                  </a:lnTo>
                  <a:lnTo>
                    <a:pt x="2514866" y="1466850"/>
                  </a:lnTo>
                  <a:lnTo>
                    <a:pt x="2572016" y="1466850"/>
                  </a:lnTo>
                  <a:lnTo>
                    <a:pt x="2572016" y="1447800"/>
                  </a:lnTo>
                  <a:close/>
                </a:path>
                <a:path w="3743325" h="1466850">
                  <a:moveTo>
                    <a:pt x="2616797" y="0"/>
                  </a:moveTo>
                  <a:lnTo>
                    <a:pt x="2559647" y="0"/>
                  </a:lnTo>
                  <a:lnTo>
                    <a:pt x="2559647" y="19050"/>
                  </a:lnTo>
                  <a:lnTo>
                    <a:pt x="2616797" y="19050"/>
                  </a:lnTo>
                  <a:lnTo>
                    <a:pt x="2616797" y="0"/>
                  </a:lnTo>
                  <a:close/>
                </a:path>
                <a:path w="3743325" h="1466850">
                  <a:moveTo>
                    <a:pt x="2667533" y="1447800"/>
                  </a:moveTo>
                  <a:lnTo>
                    <a:pt x="2610383" y="1447800"/>
                  </a:lnTo>
                  <a:lnTo>
                    <a:pt x="2610383" y="1466850"/>
                  </a:lnTo>
                  <a:lnTo>
                    <a:pt x="2667533" y="1466850"/>
                  </a:lnTo>
                  <a:lnTo>
                    <a:pt x="2667533" y="1447800"/>
                  </a:lnTo>
                  <a:close/>
                </a:path>
                <a:path w="3743325" h="1466850">
                  <a:moveTo>
                    <a:pt x="2712313" y="0"/>
                  </a:moveTo>
                  <a:lnTo>
                    <a:pt x="2655163" y="0"/>
                  </a:lnTo>
                  <a:lnTo>
                    <a:pt x="2655163" y="19050"/>
                  </a:lnTo>
                  <a:lnTo>
                    <a:pt x="2712313" y="19050"/>
                  </a:lnTo>
                  <a:lnTo>
                    <a:pt x="2712313" y="0"/>
                  </a:lnTo>
                  <a:close/>
                </a:path>
                <a:path w="3743325" h="1466850">
                  <a:moveTo>
                    <a:pt x="2763050" y="1447800"/>
                  </a:moveTo>
                  <a:lnTo>
                    <a:pt x="2705900" y="1447800"/>
                  </a:lnTo>
                  <a:lnTo>
                    <a:pt x="2705900" y="1466850"/>
                  </a:lnTo>
                  <a:lnTo>
                    <a:pt x="2763050" y="1466850"/>
                  </a:lnTo>
                  <a:lnTo>
                    <a:pt x="2763050" y="1447800"/>
                  </a:lnTo>
                  <a:close/>
                </a:path>
                <a:path w="3743325" h="1466850">
                  <a:moveTo>
                    <a:pt x="2807830" y="0"/>
                  </a:moveTo>
                  <a:lnTo>
                    <a:pt x="2750680" y="0"/>
                  </a:lnTo>
                  <a:lnTo>
                    <a:pt x="2750680" y="19050"/>
                  </a:lnTo>
                  <a:lnTo>
                    <a:pt x="2807830" y="19050"/>
                  </a:lnTo>
                  <a:lnTo>
                    <a:pt x="2807830" y="0"/>
                  </a:lnTo>
                  <a:close/>
                </a:path>
                <a:path w="3743325" h="1466850">
                  <a:moveTo>
                    <a:pt x="2858566" y="1447800"/>
                  </a:moveTo>
                  <a:lnTo>
                    <a:pt x="2801416" y="1447800"/>
                  </a:lnTo>
                  <a:lnTo>
                    <a:pt x="2801416" y="1466850"/>
                  </a:lnTo>
                  <a:lnTo>
                    <a:pt x="2858566" y="1466850"/>
                  </a:lnTo>
                  <a:lnTo>
                    <a:pt x="2858566" y="1447800"/>
                  </a:lnTo>
                  <a:close/>
                </a:path>
                <a:path w="3743325" h="1466850">
                  <a:moveTo>
                    <a:pt x="2903347" y="0"/>
                  </a:moveTo>
                  <a:lnTo>
                    <a:pt x="2846197" y="0"/>
                  </a:lnTo>
                  <a:lnTo>
                    <a:pt x="2846197" y="19050"/>
                  </a:lnTo>
                  <a:lnTo>
                    <a:pt x="2903347" y="19050"/>
                  </a:lnTo>
                  <a:lnTo>
                    <a:pt x="2903347" y="0"/>
                  </a:lnTo>
                  <a:close/>
                </a:path>
                <a:path w="3743325" h="1466850">
                  <a:moveTo>
                    <a:pt x="2954083" y="1447800"/>
                  </a:moveTo>
                  <a:lnTo>
                    <a:pt x="2896933" y="1447800"/>
                  </a:lnTo>
                  <a:lnTo>
                    <a:pt x="2896933" y="1466850"/>
                  </a:lnTo>
                  <a:lnTo>
                    <a:pt x="2954083" y="1466850"/>
                  </a:lnTo>
                  <a:lnTo>
                    <a:pt x="2954083" y="1447800"/>
                  </a:lnTo>
                  <a:close/>
                </a:path>
                <a:path w="3743325" h="1466850">
                  <a:moveTo>
                    <a:pt x="2998863" y="0"/>
                  </a:moveTo>
                  <a:lnTo>
                    <a:pt x="2941713" y="0"/>
                  </a:lnTo>
                  <a:lnTo>
                    <a:pt x="2941713" y="19050"/>
                  </a:lnTo>
                  <a:lnTo>
                    <a:pt x="2998863" y="19050"/>
                  </a:lnTo>
                  <a:lnTo>
                    <a:pt x="2998863" y="0"/>
                  </a:lnTo>
                  <a:close/>
                </a:path>
                <a:path w="3743325" h="1466850">
                  <a:moveTo>
                    <a:pt x="3049600" y="1447800"/>
                  </a:moveTo>
                  <a:lnTo>
                    <a:pt x="2992450" y="1447800"/>
                  </a:lnTo>
                  <a:lnTo>
                    <a:pt x="2992450" y="1466850"/>
                  </a:lnTo>
                  <a:lnTo>
                    <a:pt x="3049600" y="1466850"/>
                  </a:lnTo>
                  <a:lnTo>
                    <a:pt x="3049600" y="1447800"/>
                  </a:lnTo>
                  <a:close/>
                </a:path>
                <a:path w="3743325" h="1466850">
                  <a:moveTo>
                    <a:pt x="3094380" y="0"/>
                  </a:moveTo>
                  <a:lnTo>
                    <a:pt x="3037230" y="0"/>
                  </a:lnTo>
                  <a:lnTo>
                    <a:pt x="3037230" y="19050"/>
                  </a:lnTo>
                  <a:lnTo>
                    <a:pt x="3094380" y="19050"/>
                  </a:lnTo>
                  <a:lnTo>
                    <a:pt x="3094380" y="0"/>
                  </a:lnTo>
                  <a:close/>
                </a:path>
                <a:path w="3743325" h="1466850">
                  <a:moveTo>
                    <a:pt x="3145117" y="1447800"/>
                  </a:moveTo>
                  <a:lnTo>
                    <a:pt x="3087967" y="1447800"/>
                  </a:lnTo>
                  <a:lnTo>
                    <a:pt x="3087967" y="1466850"/>
                  </a:lnTo>
                  <a:lnTo>
                    <a:pt x="3145117" y="1466850"/>
                  </a:lnTo>
                  <a:lnTo>
                    <a:pt x="3145117" y="1447800"/>
                  </a:lnTo>
                  <a:close/>
                </a:path>
                <a:path w="3743325" h="1466850">
                  <a:moveTo>
                    <a:pt x="3189897" y="0"/>
                  </a:moveTo>
                  <a:lnTo>
                    <a:pt x="3132747" y="0"/>
                  </a:lnTo>
                  <a:lnTo>
                    <a:pt x="3132747" y="19050"/>
                  </a:lnTo>
                  <a:lnTo>
                    <a:pt x="3189897" y="19050"/>
                  </a:lnTo>
                  <a:lnTo>
                    <a:pt x="3189897" y="0"/>
                  </a:lnTo>
                  <a:close/>
                </a:path>
                <a:path w="3743325" h="1466850">
                  <a:moveTo>
                    <a:pt x="3240633" y="1447800"/>
                  </a:moveTo>
                  <a:lnTo>
                    <a:pt x="3183483" y="1447800"/>
                  </a:lnTo>
                  <a:lnTo>
                    <a:pt x="3183483" y="1466850"/>
                  </a:lnTo>
                  <a:lnTo>
                    <a:pt x="3240633" y="1466850"/>
                  </a:lnTo>
                  <a:lnTo>
                    <a:pt x="3240633" y="1447800"/>
                  </a:lnTo>
                  <a:close/>
                </a:path>
                <a:path w="3743325" h="1466850">
                  <a:moveTo>
                    <a:pt x="3285413" y="0"/>
                  </a:moveTo>
                  <a:lnTo>
                    <a:pt x="3228263" y="0"/>
                  </a:lnTo>
                  <a:lnTo>
                    <a:pt x="3228263" y="19050"/>
                  </a:lnTo>
                  <a:lnTo>
                    <a:pt x="3285413" y="19050"/>
                  </a:lnTo>
                  <a:lnTo>
                    <a:pt x="3285413" y="0"/>
                  </a:lnTo>
                  <a:close/>
                </a:path>
                <a:path w="3743325" h="1466850">
                  <a:moveTo>
                    <a:pt x="3336150" y="1447800"/>
                  </a:moveTo>
                  <a:lnTo>
                    <a:pt x="3279000" y="1447800"/>
                  </a:lnTo>
                  <a:lnTo>
                    <a:pt x="3279000" y="1466850"/>
                  </a:lnTo>
                  <a:lnTo>
                    <a:pt x="3336150" y="1466850"/>
                  </a:lnTo>
                  <a:lnTo>
                    <a:pt x="3336150" y="1447800"/>
                  </a:lnTo>
                  <a:close/>
                </a:path>
                <a:path w="3743325" h="1466850">
                  <a:moveTo>
                    <a:pt x="3380930" y="0"/>
                  </a:moveTo>
                  <a:lnTo>
                    <a:pt x="3323780" y="0"/>
                  </a:lnTo>
                  <a:lnTo>
                    <a:pt x="3323780" y="19050"/>
                  </a:lnTo>
                  <a:lnTo>
                    <a:pt x="3380930" y="19050"/>
                  </a:lnTo>
                  <a:lnTo>
                    <a:pt x="3380930" y="0"/>
                  </a:lnTo>
                  <a:close/>
                </a:path>
                <a:path w="3743325" h="1466850">
                  <a:moveTo>
                    <a:pt x="3431667" y="1447800"/>
                  </a:moveTo>
                  <a:lnTo>
                    <a:pt x="3374517" y="1447800"/>
                  </a:lnTo>
                  <a:lnTo>
                    <a:pt x="3374517" y="1466850"/>
                  </a:lnTo>
                  <a:lnTo>
                    <a:pt x="3431667" y="1466850"/>
                  </a:lnTo>
                  <a:lnTo>
                    <a:pt x="3431667" y="1447800"/>
                  </a:lnTo>
                  <a:close/>
                </a:path>
                <a:path w="3743325" h="1466850">
                  <a:moveTo>
                    <a:pt x="3476447" y="0"/>
                  </a:moveTo>
                  <a:lnTo>
                    <a:pt x="3419297" y="0"/>
                  </a:lnTo>
                  <a:lnTo>
                    <a:pt x="3419297" y="19050"/>
                  </a:lnTo>
                  <a:lnTo>
                    <a:pt x="3476447" y="19050"/>
                  </a:lnTo>
                  <a:lnTo>
                    <a:pt x="3476447" y="0"/>
                  </a:lnTo>
                  <a:close/>
                </a:path>
                <a:path w="3743325" h="1466850">
                  <a:moveTo>
                    <a:pt x="3527183" y="1447800"/>
                  </a:moveTo>
                  <a:lnTo>
                    <a:pt x="3470033" y="1447800"/>
                  </a:lnTo>
                  <a:lnTo>
                    <a:pt x="3470033" y="1466850"/>
                  </a:lnTo>
                  <a:lnTo>
                    <a:pt x="3527183" y="1466850"/>
                  </a:lnTo>
                  <a:lnTo>
                    <a:pt x="3527183" y="1447800"/>
                  </a:lnTo>
                  <a:close/>
                </a:path>
                <a:path w="3743325" h="1466850">
                  <a:moveTo>
                    <a:pt x="3571964" y="0"/>
                  </a:moveTo>
                  <a:lnTo>
                    <a:pt x="3514814" y="0"/>
                  </a:lnTo>
                  <a:lnTo>
                    <a:pt x="3514814" y="19050"/>
                  </a:lnTo>
                  <a:lnTo>
                    <a:pt x="3571964" y="19050"/>
                  </a:lnTo>
                  <a:lnTo>
                    <a:pt x="3571964" y="0"/>
                  </a:lnTo>
                  <a:close/>
                </a:path>
                <a:path w="3743325" h="1466850">
                  <a:moveTo>
                    <a:pt x="3622700" y="1447800"/>
                  </a:moveTo>
                  <a:lnTo>
                    <a:pt x="3565550" y="1447800"/>
                  </a:lnTo>
                  <a:lnTo>
                    <a:pt x="3565550" y="1466850"/>
                  </a:lnTo>
                  <a:lnTo>
                    <a:pt x="3622700" y="1466850"/>
                  </a:lnTo>
                  <a:lnTo>
                    <a:pt x="3622700" y="1447800"/>
                  </a:lnTo>
                  <a:close/>
                </a:path>
                <a:path w="3743325" h="1466850">
                  <a:moveTo>
                    <a:pt x="3667493" y="0"/>
                  </a:moveTo>
                  <a:lnTo>
                    <a:pt x="3610343" y="0"/>
                  </a:lnTo>
                  <a:lnTo>
                    <a:pt x="3610343" y="19050"/>
                  </a:lnTo>
                  <a:lnTo>
                    <a:pt x="3667442" y="19050"/>
                  </a:lnTo>
                  <a:lnTo>
                    <a:pt x="3667493" y="0"/>
                  </a:lnTo>
                  <a:close/>
                </a:path>
                <a:path w="3743325" h="1466850">
                  <a:moveTo>
                    <a:pt x="3720198" y="1445272"/>
                  </a:moveTo>
                  <a:lnTo>
                    <a:pt x="3706952" y="1431645"/>
                  </a:lnTo>
                  <a:lnTo>
                    <a:pt x="3702177" y="1436420"/>
                  </a:lnTo>
                  <a:lnTo>
                    <a:pt x="3696004" y="1440561"/>
                  </a:lnTo>
                  <a:lnTo>
                    <a:pt x="3681996" y="1446352"/>
                  </a:lnTo>
                  <a:lnTo>
                    <a:pt x="3674707" y="1447800"/>
                  </a:lnTo>
                  <a:lnTo>
                    <a:pt x="3661067" y="1447800"/>
                  </a:lnTo>
                  <a:lnTo>
                    <a:pt x="3661067" y="1466850"/>
                  </a:lnTo>
                  <a:lnTo>
                    <a:pt x="3667125" y="1466850"/>
                  </a:lnTo>
                  <a:lnTo>
                    <a:pt x="3674630" y="1466494"/>
                  </a:lnTo>
                  <a:lnTo>
                    <a:pt x="3715448" y="1449590"/>
                  </a:lnTo>
                  <a:lnTo>
                    <a:pt x="3720198" y="1445272"/>
                  </a:lnTo>
                  <a:close/>
                </a:path>
                <a:path w="3743325" h="1466850">
                  <a:moveTo>
                    <a:pt x="3742740" y="67195"/>
                  </a:moveTo>
                  <a:lnTo>
                    <a:pt x="3726065" y="27889"/>
                  </a:lnTo>
                  <a:lnTo>
                    <a:pt x="3709035" y="12573"/>
                  </a:lnTo>
                  <a:lnTo>
                    <a:pt x="3698773" y="28155"/>
                  </a:lnTo>
                  <a:lnTo>
                    <a:pt x="3702177" y="30441"/>
                  </a:lnTo>
                  <a:lnTo>
                    <a:pt x="3707536" y="35801"/>
                  </a:lnTo>
                  <a:lnTo>
                    <a:pt x="3712895" y="41148"/>
                  </a:lnTo>
                  <a:lnTo>
                    <a:pt x="3717036" y="47332"/>
                  </a:lnTo>
                  <a:lnTo>
                    <a:pt x="3722827" y="61341"/>
                  </a:lnTo>
                  <a:lnTo>
                    <a:pt x="3724275" y="68630"/>
                  </a:lnTo>
                  <a:lnTo>
                    <a:pt x="3724275" y="69405"/>
                  </a:lnTo>
                  <a:lnTo>
                    <a:pt x="3742740" y="67195"/>
                  </a:lnTo>
                  <a:close/>
                </a:path>
                <a:path w="3743325" h="1466850">
                  <a:moveTo>
                    <a:pt x="3743325" y="1348105"/>
                  </a:moveTo>
                  <a:lnTo>
                    <a:pt x="3724275" y="1348105"/>
                  </a:lnTo>
                  <a:lnTo>
                    <a:pt x="3724275" y="1398168"/>
                  </a:lnTo>
                  <a:lnTo>
                    <a:pt x="3723348" y="1402930"/>
                  </a:lnTo>
                  <a:lnTo>
                    <a:pt x="3741534" y="1406906"/>
                  </a:lnTo>
                  <a:lnTo>
                    <a:pt x="3741877" y="1405521"/>
                  </a:lnTo>
                  <a:lnTo>
                    <a:pt x="3742969" y="1398168"/>
                  </a:lnTo>
                  <a:lnTo>
                    <a:pt x="3743325" y="1390650"/>
                  </a:lnTo>
                  <a:lnTo>
                    <a:pt x="3743325" y="1348105"/>
                  </a:lnTo>
                  <a:close/>
                </a:path>
                <a:path w="3743325" h="1466850">
                  <a:moveTo>
                    <a:pt x="3743325" y="1252588"/>
                  </a:moveTo>
                  <a:lnTo>
                    <a:pt x="3724275" y="1252588"/>
                  </a:lnTo>
                  <a:lnTo>
                    <a:pt x="3724275" y="1309738"/>
                  </a:lnTo>
                  <a:lnTo>
                    <a:pt x="3743325" y="1309738"/>
                  </a:lnTo>
                  <a:lnTo>
                    <a:pt x="3743325" y="1252588"/>
                  </a:lnTo>
                  <a:close/>
                </a:path>
                <a:path w="3743325" h="1466850">
                  <a:moveTo>
                    <a:pt x="3743325" y="1157071"/>
                  </a:moveTo>
                  <a:lnTo>
                    <a:pt x="3724275" y="1157071"/>
                  </a:lnTo>
                  <a:lnTo>
                    <a:pt x="3724275" y="1214221"/>
                  </a:lnTo>
                  <a:lnTo>
                    <a:pt x="3743325" y="1214221"/>
                  </a:lnTo>
                  <a:lnTo>
                    <a:pt x="3743325" y="1157071"/>
                  </a:lnTo>
                  <a:close/>
                </a:path>
                <a:path w="3743325" h="1466850">
                  <a:moveTo>
                    <a:pt x="3743325" y="1061554"/>
                  </a:moveTo>
                  <a:lnTo>
                    <a:pt x="3724275" y="1061554"/>
                  </a:lnTo>
                  <a:lnTo>
                    <a:pt x="3724275" y="1118704"/>
                  </a:lnTo>
                  <a:lnTo>
                    <a:pt x="3743325" y="1118704"/>
                  </a:lnTo>
                  <a:lnTo>
                    <a:pt x="3743325" y="1061554"/>
                  </a:lnTo>
                  <a:close/>
                </a:path>
                <a:path w="3743325" h="1466850">
                  <a:moveTo>
                    <a:pt x="3743325" y="966038"/>
                  </a:moveTo>
                  <a:lnTo>
                    <a:pt x="3724275" y="966038"/>
                  </a:lnTo>
                  <a:lnTo>
                    <a:pt x="3724275" y="1023188"/>
                  </a:lnTo>
                  <a:lnTo>
                    <a:pt x="3743325" y="1023188"/>
                  </a:lnTo>
                  <a:lnTo>
                    <a:pt x="3743325" y="966038"/>
                  </a:lnTo>
                  <a:close/>
                </a:path>
                <a:path w="3743325" h="1466850">
                  <a:moveTo>
                    <a:pt x="3743325" y="870521"/>
                  </a:moveTo>
                  <a:lnTo>
                    <a:pt x="3724275" y="870521"/>
                  </a:lnTo>
                  <a:lnTo>
                    <a:pt x="3724275" y="927671"/>
                  </a:lnTo>
                  <a:lnTo>
                    <a:pt x="3743325" y="927671"/>
                  </a:lnTo>
                  <a:lnTo>
                    <a:pt x="3743325" y="870521"/>
                  </a:lnTo>
                  <a:close/>
                </a:path>
                <a:path w="3743325" h="1466850">
                  <a:moveTo>
                    <a:pt x="3743325" y="775004"/>
                  </a:moveTo>
                  <a:lnTo>
                    <a:pt x="3724275" y="775004"/>
                  </a:lnTo>
                  <a:lnTo>
                    <a:pt x="3724275" y="832154"/>
                  </a:lnTo>
                  <a:lnTo>
                    <a:pt x="3743325" y="832154"/>
                  </a:lnTo>
                  <a:lnTo>
                    <a:pt x="3743325" y="775004"/>
                  </a:lnTo>
                  <a:close/>
                </a:path>
                <a:path w="3743325" h="1466850">
                  <a:moveTo>
                    <a:pt x="3743325" y="679488"/>
                  </a:moveTo>
                  <a:lnTo>
                    <a:pt x="3724275" y="679488"/>
                  </a:lnTo>
                  <a:lnTo>
                    <a:pt x="3724275" y="736638"/>
                  </a:lnTo>
                  <a:lnTo>
                    <a:pt x="3743325" y="736638"/>
                  </a:lnTo>
                  <a:lnTo>
                    <a:pt x="3743325" y="679488"/>
                  </a:lnTo>
                  <a:close/>
                </a:path>
                <a:path w="3743325" h="1466850">
                  <a:moveTo>
                    <a:pt x="3743325" y="583971"/>
                  </a:moveTo>
                  <a:lnTo>
                    <a:pt x="3724275" y="583971"/>
                  </a:lnTo>
                  <a:lnTo>
                    <a:pt x="3724275" y="641121"/>
                  </a:lnTo>
                  <a:lnTo>
                    <a:pt x="3743325" y="641121"/>
                  </a:lnTo>
                  <a:lnTo>
                    <a:pt x="3743325" y="583971"/>
                  </a:lnTo>
                  <a:close/>
                </a:path>
                <a:path w="3743325" h="1466850">
                  <a:moveTo>
                    <a:pt x="3743325" y="488454"/>
                  </a:moveTo>
                  <a:lnTo>
                    <a:pt x="3724275" y="488454"/>
                  </a:lnTo>
                  <a:lnTo>
                    <a:pt x="3724275" y="545604"/>
                  </a:lnTo>
                  <a:lnTo>
                    <a:pt x="3743325" y="545604"/>
                  </a:lnTo>
                  <a:lnTo>
                    <a:pt x="3743325" y="488454"/>
                  </a:lnTo>
                  <a:close/>
                </a:path>
                <a:path w="3743325" h="1466850">
                  <a:moveTo>
                    <a:pt x="3743325" y="392938"/>
                  </a:moveTo>
                  <a:lnTo>
                    <a:pt x="3724275" y="392938"/>
                  </a:lnTo>
                  <a:lnTo>
                    <a:pt x="3724275" y="450088"/>
                  </a:lnTo>
                  <a:lnTo>
                    <a:pt x="3743325" y="450088"/>
                  </a:lnTo>
                  <a:lnTo>
                    <a:pt x="3743325" y="392938"/>
                  </a:lnTo>
                  <a:close/>
                </a:path>
                <a:path w="3743325" h="1466850">
                  <a:moveTo>
                    <a:pt x="3743325" y="297421"/>
                  </a:moveTo>
                  <a:lnTo>
                    <a:pt x="3724275" y="297421"/>
                  </a:lnTo>
                  <a:lnTo>
                    <a:pt x="3724275" y="354571"/>
                  </a:lnTo>
                  <a:lnTo>
                    <a:pt x="3743325" y="354571"/>
                  </a:lnTo>
                  <a:lnTo>
                    <a:pt x="3743325" y="297421"/>
                  </a:lnTo>
                  <a:close/>
                </a:path>
                <a:path w="3743325" h="1466850">
                  <a:moveTo>
                    <a:pt x="3743325" y="201904"/>
                  </a:moveTo>
                  <a:lnTo>
                    <a:pt x="3724275" y="201904"/>
                  </a:lnTo>
                  <a:lnTo>
                    <a:pt x="3724275" y="259054"/>
                  </a:lnTo>
                  <a:lnTo>
                    <a:pt x="3743325" y="259054"/>
                  </a:lnTo>
                  <a:lnTo>
                    <a:pt x="3743325" y="201904"/>
                  </a:lnTo>
                  <a:close/>
                </a:path>
                <a:path w="3743325" h="1466850">
                  <a:moveTo>
                    <a:pt x="3743325" y="106387"/>
                  </a:moveTo>
                  <a:lnTo>
                    <a:pt x="3724275" y="106387"/>
                  </a:lnTo>
                  <a:lnTo>
                    <a:pt x="3724275" y="163537"/>
                  </a:lnTo>
                  <a:lnTo>
                    <a:pt x="3743325" y="163537"/>
                  </a:lnTo>
                  <a:lnTo>
                    <a:pt x="3743325" y="106387"/>
                  </a:lnTo>
                  <a:close/>
                </a:path>
              </a:pathLst>
            </a:custGeom>
            <a:solidFill>
              <a:srgbClr val="D533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14399" y="3819524"/>
              <a:ext cx="3400425" cy="419100"/>
            </a:xfrm>
            <a:custGeom>
              <a:avLst/>
              <a:gdLst/>
              <a:ahLst/>
              <a:cxnLst/>
              <a:rect l="l" t="t" r="r" b="b"/>
              <a:pathLst>
                <a:path w="3400425" h="419100">
                  <a:moveTo>
                    <a:pt x="3329227" y="419099"/>
                  </a:moveTo>
                  <a:lnTo>
                    <a:pt x="53397" y="419099"/>
                  </a:lnTo>
                  <a:lnTo>
                    <a:pt x="49680" y="418611"/>
                  </a:lnTo>
                  <a:lnTo>
                    <a:pt x="14085" y="393243"/>
                  </a:lnTo>
                  <a:lnTo>
                    <a:pt x="365" y="352858"/>
                  </a:lnTo>
                  <a:lnTo>
                    <a:pt x="0" y="347902"/>
                  </a:lnTo>
                  <a:lnTo>
                    <a:pt x="0" y="3428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3329227" y="0"/>
                  </a:lnTo>
                  <a:lnTo>
                    <a:pt x="3370718" y="15621"/>
                  </a:lnTo>
                  <a:lnTo>
                    <a:pt x="3396538" y="51661"/>
                  </a:lnTo>
                  <a:lnTo>
                    <a:pt x="3400424" y="71196"/>
                  </a:lnTo>
                  <a:lnTo>
                    <a:pt x="3400424" y="347902"/>
                  </a:lnTo>
                  <a:lnTo>
                    <a:pt x="3384802" y="389393"/>
                  </a:lnTo>
                  <a:lnTo>
                    <a:pt x="3348762" y="415213"/>
                  </a:lnTo>
                  <a:lnTo>
                    <a:pt x="3334183" y="418611"/>
                  </a:lnTo>
                  <a:lnTo>
                    <a:pt x="3329227" y="41909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95349" y="3819802"/>
              <a:ext cx="70485" cy="419100"/>
            </a:xfrm>
            <a:custGeom>
              <a:avLst/>
              <a:gdLst/>
              <a:ahLst/>
              <a:cxnLst/>
              <a:rect l="l" t="t" r="r" b="b"/>
              <a:pathLst>
                <a:path w="70484" h="419100">
                  <a:moveTo>
                    <a:pt x="70450" y="418544"/>
                  </a:moveTo>
                  <a:lnTo>
                    <a:pt x="33857" y="405991"/>
                  </a:lnTo>
                  <a:lnTo>
                    <a:pt x="5800" y="371782"/>
                  </a:lnTo>
                  <a:lnTo>
                    <a:pt x="0" y="3426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342622"/>
                  </a:lnTo>
                  <a:lnTo>
                    <a:pt x="44515" y="384964"/>
                  </a:lnTo>
                  <a:lnTo>
                    <a:pt x="66287" y="416888"/>
                  </a:lnTo>
                  <a:lnTo>
                    <a:pt x="70450" y="418544"/>
                  </a:lnTo>
                  <a:close/>
                </a:path>
              </a:pathLst>
            </a:custGeom>
            <a:solidFill>
              <a:srgbClr val="D5338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425" y="1466849"/>
              <a:ext cx="150018" cy="171450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870743" y="1412811"/>
            <a:ext cx="105410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50" b="1">
                <a:solidFill>
                  <a:srgbClr val="3A6EA5"/>
                </a:solidFill>
                <a:latin typeface="Malgun Gothic"/>
                <a:cs typeface="Malgun Gothic"/>
              </a:rPr>
              <a:t>私の卒業</a:t>
            </a:r>
            <a:r>
              <a:rPr dirty="0" sz="1500" spc="-150" b="1">
                <a:solidFill>
                  <a:srgbClr val="3A6EA5"/>
                </a:solidFill>
                <a:latin typeface="Microsoft JhengHei"/>
                <a:cs typeface="Microsoft JhengHei"/>
              </a:rPr>
              <a:t>研</a:t>
            </a:r>
            <a:r>
              <a:rPr dirty="0" sz="1500" spc="-100" b="1">
                <a:solidFill>
                  <a:srgbClr val="3A6EA5"/>
                </a:solidFill>
                <a:latin typeface="Malgun Gothic"/>
                <a:cs typeface="Malgun Gothic"/>
              </a:rPr>
              <a:t>究</a:t>
            </a:r>
            <a:endParaRPr sz="1500">
              <a:latin typeface="Malgun Gothic"/>
              <a:cs typeface="Malgun Gothic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4881" y="3142058"/>
            <a:ext cx="134287" cy="116681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882650" y="2998238"/>
            <a:ext cx="2243455" cy="728980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815"/>
              </a:spcBef>
            </a:pPr>
            <a:r>
              <a:rPr dirty="0" sz="1150" spc="-105" b="1">
                <a:solidFill>
                  <a:srgbClr val="D53383"/>
                </a:solidFill>
                <a:latin typeface="Arial"/>
                <a:cs typeface="Arial"/>
              </a:rPr>
              <a:t>SNR</a:t>
            </a:r>
            <a:r>
              <a:rPr dirty="0" sz="1150" spc="-110" b="1">
                <a:solidFill>
                  <a:srgbClr val="D53383"/>
                </a:solidFill>
                <a:latin typeface="Malgun Gothic"/>
                <a:cs typeface="Malgun Gothic"/>
              </a:rPr>
              <a:t>低下による課題</a:t>
            </a:r>
            <a:endParaRPr sz="1150">
              <a:latin typeface="Malgun Gothic"/>
              <a:cs typeface="Malgun Gothic"/>
            </a:endParaRPr>
          </a:p>
          <a:p>
            <a:pPr marL="12700" marR="5080">
              <a:lnSpc>
                <a:spcPct val="108000"/>
              </a:lnSpc>
              <a:spcBef>
                <a:spcPts val="590"/>
              </a:spcBef>
            </a:pPr>
            <a:r>
              <a:rPr dirty="0" sz="1100" spc="-155">
                <a:solidFill>
                  <a:srgbClr val="545454"/>
                </a:solidFill>
                <a:latin typeface="Arial MT"/>
                <a:cs typeface="Arial MT"/>
              </a:rPr>
              <a:t>SNR</a:t>
            </a:r>
            <a:r>
              <a:rPr dirty="0" sz="1100" spc="-65">
                <a:solidFill>
                  <a:srgbClr val="545454"/>
                </a:solidFill>
                <a:latin typeface="Arial MT"/>
                <a:cs typeface="Arial MT"/>
              </a:rPr>
              <a:t> -</a:t>
            </a:r>
            <a:r>
              <a:rPr dirty="0" sz="1100" spc="-70">
                <a:solidFill>
                  <a:srgbClr val="545454"/>
                </a:solidFill>
                <a:latin typeface="Arial MT"/>
                <a:cs typeface="Arial MT"/>
              </a:rPr>
              <a:t>12dB</a:t>
            </a:r>
            <a:r>
              <a:rPr dirty="0" sz="1100" spc="-175">
                <a:solidFill>
                  <a:srgbClr val="545454"/>
                </a:solidFill>
                <a:latin typeface="SimSun"/>
                <a:cs typeface="SimSun"/>
              </a:rPr>
              <a:t>以下で予測精度が著しく 低下</a:t>
            </a:r>
            <a:r>
              <a:rPr dirty="0" sz="1100" spc="-150">
                <a:solidFill>
                  <a:srgbClr val="545454"/>
                </a:solidFill>
                <a:latin typeface="SimSun"/>
                <a:cs typeface="SimSun"/>
              </a:rPr>
              <a:t>ノイズにより沸騰音の特徴が埋もれる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063625" y="3934840"/>
            <a:ext cx="36322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00">
                <a:solidFill>
                  <a:srgbClr val="666666"/>
                </a:solidFill>
                <a:latin typeface="SimSun"/>
                <a:cs typeface="SimSun"/>
              </a:rPr>
              <a:t>高</a:t>
            </a:r>
            <a:r>
              <a:rPr dirty="0" sz="1000" spc="-55">
                <a:solidFill>
                  <a:srgbClr val="666666"/>
                </a:solidFill>
                <a:latin typeface="Roboto Lt"/>
                <a:cs typeface="Roboto Lt"/>
              </a:rPr>
              <a:t>SNR</a:t>
            </a:r>
            <a:endParaRPr sz="1000">
              <a:latin typeface="Roboto Lt"/>
              <a:cs typeface="Roboto L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821558" y="3934840"/>
            <a:ext cx="36322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00">
                <a:solidFill>
                  <a:srgbClr val="666666"/>
                </a:solidFill>
                <a:latin typeface="SimSun"/>
                <a:cs typeface="SimSun"/>
              </a:rPr>
              <a:t>低</a:t>
            </a:r>
            <a:r>
              <a:rPr dirty="0" sz="1000" spc="-55">
                <a:solidFill>
                  <a:srgbClr val="666666"/>
                </a:solidFill>
                <a:latin typeface="Roboto Lt"/>
                <a:cs typeface="Roboto Lt"/>
              </a:rPr>
              <a:t>SNR</a:t>
            </a:r>
            <a:endParaRPr sz="1000">
              <a:latin typeface="Roboto Lt"/>
              <a:cs typeface="Roboto L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514472" y="1181100"/>
            <a:ext cx="4181475" cy="2943225"/>
            <a:chOff x="514472" y="1181100"/>
            <a:chExt cx="4181475" cy="2943225"/>
          </a:xfrm>
        </p:grpSpPr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4472" y="1181100"/>
              <a:ext cx="4181228" cy="38099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57399" y="3933824"/>
              <a:ext cx="1142999" cy="190499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2971799" y="3933824"/>
              <a:ext cx="28575" cy="190500"/>
            </a:xfrm>
            <a:custGeom>
              <a:avLst/>
              <a:gdLst/>
              <a:ahLst/>
              <a:cxnLst/>
              <a:rect l="l" t="t" r="r" b="b"/>
              <a:pathLst>
                <a:path w="28575" h="190500">
                  <a:moveTo>
                    <a:pt x="28574" y="190499"/>
                  </a:moveTo>
                  <a:lnTo>
                    <a:pt x="0" y="1904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190499"/>
                  </a:lnTo>
                  <a:close/>
                </a:path>
              </a:pathLst>
            </a:custGeom>
            <a:solidFill>
              <a:srgbClr val="333333">
                <a:alpha val="9366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720724" y="1798764"/>
            <a:ext cx="296672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35"/>
              </a:spcBef>
              <a:buClr>
                <a:srgbClr val="3A6EA5"/>
              </a:buClr>
              <a:buSzPct val="86956"/>
              <a:buFont typeface="Lucida Sans Unicode"/>
              <a:buChar char="●"/>
              <a:tabLst>
                <a:tab pos="155575" algn="l"/>
              </a:tabLst>
            </a:pPr>
            <a:r>
              <a:rPr dirty="0" sz="1150" spc="-105" b="1">
                <a:solidFill>
                  <a:srgbClr val="444444"/>
                </a:solidFill>
                <a:latin typeface="Microsoft JhengHei"/>
                <a:cs typeface="Microsoft JhengHei"/>
              </a:rPr>
              <a:t>テーマ：</a:t>
            </a:r>
            <a:r>
              <a:rPr dirty="0" sz="1150" spc="-85">
                <a:solidFill>
                  <a:srgbClr val="444444"/>
                </a:solidFill>
                <a:latin typeface="Yu Gothic Light"/>
                <a:cs typeface="Yu Gothic Light"/>
              </a:rPr>
              <a:t>CNN</a:t>
            </a:r>
            <a:r>
              <a:rPr dirty="0" sz="1150" spc="-130">
                <a:solidFill>
                  <a:srgbClr val="444444"/>
                </a:solidFill>
                <a:latin typeface="SimSun"/>
                <a:cs typeface="SimSun"/>
              </a:rPr>
              <a:t>アンサンブル学習による沸騰検知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95324" y="1989112"/>
            <a:ext cx="2219325" cy="53975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80975" indent="-142875">
              <a:lnSpc>
                <a:spcPct val="100000"/>
              </a:lnSpc>
              <a:spcBef>
                <a:spcPts val="735"/>
              </a:spcBef>
              <a:buClr>
                <a:srgbClr val="3A6EA5"/>
              </a:buClr>
              <a:buSzPct val="86956"/>
              <a:buFont typeface="Lucida Sans Unicode"/>
              <a:buChar char="●"/>
              <a:tabLst>
                <a:tab pos="180975" algn="l"/>
              </a:tabLst>
            </a:pPr>
            <a:r>
              <a:rPr dirty="0" sz="1150" spc="-110" b="1">
                <a:solidFill>
                  <a:srgbClr val="444444"/>
                </a:solidFill>
                <a:latin typeface="Microsoft JhengHei"/>
                <a:cs typeface="Microsoft JhengHei"/>
              </a:rPr>
              <a:t>手法：</a:t>
            </a:r>
            <a:r>
              <a:rPr dirty="0" sz="1150" spc="-150">
                <a:solidFill>
                  <a:srgbClr val="444444"/>
                </a:solidFill>
                <a:latin typeface="SimSun"/>
                <a:cs typeface="SimSun"/>
              </a:rPr>
              <a:t>音響データから 熱流束予測</a:t>
            </a:r>
            <a:endParaRPr sz="1150">
              <a:latin typeface="SimSun"/>
              <a:cs typeface="SimSun"/>
            </a:endParaRPr>
          </a:p>
          <a:p>
            <a:pPr marL="180975" indent="-142875">
              <a:lnSpc>
                <a:spcPct val="100000"/>
              </a:lnSpc>
              <a:spcBef>
                <a:spcPts val="645"/>
              </a:spcBef>
              <a:buClr>
                <a:srgbClr val="3A6EA5"/>
              </a:buClr>
              <a:buSzPct val="86956"/>
              <a:buFont typeface="Lucida Sans Unicode"/>
              <a:buChar char="●"/>
              <a:tabLst>
                <a:tab pos="180975" algn="l"/>
              </a:tabLst>
            </a:pPr>
            <a:r>
              <a:rPr dirty="0" sz="1150" spc="-110" b="1">
                <a:solidFill>
                  <a:srgbClr val="444444"/>
                </a:solidFill>
                <a:latin typeface="Malgun Gothic"/>
                <a:cs typeface="Malgun Gothic"/>
              </a:rPr>
              <a:t>目標</a:t>
            </a:r>
            <a:r>
              <a:rPr dirty="0" sz="1150" spc="-110" b="1">
                <a:solidFill>
                  <a:srgbClr val="444444"/>
                </a:solidFill>
                <a:latin typeface="Microsoft JhengHei"/>
                <a:cs typeface="Microsoft JhengHei"/>
              </a:rPr>
              <a:t>：</a:t>
            </a:r>
            <a:r>
              <a:rPr dirty="0" sz="1150" spc="-105">
                <a:solidFill>
                  <a:srgbClr val="444444"/>
                </a:solidFill>
                <a:latin typeface="SimSun"/>
                <a:cs typeface="SimSun"/>
              </a:rPr>
              <a:t>プール沸騰の発生検知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20724" y="2589339"/>
            <a:ext cx="256286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35"/>
              </a:spcBef>
              <a:buClr>
                <a:srgbClr val="3A6EA5"/>
              </a:buClr>
              <a:buSzPct val="86956"/>
              <a:buFont typeface="Lucida Sans Unicode"/>
              <a:buChar char="●"/>
              <a:tabLst>
                <a:tab pos="155575" algn="l"/>
              </a:tabLst>
            </a:pPr>
            <a:r>
              <a:rPr dirty="0" sz="1150" spc="-110" b="1">
                <a:solidFill>
                  <a:srgbClr val="444444"/>
                </a:solidFill>
                <a:latin typeface="Microsoft JhengHei"/>
                <a:cs typeface="Microsoft JhengHei"/>
              </a:rPr>
              <a:t>データ：</a:t>
            </a:r>
            <a:r>
              <a:rPr dirty="0" sz="1150" spc="-110">
                <a:solidFill>
                  <a:srgbClr val="444444"/>
                </a:solidFill>
                <a:latin typeface="SimSun"/>
                <a:cs typeface="SimSun"/>
              </a:rPr>
              <a:t>様々な</a:t>
            </a:r>
            <a:r>
              <a:rPr dirty="0" sz="1150" spc="-70">
                <a:solidFill>
                  <a:srgbClr val="444444"/>
                </a:solidFill>
                <a:latin typeface="Yu Gothic Light"/>
                <a:cs typeface="Yu Gothic Light"/>
              </a:rPr>
              <a:t>SNR</a:t>
            </a:r>
            <a:r>
              <a:rPr dirty="0" sz="1150" spc="-105">
                <a:solidFill>
                  <a:srgbClr val="444444"/>
                </a:solidFill>
                <a:latin typeface="SimSun"/>
                <a:cs typeface="SimSun"/>
              </a:rPr>
              <a:t>環境下での音響信号</a:t>
            </a:r>
            <a:endParaRPr sz="1150">
              <a:latin typeface="SimSun"/>
              <a:cs typeface="SimSun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5019674" y="1162049"/>
            <a:ext cx="4257675" cy="3609975"/>
            <a:chOff x="5019674" y="1162049"/>
            <a:chExt cx="4257675" cy="3609975"/>
          </a:xfrm>
        </p:grpSpPr>
        <p:pic>
          <p:nvPicPr>
            <p:cNvPr id="31" name="object 3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38724" y="1181100"/>
              <a:ext cx="4219574" cy="3571874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5029199" y="1171574"/>
              <a:ext cx="4238625" cy="3590925"/>
            </a:xfrm>
            <a:custGeom>
              <a:avLst/>
              <a:gdLst/>
              <a:ahLst/>
              <a:cxnLst/>
              <a:rect l="l" t="t" r="r" b="b"/>
              <a:pathLst>
                <a:path w="4238625" h="3590925">
                  <a:moveTo>
                    <a:pt x="0" y="3486149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0" y="91081"/>
                  </a:lnTo>
                  <a:lnTo>
                    <a:pt x="13835" y="52285"/>
                  </a:lnTo>
                  <a:lnTo>
                    <a:pt x="17657" y="46565"/>
                  </a:lnTo>
                  <a:lnTo>
                    <a:pt x="21479" y="40844"/>
                  </a:lnTo>
                  <a:lnTo>
                    <a:pt x="25822" y="35552"/>
                  </a:lnTo>
                  <a:lnTo>
                    <a:pt x="30687" y="30687"/>
                  </a:lnTo>
                  <a:lnTo>
                    <a:pt x="35551" y="25823"/>
                  </a:lnTo>
                  <a:lnTo>
                    <a:pt x="71034" y="5342"/>
                  </a:lnTo>
                  <a:lnTo>
                    <a:pt x="97895" y="0"/>
                  </a:lnTo>
                  <a:lnTo>
                    <a:pt x="104774" y="0"/>
                  </a:lnTo>
                  <a:lnTo>
                    <a:pt x="4133849" y="0"/>
                  </a:lnTo>
                  <a:lnTo>
                    <a:pt x="4140728" y="0"/>
                  </a:lnTo>
                  <a:lnTo>
                    <a:pt x="4147542" y="671"/>
                  </a:lnTo>
                  <a:lnTo>
                    <a:pt x="4186337" y="13835"/>
                  </a:lnTo>
                  <a:lnTo>
                    <a:pt x="4192058" y="17657"/>
                  </a:lnTo>
                  <a:lnTo>
                    <a:pt x="4197778" y="21479"/>
                  </a:lnTo>
                  <a:lnTo>
                    <a:pt x="4224788" y="52285"/>
                  </a:lnTo>
                  <a:lnTo>
                    <a:pt x="4230648" y="64679"/>
                  </a:lnTo>
                  <a:lnTo>
                    <a:pt x="4233281" y="71035"/>
                  </a:lnTo>
                  <a:lnTo>
                    <a:pt x="4235268" y="77586"/>
                  </a:lnTo>
                  <a:lnTo>
                    <a:pt x="4236610" y="84334"/>
                  </a:lnTo>
                  <a:lnTo>
                    <a:pt x="4237953" y="91081"/>
                  </a:lnTo>
                  <a:lnTo>
                    <a:pt x="4238624" y="97895"/>
                  </a:lnTo>
                  <a:lnTo>
                    <a:pt x="4238624" y="104774"/>
                  </a:lnTo>
                  <a:lnTo>
                    <a:pt x="4238624" y="3486149"/>
                  </a:lnTo>
                  <a:lnTo>
                    <a:pt x="4238624" y="3493029"/>
                  </a:lnTo>
                  <a:lnTo>
                    <a:pt x="4237953" y="3499842"/>
                  </a:lnTo>
                  <a:lnTo>
                    <a:pt x="4236610" y="3506590"/>
                  </a:lnTo>
                  <a:lnTo>
                    <a:pt x="4235268" y="3513337"/>
                  </a:lnTo>
                  <a:lnTo>
                    <a:pt x="4233281" y="3519888"/>
                  </a:lnTo>
                  <a:lnTo>
                    <a:pt x="4230648" y="3526244"/>
                  </a:lnTo>
                  <a:lnTo>
                    <a:pt x="4228016" y="3532600"/>
                  </a:lnTo>
                  <a:lnTo>
                    <a:pt x="4203071" y="3565100"/>
                  </a:lnTo>
                  <a:lnTo>
                    <a:pt x="4173943" y="3582948"/>
                  </a:lnTo>
                  <a:lnTo>
                    <a:pt x="4167587" y="3585581"/>
                  </a:lnTo>
                  <a:lnTo>
                    <a:pt x="4161036" y="3587568"/>
                  </a:lnTo>
                  <a:lnTo>
                    <a:pt x="4154289" y="3588910"/>
                  </a:lnTo>
                  <a:lnTo>
                    <a:pt x="4147542" y="3590253"/>
                  </a:lnTo>
                  <a:lnTo>
                    <a:pt x="4140728" y="3590924"/>
                  </a:lnTo>
                  <a:lnTo>
                    <a:pt x="4133849" y="3590924"/>
                  </a:lnTo>
                  <a:lnTo>
                    <a:pt x="104774" y="3590924"/>
                  </a:lnTo>
                  <a:lnTo>
                    <a:pt x="97895" y="3590924"/>
                  </a:lnTo>
                  <a:lnTo>
                    <a:pt x="91081" y="3590253"/>
                  </a:lnTo>
                  <a:lnTo>
                    <a:pt x="84333" y="3588910"/>
                  </a:lnTo>
                  <a:lnTo>
                    <a:pt x="77586" y="3587568"/>
                  </a:lnTo>
                  <a:lnTo>
                    <a:pt x="71035" y="3585581"/>
                  </a:lnTo>
                  <a:lnTo>
                    <a:pt x="64679" y="3582948"/>
                  </a:lnTo>
                  <a:lnTo>
                    <a:pt x="58323" y="3580315"/>
                  </a:lnTo>
                  <a:lnTo>
                    <a:pt x="30687" y="3560236"/>
                  </a:lnTo>
                  <a:lnTo>
                    <a:pt x="25822" y="3555371"/>
                  </a:lnTo>
                  <a:lnTo>
                    <a:pt x="21479" y="3550078"/>
                  </a:lnTo>
                  <a:lnTo>
                    <a:pt x="17657" y="3544358"/>
                  </a:lnTo>
                  <a:lnTo>
                    <a:pt x="13835" y="3538638"/>
                  </a:lnTo>
                  <a:lnTo>
                    <a:pt x="10608" y="3532600"/>
                  </a:lnTo>
                  <a:lnTo>
                    <a:pt x="7975" y="3526244"/>
                  </a:lnTo>
                  <a:lnTo>
                    <a:pt x="5342" y="3519888"/>
                  </a:lnTo>
                  <a:lnTo>
                    <a:pt x="3354" y="3513337"/>
                  </a:lnTo>
                  <a:lnTo>
                    <a:pt x="2012" y="3506589"/>
                  </a:lnTo>
                  <a:lnTo>
                    <a:pt x="670" y="3499842"/>
                  </a:lnTo>
                  <a:lnTo>
                    <a:pt x="0" y="3493029"/>
                  </a:lnTo>
                  <a:lnTo>
                    <a:pt x="0" y="3486149"/>
                  </a:lnTo>
                  <a:close/>
                </a:path>
              </a:pathLst>
            </a:custGeom>
            <a:ln w="19049">
              <a:solidFill>
                <a:srgbClr val="28A64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276848" y="3600449"/>
              <a:ext cx="3743325" cy="914400"/>
            </a:xfrm>
            <a:custGeom>
              <a:avLst/>
              <a:gdLst/>
              <a:ahLst/>
              <a:cxnLst/>
              <a:rect l="l" t="t" r="r" b="b"/>
              <a:pathLst>
                <a:path w="3743325" h="914400">
                  <a:moveTo>
                    <a:pt x="3672128" y="914399"/>
                  </a:moveTo>
                  <a:lnTo>
                    <a:pt x="71197" y="914399"/>
                  </a:lnTo>
                  <a:lnTo>
                    <a:pt x="66241" y="913911"/>
                  </a:lnTo>
                  <a:lnTo>
                    <a:pt x="29705" y="898777"/>
                  </a:lnTo>
                  <a:lnTo>
                    <a:pt x="3886" y="862737"/>
                  </a:lnTo>
                  <a:lnTo>
                    <a:pt x="0" y="843203"/>
                  </a:lnTo>
                  <a:lnTo>
                    <a:pt x="0" y="8381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7" y="0"/>
                  </a:lnTo>
                  <a:lnTo>
                    <a:pt x="3672128" y="0"/>
                  </a:lnTo>
                  <a:lnTo>
                    <a:pt x="3713619" y="15621"/>
                  </a:lnTo>
                  <a:lnTo>
                    <a:pt x="3739438" y="51661"/>
                  </a:lnTo>
                  <a:lnTo>
                    <a:pt x="3743324" y="71196"/>
                  </a:lnTo>
                  <a:lnTo>
                    <a:pt x="3743324" y="843203"/>
                  </a:lnTo>
                  <a:lnTo>
                    <a:pt x="3727702" y="884693"/>
                  </a:lnTo>
                  <a:lnTo>
                    <a:pt x="3691661" y="910513"/>
                  </a:lnTo>
                  <a:lnTo>
                    <a:pt x="3677083" y="913911"/>
                  </a:lnTo>
                  <a:lnTo>
                    <a:pt x="3672128" y="914399"/>
                  </a:lnTo>
                  <a:close/>
                </a:path>
              </a:pathLst>
            </a:custGeom>
            <a:solidFill>
              <a:srgbClr val="28A64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76850" y="1466849"/>
              <a:ext cx="171450" cy="171450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5435599" y="1401326"/>
            <a:ext cx="1736725" cy="2717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0" spc="-140" b="1">
                <a:solidFill>
                  <a:srgbClr val="28A645"/>
                </a:solidFill>
                <a:latin typeface="Arial"/>
                <a:cs typeface="Arial"/>
              </a:rPr>
              <a:t>Zhang</a:t>
            </a:r>
            <a:r>
              <a:rPr dirty="0" sz="1600" spc="-120" b="1">
                <a:solidFill>
                  <a:srgbClr val="28A645"/>
                </a:solidFill>
                <a:latin typeface="Arial"/>
                <a:cs typeface="Arial"/>
              </a:rPr>
              <a:t> </a:t>
            </a:r>
            <a:r>
              <a:rPr dirty="0" sz="1600" spc="-55" b="1">
                <a:solidFill>
                  <a:srgbClr val="28A645"/>
                </a:solidFill>
                <a:latin typeface="Arial"/>
                <a:cs typeface="Arial"/>
              </a:rPr>
              <a:t>et</a:t>
            </a:r>
            <a:r>
              <a:rPr dirty="0" sz="1600" spc="-114" b="1">
                <a:solidFill>
                  <a:srgbClr val="28A645"/>
                </a:solidFill>
                <a:latin typeface="Arial"/>
                <a:cs typeface="Arial"/>
              </a:rPr>
              <a:t> </a:t>
            </a:r>
            <a:r>
              <a:rPr dirty="0" sz="1600" spc="-50" b="1">
                <a:solidFill>
                  <a:srgbClr val="28A645"/>
                </a:solidFill>
                <a:latin typeface="Arial"/>
                <a:cs typeface="Arial"/>
              </a:rPr>
              <a:t>al</a:t>
            </a:r>
            <a:r>
              <a:rPr dirty="0" sz="1600" spc="-85" b="1">
                <a:solidFill>
                  <a:srgbClr val="28A645"/>
                </a:solidFill>
                <a:latin typeface="Arial"/>
                <a:cs typeface="Arial"/>
              </a:rPr>
              <a:t>. </a:t>
            </a:r>
            <a:r>
              <a:rPr dirty="0" sz="1500" spc="-130" b="1">
                <a:solidFill>
                  <a:srgbClr val="28A645"/>
                </a:solidFill>
                <a:latin typeface="Malgun Gothic"/>
                <a:cs typeface="Malgun Gothic"/>
              </a:rPr>
              <a:t>の解決策</a:t>
            </a:r>
            <a:endParaRPr sz="1500">
              <a:latin typeface="Malgun Gothic"/>
              <a:cs typeface="Malgun Gothic"/>
            </a:endParaRPr>
          </a:p>
        </p:txBody>
      </p:sp>
      <p:pic>
        <p:nvPicPr>
          <p:cNvPr id="36" name="object 3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423892" y="3781424"/>
            <a:ext cx="91672" cy="133350"/>
          </a:xfrm>
          <a:prstGeom prst="rect">
            <a:avLst/>
          </a:prstGeom>
        </p:spPr>
      </p:pic>
      <p:sp>
        <p:nvSpPr>
          <p:cNvPr id="37" name="object 37" descr=""/>
          <p:cNvSpPr txBox="1"/>
          <p:nvPr/>
        </p:nvSpPr>
        <p:spPr>
          <a:xfrm>
            <a:off x="5537307" y="3732339"/>
            <a:ext cx="9588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 b="1">
                <a:solidFill>
                  <a:srgbClr val="28A645"/>
                </a:solidFill>
                <a:latin typeface="Malgun Gothic"/>
                <a:cs typeface="Malgun Gothic"/>
              </a:rPr>
              <a:t>期待される</a:t>
            </a:r>
            <a:r>
              <a:rPr dirty="0" sz="1150" spc="-110" b="1">
                <a:solidFill>
                  <a:srgbClr val="28A645"/>
                </a:solidFill>
                <a:latin typeface="Microsoft JhengHei"/>
                <a:cs typeface="Microsoft JhengHei"/>
              </a:rPr>
              <a:t>効</a:t>
            </a:r>
            <a:r>
              <a:rPr dirty="0" sz="1150" spc="-50" b="1">
                <a:solidFill>
                  <a:srgbClr val="28A645"/>
                </a:solidFill>
                <a:latin typeface="Malgun Gothic"/>
                <a:cs typeface="Malgun Gothic"/>
              </a:rPr>
              <a:t>果</a:t>
            </a:r>
            <a:endParaRPr sz="1150">
              <a:latin typeface="Malgun Gothic"/>
              <a:cs typeface="Malgun Gothic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407024" y="3987209"/>
            <a:ext cx="1511300" cy="38735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100" spc="-135">
                <a:solidFill>
                  <a:srgbClr val="444444"/>
                </a:solidFill>
                <a:latin typeface="SimSun"/>
                <a:cs typeface="SimSun"/>
              </a:rPr>
              <a:t>データ駆動による</a:t>
            </a: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35">
                <a:solidFill>
                  <a:srgbClr val="444444"/>
                </a:solidFill>
                <a:latin typeface="SimSun"/>
                <a:cs typeface="SimSun"/>
              </a:rPr>
              <a:t>有効周波数帯域の自動発見</a:t>
            </a:r>
            <a:endParaRPr sz="1100">
              <a:latin typeface="SimSun"/>
              <a:cs typeface="SimSun"/>
            </a:endParaRPr>
          </a:p>
        </p:txBody>
      </p:sp>
      <p:pic>
        <p:nvPicPr>
          <p:cNvPr id="39" name="object 39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57897" y="1181100"/>
            <a:ext cx="4181228" cy="38099"/>
          </a:xfrm>
          <a:prstGeom prst="rect">
            <a:avLst/>
          </a:prstGeom>
        </p:spPr>
      </p:pic>
      <p:sp>
        <p:nvSpPr>
          <p:cNvPr id="40" name="object 40" descr=""/>
          <p:cNvSpPr txBox="1"/>
          <p:nvPr/>
        </p:nvSpPr>
        <p:spPr>
          <a:xfrm>
            <a:off x="5264149" y="1798764"/>
            <a:ext cx="2031364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35"/>
              </a:spcBef>
              <a:buClr>
                <a:srgbClr val="28A645"/>
              </a:buClr>
              <a:buSzPct val="86956"/>
              <a:buFont typeface="Yu Gothic"/>
              <a:buChar char="✓"/>
              <a:tabLst>
                <a:tab pos="155575" algn="l"/>
              </a:tabLst>
            </a:pPr>
            <a:r>
              <a:rPr dirty="0" sz="1150" spc="-110" b="1">
                <a:solidFill>
                  <a:srgbClr val="444444"/>
                </a:solidFill>
                <a:latin typeface="Microsoft JhengHei"/>
                <a:cs typeface="Microsoft JhengHei"/>
              </a:rPr>
              <a:t>自</a:t>
            </a:r>
            <a:r>
              <a:rPr dirty="0" sz="1150" spc="-110" b="1">
                <a:solidFill>
                  <a:srgbClr val="444444"/>
                </a:solidFill>
                <a:latin typeface="Malgun Gothic"/>
                <a:cs typeface="Malgun Gothic"/>
              </a:rPr>
              <a:t>己注意機構</a:t>
            </a:r>
            <a:r>
              <a:rPr dirty="0" sz="1150" spc="-120">
                <a:solidFill>
                  <a:srgbClr val="444444"/>
                </a:solidFill>
                <a:latin typeface="SimSun"/>
                <a:cs typeface="SimSun"/>
              </a:rPr>
              <a:t>による適応的学習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238749" y="1989112"/>
            <a:ext cx="1812925" cy="53975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80975" indent="-142875">
              <a:lnSpc>
                <a:spcPct val="100000"/>
              </a:lnSpc>
              <a:spcBef>
                <a:spcPts val="735"/>
              </a:spcBef>
              <a:buClr>
                <a:srgbClr val="28A645"/>
              </a:buClr>
              <a:buSzPct val="86956"/>
              <a:buFont typeface="Yu Gothic"/>
              <a:buChar char="✓"/>
              <a:tabLst>
                <a:tab pos="180975" algn="l"/>
              </a:tabLst>
            </a:pPr>
            <a:r>
              <a:rPr dirty="0" sz="1150" spc="-110" b="1">
                <a:solidFill>
                  <a:srgbClr val="444444"/>
                </a:solidFill>
                <a:latin typeface="Malgun Gothic"/>
                <a:cs typeface="Malgun Gothic"/>
              </a:rPr>
              <a:t>周波</a:t>
            </a:r>
            <a:r>
              <a:rPr dirty="0" sz="1150" spc="-125" b="1">
                <a:solidFill>
                  <a:srgbClr val="444444"/>
                </a:solidFill>
                <a:latin typeface="Microsoft JhengHei"/>
                <a:cs typeface="Microsoft JhengHei"/>
              </a:rPr>
              <a:t>数パターン</a:t>
            </a:r>
            <a:r>
              <a:rPr dirty="0" sz="1150" spc="-100">
                <a:solidFill>
                  <a:srgbClr val="444444"/>
                </a:solidFill>
                <a:latin typeface="SimSun"/>
                <a:cs typeface="SimSun"/>
              </a:rPr>
              <a:t>の自動抽出</a:t>
            </a:r>
            <a:endParaRPr sz="1150">
              <a:latin typeface="SimSun"/>
              <a:cs typeface="SimSun"/>
            </a:endParaRPr>
          </a:p>
          <a:p>
            <a:pPr marL="180975" indent="-142875">
              <a:lnSpc>
                <a:spcPct val="100000"/>
              </a:lnSpc>
              <a:spcBef>
                <a:spcPts val="645"/>
              </a:spcBef>
              <a:buClr>
                <a:srgbClr val="28A645"/>
              </a:buClr>
              <a:buSzPct val="86956"/>
              <a:buFont typeface="Yu Gothic"/>
              <a:buChar char="✓"/>
              <a:tabLst>
                <a:tab pos="180975" algn="l"/>
              </a:tabLst>
            </a:pPr>
            <a:r>
              <a:rPr dirty="0" sz="1150" spc="-110" b="1">
                <a:solidFill>
                  <a:srgbClr val="444444"/>
                </a:solidFill>
                <a:latin typeface="Malgun Gothic"/>
                <a:cs typeface="Malgun Gothic"/>
              </a:rPr>
              <a:t>重</a:t>
            </a:r>
            <a:r>
              <a:rPr dirty="0" sz="1150" spc="-110" b="1">
                <a:solidFill>
                  <a:srgbClr val="444444"/>
                </a:solidFill>
                <a:latin typeface="Microsoft JhengHei"/>
                <a:cs typeface="Microsoft JhengHei"/>
              </a:rPr>
              <a:t>要</a:t>
            </a:r>
            <a:r>
              <a:rPr dirty="0" sz="1150" spc="-110" b="1">
                <a:solidFill>
                  <a:srgbClr val="444444"/>
                </a:solidFill>
                <a:latin typeface="Malgun Gothic"/>
                <a:cs typeface="Malgun Gothic"/>
              </a:rPr>
              <a:t>成分</a:t>
            </a:r>
            <a:r>
              <a:rPr dirty="0" sz="1150" spc="-100">
                <a:solidFill>
                  <a:srgbClr val="444444"/>
                </a:solidFill>
                <a:latin typeface="SimSun"/>
                <a:cs typeface="SimSun"/>
              </a:rPr>
              <a:t>の選択的強調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5264149" y="2589339"/>
            <a:ext cx="123126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35"/>
              </a:spcBef>
              <a:buClr>
                <a:srgbClr val="28A645"/>
              </a:buClr>
              <a:buSzPct val="86956"/>
              <a:buFont typeface="Yu Gothic"/>
              <a:buChar char="✓"/>
              <a:tabLst>
                <a:tab pos="155575" algn="l"/>
              </a:tabLst>
            </a:pPr>
            <a:r>
              <a:rPr dirty="0" sz="1150" spc="-125" b="1">
                <a:solidFill>
                  <a:srgbClr val="444444"/>
                </a:solidFill>
                <a:latin typeface="Microsoft JhengHei"/>
                <a:cs typeface="Microsoft JhengHei"/>
              </a:rPr>
              <a:t>ノイズ</a:t>
            </a:r>
            <a:r>
              <a:rPr dirty="0" sz="1150" spc="-110" b="1">
                <a:solidFill>
                  <a:srgbClr val="444444"/>
                </a:solidFill>
                <a:latin typeface="Malgun Gothic"/>
                <a:cs typeface="Malgun Gothic"/>
              </a:rPr>
              <a:t>耐性</a:t>
            </a:r>
            <a:r>
              <a:rPr dirty="0" sz="1150" spc="-90">
                <a:solidFill>
                  <a:srgbClr val="444444"/>
                </a:solidFill>
                <a:latin typeface="SimSun"/>
                <a:cs typeface="SimSun"/>
              </a:rPr>
              <a:t>の向上</a:t>
            </a:r>
            <a:endParaRPr sz="1150">
              <a:latin typeface="SimSun"/>
              <a:cs typeface="SimSun"/>
            </a:endParaRPr>
          </a:p>
        </p:txBody>
      </p:sp>
      <p:pic>
        <p:nvPicPr>
          <p:cNvPr id="43" name="object 4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89646" y="5090924"/>
            <a:ext cx="174307" cy="201409"/>
          </a:xfrm>
          <a:prstGeom prst="rect">
            <a:avLst/>
          </a:prstGeom>
        </p:spPr>
      </p:pic>
      <p:grpSp>
        <p:nvGrpSpPr>
          <p:cNvPr id="44" name="object 44" descr=""/>
          <p:cNvGrpSpPr/>
          <p:nvPr/>
        </p:nvGrpSpPr>
        <p:grpSpPr>
          <a:xfrm>
            <a:off x="476249" y="5543549"/>
            <a:ext cx="8801100" cy="1771650"/>
            <a:chOff x="476249" y="5543549"/>
            <a:chExt cx="8801100" cy="1771650"/>
          </a:xfrm>
        </p:grpSpPr>
        <p:pic>
          <p:nvPicPr>
            <p:cNvPr id="45" name="object 4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6249" y="5543549"/>
              <a:ext cx="8801099" cy="1771649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57587" y="5781674"/>
              <a:ext cx="180937" cy="190462"/>
            </a:xfrm>
            <a:prstGeom prst="rect">
              <a:avLst/>
            </a:prstGeom>
          </p:spPr>
        </p:pic>
      </p:grpSp>
      <p:sp>
        <p:nvSpPr>
          <p:cNvPr id="47" name="object 47" descr=""/>
          <p:cNvSpPr txBox="1"/>
          <p:nvPr/>
        </p:nvSpPr>
        <p:spPr>
          <a:xfrm>
            <a:off x="3733006" y="5725159"/>
            <a:ext cx="21209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10" b="1">
                <a:solidFill>
                  <a:srgbClr val="FFFFFF"/>
                </a:solidFill>
                <a:latin typeface="Malgun Gothic"/>
                <a:cs typeface="Malgun Gothic"/>
              </a:rPr>
              <a:t>本論文手法の</a:t>
            </a:r>
            <a:r>
              <a:rPr dirty="0" sz="1700" spc="-210" b="1">
                <a:solidFill>
                  <a:srgbClr val="FFFFFF"/>
                </a:solidFill>
                <a:latin typeface="Microsoft JhengHei"/>
                <a:cs typeface="Microsoft JhengHei"/>
              </a:rPr>
              <a:t>応</a:t>
            </a:r>
            <a:r>
              <a:rPr dirty="0" sz="1700" spc="-190" b="1">
                <a:solidFill>
                  <a:srgbClr val="FFFFFF"/>
                </a:solidFill>
                <a:latin typeface="Malgun Gothic"/>
                <a:cs typeface="Malgun Gothic"/>
              </a:rPr>
              <a:t>用可能性</a:t>
            </a:r>
            <a:endParaRPr sz="1700">
              <a:latin typeface="Malgun Gothic"/>
              <a:cs typeface="Malgun Gothic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666749" y="5784837"/>
            <a:ext cx="5531485" cy="1340485"/>
            <a:chOff x="666749" y="5784837"/>
            <a:chExt cx="5531485" cy="1340485"/>
          </a:xfrm>
        </p:grpSpPr>
        <p:pic>
          <p:nvPicPr>
            <p:cNvPr id="49" name="object 4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38824" y="5784837"/>
              <a:ext cx="358787" cy="184174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666749" y="6162674"/>
              <a:ext cx="2676525" cy="962025"/>
            </a:xfrm>
            <a:custGeom>
              <a:avLst/>
              <a:gdLst/>
              <a:ahLst/>
              <a:cxnLst/>
              <a:rect l="l" t="t" r="r" b="b"/>
              <a:pathLst>
                <a:path w="2676525" h="962025">
                  <a:moveTo>
                    <a:pt x="2605328" y="962024"/>
                  </a:moveTo>
                  <a:lnTo>
                    <a:pt x="71196" y="962024"/>
                  </a:lnTo>
                  <a:lnTo>
                    <a:pt x="66241" y="961535"/>
                  </a:lnTo>
                  <a:lnTo>
                    <a:pt x="29705" y="946401"/>
                  </a:lnTo>
                  <a:lnTo>
                    <a:pt x="3885" y="910361"/>
                  </a:lnTo>
                  <a:lnTo>
                    <a:pt x="0" y="890828"/>
                  </a:lnTo>
                  <a:lnTo>
                    <a:pt x="0" y="885824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605328" y="0"/>
                  </a:lnTo>
                  <a:lnTo>
                    <a:pt x="2646818" y="15620"/>
                  </a:lnTo>
                  <a:lnTo>
                    <a:pt x="2672638" y="51660"/>
                  </a:lnTo>
                  <a:lnTo>
                    <a:pt x="2676524" y="71196"/>
                  </a:lnTo>
                  <a:lnTo>
                    <a:pt x="2676524" y="890828"/>
                  </a:lnTo>
                  <a:lnTo>
                    <a:pt x="2660902" y="932318"/>
                  </a:lnTo>
                  <a:lnTo>
                    <a:pt x="2624862" y="958138"/>
                  </a:lnTo>
                  <a:lnTo>
                    <a:pt x="2610283" y="961535"/>
                  </a:lnTo>
                  <a:lnTo>
                    <a:pt x="2605328" y="962024"/>
                  </a:lnTo>
                  <a:close/>
                </a:path>
              </a:pathLst>
            </a:custGeom>
            <a:solidFill>
              <a:srgbClr val="FFFFFF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57325" y="6353174"/>
              <a:ext cx="153322" cy="153352"/>
            </a:xfrm>
            <a:prstGeom prst="rect">
              <a:avLst/>
            </a:prstGeom>
          </p:spPr>
        </p:pic>
      </p:grpSp>
      <p:sp>
        <p:nvSpPr>
          <p:cNvPr id="52" name="object 52" descr=""/>
          <p:cNvSpPr txBox="1"/>
          <p:nvPr/>
        </p:nvSpPr>
        <p:spPr>
          <a:xfrm>
            <a:off x="1630131" y="6301612"/>
            <a:ext cx="9398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 b="1">
                <a:solidFill>
                  <a:srgbClr val="FFFFFF"/>
                </a:solidFill>
                <a:latin typeface="Microsoft JhengHei"/>
                <a:cs typeface="Microsoft JhengHei"/>
              </a:rPr>
              <a:t>自</a:t>
            </a:r>
            <a:r>
              <a:rPr dirty="0" sz="1350" spc="-170" b="1">
                <a:solidFill>
                  <a:srgbClr val="FFFFFF"/>
                </a:solidFill>
                <a:latin typeface="Malgun Gothic"/>
                <a:cs typeface="Malgun Gothic"/>
              </a:rPr>
              <a:t>動</a:t>
            </a:r>
            <a:r>
              <a:rPr dirty="0" sz="1350" spc="-170" b="1">
                <a:solidFill>
                  <a:srgbClr val="FFFFFF"/>
                </a:solidFill>
                <a:latin typeface="Microsoft JhengHei"/>
                <a:cs typeface="Microsoft JhengHei"/>
              </a:rPr>
              <a:t>特徴発</a:t>
            </a:r>
            <a:r>
              <a:rPr dirty="0" sz="1350" spc="-50" b="1">
                <a:solidFill>
                  <a:srgbClr val="FFFFFF"/>
                </a:solidFill>
                <a:latin typeface="Malgun Gothic"/>
                <a:cs typeface="Malgun Gothic"/>
              </a:rPr>
              <a:t>見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3533774" y="6162674"/>
            <a:ext cx="2686050" cy="962025"/>
            <a:chOff x="3533774" y="6162674"/>
            <a:chExt cx="2686050" cy="962025"/>
          </a:xfrm>
        </p:grpSpPr>
        <p:sp>
          <p:nvSpPr>
            <p:cNvPr id="54" name="object 54" descr=""/>
            <p:cNvSpPr/>
            <p:nvPr/>
          </p:nvSpPr>
          <p:spPr>
            <a:xfrm>
              <a:off x="3533774" y="6162674"/>
              <a:ext cx="2686050" cy="962025"/>
            </a:xfrm>
            <a:custGeom>
              <a:avLst/>
              <a:gdLst/>
              <a:ahLst/>
              <a:cxnLst/>
              <a:rect l="l" t="t" r="r" b="b"/>
              <a:pathLst>
                <a:path w="2686050" h="962025">
                  <a:moveTo>
                    <a:pt x="2614853" y="962024"/>
                  </a:moveTo>
                  <a:lnTo>
                    <a:pt x="71196" y="962024"/>
                  </a:lnTo>
                  <a:lnTo>
                    <a:pt x="66241" y="961535"/>
                  </a:lnTo>
                  <a:lnTo>
                    <a:pt x="29705" y="946401"/>
                  </a:lnTo>
                  <a:lnTo>
                    <a:pt x="3885" y="910361"/>
                  </a:lnTo>
                  <a:lnTo>
                    <a:pt x="0" y="890828"/>
                  </a:lnTo>
                  <a:lnTo>
                    <a:pt x="0" y="885824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614853" y="0"/>
                  </a:lnTo>
                  <a:lnTo>
                    <a:pt x="2656343" y="15620"/>
                  </a:lnTo>
                  <a:lnTo>
                    <a:pt x="2682162" y="51660"/>
                  </a:lnTo>
                  <a:lnTo>
                    <a:pt x="2686049" y="71196"/>
                  </a:lnTo>
                  <a:lnTo>
                    <a:pt x="2686049" y="890828"/>
                  </a:lnTo>
                  <a:lnTo>
                    <a:pt x="2670427" y="932318"/>
                  </a:lnTo>
                  <a:lnTo>
                    <a:pt x="2634386" y="958138"/>
                  </a:lnTo>
                  <a:lnTo>
                    <a:pt x="2619808" y="961535"/>
                  </a:lnTo>
                  <a:lnTo>
                    <a:pt x="2614853" y="962024"/>
                  </a:lnTo>
                  <a:close/>
                </a:path>
              </a:pathLst>
            </a:custGeom>
            <a:solidFill>
              <a:srgbClr val="FFFFFF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405282" y="6353174"/>
              <a:ext cx="142934" cy="152161"/>
            </a:xfrm>
            <a:prstGeom prst="rect">
              <a:avLst/>
            </a:prstGeom>
          </p:spPr>
        </p:pic>
      </p:grpSp>
      <p:sp>
        <p:nvSpPr>
          <p:cNvPr id="56" name="object 56" descr=""/>
          <p:cNvSpPr txBox="1"/>
          <p:nvPr/>
        </p:nvSpPr>
        <p:spPr>
          <a:xfrm>
            <a:off x="4578714" y="6301612"/>
            <a:ext cx="78295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60" b="1">
                <a:solidFill>
                  <a:srgbClr val="FFFFFF"/>
                </a:solidFill>
                <a:latin typeface="Malgun Gothic"/>
                <a:cs typeface="Malgun Gothic"/>
              </a:rPr>
              <a:t>ノイズ耐性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6410324" y="6162674"/>
            <a:ext cx="2676525" cy="962025"/>
            <a:chOff x="6410324" y="6162674"/>
            <a:chExt cx="2676525" cy="962025"/>
          </a:xfrm>
        </p:grpSpPr>
        <p:sp>
          <p:nvSpPr>
            <p:cNvPr id="58" name="object 58" descr=""/>
            <p:cNvSpPr/>
            <p:nvPr/>
          </p:nvSpPr>
          <p:spPr>
            <a:xfrm>
              <a:off x="6410324" y="6162674"/>
              <a:ext cx="2676525" cy="962025"/>
            </a:xfrm>
            <a:custGeom>
              <a:avLst/>
              <a:gdLst/>
              <a:ahLst/>
              <a:cxnLst/>
              <a:rect l="l" t="t" r="r" b="b"/>
              <a:pathLst>
                <a:path w="2676525" h="962025">
                  <a:moveTo>
                    <a:pt x="2605327" y="962024"/>
                  </a:moveTo>
                  <a:lnTo>
                    <a:pt x="71196" y="962024"/>
                  </a:lnTo>
                  <a:lnTo>
                    <a:pt x="66240" y="961535"/>
                  </a:lnTo>
                  <a:lnTo>
                    <a:pt x="29704" y="946401"/>
                  </a:lnTo>
                  <a:lnTo>
                    <a:pt x="3884" y="910361"/>
                  </a:lnTo>
                  <a:lnTo>
                    <a:pt x="0" y="890828"/>
                  </a:lnTo>
                  <a:lnTo>
                    <a:pt x="0" y="885824"/>
                  </a:lnTo>
                  <a:lnTo>
                    <a:pt x="0" y="71196"/>
                  </a:lnTo>
                  <a:lnTo>
                    <a:pt x="15620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605327" y="0"/>
                  </a:lnTo>
                  <a:lnTo>
                    <a:pt x="2646817" y="15620"/>
                  </a:lnTo>
                  <a:lnTo>
                    <a:pt x="2672638" y="51660"/>
                  </a:lnTo>
                  <a:lnTo>
                    <a:pt x="2676524" y="71196"/>
                  </a:lnTo>
                  <a:lnTo>
                    <a:pt x="2676524" y="890828"/>
                  </a:lnTo>
                  <a:lnTo>
                    <a:pt x="2660901" y="932318"/>
                  </a:lnTo>
                  <a:lnTo>
                    <a:pt x="2624861" y="958138"/>
                  </a:lnTo>
                  <a:lnTo>
                    <a:pt x="2610282" y="961535"/>
                  </a:lnTo>
                  <a:lnTo>
                    <a:pt x="2605327" y="962024"/>
                  </a:lnTo>
                  <a:close/>
                </a:path>
              </a:pathLst>
            </a:custGeom>
            <a:solidFill>
              <a:srgbClr val="FFFFFF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353299" y="6362699"/>
              <a:ext cx="152399" cy="133349"/>
            </a:xfrm>
            <a:prstGeom prst="rect">
              <a:avLst/>
            </a:prstGeom>
          </p:spPr>
        </p:pic>
      </p:grpSp>
      <p:sp>
        <p:nvSpPr>
          <p:cNvPr id="60" name="object 60" descr=""/>
          <p:cNvSpPr txBox="1"/>
          <p:nvPr/>
        </p:nvSpPr>
        <p:spPr>
          <a:xfrm>
            <a:off x="7522832" y="6301612"/>
            <a:ext cx="6350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45" b="1">
                <a:solidFill>
                  <a:srgbClr val="FFFFFF"/>
                </a:solidFill>
                <a:latin typeface="Malgun Gothic"/>
                <a:cs typeface="Malgun Gothic"/>
              </a:rPr>
              <a:t>精度向上</a:t>
            </a:r>
            <a:endParaRPr sz="1350">
              <a:latin typeface="Malgun Gothic"/>
              <a:cs typeface="Malgun Gothic"/>
            </a:endParaRPr>
          </a:p>
        </p:txBody>
      </p:sp>
      <p:pic>
        <p:nvPicPr>
          <p:cNvPr id="61" name="object 61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168446" y="5547798"/>
            <a:ext cx="108903" cy="1763151"/>
          </a:xfrm>
          <a:prstGeom prst="rect">
            <a:avLst/>
          </a:prstGeom>
        </p:spPr>
      </p:pic>
      <p:sp>
        <p:nvSpPr>
          <p:cNvPr id="62" name="object 62" descr=""/>
          <p:cNvSpPr txBox="1"/>
          <p:nvPr/>
        </p:nvSpPr>
        <p:spPr>
          <a:xfrm>
            <a:off x="1312763" y="6587534"/>
            <a:ext cx="1387475" cy="387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7795" marR="5080" indent="-125730">
              <a:lnSpc>
                <a:spcPct val="108000"/>
              </a:lnSpc>
              <a:spcBef>
                <a:spcPts val="100"/>
              </a:spcBef>
            </a:pPr>
            <a:r>
              <a:rPr dirty="0" sz="1100" spc="-140">
                <a:solidFill>
                  <a:srgbClr val="FFFFFF"/>
                </a:solidFill>
                <a:latin typeface="SimSun"/>
                <a:cs typeface="SimSun"/>
              </a:rPr>
              <a:t>沸騰音の特徴的周波数を</a:t>
            </a:r>
            <a:r>
              <a:rPr dirty="0" sz="1100" spc="-135">
                <a:solidFill>
                  <a:srgbClr val="FFFFFF"/>
                </a:solidFill>
                <a:latin typeface="SimSun"/>
                <a:cs typeface="SimSun"/>
              </a:rPr>
              <a:t>手動設定なしで学習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4244826" y="6587534"/>
            <a:ext cx="1263650" cy="387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6364">
              <a:lnSpc>
                <a:spcPct val="108000"/>
              </a:lnSpc>
              <a:spcBef>
                <a:spcPts val="100"/>
              </a:spcBef>
            </a:pPr>
            <a:r>
              <a:rPr dirty="0" sz="1100" spc="-140">
                <a:solidFill>
                  <a:srgbClr val="FFFFFF"/>
                </a:solidFill>
                <a:latin typeface="SimSun"/>
                <a:cs typeface="SimSun"/>
              </a:rPr>
              <a:t>低</a:t>
            </a:r>
            <a:r>
              <a:rPr dirty="0" sz="1050" spc="-60">
                <a:solidFill>
                  <a:srgbClr val="FFFFFF"/>
                </a:solidFill>
                <a:latin typeface="Yu Gothic Light"/>
                <a:cs typeface="Yu Gothic Light"/>
              </a:rPr>
              <a:t>SNR</a:t>
            </a:r>
            <a:r>
              <a:rPr dirty="0" sz="1100" spc="-125">
                <a:solidFill>
                  <a:srgbClr val="FFFFFF"/>
                </a:solidFill>
                <a:latin typeface="SimSun"/>
                <a:cs typeface="SimSun"/>
              </a:rPr>
              <a:t>環境下でも</a:t>
            </a:r>
            <a:r>
              <a:rPr dirty="0" sz="1100" spc="-5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dirty="0" sz="1100" spc="-140">
                <a:solidFill>
                  <a:srgbClr val="FFFFFF"/>
                </a:solidFill>
                <a:latin typeface="SimSun"/>
                <a:cs typeface="SimSun"/>
              </a:rPr>
              <a:t>重要信号を選択的強調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7300714" y="6587534"/>
            <a:ext cx="892175" cy="387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1594">
              <a:lnSpc>
                <a:spcPct val="108000"/>
              </a:lnSpc>
              <a:spcBef>
                <a:spcPts val="100"/>
              </a:spcBef>
            </a:pPr>
            <a:r>
              <a:rPr dirty="0" sz="1100" spc="-125">
                <a:solidFill>
                  <a:srgbClr val="FFFFFF"/>
                </a:solidFill>
                <a:latin typeface="SimSun"/>
                <a:cs typeface="SimSun"/>
              </a:rPr>
              <a:t>熱流束予測の</a:t>
            </a:r>
            <a:r>
              <a:rPr dirty="0" sz="1100" spc="-140">
                <a:solidFill>
                  <a:srgbClr val="FFFFFF"/>
                </a:solidFill>
                <a:latin typeface="SimSun"/>
                <a:cs typeface="SimSun"/>
              </a:rPr>
              <a:t>ロバスト性向上</a:t>
            </a:r>
            <a:endParaRPr sz="1100">
              <a:latin typeface="SimSun"/>
              <a:cs typeface="SimSun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8267700" y="8096250"/>
            <a:ext cx="1295400" cy="323850"/>
            <a:chOff x="8267700" y="8096250"/>
            <a:chExt cx="1295400" cy="323850"/>
          </a:xfrm>
        </p:grpSpPr>
        <p:sp>
          <p:nvSpPr>
            <p:cNvPr id="66" name="object 66" descr=""/>
            <p:cNvSpPr/>
            <p:nvPr/>
          </p:nvSpPr>
          <p:spPr>
            <a:xfrm>
              <a:off x="8267700" y="8096250"/>
              <a:ext cx="1295400" cy="323850"/>
            </a:xfrm>
            <a:custGeom>
              <a:avLst/>
              <a:gdLst/>
              <a:ahLst/>
              <a:cxnLst/>
              <a:rect l="l" t="t" r="r" b="b"/>
              <a:pathLst>
                <a:path w="1295400" h="323850">
                  <a:moveTo>
                    <a:pt x="126235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262352" y="0"/>
                  </a:lnTo>
                  <a:lnTo>
                    <a:pt x="1294433" y="28187"/>
                  </a:lnTo>
                  <a:lnTo>
                    <a:pt x="1295399" y="33047"/>
                  </a:lnTo>
                  <a:lnTo>
                    <a:pt x="1295399" y="290802"/>
                  </a:lnTo>
                  <a:lnTo>
                    <a:pt x="1267212" y="322883"/>
                  </a:lnTo>
                  <a:lnTo>
                    <a:pt x="126235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382000" y="8191499"/>
              <a:ext cx="133349" cy="133349"/>
            </a:xfrm>
            <a:prstGeom prst="rect">
              <a:avLst/>
            </a:prstGeom>
          </p:spPr>
        </p:pic>
      </p:grpSp>
      <p:sp>
        <p:nvSpPr>
          <p:cNvPr id="68" name="object 68" descr=""/>
          <p:cNvSpPr txBox="1"/>
          <p:nvPr/>
        </p:nvSpPr>
        <p:spPr>
          <a:xfrm>
            <a:off x="8561734" y="8192515"/>
            <a:ext cx="899794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z="1050" spc="-80">
                <a:solidFill>
                  <a:srgbClr val="FFFFFF"/>
                </a:solidFill>
                <a:latin typeface="Arial MT"/>
                <a:cs typeface="Arial MT"/>
              </a:rPr>
              <a:t>Genspark</a:t>
            </a:r>
            <a:r>
              <a:rPr dirty="0" sz="105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85">
                <a:solidFill>
                  <a:srgbClr val="FFFFFF"/>
                </a:solidFill>
                <a:latin typeface="SimSun"/>
                <a:cs typeface="SimSun"/>
              </a:rPr>
              <a:t>で作成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9194601" y="8259190"/>
            <a:ext cx="286385" cy="1466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90"/>
              </a:lnSpc>
            </a:pPr>
            <a:fld id="{81D60167-4931-47E6-BA6A-407CBD079E47}" type="slidenum">
              <a:rPr dirty="0" sz="1000" spc="-45">
                <a:solidFill>
                  <a:srgbClr val="666666"/>
                </a:solidFill>
                <a:latin typeface="Roboto Lt"/>
                <a:cs typeface="Roboto Lt"/>
              </a:rPr>
              <a:t>4</a:t>
            </a:fld>
            <a:r>
              <a:rPr dirty="0" sz="1000" spc="-45">
                <a:solidFill>
                  <a:srgbClr val="666666"/>
                </a:solidFill>
                <a:latin typeface="Roboto Lt"/>
                <a:cs typeface="Roboto Lt"/>
              </a:rPr>
              <a:t>/</a:t>
            </a:r>
            <a:r>
              <a:rPr dirty="0" sz="1000" spc="-45">
                <a:solidFill>
                  <a:srgbClr val="666666"/>
                </a:solidFill>
                <a:latin typeface="Roboto Lt"/>
                <a:cs typeface="Roboto Lt"/>
              </a:rPr>
              <a:t>13</a:t>
            </a:r>
            <a:endParaRPr sz="10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6249" y="895349"/>
            <a:ext cx="8801100" cy="28575"/>
          </a:xfrm>
          <a:custGeom>
            <a:avLst/>
            <a:gdLst/>
            <a:ahLst/>
            <a:cxnLst/>
            <a:rect l="l" t="t" r="r" b="b"/>
            <a:pathLst>
              <a:path w="8801100" h="28575">
                <a:moveTo>
                  <a:pt x="8801099" y="28574"/>
                </a:moveTo>
                <a:lnTo>
                  <a:pt x="0" y="28574"/>
                </a:lnTo>
                <a:lnTo>
                  <a:pt x="0" y="0"/>
                </a:lnTo>
                <a:lnTo>
                  <a:pt x="8801099" y="0"/>
                </a:lnTo>
                <a:lnTo>
                  <a:pt x="8801099" y="28574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476249" y="8562974"/>
            <a:ext cx="8801100" cy="2533650"/>
            <a:chOff x="476249" y="8562974"/>
            <a:chExt cx="8801100" cy="2533650"/>
          </a:xfrm>
        </p:grpSpPr>
        <p:sp>
          <p:nvSpPr>
            <p:cNvPr id="4" name="object 4" descr=""/>
            <p:cNvSpPr/>
            <p:nvPr/>
          </p:nvSpPr>
          <p:spPr>
            <a:xfrm>
              <a:off x="485774" y="8572499"/>
              <a:ext cx="8782050" cy="2514600"/>
            </a:xfrm>
            <a:custGeom>
              <a:avLst/>
              <a:gdLst/>
              <a:ahLst/>
              <a:cxnLst/>
              <a:rect l="l" t="t" r="r" b="b"/>
              <a:pathLst>
                <a:path w="8782050" h="2514600">
                  <a:moveTo>
                    <a:pt x="8684153" y="2514599"/>
                  </a:moveTo>
                  <a:lnTo>
                    <a:pt x="97895" y="2514599"/>
                  </a:lnTo>
                  <a:lnTo>
                    <a:pt x="91081" y="2513928"/>
                  </a:lnTo>
                  <a:lnTo>
                    <a:pt x="52285" y="2500762"/>
                  </a:lnTo>
                  <a:lnTo>
                    <a:pt x="21479" y="2473753"/>
                  </a:lnTo>
                  <a:lnTo>
                    <a:pt x="3355" y="2437011"/>
                  </a:lnTo>
                  <a:lnTo>
                    <a:pt x="0" y="2416704"/>
                  </a:lnTo>
                  <a:lnTo>
                    <a:pt x="0" y="2409824"/>
                  </a:lnTo>
                  <a:lnTo>
                    <a:pt x="0" y="97895"/>
                  </a:lnTo>
                  <a:lnTo>
                    <a:pt x="10608" y="58322"/>
                  </a:lnTo>
                  <a:lnTo>
                    <a:pt x="35552" y="25823"/>
                  </a:lnTo>
                  <a:lnTo>
                    <a:pt x="71035" y="5342"/>
                  </a:lnTo>
                  <a:lnTo>
                    <a:pt x="97895" y="0"/>
                  </a:lnTo>
                  <a:lnTo>
                    <a:pt x="8684153" y="0"/>
                  </a:lnTo>
                  <a:lnTo>
                    <a:pt x="8723724" y="10608"/>
                  </a:lnTo>
                  <a:lnTo>
                    <a:pt x="8756225" y="35552"/>
                  </a:lnTo>
                  <a:lnTo>
                    <a:pt x="8776706" y="71034"/>
                  </a:lnTo>
                  <a:lnTo>
                    <a:pt x="8782049" y="97895"/>
                  </a:lnTo>
                  <a:lnTo>
                    <a:pt x="8782049" y="2416704"/>
                  </a:lnTo>
                  <a:lnTo>
                    <a:pt x="8771440" y="2456275"/>
                  </a:lnTo>
                  <a:lnTo>
                    <a:pt x="8746496" y="2488774"/>
                  </a:lnTo>
                  <a:lnTo>
                    <a:pt x="8711012" y="2509254"/>
                  </a:lnTo>
                  <a:lnTo>
                    <a:pt x="8690967" y="2513928"/>
                  </a:lnTo>
                  <a:lnTo>
                    <a:pt x="8684153" y="251459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85774" y="8572499"/>
              <a:ext cx="8782050" cy="2514600"/>
            </a:xfrm>
            <a:custGeom>
              <a:avLst/>
              <a:gdLst/>
              <a:ahLst/>
              <a:cxnLst/>
              <a:rect l="l" t="t" r="r" b="b"/>
              <a:pathLst>
                <a:path w="8782050" h="2514600">
                  <a:moveTo>
                    <a:pt x="0" y="2409824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2013" y="84334"/>
                  </a:lnTo>
                  <a:lnTo>
                    <a:pt x="3355" y="77586"/>
                  </a:lnTo>
                  <a:lnTo>
                    <a:pt x="5342" y="71034"/>
                  </a:lnTo>
                  <a:lnTo>
                    <a:pt x="7975" y="64678"/>
                  </a:lnTo>
                  <a:lnTo>
                    <a:pt x="10608" y="58322"/>
                  </a:lnTo>
                  <a:lnTo>
                    <a:pt x="13835" y="52284"/>
                  </a:lnTo>
                  <a:lnTo>
                    <a:pt x="40844" y="21479"/>
                  </a:lnTo>
                  <a:lnTo>
                    <a:pt x="77586" y="3355"/>
                  </a:lnTo>
                  <a:lnTo>
                    <a:pt x="84334" y="2013"/>
                  </a:lnTo>
                  <a:lnTo>
                    <a:pt x="91081" y="670"/>
                  </a:lnTo>
                  <a:lnTo>
                    <a:pt x="97895" y="0"/>
                  </a:lnTo>
                  <a:lnTo>
                    <a:pt x="104774" y="0"/>
                  </a:lnTo>
                  <a:lnTo>
                    <a:pt x="8677274" y="0"/>
                  </a:lnTo>
                  <a:lnTo>
                    <a:pt x="8684153" y="0"/>
                  </a:lnTo>
                  <a:lnTo>
                    <a:pt x="8690967" y="670"/>
                  </a:lnTo>
                  <a:lnTo>
                    <a:pt x="8729762" y="13835"/>
                  </a:lnTo>
                  <a:lnTo>
                    <a:pt x="8760568" y="40844"/>
                  </a:lnTo>
                  <a:lnTo>
                    <a:pt x="8774073" y="64678"/>
                  </a:lnTo>
                  <a:lnTo>
                    <a:pt x="8776706" y="71034"/>
                  </a:lnTo>
                  <a:lnTo>
                    <a:pt x="8778693" y="77586"/>
                  </a:lnTo>
                  <a:lnTo>
                    <a:pt x="8780035" y="84334"/>
                  </a:lnTo>
                  <a:lnTo>
                    <a:pt x="8781377" y="91081"/>
                  </a:lnTo>
                  <a:lnTo>
                    <a:pt x="8782049" y="97895"/>
                  </a:lnTo>
                  <a:lnTo>
                    <a:pt x="8782049" y="104774"/>
                  </a:lnTo>
                  <a:lnTo>
                    <a:pt x="8782049" y="2409824"/>
                  </a:lnTo>
                  <a:lnTo>
                    <a:pt x="8782049" y="2416704"/>
                  </a:lnTo>
                  <a:lnTo>
                    <a:pt x="8781377" y="2423518"/>
                  </a:lnTo>
                  <a:lnTo>
                    <a:pt x="8780035" y="2430265"/>
                  </a:lnTo>
                  <a:lnTo>
                    <a:pt x="8778693" y="2437011"/>
                  </a:lnTo>
                  <a:lnTo>
                    <a:pt x="8776706" y="2443562"/>
                  </a:lnTo>
                  <a:lnTo>
                    <a:pt x="8774073" y="2449918"/>
                  </a:lnTo>
                  <a:lnTo>
                    <a:pt x="8771440" y="2456275"/>
                  </a:lnTo>
                  <a:lnTo>
                    <a:pt x="8768213" y="2462313"/>
                  </a:lnTo>
                  <a:lnTo>
                    <a:pt x="8764391" y="2468032"/>
                  </a:lnTo>
                  <a:lnTo>
                    <a:pt x="8760568" y="2473753"/>
                  </a:lnTo>
                  <a:lnTo>
                    <a:pt x="8729762" y="2500762"/>
                  </a:lnTo>
                  <a:lnTo>
                    <a:pt x="8690967" y="2513928"/>
                  </a:lnTo>
                  <a:lnTo>
                    <a:pt x="8684153" y="2514599"/>
                  </a:lnTo>
                  <a:lnTo>
                    <a:pt x="8677274" y="2514599"/>
                  </a:lnTo>
                  <a:lnTo>
                    <a:pt x="104774" y="2514599"/>
                  </a:lnTo>
                  <a:lnTo>
                    <a:pt x="97895" y="2514599"/>
                  </a:lnTo>
                  <a:lnTo>
                    <a:pt x="91081" y="2513928"/>
                  </a:lnTo>
                  <a:lnTo>
                    <a:pt x="84334" y="2512585"/>
                  </a:lnTo>
                  <a:lnTo>
                    <a:pt x="77586" y="2511242"/>
                  </a:lnTo>
                  <a:lnTo>
                    <a:pt x="40844" y="2493118"/>
                  </a:lnTo>
                  <a:lnTo>
                    <a:pt x="17657" y="2468032"/>
                  </a:lnTo>
                  <a:lnTo>
                    <a:pt x="13835" y="2462313"/>
                  </a:lnTo>
                  <a:lnTo>
                    <a:pt x="671" y="2423518"/>
                  </a:lnTo>
                  <a:lnTo>
                    <a:pt x="0" y="2416704"/>
                  </a:lnTo>
                  <a:lnTo>
                    <a:pt x="0" y="2409824"/>
                  </a:lnTo>
                  <a:close/>
                </a:path>
              </a:pathLst>
            </a:custGeom>
            <a:ln w="19049">
              <a:solidFill>
                <a:srgbClr val="DEE2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249" y="11287124"/>
            <a:ext cx="8801099" cy="790574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3705225" y="466724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266700"/>
                </a:moveTo>
                <a:lnTo>
                  <a:pt x="94640" y="260959"/>
                </a:lnTo>
                <a:lnTo>
                  <a:pt x="59264" y="244226"/>
                </a:lnTo>
                <a:lnTo>
                  <a:pt x="30267" y="217947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50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50" y="0"/>
                </a:lnTo>
                <a:lnTo>
                  <a:pt x="139901" y="160"/>
                </a:lnTo>
                <a:lnTo>
                  <a:pt x="178267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48794" y="66675"/>
                </a:lnTo>
                <a:lnTo>
                  <a:pt x="126422" y="66675"/>
                </a:lnTo>
                <a:lnTo>
                  <a:pt x="120848" y="72248"/>
                </a:lnTo>
                <a:lnTo>
                  <a:pt x="120848" y="144445"/>
                </a:lnTo>
                <a:lnTo>
                  <a:pt x="126422" y="150018"/>
                </a:lnTo>
                <a:lnTo>
                  <a:pt x="265615" y="150018"/>
                </a:lnTo>
                <a:lnTo>
                  <a:pt x="265258" y="152908"/>
                </a:lnTo>
                <a:lnTo>
                  <a:pt x="264137" y="159365"/>
                </a:lnTo>
                <a:lnTo>
                  <a:pt x="262702" y="165759"/>
                </a:lnTo>
                <a:lnTo>
                  <a:pt x="262445" y="166687"/>
                </a:lnTo>
                <a:lnTo>
                  <a:pt x="131139" y="166687"/>
                </a:lnTo>
                <a:lnTo>
                  <a:pt x="129013" y="167110"/>
                </a:lnTo>
                <a:lnTo>
                  <a:pt x="116681" y="181145"/>
                </a:lnTo>
                <a:lnTo>
                  <a:pt x="116681" y="185566"/>
                </a:lnTo>
                <a:lnTo>
                  <a:pt x="131139" y="200024"/>
                </a:lnTo>
                <a:lnTo>
                  <a:pt x="248794" y="200024"/>
                </a:lnTo>
                <a:lnTo>
                  <a:pt x="247732" y="201899"/>
                </a:lnTo>
                <a:lnTo>
                  <a:pt x="222897" y="232161"/>
                </a:lnTo>
                <a:lnTo>
                  <a:pt x="190372" y="253894"/>
                </a:lnTo>
                <a:lnTo>
                  <a:pt x="152908" y="265258"/>
                </a:lnTo>
                <a:lnTo>
                  <a:pt x="139901" y="266539"/>
                </a:lnTo>
                <a:lnTo>
                  <a:pt x="133350" y="266700"/>
                </a:lnTo>
                <a:close/>
              </a:path>
              <a:path w="266700" h="266700">
                <a:moveTo>
                  <a:pt x="265615" y="150018"/>
                </a:moveTo>
                <a:lnTo>
                  <a:pt x="140277" y="150018"/>
                </a:lnTo>
                <a:lnTo>
                  <a:pt x="145851" y="144445"/>
                </a:lnTo>
                <a:lnTo>
                  <a:pt x="145851" y="72248"/>
                </a:lnTo>
                <a:lnTo>
                  <a:pt x="140277" y="66675"/>
                </a:lnTo>
                <a:lnTo>
                  <a:pt x="248794" y="66675"/>
                </a:lnTo>
                <a:lnTo>
                  <a:pt x="264137" y="107334"/>
                </a:lnTo>
                <a:lnTo>
                  <a:pt x="266700" y="133350"/>
                </a:lnTo>
                <a:lnTo>
                  <a:pt x="266539" y="139901"/>
                </a:lnTo>
                <a:lnTo>
                  <a:pt x="266059" y="146420"/>
                </a:lnTo>
                <a:lnTo>
                  <a:pt x="265615" y="150018"/>
                </a:lnTo>
                <a:close/>
              </a:path>
              <a:path w="266700" h="266700">
                <a:moveTo>
                  <a:pt x="248794" y="200024"/>
                </a:moveTo>
                <a:lnTo>
                  <a:pt x="135560" y="200024"/>
                </a:lnTo>
                <a:lnTo>
                  <a:pt x="137686" y="199602"/>
                </a:lnTo>
                <a:lnTo>
                  <a:pt x="141770" y="197910"/>
                </a:lnTo>
                <a:lnTo>
                  <a:pt x="150018" y="185566"/>
                </a:lnTo>
                <a:lnTo>
                  <a:pt x="150018" y="181145"/>
                </a:lnTo>
                <a:lnTo>
                  <a:pt x="135560" y="166687"/>
                </a:lnTo>
                <a:lnTo>
                  <a:pt x="262445" y="166687"/>
                </a:lnTo>
                <a:lnTo>
                  <a:pt x="250955" y="196211"/>
                </a:lnTo>
                <a:lnTo>
                  <a:pt x="248794" y="200024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165617" y="381254"/>
            <a:ext cx="1892935" cy="3873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50" spc="-260" b="1">
                <a:solidFill>
                  <a:srgbClr val="3A6EA5"/>
                </a:solidFill>
                <a:latin typeface="Microsoft JhengHei"/>
                <a:cs typeface="Microsoft JhengHei"/>
              </a:rPr>
              <a:t>従来</a:t>
            </a:r>
            <a:r>
              <a:rPr dirty="0" sz="2350" spc="-270" b="1">
                <a:solidFill>
                  <a:srgbClr val="3A6EA5"/>
                </a:solidFill>
                <a:latin typeface="Malgun Gothic"/>
                <a:cs typeface="Malgun Gothic"/>
              </a:rPr>
              <a:t>手法の限界</a:t>
            </a:r>
            <a:endParaRPr sz="2350">
              <a:latin typeface="Malgun Gothic"/>
              <a:cs typeface="Malgun Gothic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80780" y="8810624"/>
            <a:ext cx="215082" cy="17144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383111" y="8766111"/>
            <a:ext cx="320167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40" b="1">
                <a:solidFill>
                  <a:srgbClr val="3A6EA5"/>
                </a:solidFill>
                <a:latin typeface="Microsoft JhengHei"/>
                <a:cs typeface="Microsoft JhengHei"/>
              </a:rPr>
              <a:t>従来アプローチ </a:t>
            </a:r>
            <a:r>
              <a:rPr dirty="0" sz="1500" spc="-80" b="1">
                <a:solidFill>
                  <a:srgbClr val="3A6EA5"/>
                </a:solidFill>
                <a:latin typeface="Microsoft YaHei"/>
                <a:cs typeface="Microsoft YaHei"/>
              </a:rPr>
              <a:t>vs</a:t>
            </a:r>
            <a:r>
              <a:rPr dirty="0" sz="1500" spc="-145" b="1">
                <a:solidFill>
                  <a:srgbClr val="3A6EA5"/>
                </a:solidFill>
                <a:latin typeface="Microsoft YaHei"/>
                <a:cs typeface="Microsoft YaHei"/>
              </a:rPr>
              <a:t> </a:t>
            </a:r>
            <a:r>
              <a:rPr dirty="0" sz="1500" spc="-150" b="1">
                <a:solidFill>
                  <a:srgbClr val="3A6EA5"/>
                </a:solidFill>
                <a:latin typeface="Malgun Gothic"/>
                <a:cs typeface="Malgun Gothic"/>
              </a:rPr>
              <a:t>求</a:t>
            </a:r>
            <a:r>
              <a:rPr dirty="0" sz="1500" spc="-180" b="1">
                <a:solidFill>
                  <a:srgbClr val="3A6EA5"/>
                </a:solidFill>
                <a:latin typeface="Microsoft JhengHei"/>
                <a:cs typeface="Microsoft JhengHei"/>
              </a:rPr>
              <a:t>めら れるアプローチ</a:t>
            </a:r>
            <a:endParaRPr sz="1500">
              <a:latin typeface="Microsoft JhengHei"/>
              <a:cs typeface="Microsoft JhengHei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71962" y="11477624"/>
            <a:ext cx="104768" cy="15239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3269108" y="11321951"/>
            <a:ext cx="3215640" cy="60833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148080">
              <a:lnSpc>
                <a:spcPct val="100000"/>
              </a:lnSpc>
              <a:spcBef>
                <a:spcPts val="925"/>
              </a:spcBef>
            </a:pPr>
            <a:r>
              <a:rPr dirty="0" sz="1350" spc="-155" b="1">
                <a:solidFill>
                  <a:srgbClr val="FFFFFF"/>
                </a:solidFill>
                <a:latin typeface="Malgun Gothic"/>
                <a:cs typeface="Malgun Gothic"/>
              </a:rPr>
              <a:t>解決への方向性</a:t>
            </a:r>
            <a:endParaRPr sz="1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150" spc="-110" b="1">
                <a:solidFill>
                  <a:srgbClr val="FFFFFF"/>
                </a:solidFill>
                <a:latin typeface="Microsoft JhengHei"/>
                <a:cs typeface="Microsoft JhengHei"/>
              </a:rPr>
              <a:t>自</a:t>
            </a:r>
            <a:r>
              <a:rPr dirty="0" sz="1150" spc="-110" b="1">
                <a:solidFill>
                  <a:srgbClr val="FFFFFF"/>
                </a:solidFill>
                <a:latin typeface="Malgun Gothic"/>
                <a:cs typeface="Malgun Gothic"/>
              </a:rPr>
              <a:t>己</a:t>
            </a:r>
            <a:r>
              <a:rPr dirty="0" sz="1150" spc="-110" b="1">
                <a:solidFill>
                  <a:srgbClr val="FFFFFF"/>
                </a:solidFill>
                <a:latin typeface="Microsoft JhengHei"/>
                <a:cs typeface="Microsoft JhengHei"/>
              </a:rPr>
              <a:t>注意機</a:t>
            </a:r>
            <a:r>
              <a:rPr dirty="0" sz="1150" spc="-110" b="1">
                <a:solidFill>
                  <a:srgbClr val="FFFFFF"/>
                </a:solidFill>
                <a:latin typeface="Malgun Gothic"/>
                <a:cs typeface="Malgun Gothic"/>
              </a:rPr>
              <a:t>構</a:t>
            </a:r>
            <a:r>
              <a:rPr dirty="0" sz="1150" spc="-125">
                <a:solidFill>
                  <a:srgbClr val="FFFFFF"/>
                </a:solidFill>
                <a:latin typeface="SimSun"/>
                <a:cs typeface="SimSun"/>
              </a:rPr>
              <a:t>による</a:t>
            </a:r>
            <a:r>
              <a:rPr dirty="0" sz="1150" spc="-110" b="1">
                <a:solidFill>
                  <a:srgbClr val="FFFFFF"/>
                </a:solidFill>
                <a:latin typeface="Microsoft JhengHei"/>
                <a:cs typeface="Microsoft JhengHei"/>
              </a:rPr>
              <a:t>適応的</a:t>
            </a:r>
            <a:r>
              <a:rPr dirty="0" sz="1150" spc="-110" b="1">
                <a:solidFill>
                  <a:srgbClr val="FFFFFF"/>
                </a:solidFill>
                <a:latin typeface="Malgun Gothic"/>
                <a:cs typeface="Malgun Gothic"/>
              </a:rPr>
              <a:t>周波</a:t>
            </a:r>
            <a:r>
              <a:rPr dirty="0" sz="1150" spc="-125" b="1">
                <a:solidFill>
                  <a:srgbClr val="FFFFFF"/>
                </a:solidFill>
                <a:latin typeface="Microsoft JhengHei"/>
                <a:cs typeface="Microsoft JhengHei"/>
              </a:rPr>
              <a:t>数パターン学</a:t>
            </a:r>
            <a:r>
              <a:rPr dirty="0" sz="1150" spc="-110" b="1">
                <a:solidFill>
                  <a:srgbClr val="FFFFFF"/>
                </a:solidFill>
                <a:latin typeface="Malgun Gothic"/>
                <a:cs typeface="Malgun Gothic"/>
              </a:rPr>
              <a:t>習</a:t>
            </a:r>
            <a:r>
              <a:rPr dirty="0" sz="1150" spc="-90">
                <a:solidFill>
                  <a:srgbClr val="FFFFFF"/>
                </a:solidFill>
                <a:latin typeface="SimSun"/>
                <a:cs typeface="SimSun"/>
              </a:rPr>
              <a:t>が必要</a:t>
            </a:r>
            <a:endParaRPr sz="1150">
              <a:latin typeface="SimSun"/>
              <a:cs typeface="SimSun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76249" y="1257299"/>
            <a:ext cx="4286250" cy="3933825"/>
            <a:chOff x="476249" y="1257299"/>
            <a:chExt cx="4286250" cy="3933825"/>
          </a:xfrm>
        </p:grpSpPr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5299" y="1276350"/>
              <a:ext cx="4248149" cy="3895724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485774" y="1266824"/>
              <a:ext cx="4267200" cy="3914775"/>
            </a:xfrm>
            <a:custGeom>
              <a:avLst/>
              <a:gdLst/>
              <a:ahLst/>
              <a:cxnLst/>
              <a:rect l="l" t="t" r="r" b="b"/>
              <a:pathLst>
                <a:path w="4267200" h="3914775">
                  <a:moveTo>
                    <a:pt x="0" y="3809999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13835" y="52285"/>
                  </a:lnTo>
                  <a:lnTo>
                    <a:pt x="40844" y="21479"/>
                  </a:lnTo>
                  <a:lnTo>
                    <a:pt x="64679" y="7975"/>
                  </a:lnTo>
                  <a:lnTo>
                    <a:pt x="71035" y="5342"/>
                  </a:lnTo>
                  <a:lnTo>
                    <a:pt x="77586" y="3355"/>
                  </a:lnTo>
                  <a:lnTo>
                    <a:pt x="84334" y="2013"/>
                  </a:lnTo>
                  <a:lnTo>
                    <a:pt x="91081" y="671"/>
                  </a:lnTo>
                  <a:lnTo>
                    <a:pt x="97895" y="0"/>
                  </a:lnTo>
                  <a:lnTo>
                    <a:pt x="104774" y="0"/>
                  </a:lnTo>
                  <a:lnTo>
                    <a:pt x="4162424" y="0"/>
                  </a:lnTo>
                  <a:lnTo>
                    <a:pt x="4169304" y="0"/>
                  </a:lnTo>
                  <a:lnTo>
                    <a:pt x="4176117" y="671"/>
                  </a:lnTo>
                  <a:lnTo>
                    <a:pt x="4182864" y="2013"/>
                  </a:lnTo>
                  <a:lnTo>
                    <a:pt x="4189612" y="3355"/>
                  </a:lnTo>
                  <a:lnTo>
                    <a:pt x="4226354" y="21479"/>
                  </a:lnTo>
                  <a:lnTo>
                    <a:pt x="4236511" y="30687"/>
                  </a:lnTo>
                  <a:lnTo>
                    <a:pt x="4241376" y="35552"/>
                  </a:lnTo>
                  <a:lnTo>
                    <a:pt x="4245719" y="40844"/>
                  </a:lnTo>
                  <a:lnTo>
                    <a:pt x="4249541" y="46564"/>
                  </a:lnTo>
                  <a:lnTo>
                    <a:pt x="4253363" y="52285"/>
                  </a:lnTo>
                  <a:lnTo>
                    <a:pt x="4256591" y="58323"/>
                  </a:lnTo>
                  <a:lnTo>
                    <a:pt x="4259223" y="64679"/>
                  </a:lnTo>
                  <a:lnTo>
                    <a:pt x="4261856" y="71035"/>
                  </a:lnTo>
                  <a:lnTo>
                    <a:pt x="4263843" y="77586"/>
                  </a:lnTo>
                  <a:lnTo>
                    <a:pt x="4265185" y="84334"/>
                  </a:lnTo>
                  <a:lnTo>
                    <a:pt x="4266528" y="91081"/>
                  </a:lnTo>
                  <a:lnTo>
                    <a:pt x="4267199" y="97895"/>
                  </a:lnTo>
                  <a:lnTo>
                    <a:pt x="4267199" y="104774"/>
                  </a:lnTo>
                  <a:lnTo>
                    <a:pt x="4267199" y="3809999"/>
                  </a:lnTo>
                  <a:lnTo>
                    <a:pt x="4267199" y="3816878"/>
                  </a:lnTo>
                  <a:lnTo>
                    <a:pt x="4266528" y="3823692"/>
                  </a:lnTo>
                  <a:lnTo>
                    <a:pt x="4265185" y="3830440"/>
                  </a:lnTo>
                  <a:lnTo>
                    <a:pt x="4263843" y="3837187"/>
                  </a:lnTo>
                  <a:lnTo>
                    <a:pt x="4261856" y="3843738"/>
                  </a:lnTo>
                  <a:lnTo>
                    <a:pt x="4259223" y="3850094"/>
                  </a:lnTo>
                  <a:lnTo>
                    <a:pt x="4256591" y="3856450"/>
                  </a:lnTo>
                  <a:lnTo>
                    <a:pt x="4231647" y="3888951"/>
                  </a:lnTo>
                  <a:lnTo>
                    <a:pt x="4220634" y="3897115"/>
                  </a:lnTo>
                  <a:lnTo>
                    <a:pt x="4214914" y="3900938"/>
                  </a:lnTo>
                  <a:lnTo>
                    <a:pt x="4182864" y="3912760"/>
                  </a:lnTo>
                  <a:lnTo>
                    <a:pt x="4176117" y="3914103"/>
                  </a:lnTo>
                  <a:lnTo>
                    <a:pt x="4169304" y="3914774"/>
                  </a:lnTo>
                  <a:lnTo>
                    <a:pt x="4162424" y="3914774"/>
                  </a:lnTo>
                  <a:lnTo>
                    <a:pt x="104774" y="3914774"/>
                  </a:lnTo>
                  <a:lnTo>
                    <a:pt x="64679" y="3906798"/>
                  </a:lnTo>
                  <a:lnTo>
                    <a:pt x="46565" y="3897115"/>
                  </a:lnTo>
                  <a:lnTo>
                    <a:pt x="40844" y="3893294"/>
                  </a:lnTo>
                  <a:lnTo>
                    <a:pt x="13835" y="3862488"/>
                  </a:lnTo>
                  <a:lnTo>
                    <a:pt x="7975" y="3850094"/>
                  </a:lnTo>
                  <a:lnTo>
                    <a:pt x="5342" y="3843738"/>
                  </a:lnTo>
                  <a:lnTo>
                    <a:pt x="3355" y="3837187"/>
                  </a:lnTo>
                  <a:lnTo>
                    <a:pt x="2013" y="3830440"/>
                  </a:lnTo>
                  <a:lnTo>
                    <a:pt x="671" y="3823692"/>
                  </a:lnTo>
                  <a:lnTo>
                    <a:pt x="0" y="3816878"/>
                  </a:lnTo>
                  <a:lnTo>
                    <a:pt x="0" y="3809999"/>
                  </a:lnTo>
                  <a:close/>
                </a:path>
              </a:pathLst>
            </a:custGeom>
            <a:ln w="19049">
              <a:solidFill>
                <a:srgbClr val="44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3424" y="1574005"/>
              <a:ext cx="190499" cy="166687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911225" y="1492823"/>
            <a:ext cx="2316480" cy="299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180" b="1">
                <a:solidFill>
                  <a:srgbClr val="DB3445"/>
                </a:solidFill>
                <a:latin typeface="Arial"/>
                <a:cs typeface="Arial"/>
              </a:rPr>
              <a:t>Log-</a:t>
            </a:r>
            <a:r>
              <a:rPr dirty="0" sz="1800" spc="-130" b="1">
                <a:solidFill>
                  <a:srgbClr val="DB3445"/>
                </a:solidFill>
                <a:latin typeface="Arial"/>
                <a:cs typeface="Arial"/>
              </a:rPr>
              <a:t>Mel</a:t>
            </a:r>
            <a:r>
              <a:rPr dirty="0" sz="1800" spc="-95" b="1">
                <a:solidFill>
                  <a:srgbClr val="DB3445"/>
                </a:solidFill>
                <a:latin typeface="Arial"/>
                <a:cs typeface="Arial"/>
              </a:rPr>
              <a:t> </a:t>
            </a:r>
            <a:r>
              <a:rPr dirty="0" sz="1700" spc="-225" b="1">
                <a:solidFill>
                  <a:srgbClr val="DB3445"/>
                </a:solidFill>
                <a:latin typeface="Malgun Gothic"/>
                <a:cs typeface="Malgun Gothic"/>
              </a:rPr>
              <a:t>スペクトログラム</a:t>
            </a:r>
            <a:endParaRPr sz="1700">
              <a:latin typeface="Malgun Gothic"/>
              <a:cs typeface="Malgun Gothic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14472" y="1276350"/>
            <a:ext cx="4210050" cy="1314450"/>
            <a:chOff x="514472" y="1276350"/>
            <a:chExt cx="4210050" cy="1314450"/>
          </a:xfrm>
        </p:grpSpPr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4472" y="1276350"/>
              <a:ext cx="4209804" cy="38099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752474" y="1943100"/>
              <a:ext cx="3752850" cy="647700"/>
            </a:xfrm>
            <a:custGeom>
              <a:avLst/>
              <a:gdLst/>
              <a:ahLst/>
              <a:cxnLst/>
              <a:rect l="l" t="t" r="r" b="b"/>
              <a:pathLst>
                <a:path w="3752850" h="647700">
                  <a:moveTo>
                    <a:pt x="3681652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3681652" y="0"/>
                  </a:lnTo>
                  <a:lnTo>
                    <a:pt x="3686607" y="488"/>
                  </a:lnTo>
                  <a:lnTo>
                    <a:pt x="3723143" y="15621"/>
                  </a:lnTo>
                  <a:lnTo>
                    <a:pt x="3748963" y="51661"/>
                  </a:lnTo>
                  <a:lnTo>
                    <a:pt x="3752849" y="71196"/>
                  </a:lnTo>
                  <a:lnTo>
                    <a:pt x="3752849" y="576503"/>
                  </a:lnTo>
                  <a:lnTo>
                    <a:pt x="3737226" y="617994"/>
                  </a:lnTo>
                  <a:lnTo>
                    <a:pt x="3701186" y="643813"/>
                  </a:lnTo>
                  <a:lnTo>
                    <a:pt x="3681652" y="647699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33424" y="1943099"/>
              <a:ext cx="38100" cy="647700"/>
            </a:xfrm>
            <a:custGeom>
              <a:avLst/>
              <a:gdLst/>
              <a:ahLst/>
              <a:cxnLst/>
              <a:rect l="l" t="t" r="r" b="b"/>
              <a:pathLst>
                <a:path w="38100" h="647700">
                  <a:moveTo>
                    <a:pt x="38099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647699"/>
                  </a:lnTo>
                  <a:close/>
                </a:path>
              </a:pathLst>
            </a:custGeom>
            <a:solidFill>
              <a:srgbClr val="DB344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4399" y="2095499"/>
              <a:ext cx="133376" cy="133350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901700" y="1983370"/>
            <a:ext cx="2000885" cy="495934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630"/>
              </a:spcBef>
            </a:pPr>
            <a:r>
              <a:rPr dirty="0" sz="1150" spc="-110" b="1">
                <a:solidFill>
                  <a:srgbClr val="DB3445"/>
                </a:solidFill>
                <a:latin typeface="Malgun Gothic"/>
                <a:cs typeface="Malgun Gothic"/>
              </a:rPr>
              <a:t>高周波成分の</a:t>
            </a:r>
            <a:r>
              <a:rPr dirty="0" sz="1150" spc="-110" b="1">
                <a:solidFill>
                  <a:srgbClr val="DB3445"/>
                </a:solidFill>
                <a:latin typeface="Microsoft JhengHei"/>
                <a:cs typeface="Microsoft JhengHei"/>
              </a:rPr>
              <a:t>圧</a:t>
            </a:r>
            <a:r>
              <a:rPr dirty="0" sz="1150" spc="-50" b="1">
                <a:solidFill>
                  <a:srgbClr val="DB3445"/>
                </a:solidFill>
                <a:latin typeface="Malgun Gothic"/>
                <a:cs typeface="Malgun Gothic"/>
              </a:rPr>
              <a:t>縮</a:t>
            </a:r>
            <a:endParaRPr sz="11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100" spc="-140">
                <a:solidFill>
                  <a:srgbClr val="545454"/>
                </a:solidFill>
                <a:latin typeface="SimSun"/>
                <a:cs typeface="SimSun"/>
              </a:rPr>
              <a:t>異常音特有</a:t>
            </a:r>
            <a:r>
              <a:rPr dirty="0" sz="1100" spc="-140">
                <a:solidFill>
                  <a:srgbClr val="545454"/>
                </a:solidFill>
                <a:latin typeface="MS PGothic"/>
                <a:cs typeface="MS PGothic"/>
              </a:rPr>
              <a:t>の</a:t>
            </a:r>
            <a:r>
              <a:rPr dirty="0" sz="1100" spc="-140">
                <a:solidFill>
                  <a:srgbClr val="545454"/>
                </a:solidFill>
                <a:latin typeface="SimSun"/>
                <a:cs typeface="SimSun"/>
              </a:rPr>
              <a:t>高周波特徴</a:t>
            </a:r>
            <a:r>
              <a:rPr dirty="0" sz="1100" spc="-140">
                <a:solidFill>
                  <a:srgbClr val="545454"/>
                </a:solidFill>
                <a:latin typeface="MS PGothic"/>
                <a:cs typeface="MS PGothic"/>
              </a:rPr>
              <a:t>が</a:t>
            </a:r>
            <a:r>
              <a:rPr dirty="0" sz="1100" spc="-140">
                <a:solidFill>
                  <a:srgbClr val="545454"/>
                </a:solidFill>
                <a:latin typeface="SimSun"/>
                <a:cs typeface="SimSun"/>
              </a:rPr>
              <a:t>失</a:t>
            </a:r>
            <a:r>
              <a:rPr dirty="0" sz="1100" spc="-130">
                <a:solidFill>
                  <a:srgbClr val="545454"/>
                </a:solidFill>
                <a:latin typeface="MS PGothic"/>
                <a:cs typeface="MS PGothic"/>
              </a:rPr>
              <a:t>われる</a:t>
            </a:r>
            <a:endParaRPr sz="1100">
              <a:latin typeface="MS PGothic"/>
              <a:cs typeface="MS PGothic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733424" y="2686049"/>
            <a:ext cx="3771900" cy="647700"/>
            <a:chOff x="733424" y="2686049"/>
            <a:chExt cx="3771900" cy="647700"/>
          </a:xfrm>
        </p:grpSpPr>
        <p:sp>
          <p:nvSpPr>
            <p:cNvPr id="25" name="object 25" descr=""/>
            <p:cNvSpPr/>
            <p:nvPr/>
          </p:nvSpPr>
          <p:spPr>
            <a:xfrm>
              <a:off x="752474" y="2686050"/>
              <a:ext cx="3752850" cy="647700"/>
            </a:xfrm>
            <a:custGeom>
              <a:avLst/>
              <a:gdLst/>
              <a:ahLst/>
              <a:cxnLst/>
              <a:rect l="l" t="t" r="r" b="b"/>
              <a:pathLst>
                <a:path w="3752850" h="647700">
                  <a:moveTo>
                    <a:pt x="3681652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3681652" y="0"/>
                  </a:lnTo>
                  <a:lnTo>
                    <a:pt x="3686607" y="488"/>
                  </a:lnTo>
                  <a:lnTo>
                    <a:pt x="3723143" y="15621"/>
                  </a:lnTo>
                  <a:lnTo>
                    <a:pt x="3748963" y="51661"/>
                  </a:lnTo>
                  <a:lnTo>
                    <a:pt x="3752849" y="71196"/>
                  </a:lnTo>
                  <a:lnTo>
                    <a:pt x="3752849" y="576503"/>
                  </a:lnTo>
                  <a:lnTo>
                    <a:pt x="3737226" y="617994"/>
                  </a:lnTo>
                  <a:lnTo>
                    <a:pt x="3701186" y="643813"/>
                  </a:lnTo>
                  <a:lnTo>
                    <a:pt x="3681652" y="647699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33424" y="2686049"/>
              <a:ext cx="38100" cy="647700"/>
            </a:xfrm>
            <a:custGeom>
              <a:avLst/>
              <a:gdLst/>
              <a:ahLst/>
              <a:cxnLst/>
              <a:rect l="l" t="t" r="r" b="b"/>
              <a:pathLst>
                <a:path w="38100" h="647700">
                  <a:moveTo>
                    <a:pt x="38099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647699"/>
                  </a:lnTo>
                  <a:close/>
                </a:path>
              </a:pathLst>
            </a:custGeom>
            <a:solidFill>
              <a:srgbClr val="DB344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4816" y="2840637"/>
              <a:ext cx="164083" cy="130693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901700" y="2726320"/>
            <a:ext cx="1758950" cy="495934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79070">
              <a:lnSpc>
                <a:spcPct val="100000"/>
              </a:lnSpc>
              <a:spcBef>
                <a:spcPts val="630"/>
              </a:spcBef>
            </a:pPr>
            <a:r>
              <a:rPr dirty="0" sz="1150" spc="-110" b="1">
                <a:solidFill>
                  <a:srgbClr val="DB3445"/>
                </a:solidFill>
                <a:latin typeface="Malgun Gothic"/>
                <a:cs typeface="Malgun Gothic"/>
              </a:rPr>
              <a:t>固定的な特</a:t>
            </a:r>
            <a:r>
              <a:rPr dirty="0" sz="1150" spc="-110" b="1">
                <a:solidFill>
                  <a:srgbClr val="DB3445"/>
                </a:solidFill>
                <a:latin typeface="Microsoft JhengHei"/>
                <a:cs typeface="Microsoft JhengHei"/>
              </a:rPr>
              <a:t>徴</a:t>
            </a:r>
            <a:r>
              <a:rPr dirty="0" sz="1150" spc="-80" b="1">
                <a:solidFill>
                  <a:srgbClr val="DB3445"/>
                </a:solidFill>
                <a:latin typeface="Malgun Gothic"/>
                <a:cs typeface="Malgun Gothic"/>
              </a:rPr>
              <a:t>抽出</a:t>
            </a:r>
            <a:endParaRPr sz="11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100" spc="-140">
                <a:solidFill>
                  <a:srgbClr val="545454"/>
                </a:solidFill>
                <a:latin typeface="SimSun"/>
                <a:cs typeface="SimSun"/>
              </a:rPr>
              <a:t>機械種別</a:t>
            </a:r>
            <a:r>
              <a:rPr dirty="0" sz="1100" spc="-80">
                <a:solidFill>
                  <a:srgbClr val="545454"/>
                </a:solidFill>
                <a:latin typeface="MS PGothic"/>
                <a:cs typeface="MS PGothic"/>
              </a:rPr>
              <a:t>に</a:t>
            </a:r>
            <a:r>
              <a:rPr dirty="0" sz="1100" spc="-140">
                <a:solidFill>
                  <a:srgbClr val="545454"/>
                </a:solidFill>
                <a:latin typeface="SimSun"/>
                <a:cs typeface="SimSun"/>
              </a:rPr>
              <a:t>関係</a:t>
            </a:r>
            <a:r>
              <a:rPr dirty="0" sz="1100" spc="10">
                <a:solidFill>
                  <a:srgbClr val="545454"/>
                </a:solidFill>
                <a:latin typeface="MS PGothic"/>
                <a:cs typeface="MS PGothic"/>
              </a:rPr>
              <a:t>なく </a:t>
            </a:r>
            <a:r>
              <a:rPr dirty="0" sz="1100" spc="-140">
                <a:solidFill>
                  <a:srgbClr val="545454"/>
                </a:solidFill>
                <a:latin typeface="SimSun"/>
                <a:cs typeface="SimSun"/>
              </a:rPr>
              <a:t>一律</a:t>
            </a:r>
            <a:r>
              <a:rPr dirty="0" sz="1100" spc="-140">
                <a:solidFill>
                  <a:srgbClr val="545454"/>
                </a:solidFill>
                <a:latin typeface="MS PGothic"/>
                <a:cs typeface="MS PGothic"/>
              </a:rPr>
              <a:t>の</a:t>
            </a:r>
            <a:r>
              <a:rPr dirty="0" sz="1100" spc="-95">
                <a:solidFill>
                  <a:srgbClr val="545454"/>
                </a:solidFill>
                <a:latin typeface="SimSun"/>
                <a:cs typeface="SimSun"/>
              </a:rPr>
              <a:t>処理</a:t>
            </a:r>
            <a:endParaRPr sz="1100">
              <a:latin typeface="SimSun"/>
              <a:cs typeface="SimSun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733424" y="3428999"/>
            <a:ext cx="3771900" cy="657225"/>
            <a:chOff x="733424" y="3428999"/>
            <a:chExt cx="3771900" cy="657225"/>
          </a:xfrm>
        </p:grpSpPr>
        <p:sp>
          <p:nvSpPr>
            <p:cNvPr id="30" name="object 30" descr=""/>
            <p:cNvSpPr/>
            <p:nvPr/>
          </p:nvSpPr>
          <p:spPr>
            <a:xfrm>
              <a:off x="752474" y="3428999"/>
              <a:ext cx="3752850" cy="657225"/>
            </a:xfrm>
            <a:custGeom>
              <a:avLst/>
              <a:gdLst/>
              <a:ahLst/>
              <a:cxnLst/>
              <a:rect l="l" t="t" r="r" b="b"/>
              <a:pathLst>
                <a:path w="3752850" h="657225">
                  <a:moveTo>
                    <a:pt x="3681652" y="657224"/>
                  </a:moveTo>
                  <a:lnTo>
                    <a:pt x="0" y="657224"/>
                  </a:lnTo>
                  <a:lnTo>
                    <a:pt x="0" y="0"/>
                  </a:lnTo>
                  <a:lnTo>
                    <a:pt x="3681652" y="0"/>
                  </a:lnTo>
                  <a:lnTo>
                    <a:pt x="3686607" y="488"/>
                  </a:lnTo>
                  <a:lnTo>
                    <a:pt x="3723143" y="15621"/>
                  </a:lnTo>
                  <a:lnTo>
                    <a:pt x="3748963" y="51661"/>
                  </a:lnTo>
                  <a:lnTo>
                    <a:pt x="3752849" y="71196"/>
                  </a:lnTo>
                  <a:lnTo>
                    <a:pt x="3752849" y="586028"/>
                  </a:lnTo>
                  <a:lnTo>
                    <a:pt x="3737226" y="627519"/>
                  </a:lnTo>
                  <a:lnTo>
                    <a:pt x="3701186" y="653338"/>
                  </a:lnTo>
                  <a:lnTo>
                    <a:pt x="3681652" y="657224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33424" y="3428999"/>
              <a:ext cx="38100" cy="657225"/>
            </a:xfrm>
            <a:custGeom>
              <a:avLst/>
              <a:gdLst/>
              <a:ahLst/>
              <a:cxnLst/>
              <a:rect l="l" t="t" r="r" b="b"/>
              <a:pathLst>
                <a:path w="38100" h="657225">
                  <a:moveTo>
                    <a:pt x="38099" y="657224"/>
                  </a:moveTo>
                  <a:lnTo>
                    <a:pt x="0" y="6572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657224"/>
                  </a:lnTo>
                  <a:close/>
                </a:path>
              </a:pathLst>
            </a:custGeom>
            <a:solidFill>
              <a:srgbClr val="DB344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3592" y="3580591"/>
              <a:ext cx="168302" cy="134964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>
            <a:off x="901700" y="3469270"/>
            <a:ext cx="1511300" cy="495934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79070">
              <a:lnSpc>
                <a:spcPct val="100000"/>
              </a:lnSpc>
              <a:spcBef>
                <a:spcPts val="630"/>
              </a:spcBef>
            </a:pPr>
            <a:r>
              <a:rPr dirty="0" sz="1150" spc="-105" b="1">
                <a:solidFill>
                  <a:srgbClr val="DB3445"/>
                </a:solidFill>
                <a:latin typeface="Malgun Gothic"/>
                <a:cs typeface="Malgun Gothic"/>
              </a:rPr>
              <a:t>重要度の未考慮</a:t>
            </a:r>
            <a:endParaRPr sz="11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100" spc="-140">
                <a:solidFill>
                  <a:srgbClr val="545454"/>
                </a:solidFill>
                <a:latin typeface="SimSun"/>
                <a:cs typeface="SimSun"/>
              </a:rPr>
              <a:t>全周波数成分</a:t>
            </a:r>
            <a:r>
              <a:rPr dirty="0" sz="1100">
                <a:solidFill>
                  <a:srgbClr val="545454"/>
                </a:solidFill>
                <a:latin typeface="MS PGothic"/>
                <a:cs typeface="MS PGothic"/>
              </a:rPr>
              <a:t>を</a:t>
            </a:r>
            <a:r>
              <a:rPr dirty="0" sz="1100" spc="-140">
                <a:solidFill>
                  <a:srgbClr val="545454"/>
                </a:solidFill>
                <a:latin typeface="SimSun"/>
                <a:cs typeface="SimSun"/>
              </a:rPr>
              <a:t>等価</a:t>
            </a:r>
            <a:r>
              <a:rPr dirty="0" sz="1100" spc="-80">
                <a:solidFill>
                  <a:srgbClr val="545454"/>
                </a:solidFill>
                <a:latin typeface="MS PGothic"/>
                <a:cs typeface="MS PGothic"/>
              </a:rPr>
              <a:t>に</a:t>
            </a:r>
            <a:r>
              <a:rPr dirty="0" sz="1100" spc="-140">
                <a:solidFill>
                  <a:srgbClr val="545454"/>
                </a:solidFill>
                <a:latin typeface="SimSun"/>
                <a:cs typeface="SimSun"/>
              </a:rPr>
              <a:t>扱</a:t>
            </a:r>
            <a:r>
              <a:rPr dirty="0" sz="1100" spc="135">
                <a:solidFill>
                  <a:srgbClr val="545454"/>
                </a:solidFill>
                <a:latin typeface="MS PGothic"/>
                <a:cs typeface="MS PGothic"/>
              </a:rPr>
              <a:t>う</a:t>
            </a:r>
            <a:endParaRPr sz="1100">
              <a:latin typeface="MS PGothic"/>
              <a:cs typeface="MS PGothic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733424" y="4229099"/>
            <a:ext cx="3771900" cy="704850"/>
            <a:chOff x="733424" y="4229099"/>
            <a:chExt cx="3771900" cy="704850"/>
          </a:xfrm>
        </p:grpSpPr>
        <p:pic>
          <p:nvPicPr>
            <p:cNvPr id="35" name="object 3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3424" y="4229099"/>
              <a:ext cx="3771899" cy="704849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33599" y="4408883"/>
              <a:ext cx="133350" cy="116681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3425" y="4229099"/>
              <a:ext cx="2324012" cy="704849"/>
            </a:xfrm>
            <a:prstGeom prst="rect">
              <a:avLst/>
            </a:prstGeom>
          </p:spPr>
        </p:pic>
      </p:grpSp>
      <p:sp>
        <p:nvSpPr>
          <p:cNvPr id="38" name="object 38" descr=""/>
          <p:cNvSpPr txBox="1"/>
          <p:nvPr/>
        </p:nvSpPr>
        <p:spPr>
          <a:xfrm>
            <a:off x="1461144" y="4280134"/>
            <a:ext cx="2312035" cy="511809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836930">
              <a:lnSpc>
                <a:spcPct val="100000"/>
              </a:lnSpc>
              <a:spcBef>
                <a:spcPts val="770"/>
              </a:spcBef>
            </a:pPr>
            <a:r>
              <a:rPr dirty="0" sz="1150" spc="-110" b="1">
                <a:solidFill>
                  <a:srgbClr val="FFFFFF"/>
                </a:solidFill>
                <a:latin typeface="Malgun Gothic"/>
                <a:cs typeface="Malgun Gothic"/>
              </a:rPr>
              <a:t>識</a:t>
            </a:r>
            <a:r>
              <a:rPr dirty="0" sz="1150" spc="-110" b="1">
                <a:solidFill>
                  <a:srgbClr val="FFFFFF"/>
                </a:solidFill>
                <a:latin typeface="Microsoft JhengHei"/>
                <a:cs typeface="Microsoft JhengHei"/>
              </a:rPr>
              <a:t>別力の</a:t>
            </a:r>
            <a:r>
              <a:rPr dirty="0" sz="1150" spc="-80" b="1">
                <a:solidFill>
                  <a:srgbClr val="FFFFFF"/>
                </a:solidFill>
                <a:latin typeface="Malgun Gothic"/>
                <a:cs typeface="Malgun Gothic"/>
              </a:rPr>
              <a:t>限界</a:t>
            </a:r>
            <a:endParaRPr sz="11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000" spc="-125">
                <a:solidFill>
                  <a:srgbClr val="FFFFFF"/>
                </a:solidFill>
                <a:latin typeface="SimSun"/>
                <a:cs typeface="SimSun"/>
              </a:rPr>
              <a:t>機械固有の音響特性を効果的に捉えら れない</a:t>
            </a:r>
            <a:endParaRPr sz="1000">
              <a:latin typeface="SimSun"/>
              <a:cs typeface="SimSun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5000624" y="1257299"/>
            <a:ext cx="4276725" cy="3933825"/>
            <a:chOff x="5000624" y="1257299"/>
            <a:chExt cx="4276725" cy="3933825"/>
          </a:xfrm>
        </p:grpSpPr>
        <p:pic>
          <p:nvPicPr>
            <p:cNvPr id="40" name="object 4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19674" y="1276350"/>
              <a:ext cx="4238624" cy="3895724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5010149" y="1266824"/>
              <a:ext cx="4257675" cy="3914775"/>
            </a:xfrm>
            <a:custGeom>
              <a:avLst/>
              <a:gdLst/>
              <a:ahLst/>
              <a:cxnLst/>
              <a:rect l="l" t="t" r="r" b="b"/>
              <a:pathLst>
                <a:path w="4257675" h="3914775">
                  <a:moveTo>
                    <a:pt x="0" y="3809999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0" y="91081"/>
                  </a:lnTo>
                  <a:lnTo>
                    <a:pt x="2013" y="84334"/>
                  </a:lnTo>
                  <a:lnTo>
                    <a:pt x="3354" y="77586"/>
                  </a:lnTo>
                  <a:lnTo>
                    <a:pt x="5342" y="71035"/>
                  </a:lnTo>
                  <a:lnTo>
                    <a:pt x="7975" y="64679"/>
                  </a:lnTo>
                  <a:lnTo>
                    <a:pt x="10608" y="58323"/>
                  </a:lnTo>
                  <a:lnTo>
                    <a:pt x="13835" y="52285"/>
                  </a:lnTo>
                  <a:lnTo>
                    <a:pt x="17657" y="46564"/>
                  </a:lnTo>
                  <a:lnTo>
                    <a:pt x="21479" y="40844"/>
                  </a:lnTo>
                  <a:lnTo>
                    <a:pt x="25822" y="35552"/>
                  </a:lnTo>
                  <a:lnTo>
                    <a:pt x="30687" y="30687"/>
                  </a:lnTo>
                  <a:lnTo>
                    <a:pt x="35552" y="25823"/>
                  </a:lnTo>
                  <a:lnTo>
                    <a:pt x="64678" y="7975"/>
                  </a:lnTo>
                  <a:lnTo>
                    <a:pt x="71034" y="5342"/>
                  </a:lnTo>
                  <a:lnTo>
                    <a:pt x="77586" y="3355"/>
                  </a:lnTo>
                  <a:lnTo>
                    <a:pt x="84334" y="2013"/>
                  </a:lnTo>
                  <a:lnTo>
                    <a:pt x="91081" y="671"/>
                  </a:lnTo>
                  <a:lnTo>
                    <a:pt x="97895" y="0"/>
                  </a:lnTo>
                  <a:lnTo>
                    <a:pt x="104774" y="0"/>
                  </a:lnTo>
                  <a:lnTo>
                    <a:pt x="4152899" y="0"/>
                  </a:lnTo>
                  <a:lnTo>
                    <a:pt x="4159778" y="0"/>
                  </a:lnTo>
                  <a:lnTo>
                    <a:pt x="4166592" y="671"/>
                  </a:lnTo>
                  <a:lnTo>
                    <a:pt x="4173339" y="2013"/>
                  </a:lnTo>
                  <a:lnTo>
                    <a:pt x="4180086" y="3355"/>
                  </a:lnTo>
                  <a:lnTo>
                    <a:pt x="4186637" y="5342"/>
                  </a:lnTo>
                  <a:lnTo>
                    <a:pt x="4192993" y="7975"/>
                  </a:lnTo>
                  <a:lnTo>
                    <a:pt x="4199349" y="10608"/>
                  </a:lnTo>
                  <a:lnTo>
                    <a:pt x="4231850" y="35552"/>
                  </a:lnTo>
                  <a:lnTo>
                    <a:pt x="4249698" y="64679"/>
                  </a:lnTo>
                  <a:lnTo>
                    <a:pt x="4252331" y="71035"/>
                  </a:lnTo>
                  <a:lnTo>
                    <a:pt x="4254318" y="77586"/>
                  </a:lnTo>
                  <a:lnTo>
                    <a:pt x="4255660" y="84334"/>
                  </a:lnTo>
                  <a:lnTo>
                    <a:pt x="4257003" y="91081"/>
                  </a:lnTo>
                  <a:lnTo>
                    <a:pt x="4257674" y="97895"/>
                  </a:lnTo>
                  <a:lnTo>
                    <a:pt x="4257674" y="104774"/>
                  </a:lnTo>
                  <a:lnTo>
                    <a:pt x="4257674" y="3809999"/>
                  </a:lnTo>
                  <a:lnTo>
                    <a:pt x="4257674" y="3816878"/>
                  </a:lnTo>
                  <a:lnTo>
                    <a:pt x="4257003" y="3823692"/>
                  </a:lnTo>
                  <a:lnTo>
                    <a:pt x="4255660" y="3830440"/>
                  </a:lnTo>
                  <a:lnTo>
                    <a:pt x="4254318" y="3837187"/>
                  </a:lnTo>
                  <a:lnTo>
                    <a:pt x="4252331" y="3843738"/>
                  </a:lnTo>
                  <a:lnTo>
                    <a:pt x="4249698" y="3850094"/>
                  </a:lnTo>
                  <a:lnTo>
                    <a:pt x="4247066" y="3856450"/>
                  </a:lnTo>
                  <a:lnTo>
                    <a:pt x="4222121" y="3888951"/>
                  </a:lnTo>
                  <a:lnTo>
                    <a:pt x="4211108" y="3897115"/>
                  </a:lnTo>
                  <a:lnTo>
                    <a:pt x="4205387" y="3900938"/>
                  </a:lnTo>
                  <a:lnTo>
                    <a:pt x="4199349" y="3904165"/>
                  </a:lnTo>
                  <a:lnTo>
                    <a:pt x="4192993" y="3906798"/>
                  </a:lnTo>
                  <a:lnTo>
                    <a:pt x="4186637" y="3909431"/>
                  </a:lnTo>
                  <a:lnTo>
                    <a:pt x="4152899" y="3914774"/>
                  </a:lnTo>
                  <a:lnTo>
                    <a:pt x="104774" y="3914774"/>
                  </a:lnTo>
                  <a:lnTo>
                    <a:pt x="97895" y="3914774"/>
                  </a:lnTo>
                  <a:lnTo>
                    <a:pt x="91081" y="3914103"/>
                  </a:lnTo>
                  <a:lnTo>
                    <a:pt x="84334" y="3912760"/>
                  </a:lnTo>
                  <a:lnTo>
                    <a:pt x="77586" y="3911418"/>
                  </a:lnTo>
                  <a:lnTo>
                    <a:pt x="71034" y="3909431"/>
                  </a:lnTo>
                  <a:lnTo>
                    <a:pt x="64678" y="3906798"/>
                  </a:lnTo>
                  <a:lnTo>
                    <a:pt x="58322" y="3904165"/>
                  </a:lnTo>
                  <a:lnTo>
                    <a:pt x="52284" y="3900938"/>
                  </a:lnTo>
                  <a:lnTo>
                    <a:pt x="46564" y="3897115"/>
                  </a:lnTo>
                  <a:lnTo>
                    <a:pt x="40844" y="3893294"/>
                  </a:lnTo>
                  <a:lnTo>
                    <a:pt x="35552" y="3888951"/>
                  </a:lnTo>
                  <a:lnTo>
                    <a:pt x="30687" y="3884086"/>
                  </a:lnTo>
                  <a:lnTo>
                    <a:pt x="25822" y="3879221"/>
                  </a:lnTo>
                  <a:lnTo>
                    <a:pt x="21479" y="3873928"/>
                  </a:lnTo>
                  <a:lnTo>
                    <a:pt x="17657" y="3868208"/>
                  </a:lnTo>
                  <a:lnTo>
                    <a:pt x="13835" y="3862488"/>
                  </a:lnTo>
                  <a:lnTo>
                    <a:pt x="10608" y="3856450"/>
                  </a:lnTo>
                  <a:lnTo>
                    <a:pt x="7975" y="3850094"/>
                  </a:lnTo>
                  <a:lnTo>
                    <a:pt x="5342" y="3843738"/>
                  </a:lnTo>
                  <a:lnTo>
                    <a:pt x="3354" y="3837187"/>
                  </a:lnTo>
                  <a:lnTo>
                    <a:pt x="2013" y="3830440"/>
                  </a:lnTo>
                  <a:lnTo>
                    <a:pt x="670" y="3823692"/>
                  </a:lnTo>
                  <a:lnTo>
                    <a:pt x="0" y="3816878"/>
                  </a:lnTo>
                  <a:lnTo>
                    <a:pt x="0" y="3809999"/>
                  </a:lnTo>
                  <a:close/>
                </a:path>
              </a:pathLst>
            </a:custGeom>
            <a:ln w="19049">
              <a:solidFill>
                <a:srgbClr val="44444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69441" y="1561481"/>
              <a:ext cx="186266" cy="187503"/>
            </a:xfrm>
            <a:prstGeom prst="rect">
              <a:avLst/>
            </a:prstGeom>
          </p:spPr>
        </p:pic>
      </p:grpSp>
      <p:sp>
        <p:nvSpPr>
          <p:cNvPr id="43" name="object 43" descr=""/>
          <p:cNvSpPr txBox="1"/>
          <p:nvPr/>
        </p:nvSpPr>
        <p:spPr>
          <a:xfrm>
            <a:off x="5454649" y="1492823"/>
            <a:ext cx="1216660" cy="299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185" b="1">
                <a:solidFill>
                  <a:srgbClr val="DB3445"/>
                </a:solidFill>
                <a:latin typeface="Arial"/>
                <a:cs typeface="Arial"/>
              </a:rPr>
              <a:t>STgram-</a:t>
            </a:r>
            <a:r>
              <a:rPr dirty="0" sz="1800" spc="-180" b="1">
                <a:solidFill>
                  <a:srgbClr val="DB3445"/>
                </a:solidFill>
                <a:latin typeface="Arial"/>
                <a:cs typeface="Arial"/>
              </a:rPr>
              <a:t>MFN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5038847" y="1276350"/>
            <a:ext cx="4200525" cy="1314450"/>
            <a:chOff x="5038847" y="1276350"/>
            <a:chExt cx="4200525" cy="1314450"/>
          </a:xfrm>
        </p:grpSpPr>
        <p:pic>
          <p:nvPicPr>
            <p:cNvPr id="45" name="object 4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038847" y="1276350"/>
              <a:ext cx="4200278" cy="38099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5276849" y="1943100"/>
              <a:ext cx="3743325" cy="647700"/>
            </a:xfrm>
            <a:custGeom>
              <a:avLst/>
              <a:gdLst/>
              <a:ahLst/>
              <a:cxnLst/>
              <a:rect l="l" t="t" r="r" b="b"/>
              <a:pathLst>
                <a:path w="3743325" h="647700">
                  <a:moveTo>
                    <a:pt x="3672127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3672127" y="0"/>
                  </a:lnTo>
                  <a:lnTo>
                    <a:pt x="3677082" y="488"/>
                  </a:lnTo>
                  <a:lnTo>
                    <a:pt x="3713618" y="15621"/>
                  </a:lnTo>
                  <a:lnTo>
                    <a:pt x="3739438" y="51661"/>
                  </a:lnTo>
                  <a:lnTo>
                    <a:pt x="3743323" y="71196"/>
                  </a:lnTo>
                  <a:lnTo>
                    <a:pt x="3743323" y="576503"/>
                  </a:lnTo>
                  <a:lnTo>
                    <a:pt x="3727701" y="617994"/>
                  </a:lnTo>
                  <a:lnTo>
                    <a:pt x="3691661" y="643813"/>
                  </a:lnTo>
                  <a:lnTo>
                    <a:pt x="3672127" y="647699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257799" y="1943099"/>
              <a:ext cx="38100" cy="647700"/>
            </a:xfrm>
            <a:custGeom>
              <a:avLst/>
              <a:gdLst/>
              <a:ahLst/>
              <a:cxnLst/>
              <a:rect l="l" t="t" r="r" b="b"/>
              <a:pathLst>
                <a:path w="38100" h="647700">
                  <a:moveTo>
                    <a:pt x="38099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647699"/>
                  </a:lnTo>
                  <a:close/>
                </a:path>
              </a:pathLst>
            </a:custGeom>
            <a:solidFill>
              <a:srgbClr val="DB344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38775" y="2095499"/>
              <a:ext cx="133350" cy="133350"/>
            </a:xfrm>
            <a:prstGeom prst="rect">
              <a:avLst/>
            </a:prstGeom>
          </p:spPr>
        </p:pic>
      </p:grpSp>
      <p:sp>
        <p:nvSpPr>
          <p:cNvPr id="49" name="object 49" descr=""/>
          <p:cNvSpPr txBox="1"/>
          <p:nvPr/>
        </p:nvSpPr>
        <p:spPr>
          <a:xfrm>
            <a:off x="5421312" y="1983370"/>
            <a:ext cx="1874520" cy="495934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630"/>
              </a:spcBef>
            </a:pPr>
            <a:r>
              <a:rPr dirty="0" sz="1150" spc="-110" b="1">
                <a:solidFill>
                  <a:srgbClr val="DB3445"/>
                </a:solidFill>
                <a:latin typeface="Malgun Gothic"/>
                <a:cs typeface="Malgun Gothic"/>
              </a:rPr>
              <a:t>特</a:t>
            </a:r>
            <a:r>
              <a:rPr dirty="0" sz="1150" spc="-110" b="1">
                <a:solidFill>
                  <a:srgbClr val="DB3445"/>
                </a:solidFill>
                <a:latin typeface="Microsoft JhengHei"/>
                <a:cs typeface="Microsoft JhengHei"/>
              </a:rPr>
              <a:t>徴</a:t>
            </a:r>
            <a:r>
              <a:rPr dirty="0" sz="1150" spc="-110" b="1">
                <a:solidFill>
                  <a:srgbClr val="DB3445"/>
                </a:solidFill>
                <a:latin typeface="Malgun Gothic"/>
                <a:cs typeface="Malgun Gothic"/>
              </a:rPr>
              <a:t>融合の</a:t>
            </a:r>
            <a:r>
              <a:rPr dirty="0" sz="1150" spc="-110" b="1">
                <a:solidFill>
                  <a:srgbClr val="DB3445"/>
                </a:solidFill>
                <a:latin typeface="Microsoft JhengHei"/>
                <a:cs typeface="Microsoft JhengHei"/>
              </a:rPr>
              <a:t>課</a:t>
            </a:r>
            <a:r>
              <a:rPr dirty="0" sz="1150" spc="-50" b="1">
                <a:solidFill>
                  <a:srgbClr val="DB3445"/>
                </a:solidFill>
                <a:latin typeface="Malgun Gothic"/>
                <a:cs typeface="Malgun Gothic"/>
              </a:rPr>
              <a:t>題</a:t>
            </a:r>
            <a:endParaRPr sz="11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100" spc="110">
                <a:solidFill>
                  <a:srgbClr val="545454"/>
                </a:solidFill>
                <a:latin typeface="MS PGothic"/>
                <a:cs typeface="MS PGothic"/>
              </a:rPr>
              <a:t>スペクトル‧</a:t>
            </a:r>
            <a:r>
              <a:rPr dirty="0" sz="1100" spc="-140">
                <a:solidFill>
                  <a:srgbClr val="545454"/>
                </a:solidFill>
                <a:latin typeface="SimSun"/>
                <a:cs typeface="SimSun"/>
              </a:rPr>
              <a:t>時間情報</a:t>
            </a:r>
            <a:r>
              <a:rPr dirty="0" sz="1100" spc="-140">
                <a:solidFill>
                  <a:srgbClr val="545454"/>
                </a:solidFill>
                <a:latin typeface="MS PGothic"/>
                <a:cs typeface="MS PGothic"/>
              </a:rPr>
              <a:t>の</a:t>
            </a:r>
            <a:r>
              <a:rPr dirty="0" sz="1100" spc="-120">
                <a:solidFill>
                  <a:srgbClr val="545454"/>
                </a:solidFill>
                <a:latin typeface="SimSun"/>
                <a:cs typeface="SimSun"/>
              </a:rPr>
              <a:t>単純結合</a:t>
            </a:r>
            <a:endParaRPr sz="1100">
              <a:latin typeface="SimSun"/>
              <a:cs typeface="SimSun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5257799" y="2686049"/>
            <a:ext cx="3762375" cy="647700"/>
            <a:chOff x="5257799" y="2686049"/>
            <a:chExt cx="3762375" cy="647700"/>
          </a:xfrm>
        </p:grpSpPr>
        <p:sp>
          <p:nvSpPr>
            <p:cNvPr id="51" name="object 51" descr=""/>
            <p:cNvSpPr/>
            <p:nvPr/>
          </p:nvSpPr>
          <p:spPr>
            <a:xfrm>
              <a:off x="5276849" y="2686050"/>
              <a:ext cx="3743325" cy="647700"/>
            </a:xfrm>
            <a:custGeom>
              <a:avLst/>
              <a:gdLst/>
              <a:ahLst/>
              <a:cxnLst/>
              <a:rect l="l" t="t" r="r" b="b"/>
              <a:pathLst>
                <a:path w="3743325" h="647700">
                  <a:moveTo>
                    <a:pt x="3672127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3672127" y="0"/>
                  </a:lnTo>
                  <a:lnTo>
                    <a:pt x="3677082" y="488"/>
                  </a:lnTo>
                  <a:lnTo>
                    <a:pt x="3713618" y="15621"/>
                  </a:lnTo>
                  <a:lnTo>
                    <a:pt x="3739438" y="51661"/>
                  </a:lnTo>
                  <a:lnTo>
                    <a:pt x="3743323" y="71196"/>
                  </a:lnTo>
                  <a:lnTo>
                    <a:pt x="3743323" y="576503"/>
                  </a:lnTo>
                  <a:lnTo>
                    <a:pt x="3727701" y="617994"/>
                  </a:lnTo>
                  <a:lnTo>
                    <a:pt x="3691661" y="643813"/>
                  </a:lnTo>
                  <a:lnTo>
                    <a:pt x="3672127" y="647699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5257799" y="2686049"/>
              <a:ext cx="38100" cy="647700"/>
            </a:xfrm>
            <a:custGeom>
              <a:avLst/>
              <a:gdLst/>
              <a:ahLst/>
              <a:cxnLst/>
              <a:rect l="l" t="t" r="r" b="b"/>
              <a:pathLst>
                <a:path w="38100" h="647700">
                  <a:moveTo>
                    <a:pt x="38099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647699"/>
                  </a:lnTo>
                  <a:close/>
                </a:path>
              </a:pathLst>
            </a:custGeom>
            <a:solidFill>
              <a:srgbClr val="DB344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438775" y="2838450"/>
              <a:ext cx="161924" cy="129539"/>
            </a:xfrm>
            <a:prstGeom prst="rect">
              <a:avLst/>
            </a:prstGeom>
          </p:spPr>
        </p:pic>
      </p:grpSp>
      <p:sp>
        <p:nvSpPr>
          <p:cNvPr id="54" name="object 54" descr=""/>
          <p:cNvSpPr txBox="1"/>
          <p:nvPr/>
        </p:nvSpPr>
        <p:spPr>
          <a:xfrm>
            <a:off x="5421312" y="2726320"/>
            <a:ext cx="1882775" cy="495934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79070">
              <a:lnSpc>
                <a:spcPct val="100000"/>
              </a:lnSpc>
              <a:spcBef>
                <a:spcPts val="630"/>
              </a:spcBef>
            </a:pPr>
            <a:r>
              <a:rPr dirty="0" sz="1150" spc="-110" b="1">
                <a:solidFill>
                  <a:srgbClr val="DB3445"/>
                </a:solidFill>
                <a:latin typeface="Malgun Gothic"/>
                <a:cs typeface="Malgun Gothic"/>
              </a:rPr>
              <a:t>適</a:t>
            </a:r>
            <a:r>
              <a:rPr dirty="0" sz="1150" spc="-110" b="1">
                <a:solidFill>
                  <a:srgbClr val="DB3445"/>
                </a:solidFill>
                <a:latin typeface="Microsoft JhengHei"/>
                <a:cs typeface="Microsoft JhengHei"/>
              </a:rPr>
              <a:t>応</a:t>
            </a:r>
            <a:r>
              <a:rPr dirty="0" sz="1150" spc="-100" b="1">
                <a:solidFill>
                  <a:srgbClr val="DB3445"/>
                </a:solidFill>
                <a:latin typeface="Malgun Gothic"/>
                <a:cs typeface="Malgun Gothic"/>
              </a:rPr>
              <a:t>性の欠如</a:t>
            </a:r>
            <a:endParaRPr sz="11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100" spc="-140">
                <a:solidFill>
                  <a:srgbClr val="545454"/>
                </a:solidFill>
                <a:latin typeface="SimSun"/>
                <a:cs typeface="SimSun"/>
              </a:rPr>
              <a:t>入力</a:t>
            </a:r>
            <a:r>
              <a:rPr dirty="0" sz="1100" spc="-80">
                <a:solidFill>
                  <a:srgbClr val="545454"/>
                </a:solidFill>
                <a:latin typeface="MS PGothic"/>
                <a:cs typeface="MS PGothic"/>
              </a:rPr>
              <a:t>に</a:t>
            </a:r>
            <a:r>
              <a:rPr dirty="0" sz="1100" spc="-140">
                <a:solidFill>
                  <a:srgbClr val="545454"/>
                </a:solidFill>
                <a:latin typeface="SimSun"/>
                <a:cs typeface="SimSun"/>
              </a:rPr>
              <a:t>応</a:t>
            </a:r>
            <a:r>
              <a:rPr dirty="0" sz="1100" spc="40">
                <a:solidFill>
                  <a:srgbClr val="545454"/>
                </a:solidFill>
                <a:latin typeface="MS PGothic"/>
                <a:cs typeface="MS PGothic"/>
              </a:rPr>
              <a:t>じた</a:t>
            </a:r>
            <a:r>
              <a:rPr dirty="0" sz="1100" spc="-140">
                <a:solidFill>
                  <a:srgbClr val="545454"/>
                </a:solidFill>
                <a:latin typeface="SimSun"/>
                <a:cs typeface="SimSun"/>
              </a:rPr>
              <a:t>動的</a:t>
            </a:r>
            <a:r>
              <a:rPr dirty="0" sz="1100" spc="-35">
                <a:solidFill>
                  <a:srgbClr val="545454"/>
                </a:solidFill>
                <a:latin typeface="MS PGothic"/>
                <a:cs typeface="MS PGothic"/>
              </a:rPr>
              <a:t>な</a:t>
            </a:r>
            <a:r>
              <a:rPr dirty="0" sz="1100" spc="-140">
                <a:solidFill>
                  <a:srgbClr val="545454"/>
                </a:solidFill>
                <a:latin typeface="SimSun"/>
                <a:cs typeface="SimSun"/>
              </a:rPr>
              <a:t>重</a:t>
            </a:r>
            <a:r>
              <a:rPr dirty="0" sz="1100" spc="-140">
                <a:solidFill>
                  <a:srgbClr val="545454"/>
                </a:solidFill>
                <a:latin typeface="MS PGothic"/>
                <a:cs typeface="MS PGothic"/>
              </a:rPr>
              <a:t>み</a:t>
            </a:r>
            <a:r>
              <a:rPr dirty="0" sz="1100" spc="-140">
                <a:solidFill>
                  <a:srgbClr val="545454"/>
                </a:solidFill>
                <a:latin typeface="SimSun"/>
                <a:cs typeface="SimSun"/>
              </a:rPr>
              <a:t>調整</a:t>
            </a:r>
            <a:r>
              <a:rPr dirty="0" sz="1100" spc="20">
                <a:solidFill>
                  <a:srgbClr val="545454"/>
                </a:solidFill>
                <a:latin typeface="MS PGothic"/>
                <a:cs typeface="MS PGothic"/>
              </a:rPr>
              <a:t>なし</a:t>
            </a:r>
            <a:endParaRPr sz="1100">
              <a:latin typeface="MS PGothic"/>
              <a:cs typeface="MS PGothic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5257799" y="3428999"/>
            <a:ext cx="3762375" cy="657225"/>
            <a:chOff x="5257799" y="3428999"/>
            <a:chExt cx="3762375" cy="657225"/>
          </a:xfrm>
        </p:grpSpPr>
        <p:sp>
          <p:nvSpPr>
            <p:cNvPr id="56" name="object 56" descr=""/>
            <p:cNvSpPr/>
            <p:nvPr/>
          </p:nvSpPr>
          <p:spPr>
            <a:xfrm>
              <a:off x="5276849" y="3428999"/>
              <a:ext cx="3743325" cy="657225"/>
            </a:xfrm>
            <a:custGeom>
              <a:avLst/>
              <a:gdLst/>
              <a:ahLst/>
              <a:cxnLst/>
              <a:rect l="l" t="t" r="r" b="b"/>
              <a:pathLst>
                <a:path w="3743325" h="657225">
                  <a:moveTo>
                    <a:pt x="3672127" y="657224"/>
                  </a:moveTo>
                  <a:lnTo>
                    <a:pt x="0" y="657224"/>
                  </a:lnTo>
                  <a:lnTo>
                    <a:pt x="0" y="0"/>
                  </a:lnTo>
                  <a:lnTo>
                    <a:pt x="3672127" y="0"/>
                  </a:lnTo>
                  <a:lnTo>
                    <a:pt x="3677082" y="488"/>
                  </a:lnTo>
                  <a:lnTo>
                    <a:pt x="3713618" y="15621"/>
                  </a:lnTo>
                  <a:lnTo>
                    <a:pt x="3739438" y="51661"/>
                  </a:lnTo>
                  <a:lnTo>
                    <a:pt x="3743323" y="71196"/>
                  </a:lnTo>
                  <a:lnTo>
                    <a:pt x="3743323" y="586028"/>
                  </a:lnTo>
                  <a:lnTo>
                    <a:pt x="3727701" y="627519"/>
                  </a:lnTo>
                  <a:lnTo>
                    <a:pt x="3691661" y="653338"/>
                  </a:lnTo>
                  <a:lnTo>
                    <a:pt x="3672127" y="657224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5257799" y="3428999"/>
              <a:ext cx="38100" cy="657225"/>
            </a:xfrm>
            <a:custGeom>
              <a:avLst/>
              <a:gdLst/>
              <a:ahLst/>
              <a:cxnLst/>
              <a:rect l="l" t="t" r="r" b="b"/>
              <a:pathLst>
                <a:path w="38100" h="657225">
                  <a:moveTo>
                    <a:pt x="38099" y="657224"/>
                  </a:moveTo>
                  <a:lnTo>
                    <a:pt x="0" y="6572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657224"/>
                  </a:lnTo>
                  <a:close/>
                </a:path>
              </a:pathLst>
            </a:custGeom>
            <a:solidFill>
              <a:srgbClr val="DB344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438344" y="3581399"/>
              <a:ext cx="162506" cy="129539"/>
            </a:xfrm>
            <a:prstGeom prst="rect">
              <a:avLst/>
            </a:prstGeom>
          </p:spPr>
        </p:pic>
      </p:grpSp>
      <p:sp>
        <p:nvSpPr>
          <p:cNvPr id="59" name="object 59" descr=""/>
          <p:cNvSpPr txBox="1"/>
          <p:nvPr/>
        </p:nvSpPr>
        <p:spPr>
          <a:xfrm>
            <a:off x="5421312" y="3469270"/>
            <a:ext cx="1882775" cy="495934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79070">
              <a:lnSpc>
                <a:spcPct val="100000"/>
              </a:lnSpc>
              <a:spcBef>
                <a:spcPts val="630"/>
              </a:spcBef>
            </a:pPr>
            <a:r>
              <a:rPr dirty="0" sz="1150" spc="-105" b="1">
                <a:solidFill>
                  <a:srgbClr val="DB3445"/>
                </a:solidFill>
                <a:latin typeface="Malgun Gothic"/>
                <a:cs typeface="Malgun Gothic"/>
              </a:rPr>
              <a:t>均等な重み付け</a:t>
            </a:r>
            <a:endParaRPr sz="11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100" spc="-140">
                <a:solidFill>
                  <a:srgbClr val="545454"/>
                </a:solidFill>
                <a:latin typeface="SimSun"/>
                <a:cs typeface="SimSun"/>
              </a:rPr>
              <a:t>周波数成分</a:t>
            </a:r>
            <a:r>
              <a:rPr dirty="0" sz="1100" spc="-140">
                <a:solidFill>
                  <a:srgbClr val="545454"/>
                </a:solidFill>
                <a:latin typeface="MS PGothic"/>
                <a:cs typeface="MS PGothic"/>
              </a:rPr>
              <a:t>の</a:t>
            </a:r>
            <a:r>
              <a:rPr dirty="0" sz="1100" spc="-140">
                <a:solidFill>
                  <a:srgbClr val="545454"/>
                </a:solidFill>
                <a:latin typeface="SimSun"/>
                <a:cs typeface="SimSun"/>
              </a:rPr>
              <a:t>重要度</a:t>
            </a:r>
            <a:r>
              <a:rPr dirty="0" sz="1100">
                <a:solidFill>
                  <a:srgbClr val="545454"/>
                </a:solidFill>
                <a:latin typeface="MS PGothic"/>
                <a:cs typeface="MS PGothic"/>
              </a:rPr>
              <a:t>を</a:t>
            </a:r>
            <a:r>
              <a:rPr dirty="0" sz="1100" spc="-140">
                <a:solidFill>
                  <a:srgbClr val="545454"/>
                </a:solidFill>
                <a:latin typeface="SimSun"/>
                <a:cs typeface="SimSun"/>
              </a:rPr>
              <a:t>学習</a:t>
            </a:r>
            <a:r>
              <a:rPr dirty="0" sz="1100" spc="10">
                <a:solidFill>
                  <a:srgbClr val="545454"/>
                </a:solidFill>
                <a:latin typeface="MS PGothic"/>
                <a:cs typeface="MS PGothic"/>
              </a:rPr>
              <a:t>しない</a:t>
            </a:r>
            <a:endParaRPr sz="1100">
              <a:latin typeface="MS PGothic"/>
              <a:cs typeface="MS PGothic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5257799" y="4229099"/>
            <a:ext cx="3762375" cy="704850"/>
            <a:chOff x="5257799" y="4229099"/>
            <a:chExt cx="3762375" cy="704850"/>
          </a:xfrm>
        </p:grpSpPr>
        <p:pic>
          <p:nvPicPr>
            <p:cNvPr id="61" name="object 6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257799" y="4229099"/>
              <a:ext cx="3762374" cy="704849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591299" y="4400549"/>
              <a:ext cx="134157" cy="134183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257799" y="4229099"/>
              <a:ext cx="2314487" cy="704849"/>
            </a:xfrm>
            <a:prstGeom prst="rect">
              <a:avLst/>
            </a:prstGeom>
          </p:spPr>
        </p:pic>
      </p:grpSp>
      <p:sp>
        <p:nvSpPr>
          <p:cNvPr id="64" name="object 64" descr=""/>
          <p:cNvSpPr txBox="1"/>
          <p:nvPr/>
        </p:nvSpPr>
        <p:spPr>
          <a:xfrm>
            <a:off x="5983733" y="4280134"/>
            <a:ext cx="2306320" cy="511809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767715">
              <a:lnSpc>
                <a:spcPct val="100000"/>
              </a:lnSpc>
              <a:spcBef>
                <a:spcPts val="770"/>
              </a:spcBef>
            </a:pPr>
            <a:r>
              <a:rPr dirty="0" sz="1150" spc="-110" b="1">
                <a:solidFill>
                  <a:srgbClr val="FFFFFF"/>
                </a:solidFill>
                <a:latin typeface="Microsoft JhengHei"/>
                <a:cs typeface="Microsoft JhengHei"/>
              </a:rPr>
              <a:t>特徴選択の</a:t>
            </a:r>
            <a:r>
              <a:rPr dirty="0" sz="1150" spc="-80" b="1">
                <a:solidFill>
                  <a:srgbClr val="FFFFFF"/>
                </a:solidFill>
                <a:latin typeface="Malgun Gothic"/>
                <a:cs typeface="Malgun Gothic"/>
              </a:rPr>
              <a:t>限界</a:t>
            </a:r>
            <a:endParaRPr sz="11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000" spc="-105">
                <a:solidFill>
                  <a:srgbClr val="FFFFFF"/>
                </a:solidFill>
                <a:latin typeface="SimSun"/>
                <a:cs typeface="SimSun"/>
              </a:rPr>
              <a:t>効果的な周波数パターンを自動発見できない</a:t>
            </a:r>
            <a:endParaRPr sz="1000">
              <a:latin typeface="SimSun"/>
              <a:cs typeface="SimSun"/>
            </a:endParaRPr>
          </a:p>
        </p:txBody>
      </p:sp>
      <p:pic>
        <p:nvPicPr>
          <p:cNvPr id="65" name="object 65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76249" y="5429249"/>
            <a:ext cx="8801099" cy="2943224"/>
          </a:xfrm>
          <a:prstGeom prst="rect">
            <a:avLst/>
          </a:prstGeom>
        </p:spPr>
      </p:pic>
      <p:sp>
        <p:nvSpPr>
          <p:cNvPr id="66" name="object 66" descr=""/>
          <p:cNvSpPr txBox="1"/>
          <p:nvPr/>
        </p:nvSpPr>
        <p:spPr>
          <a:xfrm>
            <a:off x="887412" y="5677534"/>
            <a:ext cx="25019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10" b="1">
                <a:solidFill>
                  <a:srgbClr val="856404"/>
                </a:solidFill>
                <a:latin typeface="Microsoft JhengHei"/>
                <a:cs typeface="Microsoft JhengHei"/>
              </a:rPr>
              <a:t>専</a:t>
            </a:r>
            <a:r>
              <a:rPr dirty="0" sz="1700" spc="-210" b="1">
                <a:solidFill>
                  <a:srgbClr val="856404"/>
                </a:solidFill>
                <a:latin typeface="Malgun Gothic"/>
                <a:cs typeface="Malgun Gothic"/>
              </a:rPr>
              <a:t>門家依</a:t>
            </a:r>
            <a:r>
              <a:rPr dirty="0" sz="1700" spc="-210" b="1">
                <a:solidFill>
                  <a:srgbClr val="856404"/>
                </a:solidFill>
                <a:latin typeface="Microsoft JhengHei"/>
                <a:cs typeface="Microsoft JhengHei"/>
              </a:rPr>
              <a:t>存</a:t>
            </a:r>
            <a:r>
              <a:rPr dirty="0" sz="1700" spc="-210" b="1">
                <a:solidFill>
                  <a:srgbClr val="856404"/>
                </a:solidFill>
                <a:latin typeface="Malgun Gothic"/>
                <a:cs typeface="Malgun Gothic"/>
              </a:rPr>
              <a:t>の</a:t>
            </a:r>
            <a:r>
              <a:rPr dirty="0" sz="1700" spc="-210" b="1">
                <a:solidFill>
                  <a:srgbClr val="856404"/>
                </a:solidFill>
                <a:latin typeface="Microsoft JhengHei"/>
                <a:cs typeface="Microsoft JhengHei"/>
              </a:rPr>
              <a:t>周</a:t>
            </a:r>
            <a:r>
              <a:rPr dirty="0" sz="1700" spc="-210" b="1">
                <a:solidFill>
                  <a:srgbClr val="856404"/>
                </a:solidFill>
                <a:latin typeface="Malgun Gothic"/>
                <a:cs typeface="Malgun Gothic"/>
              </a:rPr>
              <a:t>波</a:t>
            </a:r>
            <a:r>
              <a:rPr dirty="0" sz="1700" spc="-210" b="1">
                <a:solidFill>
                  <a:srgbClr val="856404"/>
                </a:solidFill>
                <a:latin typeface="Microsoft JhengHei"/>
                <a:cs typeface="Microsoft JhengHei"/>
              </a:rPr>
              <a:t>数</a:t>
            </a:r>
            <a:r>
              <a:rPr dirty="0" sz="1700" spc="-210" b="1">
                <a:solidFill>
                  <a:srgbClr val="856404"/>
                </a:solidFill>
                <a:latin typeface="Malgun Gothic"/>
                <a:cs typeface="Malgun Gothic"/>
              </a:rPr>
              <a:t>選</a:t>
            </a:r>
            <a:r>
              <a:rPr dirty="0" sz="1700" spc="-210" b="1">
                <a:solidFill>
                  <a:srgbClr val="856404"/>
                </a:solidFill>
                <a:latin typeface="Microsoft JhengHei"/>
                <a:cs typeface="Microsoft JhengHei"/>
              </a:rPr>
              <a:t>択</a:t>
            </a:r>
            <a:r>
              <a:rPr dirty="0" sz="1700" spc="-160" b="1">
                <a:solidFill>
                  <a:srgbClr val="856404"/>
                </a:solidFill>
                <a:latin typeface="Malgun Gothic"/>
                <a:cs typeface="Malgun Gothic"/>
              </a:rPr>
              <a:t>問題</a:t>
            </a:r>
            <a:endParaRPr sz="1700">
              <a:latin typeface="Malgun Gothic"/>
              <a:cs typeface="Malgun Gothic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3235176" y="7497612"/>
            <a:ext cx="3283585" cy="51562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algn="ctr" marL="163195">
              <a:lnSpc>
                <a:spcPct val="100000"/>
              </a:lnSpc>
              <a:spcBef>
                <a:spcPts val="710"/>
              </a:spcBef>
            </a:pPr>
            <a:r>
              <a:rPr dirty="0" sz="1150" spc="-90" b="1">
                <a:solidFill>
                  <a:srgbClr val="856404"/>
                </a:solidFill>
                <a:latin typeface="Malgun Gothic"/>
                <a:cs typeface="Malgun Gothic"/>
              </a:rPr>
              <a:t>問題点</a:t>
            </a:r>
            <a:endParaRPr sz="11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100" spc="-150" b="1">
                <a:solidFill>
                  <a:srgbClr val="666666"/>
                </a:solidFill>
                <a:latin typeface="Microsoft JhengHei"/>
                <a:cs typeface="Microsoft JhengHei"/>
              </a:rPr>
              <a:t>スケーラビリティ</a:t>
            </a:r>
            <a:r>
              <a:rPr dirty="0" sz="1100" spc="-140" b="1">
                <a:solidFill>
                  <a:srgbClr val="666666"/>
                </a:solidFill>
                <a:latin typeface="Malgun Gothic"/>
                <a:cs typeface="Malgun Gothic"/>
              </a:rPr>
              <a:t>低下 </a:t>
            </a:r>
            <a:r>
              <a:rPr dirty="0" sz="1100" spc="-65">
                <a:solidFill>
                  <a:srgbClr val="666666"/>
                </a:solidFill>
                <a:latin typeface="Arial MT"/>
                <a:cs typeface="Arial MT"/>
              </a:rPr>
              <a:t>• </a:t>
            </a:r>
            <a:r>
              <a:rPr dirty="0" sz="1100" spc="-140" b="1">
                <a:solidFill>
                  <a:srgbClr val="666666"/>
                </a:solidFill>
                <a:latin typeface="Malgun Gothic"/>
                <a:cs typeface="Malgun Gothic"/>
              </a:rPr>
              <a:t>汎用性欠如 </a:t>
            </a:r>
            <a:r>
              <a:rPr dirty="0" sz="1100" spc="-65">
                <a:solidFill>
                  <a:srgbClr val="666666"/>
                </a:solidFill>
                <a:latin typeface="Arial MT"/>
                <a:cs typeface="Arial MT"/>
              </a:rPr>
              <a:t>• </a:t>
            </a:r>
            <a:r>
              <a:rPr dirty="0" sz="1100" spc="-140" b="1">
                <a:solidFill>
                  <a:srgbClr val="666666"/>
                </a:solidFill>
                <a:latin typeface="Malgun Gothic"/>
                <a:cs typeface="Malgun Gothic"/>
              </a:rPr>
              <a:t>主</a:t>
            </a:r>
            <a:r>
              <a:rPr dirty="0" sz="1100" spc="-140" b="1">
                <a:solidFill>
                  <a:srgbClr val="666666"/>
                </a:solidFill>
                <a:latin typeface="Microsoft JhengHei"/>
                <a:cs typeface="Microsoft JhengHei"/>
              </a:rPr>
              <a:t>観</a:t>
            </a:r>
            <a:r>
              <a:rPr dirty="0" sz="1100" spc="-140" b="1">
                <a:solidFill>
                  <a:srgbClr val="666666"/>
                </a:solidFill>
                <a:latin typeface="Malgun Gothic"/>
                <a:cs typeface="Malgun Gothic"/>
              </a:rPr>
              <a:t>的判</a:t>
            </a:r>
            <a:r>
              <a:rPr dirty="0" sz="1100" spc="-85" b="1">
                <a:solidFill>
                  <a:srgbClr val="666666"/>
                </a:solidFill>
                <a:latin typeface="Microsoft JhengHei"/>
                <a:cs typeface="Microsoft JhengHei"/>
              </a:rPr>
              <a:t>断 </a:t>
            </a:r>
            <a:r>
              <a:rPr dirty="0" sz="1100" spc="-65">
                <a:solidFill>
                  <a:srgbClr val="666666"/>
                </a:solidFill>
                <a:latin typeface="Arial MT"/>
                <a:cs typeface="Arial MT"/>
              </a:rPr>
              <a:t>• </a:t>
            </a:r>
            <a:r>
              <a:rPr dirty="0" sz="1100" spc="-140" b="1">
                <a:solidFill>
                  <a:srgbClr val="666666"/>
                </a:solidFill>
                <a:latin typeface="Malgun Gothic"/>
                <a:cs typeface="Malgun Gothic"/>
              </a:rPr>
              <a:t>高</a:t>
            </a:r>
            <a:r>
              <a:rPr dirty="0" sz="1100" spc="-110" b="1">
                <a:solidFill>
                  <a:srgbClr val="666666"/>
                </a:solidFill>
                <a:latin typeface="Microsoft JhengHei"/>
                <a:cs typeface="Microsoft JhengHei"/>
              </a:rPr>
              <a:t>コスト</a:t>
            </a:r>
            <a:endParaRPr sz="1100">
              <a:latin typeface="Microsoft JhengHei"/>
              <a:cs typeface="Microsoft JhengHei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8674100" y="5357495"/>
            <a:ext cx="406400" cy="5422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350" spc="-1660">
                <a:solidFill>
                  <a:srgbClr val="FFC107"/>
                </a:solidFill>
                <a:latin typeface="Segoe UI Emoji"/>
                <a:cs typeface="Segoe UI Emoji"/>
              </a:rPr>
              <a:t>⚠</a:t>
            </a:r>
            <a:endParaRPr sz="3350">
              <a:latin typeface="Segoe UI Emoji"/>
              <a:cs typeface="Segoe UI Emoji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1722338" y="6626695"/>
            <a:ext cx="482600" cy="57277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31115" indent="-19050">
              <a:lnSpc>
                <a:spcPct val="100000"/>
              </a:lnSpc>
              <a:spcBef>
                <a:spcPts val="595"/>
              </a:spcBef>
            </a:pPr>
            <a:r>
              <a:rPr dirty="0" sz="1000" spc="-100" b="1">
                <a:solidFill>
                  <a:srgbClr val="856404"/>
                </a:solidFill>
                <a:latin typeface="Microsoft JhengHei"/>
                <a:cs typeface="Microsoft JhengHei"/>
              </a:rPr>
              <a:t>専</a:t>
            </a:r>
            <a:r>
              <a:rPr dirty="0" sz="1000" spc="-85" b="1">
                <a:solidFill>
                  <a:srgbClr val="856404"/>
                </a:solidFill>
                <a:latin typeface="Malgun Gothic"/>
                <a:cs typeface="Malgun Gothic"/>
              </a:rPr>
              <a:t>門知識</a:t>
            </a:r>
            <a:endParaRPr sz="1000">
              <a:latin typeface="Malgun Gothic"/>
              <a:cs typeface="Malgun Gothic"/>
            </a:endParaRPr>
          </a:p>
          <a:p>
            <a:pPr marL="83820" marR="24130" indent="-52705">
              <a:lnSpc>
                <a:spcPts val="1050"/>
              </a:lnSpc>
              <a:spcBef>
                <a:spcPts val="535"/>
              </a:spcBef>
            </a:pPr>
            <a:r>
              <a:rPr dirty="0" sz="900" spc="-95">
                <a:solidFill>
                  <a:srgbClr val="666666"/>
                </a:solidFill>
                <a:latin typeface="SimSun"/>
                <a:cs typeface="SimSun"/>
              </a:rPr>
              <a:t>機械工学</a:t>
            </a:r>
            <a:r>
              <a:rPr dirty="0" sz="900" spc="-80">
                <a:solidFill>
                  <a:srgbClr val="666666"/>
                </a:solidFill>
                <a:latin typeface="SimSun"/>
                <a:cs typeface="SimSun"/>
              </a:rPr>
              <a:t>音響学</a:t>
            </a:r>
            <a:endParaRPr sz="900">
              <a:latin typeface="SimSun"/>
              <a:cs typeface="SimSun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4603650" y="6626695"/>
            <a:ext cx="546735" cy="57277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64135" indent="-20320">
              <a:lnSpc>
                <a:spcPct val="100000"/>
              </a:lnSpc>
              <a:spcBef>
                <a:spcPts val="595"/>
              </a:spcBef>
            </a:pPr>
            <a:r>
              <a:rPr dirty="0" sz="1000" spc="-90" b="1">
                <a:solidFill>
                  <a:srgbClr val="856404"/>
                </a:solidFill>
                <a:latin typeface="Malgun Gothic"/>
                <a:cs typeface="Malgun Gothic"/>
              </a:rPr>
              <a:t>手動設定</a:t>
            </a:r>
            <a:endParaRPr sz="1000">
              <a:latin typeface="Malgun Gothic"/>
              <a:cs typeface="Malgun Gothic"/>
            </a:endParaRPr>
          </a:p>
          <a:p>
            <a:pPr marL="12700" marR="5080" indent="51435">
              <a:lnSpc>
                <a:spcPts val="1050"/>
              </a:lnSpc>
              <a:spcBef>
                <a:spcPts val="535"/>
              </a:spcBef>
            </a:pPr>
            <a:r>
              <a:rPr dirty="0" sz="900" spc="-90">
                <a:solidFill>
                  <a:srgbClr val="666666"/>
                </a:solidFill>
                <a:latin typeface="SimSun"/>
                <a:cs typeface="SimSun"/>
              </a:rPr>
              <a:t>フィルタ</a:t>
            </a:r>
            <a:r>
              <a:rPr dirty="0" sz="900" spc="-100">
                <a:solidFill>
                  <a:srgbClr val="666666"/>
                </a:solidFill>
                <a:latin typeface="SimSun"/>
                <a:cs typeface="SimSun"/>
              </a:rPr>
              <a:t>パラメータ</a:t>
            </a:r>
            <a:endParaRPr sz="900">
              <a:latin typeface="SimSun"/>
              <a:cs typeface="SimSun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7462787" y="6626695"/>
            <a:ext cx="654050" cy="57277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97790">
              <a:lnSpc>
                <a:spcPct val="100000"/>
              </a:lnSpc>
              <a:spcBef>
                <a:spcPts val="595"/>
              </a:spcBef>
            </a:pPr>
            <a:r>
              <a:rPr dirty="0" sz="1000" spc="-90" b="1">
                <a:solidFill>
                  <a:srgbClr val="856404"/>
                </a:solidFill>
                <a:latin typeface="Malgun Gothic"/>
                <a:cs typeface="Malgun Gothic"/>
              </a:rPr>
              <a:t>個別調整</a:t>
            </a:r>
            <a:endParaRPr sz="1000">
              <a:latin typeface="Malgun Gothic"/>
              <a:cs typeface="Malgun Gothic"/>
            </a:endParaRPr>
          </a:p>
          <a:p>
            <a:pPr marL="12700" marR="5080" indent="104775">
              <a:lnSpc>
                <a:spcPts val="1050"/>
              </a:lnSpc>
              <a:spcBef>
                <a:spcPts val="535"/>
              </a:spcBef>
            </a:pPr>
            <a:r>
              <a:rPr dirty="0" sz="900" spc="-80">
                <a:solidFill>
                  <a:srgbClr val="666666"/>
                </a:solidFill>
                <a:latin typeface="SimSun"/>
                <a:cs typeface="SimSun"/>
              </a:rPr>
              <a:t>機械ごと</a:t>
            </a:r>
            <a:r>
              <a:rPr dirty="0" sz="900" spc="-50">
                <a:solidFill>
                  <a:srgbClr val="666666"/>
                </a:solidFill>
                <a:latin typeface="SimSun"/>
                <a:cs typeface="SimSun"/>
              </a:rPr>
              <a:t> </a:t>
            </a:r>
            <a:r>
              <a:rPr dirty="0" sz="900" spc="-90">
                <a:solidFill>
                  <a:srgbClr val="666666"/>
                </a:solidFill>
                <a:latin typeface="SimSun"/>
                <a:cs typeface="SimSun"/>
              </a:rPr>
              <a:t>チューニング</a:t>
            </a:r>
            <a:endParaRPr sz="900">
              <a:latin typeface="SimSun"/>
              <a:cs typeface="SimSun"/>
            </a:endParaRPr>
          </a:p>
        </p:txBody>
      </p:sp>
      <p:grpSp>
        <p:nvGrpSpPr>
          <p:cNvPr id="72" name="object 72" descr=""/>
          <p:cNvGrpSpPr/>
          <p:nvPr/>
        </p:nvGrpSpPr>
        <p:grpSpPr>
          <a:xfrm>
            <a:off x="685799" y="9172574"/>
            <a:ext cx="3857625" cy="1714500"/>
            <a:chOff x="685799" y="9172574"/>
            <a:chExt cx="3857625" cy="1714500"/>
          </a:xfrm>
        </p:grpSpPr>
        <p:pic>
          <p:nvPicPr>
            <p:cNvPr id="73" name="object 7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04849" y="9191624"/>
              <a:ext cx="3819524" cy="1676399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695324" y="9182099"/>
              <a:ext cx="3838575" cy="1695450"/>
            </a:xfrm>
            <a:custGeom>
              <a:avLst/>
              <a:gdLst/>
              <a:ahLst/>
              <a:cxnLst/>
              <a:rect l="l" t="t" r="r" b="b"/>
              <a:pathLst>
                <a:path w="3838575" h="1695450">
                  <a:moveTo>
                    <a:pt x="0" y="16287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6"/>
                  </a:lnTo>
                  <a:lnTo>
                    <a:pt x="2135" y="49371"/>
                  </a:lnTo>
                  <a:lnTo>
                    <a:pt x="3399" y="45203"/>
                  </a:lnTo>
                  <a:lnTo>
                    <a:pt x="5075" y="41158"/>
                  </a:lnTo>
                  <a:lnTo>
                    <a:pt x="6750" y="37113"/>
                  </a:lnTo>
                  <a:lnTo>
                    <a:pt x="8804" y="33270"/>
                  </a:lnTo>
                  <a:lnTo>
                    <a:pt x="11236" y="29630"/>
                  </a:lnTo>
                  <a:lnTo>
                    <a:pt x="13668" y="25990"/>
                  </a:lnTo>
                  <a:lnTo>
                    <a:pt x="16432" y="22623"/>
                  </a:lnTo>
                  <a:lnTo>
                    <a:pt x="19528" y="19527"/>
                  </a:lnTo>
                  <a:lnTo>
                    <a:pt x="22624" y="16432"/>
                  </a:lnTo>
                  <a:lnTo>
                    <a:pt x="41159" y="5074"/>
                  </a:lnTo>
                  <a:lnTo>
                    <a:pt x="45204" y="3399"/>
                  </a:lnTo>
                  <a:lnTo>
                    <a:pt x="49373" y="2134"/>
                  </a:lnTo>
                  <a:lnTo>
                    <a:pt x="53667" y="1280"/>
                  </a:lnTo>
                  <a:lnTo>
                    <a:pt x="57961" y="426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3771899" y="0"/>
                  </a:lnTo>
                  <a:lnTo>
                    <a:pt x="3776277" y="0"/>
                  </a:lnTo>
                  <a:lnTo>
                    <a:pt x="3780613" y="426"/>
                  </a:lnTo>
                  <a:lnTo>
                    <a:pt x="3784906" y="1280"/>
                  </a:lnTo>
                  <a:lnTo>
                    <a:pt x="3789200" y="2134"/>
                  </a:lnTo>
                  <a:lnTo>
                    <a:pt x="3793369" y="3399"/>
                  </a:lnTo>
                  <a:lnTo>
                    <a:pt x="3797414" y="5074"/>
                  </a:lnTo>
                  <a:lnTo>
                    <a:pt x="3801458" y="6749"/>
                  </a:lnTo>
                  <a:lnTo>
                    <a:pt x="3827337" y="29631"/>
                  </a:lnTo>
                  <a:lnTo>
                    <a:pt x="3829769" y="33271"/>
                  </a:lnTo>
                  <a:lnTo>
                    <a:pt x="3831823" y="37113"/>
                  </a:lnTo>
                  <a:lnTo>
                    <a:pt x="3833498" y="41158"/>
                  </a:lnTo>
                  <a:lnTo>
                    <a:pt x="3835173" y="45203"/>
                  </a:lnTo>
                  <a:lnTo>
                    <a:pt x="3836438" y="49371"/>
                  </a:lnTo>
                  <a:lnTo>
                    <a:pt x="3837293" y="53666"/>
                  </a:lnTo>
                  <a:lnTo>
                    <a:pt x="3838147" y="57960"/>
                  </a:lnTo>
                  <a:lnTo>
                    <a:pt x="3838574" y="62296"/>
                  </a:lnTo>
                  <a:lnTo>
                    <a:pt x="3838574" y="66674"/>
                  </a:lnTo>
                  <a:lnTo>
                    <a:pt x="3838574" y="1628774"/>
                  </a:lnTo>
                  <a:lnTo>
                    <a:pt x="3827337" y="1665814"/>
                  </a:lnTo>
                  <a:lnTo>
                    <a:pt x="3824905" y="1669454"/>
                  </a:lnTo>
                  <a:lnTo>
                    <a:pt x="3793369" y="1692048"/>
                  </a:lnTo>
                  <a:lnTo>
                    <a:pt x="3771899" y="1695449"/>
                  </a:lnTo>
                  <a:lnTo>
                    <a:pt x="66675" y="1695449"/>
                  </a:lnTo>
                  <a:lnTo>
                    <a:pt x="41159" y="1690373"/>
                  </a:lnTo>
                  <a:lnTo>
                    <a:pt x="37114" y="1688697"/>
                  </a:lnTo>
                  <a:lnTo>
                    <a:pt x="33272" y="1686643"/>
                  </a:lnTo>
                  <a:lnTo>
                    <a:pt x="29632" y="1684211"/>
                  </a:lnTo>
                  <a:lnTo>
                    <a:pt x="25992" y="1681778"/>
                  </a:lnTo>
                  <a:lnTo>
                    <a:pt x="3399" y="1650243"/>
                  </a:lnTo>
                  <a:lnTo>
                    <a:pt x="0" y="1633152"/>
                  </a:lnTo>
                  <a:lnTo>
                    <a:pt x="0" y="1628774"/>
                  </a:lnTo>
                  <a:close/>
                </a:path>
              </a:pathLst>
            </a:custGeom>
            <a:ln w="19049">
              <a:solidFill>
                <a:srgbClr val="F4423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266949" y="9363074"/>
              <a:ext cx="133349" cy="133349"/>
            </a:xfrm>
            <a:prstGeom prst="rect">
              <a:avLst/>
            </a:prstGeom>
          </p:spPr>
        </p:pic>
      </p:grpSp>
      <p:sp>
        <p:nvSpPr>
          <p:cNvPr id="76" name="object 76" descr=""/>
          <p:cNvSpPr txBox="1"/>
          <p:nvPr/>
        </p:nvSpPr>
        <p:spPr>
          <a:xfrm>
            <a:off x="2418316" y="9323513"/>
            <a:ext cx="55880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 b="1">
                <a:solidFill>
                  <a:srgbClr val="C62828"/>
                </a:solidFill>
                <a:latin typeface="Microsoft JhengHei"/>
                <a:cs typeface="Microsoft JhengHei"/>
              </a:rPr>
              <a:t>従来</a:t>
            </a:r>
            <a:r>
              <a:rPr dirty="0" sz="1150" spc="-80" b="1">
                <a:solidFill>
                  <a:srgbClr val="C62828"/>
                </a:solidFill>
                <a:latin typeface="Malgun Gothic"/>
                <a:cs typeface="Malgun Gothic"/>
              </a:rPr>
              <a:t>手法</a:t>
            </a:r>
            <a:endParaRPr sz="1150">
              <a:latin typeface="Malgun Gothic"/>
              <a:cs typeface="Malgun Gothic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835025" y="9621265"/>
            <a:ext cx="1082675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65">
                <a:solidFill>
                  <a:srgbClr val="F44236"/>
                </a:solidFill>
                <a:latin typeface="Segoe UI Symbol"/>
                <a:cs typeface="Segoe UI Symbol"/>
              </a:rPr>
              <a:t>✗ </a:t>
            </a:r>
            <a:r>
              <a:rPr dirty="0" sz="1000" spc="-95">
                <a:latin typeface="SimSun"/>
                <a:cs typeface="SimSun"/>
              </a:rPr>
              <a:t>固定的な特徴抽出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835025" y="9776256"/>
            <a:ext cx="1424940" cy="90170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900" spc="65">
                <a:solidFill>
                  <a:srgbClr val="F44236"/>
                </a:solidFill>
                <a:latin typeface="Segoe UI Symbol"/>
                <a:cs typeface="Segoe UI Symbol"/>
              </a:rPr>
              <a:t>✗ </a:t>
            </a:r>
            <a:r>
              <a:rPr dirty="0" sz="1000" spc="-105">
                <a:latin typeface="SimSun"/>
                <a:cs typeface="SimSun"/>
              </a:rPr>
              <a:t>専門家による手動設定</a:t>
            </a:r>
            <a:endParaRPr sz="10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900" spc="65">
                <a:solidFill>
                  <a:srgbClr val="F44236"/>
                </a:solidFill>
                <a:latin typeface="Segoe UI Symbol"/>
                <a:cs typeface="Segoe UI Symbol"/>
              </a:rPr>
              <a:t>✗ </a:t>
            </a:r>
            <a:r>
              <a:rPr dirty="0" sz="1000" spc="-100">
                <a:latin typeface="SimSun"/>
                <a:cs typeface="SimSun"/>
              </a:rPr>
              <a:t>機械種別ごとの個別調整</a:t>
            </a:r>
            <a:endParaRPr sz="10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900" spc="65">
                <a:solidFill>
                  <a:srgbClr val="F44236"/>
                </a:solidFill>
                <a:latin typeface="Segoe UI Symbol"/>
                <a:cs typeface="Segoe UI Symbol"/>
              </a:rPr>
              <a:t>✗ </a:t>
            </a:r>
            <a:r>
              <a:rPr dirty="0" sz="1000" spc="-95">
                <a:latin typeface="SimSun"/>
                <a:cs typeface="SimSun"/>
              </a:rPr>
              <a:t>均等な周波数重み付け</a:t>
            </a:r>
            <a:endParaRPr sz="10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900" spc="65">
                <a:solidFill>
                  <a:srgbClr val="F44236"/>
                </a:solidFill>
                <a:latin typeface="Segoe UI Symbol"/>
                <a:cs typeface="Segoe UI Symbol"/>
              </a:rPr>
              <a:t>✗ </a:t>
            </a:r>
            <a:r>
              <a:rPr dirty="0" sz="1000" spc="-95">
                <a:latin typeface="SimSun"/>
                <a:cs typeface="SimSun"/>
              </a:rPr>
              <a:t>限定的な適応性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4723903" y="9857051"/>
            <a:ext cx="306070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215" b="1">
                <a:solidFill>
                  <a:srgbClr val="666666"/>
                </a:solidFill>
                <a:latin typeface="Arial"/>
                <a:cs typeface="Arial"/>
              </a:rPr>
              <a:t>VS</a:t>
            </a:r>
            <a:endParaRPr sz="2000">
              <a:latin typeface="Arial"/>
              <a:cs typeface="Arial"/>
            </a:endParaRPr>
          </a:p>
        </p:txBody>
      </p:sp>
      <p:sp>
        <p:nvSpPr>
          <p:cNvPr id="80" name="object 80" descr=""/>
          <p:cNvSpPr/>
          <p:nvPr/>
        </p:nvSpPr>
        <p:spPr>
          <a:xfrm>
            <a:off x="4495799" y="10029824"/>
            <a:ext cx="142875" cy="19050"/>
          </a:xfrm>
          <a:custGeom>
            <a:avLst/>
            <a:gdLst/>
            <a:ahLst/>
            <a:cxnLst/>
            <a:rect l="l" t="t" r="r" b="b"/>
            <a:pathLst>
              <a:path w="142875" h="19050">
                <a:moveTo>
                  <a:pt x="142874" y="19049"/>
                </a:moveTo>
                <a:lnTo>
                  <a:pt x="0" y="19049"/>
                </a:lnTo>
                <a:lnTo>
                  <a:pt x="0" y="0"/>
                </a:lnTo>
                <a:lnTo>
                  <a:pt x="142874" y="0"/>
                </a:lnTo>
                <a:lnTo>
                  <a:pt x="142874" y="19049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1" name="object 81" descr=""/>
          <p:cNvGrpSpPr/>
          <p:nvPr/>
        </p:nvGrpSpPr>
        <p:grpSpPr>
          <a:xfrm>
            <a:off x="5114924" y="9172574"/>
            <a:ext cx="3952875" cy="1714500"/>
            <a:chOff x="5114924" y="9172574"/>
            <a:chExt cx="3952875" cy="1714500"/>
          </a:xfrm>
        </p:grpSpPr>
        <p:sp>
          <p:nvSpPr>
            <p:cNvPr id="82" name="object 82" descr=""/>
            <p:cNvSpPr/>
            <p:nvPr/>
          </p:nvSpPr>
          <p:spPr>
            <a:xfrm>
              <a:off x="5114924" y="10029824"/>
              <a:ext cx="142875" cy="19050"/>
            </a:xfrm>
            <a:custGeom>
              <a:avLst/>
              <a:gdLst/>
              <a:ahLst/>
              <a:cxnLst/>
              <a:rect l="l" t="t" r="r" b="b"/>
              <a:pathLst>
                <a:path w="142875" h="19050">
                  <a:moveTo>
                    <a:pt x="14287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42874" y="0"/>
                  </a:lnTo>
                  <a:lnTo>
                    <a:pt x="142874" y="190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229224" y="9191624"/>
              <a:ext cx="3819524" cy="1676399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5219699" y="9182099"/>
              <a:ext cx="3838575" cy="1695450"/>
            </a:xfrm>
            <a:custGeom>
              <a:avLst/>
              <a:gdLst/>
              <a:ahLst/>
              <a:cxnLst/>
              <a:rect l="l" t="t" r="r" b="b"/>
              <a:pathLst>
                <a:path w="3838575" h="1695450">
                  <a:moveTo>
                    <a:pt x="0" y="16287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0" y="53666"/>
                  </a:lnTo>
                  <a:lnTo>
                    <a:pt x="2134" y="49371"/>
                  </a:lnTo>
                  <a:lnTo>
                    <a:pt x="3399" y="45203"/>
                  </a:lnTo>
                  <a:lnTo>
                    <a:pt x="5075" y="41158"/>
                  </a:lnTo>
                  <a:lnTo>
                    <a:pt x="6750" y="37113"/>
                  </a:lnTo>
                  <a:lnTo>
                    <a:pt x="8804" y="33270"/>
                  </a:lnTo>
                  <a:lnTo>
                    <a:pt x="11237" y="29630"/>
                  </a:lnTo>
                  <a:lnTo>
                    <a:pt x="13668" y="25990"/>
                  </a:lnTo>
                  <a:lnTo>
                    <a:pt x="16433" y="22623"/>
                  </a:lnTo>
                  <a:lnTo>
                    <a:pt x="19529" y="19527"/>
                  </a:lnTo>
                  <a:lnTo>
                    <a:pt x="22624" y="16432"/>
                  </a:lnTo>
                  <a:lnTo>
                    <a:pt x="25992" y="13667"/>
                  </a:lnTo>
                  <a:lnTo>
                    <a:pt x="29633" y="11235"/>
                  </a:lnTo>
                  <a:lnTo>
                    <a:pt x="33272" y="8803"/>
                  </a:lnTo>
                  <a:lnTo>
                    <a:pt x="37115" y="6749"/>
                  </a:lnTo>
                  <a:lnTo>
                    <a:pt x="41159" y="5074"/>
                  </a:lnTo>
                  <a:lnTo>
                    <a:pt x="45204" y="3399"/>
                  </a:lnTo>
                  <a:lnTo>
                    <a:pt x="49373" y="2134"/>
                  </a:lnTo>
                  <a:lnTo>
                    <a:pt x="53667" y="1280"/>
                  </a:lnTo>
                  <a:lnTo>
                    <a:pt x="57961" y="426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3771900" y="0"/>
                  </a:lnTo>
                  <a:lnTo>
                    <a:pt x="3776277" y="0"/>
                  </a:lnTo>
                  <a:lnTo>
                    <a:pt x="3780613" y="426"/>
                  </a:lnTo>
                  <a:lnTo>
                    <a:pt x="3784907" y="1280"/>
                  </a:lnTo>
                  <a:lnTo>
                    <a:pt x="3789200" y="2134"/>
                  </a:lnTo>
                  <a:lnTo>
                    <a:pt x="3793369" y="3399"/>
                  </a:lnTo>
                  <a:lnTo>
                    <a:pt x="3797414" y="5074"/>
                  </a:lnTo>
                  <a:lnTo>
                    <a:pt x="3801459" y="6749"/>
                  </a:lnTo>
                  <a:lnTo>
                    <a:pt x="3819045" y="19527"/>
                  </a:lnTo>
                  <a:lnTo>
                    <a:pt x="3822141" y="22623"/>
                  </a:lnTo>
                  <a:lnTo>
                    <a:pt x="3838147" y="57960"/>
                  </a:lnTo>
                  <a:lnTo>
                    <a:pt x="3838575" y="66674"/>
                  </a:lnTo>
                  <a:lnTo>
                    <a:pt x="3838575" y="1628774"/>
                  </a:lnTo>
                  <a:lnTo>
                    <a:pt x="3827337" y="1665814"/>
                  </a:lnTo>
                  <a:lnTo>
                    <a:pt x="3797414" y="1690373"/>
                  </a:lnTo>
                  <a:lnTo>
                    <a:pt x="3771900" y="1695449"/>
                  </a:lnTo>
                  <a:lnTo>
                    <a:pt x="66675" y="1695449"/>
                  </a:lnTo>
                  <a:lnTo>
                    <a:pt x="29632" y="1684211"/>
                  </a:lnTo>
                  <a:lnTo>
                    <a:pt x="11237" y="1665814"/>
                  </a:lnTo>
                  <a:lnTo>
                    <a:pt x="8804" y="1662173"/>
                  </a:lnTo>
                  <a:lnTo>
                    <a:pt x="6750" y="1658332"/>
                  </a:lnTo>
                  <a:lnTo>
                    <a:pt x="5075" y="1654288"/>
                  </a:lnTo>
                  <a:lnTo>
                    <a:pt x="3399" y="1650243"/>
                  </a:lnTo>
                  <a:lnTo>
                    <a:pt x="2134" y="1646074"/>
                  </a:lnTo>
                  <a:lnTo>
                    <a:pt x="1280" y="1641781"/>
                  </a:lnTo>
                  <a:lnTo>
                    <a:pt x="426" y="1637487"/>
                  </a:lnTo>
                  <a:lnTo>
                    <a:pt x="0" y="1633152"/>
                  </a:lnTo>
                  <a:lnTo>
                    <a:pt x="0" y="1628774"/>
                  </a:lnTo>
                  <a:close/>
                </a:path>
              </a:pathLst>
            </a:custGeom>
            <a:ln w="19049">
              <a:solidFill>
                <a:srgbClr val="4BAF4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724649" y="9363074"/>
              <a:ext cx="133349" cy="133349"/>
            </a:xfrm>
            <a:prstGeom prst="rect">
              <a:avLst/>
            </a:prstGeom>
          </p:spPr>
        </p:pic>
      </p:grpSp>
      <p:sp>
        <p:nvSpPr>
          <p:cNvPr id="86" name="object 86" descr=""/>
          <p:cNvSpPr txBox="1"/>
          <p:nvPr/>
        </p:nvSpPr>
        <p:spPr>
          <a:xfrm>
            <a:off x="6873188" y="9323513"/>
            <a:ext cx="6921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0" b="1">
                <a:solidFill>
                  <a:srgbClr val="2E7D32"/>
                </a:solidFill>
                <a:latin typeface="Malgun Gothic"/>
                <a:cs typeface="Malgun Gothic"/>
              </a:rPr>
              <a:t>理想的手法</a:t>
            </a:r>
            <a:endParaRPr sz="1150">
              <a:latin typeface="Malgun Gothic"/>
              <a:cs typeface="Malgun Gothic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5356572" y="9621265"/>
            <a:ext cx="1082675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14"/>
              </a:spcBef>
              <a:buClr>
                <a:srgbClr val="4BAF4F"/>
              </a:buClr>
              <a:buFont typeface="Yu Gothic"/>
              <a:buChar char="✓"/>
              <a:tabLst>
                <a:tab pos="155575" algn="l"/>
              </a:tabLst>
            </a:pPr>
            <a:r>
              <a:rPr dirty="0" sz="1000" spc="-95">
                <a:latin typeface="SimSun"/>
                <a:cs typeface="SimSun"/>
              </a:rPr>
              <a:t>適応的な特徴学習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5356572" y="9840340"/>
            <a:ext cx="131191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14"/>
              </a:spcBef>
              <a:buClr>
                <a:srgbClr val="4BAF4F"/>
              </a:buClr>
              <a:buFont typeface="Yu Gothic"/>
              <a:buChar char="✓"/>
              <a:tabLst>
                <a:tab pos="155575" algn="l"/>
              </a:tabLst>
            </a:pPr>
            <a:r>
              <a:rPr dirty="0" sz="1000" spc="-95">
                <a:latin typeface="SimSun"/>
                <a:cs typeface="SimSun"/>
              </a:rPr>
              <a:t>データ駆動の自動設定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5356572" y="10059415"/>
            <a:ext cx="1417955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14"/>
              </a:spcBef>
              <a:buClr>
                <a:srgbClr val="4BAF4F"/>
              </a:buClr>
              <a:buFont typeface="Yu Gothic"/>
              <a:buChar char="✓"/>
              <a:tabLst>
                <a:tab pos="155575" algn="l"/>
              </a:tabLst>
            </a:pPr>
            <a:r>
              <a:rPr dirty="0" sz="1000" spc="-110">
                <a:latin typeface="SimSun"/>
                <a:cs typeface="SimSun"/>
              </a:rPr>
              <a:t>汎用的なアーキテクチャ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5356572" y="10278490"/>
            <a:ext cx="1082675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14"/>
              </a:spcBef>
              <a:buClr>
                <a:srgbClr val="4BAF4F"/>
              </a:buClr>
              <a:buFont typeface="Yu Gothic"/>
              <a:buChar char="✓"/>
              <a:tabLst>
                <a:tab pos="155575" algn="l"/>
              </a:tabLst>
            </a:pPr>
            <a:r>
              <a:rPr dirty="0" sz="1000" spc="-95">
                <a:latin typeface="SimSun"/>
                <a:cs typeface="SimSun"/>
              </a:rPr>
              <a:t>動的な重要度調整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5356572" y="10497565"/>
            <a:ext cx="854075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14"/>
              </a:spcBef>
              <a:buClr>
                <a:srgbClr val="4BAF4F"/>
              </a:buClr>
              <a:buFont typeface="Yu Gothic"/>
              <a:buChar char="✓"/>
              <a:tabLst>
                <a:tab pos="155575" algn="l"/>
              </a:tabLst>
            </a:pPr>
            <a:r>
              <a:rPr dirty="0" sz="1000" spc="-95">
                <a:latin typeface="SimSun"/>
                <a:cs typeface="SimSun"/>
              </a:rPr>
              <a:t>高い汎化性能</a:t>
            </a:r>
            <a:endParaRPr sz="1000">
              <a:latin typeface="SimSun"/>
              <a:cs typeface="SimSun"/>
            </a:endParaRPr>
          </a:p>
        </p:txBody>
      </p:sp>
      <p:grpSp>
        <p:nvGrpSpPr>
          <p:cNvPr id="92" name="object 92" descr=""/>
          <p:cNvGrpSpPr/>
          <p:nvPr/>
        </p:nvGrpSpPr>
        <p:grpSpPr>
          <a:xfrm>
            <a:off x="8267700" y="11953874"/>
            <a:ext cx="1295400" cy="323850"/>
            <a:chOff x="8267700" y="11953874"/>
            <a:chExt cx="1295400" cy="323850"/>
          </a:xfrm>
        </p:grpSpPr>
        <p:sp>
          <p:nvSpPr>
            <p:cNvPr id="93" name="object 93" descr=""/>
            <p:cNvSpPr/>
            <p:nvPr/>
          </p:nvSpPr>
          <p:spPr>
            <a:xfrm>
              <a:off x="8267700" y="11953874"/>
              <a:ext cx="1295400" cy="323850"/>
            </a:xfrm>
            <a:custGeom>
              <a:avLst/>
              <a:gdLst/>
              <a:ahLst/>
              <a:cxnLst/>
              <a:rect l="l" t="t" r="r" b="b"/>
              <a:pathLst>
                <a:path w="1295400" h="323850">
                  <a:moveTo>
                    <a:pt x="126235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262352" y="0"/>
                  </a:lnTo>
                  <a:lnTo>
                    <a:pt x="1294433" y="28187"/>
                  </a:lnTo>
                  <a:lnTo>
                    <a:pt x="1295399" y="33047"/>
                  </a:lnTo>
                  <a:lnTo>
                    <a:pt x="1295399" y="290802"/>
                  </a:lnTo>
                  <a:lnTo>
                    <a:pt x="1267212" y="322883"/>
                  </a:lnTo>
                  <a:lnTo>
                    <a:pt x="126235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382000" y="12049124"/>
              <a:ext cx="133349" cy="133349"/>
            </a:xfrm>
            <a:prstGeom prst="rect">
              <a:avLst/>
            </a:prstGeom>
          </p:spPr>
        </p:pic>
      </p:grpSp>
      <p:sp>
        <p:nvSpPr>
          <p:cNvPr id="95" name="object 95" descr=""/>
          <p:cNvSpPr txBox="1"/>
          <p:nvPr/>
        </p:nvSpPr>
        <p:spPr>
          <a:xfrm>
            <a:off x="8561734" y="12050140"/>
            <a:ext cx="899794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z="1050" spc="-80">
                <a:solidFill>
                  <a:srgbClr val="FFFFFF"/>
                </a:solidFill>
                <a:latin typeface="Arial MT"/>
                <a:cs typeface="Arial MT"/>
              </a:rPr>
              <a:t>Genspark</a:t>
            </a:r>
            <a:r>
              <a:rPr dirty="0" sz="105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85">
                <a:solidFill>
                  <a:srgbClr val="FFFFFF"/>
                </a:solidFill>
                <a:latin typeface="SimSun"/>
                <a:cs typeface="SimSun"/>
              </a:rPr>
              <a:t>で作成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9194601" y="12116815"/>
            <a:ext cx="286385" cy="1466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90"/>
              </a:lnSpc>
            </a:pPr>
            <a:fld id="{81D60167-4931-47E6-BA6A-407CBD079E47}" type="slidenum">
              <a:rPr dirty="0" sz="1000" spc="-40">
                <a:solidFill>
                  <a:srgbClr val="666666"/>
                </a:solidFill>
                <a:latin typeface="Tahoma"/>
                <a:cs typeface="Tahoma"/>
              </a:rPr>
              <a:t>5</a:t>
            </a:fld>
            <a:r>
              <a:rPr dirty="0" sz="1000" spc="-40">
                <a:solidFill>
                  <a:srgbClr val="666666"/>
                </a:solidFill>
                <a:latin typeface="Tahoma"/>
                <a:cs typeface="Tahoma"/>
              </a:rPr>
              <a:t>/</a:t>
            </a:r>
            <a:r>
              <a:rPr dirty="0" sz="1000" spc="-40">
                <a:solidFill>
                  <a:srgbClr val="666666"/>
                </a:solidFill>
                <a:latin typeface="Tahoma"/>
                <a:cs typeface="Tahoma"/>
              </a:rPr>
              <a:t>13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28624" y="781049"/>
            <a:ext cx="8896350" cy="28575"/>
          </a:xfrm>
          <a:custGeom>
            <a:avLst/>
            <a:gdLst/>
            <a:ahLst/>
            <a:cxnLst/>
            <a:rect l="l" t="t" r="r" b="b"/>
            <a:pathLst>
              <a:path w="8896350" h="28575">
                <a:moveTo>
                  <a:pt x="8896349" y="28574"/>
                </a:moveTo>
                <a:lnTo>
                  <a:pt x="0" y="28574"/>
                </a:lnTo>
                <a:lnTo>
                  <a:pt x="0" y="0"/>
                </a:lnTo>
                <a:lnTo>
                  <a:pt x="8896349" y="0"/>
                </a:lnTo>
                <a:lnTo>
                  <a:pt x="8896349" y="28574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428624" y="6934199"/>
            <a:ext cx="8896350" cy="1619250"/>
            <a:chOff x="428624" y="6934199"/>
            <a:chExt cx="8896350" cy="1619250"/>
          </a:xfrm>
        </p:grpSpPr>
        <p:sp>
          <p:nvSpPr>
            <p:cNvPr id="4" name="object 4" descr=""/>
            <p:cNvSpPr/>
            <p:nvPr/>
          </p:nvSpPr>
          <p:spPr>
            <a:xfrm>
              <a:off x="438149" y="6943724"/>
              <a:ext cx="8877300" cy="1600200"/>
            </a:xfrm>
            <a:custGeom>
              <a:avLst/>
              <a:gdLst/>
              <a:ahLst/>
              <a:cxnLst/>
              <a:rect l="l" t="t" r="r" b="b"/>
              <a:pathLst>
                <a:path w="8877300" h="1600200">
                  <a:moveTo>
                    <a:pt x="8797203" y="1600199"/>
                  </a:moveTo>
                  <a:lnTo>
                    <a:pt x="80096" y="1600199"/>
                  </a:lnTo>
                  <a:lnTo>
                    <a:pt x="74521" y="1599651"/>
                  </a:lnTo>
                  <a:lnTo>
                    <a:pt x="33418" y="1582624"/>
                  </a:lnTo>
                  <a:lnTo>
                    <a:pt x="8679" y="1552478"/>
                  </a:lnTo>
                  <a:lnTo>
                    <a:pt x="0" y="1520103"/>
                  </a:lnTo>
                  <a:lnTo>
                    <a:pt x="0" y="1514474"/>
                  </a:lnTo>
                  <a:lnTo>
                    <a:pt x="0" y="80096"/>
                  </a:lnTo>
                  <a:lnTo>
                    <a:pt x="11320" y="42777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8797203" y="0"/>
                  </a:lnTo>
                  <a:lnTo>
                    <a:pt x="8834518" y="11319"/>
                  </a:lnTo>
                  <a:lnTo>
                    <a:pt x="8865977" y="42777"/>
                  </a:lnTo>
                  <a:lnTo>
                    <a:pt x="8877299" y="80096"/>
                  </a:lnTo>
                  <a:lnTo>
                    <a:pt x="8877299" y="1520103"/>
                  </a:lnTo>
                  <a:lnTo>
                    <a:pt x="8865977" y="1557419"/>
                  </a:lnTo>
                  <a:lnTo>
                    <a:pt x="8834518" y="1588879"/>
                  </a:lnTo>
                  <a:lnTo>
                    <a:pt x="8802777" y="1599650"/>
                  </a:lnTo>
                  <a:lnTo>
                    <a:pt x="8797203" y="160019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38149" y="6943724"/>
              <a:ext cx="8877300" cy="1600200"/>
            </a:xfrm>
            <a:custGeom>
              <a:avLst/>
              <a:gdLst/>
              <a:ahLst/>
              <a:cxnLst/>
              <a:rect l="l" t="t" r="r" b="b"/>
              <a:pathLst>
                <a:path w="8877300" h="1600200">
                  <a:moveTo>
                    <a:pt x="0" y="1514474"/>
                  </a:moveTo>
                  <a:lnTo>
                    <a:pt x="0" y="85724"/>
                  </a:lnTo>
                  <a:lnTo>
                    <a:pt x="0" y="80096"/>
                  </a:lnTo>
                  <a:lnTo>
                    <a:pt x="549" y="74521"/>
                  </a:lnTo>
                  <a:lnTo>
                    <a:pt x="1647" y="69000"/>
                  </a:lnTo>
                  <a:lnTo>
                    <a:pt x="2745" y="63479"/>
                  </a:lnTo>
                  <a:lnTo>
                    <a:pt x="4371" y="58118"/>
                  </a:lnTo>
                  <a:lnTo>
                    <a:pt x="6525" y="52918"/>
                  </a:lnTo>
                  <a:lnTo>
                    <a:pt x="8679" y="47718"/>
                  </a:lnTo>
                  <a:lnTo>
                    <a:pt x="11320" y="42777"/>
                  </a:lnTo>
                  <a:lnTo>
                    <a:pt x="14447" y="38097"/>
                  </a:lnTo>
                  <a:lnTo>
                    <a:pt x="17574" y="33417"/>
                  </a:lnTo>
                  <a:lnTo>
                    <a:pt x="21128" y="29087"/>
                  </a:lnTo>
                  <a:lnTo>
                    <a:pt x="25108" y="25107"/>
                  </a:lnTo>
                  <a:lnTo>
                    <a:pt x="29088" y="21127"/>
                  </a:lnTo>
                  <a:lnTo>
                    <a:pt x="33418" y="17573"/>
                  </a:lnTo>
                  <a:lnTo>
                    <a:pt x="38098" y="14446"/>
                  </a:lnTo>
                  <a:lnTo>
                    <a:pt x="42778" y="11319"/>
                  </a:lnTo>
                  <a:lnTo>
                    <a:pt x="47719" y="8678"/>
                  </a:lnTo>
                  <a:lnTo>
                    <a:pt x="52919" y="6524"/>
                  </a:lnTo>
                  <a:lnTo>
                    <a:pt x="58119" y="4370"/>
                  </a:lnTo>
                  <a:lnTo>
                    <a:pt x="63480" y="2745"/>
                  </a:lnTo>
                  <a:lnTo>
                    <a:pt x="69000" y="1646"/>
                  </a:lnTo>
                  <a:lnTo>
                    <a:pt x="74521" y="548"/>
                  </a:lnTo>
                  <a:lnTo>
                    <a:pt x="80096" y="0"/>
                  </a:lnTo>
                  <a:lnTo>
                    <a:pt x="85725" y="0"/>
                  </a:lnTo>
                  <a:lnTo>
                    <a:pt x="8791574" y="0"/>
                  </a:lnTo>
                  <a:lnTo>
                    <a:pt x="8797203" y="0"/>
                  </a:lnTo>
                  <a:lnTo>
                    <a:pt x="8802777" y="548"/>
                  </a:lnTo>
                  <a:lnTo>
                    <a:pt x="8808297" y="1646"/>
                  </a:lnTo>
                  <a:lnTo>
                    <a:pt x="8813817" y="2745"/>
                  </a:lnTo>
                  <a:lnTo>
                    <a:pt x="8819177" y="4370"/>
                  </a:lnTo>
                  <a:lnTo>
                    <a:pt x="8824378" y="6524"/>
                  </a:lnTo>
                  <a:lnTo>
                    <a:pt x="8829578" y="8678"/>
                  </a:lnTo>
                  <a:lnTo>
                    <a:pt x="8834518" y="11319"/>
                  </a:lnTo>
                  <a:lnTo>
                    <a:pt x="8839199" y="14446"/>
                  </a:lnTo>
                  <a:lnTo>
                    <a:pt x="8843879" y="17573"/>
                  </a:lnTo>
                  <a:lnTo>
                    <a:pt x="8862850" y="38097"/>
                  </a:lnTo>
                  <a:lnTo>
                    <a:pt x="8865977" y="42777"/>
                  </a:lnTo>
                  <a:lnTo>
                    <a:pt x="8875651" y="69000"/>
                  </a:lnTo>
                  <a:lnTo>
                    <a:pt x="8876749" y="74521"/>
                  </a:lnTo>
                  <a:lnTo>
                    <a:pt x="8877299" y="80096"/>
                  </a:lnTo>
                  <a:lnTo>
                    <a:pt x="8877299" y="85724"/>
                  </a:lnTo>
                  <a:lnTo>
                    <a:pt x="8877299" y="1514474"/>
                  </a:lnTo>
                  <a:lnTo>
                    <a:pt x="8877299" y="1520103"/>
                  </a:lnTo>
                  <a:lnTo>
                    <a:pt x="8876749" y="1525677"/>
                  </a:lnTo>
                  <a:lnTo>
                    <a:pt x="8862850" y="1562099"/>
                  </a:lnTo>
                  <a:lnTo>
                    <a:pt x="8859723" y="1566780"/>
                  </a:lnTo>
                  <a:lnTo>
                    <a:pt x="8839199" y="1585751"/>
                  </a:lnTo>
                  <a:lnTo>
                    <a:pt x="8834518" y="1588879"/>
                  </a:lnTo>
                  <a:lnTo>
                    <a:pt x="8797203" y="1600199"/>
                  </a:lnTo>
                  <a:lnTo>
                    <a:pt x="8791574" y="1600199"/>
                  </a:lnTo>
                  <a:lnTo>
                    <a:pt x="85725" y="1600199"/>
                  </a:lnTo>
                  <a:lnTo>
                    <a:pt x="80096" y="1600199"/>
                  </a:lnTo>
                  <a:lnTo>
                    <a:pt x="74521" y="1599651"/>
                  </a:lnTo>
                  <a:lnTo>
                    <a:pt x="38098" y="1585751"/>
                  </a:lnTo>
                  <a:lnTo>
                    <a:pt x="33418" y="1582624"/>
                  </a:lnTo>
                  <a:lnTo>
                    <a:pt x="8679" y="1552478"/>
                  </a:lnTo>
                  <a:lnTo>
                    <a:pt x="1647" y="1531197"/>
                  </a:lnTo>
                  <a:lnTo>
                    <a:pt x="549" y="1525677"/>
                  </a:lnTo>
                  <a:lnTo>
                    <a:pt x="0" y="1520103"/>
                  </a:lnTo>
                  <a:lnTo>
                    <a:pt x="0" y="1514474"/>
                  </a:lnTo>
                  <a:close/>
                </a:path>
              </a:pathLst>
            </a:custGeom>
            <a:ln w="19049">
              <a:solidFill>
                <a:srgbClr val="DEE2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4" y="8696324"/>
            <a:ext cx="8896349" cy="1142999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3114674" y="425053"/>
            <a:ext cx="278765" cy="217170"/>
          </a:xfrm>
          <a:custGeom>
            <a:avLst/>
            <a:gdLst/>
            <a:ahLst/>
            <a:cxnLst/>
            <a:rect l="l" t="t" r="r" b="b"/>
            <a:pathLst>
              <a:path w="278764" h="217170">
                <a:moveTo>
                  <a:pt x="255389" y="216693"/>
                </a:moveTo>
                <a:lnTo>
                  <a:pt x="224432" y="216693"/>
                </a:lnTo>
                <a:lnTo>
                  <a:pt x="215397" y="214868"/>
                </a:lnTo>
                <a:lnTo>
                  <a:pt x="208017" y="209891"/>
                </a:lnTo>
                <a:lnTo>
                  <a:pt x="203040" y="202511"/>
                </a:lnTo>
                <a:lnTo>
                  <a:pt x="201215" y="193476"/>
                </a:lnTo>
                <a:lnTo>
                  <a:pt x="201215" y="162520"/>
                </a:lnTo>
                <a:lnTo>
                  <a:pt x="203040" y="153485"/>
                </a:lnTo>
                <a:lnTo>
                  <a:pt x="208017" y="146105"/>
                </a:lnTo>
                <a:lnTo>
                  <a:pt x="215397" y="141128"/>
                </a:lnTo>
                <a:lnTo>
                  <a:pt x="224432" y="139303"/>
                </a:lnTo>
                <a:lnTo>
                  <a:pt x="228302" y="139303"/>
                </a:lnTo>
                <a:lnTo>
                  <a:pt x="228302" y="121696"/>
                </a:lnTo>
                <a:lnTo>
                  <a:pt x="226561" y="119955"/>
                </a:lnTo>
                <a:lnTo>
                  <a:pt x="150911" y="119955"/>
                </a:lnTo>
                <a:lnTo>
                  <a:pt x="150911" y="139303"/>
                </a:lnTo>
                <a:lnTo>
                  <a:pt x="154781" y="139303"/>
                </a:lnTo>
                <a:lnTo>
                  <a:pt x="163816" y="141128"/>
                </a:lnTo>
                <a:lnTo>
                  <a:pt x="171196" y="146105"/>
                </a:lnTo>
                <a:lnTo>
                  <a:pt x="176173" y="153485"/>
                </a:lnTo>
                <a:lnTo>
                  <a:pt x="177998" y="162520"/>
                </a:lnTo>
                <a:lnTo>
                  <a:pt x="177998" y="193476"/>
                </a:lnTo>
                <a:lnTo>
                  <a:pt x="176173" y="202511"/>
                </a:lnTo>
                <a:lnTo>
                  <a:pt x="171196" y="209891"/>
                </a:lnTo>
                <a:lnTo>
                  <a:pt x="163816" y="214868"/>
                </a:lnTo>
                <a:lnTo>
                  <a:pt x="154781" y="216693"/>
                </a:lnTo>
                <a:lnTo>
                  <a:pt x="123825" y="216693"/>
                </a:lnTo>
                <a:lnTo>
                  <a:pt x="114789" y="214868"/>
                </a:lnTo>
                <a:lnTo>
                  <a:pt x="107409" y="209891"/>
                </a:lnTo>
                <a:lnTo>
                  <a:pt x="102432" y="202511"/>
                </a:lnTo>
                <a:lnTo>
                  <a:pt x="100607" y="193476"/>
                </a:lnTo>
                <a:lnTo>
                  <a:pt x="100607" y="162520"/>
                </a:lnTo>
                <a:lnTo>
                  <a:pt x="102432" y="153485"/>
                </a:lnTo>
                <a:lnTo>
                  <a:pt x="107409" y="146105"/>
                </a:lnTo>
                <a:lnTo>
                  <a:pt x="114789" y="141128"/>
                </a:lnTo>
                <a:lnTo>
                  <a:pt x="123825" y="139303"/>
                </a:lnTo>
                <a:lnTo>
                  <a:pt x="127694" y="139303"/>
                </a:lnTo>
                <a:lnTo>
                  <a:pt x="127694" y="119955"/>
                </a:lnTo>
                <a:lnTo>
                  <a:pt x="52045" y="119955"/>
                </a:lnTo>
                <a:lnTo>
                  <a:pt x="50303" y="121696"/>
                </a:lnTo>
                <a:lnTo>
                  <a:pt x="50303" y="139303"/>
                </a:lnTo>
                <a:lnTo>
                  <a:pt x="54173" y="139303"/>
                </a:lnTo>
                <a:lnTo>
                  <a:pt x="63208" y="141128"/>
                </a:lnTo>
                <a:lnTo>
                  <a:pt x="70588" y="146105"/>
                </a:lnTo>
                <a:lnTo>
                  <a:pt x="75565" y="153485"/>
                </a:lnTo>
                <a:lnTo>
                  <a:pt x="77390" y="162520"/>
                </a:lnTo>
                <a:lnTo>
                  <a:pt x="77390" y="193476"/>
                </a:lnTo>
                <a:lnTo>
                  <a:pt x="75565" y="202511"/>
                </a:lnTo>
                <a:lnTo>
                  <a:pt x="70588" y="209891"/>
                </a:lnTo>
                <a:lnTo>
                  <a:pt x="63208" y="214868"/>
                </a:lnTo>
                <a:lnTo>
                  <a:pt x="54173" y="216693"/>
                </a:lnTo>
                <a:lnTo>
                  <a:pt x="23217" y="216693"/>
                </a:lnTo>
                <a:lnTo>
                  <a:pt x="14181" y="214868"/>
                </a:lnTo>
                <a:lnTo>
                  <a:pt x="6801" y="209891"/>
                </a:lnTo>
                <a:lnTo>
                  <a:pt x="1825" y="202511"/>
                </a:lnTo>
                <a:lnTo>
                  <a:pt x="0" y="193476"/>
                </a:lnTo>
                <a:lnTo>
                  <a:pt x="0" y="162520"/>
                </a:lnTo>
                <a:lnTo>
                  <a:pt x="1825" y="153485"/>
                </a:lnTo>
                <a:lnTo>
                  <a:pt x="6801" y="146105"/>
                </a:lnTo>
                <a:lnTo>
                  <a:pt x="14181" y="141128"/>
                </a:lnTo>
                <a:lnTo>
                  <a:pt x="23217" y="139303"/>
                </a:lnTo>
                <a:lnTo>
                  <a:pt x="27086" y="139303"/>
                </a:lnTo>
                <a:lnTo>
                  <a:pt x="27086" y="123825"/>
                </a:lnTo>
                <a:lnTo>
                  <a:pt x="29217" y="113287"/>
                </a:lnTo>
                <a:lnTo>
                  <a:pt x="35025" y="104676"/>
                </a:lnTo>
                <a:lnTo>
                  <a:pt x="43635" y="98868"/>
                </a:lnTo>
                <a:lnTo>
                  <a:pt x="54173" y="96738"/>
                </a:lnTo>
                <a:lnTo>
                  <a:pt x="127694" y="96738"/>
                </a:lnTo>
                <a:lnTo>
                  <a:pt x="127694" y="77390"/>
                </a:lnTo>
                <a:lnTo>
                  <a:pt x="123825" y="77390"/>
                </a:lnTo>
                <a:lnTo>
                  <a:pt x="114789" y="75565"/>
                </a:lnTo>
                <a:lnTo>
                  <a:pt x="107409" y="70588"/>
                </a:lnTo>
                <a:lnTo>
                  <a:pt x="102432" y="63208"/>
                </a:lnTo>
                <a:lnTo>
                  <a:pt x="100607" y="54173"/>
                </a:lnTo>
                <a:lnTo>
                  <a:pt x="100607" y="23217"/>
                </a:lnTo>
                <a:lnTo>
                  <a:pt x="102432" y="14181"/>
                </a:lnTo>
                <a:lnTo>
                  <a:pt x="107409" y="6801"/>
                </a:lnTo>
                <a:lnTo>
                  <a:pt x="114789" y="1825"/>
                </a:lnTo>
                <a:lnTo>
                  <a:pt x="123825" y="0"/>
                </a:lnTo>
                <a:lnTo>
                  <a:pt x="154781" y="0"/>
                </a:lnTo>
                <a:lnTo>
                  <a:pt x="163816" y="1825"/>
                </a:lnTo>
                <a:lnTo>
                  <a:pt x="171196" y="6801"/>
                </a:lnTo>
                <a:lnTo>
                  <a:pt x="176173" y="14181"/>
                </a:lnTo>
                <a:lnTo>
                  <a:pt x="177998" y="23217"/>
                </a:lnTo>
                <a:lnTo>
                  <a:pt x="177998" y="54173"/>
                </a:lnTo>
                <a:lnTo>
                  <a:pt x="176173" y="63208"/>
                </a:lnTo>
                <a:lnTo>
                  <a:pt x="171196" y="70588"/>
                </a:lnTo>
                <a:lnTo>
                  <a:pt x="163816" y="75565"/>
                </a:lnTo>
                <a:lnTo>
                  <a:pt x="154781" y="77390"/>
                </a:lnTo>
                <a:lnTo>
                  <a:pt x="150911" y="77390"/>
                </a:lnTo>
                <a:lnTo>
                  <a:pt x="150911" y="96738"/>
                </a:lnTo>
                <a:lnTo>
                  <a:pt x="224432" y="96738"/>
                </a:lnTo>
                <a:lnTo>
                  <a:pt x="234970" y="98868"/>
                </a:lnTo>
                <a:lnTo>
                  <a:pt x="243580" y="104676"/>
                </a:lnTo>
                <a:lnTo>
                  <a:pt x="249389" y="113287"/>
                </a:lnTo>
                <a:lnTo>
                  <a:pt x="251519" y="123825"/>
                </a:lnTo>
                <a:lnTo>
                  <a:pt x="251519" y="139303"/>
                </a:lnTo>
                <a:lnTo>
                  <a:pt x="255389" y="139303"/>
                </a:lnTo>
                <a:lnTo>
                  <a:pt x="264424" y="141128"/>
                </a:lnTo>
                <a:lnTo>
                  <a:pt x="271804" y="146105"/>
                </a:lnTo>
                <a:lnTo>
                  <a:pt x="276781" y="153485"/>
                </a:lnTo>
                <a:lnTo>
                  <a:pt x="278606" y="162520"/>
                </a:lnTo>
                <a:lnTo>
                  <a:pt x="278606" y="193476"/>
                </a:lnTo>
                <a:lnTo>
                  <a:pt x="276781" y="202511"/>
                </a:lnTo>
                <a:lnTo>
                  <a:pt x="271804" y="209891"/>
                </a:lnTo>
                <a:lnTo>
                  <a:pt x="264424" y="214868"/>
                </a:lnTo>
                <a:lnTo>
                  <a:pt x="255389" y="216693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582946" y="336105"/>
            <a:ext cx="3065780" cy="3613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75"/>
              <a:t>提案手法 </a:t>
            </a:r>
            <a:r>
              <a:rPr dirty="0" sz="2150" spc="-215">
                <a:latin typeface="Tahoma"/>
                <a:cs typeface="Tahoma"/>
              </a:rPr>
              <a:t>ASD-</a:t>
            </a:r>
            <a:r>
              <a:rPr dirty="0" sz="2150" spc="-220">
                <a:latin typeface="Tahoma"/>
                <a:cs typeface="Tahoma"/>
              </a:rPr>
              <a:t>AFPA</a:t>
            </a:r>
            <a:r>
              <a:rPr dirty="0" sz="2150" spc="-155">
                <a:latin typeface="Tahoma"/>
                <a:cs typeface="Tahoma"/>
              </a:rPr>
              <a:t> </a:t>
            </a:r>
            <a:r>
              <a:rPr dirty="0" spc="-285"/>
              <a:t>全体像</a:t>
            </a:r>
            <a:endParaRPr sz="215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8070" y="7133450"/>
            <a:ext cx="152459" cy="153947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989437" y="7089703"/>
            <a:ext cx="192722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95" b="1">
                <a:solidFill>
                  <a:srgbClr val="3A6EA5"/>
                </a:solidFill>
                <a:latin typeface="Arial"/>
                <a:cs typeface="Arial"/>
              </a:rPr>
              <a:t>STgram-</a:t>
            </a:r>
            <a:r>
              <a:rPr dirty="0" sz="1350" spc="-114" b="1">
                <a:solidFill>
                  <a:srgbClr val="3A6EA5"/>
                </a:solidFill>
                <a:latin typeface="Arial"/>
                <a:cs typeface="Arial"/>
              </a:rPr>
              <a:t>MFN</a:t>
            </a:r>
            <a:r>
              <a:rPr dirty="0" sz="1350" spc="-65" b="1">
                <a:solidFill>
                  <a:srgbClr val="3A6EA5"/>
                </a:solidFill>
                <a:latin typeface="Arial"/>
                <a:cs typeface="Arial"/>
              </a:rPr>
              <a:t> </a:t>
            </a:r>
            <a:r>
              <a:rPr dirty="0" sz="1350" spc="-200" b="1">
                <a:solidFill>
                  <a:srgbClr val="3A6EA5"/>
                </a:solidFill>
                <a:latin typeface="Malgun Gothic"/>
                <a:cs typeface="Malgun Gothic"/>
              </a:rPr>
              <a:t>から の改良点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90549" y="7439024"/>
            <a:ext cx="4048125" cy="952500"/>
            <a:chOff x="590549" y="7439024"/>
            <a:chExt cx="4048125" cy="952500"/>
          </a:xfrm>
        </p:grpSpPr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599" y="7458074"/>
              <a:ext cx="4010024" cy="914399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600074" y="7448549"/>
              <a:ext cx="4029075" cy="933450"/>
            </a:xfrm>
            <a:custGeom>
              <a:avLst/>
              <a:gdLst/>
              <a:ahLst/>
              <a:cxnLst/>
              <a:rect l="l" t="t" r="r" b="b"/>
              <a:pathLst>
                <a:path w="4029075" h="933450">
                  <a:moveTo>
                    <a:pt x="0" y="8667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1"/>
                  </a:lnTo>
                  <a:lnTo>
                    <a:pt x="11236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2" y="11235"/>
                  </a:lnTo>
                  <a:lnTo>
                    <a:pt x="33272" y="8803"/>
                  </a:lnTo>
                  <a:lnTo>
                    <a:pt x="37114" y="6749"/>
                  </a:lnTo>
                  <a:lnTo>
                    <a:pt x="41159" y="5074"/>
                  </a:lnTo>
                  <a:lnTo>
                    <a:pt x="45204" y="3399"/>
                  </a:lnTo>
                  <a:lnTo>
                    <a:pt x="49373" y="2134"/>
                  </a:lnTo>
                  <a:lnTo>
                    <a:pt x="53667" y="1280"/>
                  </a:lnTo>
                  <a:lnTo>
                    <a:pt x="57961" y="426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3962399" y="0"/>
                  </a:lnTo>
                  <a:lnTo>
                    <a:pt x="3966777" y="0"/>
                  </a:lnTo>
                  <a:lnTo>
                    <a:pt x="3971113" y="426"/>
                  </a:lnTo>
                  <a:lnTo>
                    <a:pt x="3975406" y="1280"/>
                  </a:lnTo>
                  <a:lnTo>
                    <a:pt x="3979700" y="2134"/>
                  </a:lnTo>
                  <a:lnTo>
                    <a:pt x="3983869" y="3399"/>
                  </a:lnTo>
                  <a:lnTo>
                    <a:pt x="3987914" y="5075"/>
                  </a:lnTo>
                  <a:lnTo>
                    <a:pt x="3991958" y="6750"/>
                  </a:lnTo>
                  <a:lnTo>
                    <a:pt x="3995801" y="8803"/>
                  </a:lnTo>
                  <a:lnTo>
                    <a:pt x="3999441" y="11236"/>
                  </a:lnTo>
                  <a:lnTo>
                    <a:pt x="4003081" y="13668"/>
                  </a:lnTo>
                  <a:lnTo>
                    <a:pt x="4017837" y="29631"/>
                  </a:lnTo>
                  <a:lnTo>
                    <a:pt x="4020269" y="33271"/>
                  </a:lnTo>
                  <a:lnTo>
                    <a:pt x="4027793" y="53667"/>
                  </a:lnTo>
                  <a:lnTo>
                    <a:pt x="4028647" y="57960"/>
                  </a:lnTo>
                  <a:lnTo>
                    <a:pt x="4029074" y="62296"/>
                  </a:lnTo>
                  <a:lnTo>
                    <a:pt x="4029074" y="66674"/>
                  </a:lnTo>
                  <a:lnTo>
                    <a:pt x="4029074" y="866774"/>
                  </a:lnTo>
                  <a:lnTo>
                    <a:pt x="4017837" y="903816"/>
                  </a:lnTo>
                  <a:lnTo>
                    <a:pt x="3987914" y="928373"/>
                  </a:lnTo>
                  <a:lnTo>
                    <a:pt x="3962399" y="933449"/>
                  </a:lnTo>
                  <a:lnTo>
                    <a:pt x="66675" y="933449"/>
                  </a:lnTo>
                  <a:lnTo>
                    <a:pt x="41159" y="928373"/>
                  </a:lnTo>
                  <a:lnTo>
                    <a:pt x="37114" y="926698"/>
                  </a:lnTo>
                  <a:lnTo>
                    <a:pt x="8804" y="900176"/>
                  </a:lnTo>
                  <a:lnTo>
                    <a:pt x="1281" y="879781"/>
                  </a:lnTo>
                  <a:lnTo>
                    <a:pt x="427" y="875488"/>
                  </a:lnTo>
                  <a:lnTo>
                    <a:pt x="0" y="871152"/>
                  </a:lnTo>
                  <a:lnTo>
                    <a:pt x="0" y="866774"/>
                  </a:lnTo>
                  <a:close/>
                </a:path>
              </a:pathLst>
            </a:custGeom>
            <a:ln w="19049">
              <a:solidFill>
                <a:srgbClr val="F4423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13359" y="7610031"/>
              <a:ext cx="133350" cy="134235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2100808" y="7559215"/>
            <a:ext cx="1033780" cy="707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100"/>
              </a:spcBef>
            </a:pPr>
            <a:r>
              <a:rPr dirty="0" sz="1200" spc="-95" b="1">
                <a:solidFill>
                  <a:srgbClr val="C62828"/>
                </a:solidFill>
                <a:latin typeface="Arial"/>
                <a:cs typeface="Arial"/>
              </a:rPr>
              <a:t>STgram-</a:t>
            </a:r>
            <a:r>
              <a:rPr dirty="0" sz="1200" spc="-80" b="1">
                <a:solidFill>
                  <a:srgbClr val="C62828"/>
                </a:solidFill>
                <a:latin typeface="Arial"/>
                <a:cs typeface="Arial"/>
              </a:rPr>
              <a:t>MFN</a:t>
            </a:r>
            <a:endParaRPr sz="1200">
              <a:latin typeface="Arial"/>
              <a:cs typeface="Arial"/>
            </a:endParaRPr>
          </a:p>
          <a:p>
            <a:pPr marL="71755" indent="-59055">
              <a:lnSpc>
                <a:spcPts val="1065"/>
              </a:lnSpc>
              <a:spcBef>
                <a:spcPts val="735"/>
              </a:spcBef>
              <a:buFont typeface="Microsoft Sans Serif"/>
              <a:buChar char="•"/>
              <a:tabLst>
                <a:tab pos="71755" algn="l"/>
              </a:tabLst>
            </a:pP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固定的な周波数処理</a:t>
            </a:r>
            <a:endParaRPr sz="900">
              <a:latin typeface="SimSun"/>
              <a:cs typeface="SimSun"/>
            </a:endParaRPr>
          </a:p>
          <a:p>
            <a:pPr lvl="1" marL="175895" indent="-59055">
              <a:lnSpc>
                <a:spcPts val="1050"/>
              </a:lnSpc>
              <a:buFont typeface="Microsoft Sans Serif"/>
              <a:buChar char="•"/>
              <a:tabLst>
                <a:tab pos="175895" algn="l"/>
              </a:tabLst>
            </a:pPr>
            <a:r>
              <a:rPr dirty="0" sz="900" spc="-85">
                <a:solidFill>
                  <a:srgbClr val="444444"/>
                </a:solidFill>
                <a:latin typeface="SimSun"/>
                <a:cs typeface="SimSun"/>
              </a:rPr>
              <a:t>均等な重み付け</a:t>
            </a:r>
            <a:endParaRPr sz="900">
              <a:latin typeface="SimSun"/>
              <a:cs typeface="SimSun"/>
            </a:endParaRPr>
          </a:p>
          <a:p>
            <a:pPr lvl="1" marL="175895" indent="-59055">
              <a:lnSpc>
                <a:spcPts val="1065"/>
              </a:lnSpc>
              <a:buFont typeface="Microsoft Sans Serif"/>
              <a:buChar char="•"/>
              <a:tabLst>
                <a:tab pos="175895" algn="l"/>
              </a:tabLst>
            </a:pPr>
            <a:r>
              <a:rPr dirty="0" sz="900" spc="-85">
                <a:solidFill>
                  <a:srgbClr val="444444"/>
                </a:solidFill>
                <a:latin typeface="SimSun"/>
                <a:cs typeface="SimSun"/>
              </a:rPr>
              <a:t>静的な特徴抽出</a:t>
            </a:r>
            <a:endParaRPr sz="900">
              <a:latin typeface="SimSun"/>
              <a:cs typeface="SimSu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768849" y="7763509"/>
            <a:ext cx="2159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50" b="1">
                <a:solidFill>
                  <a:srgbClr val="666666"/>
                </a:solidFill>
                <a:latin typeface="Arial"/>
                <a:cs typeface="Arial"/>
              </a:rPr>
              <a:t>→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5114924" y="7439024"/>
            <a:ext cx="4048125" cy="952500"/>
            <a:chOff x="5114924" y="7439024"/>
            <a:chExt cx="4048125" cy="952500"/>
          </a:xfrm>
        </p:grpSpPr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3974" y="7458074"/>
              <a:ext cx="4010024" cy="914399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5124449" y="7448549"/>
              <a:ext cx="4029075" cy="933450"/>
            </a:xfrm>
            <a:custGeom>
              <a:avLst/>
              <a:gdLst/>
              <a:ahLst/>
              <a:cxnLst/>
              <a:rect l="l" t="t" r="r" b="b"/>
              <a:pathLst>
                <a:path w="4029075" h="933450">
                  <a:moveTo>
                    <a:pt x="0" y="8667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1"/>
                  </a:lnTo>
                  <a:lnTo>
                    <a:pt x="11235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41158" y="5074"/>
                  </a:lnTo>
                  <a:lnTo>
                    <a:pt x="45203" y="3399"/>
                  </a:lnTo>
                  <a:lnTo>
                    <a:pt x="49372" y="2134"/>
                  </a:lnTo>
                  <a:lnTo>
                    <a:pt x="53667" y="1280"/>
                  </a:lnTo>
                  <a:lnTo>
                    <a:pt x="57960" y="426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3962399" y="0"/>
                  </a:lnTo>
                  <a:lnTo>
                    <a:pt x="3966776" y="0"/>
                  </a:lnTo>
                  <a:lnTo>
                    <a:pt x="3971112" y="426"/>
                  </a:lnTo>
                  <a:lnTo>
                    <a:pt x="3975406" y="1280"/>
                  </a:lnTo>
                  <a:lnTo>
                    <a:pt x="3979699" y="2134"/>
                  </a:lnTo>
                  <a:lnTo>
                    <a:pt x="3983869" y="3399"/>
                  </a:lnTo>
                  <a:lnTo>
                    <a:pt x="3987913" y="5075"/>
                  </a:lnTo>
                  <a:lnTo>
                    <a:pt x="3991958" y="6750"/>
                  </a:lnTo>
                  <a:lnTo>
                    <a:pt x="3995801" y="8803"/>
                  </a:lnTo>
                  <a:lnTo>
                    <a:pt x="3999440" y="11236"/>
                  </a:lnTo>
                  <a:lnTo>
                    <a:pt x="4003080" y="13668"/>
                  </a:lnTo>
                  <a:lnTo>
                    <a:pt x="4006449" y="16432"/>
                  </a:lnTo>
                  <a:lnTo>
                    <a:pt x="4009545" y="19528"/>
                  </a:lnTo>
                  <a:lnTo>
                    <a:pt x="4012640" y="22623"/>
                  </a:lnTo>
                  <a:lnTo>
                    <a:pt x="4015404" y="25991"/>
                  </a:lnTo>
                  <a:lnTo>
                    <a:pt x="4017836" y="29631"/>
                  </a:lnTo>
                  <a:lnTo>
                    <a:pt x="4020268" y="33271"/>
                  </a:lnTo>
                  <a:lnTo>
                    <a:pt x="4029074" y="66674"/>
                  </a:lnTo>
                  <a:lnTo>
                    <a:pt x="4029074" y="866774"/>
                  </a:lnTo>
                  <a:lnTo>
                    <a:pt x="4017836" y="903816"/>
                  </a:lnTo>
                  <a:lnTo>
                    <a:pt x="3987913" y="928373"/>
                  </a:lnTo>
                  <a:lnTo>
                    <a:pt x="3962399" y="933449"/>
                  </a:lnTo>
                  <a:lnTo>
                    <a:pt x="66674" y="933449"/>
                  </a:lnTo>
                  <a:lnTo>
                    <a:pt x="62296" y="933449"/>
                  </a:lnTo>
                  <a:lnTo>
                    <a:pt x="57960" y="933022"/>
                  </a:lnTo>
                  <a:lnTo>
                    <a:pt x="53667" y="932168"/>
                  </a:lnTo>
                  <a:lnTo>
                    <a:pt x="49372" y="931314"/>
                  </a:lnTo>
                  <a:lnTo>
                    <a:pt x="16432" y="910824"/>
                  </a:lnTo>
                  <a:lnTo>
                    <a:pt x="426" y="875488"/>
                  </a:lnTo>
                  <a:lnTo>
                    <a:pt x="0" y="871152"/>
                  </a:lnTo>
                  <a:lnTo>
                    <a:pt x="0" y="866774"/>
                  </a:lnTo>
                  <a:close/>
                </a:path>
              </a:pathLst>
            </a:custGeom>
            <a:ln w="19049">
              <a:solidFill>
                <a:srgbClr val="4BAF4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34174" y="7610474"/>
              <a:ext cx="133350" cy="133350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6886583" y="7563136"/>
            <a:ext cx="668655" cy="2044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-114" b="1">
                <a:solidFill>
                  <a:srgbClr val="2E7D32"/>
                </a:solidFill>
                <a:latin typeface="Tahoma"/>
                <a:cs typeface="Tahoma"/>
              </a:rPr>
              <a:t>ASD-</a:t>
            </a:r>
            <a:r>
              <a:rPr dirty="0" sz="1150" spc="-90" b="1">
                <a:solidFill>
                  <a:srgbClr val="2E7D32"/>
                </a:solidFill>
                <a:latin typeface="Tahoma"/>
                <a:cs typeface="Tahoma"/>
              </a:rPr>
              <a:t>AFPA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625183" y="7831804"/>
            <a:ext cx="1028065" cy="4343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71755" indent="-59055">
              <a:lnSpc>
                <a:spcPts val="1065"/>
              </a:lnSpc>
              <a:spcBef>
                <a:spcPts val="130"/>
              </a:spcBef>
              <a:buFont typeface="Microsoft Sans Serif"/>
              <a:buChar char="•"/>
              <a:tabLst>
                <a:tab pos="71755" algn="l"/>
              </a:tabLst>
            </a:pPr>
            <a:r>
              <a:rPr dirty="0" sz="900" spc="-90" b="1">
                <a:solidFill>
                  <a:srgbClr val="444444"/>
                </a:solidFill>
                <a:latin typeface="Malgun Gothic"/>
                <a:cs typeface="Malgun Gothic"/>
              </a:rPr>
              <a:t>適</a:t>
            </a:r>
            <a:r>
              <a:rPr dirty="0" sz="900" spc="-90" b="1">
                <a:solidFill>
                  <a:srgbClr val="444444"/>
                </a:solidFill>
                <a:latin typeface="Microsoft JhengHei"/>
                <a:cs typeface="Microsoft JhengHei"/>
              </a:rPr>
              <a:t>応的</a:t>
            </a:r>
            <a:r>
              <a:rPr dirty="0" sz="900" spc="-85">
                <a:solidFill>
                  <a:srgbClr val="444444"/>
                </a:solidFill>
                <a:latin typeface="SimSun"/>
                <a:cs typeface="SimSun"/>
              </a:rPr>
              <a:t>な周波数処理</a:t>
            </a:r>
            <a:endParaRPr sz="900">
              <a:latin typeface="SimSun"/>
              <a:cs typeface="SimSun"/>
            </a:endParaRPr>
          </a:p>
          <a:p>
            <a:pPr marL="71755" indent="-59055">
              <a:lnSpc>
                <a:spcPts val="1050"/>
              </a:lnSpc>
              <a:buFont typeface="Microsoft Sans Serif"/>
              <a:buChar char="•"/>
              <a:tabLst>
                <a:tab pos="71755" algn="l"/>
              </a:tabLst>
            </a:pPr>
            <a:r>
              <a:rPr dirty="0" sz="900" spc="-90" b="1">
                <a:solidFill>
                  <a:srgbClr val="444444"/>
                </a:solidFill>
                <a:latin typeface="Microsoft JhengHei"/>
                <a:cs typeface="Microsoft JhengHei"/>
              </a:rPr>
              <a:t>学</a:t>
            </a:r>
            <a:r>
              <a:rPr dirty="0" sz="900" spc="-90" b="1">
                <a:solidFill>
                  <a:srgbClr val="444444"/>
                </a:solidFill>
                <a:latin typeface="Malgun Gothic"/>
                <a:cs typeface="Malgun Gothic"/>
              </a:rPr>
              <a:t>習された</a:t>
            </a:r>
            <a:r>
              <a:rPr dirty="0" sz="900" spc="-80">
                <a:solidFill>
                  <a:srgbClr val="444444"/>
                </a:solidFill>
                <a:latin typeface="SimSun"/>
                <a:cs typeface="SimSun"/>
              </a:rPr>
              <a:t>重み付け</a:t>
            </a:r>
            <a:endParaRPr sz="900">
              <a:latin typeface="SimSun"/>
              <a:cs typeface="SimSun"/>
            </a:endParaRPr>
          </a:p>
          <a:p>
            <a:pPr lvl="1" marL="175895" indent="-59055">
              <a:lnSpc>
                <a:spcPts val="1065"/>
              </a:lnSpc>
              <a:buFont typeface="Microsoft Sans Serif"/>
              <a:buChar char="•"/>
              <a:tabLst>
                <a:tab pos="175895" algn="l"/>
              </a:tabLst>
            </a:pPr>
            <a:r>
              <a:rPr dirty="0" sz="900" spc="-90" b="1">
                <a:solidFill>
                  <a:srgbClr val="444444"/>
                </a:solidFill>
                <a:latin typeface="Malgun Gothic"/>
                <a:cs typeface="Malgun Gothic"/>
              </a:rPr>
              <a:t>動</a:t>
            </a:r>
            <a:r>
              <a:rPr dirty="0" sz="900" spc="-90" b="1">
                <a:solidFill>
                  <a:srgbClr val="444444"/>
                </a:solidFill>
                <a:latin typeface="Microsoft JhengHei"/>
                <a:cs typeface="Microsoft JhengHei"/>
              </a:rPr>
              <a:t>的</a:t>
            </a:r>
            <a:r>
              <a:rPr dirty="0" sz="900" spc="-90" b="1">
                <a:solidFill>
                  <a:srgbClr val="444444"/>
                </a:solidFill>
                <a:latin typeface="Malgun Gothic"/>
                <a:cs typeface="Malgun Gothic"/>
              </a:rPr>
              <a:t>な</a:t>
            </a:r>
            <a:r>
              <a:rPr dirty="0" sz="900" spc="-80">
                <a:solidFill>
                  <a:srgbClr val="444444"/>
                </a:solidFill>
                <a:latin typeface="SimSun"/>
                <a:cs typeface="SimSun"/>
              </a:rPr>
              <a:t>特徴強調</a:t>
            </a:r>
            <a:endParaRPr sz="900">
              <a:latin typeface="SimSun"/>
              <a:cs typeface="SimSun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16573" y="8886824"/>
            <a:ext cx="158472" cy="152995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4201435" y="8835262"/>
            <a:ext cx="155702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55" b="1">
                <a:solidFill>
                  <a:srgbClr val="FFFFFF"/>
                </a:solidFill>
                <a:latin typeface="Tahoma"/>
                <a:cs typeface="Tahoma"/>
              </a:rPr>
              <a:t>ASD-AFPA</a:t>
            </a:r>
            <a:r>
              <a:rPr dirty="0" sz="1350" spc="-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-170" b="1">
                <a:solidFill>
                  <a:srgbClr val="FFFFFF"/>
                </a:solidFill>
                <a:latin typeface="Malgun Gothic"/>
                <a:cs typeface="Malgun Gothic"/>
              </a:rPr>
              <a:t>の核心</a:t>
            </a:r>
            <a:r>
              <a:rPr dirty="0" sz="1350" spc="-170" b="1">
                <a:solidFill>
                  <a:srgbClr val="FFFFFF"/>
                </a:solidFill>
                <a:latin typeface="Microsoft JhengHei"/>
                <a:cs typeface="Microsoft JhengHei"/>
              </a:rPr>
              <a:t>価</a:t>
            </a:r>
            <a:r>
              <a:rPr dirty="0" sz="1350" spc="-50" b="1">
                <a:solidFill>
                  <a:srgbClr val="FFFFFF"/>
                </a:solidFill>
                <a:latin typeface="Malgun Gothic"/>
                <a:cs typeface="Malgun Gothic"/>
              </a:rPr>
              <a:t>値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428624" y="2343149"/>
            <a:ext cx="1905000" cy="1333500"/>
            <a:chOff x="428624" y="2343149"/>
            <a:chExt cx="1905000" cy="1333500"/>
          </a:xfrm>
        </p:grpSpPr>
        <p:pic>
          <p:nvPicPr>
            <p:cNvPr id="26" name="object 2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7674" y="2362199"/>
              <a:ext cx="1866899" cy="1295399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438149" y="2352674"/>
              <a:ext cx="1885950" cy="1314450"/>
            </a:xfrm>
            <a:custGeom>
              <a:avLst/>
              <a:gdLst/>
              <a:ahLst/>
              <a:cxnLst/>
              <a:rect l="l" t="t" r="r" b="b"/>
              <a:pathLst>
                <a:path w="1885950" h="1314450">
                  <a:moveTo>
                    <a:pt x="0" y="1209674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2013" y="84334"/>
                  </a:lnTo>
                  <a:lnTo>
                    <a:pt x="3355" y="77586"/>
                  </a:lnTo>
                  <a:lnTo>
                    <a:pt x="5342" y="71034"/>
                  </a:lnTo>
                  <a:lnTo>
                    <a:pt x="7975" y="64679"/>
                  </a:lnTo>
                  <a:lnTo>
                    <a:pt x="10608" y="58322"/>
                  </a:lnTo>
                  <a:lnTo>
                    <a:pt x="13835" y="52285"/>
                  </a:lnTo>
                  <a:lnTo>
                    <a:pt x="17657" y="46564"/>
                  </a:lnTo>
                  <a:lnTo>
                    <a:pt x="21479" y="40844"/>
                  </a:lnTo>
                  <a:lnTo>
                    <a:pt x="25823" y="35552"/>
                  </a:lnTo>
                  <a:lnTo>
                    <a:pt x="30687" y="30687"/>
                  </a:lnTo>
                  <a:lnTo>
                    <a:pt x="35552" y="25822"/>
                  </a:lnTo>
                  <a:lnTo>
                    <a:pt x="40844" y="21479"/>
                  </a:lnTo>
                  <a:lnTo>
                    <a:pt x="46565" y="17657"/>
                  </a:lnTo>
                  <a:lnTo>
                    <a:pt x="52285" y="13835"/>
                  </a:lnTo>
                  <a:lnTo>
                    <a:pt x="58323" y="10607"/>
                  </a:lnTo>
                  <a:lnTo>
                    <a:pt x="64679" y="7975"/>
                  </a:lnTo>
                  <a:lnTo>
                    <a:pt x="71035" y="5342"/>
                  </a:lnTo>
                  <a:lnTo>
                    <a:pt x="77586" y="3355"/>
                  </a:lnTo>
                  <a:lnTo>
                    <a:pt x="84334" y="2013"/>
                  </a:lnTo>
                  <a:lnTo>
                    <a:pt x="91081" y="671"/>
                  </a:lnTo>
                  <a:lnTo>
                    <a:pt x="97895" y="0"/>
                  </a:lnTo>
                  <a:lnTo>
                    <a:pt x="104775" y="0"/>
                  </a:lnTo>
                  <a:lnTo>
                    <a:pt x="1781174" y="0"/>
                  </a:lnTo>
                  <a:lnTo>
                    <a:pt x="1788054" y="0"/>
                  </a:lnTo>
                  <a:lnTo>
                    <a:pt x="1794867" y="671"/>
                  </a:lnTo>
                  <a:lnTo>
                    <a:pt x="1801615" y="2013"/>
                  </a:lnTo>
                  <a:lnTo>
                    <a:pt x="1808362" y="3355"/>
                  </a:lnTo>
                  <a:lnTo>
                    <a:pt x="1814914" y="5342"/>
                  </a:lnTo>
                  <a:lnTo>
                    <a:pt x="1821270" y="7975"/>
                  </a:lnTo>
                  <a:lnTo>
                    <a:pt x="1827626" y="10607"/>
                  </a:lnTo>
                  <a:lnTo>
                    <a:pt x="1833664" y="13835"/>
                  </a:lnTo>
                  <a:lnTo>
                    <a:pt x="1839384" y="17657"/>
                  </a:lnTo>
                  <a:lnTo>
                    <a:pt x="1845104" y="21479"/>
                  </a:lnTo>
                  <a:lnTo>
                    <a:pt x="1872113" y="52285"/>
                  </a:lnTo>
                  <a:lnTo>
                    <a:pt x="1877974" y="64679"/>
                  </a:lnTo>
                  <a:lnTo>
                    <a:pt x="1880606" y="71034"/>
                  </a:lnTo>
                  <a:lnTo>
                    <a:pt x="1885949" y="104774"/>
                  </a:lnTo>
                  <a:lnTo>
                    <a:pt x="1885949" y="1209674"/>
                  </a:lnTo>
                  <a:lnTo>
                    <a:pt x="1877974" y="1249770"/>
                  </a:lnTo>
                  <a:lnTo>
                    <a:pt x="1875341" y="1256125"/>
                  </a:lnTo>
                  <a:lnTo>
                    <a:pt x="1850397" y="1288626"/>
                  </a:lnTo>
                  <a:lnTo>
                    <a:pt x="1821270" y="1306473"/>
                  </a:lnTo>
                  <a:lnTo>
                    <a:pt x="1814914" y="1309106"/>
                  </a:lnTo>
                  <a:lnTo>
                    <a:pt x="1781174" y="1314449"/>
                  </a:lnTo>
                  <a:lnTo>
                    <a:pt x="104775" y="1314449"/>
                  </a:lnTo>
                  <a:lnTo>
                    <a:pt x="64679" y="1306473"/>
                  </a:lnTo>
                  <a:lnTo>
                    <a:pt x="58323" y="1303840"/>
                  </a:lnTo>
                  <a:lnTo>
                    <a:pt x="25823" y="1278896"/>
                  </a:lnTo>
                  <a:lnTo>
                    <a:pt x="7975" y="1249770"/>
                  </a:lnTo>
                  <a:lnTo>
                    <a:pt x="5342" y="1243414"/>
                  </a:lnTo>
                  <a:lnTo>
                    <a:pt x="3355" y="1236862"/>
                  </a:lnTo>
                  <a:lnTo>
                    <a:pt x="2013" y="1230115"/>
                  </a:lnTo>
                  <a:lnTo>
                    <a:pt x="671" y="1223367"/>
                  </a:lnTo>
                  <a:lnTo>
                    <a:pt x="0" y="1216554"/>
                  </a:lnTo>
                  <a:lnTo>
                    <a:pt x="0" y="1209674"/>
                  </a:lnTo>
                  <a:close/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57287" y="2600324"/>
              <a:ext cx="104774" cy="152399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1290356" y="2548763"/>
            <a:ext cx="3302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35" b="1">
                <a:solidFill>
                  <a:srgbClr val="3A6EA5"/>
                </a:solidFill>
                <a:latin typeface="Malgun Gothic"/>
                <a:cs typeface="Malgun Gothic"/>
              </a:rPr>
              <a:t>入力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916880" y="2858516"/>
            <a:ext cx="928369" cy="6286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1175"/>
              </a:lnSpc>
              <a:spcBef>
                <a:spcPts val="114"/>
              </a:spcBef>
            </a:pPr>
            <a:r>
              <a:rPr dirty="0" sz="1000" spc="-95">
                <a:solidFill>
                  <a:srgbClr val="444444"/>
                </a:solidFill>
                <a:latin typeface="SimSun"/>
                <a:cs typeface="SimSun"/>
              </a:rPr>
              <a:t>機械音響信号</a:t>
            </a:r>
            <a:endParaRPr sz="1000">
              <a:latin typeface="SimSun"/>
              <a:cs typeface="SimSun"/>
            </a:endParaRPr>
          </a:p>
          <a:p>
            <a:pPr marL="252729" marR="245110" indent="153670">
              <a:lnSpc>
                <a:spcPts val="1130"/>
              </a:lnSpc>
              <a:spcBef>
                <a:spcPts val="120"/>
              </a:spcBef>
            </a:pPr>
            <a:r>
              <a:rPr dirty="0" sz="1050" spc="320">
                <a:solidFill>
                  <a:srgbClr val="444444"/>
                </a:solidFill>
                <a:latin typeface="Microsoft Sans Serif"/>
                <a:cs typeface="Microsoft Sans Serif"/>
              </a:rPr>
              <a:t>↓ </a:t>
            </a:r>
            <a:r>
              <a:rPr dirty="0" sz="1050" spc="-75">
                <a:solidFill>
                  <a:srgbClr val="444444"/>
                </a:solidFill>
                <a:latin typeface="Microsoft Sans Serif"/>
                <a:cs typeface="Microsoft Sans Serif"/>
              </a:rPr>
              <a:t>Log-</a:t>
            </a:r>
            <a:r>
              <a:rPr dirty="0" sz="1050" spc="-90">
                <a:solidFill>
                  <a:srgbClr val="444444"/>
                </a:solidFill>
                <a:latin typeface="Microsoft Sans Serif"/>
                <a:cs typeface="Microsoft Sans Serif"/>
              </a:rPr>
              <a:t>Mel</a:t>
            </a:r>
            <a:endParaRPr sz="1050">
              <a:latin typeface="Microsoft Sans Serif"/>
              <a:cs typeface="Microsoft Sans Serif"/>
            </a:endParaRPr>
          </a:p>
          <a:p>
            <a:pPr algn="ctr">
              <a:lnSpc>
                <a:spcPts val="1170"/>
              </a:lnSpc>
            </a:pPr>
            <a:r>
              <a:rPr dirty="0" sz="1000" spc="-120">
                <a:solidFill>
                  <a:srgbClr val="444444"/>
                </a:solidFill>
                <a:latin typeface="SimSun"/>
                <a:cs typeface="SimSun"/>
              </a:rPr>
              <a:t>スペクトログラム</a:t>
            </a:r>
            <a:endParaRPr sz="1000">
              <a:latin typeface="SimSun"/>
              <a:cs typeface="SimSun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2524124" y="1047749"/>
            <a:ext cx="4705350" cy="3933825"/>
            <a:chOff x="2524124" y="1047749"/>
            <a:chExt cx="4705350" cy="3933825"/>
          </a:xfrm>
        </p:grpSpPr>
        <p:pic>
          <p:nvPicPr>
            <p:cNvPr id="32" name="object 3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52699" y="1076325"/>
              <a:ext cx="4648199" cy="3876674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2538412" y="1062037"/>
              <a:ext cx="4676775" cy="3905250"/>
            </a:xfrm>
            <a:custGeom>
              <a:avLst/>
              <a:gdLst/>
              <a:ahLst/>
              <a:cxnLst/>
              <a:rect l="l" t="t" r="r" b="b"/>
              <a:pathLst>
                <a:path w="4676775" h="3905250">
                  <a:moveTo>
                    <a:pt x="0" y="3776662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13018" y="71578"/>
                  </a:lnTo>
                  <a:lnTo>
                    <a:pt x="21670" y="57147"/>
                  </a:lnTo>
                  <a:lnTo>
                    <a:pt x="26361" y="50127"/>
                  </a:lnTo>
                  <a:lnTo>
                    <a:pt x="31691" y="43632"/>
                  </a:lnTo>
                  <a:lnTo>
                    <a:pt x="37662" y="37662"/>
                  </a:lnTo>
                  <a:lnTo>
                    <a:pt x="43632" y="31692"/>
                  </a:lnTo>
                  <a:lnTo>
                    <a:pt x="79378" y="9788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4548187" y="0"/>
                  </a:lnTo>
                  <a:lnTo>
                    <a:pt x="4556630" y="0"/>
                  </a:lnTo>
                  <a:lnTo>
                    <a:pt x="4564991" y="823"/>
                  </a:lnTo>
                  <a:lnTo>
                    <a:pt x="4605194" y="13019"/>
                  </a:lnTo>
                  <a:lnTo>
                    <a:pt x="4639111" y="37662"/>
                  </a:lnTo>
                  <a:lnTo>
                    <a:pt x="4655102" y="57148"/>
                  </a:lnTo>
                  <a:lnTo>
                    <a:pt x="4659793" y="64168"/>
                  </a:lnTo>
                  <a:lnTo>
                    <a:pt x="4663753" y="71578"/>
                  </a:lnTo>
                  <a:lnTo>
                    <a:pt x="4666985" y="79379"/>
                  </a:lnTo>
                  <a:lnTo>
                    <a:pt x="4670216" y="87179"/>
                  </a:lnTo>
                  <a:lnTo>
                    <a:pt x="4672655" y="95220"/>
                  </a:lnTo>
                  <a:lnTo>
                    <a:pt x="4674303" y="103501"/>
                  </a:lnTo>
                  <a:lnTo>
                    <a:pt x="4675950" y="111782"/>
                  </a:lnTo>
                  <a:lnTo>
                    <a:pt x="4676774" y="120144"/>
                  </a:lnTo>
                  <a:lnTo>
                    <a:pt x="4676774" y="128587"/>
                  </a:lnTo>
                  <a:lnTo>
                    <a:pt x="4676774" y="3776662"/>
                  </a:lnTo>
                  <a:lnTo>
                    <a:pt x="4676774" y="3785105"/>
                  </a:lnTo>
                  <a:lnTo>
                    <a:pt x="4675950" y="3793467"/>
                  </a:lnTo>
                  <a:lnTo>
                    <a:pt x="4674303" y="3801747"/>
                  </a:lnTo>
                  <a:lnTo>
                    <a:pt x="4672655" y="3810029"/>
                  </a:lnTo>
                  <a:lnTo>
                    <a:pt x="4655102" y="3848101"/>
                  </a:lnTo>
                  <a:lnTo>
                    <a:pt x="4650411" y="3855121"/>
                  </a:lnTo>
                  <a:lnTo>
                    <a:pt x="4619624" y="3883578"/>
                  </a:lnTo>
                  <a:lnTo>
                    <a:pt x="4612604" y="3888269"/>
                  </a:lnTo>
                  <a:lnTo>
                    <a:pt x="4573272" y="3902778"/>
                  </a:lnTo>
                  <a:lnTo>
                    <a:pt x="4556630" y="3905249"/>
                  </a:lnTo>
                  <a:lnTo>
                    <a:pt x="4548187" y="3905249"/>
                  </a:lnTo>
                  <a:lnTo>
                    <a:pt x="128587" y="3905249"/>
                  </a:lnTo>
                  <a:lnTo>
                    <a:pt x="120144" y="3905249"/>
                  </a:lnTo>
                  <a:lnTo>
                    <a:pt x="111781" y="3904425"/>
                  </a:lnTo>
                  <a:lnTo>
                    <a:pt x="103500" y="3902778"/>
                  </a:lnTo>
                  <a:lnTo>
                    <a:pt x="95219" y="3901131"/>
                  </a:lnTo>
                  <a:lnTo>
                    <a:pt x="87179" y="3898692"/>
                  </a:lnTo>
                  <a:lnTo>
                    <a:pt x="79378" y="3895461"/>
                  </a:lnTo>
                  <a:lnTo>
                    <a:pt x="71578" y="3892230"/>
                  </a:lnTo>
                  <a:lnTo>
                    <a:pt x="64168" y="3888269"/>
                  </a:lnTo>
                  <a:lnTo>
                    <a:pt x="57147" y="3883578"/>
                  </a:lnTo>
                  <a:lnTo>
                    <a:pt x="50127" y="3878887"/>
                  </a:lnTo>
                  <a:lnTo>
                    <a:pt x="21670" y="3848101"/>
                  </a:lnTo>
                  <a:lnTo>
                    <a:pt x="4117" y="3810029"/>
                  </a:lnTo>
                  <a:lnTo>
                    <a:pt x="0" y="3785105"/>
                  </a:lnTo>
                  <a:lnTo>
                    <a:pt x="0" y="3776662"/>
                  </a:lnTo>
                  <a:close/>
                </a:path>
              </a:pathLst>
            </a:custGeom>
            <a:ln w="28574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743199" y="3390899"/>
              <a:ext cx="4267200" cy="666750"/>
            </a:xfrm>
            <a:custGeom>
              <a:avLst/>
              <a:gdLst/>
              <a:ahLst/>
              <a:cxnLst/>
              <a:rect l="l" t="t" r="r" b="b"/>
              <a:pathLst>
                <a:path w="4267200" h="666750">
                  <a:moveTo>
                    <a:pt x="4171949" y="666749"/>
                  </a:moveTo>
                  <a:lnTo>
                    <a:pt x="95249" y="666749"/>
                  </a:lnTo>
                  <a:lnTo>
                    <a:pt x="85866" y="666296"/>
                  </a:lnTo>
                  <a:lnTo>
                    <a:pt x="42321" y="650712"/>
                  </a:lnTo>
                  <a:lnTo>
                    <a:pt x="11259" y="616445"/>
                  </a:lnTo>
                  <a:lnTo>
                    <a:pt x="0" y="57149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171949" y="0"/>
                  </a:lnTo>
                  <a:lnTo>
                    <a:pt x="4216894" y="11259"/>
                  </a:lnTo>
                  <a:lnTo>
                    <a:pt x="4251161" y="42321"/>
                  </a:lnTo>
                  <a:lnTo>
                    <a:pt x="4266746" y="85866"/>
                  </a:lnTo>
                  <a:lnTo>
                    <a:pt x="4267199" y="95249"/>
                  </a:lnTo>
                  <a:lnTo>
                    <a:pt x="4267199" y="571499"/>
                  </a:lnTo>
                  <a:lnTo>
                    <a:pt x="4255939" y="616445"/>
                  </a:lnTo>
                  <a:lnTo>
                    <a:pt x="4224876" y="650712"/>
                  </a:lnTo>
                  <a:lnTo>
                    <a:pt x="4181332" y="666296"/>
                  </a:lnTo>
                  <a:lnTo>
                    <a:pt x="4171949" y="66674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743187" y="3390911"/>
              <a:ext cx="4267200" cy="666750"/>
            </a:xfrm>
            <a:custGeom>
              <a:avLst/>
              <a:gdLst/>
              <a:ahLst/>
              <a:cxnLst/>
              <a:rect l="l" t="t" r="r" b="b"/>
              <a:pathLst>
                <a:path w="4267200" h="666750">
                  <a:moveTo>
                    <a:pt x="19050" y="478688"/>
                  </a:moveTo>
                  <a:lnTo>
                    <a:pt x="0" y="478688"/>
                  </a:lnTo>
                  <a:lnTo>
                    <a:pt x="0" y="535838"/>
                  </a:lnTo>
                  <a:lnTo>
                    <a:pt x="19050" y="535838"/>
                  </a:lnTo>
                  <a:lnTo>
                    <a:pt x="19050" y="478688"/>
                  </a:lnTo>
                  <a:close/>
                </a:path>
                <a:path w="4267200" h="666750">
                  <a:moveTo>
                    <a:pt x="19050" y="383247"/>
                  </a:moveTo>
                  <a:lnTo>
                    <a:pt x="0" y="383247"/>
                  </a:lnTo>
                  <a:lnTo>
                    <a:pt x="0" y="440397"/>
                  </a:lnTo>
                  <a:lnTo>
                    <a:pt x="19050" y="440397"/>
                  </a:lnTo>
                  <a:lnTo>
                    <a:pt x="19050" y="383247"/>
                  </a:lnTo>
                  <a:close/>
                </a:path>
                <a:path w="4267200" h="666750">
                  <a:moveTo>
                    <a:pt x="19050" y="287820"/>
                  </a:moveTo>
                  <a:lnTo>
                    <a:pt x="0" y="287820"/>
                  </a:lnTo>
                  <a:lnTo>
                    <a:pt x="0" y="344970"/>
                  </a:lnTo>
                  <a:lnTo>
                    <a:pt x="19050" y="344970"/>
                  </a:lnTo>
                  <a:lnTo>
                    <a:pt x="19050" y="287820"/>
                  </a:lnTo>
                  <a:close/>
                </a:path>
                <a:path w="4267200" h="666750">
                  <a:moveTo>
                    <a:pt x="19050" y="192379"/>
                  </a:moveTo>
                  <a:lnTo>
                    <a:pt x="0" y="192379"/>
                  </a:lnTo>
                  <a:lnTo>
                    <a:pt x="0" y="249529"/>
                  </a:lnTo>
                  <a:lnTo>
                    <a:pt x="19050" y="249529"/>
                  </a:lnTo>
                  <a:lnTo>
                    <a:pt x="19050" y="192379"/>
                  </a:lnTo>
                  <a:close/>
                </a:path>
                <a:path w="4267200" h="666750">
                  <a:moveTo>
                    <a:pt x="19050" y="96939"/>
                  </a:moveTo>
                  <a:lnTo>
                    <a:pt x="0" y="96939"/>
                  </a:lnTo>
                  <a:lnTo>
                    <a:pt x="0" y="154089"/>
                  </a:lnTo>
                  <a:lnTo>
                    <a:pt x="19050" y="154089"/>
                  </a:lnTo>
                  <a:lnTo>
                    <a:pt x="19050" y="96939"/>
                  </a:lnTo>
                  <a:close/>
                </a:path>
                <a:path w="4267200" h="666750">
                  <a:moveTo>
                    <a:pt x="37045" y="620598"/>
                  </a:moveTo>
                  <a:lnTo>
                    <a:pt x="19418" y="579005"/>
                  </a:lnTo>
                  <a:lnTo>
                    <a:pt x="19164" y="573709"/>
                  </a:lnTo>
                  <a:lnTo>
                    <a:pt x="139" y="574268"/>
                  </a:lnTo>
                  <a:lnTo>
                    <a:pt x="11264" y="616445"/>
                  </a:lnTo>
                  <a:lnTo>
                    <a:pt x="22491" y="632879"/>
                  </a:lnTo>
                  <a:lnTo>
                    <a:pt x="37045" y="620598"/>
                  </a:lnTo>
                  <a:close/>
                </a:path>
                <a:path w="4267200" h="666750">
                  <a:moveTo>
                    <a:pt x="60896" y="27305"/>
                  </a:moveTo>
                  <a:lnTo>
                    <a:pt x="52298" y="10312"/>
                  </a:lnTo>
                  <a:lnTo>
                    <a:pt x="50304" y="11252"/>
                  </a:lnTo>
                  <a:lnTo>
                    <a:pt x="42329" y="16027"/>
                  </a:lnTo>
                  <a:lnTo>
                    <a:pt x="11264" y="50292"/>
                  </a:lnTo>
                  <a:lnTo>
                    <a:pt x="8699" y="55727"/>
                  </a:lnTo>
                  <a:lnTo>
                    <a:pt x="26009" y="63627"/>
                  </a:lnTo>
                  <a:lnTo>
                    <a:pt x="28067" y="59283"/>
                  </a:lnTo>
                  <a:lnTo>
                    <a:pt x="31889" y="52895"/>
                  </a:lnTo>
                  <a:lnTo>
                    <a:pt x="59296" y="28054"/>
                  </a:lnTo>
                  <a:lnTo>
                    <a:pt x="60896" y="27305"/>
                  </a:lnTo>
                  <a:close/>
                </a:path>
                <a:path w="4267200" h="666750">
                  <a:moveTo>
                    <a:pt x="116687" y="647700"/>
                  </a:moveTo>
                  <a:lnTo>
                    <a:pt x="95250" y="647700"/>
                  </a:lnTo>
                  <a:lnTo>
                    <a:pt x="87744" y="647331"/>
                  </a:lnTo>
                  <a:lnTo>
                    <a:pt x="80391" y="646239"/>
                  </a:lnTo>
                  <a:lnTo>
                    <a:pt x="73164" y="644436"/>
                  </a:lnTo>
                  <a:lnTo>
                    <a:pt x="66090" y="641896"/>
                  </a:lnTo>
                  <a:lnTo>
                    <a:pt x="64338" y="641070"/>
                  </a:lnTo>
                  <a:lnTo>
                    <a:pt x="56616" y="658456"/>
                  </a:lnTo>
                  <a:lnTo>
                    <a:pt x="95250" y="666750"/>
                  </a:lnTo>
                  <a:lnTo>
                    <a:pt x="116687" y="666750"/>
                  </a:lnTo>
                  <a:lnTo>
                    <a:pt x="116687" y="647700"/>
                  </a:lnTo>
                  <a:close/>
                </a:path>
                <a:path w="4267200" h="666750">
                  <a:moveTo>
                    <a:pt x="152400" y="0"/>
                  </a:moveTo>
                  <a:lnTo>
                    <a:pt x="93408" y="0"/>
                  </a:lnTo>
                  <a:lnTo>
                    <a:pt x="93776" y="19050"/>
                  </a:lnTo>
                  <a:lnTo>
                    <a:pt x="152400" y="19050"/>
                  </a:lnTo>
                  <a:lnTo>
                    <a:pt x="152400" y="0"/>
                  </a:lnTo>
                  <a:close/>
                </a:path>
                <a:path w="4267200" h="666750">
                  <a:moveTo>
                    <a:pt x="212128" y="647700"/>
                  </a:moveTo>
                  <a:lnTo>
                    <a:pt x="154978" y="647700"/>
                  </a:lnTo>
                  <a:lnTo>
                    <a:pt x="154978" y="666750"/>
                  </a:lnTo>
                  <a:lnTo>
                    <a:pt x="212128" y="666750"/>
                  </a:lnTo>
                  <a:lnTo>
                    <a:pt x="212128" y="647700"/>
                  </a:lnTo>
                  <a:close/>
                </a:path>
                <a:path w="4267200" h="666750">
                  <a:moveTo>
                    <a:pt x="247840" y="0"/>
                  </a:moveTo>
                  <a:lnTo>
                    <a:pt x="190690" y="0"/>
                  </a:lnTo>
                  <a:lnTo>
                    <a:pt x="190690" y="19050"/>
                  </a:lnTo>
                  <a:lnTo>
                    <a:pt x="247840" y="19050"/>
                  </a:lnTo>
                  <a:lnTo>
                    <a:pt x="247840" y="0"/>
                  </a:lnTo>
                  <a:close/>
                </a:path>
                <a:path w="4267200" h="666750">
                  <a:moveTo>
                    <a:pt x="307568" y="647700"/>
                  </a:moveTo>
                  <a:lnTo>
                    <a:pt x="250418" y="647700"/>
                  </a:lnTo>
                  <a:lnTo>
                    <a:pt x="250418" y="666750"/>
                  </a:lnTo>
                  <a:lnTo>
                    <a:pt x="307568" y="666750"/>
                  </a:lnTo>
                  <a:lnTo>
                    <a:pt x="307568" y="647700"/>
                  </a:lnTo>
                  <a:close/>
                </a:path>
                <a:path w="4267200" h="666750">
                  <a:moveTo>
                    <a:pt x="343281" y="0"/>
                  </a:moveTo>
                  <a:lnTo>
                    <a:pt x="286131" y="0"/>
                  </a:lnTo>
                  <a:lnTo>
                    <a:pt x="286131" y="19050"/>
                  </a:lnTo>
                  <a:lnTo>
                    <a:pt x="343281" y="19050"/>
                  </a:lnTo>
                  <a:lnTo>
                    <a:pt x="343281" y="0"/>
                  </a:lnTo>
                  <a:close/>
                </a:path>
                <a:path w="4267200" h="666750">
                  <a:moveTo>
                    <a:pt x="403009" y="647700"/>
                  </a:moveTo>
                  <a:lnTo>
                    <a:pt x="345859" y="647700"/>
                  </a:lnTo>
                  <a:lnTo>
                    <a:pt x="345859" y="666750"/>
                  </a:lnTo>
                  <a:lnTo>
                    <a:pt x="403009" y="666750"/>
                  </a:lnTo>
                  <a:lnTo>
                    <a:pt x="403009" y="647700"/>
                  </a:lnTo>
                  <a:close/>
                </a:path>
                <a:path w="4267200" h="666750">
                  <a:moveTo>
                    <a:pt x="438721" y="0"/>
                  </a:moveTo>
                  <a:lnTo>
                    <a:pt x="381571" y="0"/>
                  </a:lnTo>
                  <a:lnTo>
                    <a:pt x="381571" y="19050"/>
                  </a:lnTo>
                  <a:lnTo>
                    <a:pt x="438721" y="19050"/>
                  </a:lnTo>
                  <a:lnTo>
                    <a:pt x="438721" y="0"/>
                  </a:lnTo>
                  <a:close/>
                </a:path>
                <a:path w="4267200" h="666750">
                  <a:moveTo>
                    <a:pt x="498449" y="647700"/>
                  </a:moveTo>
                  <a:lnTo>
                    <a:pt x="441299" y="647700"/>
                  </a:lnTo>
                  <a:lnTo>
                    <a:pt x="441299" y="666750"/>
                  </a:lnTo>
                  <a:lnTo>
                    <a:pt x="498449" y="666750"/>
                  </a:lnTo>
                  <a:lnTo>
                    <a:pt x="498449" y="647700"/>
                  </a:lnTo>
                  <a:close/>
                </a:path>
                <a:path w="4267200" h="666750">
                  <a:moveTo>
                    <a:pt x="534162" y="0"/>
                  </a:moveTo>
                  <a:lnTo>
                    <a:pt x="477012" y="0"/>
                  </a:lnTo>
                  <a:lnTo>
                    <a:pt x="477012" y="19050"/>
                  </a:lnTo>
                  <a:lnTo>
                    <a:pt x="534162" y="19050"/>
                  </a:lnTo>
                  <a:lnTo>
                    <a:pt x="534162" y="0"/>
                  </a:lnTo>
                  <a:close/>
                </a:path>
                <a:path w="4267200" h="666750">
                  <a:moveTo>
                    <a:pt x="593890" y="647700"/>
                  </a:moveTo>
                  <a:lnTo>
                    <a:pt x="536740" y="647700"/>
                  </a:lnTo>
                  <a:lnTo>
                    <a:pt x="536740" y="666750"/>
                  </a:lnTo>
                  <a:lnTo>
                    <a:pt x="593890" y="666750"/>
                  </a:lnTo>
                  <a:lnTo>
                    <a:pt x="593890" y="647700"/>
                  </a:lnTo>
                  <a:close/>
                </a:path>
                <a:path w="4267200" h="666750">
                  <a:moveTo>
                    <a:pt x="629602" y="0"/>
                  </a:moveTo>
                  <a:lnTo>
                    <a:pt x="572452" y="0"/>
                  </a:lnTo>
                  <a:lnTo>
                    <a:pt x="572452" y="19050"/>
                  </a:lnTo>
                  <a:lnTo>
                    <a:pt x="629602" y="19050"/>
                  </a:lnTo>
                  <a:lnTo>
                    <a:pt x="629602" y="0"/>
                  </a:lnTo>
                  <a:close/>
                </a:path>
                <a:path w="4267200" h="666750">
                  <a:moveTo>
                    <a:pt x="689317" y="647700"/>
                  </a:moveTo>
                  <a:lnTo>
                    <a:pt x="632167" y="647700"/>
                  </a:lnTo>
                  <a:lnTo>
                    <a:pt x="632167" y="666750"/>
                  </a:lnTo>
                  <a:lnTo>
                    <a:pt x="689317" y="666750"/>
                  </a:lnTo>
                  <a:lnTo>
                    <a:pt x="689317" y="647700"/>
                  </a:lnTo>
                  <a:close/>
                </a:path>
                <a:path w="4267200" h="666750">
                  <a:moveTo>
                    <a:pt x="725043" y="0"/>
                  </a:moveTo>
                  <a:lnTo>
                    <a:pt x="667893" y="0"/>
                  </a:lnTo>
                  <a:lnTo>
                    <a:pt x="667893" y="19050"/>
                  </a:lnTo>
                  <a:lnTo>
                    <a:pt x="725043" y="19050"/>
                  </a:lnTo>
                  <a:lnTo>
                    <a:pt x="725043" y="0"/>
                  </a:lnTo>
                  <a:close/>
                </a:path>
                <a:path w="4267200" h="666750">
                  <a:moveTo>
                    <a:pt x="784758" y="647700"/>
                  </a:moveTo>
                  <a:lnTo>
                    <a:pt x="727608" y="647700"/>
                  </a:lnTo>
                  <a:lnTo>
                    <a:pt x="727608" y="666750"/>
                  </a:lnTo>
                  <a:lnTo>
                    <a:pt x="784758" y="666750"/>
                  </a:lnTo>
                  <a:lnTo>
                    <a:pt x="784758" y="647700"/>
                  </a:lnTo>
                  <a:close/>
                </a:path>
                <a:path w="4267200" h="666750">
                  <a:moveTo>
                    <a:pt x="820470" y="0"/>
                  </a:moveTo>
                  <a:lnTo>
                    <a:pt x="763320" y="0"/>
                  </a:lnTo>
                  <a:lnTo>
                    <a:pt x="763320" y="19050"/>
                  </a:lnTo>
                  <a:lnTo>
                    <a:pt x="820470" y="19050"/>
                  </a:lnTo>
                  <a:lnTo>
                    <a:pt x="820470" y="0"/>
                  </a:lnTo>
                  <a:close/>
                </a:path>
                <a:path w="4267200" h="666750">
                  <a:moveTo>
                    <a:pt x="880198" y="647700"/>
                  </a:moveTo>
                  <a:lnTo>
                    <a:pt x="823048" y="647700"/>
                  </a:lnTo>
                  <a:lnTo>
                    <a:pt x="823048" y="666750"/>
                  </a:lnTo>
                  <a:lnTo>
                    <a:pt x="880198" y="666750"/>
                  </a:lnTo>
                  <a:lnTo>
                    <a:pt x="880198" y="647700"/>
                  </a:lnTo>
                  <a:close/>
                </a:path>
                <a:path w="4267200" h="666750">
                  <a:moveTo>
                    <a:pt x="915911" y="0"/>
                  </a:moveTo>
                  <a:lnTo>
                    <a:pt x="858761" y="0"/>
                  </a:lnTo>
                  <a:lnTo>
                    <a:pt x="858761" y="19050"/>
                  </a:lnTo>
                  <a:lnTo>
                    <a:pt x="915911" y="19050"/>
                  </a:lnTo>
                  <a:lnTo>
                    <a:pt x="915911" y="0"/>
                  </a:lnTo>
                  <a:close/>
                </a:path>
                <a:path w="4267200" h="666750">
                  <a:moveTo>
                    <a:pt x="975639" y="647700"/>
                  </a:moveTo>
                  <a:lnTo>
                    <a:pt x="918489" y="647700"/>
                  </a:lnTo>
                  <a:lnTo>
                    <a:pt x="918489" y="666750"/>
                  </a:lnTo>
                  <a:lnTo>
                    <a:pt x="975639" y="666750"/>
                  </a:lnTo>
                  <a:lnTo>
                    <a:pt x="975639" y="647700"/>
                  </a:lnTo>
                  <a:close/>
                </a:path>
                <a:path w="4267200" h="666750">
                  <a:moveTo>
                    <a:pt x="1011351" y="0"/>
                  </a:moveTo>
                  <a:lnTo>
                    <a:pt x="954201" y="0"/>
                  </a:lnTo>
                  <a:lnTo>
                    <a:pt x="954201" y="19050"/>
                  </a:lnTo>
                  <a:lnTo>
                    <a:pt x="1011351" y="19050"/>
                  </a:lnTo>
                  <a:lnTo>
                    <a:pt x="1011351" y="0"/>
                  </a:lnTo>
                  <a:close/>
                </a:path>
                <a:path w="4267200" h="666750">
                  <a:moveTo>
                    <a:pt x="1071079" y="647700"/>
                  </a:moveTo>
                  <a:lnTo>
                    <a:pt x="1013929" y="647700"/>
                  </a:lnTo>
                  <a:lnTo>
                    <a:pt x="1013929" y="666750"/>
                  </a:lnTo>
                  <a:lnTo>
                    <a:pt x="1071079" y="666750"/>
                  </a:lnTo>
                  <a:lnTo>
                    <a:pt x="1071079" y="647700"/>
                  </a:lnTo>
                  <a:close/>
                </a:path>
                <a:path w="4267200" h="666750">
                  <a:moveTo>
                    <a:pt x="1106792" y="0"/>
                  </a:moveTo>
                  <a:lnTo>
                    <a:pt x="1049642" y="0"/>
                  </a:lnTo>
                  <a:lnTo>
                    <a:pt x="1049642" y="19050"/>
                  </a:lnTo>
                  <a:lnTo>
                    <a:pt x="1106792" y="19050"/>
                  </a:lnTo>
                  <a:lnTo>
                    <a:pt x="1106792" y="0"/>
                  </a:lnTo>
                  <a:close/>
                </a:path>
                <a:path w="4267200" h="666750">
                  <a:moveTo>
                    <a:pt x="1166520" y="647700"/>
                  </a:moveTo>
                  <a:lnTo>
                    <a:pt x="1109370" y="647700"/>
                  </a:lnTo>
                  <a:lnTo>
                    <a:pt x="1109370" y="666750"/>
                  </a:lnTo>
                  <a:lnTo>
                    <a:pt x="1166520" y="666750"/>
                  </a:lnTo>
                  <a:lnTo>
                    <a:pt x="1166520" y="647700"/>
                  </a:lnTo>
                  <a:close/>
                </a:path>
                <a:path w="4267200" h="666750">
                  <a:moveTo>
                    <a:pt x="1202232" y="0"/>
                  </a:moveTo>
                  <a:lnTo>
                    <a:pt x="1145082" y="0"/>
                  </a:lnTo>
                  <a:lnTo>
                    <a:pt x="1145082" y="19050"/>
                  </a:lnTo>
                  <a:lnTo>
                    <a:pt x="1202232" y="19050"/>
                  </a:lnTo>
                  <a:lnTo>
                    <a:pt x="1202232" y="0"/>
                  </a:lnTo>
                  <a:close/>
                </a:path>
                <a:path w="4267200" h="666750">
                  <a:moveTo>
                    <a:pt x="1261960" y="647700"/>
                  </a:moveTo>
                  <a:lnTo>
                    <a:pt x="1204810" y="647700"/>
                  </a:lnTo>
                  <a:lnTo>
                    <a:pt x="1204810" y="666750"/>
                  </a:lnTo>
                  <a:lnTo>
                    <a:pt x="1261960" y="666750"/>
                  </a:lnTo>
                  <a:lnTo>
                    <a:pt x="1261960" y="647700"/>
                  </a:lnTo>
                  <a:close/>
                </a:path>
                <a:path w="4267200" h="666750">
                  <a:moveTo>
                    <a:pt x="1297673" y="0"/>
                  </a:moveTo>
                  <a:lnTo>
                    <a:pt x="1240523" y="0"/>
                  </a:lnTo>
                  <a:lnTo>
                    <a:pt x="1240523" y="19050"/>
                  </a:lnTo>
                  <a:lnTo>
                    <a:pt x="1297673" y="19050"/>
                  </a:lnTo>
                  <a:lnTo>
                    <a:pt x="1297673" y="0"/>
                  </a:lnTo>
                  <a:close/>
                </a:path>
                <a:path w="4267200" h="666750">
                  <a:moveTo>
                    <a:pt x="1357388" y="647700"/>
                  </a:moveTo>
                  <a:lnTo>
                    <a:pt x="1300238" y="647700"/>
                  </a:lnTo>
                  <a:lnTo>
                    <a:pt x="1300238" y="666750"/>
                  </a:lnTo>
                  <a:lnTo>
                    <a:pt x="1357388" y="666750"/>
                  </a:lnTo>
                  <a:lnTo>
                    <a:pt x="1357388" y="647700"/>
                  </a:lnTo>
                  <a:close/>
                </a:path>
                <a:path w="4267200" h="666750">
                  <a:moveTo>
                    <a:pt x="1393113" y="0"/>
                  </a:moveTo>
                  <a:lnTo>
                    <a:pt x="1335963" y="0"/>
                  </a:lnTo>
                  <a:lnTo>
                    <a:pt x="1335963" y="19050"/>
                  </a:lnTo>
                  <a:lnTo>
                    <a:pt x="1393113" y="19050"/>
                  </a:lnTo>
                  <a:lnTo>
                    <a:pt x="1393113" y="0"/>
                  </a:lnTo>
                  <a:close/>
                </a:path>
                <a:path w="4267200" h="666750">
                  <a:moveTo>
                    <a:pt x="1452829" y="647700"/>
                  </a:moveTo>
                  <a:lnTo>
                    <a:pt x="1395679" y="647700"/>
                  </a:lnTo>
                  <a:lnTo>
                    <a:pt x="1395679" y="666750"/>
                  </a:lnTo>
                  <a:lnTo>
                    <a:pt x="1452829" y="666750"/>
                  </a:lnTo>
                  <a:lnTo>
                    <a:pt x="1452829" y="647700"/>
                  </a:lnTo>
                  <a:close/>
                </a:path>
                <a:path w="4267200" h="666750">
                  <a:moveTo>
                    <a:pt x="1488541" y="0"/>
                  </a:moveTo>
                  <a:lnTo>
                    <a:pt x="1431391" y="0"/>
                  </a:lnTo>
                  <a:lnTo>
                    <a:pt x="1431391" y="19050"/>
                  </a:lnTo>
                  <a:lnTo>
                    <a:pt x="1488541" y="19050"/>
                  </a:lnTo>
                  <a:lnTo>
                    <a:pt x="1488541" y="0"/>
                  </a:lnTo>
                  <a:close/>
                </a:path>
                <a:path w="4267200" h="666750">
                  <a:moveTo>
                    <a:pt x="1548269" y="647700"/>
                  </a:moveTo>
                  <a:lnTo>
                    <a:pt x="1491119" y="647700"/>
                  </a:lnTo>
                  <a:lnTo>
                    <a:pt x="1491119" y="666750"/>
                  </a:lnTo>
                  <a:lnTo>
                    <a:pt x="1548269" y="666750"/>
                  </a:lnTo>
                  <a:lnTo>
                    <a:pt x="1548269" y="647700"/>
                  </a:lnTo>
                  <a:close/>
                </a:path>
                <a:path w="4267200" h="666750">
                  <a:moveTo>
                    <a:pt x="1583982" y="0"/>
                  </a:moveTo>
                  <a:lnTo>
                    <a:pt x="1526832" y="0"/>
                  </a:lnTo>
                  <a:lnTo>
                    <a:pt x="1526832" y="19050"/>
                  </a:lnTo>
                  <a:lnTo>
                    <a:pt x="1583982" y="19050"/>
                  </a:lnTo>
                  <a:lnTo>
                    <a:pt x="1583982" y="0"/>
                  </a:lnTo>
                  <a:close/>
                </a:path>
                <a:path w="4267200" h="666750">
                  <a:moveTo>
                    <a:pt x="1643710" y="647700"/>
                  </a:moveTo>
                  <a:lnTo>
                    <a:pt x="1586560" y="647700"/>
                  </a:lnTo>
                  <a:lnTo>
                    <a:pt x="1586560" y="666750"/>
                  </a:lnTo>
                  <a:lnTo>
                    <a:pt x="1643710" y="666750"/>
                  </a:lnTo>
                  <a:lnTo>
                    <a:pt x="1643710" y="647700"/>
                  </a:lnTo>
                  <a:close/>
                </a:path>
                <a:path w="4267200" h="666750">
                  <a:moveTo>
                    <a:pt x="1679422" y="0"/>
                  </a:moveTo>
                  <a:lnTo>
                    <a:pt x="1622272" y="0"/>
                  </a:lnTo>
                  <a:lnTo>
                    <a:pt x="1622272" y="19050"/>
                  </a:lnTo>
                  <a:lnTo>
                    <a:pt x="1679422" y="19050"/>
                  </a:lnTo>
                  <a:lnTo>
                    <a:pt x="1679422" y="0"/>
                  </a:lnTo>
                  <a:close/>
                </a:path>
                <a:path w="4267200" h="666750">
                  <a:moveTo>
                    <a:pt x="1739150" y="647700"/>
                  </a:moveTo>
                  <a:lnTo>
                    <a:pt x="1682000" y="647700"/>
                  </a:lnTo>
                  <a:lnTo>
                    <a:pt x="1682000" y="666750"/>
                  </a:lnTo>
                  <a:lnTo>
                    <a:pt x="1739150" y="666750"/>
                  </a:lnTo>
                  <a:lnTo>
                    <a:pt x="1739150" y="647700"/>
                  </a:lnTo>
                  <a:close/>
                </a:path>
                <a:path w="4267200" h="666750">
                  <a:moveTo>
                    <a:pt x="1774863" y="0"/>
                  </a:moveTo>
                  <a:lnTo>
                    <a:pt x="1717713" y="0"/>
                  </a:lnTo>
                  <a:lnTo>
                    <a:pt x="1717713" y="19050"/>
                  </a:lnTo>
                  <a:lnTo>
                    <a:pt x="1774863" y="19050"/>
                  </a:lnTo>
                  <a:lnTo>
                    <a:pt x="1774863" y="0"/>
                  </a:lnTo>
                  <a:close/>
                </a:path>
                <a:path w="4267200" h="666750">
                  <a:moveTo>
                    <a:pt x="1834591" y="647700"/>
                  </a:moveTo>
                  <a:lnTo>
                    <a:pt x="1777441" y="647700"/>
                  </a:lnTo>
                  <a:lnTo>
                    <a:pt x="1777441" y="666750"/>
                  </a:lnTo>
                  <a:lnTo>
                    <a:pt x="1834591" y="666750"/>
                  </a:lnTo>
                  <a:lnTo>
                    <a:pt x="1834591" y="647700"/>
                  </a:lnTo>
                  <a:close/>
                </a:path>
                <a:path w="4267200" h="666750">
                  <a:moveTo>
                    <a:pt x="1870303" y="0"/>
                  </a:moveTo>
                  <a:lnTo>
                    <a:pt x="1813153" y="0"/>
                  </a:lnTo>
                  <a:lnTo>
                    <a:pt x="1813153" y="19050"/>
                  </a:lnTo>
                  <a:lnTo>
                    <a:pt x="1870303" y="19050"/>
                  </a:lnTo>
                  <a:lnTo>
                    <a:pt x="1870303" y="0"/>
                  </a:lnTo>
                  <a:close/>
                </a:path>
                <a:path w="4267200" h="666750">
                  <a:moveTo>
                    <a:pt x="1930031" y="647700"/>
                  </a:moveTo>
                  <a:lnTo>
                    <a:pt x="1872881" y="647700"/>
                  </a:lnTo>
                  <a:lnTo>
                    <a:pt x="1872881" y="666750"/>
                  </a:lnTo>
                  <a:lnTo>
                    <a:pt x="1930031" y="666750"/>
                  </a:lnTo>
                  <a:lnTo>
                    <a:pt x="1930031" y="647700"/>
                  </a:lnTo>
                  <a:close/>
                </a:path>
                <a:path w="4267200" h="666750">
                  <a:moveTo>
                    <a:pt x="1965744" y="0"/>
                  </a:moveTo>
                  <a:lnTo>
                    <a:pt x="1908594" y="0"/>
                  </a:lnTo>
                  <a:lnTo>
                    <a:pt x="1908594" y="19050"/>
                  </a:lnTo>
                  <a:lnTo>
                    <a:pt x="1965744" y="19050"/>
                  </a:lnTo>
                  <a:lnTo>
                    <a:pt x="1965744" y="0"/>
                  </a:lnTo>
                  <a:close/>
                </a:path>
                <a:path w="4267200" h="666750">
                  <a:moveTo>
                    <a:pt x="2025459" y="647700"/>
                  </a:moveTo>
                  <a:lnTo>
                    <a:pt x="1968309" y="647700"/>
                  </a:lnTo>
                  <a:lnTo>
                    <a:pt x="1968309" y="666750"/>
                  </a:lnTo>
                  <a:lnTo>
                    <a:pt x="2025459" y="666750"/>
                  </a:lnTo>
                  <a:lnTo>
                    <a:pt x="2025459" y="647700"/>
                  </a:lnTo>
                  <a:close/>
                </a:path>
                <a:path w="4267200" h="666750">
                  <a:moveTo>
                    <a:pt x="2061184" y="0"/>
                  </a:moveTo>
                  <a:lnTo>
                    <a:pt x="2004034" y="0"/>
                  </a:lnTo>
                  <a:lnTo>
                    <a:pt x="2004034" y="19050"/>
                  </a:lnTo>
                  <a:lnTo>
                    <a:pt x="2061184" y="19050"/>
                  </a:lnTo>
                  <a:lnTo>
                    <a:pt x="2061184" y="0"/>
                  </a:lnTo>
                  <a:close/>
                </a:path>
                <a:path w="4267200" h="666750">
                  <a:moveTo>
                    <a:pt x="2120900" y="647700"/>
                  </a:moveTo>
                  <a:lnTo>
                    <a:pt x="2063750" y="647700"/>
                  </a:lnTo>
                  <a:lnTo>
                    <a:pt x="2063750" y="666750"/>
                  </a:lnTo>
                  <a:lnTo>
                    <a:pt x="2120900" y="666750"/>
                  </a:lnTo>
                  <a:lnTo>
                    <a:pt x="2120900" y="647700"/>
                  </a:lnTo>
                  <a:close/>
                </a:path>
                <a:path w="4267200" h="666750">
                  <a:moveTo>
                    <a:pt x="2156612" y="0"/>
                  </a:moveTo>
                  <a:lnTo>
                    <a:pt x="2099462" y="0"/>
                  </a:lnTo>
                  <a:lnTo>
                    <a:pt x="2099462" y="19050"/>
                  </a:lnTo>
                  <a:lnTo>
                    <a:pt x="2156612" y="19050"/>
                  </a:lnTo>
                  <a:lnTo>
                    <a:pt x="2156612" y="0"/>
                  </a:lnTo>
                  <a:close/>
                </a:path>
                <a:path w="4267200" h="666750">
                  <a:moveTo>
                    <a:pt x="2216340" y="647700"/>
                  </a:moveTo>
                  <a:lnTo>
                    <a:pt x="2159190" y="647700"/>
                  </a:lnTo>
                  <a:lnTo>
                    <a:pt x="2159190" y="666750"/>
                  </a:lnTo>
                  <a:lnTo>
                    <a:pt x="2216340" y="666750"/>
                  </a:lnTo>
                  <a:lnTo>
                    <a:pt x="2216340" y="647700"/>
                  </a:lnTo>
                  <a:close/>
                </a:path>
                <a:path w="4267200" h="666750">
                  <a:moveTo>
                    <a:pt x="2252053" y="0"/>
                  </a:moveTo>
                  <a:lnTo>
                    <a:pt x="2194903" y="0"/>
                  </a:lnTo>
                  <a:lnTo>
                    <a:pt x="2194903" y="19050"/>
                  </a:lnTo>
                  <a:lnTo>
                    <a:pt x="2252053" y="19050"/>
                  </a:lnTo>
                  <a:lnTo>
                    <a:pt x="2252053" y="0"/>
                  </a:lnTo>
                  <a:close/>
                </a:path>
                <a:path w="4267200" h="666750">
                  <a:moveTo>
                    <a:pt x="2311781" y="647700"/>
                  </a:moveTo>
                  <a:lnTo>
                    <a:pt x="2254631" y="647700"/>
                  </a:lnTo>
                  <a:lnTo>
                    <a:pt x="2254631" y="666750"/>
                  </a:lnTo>
                  <a:lnTo>
                    <a:pt x="2311781" y="666750"/>
                  </a:lnTo>
                  <a:lnTo>
                    <a:pt x="2311781" y="647700"/>
                  </a:lnTo>
                  <a:close/>
                </a:path>
                <a:path w="4267200" h="666750">
                  <a:moveTo>
                    <a:pt x="2347493" y="0"/>
                  </a:moveTo>
                  <a:lnTo>
                    <a:pt x="2290343" y="0"/>
                  </a:lnTo>
                  <a:lnTo>
                    <a:pt x="2290343" y="19050"/>
                  </a:lnTo>
                  <a:lnTo>
                    <a:pt x="2347493" y="19050"/>
                  </a:lnTo>
                  <a:lnTo>
                    <a:pt x="2347493" y="0"/>
                  </a:lnTo>
                  <a:close/>
                </a:path>
                <a:path w="4267200" h="666750">
                  <a:moveTo>
                    <a:pt x="2407221" y="647700"/>
                  </a:moveTo>
                  <a:lnTo>
                    <a:pt x="2350071" y="647700"/>
                  </a:lnTo>
                  <a:lnTo>
                    <a:pt x="2350071" y="666750"/>
                  </a:lnTo>
                  <a:lnTo>
                    <a:pt x="2407221" y="666750"/>
                  </a:lnTo>
                  <a:lnTo>
                    <a:pt x="2407221" y="647700"/>
                  </a:lnTo>
                  <a:close/>
                </a:path>
                <a:path w="4267200" h="666750">
                  <a:moveTo>
                    <a:pt x="2442934" y="0"/>
                  </a:moveTo>
                  <a:lnTo>
                    <a:pt x="2385784" y="0"/>
                  </a:lnTo>
                  <a:lnTo>
                    <a:pt x="2385784" y="19050"/>
                  </a:lnTo>
                  <a:lnTo>
                    <a:pt x="2442934" y="19050"/>
                  </a:lnTo>
                  <a:lnTo>
                    <a:pt x="2442934" y="0"/>
                  </a:lnTo>
                  <a:close/>
                </a:path>
                <a:path w="4267200" h="666750">
                  <a:moveTo>
                    <a:pt x="2502662" y="647700"/>
                  </a:moveTo>
                  <a:lnTo>
                    <a:pt x="2445512" y="647700"/>
                  </a:lnTo>
                  <a:lnTo>
                    <a:pt x="2445512" y="666750"/>
                  </a:lnTo>
                  <a:lnTo>
                    <a:pt x="2502662" y="666750"/>
                  </a:lnTo>
                  <a:lnTo>
                    <a:pt x="2502662" y="647700"/>
                  </a:lnTo>
                  <a:close/>
                </a:path>
                <a:path w="4267200" h="666750">
                  <a:moveTo>
                    <a:pt x="2538374" y="0"/>
                  </a:moveTo>
                  <a:lnTo>
                    <a:pt x="2481224" y="0"/>
                  </a:lnTo>
                  <a:lnTo>
                    <a:pt x="2481224" y="19050"/>
                  </a:lnTo>
                  <a:lnTo>
                    <a:pt x="2538374" y="19050"/>
                  </a:lnTo>
                  <a:lnTo>
                    <a:pt x="2538374" y="0"/>
                  </a:lnTo>
                  <a:close/>
                </a:path>
                <a:path w="4267200" h="666750">
                  <a:moveTo>
                    <a:pt x="2598089" y="647700"/>
                  </a:moveTo>
                  <a:lnTo>
                    <a:pt x="2540939" y="647700"/>
                  </a:lnTo>
                  <a:lnTo>
                    <a:pt x="2540939" y="666750"/>
                  </a:lnTo>
                  <a:lnTo>
                    <a:pt x="2598089" y="666750"/>
                  </a:lnTo>
                  <a:lnTo>
                    <a:pt x="2598089" y="647700"/>
                  </a:lnTo>
                  <a:close/>
                </a:path>
                <a:path w="4267200" h="666750">
                  <a:moveTo>
                    <a:pt x="2633815" y="0"/>
                  </a:moveTo>
                  <a:lnTo>
                    <a:pt x="2576665" y="0"/>
                  </a:lnTo>
                  <a:lnTo>
                    <a:pt x="2576665" y="19050"/>
                  </a:lnTo>
                  <a:lnTo>
                    <a:pt x="2633815" y="19050"/>
                  </a:lnTo>
                  <a:lnTo>
                    <a:pt x="2633815" y="0"/>
                  </a:lnTo>
                  <a:close/>
                </a:path>
                <a:path w="4267200" h="666750">
                  <a:moveTo>
                    <a:pt x="2693530" y="647700"/>
                  </a:moveTo>
                  <a:lnTo>
                    <a:pt x="2636380" y="647700"/>
                  </a:lnTo>
                  <a:lnTo>
                    <a:pt x="2636380" y="666750"/>
                  </a:lnTo>
                  <a:lnTo>
                    <a:pt x="2693530" y="666750"/>
                  </a:lnTo>
                  <a:lnTo>
                    <a:pt x="2693530" y="647700"/>
                  </a:lnTo>
                  <a:close/>
                </a:path>
                <a:path w="4267200" h="666750">
                  <a:moveTo>
                    <a:pt x="2729242" y="0"/>
                  </a:moveTo>
                  <a:lnTo>
                    <a:pt x="2672092" y="0"/>
                  </a:lnTo>
                  <a:lnTo>
                    <a:pt x="2672092" y="19050"/>
                  </a:lnTo>
                  <a:lnTo>
                    <a:pt x="2729242" y="19050"/>
                  </a:lnTo>
                  <a:lnTo>
                    <a:pt x="2729242" y="0"/>
                  </a:lnTo>
                  <a:close/>
                </a:path>
                <a:path w="4267200" h="666750">
                  <a:moveTo>
                    <a:pt x="2788970" y="647700"/>
                  </a:moveTo>
                  <a:lnTo>
                    <a:pt x="2731820" y="647700"/>
                  </a:lnTo>
                  <a:lnTo>
                    <a:pt x="2731820" y="666750"/>
                  </a:lnTo>
                  <a:lnTo>
                    <a:pt x="2788970" y="666750"/>
                  </a:lnTo>
                  <a:lnTo>
                    <a:pt x="2788970" y="647700"/>
                  </a:lnTo>
                  <a:close/>
                </a:path>
                <a:path w="4267200" h="666750">
                  <a:moveTo>
                    <a:pt x="2824683" y="0"/>
                  </a:moveTo>
                  <a:lnTo>
                    <a:pt x="2767533" y="0"/>
                  </a:lnTo>
                  <a:lnTo>
                    <a:pt x="2767533" y="19050"/>
                  </a:lnTo>
                  <a:lnTo>
                    <a:pt x="2824683" y="19050"/>
                  </a:lnTo>
                  <a:lnTo>
                    <a:pt x="2824683" y="0"/>
                  </a:lnTo>
                  <a:close/>
                </a:path>
                <a:path w="4267200" h="666750">
                  <a:moveTo>
                    <a:pt x="2884411" y="647700"/>
                  </a:moveTo>
                  <a:lnTo>
                    <a:pt x="2827261" y="647700"/>
                  </a:lnTo>
                  <a:lnTo>
                    <a:pt x="2827261" y="666750"/>
                  </a:lnTo>
                  <a:lnTo>
                    <a:pt x="2884411" y="666750"/>
                  </a:lnTo>
                  <a:lnTo>
                    <a:pt x="2884411" y="647700"/>
                  </a:lnTo>
                  <a:close/>
                </a:path>
                <a:path w="4267200" h="666750">
                  <a:moveTo>
                    <a:pt x="2920123" y="0"/>
                  </a:moveTo>
                  <a:lnTo>
                    <a:pt x="2862973" y="0"/>
                  </a:lnTo>
                  <a:lnTo>
                    <a:pt x="2862973" y="19050"/>
                  </a:lnTo>
                  <a:lnTo>
                    <a:pt x="2920123" y="19050"/>
                  </a:lnTo>
                  <a:lnTo>
                    <a:pt x="2920123" y="0"/>
                  </a:lnTo>
                  <a:close/>
                </a:path>
                <a:path w="4267200" h="666750">
                  <a:moveTo>
                    <a:pt x="2979851" y="647700"/>
                  </a:moveTo>
                  <a:lnTo>
                    <a:pt x="2922701" y="647700"/>
                  </a:lnTo>
                  <a:lnTo>
                    <a:pt x="2922701" y="666750"/>
                  </a:lnTo>
                  <a:lnTo>
                    <a:pt x="2979851" y="666750"/>
                  </a:lnTo>
                  <a:lnTo>
                    <a:pt x="2979851" y="647700"/>
                  </a:lnTo>
                  <a:close/>
                </a:path>
                <a:path w="4267200" h="666750">
                  <a:moveTo>
                    <a:pt x="3015564" y="0"/>
                  </a:moveTo>
                  <a:lnTo>
                    <a:pt x="2958414" y="0"/>
                  </a:lnTo>
                  <a:lnTo>
                    <a:pt x="2958414" y="19050"/>
                  </a:lnTo>
                  <a:lnTo>
                    <a:pt x="3015564" y="19050"/>
                  </a:lnTo>
                  <a:lnTo>
                    <a:pt x="3015564" y="0"/>
                  </a:lnTo>
                  <a:close/>
                </a:path>
                <a:path w="4267200" h="666750">
                  <a:moveTo>
                    <a:pt x="3075292" y="647700"/>
                  </a:moveTo>
                  <a:lnTo>
                    <a:pt x="3018142" y="647700"/>
                  </a:lnTo>
                  <a:lnTo>
                    <a:pt x="3018142" y="666750"/>
                  </a:lnTo>
                  <a:lnTo>
                    <a:pt x="3075292" y="666750"/>
                  </a:lnTo>
                  <a:lnTo>
                    <a:pt x="3075292" y="647700"/>
                  </a:lnTo>
                  <a:close/>
                </a:path>
                <a:path w="4267200" h="666750">
                  <a:moveTo>
                    <a:pt x="3111004" y="0"/>
                  </a:moveTo>
                  <a:lnTo>
                    <a:pt x="3053854" y="0"/>
                  </a:lnTo>
                  <a:lnTo>
                    <a:pt x="3053854" y="19050"/>
                  </a:lnTo>
                  <a:lnTo>
                    <a:pt x="3111004" y="19050"/>
                  </a:lnTo>
                  <a:lnTo>
                    <a:pt x="3111004" y="0"/>
                  </a:lnTo>
                  <a:close/>
                </a:path>
                <a:path w="4267200" h="666750">
                  <a:moveTo>
                    <a:pt x="3170732" y="647700"/>
                  </a:moveTo>
                  <a:lnTo>
                    <a:pt x="3113582" y="647700"/>
                  </a:lnTo>
                  <a:lnTo>
                    <a:pt x="3113582" y="666750"/>
                  </a:lnTo>
                  <a:lnTo>
                    <a:pt x="3170732" y="666750"/>
                  </a:lnTo>
                  <a:lnTo>
                    <a:pt x="3170732" y="647700"/>
                  </a:lnTo>
                  <a:close/>
                </a:path>
                <a:path w="4267200" h="666750">
                  <a:moveTo>
                    <a:pt x="3206445" y="0"/>
                  </a:moveTo>
                  <a:lnTo>
                    <a:pt x="3149295" y="0"/>
                  </a:lnTo>
                  <a:lnTo>
                    <a:pt x="3149295" y="19050"/>
                  </a:lnTo>
                  <a:lnTo>
                    <a:pt x="3206445" y="19050"/>
                  </a:lnTo>
                  <a:lnTo>
                    <a:pt x="3206445" y="0"/>
                  </a:lnTo>
                  <a:close/>
                </a:path>
                <a:path w="4267200" h="666750">
                  <a:moveTo>
                    <a:pt x="3266160" y="647700"/>
                  </a:moveTo>
                  <a:lnTo>
                    <a:pt x="3209010" y="647700"/>
                  </a:lnTo>
                  <a:lnTo>
                    <a:pt x="3209010" y="666750"/>
                  </a:lnTo>
                  <a:lnTo>
                    <a:pt x="3266160" y="666750"/>
                  </a:lnTo>
                  <a:lnTo>
                    <a:pt x="3266160" y="647700"/>
                  </a:lnTo>
                  <a:close/>
                </a:path>
                <a:path w="4267200" h="666750">
                  <a:moveTo>
                    <a:pt x="3301885" y="0"/>
                  </a:moveTo>
                  <a:lnTo>
                    <a:pt x="3244735" y="0"/>
                  </a:lnTo>
                  <a:lnTo>
                    <a:pt x="3244735" y="19050"/>
                  </a:lnTo>
                  <a:lnTo>
                    <a:pt x="3301885" y="19050"/>
                  </a:lnTo>
                  <a:lnTo>
                    <a:pt x="3301885" y="0"/>
                  </a:lnTo>
                  <a:close/>
                </a:path>
                <a:path w="4267200" h="666750">
                  <a:moveTo>
                    <a:pt x="3361601" y="647700"/>
                  </a:moveTo>
                  <a:lnTo>
                    <a:pt x="3304451" y="647700"/>
                  </a:lnTo>
                  <a:lnTo>
                    <a:pt x="3304451" y="666750"/>
                  </a:lnTo>
                  <a:lnTo>
                    <a:pt x="3361601" y="666750"/>
                  </a:lnTo>
                  <a:lnTo>
                    <a:pt x="3361601" y="647700"/>
                  </a:lnTo>
                  <a:close/>
                </a:path>
                <a:path w="4267200" h="666750">
                  <a:moveTo>
                    <a:pt x="3397313" y="0"/>
                  </a:moveTo>
                  <a:lnTo>
                    <a:pt x="3340163" y="0"/>
                  </a:lnTo>
                  <a:lnTo>
                    <a:pt x="3340163" y="19050"/>
                  </a:lnTo>
                  <a:lnTo>
                    <a:pt x="3397313" y="19050"/>
                  </a:lnTo>
                  <a:lnTo>
                    <a:pt x="3397313" y="0"/>
                  </a:lnTo>
                  <a:close/>
                </a:path>
                <a:path w="4267200" h="666750">
                  <a:moveTo>
                    <a:pt x="3457041" y="647700"/>
                  </a:moveTo>
                  <a:lnTo>
                    <a:pt x="3399891" y="647700"/>
                  </a:lnTo>
                  <a:lnTo>
                    <a:pt x="3399891" y="666750"/>
                  </a:lnTo>
                  <a:lnTo>
                    <a:pt x="3457041" y="666750"/>
                  </a:lnTo>
                  <a:lnTo>
                    <a:pt x="3457041" y="647700"/>
                  </a:lnTo>
                  <a:close/>
                </a:path>
                <a:path w="4267200" h="666750">
                  <a:moveTo>
                    <a:pt x="3492754" y="0"/>
                  </a:moveTo>
                  <a:lnTo>
                    <a:pt x="3435604" y="0"/>
                  </a:lnTo>
                  <a:lnTo>
                    <a:pt x="3435604" y="19050"/>
                  </a:lnTo>
                  <a:lnTo>
                    <a:pt x="3492754" y="19050"/>
                  </a:lnTo>
                  <a:lnTo>
                    <a:pt x="3492754" y="0"/>
                  </a:lnTo>
                  <a:close/>
                </a:path>
                <a:path w="4267200" h="666750">
                  <a:moveTo>
                    <a:pt x="3552482" y="647700"/>
                  </a:moveTo>
                  <a:lnTo>
                    <a:pt x="3495332" y="647700"/>
                  </a:lnTo>
                  <a:lnTo>
                    <a:pt x="3495332" y="666750"/>
                  </a:lnTo>
                  <a:lnTo>
                    <a:pt x="3552482" y="666750"/>
                  </a:lnTo>
                  <a:lnTo>
                    <a:pt x="3552482" y="647700"/>
                  </a:lnTo>
                  <a:close/>
                </a:path>
                <a:path w="4267200" h="666750">
                  <a:moveTo>
                    <a:pt x="3588194" y="0"/>
                  </a:moveTo>
                  <a:lnTo>
                    <a:pt x="3531044" y="0"/>
                  </a:lnTo>
                  <a:lnTo>
                    <a:pt x="3531044" y="19050"/>
                  </a:lnTo>
                  <a:lnTo>
                    <a:pt x="3588194" y="19050"/>
                  </a:lnTo>
                  <a:lnTo>
                    <a:pt x="3588194" y="0"/>
                  </a:lnTo>
                  <a:close/>
                </a:path>
                <a:path w="4267200" h="666750">
                  <a:moveTo>
                    <a:pt x="3647922" y="647700"/>
                  </a:moveTo>
                  <a:lnTo>
                    <a:pt x="3590772" y="647700"/>
                  </a:lnTo>
                  <a:lnTo>
                    <a:pt x="3590772" y="666750"/>
                  </a:lnTo>
                  <a:lnTo>
                    <a:pt x="3647922" y="666750"/>
                  </a:lnTo>
                  <a:lnTo>
                    <a:pt x="3647922" y="647700"/>
                  </a:lnTo>
                  <a:close/>
                </a:path>
                <a:path w="4267200" h="666750">
                  <a:moveTo>
                    <a:pt x="3683635" y="0"/>
                  </a:moveTo>
                  <a:lnTo>
                    <a:pt x="3626485" y="0"/>
                  </a:lnTo>
                  <a:lnTo>
                    <a:pt x="3626485" y="19050"/>
                  </a:lnTo>
                  <a:lnTo>
                    <a:pt x="3683635" y="19050"/>
                  </a:lnTo>
                  <a:lnTo>
                    <a:pt x="3683635" y="0"/>
                  </a:lnTo>
                  <a:close/>
                </a:path>
                <a:path w="4267200" h="666750">
                  <a:moveTo>
                    <a:pt x="3743363" y="647700"/>
                  </a:moveTo>
                  <a:lnTo>
                    <a:pt x="3686213" y="647700"/>
                  </a:lnTo>
                  <a:lnTo>
                    <a:pt x="3686213" y="666750"/>
                  </a:lnTo>
                  <a:lnTo>
                    <a:pt x="3743363" y="666750"/>
                  </a:lnTo>
                  <a:lnTo>
                    <a:pt x="3743363" y="647700"/>
                  </a:lnTo>
                  <a:close/>
                </a:path>
                <a:path w="4267200" h="666750">
                  <a:moveTo>
                    <a:pt x="3779075" y="0"/>
                  </a:moveTo>
                  <a:lnTo>
                    <a:pt x="3721925" y="0"/>
                  </a:lnTo>
                  <a:lnTo>
                    <a:pt x="3721925" y="19050"/>
                  </a:lnTo>
                  <a:lnTo>
                    <a:pt x="3779075" y="19050"/>
                  </a:lnTo>
                  <a:lnTo>
                    <a:pt x="3779075" y="0"/>
                  </a:lnTo>
                  <a:close/>
                </a:path>
                <a:path w="4267200" h="666750">
                  <a:moveTo>
                    <a:pt x="3838803" y="647700"/>
                  </a:moveTo>
                  <a:lnTo>
                    <a:pt x="3781653" y="647700"/>
                  </a:lnTo>
                  <a:lnTo>
                    <a:pt x="3781653" y="666750"/>
                  </a:lnTo>
                  <a:lnTo>
                    <a:pt x="3838803" y="666750"/>
                  </a:lnTo>
                  <a:lnTo>
                    <a:pt x="3838803" y="647700"/>
                  </a:lnTo>
                  <a:close/>
                </a:path>
                <a:path w="4267200" h="666750">
                  <a:moveTo>
                    <a:pt x="3874516" y="0"/>
                  </a:moveTo>
                  <a:lnTo>
                    <a:pt x="3817366" y="0"/>
                  </a:lnTo>
                  <a:lnTo>
                    <a:pt x="3817366" y="19050"/>
                  </a:lnTo>
                  <a:lnTo>
                    <a:pt x="3874516" y="19050"/>
                  </a:lnTo>
                  <a:lnTo>
                    <a:pt x="3874516" y="0"/>
                  </a:lnTo>
                  <a:close/>
                </a:path>
                <a:path w="4267200" h="666750">
                  <a:moveTo>
                    <a:pt x="3934231" y="647700"/>
                  </a:moveTo>
                  <a:lnTo>
                    <a:pt x="3877081" y="647700"/>
                  </a:lnTo>
                  <a:lnTo>
                    <a:pt x="3877081" y="666750"/>
                  </a:lnTo>
                  <a:lnTo>
                    <a:pt x="3934231" y="666750"/>
                  </a:lnTo>
                  <a:lnTo>
                    <a:pt x="3934231" y="647700"/>
                  </a:lnTo>
                  <a:close/>
                </a:path>
                <a:path w="4267200" h="666750">
                  <a:moveTo>
                    <a:pt x="3969956" y="0"/>
                  </a:moveTo>
                  <a:lnTo>
                    <a:pt x="3912806" y="0"/>
                  </a:lnTo>
                  <a:lnTo>
                    <a:pt x="3912806" y="19050"/>
                  </a:lnTo>
                  <a:lnTo>
                    <a:pt x="3969956" y="19050"/>
                  </a:lnTo>
                  <a:lnTo>
                    <a:pt x="3969956" y="0"/>
                  </a:lnTo>
                  <a:close/>
                </a:path>
                <a:path w="4267200" h="666750">
                  <a:moveTo>
                    <a:pt x="4029672" y="647700"/>
                  </a:moveTo>
                  <a:lnTo>
                    <a:pt x="3972522" y="647700"/>
                  </a:lnTo>
                  <a:lnTo>
                    <a:pt x="3972522" y="666750"/>
                  </a:lnTo>
                  <a:lnTo>
                    <a:pt x="4029672" y="666750"/>
                  </a:lnTo>
                  <a:lnTo>
                    <a:pt x="4029672" y="647700"/>
                  </a:lnTo>
                  <a:close/>
                </a:path>
                <a:path w="4267200" h="666750">
                  <a:moveTo>
                    <a:pt x="4065384" y="0"/>
                  </a:moveTo>
                  <a:lnTo>
                    <a:pt x="4008234" y="0"/>
                  </a:lnTo>
                  <a:lnTo>
                    <a:pt x="4008234" y="19050"/>
                  </a:lnTo>
                  <a:lnTo>
                    <a:pt x="4065384" y="19050"/>
                  </a:lnTo>
                  <a:lnTo>
                    <a:pt x="4065384" y="0"/>
                  </a:lnTo>
                  <a:close/>
                </a:path>
                <a:path w="4267200" h="666750">
                  <a:moveTo>
                    <a:pt x="4125112" y="647700"/>
                  </a:moveTo>
                  <a:lnTo>
                    <a:pt x="4067962" y="647700"/>
                  </a:lnTo>
                  <a:lnTo>
                    <a:pt x="4067962" y="666750"/>
                  </a:lnTo>
                  <a:lnTo>
                    <a:pt x="4125112" y="666750"/>
                  </a:lnTo>
                  <a:lnTo>
                    <a:pt x="4125112" y="647700"/>
                  </a:lnTo>
                  <a:close/>
                </a:path>
                <a:path w="4267200" h="666750">
                  <a:moveTo>
                    <a:pt x="4160824" y="0"/>
                  </a:moveTo>
                  <a:lnTo>
                    <a:pt x="4103674" y="0"/>
                  </a:lnTo>
                  <a:lnTo>
                    <a:pt x="4103674" y="19050"/>
                  </a:lnTo>
                  <a:lnTo>
                    <a:pt x="4160824" y="19050"/>
                  </a:lnTo>
                  <a:lnTo>
                    <a:pt x="4160824" y="0"/>
                  </a:lnTo>
                  <a:close/>
                </a:path>
                <a:path w="4267200" h="666750">
                  <a:moveTo>
                    <a:pt x="4223182" y="651725"/>
                  </a:moveTo>
                  <a:lnTo>
                    <a:pt x="4212933" y="635673"/>
                  </a:lnTo>
                  <a:lnTo>
                    <a:pt x="4207916" y="638683"/>
                  </a:lnTo>
                  <a:lnTo>
                    <a:pt x="4201122" y="641896"/>
                  </a:lnTo>
                  <a:lnTo>
                    <a:pt x="4194048" y="644436"/>
                  </a:lnTo>
                  <a:lnTo>
                    <a:pt x="4186821" y="646239"/>
                  </a:lnTo>
                  <a:lnTo>
                    <a:pt x="4179468" y="647331"/>
                  </a:lnTo>
                  <a:lnTo>
                    <a:pt x="4171950" y="647700"/>
                  </a:lnTo>
                  <a:lnTo>
                    <a:pt x="4163403" y="647700"/>
                  </a:lnTo>
                  <a:lnTo>
                    <a:pt x="4163403" y="666750"/>
                  </a:lnTo>
                  <a:lnTo>
                    <a:pt x="4171950" y="666750"/>
                  </a:lnTo>
                  <a:lnTo>
                    <a:pt x="4181335" y="666292"/>
                  </a:lnTo>
                  <a:lnTo>
                    <a:pt x="4190542" y="664933"/>
                  </a:lnTo>
                  <a:lnTo>
                    <a:pt x="4199559" y="662660"/>
                  </a:lnTo>
                  <a:lnTo>
                    <a:pt x="4208411" y="659498"/>
                  </a:lnTo>
                  <a:lnTo>
                    <a:pt x="4216895" y="655485"/>
                  </a:lnTo>
                  <a:lnTo>
                    <a:pt x="4223182" y="651725"/>
                  </a:lnTo>
                  <a:close/>
                </a:path>
                <a:path w="4267200" h="666750">
                  <a:moveTo>
                    <a:pt x="4251680" y="43167"/>
                  </a:moveTo>
                  <a:lnTo>
                    <a:pt x="4224883" y="16027"/>
                  </a:lnTo>
                  <a:lnTo>
                    <a:pt x="4201528" y="4775"/>
                  </a:lnTo>
                  <a:lnTo>
                    <a:pt x="4195622" y="22872"/>
                  </a:lnTo>
                  <a:lnTo>
                    <a:pt x="4201122" y="24841"/>
                  </a:lnTo>
                  <a:lnTo>
                    <a:pt x="4207916" y="28054"/>
                  </a:lnTo>
                  <a:lnTo>
                    <a:pt x="4235729" y="53581"/>
                  </a:lnTo>
                  <a:lnTo>
                    <a:pt x="4251680" y="43167"/>
                  </a:lnTo>
                  <a:close/>
                </a:path>
                <a:path w="4267200" h="666750">
                  <a:moveTo>
                    <a:pt x="4267200" y="561251"/>
                  </a:moveTo>
                  <a:lnTo>
                    <a:pt x="4248150" y="561251"/>
                  </a:lnTo>
                  <a:lnTo>
                    <a:pt x="4248150" y="571500"/>
                  </a:lnTo>
                  <a:lnTo>
                    <a:pt x="4247794" y="579005"/>
                  </a:lnTo>
                  <a:lnTo>
                    <a:pt x="4236923" y="611174"/>
                  </a:lnTo>
                  <a:lnTo>
                    <a:pt x="4253154" y="621093"/>
                  </a:lnTo>
                  <a:lnTo>
                    <a:pt x="4266755" y="580872"/>
                  </a:lnTo>
                  <a:lnTo>
                    <a:pt x="4267200" y="571500"/>
                  </a:lnTo>
                  <a:lnTo>
                    <a:pt x="4267200" y="561251"/>
                  </a:lnTo>
                  <a:close/>
                </a:path>
                <a:path w="4267200" h="666750">
                  <a:moveTo>
                    <a:pt x="4267200" y="465810"/>
                  </a:moveTo>
                  <a:lnTo>
                    <a:pt x="4248150" y="465810"/>
                  </a:lnTo>
                  <a:lnTo>
                    <a:pt x="4248150" y="522960"/>
                  </a:lnTo>
                  <a:lnTo>
                    <a:pt x="4267200" y="522960"/>
                  </a:lnTo>
                  <a:lnTo>
                    <a:pt x="4267200" y="465810"/>
                  </a:lnTo>
                  <a:close/>
                </a:path>
                <a:path w="4267200" h="666750">
                  <a:moveTo>
                    <a:pt x="4267200" y="370370"/>
                  </a:moveTo>
                  <a:lnTo>
                    <a:pt x="4248150" y="370370"/>
                  </a:lnTo>
                  <a:lnTo>
                    <a:pt x="4248150" y="427520"/>
                  </a:lnTo>
                  <a:lnTo>
                    <a:pt x="4267200" y="427520"/>
                  </a:lnTo>
                  <a:lnTo>
                    <a:pt x="4267200" y="370370"/>
                  </a:lnTo>
                  <a:close/>
                </a:path>
                <a:path w="4267200" h="666750">
                  <a:moveTo>
                    <a:pt x="4267200" y="274929"/>
                  </a:moveTo>
                  <a:lnTo>
                    <a:pt x="4248150" y="274929"/>
                  </a:lnTo>
                  <a:lnTo>
                    <a:pt x="4248150" y="332079"/>
                  </a:lnTo>
                  <a:lnTo>
                    <a:pt x="4267200" y="332079"/>
                  </a:lnTo>
                  <a:lnTo>
                    <a:pt x="4267200" y="274929"/>
                  </a:lnTo>
                  <a:close/>
                </a:path>
                <a:path w="4267200" h="666750">
                  <a:moveTo>
                    <a:pt x="4267200" y="179489"/>
                  </a:moveTo>
                  <a:lnTo>
                    <a:pt x="4248150" y="179489"/>
                  </a:lnTo>
                  <a:lnTo>
                    <a:pt x="4248150" y="236639"/>
                  </a:lnTo>
                  <a:lnTo>
                    <a:pt x="4267200" y="236639"/>
                  </a:lnTo>
                  <a:lnTo>
                    <a:pt x="4267200" y="179489"/>
                  </a:lnTo>
                  <a:close/>
                </a:path>
                <a:path w="4267200" h="666750">
                  <a:moveTo>
                    <a:pt x="4267200" y="95250"/>
                  </a:moveTo>
                  <a:lnTo>
                    <a:pt x="4266844" y="87731"/>
                  </a:lnTo>
                  <a:lnTo>
                    <a:pt x="4266717" y="85661"/>
                  </a:lnTo>
                  <a:lnTo>
                    <a:pt x="4266374" y="83261"/>
                  </a:lnTo>
                  <a:lnTo>
                    <a:pt x="4247489" y="85661"/>
                  </a:lnTo>
                  <a:lnTo>
                    <a:pt x="4247515" y="85864"/>
                  </a:lnTo>
                  <a:lnTo>
                    <a:pt x="4247794" y="87731"/>
                  </a:lnTo>
                  <a:lnTo>
                    <a:pt x="4248150" y="95250"/>
                  </a:lnTo>
                  <a:lnTo>
                    <a:pt x="4248150" y="141198"/>
                  </a:lnTo>
                  <a:lnTo>
                    <a:pt x="4267200" y="141198"/>
                  </a:lnTo>
                  <a:lnTo>
                    <a:pt x="4267200" y="95250"/>
                  </a:lnTo>
                  <a:close/>
                </a:path>
              </a:pathLst>
            </a:custGeom>
            <a:solidFill>
              <a:srgbClr val="3A6EA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62249" y="4171949"/>
              <a:ext cx="4229099" cy="571499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2752724" y="4162424"/>
              <a:ext cx="4248150" cy="590550"/>
            </a:xfrm>
            <a:custGeom>
              <a:avLst/>
              <a:gdLst/>
              <a:ahLst/>
              <a:cxnLst/>
              <a:rect l="l" t="t" r="r" b="b"/>
              <a:pathLst>
                <a:path w="4248150" h="590550">
                  <a:moveTo>
                    <a:pt x="0" y="5238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6433" y="22623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2" y="11236"/>
                  </a:lnTo>
                  <a:lnTo>
                    <a:pt x="33272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4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4181474" y="0"/>
                  </a:lnTo>
                  <a:lnTo>
                    <a:pt x="4185852" y="0"/>
                  </a:lnTo>
                  <a:lnTo>
                    <a:pt x="4190188" y="427"/>
                  </a:lnTo>
                  <a:lnTo>
                    <a:pt x="4225524" y="16432"/>
                  </a:lnTo>
                  <a:lnTo>
                    <a:pt x="4228620" y="19528"/>
                  </a:lnTo>
                  <a:lnTo>
                    <a:pt x="4231715" y="22623"/>
                  </a:lnTo>
                  <a:lnTo>
                    <a:pt x="4234479" y="25991"/>
                  </a:lnTo>
                  <a:lnTo>
                    <a:pt x="4236911" y="29631"/>
                  </a:lnTo>
                  <a:lnTo>
                    <a:pt x="4239343" y="33271"/>
                  </a:lnTo>
                  <a:lnTo>
                    <a:pt x="4246867" y="53666"/>
                  </a:lnTo>
                  <a:lnTo>
                    <a:pt x="4247721" y="57960"/>
                  </a:lnTo>
                  <a:lnTo>
                    <a:pt x="4248149" y="62296"/>
                  </a:lnTo>
                  <a:lnTo>
                    <a:pt x="4248149" y="66674"/>
                  </a:lnTo>
                  <a:lnTo>
                    <a:pt x="4248149" y="523874"/>
                  </a:lnTo>
                  <a:lnTo>
                    <a:pt x="4248149" y="528252"/>
                  </a:lnTo>
                  <a:lnTo>
                    <a:pt x="4247721" y="532588"/>
                  </a:lnTo>
                  <a:lnTo>
                    <a:pt x="4246867" y="536882"/>
                  </a:lnTo>
                  <a:lnTo>
                    <a:pt x="4246013" y="541175"/>
                  </a:lnTo>
                  <a:lnTo>
                    <a:pt x="4225524" y="574116"/>
                  </a:lnTo>
                  <a:lnTo>
                    <a:pt x="4218516" y="579312"/>
                  </a:lnTo>
                  <a:lnTo>
                    <a:pt x="4214876" y="581744"/>
                  </a:lnTo>
                  <a:lnTo>
                    <a:pt x="4181474" y="590549"/>
                  </a:lnTo>
                  <a:lnTo>
                    <a:pt x="66675" y="590549"/>
                  </a:lnTo>
                  <a:lnTo>
                    <a:pt x="62297" y="590549"/>
                  </a:lnTo>
                  <a:lnTo>
                    <a:pt x="57961" y="590122"/>
                  </a:lnTo>
                  <a:lnTo>
                    <a:pt x="53667" y="589268"/>
                  </a:lnTo>
                  <a:lnTo>
                    <a:pt x="49373" y="588414"/>
                  </a:lnTo>
                  <a:lnTo>
                    <a:pt x="45204" y="587149"/>
                  </a:lnTo>
                  <a:lnTo>
                    <a:pt x="41159" y="585474"/>
                  </a:lnTo>
                  <a:lnTo>
                    <a:pt x="37114" y="583798"/>
                  </a:lnTo>
                  <a:lnTo>
                    <a:pt x="33272" y="581744"/>
                  </a:lnTo>
                  <a:lnTo>
                    <a:pt x="29632" y="579312"/>
                  </a:lnTo>
                  <a:lnTo>
                    <a:pt x="25992" y="576880"/>
                  </a:lnTo>
                  <a:lnTo>
                    <a:pt x="3399" y="545345"/>
                  </a:lnTo>
                  <a:lnTo>
                    <a:pt x="0" y="528252"/>
                  </a:lnTo>
                  <a:lnTo>
                    <a:pt x="0" y="523874"/>
                  </a:lnTo>
                </a:path>
              </a:pathLst>
            </a:custGeom>
            <a:ln w="19049">
              <a:solidFill>
                <a:srgbClr val="28A64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00499" y="1314450"/>
              <a:ext cx="171450" cy="171450"/>
            </a:xfrm>
            <a:prstGeom prst="rect">
              <a:avLst/>
            </a:prstGeom>
          </p:spPr>
        </p:pic>
      </p:grpSp>
      <p:sp>
        <p:nvSpPr>
          <p:cNvPr id="39" name="object 39" descr=""/>
          <p:cNvSpPr txBox="1"/>
          <p:nvPr/>
        </p:nvSpPr>
        <p:spPr>
          <a:xfrm>
            <a:off x="4193554" y="1260411"/>
            <a:ext cx="157670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60" b="1">
                <a:solidFill>
                  <a:srgbClr val="3A6EA5"/>
                </a:solidFill>
                <a:latin typeface="Tahoma"/>
                <a:cs typeface="Tahoma"/>
              </a:rPr>
              <a:t>ASD-</a:t>
            </a:r>
            <a:r>
              <a:rPr dirty="0" sz="1500" spc="-155" b="1">
                <a:solidFill>
                  <a:srgbClr val="3A6EA5"/>
                </a:solidFill>
                <a:latin typeface="Tahoma"/>
                <a:cs typeface="Tahoma"/>
              </a:rPr>
              <a:t>AFPA</a:t>
            </a:r>
            <a:r>
              <a:rPr dirty="0" sz="1500" spc="-75" b="1">
                <a:solidFill>
                  <a:srgbClr val="3A6EA5"/>
                </a:solidFill>
                <a:latin typeface="Tahoma"/>
                <a:cs typeface="Tahoma"/>
              </a:rPr>
              <a:t> </a:t>
            </a:r>
            <a:r>
              <a:rPr dirty="0" sz="1500" spc="-150" b="1">
                <a:solidFill>
                  <a:srgbClr val="3A6EA5"/>
                </a:solidFill>
                <a:latin typeface="Malgun Gothic"/>
                <a:cs typeface="Malgun Gothic"/>
              </a:rPr>
              <a:t>コア</a:t>
            </a:r>
            <a:r>
              <a:rPr dirty="0" sz="1500" spc="-150" b="1">
                <a:solidFill>
                  <a:srgbClr val="3A6EA5"/>
                </a:solidFill>
                <a:latin typeface="Microsoft JhengHei"/>
                <a:cs typeface="Microsoft JhengHei"/>
              </a:rPr>
              <a:t>処</a:t>
            </a:r>
            <a:r>
              <a:rPr dirty="0" sz="1500" spc="-75" b="1">
                <a:solidFill>
                  <a:srgbClr val="3A6EA5"/>
                </a:solidFill>
                <a:latin typeface="Malgun Gothic"/>
                <a:cs typeface="Malgun Gothic"/>
              </a:rPr>
              <a:t>理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2574292" y="1076325"/>
            <a:ext cx="4605020" cy="3340100"/>
            <a:chOff x="2574292" y="1076325"/>
            <a:chExt cx="4605020" cy="3340100"/>
          </a:xfrm>
        </p:grpSpPr>
        <p:pic>
          <p:nvPicPr>
            <p:cNvPr id="41" name="object 4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51733" y="3552381"/>
              <a:ext cx="133350" cy="134235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48124" y="4312708"/>
              <a:ext cx="133349" cy="103716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74292" y="1076325"/>
              <a:ext cx="4605013" cy="47624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2752724" y="1676400"/>
              <a:ext cx="2047875" cy="1562100"/>
            </a:xfrm>
            <a:custGeom>
              <a:avLst/>
              <a:gdLst/>
              <a:ahLst/>
              <a:cxnLst/>
              <a:rect l="l" t="t" r="r" b="b"/>
              <a:pathLst>
                <a:path w="2047875" h="1562100">
                  <a:moveTo>
                    <a:pt x="1985578" y="1562099"/>
                  </a:moveTo>
                  <a:lnTo>
                    <a:pt x="62297" y="1562099"/>
                  </a:lnTo>
                  <a:lnTo>
                    <a:pt x="57961" y="1561672"/>
                  </a:lnTo>
                  <a:lnTo>
                    <a:pt x="22624" y="1545666"/>
                  </a:lnTo>
                  <a:lnTo>
                    <a:pt x="2135" y="1512726"/>
                  </a:lnTo>
                  <a:lnTo>
                    <a:pt x="0" y="1499802"/>
                  </a:lnTo>
                  <a:lnTo>
                    <a:pt x="0" y="1495424"/>
                  </a:lnTo>
                  <a:lnTo>
                    <a:pt x="0" y="62297"/>
                  </a:lnTo>
                  <a:lnTo>
                    <a:pt x="13668" y="25992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1985578" y="0"/>
                  </a:lnTo>
                  <a:lnTo>
                    <a:pt x="2021882" y="13668"/>
                  </a:lnTo>
                  <a:lnTo>
                    <a:pt x="2044474" y="45204"/>
                  </a:lnTo>
                  <a:lnTo>
                    <a:pt x="2047874" y="62297"/>
                  </a:lnTo>
                  <a:lnTo>
                    <a:pt x="2047874" y="1499802"/>
                  </a:lnTo>
                  <a:lnTo>
                    <a:pt x="2034205" y="1536107"/>
                  </a:lnTo>
                  <a:lnTo>
                    <a:pt x="2002670" y="1558699"/>
                  </a:lnTo>
                  <a:lnTo>
                    <a:pt x="1989913" y="1561672"/>
                  </a:lnTo>
                  <a:lnTo>
                    <a:pt x="1985578" y="1562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752724" y="1676400"/>
              <a:ext cx="2047875" cy="1562100"/>
            </a:xfrm>
            <a:custGeom>
              <a:avLst/>
              <a:gdLst/>
              <a:ahLst/>
              <a:cxnLst/>
              <a:rect l="l" t="t" r="r" b="b"/>
              <a:pathLst>
                <a:path w="2047875" h="1562100">
                  <a:moveTo>
                    <a:pt x="0" y="149542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1"/>
                  </a:lnTo>
                  <a:lnTo>
                    <a:pt x="16433" y="22624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41159" y="5075"/>
                  </a:lnTo>
                  <a:lnTo>
                    <a:pt x="45204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981200" y="0"/>
                  </a:lnTo>
                  <a:lnTo>
                    <a:pt x="1985578" y="0"/>
                  </a:lnTo>
                  <a:lnTo>
                    <a:pt x="1989913" y="427"/>
                  </a:lnTo>
                  <a:lnTo>
                    <a:pt x="1994207" y="1281"/>
                  </a:lnTo>
                  <a:lnTo>
                    <a:pt x="1998501" y="2135"/>
                  </a:lnTo>
                  <a:lnTo>
                    <a:pt x="2018242" y="11236"/>
                  </a:lnTo>
                  <a:lnTo>
                    <a:pt x="2021882" y="13668"/>
                  </a:lnTo>
                  <a:lnTo>
                    <a:pt x="2044474" y="45204"/>
                  </a:lnTo>
                  <a:lnTo>
                    <a:pt x="2047875" y="66674"/>
                  </a:lnTo>
                  <a:lnTo>
                    <a:pt x="2047875" y="1495424"/>
                  </a:lnTo>
                  <a:lnTo>
                    <a:pt x="2042799" y="1520939"/>
                  </a:lnTo>
                  <a:lnTo>
                    <a:pt x="2041123" y="1524984"/>
                  </a:lnTo>
                  <a:lnTo>
                    <a:pt x="2014602" y="1553295"/>
                  </a:lnTo>
                  <a:lnTo>
                    <a:pt x="1994207" y="1560818"/>
                  </a:lnTo>
                  <a:lnTo>
                    <a:pt x="1989913" y="1561672"/>
                  </a:lnTo>
                  <a:lnTo>
                    <a:pt x="1985578" y="1562099"/>
                  </a:lnTo>
                  <a:lnTo>
                    <a:pt x="1981200" y="1562099"/>
                  </a:lnTo>
                  <a:lnTo>
                    <a:pt x="66675" y="1562099"/>
                  </a:lnTo>
                  <a:lnTo>
                    <a:pt x="62297" y="1562099"/>
                  </a:lnTo>
                  <a:lnTo>
                    <a:pt x="57961" y="1561672"/>
                  </a:lnTo>
                  <a:lnTo>
                    <a:pt x="53667" y="1560818"/>
                  </a:lnTo>
                  <a:lnTo>
                    <a:pt x="49373" y="1559964"/>
                  </a:lnTo>
                  <a:lnTo>
                    <a:pt x="45204" y="1558699"/>
                  </a:lnTo>
                  <a:lnTo>
                    <a:pt x="41159" y="1557024"/>
                  </a:lnTo>
                  <a:lnTo>
                    <a:pt x="37114" y="1555349"/>
                  </a:lnTo>
                  <a:lnTo>
                    <a:pt x="33272" y="1553295"/>
                  </a:lnTo>
                  <a:lnTo>
                    <a:pt x="29632" y="1550862"/>
                  </a:lnTo>
                  <a:lnTo>
                    <a:pt x="25992" y="1548430"/>
                  </a:lnTo>
                  <a:lnTo>
                    <a:pt x="22624" y="1545666"/>
                  </a:lnTo>
                  <a:lnTo>
                    <a:pt x="19528" y="1542571"/>
                  </a:lnTo>
                  <a:lnTo>
                    <a:pt x="16433" y="1539475"/>
                  </a:lnTo>
                  <a:lnTo>
                    <a:pt x="427" y="1504138"/>
                  </a:lnTo>
                  <a:lnTo>
                    <a:pt x="0" y="1499802"/>
                  </a:lnTo>
                  <a:lnTo>
                    <a:pt x="0" y="1495424"/>
                  </a:lnTo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05125" y="1875233"/>
              <a:ext cx="166687" cy="116681"/>
            </a:xfrm>
            <a:prstGeom prst="rect">
              <a:avLst/>
            </a:prstGeom>
          </p:spPr>
        </p:pic>
      </p:grpSp>
      <p:sp>
        <p:nvSpPr>
          <p:cNvPr id="47" name="object 47" descr=""/>
          <p:cNvSpPr txBox="1"/>
          <p:nvPr/>
        </p:nvSpPr>
        <p:spPr>
          <a:xfrm>
            <a:off x="3059112" y="1817814"/>
            <a:ext cx="6921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 b="1">
                <a:solidFill>
                  <a:srgbClr val="3A6EA5"/>
                </a:solidFill>
                <a:latin typeface="Malgun Gothic"/>
                <a:cs typeface="Malgun Gothic"/>
              </a:rPr>
              <a:t>周波</a:t>
            </a:r>
            <a:r>
              <a:rPr dirty="0" sz="1150" spc="-90" b="1">
                <a:solidFill>
                  <a:srgbClr val="3A6EA5"/>
                </a:solidFill>
                <a:latin typeface="Microsoft JhengHei"/>
                <a:cs typeface="Microsoft JhengHei"/>
              </a:rPr>
              <a:t>数特徴</a:t>
            </a:r>
            <a:endParaRPr sz="1150">
              <a:latin typeface="Microsoft JhengHei"/>
              <a:cs typeface="Microsoft JhengHe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2892424" y="2933880"/>
            <a:ext cx="1163955" cy="1587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110">
                <a:solidFill>
                  <a:srgbClr val="666666"/>
                </a:solidFill>
                <a:latin typeface="SimSun"/>
                <a:cs typeface="SimSun"/>
              </a:rPr>
              <a:t>適応的周波数パターン学習</a:t>
            </a:r>
            <a:endParaRPr sz="850">
              <a:latin typeface="SimSun"/>
              <a:cs typeface="SimSun"/>
            </a:endParaRPr>
          </a:p>
        </p:txBody>
      </p:sp>
      <p:pic>
        <p:nvPicPr>
          <p:cNvPr id="49" name="object 49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636598" y="1607648"/>
            <a:ext cx="232751" cy="232751"/>
          </a:xfrm>
          <a:prstGeom prst="rect">
            <a:avLst/>
          </a:prstGeom>
        </p:spPr>
      </p:pic>
      <p:sp>
        <p:nvSpPr>
          <p:cNvPr id="50" name="object 50" descr=""/>
          <p:cNvSpPr txBox="1"/>
          <p:nvPr/>
        </p:nvSpPr>
        <p:spPr>
          <a:xfrm>
            <a:off x="4607684" y="1631574"/>
            <a:ext cx="290830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75" b="1">
                <a:solidFill>
                  <a:srgbClr val="FFFFFF"/>
                </a:solidFill>
                <a:latin typeface="Arial"/>
                <a:cs typeface="Arial"/>
              </a:rPr>
              <a:t>NEW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1" name="object 51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905124" y="2581275"/>
            <a:ext cx="1743074" cy="314324"/>
          </a:xfrm>
          <a:prstGeom prst="rect">
            <a:avLst/>
          </a:prstGeom>
        </p:spPr>
      </p:pic>
      <p:sp>
        <p:nvSpPr>
          <p:cNvPr id="52" name="object 52" descr=""/>
          <p:cNvSpPr txBox="1"/>
          <p:nvPr/>
        </p:nvSpPr>
        <p:spPr>
          <a:xfrm>
            <a:off x="3104802" y="2644716"/>
            <a:ext cx="13392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85" b="1">
                <a:solidFill>
                  <a:srgbClr val="FFFFFF"/>
                </a:solidFill>
                <a:latin typeface="Tahoma"/>
                <a:cs typeface="Tahoma"/>
              </a:rPr>
              <a:t>Multi-</a:t>
            </a:r>
            <a:r>
              <a:rPr dirty="0" sz="950" spc="-100" b="1">
                <a:solidFill>
                  <a:srgbClr val="FFFFFF"/>
                </a:solidFill>
                <a:latin typeface="Tahoma"/>
                <a:cs typeface="Tahoma"/>
              </a:rPr>
              <a:t>Head</a:t>
            </a:r>
            <a:r>
              <a:rPr dirty="0" sz="950" spc="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50" spc="-85" b="1">
                <a:solidFill>
                  <a:srgbClr val="FFFFFF"/>
                </a:solidFill>
                <a:latin typeface="Tahoma"/>
                <a:cs typeface="Tahoma"/>
              </a:rPr>
              <a:t>Self-</a:t>
            </a:r>
            <a:r>
              <a:rPr dirty="0" sz="950" spc="-75" b="1">
                <a:solidFill>
                  <a:srgbClr val="FFFFFF"/>
                </a:solidFill>
                <a:latin typeface="Tahoma"/>
                <a:cs typeface="Tahoma"/>
              </a:rPr>
              <a:t>Attention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2905124" y="1666875"/>
            <a:ext cx="4105275" cy="1581150"/>
            <a:chOff x="2905124" y="1666875"/>
            <a:chExt cx="4105275" cy="1581150"/>
          </a:xfrm>
        </p:grpSpPr>
        <p:pic>
          <p:nvPicPr>
            <p:cNvPr id="54" name="object 5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905124" y="2581274"/>
              <a:ext cx="813849" cy="314324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4962523" y="1676399"/>
              <a:ext cx="2038350" cy="1562100"/>
            </a:xfrm>
            <a:custGeom>
              <a:avLst/>
              <a:gdLst/>
              <a:ahLst/>
              <a:cxnLst/>
              <a:rect l="l" t="t" r="r" b="b"/>
              <a:pathLst>
                <a:path w="2038350" h="1562100">
                  <a:moveTo>
                    <a:pt x="1976052" y="1562099"/>
                  </a:moveTo>
                  <a:lnTo>
                    <a:pt x="62297" y="1562099"/>
                  </a:lnTo>
                  <a:lnTo>
                    <a:pt x="57961" y="1561672"/>
                  </a:lnTo>
                  <a:lnTo>
                    <a:pt x="22624" y="1545666"/>
                  </a:lnTo>
                  <a:lnTo>
                    <a:pt x="2135" y="1512726"/>
                  </a:lnTo>
                  <a:lnTo>
                    <a:pt x="0" y="1499802"/>
                  </a:lnTo>
                  <a:lnTo>
                    <a:pt x="0" y="1495424"/>
                  </a:lnTo>
                  <a:lnTo>
                    <a:pt x="0" y="62297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7" y="0"/>
                  </a:lnTo>
                  <a:lnTo>
                    <a:pt x="1976052" y="0"/>
                  </a:lnTo>
                  <a:lnTo>
                    <a:pt x="2012357" y="13668"/>
                  </a:lnTo>
                  <a:lnTo>
                    <a:pt x="2034949" y="45204"/>
                  </a:lnTo>
                  <a:lnTo>
                    <a:pt x="2038349" y="62297"/>
                  </a:lnTo>
                  <a:lnTo>
                    <a:pt x="2038349" y="1499802"/>
                  </a:lnTo>
                  <a:lnTo>
                    <a:pt x="2024680" y="1536107"/>
                  </a:lnTo>
                  <a:lnTo>
                    <a:pt x="1993144" y="1558699"/>
                  </a:lnTo>
                  <a:lnTo>
                    <a:pt x="1980388" y="1561672"/>
                  </a:lnTo>
                  <a:lnTo>
                    <a:pt x="1976052" y="1562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962523" y="1676399"/>
              <a:ext cx="2038350" cy="1562100"/>
            </a:xfrm>
            <a:custGeom>
              <a:avLst/>
              <a:gdLst/>
              <a:ahLst/>
              <a:cxnLst/>
              <a:rect l="l" t="t" r="r" b="b"/>
              <a:pathLst>
                <a:path w="2038350" h="1562100">
                  <a:moveTo>
                    <a:pt x="0" y="149542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1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4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6" y="29632"/>
                  </a:lnTo>
                  <a:lnTo>
                    <a:pt x="13668" y="25992"/>
                  </a:lnTo>
                  <a:lnTo>
                    <a:pt x="16432" y="22624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2" y="11236"/>
                  </a:lnTo>
                  <a:lnTo>
                    <a:pt x="33272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971675" y="0"/>
                  </a:lnTo>
                  <a:lnTo>
                    <a:pt x="1976052" y="0"/>
                  </a:lnTo>
                  <a:lnTo>
                    <a:pt x="1980388" y="427"/>
                  </a:lnTo>
                  <a:lnTo>
                    <a:pt x="1984682" y="1281"/>
                  </a:lnTo>
                  <a:lnTo>
                    <a:pt x="1988975" y="2135"/>
                  </a:lnTo>
                  <a:lnTo>
                    <a:pt x="2008717" y="11236"/>
                  </a:lnTo>
                  <a:lnTo>
                    <a:pt x="2012357" y="13668"/>
                  </a:lnTo>
                  <a:lnTo>
                    <a:pt x="2015724" y="16432"/>
                  </a:lnTo>
                  <a:lnTo>
                    <a:pt x="2018820" y="19528"/>
                  </a:lnTo>
                  <a:lnTo>
                    <a:pt x="2021916" y="22624"/>
                  </a:lnTo>
                  <a:lnTo>
                    <a:pt x="2037068" y="53667"/>
                  </a:lnTo>
                  <a:lnTo>
                    <a:pt x="2037922" y="57961"/>
                  </a:lnTo>
                  <a:lnTo>
                    <a:pt x="2038349" y="62297"/>
                  </a:lnTo>
                  <a:lnTo>
                    <a:pt x="2038350" y="66674"/>
                  </a:lnTo>
                  <a:lnTo>
                    <a:pt x="2038350" y="1495424"/>
                  </a:lnTo>
                  <a:lnTo>
                    <a:pt x="2038349" y="1499802"/>
                  </a:lnTo>
                  <a:lnTo>
                    <a:pt x="2037922" y="1504138"/>
                  </a:lnTo>
                  <a:lnTo>
                    <a:pt x="2037068" y="1508432"/>
                  </a:lnTo>
                  <a:lnTo>
                    <a:pt x="2036214" y="1512726"/>
                  </a:lnTo>
                  <a:lnTo>
                    <a:pt x="2015724" y="1545666"/>
                  </a:lnTo>
                  <a:lnTo>
                    <a:pt x="2008716" y="1550862"/>
                  </a:lnTo>
                  <a:lnTo>
                    <a:pt x="2005076" y="1553295"/>
                  </a:lnTo>
                  <a:lnTo>
                    <a:pt x="1976052" y="1562099"/>
                  </a:lnTo>
                  <a:lnTo>
                    <a:pt x="1971675" y="1562099"/>
                  </a:lnTo>
                  <a:lnTo>
                    <a:pt x="66675" y="1562099"/>
                  </a:lnTo>
                  <a:lnTo>
                    <a:pt x="62297" y="1562099"/>
                  </a:lnTo>
                  <a:lnTo>
                    <a:pt x="57961" y="1561672"/>
                  </a:lnTo>
                  <a:lnTo>
                    <a:pt x="53667" y="1560818"/>
                  </a:lnTo>
                  <a:lnTo>
                    <a:pt x="49373" y="1559964"/>
                  </a:lnTo>
                  <a:lnTo>
                    <a:pt x="45203" y="1558699"/>
                  </a:lnTo>
                  <a:lnTo>
                    <a:pt x="41159" y="1557024"/>
                  </a:lnTo>
                  <a:lnTo>
                    <a:pt x="37114" y="1555349"/>
                  </a:lnTo>
                  <a:lnTo>
                    <a:pt x="33271" y="1553295"/>
                  </a:lnTo>
                  <a:lnTo>
                    <a:pt x="29631" y="1550862"/>
                  </a:lnTo>
                  <a:lnTo>
                    <a:pt x="25992" y="1548430"/>
                  </a:lnTo>
                  <a:lnTo>
                    <a:pt x="5075" y="1520939"/>
                  </a:lnTo>
                  <a:lnTo>
                    <a:pt x="3399" y="1516895"/>
                  </a:lnTo>
                  <a:lnTo>
                    <a:pt x="2135" y="1512726"/>
                  </a:lnTo>
                  <a:lnTo>
                    <a:pt x="1281" y="1508432"/>
                  </a:lnTo>
                  <a:lnTo>
                    <a:pt x="427" y="1504138"/>
                  </a:lnTo>
                  <a:lnTo>
                    <a:pt x="0" y="1499802"/>
                  </a:lnTo>
                  <a:lnTo>
                    <a:pt x="0" y="1495424"/>
                  </a:lnTo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114925" y="1866899"/>
              <a:ext cx="133349" cy="133349"/>
            </a:xfrm>
            <a:prstGeom prst="rect">
              <a:avLst/>
            </a:prstGeom>
          </p:spPr>
        </p:pic>
      </p:grpSp>
      <p:sp>
        <p:nvSpPr>
          <p:cNvPr id="58" name="object 58" descr=""/>
          <p:cNvSpPr txBox="1"/>
          <p:nvPr/>
        </p:nvSpPr>
        <p:spPr>
          <a:xfrm>
            <a:off x="5230812" y="1817814"/>
            <a:ext cx="55880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 b="1">
                <a:solidFill>
                  <a:srgbClr val="666666"/>
                </a:solidFill>
                <a:latin typeface="Malgun Gothic"/>
                <a:cs typeface="Malgun Gothic"/>
              </a:rPr>
              <a:t>時間特</a:t>
            </a:r>
            <a:r>
              <a:rPr dirty="0" sz="1150" spc="-50" b="1">
                <a:solidFill>
                  <a:srgbClr val="666666"/>
                </a:solidFill>
                <a:latin typeface="Microsoft JhengHei"/>
                <a:cs typeface="Microsoft JhengHei"/>
              </a:rPr>
              <a:t>徴</a:t>
            </a:r>
            <a:endParaRPr sz="1150">
              <a:latin typeface="Microsoft JhengHei"/>
              <a:cs typeface="Microsoft JhengHei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5721647" y="2096972"/>
            <a:ext cx="515620" cy="349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080">
              <a:lnSpc>
                <a:spcPct val="118100"/>
              </a:lnSpc>
              <a:spcBef>
                <a:spcPts val="90"/>
              </a:spcBef>
            </a:pPr>
            <a:r>
              <a:rPr dirty="0" sz="900" spc="-35">
                <a:solidFill>
                  <a:srgbClr val="666666"/>
                </a:solidFill>
                <a:latin typeface="Microsoft Sans Serif"/>
                <a:cs typeface="Microsoft Sans Serif"/>
              </a:rPr>
              <a:t>TgramNet </a:t>
            </a:r>
            <a:r>
              <a:rPr dirty="0" sz="900" spc="-25">
                <a:solidFill>
                  <a:srgbClr val="666666"/>
                </a:solidFill>
                <a:latin typeface="Microsoft Sans Serif"/>
                <a:cs typeface="Microsoft Sans Serif"/>
              </a:rPr>
              <a:t>(</a:t>
            </a:r>
            <a:r>
              <a:rPr dirty="0" sz="900" spc="-90">
                <a:solidFill>
                  <a:srgbClr val="666666"/>
                </a:solidFill>
                <a:latin typeface="SimSun"/>
                <a:cs typeface="SimSun"/>
              </a:rPr>
              <a:t>従来手法</a:t>
            </a:r>
            <a:r>
              <a:rPr dirty="0" sz="900" spc="-50">
                <a:solidFill>
                  <a:srgbClr val="666666"/>
                </a:solidFill>
                <a:latin typeface="Microsoft Sans Serif"/>
                <a:cs typeface="Microsoft Sans Serif"/>
              </a:rPr>
              <a:t>)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5097462" y="2524305"/>
            <a:ext cx="878205" cy="1587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114">
                <a:solidFill>
                  <a:srgbClr val="666666"/>
                </a:solidFill>
                <a:latin typeface="SimSun"/>
                <a:cs typeface="SimSun"/>
              </a:rPr>
              <a:t>時間的パターン抽出</a:t>
            </a:r>
            <a:endParaRPr sz="850">
              <a:latin typeface="SimSun"/>
              <a:cs typeface="SimSun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4173715" y="3418790"/>
            <a:ext cx="1573530" cy="123507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353060">
              <a:lnSpc>
                <a:spcPct val="100000"/>
              </a:lnSpc>
              <a:spcBef>
                <a:spcPts val="880"/>
              </a:spcBef>
            </a:pPr>
            <a:r>
              <a:rPr dirty="0" sz="1150" spc="-60" b="1">
                <a:solidFill>
                  <a:srgbClr val="3A6EA5"/>
                </a:solidFill>
                <a:latin typeface="Trebuchet MS"/>
                <a:cs typeface="Trebuchet MS"/>
              </a:rPr>
              <a:t>3</a:t>
            </a:r>
            <a:r>
              <a:rPr dirty="0" sz="1150" spc="-110" b="1">
                <a:solidFill>
                  <a:srgbClr val="3A6EA5"/>
                </a:solidFill>
                <a:latin typeface="Malgun Gothic"/>
                <a:cs typeface="Malgun Gothic"/>
              </a:rPr>
              <a:t>次元</a:t>
            </a:r>
            <a:r>
              <a:rPr dirty="0" sz="1150" spc="-110" b="1">
                <a:solidFill>
                  <a:srgbClr val="3A6EA5"/>
                </a:solidFill>
                <a:latin typeface="Microsoft JhengHei"/>
                <a:cs typeface="Microsoft JhengHei"/>
              </a:rPr>
              <a:t>特徴</a:t>
            </a:r>
            <a:r>
              <a:rPr dirty="0" sz="1150" spc="-80" b="1">
                <a:solidFill>
                  <a:srgbClr val="3A6EA5"/>
                </a:solidFill>
                <a:latin typeface="Malgun Gothic"/>
                <a:cs typeface="Malgun Gothic"/>
              </a:rPr>
              <a:t>融合</a:t>
            </a:r>
            <a:endParaRPr sz="1150">
              <a:latin typeface="Malgun Gothic"/>
              <a:cs typeface="Malgun Gothic"/>
            </a:endParaRPr>
          </a:p>
          <a:p>
            <a:pPr marL="309245">
              <a:lnSpc>
                <a:spcPct val="100000"/>
              </a:lnSpc>
              <a:spcBef>
                <a:spcPts val="595"/>
              </a:spcBef>
            </a:pPr>
            <a:r>
              <a:rPr dirty="0" sz="900" spc="-45">
                <a:solidFill>
                  <a:srgbClr val="444444"/>
                </a:solidFill>
                <a:latin typeface="Microsoft Sans Serif"/>
                <a:cs typeface="Microsoft Sans Serif"/>
              </a:rPr>
              <a:t>Concat</a:t>
            </a:r>
            <a:r>
              <a:rPr dirty="0" baseline="-12820" sz="975" spc="-67">
                <a:solidFill>
                  <a:srgbClr val="444444"/>
                </a:solidFill>
                <a:latin typeface="Roboto"/>
                <a:cs typeface="Roboto"/>
              </a:rPr>
              <a:t>3D</a:t>
            </a:r>
            <a:r>
              <a:rPr dirty="0" sz="900" spc="-45">
                <a:solidFill>
                  <a:srgbClr val="444444"/>
                </a:solidFill>
                <a:latin typeface="Microsoft Sans Serif"/>
                <a:cs typeface="Microsoft Sans Serif"/>
              </a:rPr>
              <a:t>(</a:t>
            </a:r>
            <a:r>
              <a:rPr dirty="0" sz="900" spc="-45">
                <a:solidFill>
                  <a:srgbClr val="444444"/>
                </a:solidFill>
                <a:latin typeface="Verdana"/>
                <a:cs typeface="Verdana"/>
              </a:rPr>
              <a:t>X</a:t>
            </a:r>
            <a:r>
              <a:rPr dirty="0" baseline="10416" sz="1200" spc="-202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baseline="-12820" sz="975" spc="-37">
                <a:solidFill>
                  <a:srgbClr val="444444"/>
                </a:solidFill>
                <a:latin typeface="Roboto"/>
                <a:cs typeface="Roboto"/>
              </a:rPr>
              <a:t>F</a:t>
            </a:r>
            <a:r>
              <a:rPr dirty="0" sz="900" spc="-25">
                <a:solidFill>
                  <a:srgbClr val="444444"/>
                </a:solidFill>
                <a:latin typeface="Microsoft Sans Serif"/>
                <a:cs typeface="Microsoft Sans Serif"/>
              </a:rPr>
              <a:t>,</a:t>
            </a:r>
            <a:r>
              <a:rPr dirty="0" sz="900" spc="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5">
                <a:solidFill>
                  <a:srgbClr val="444444"/>
                </a:solidFill>
                <a:latin typeface="Microsoft Sans Serif"/>
                <a:cs typeface="Microsoft Sans Serif"/>
              </a:rPr>
              <a:t>X</a:t>
            </a:r>
            <a:r>
              <a:rPr dirty="0" baseline="-12820" sz="975" spc="-37">
                <a:solidFill>
                  <a:srgbClr val="444444"/>
                </a:solidFill>
                <a:latin typeface="Roboto"/>
                <a:cs typeface="Roboto"/>
              </a:rPr>
              <a:t>T</a:t>
            </a:r>
            <a:r>
              <a:rPr dirty="0" sz="900" spc="-25">
                <a:solidFill>
                  <a:srgbClr val="444444"/>
                </a:solidFill>
                <a:latin typeface="Microsoft Sans Serif"/>
                <a:cs typeface="Microsoft Sans Serif"/>
              </a:rPr>
              <a:t>)</a:t>
            </a:r>
            <a:endParaRPr sz="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800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</a:pPr>
            <a:r>
              <a:rPr dirty="0" sz="1150" spc="-90" b="1">
                <a:solidFill>
                  <a:srgbClr val="28A645"/>
                </a:solidFill>
                <a:latin typeface="Arial"/>
                <a:cs typeface="Arial"/>
              </a:rPr>
              <a:t>MobileFaceNet</a:t>
            </a:r>
            <a:r>
              <a:rPr dirty="0" sz="1150" spc="-35" b="1">
                <a:solidFill>
                  <a:srgbClr val="28A645"/>
                </a:solidFill>
                <a:latin typeface="Arial"/>
                <a:cs typeface="Arial"/>
              </a:rPr>
              <a:t> </a:t>
            </a:r>
            <a:r>
              <a:rPr dirty="0" sz="1150" spc="-100" b="1">
                <a:solidFill>
                  <a:srgbClr val="28A645"/>
                </a:solidFill>
                <a:latin typeface="Arial"/>
                <a:cs typeface="Arial"/>
              </a:rPr>
              <a:t>+</a:t>
            </a:r>
            <a:r>
              <a:rPr dirty="0" sz="1150" spc="-35" b="1">
                <a:solidFill>
                  <a:srgbClr val="28A645"/>
                </a:solidFill>
                <a:latin typeface="Arial"/>
                <a:cs typeface="Arial"/>
              </a:rPr>
              <a:t> </a:t>
            </a:r>
            <a:r>
              <a:rPr dirty="0" sz="1150" spc="-90" b="1">
                <a:solidFill>
                  <a:srgbClr val="28A645"/>
                </a:solidFill>
                <a:latin typeface="Arial"/>
                <a:cs typeface="Arial"/>
              </a:rPr>
              <a:t>ArcFace</a:t>
            </a:r>
            <a:endParaRPr sz="1150">
              <a:latin typeface="Arial"/>
              <a:cs typeface="Arial"/>
            </a:endParaRPr>
          </a:p>
          <a:p>
            <a:pPr marL="158115">
              <a:lnSpc>
                <a:spcPct val="100000"/>
              </a:lnSpc>
              <a:spcBef>
                <a:spcPts val="570"/>
              </a:spcBef>
            </a:pPr>
            <a:r>
              <a:rPr dirty="0" sz="850" spc="-130">
                <a:solidFill>
                  <a:srgbClr val="444444"/>
                </a:solidFill>
                <a:latin typeface="SimSun"/>
                <a:cs typeface="SimSun"/>
              </a:rPr>
              <a:t>自己教師あり </a:t>
            </a:r>
            <a:r>
              <a:rPr dirty="0" sz="800" spc="-40">
                <a:solidFill>
                  <a:srgbClr val="444444"/>
                </a:solidFill>
                <a:latin typeface="MV Boli"/>
                <a:cs typeface="MV Boli"/>
              </a:rPr>
              <a:t>ID</a:t>
            </a:r>
            <a:r>
              <a:rPr dirty="0" sz="800" spc="-180">
                <a:solidFill>
                  <a:srgbClr val="444444"/>
                </a:solidFill>
                <a:latin typeface="MV Boli"/>
                <a:cs typeface="MV Boli"/>
              </a:rPr>
              <a:t> </a:t>
            </a:r>
            <a:r>
              <a:rPr dirty="0" sz="850" spc="-95">
                <a:solidFill>
                  <a:srgbClr val="444444"/>
                </a:solidFill>
                <a:latin typeface="SimSun"/>
                <a:cs typeface="SimSun"/>
              </a:rPr>
              <a:t>分類学習</a:t>
            </a:r>
            <a:endParaRPr sz="850">
              <a:latin typeface="SimSun"/>
              <a:cs typeface="SimSun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7419974" y="2343149"/>
            <a:ext cx="1905000" cy="1333500"/>
            <a:chOff x="7419974" y="2343149"/>
            <a:chExt cx="1905000" cy="1333500"/>
          </a:xfrm>
        </p:grpSpPr>
        <p:pic>
          <p:nvPicPr>
            <p:cNvPr id="63" name="object 6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439024" y="2362199"/>
              <a:ext cx="1866899" cy="1295399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7429499" y="2352674"/>
              <a:ext cx="1885950" cy="1314450"/>
            </a:xfrm>
            <a:custGeom>
              <a:avLst/>
              <a:gdLst/>
              <a:ahLst/>
              <a:cxnLst/>
              <a:rect l="l" t="t" r="r" b="b"/>
              <a:pathLst>
                <a:path w="1885950" h="1314450">
                  <a:moveTo>
                    <a:pt x="0" y="1209674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0" y="91081"/>
                  </a:lnTo>
                  <a:lnTo>
                    <a:pt x="2012" y="84334"/>
                  </a:lnTo>
                  <a:lnTo>
                    <a:pt x="3354" y="77586"/>
                  </a:lnTo>
                  <a:lnTo>
                    <a:pt x="5342" y="71034"/>
                  </a:lnTo>
                  <a:lnTo>
                    <a:pt x="7975" y="64679"/>
                  </a:lnTo>
                  <a:lnTo>
                    <a:pt x="10607" y="58322"/>
                  </a:lnTo>
                  <a:lnTo>
                    <a:pt x="13834" y="52285"/>
                  </a:lnTo>
                  <a:lnTo>
                    <a:pt x="17657" y="46564"/>
                  </a:lnTo>
                  <a:lnTo>
                    <a:pt x="21479" y="40844"/>
                  </a:lnTo>
                  <a:lnTo>
                    <a:pt x="25822" y="35552"/>
                  </a:lnTo>
                  <a:lnTo>
                    <a:pt x="30687" y="30687"/>
                  </a:lnTo>
                  <a:lnTo>
                    <a:pt x="35551" y="25822"/>
                  </a:lnTo>
                  <a:lnTo>
                    <a:pt x="40843" y="21479"/>
                  </a:lnTo>
                  <a:lnTo>
                    <a:pt x="46564" y="17657"/>
                  </a:lnTo>
                  <a:lnTo>
                    <a:pt x="52283" y="13835"/>
                  </a:lnTo>
                  <a:lnTo>
                    <a:pt x="58322" y="10607"/>
                  </a:lnTo>
                  <a:lnTo>
                    <a:pt x="64678" y="7975"/>
                  </a:lnTo>
                  <a:lnTo>
                    <a:pt x="71034" y="5342"/>
                  </a:lnTo>
                  <a:lnTo>
                    <a:pt x="77585" y="3355"/>
                  </a:lnTo>
                  <a:lnTo>
                    <a:pt x="84333" y="2013"/>
                  </a:lnTo>
                  <a:lnTo>
                    <a:pt x="91081" y="671"/>
                  </a:lnTo>
                  <a:lnTo>
                    <a:pt x="97895" y="0"/>
                  </a:lnTo>
                  <a:lnTo>
                    <a:pt x="104775" y="0"/>
                  </a:lnTo>
                  <a:lnTo>
                    <a:pt x="1781175" y="0"/>
                  </a:lnTo>
                  <a:lnTo>
                    <a:pt x="1788055" y="0"/>
                  </a:lnTo>
                  <a:lnTo>
                    <a:pt x="1794868" y="671"/>
                  </a:lnTo>
                  <a:lnTo>
                    <a:pt x="1801616" y="2013"/>
                  </a:lnTo>
                  <a:lnTo>
                    <a:pt x="1808362" y="3355"/>
                  </a:lnTo>
                  <a:lnTo>
                    <a:pt x="1814914" y="5342"/>
                  </a:lnTo>
                  <a:lnTo>
                    <a:pt x="1821270" y="7975"/>
                  </a:lnTo>
                  <a:lnTo>
                    <a:pt x="1827626" y="10607"/>
                  </a:lnTo>
                  <a:lnTo>
                    <a:pt x="1833664" y="13835"/>
                  </a:lnTo>
                  <a:lnTo>
                    <a:pt x="1839384" y="17657"/>
                  </a:lnTo>
                  <a:lnTo>
                    <a:pt x="1845104" y="21479"/>
                  </a:lnTo>
                  <a:lnTo>
                    <a:pt x="1872114" y="52285"/>
                  </a:lnTo>
                  <a:lnTo>
                    <a:pt x="1877973" y="64679"/>
                  </a:lnTo>
                  <a:lnTo>
                    <a:pt x="1880606" y="71034"/>
                  </a:lnTo>
                  <a:lnTo>
                    <a:pt x="1882593" y="77586"/>
                  </a:lnTo>
                  <a:lnTo>
                    <a:pt x="1883935" y="84334"/>
                  </a:lnTo>
                  <a:lnTo>
                    <a:pt x="1885278" y="91081"/>
                  </a:lnTo>
                  <a:lnTo>
                    <a:pt x="1885950" y="97895"/>
                  </a:lnTo>
                  <a:lnTo>
                    <a:pt x="1885950" y="104774"/>
                  </a:lnTo>
                  <a:lnTo>
                    <a:pt x="1885950" y="1209674"/>
                  </a:lnTo>
                  <a:lnTo>
                    <a:pt x="1885950" y="1216554"/>
                  </a:lnTo>
                  <a:lnTo>
                    <a:pt x="1885278" y="1223367"/>
                  </a:lnTo>
                  <a:lnTo>
                    <a:pt x="1883936" y="1230115"/>
                  </a:lnTo>
                  <a:lnTo>
                    <a:pt x="1882594" y="1236862"/>
                  </a:lnTo>
                  <a:lnTo>
                    <a:pt x="1880607" y="1243414"/>
                  </a:lnTo>
                  <a:lnTo>
                    <a:pt x="1877974" y="1249770"/>
                  </a:lnTo>
                  <a:lnTo>
                    <a:pt x="1875341" y="1256125"/>
                  </a:lnTo>
                  <a:lnTo>
                    <a:pt x="1850396" y="1288626"/>
                  </a:lnTo>
                  <a:lnTo>
                    <a:pt x="1821269" y="1306473"/>
                  </a:lnTo>
                  <a:lnTo>
                    <a:pt x="1814913" y="1309106"/>
                  </a:lnTo>
                  <a:lnTo>
                    <a:pt x="1781175" y="1314449"/>
                  </a:lnTo>
                  <a:lnTo>
                    <a:pt x="104775" y="1314449"/>
                  </a:lnTo>
                  <a:lnTo>
                    <a:pt x="64678" y="1306473"/>
                  </a:lnTo>
                  <a:lnTo>
                    <a:pt x="58322" y="1303840"/>
                  </a:lnTo>
                  <a:lnTo>
                    <a:pt x="30687" y="1283761"/>
                  </a:lnTo>
                  <a:lnTo>
                    <a:pt x="25822" y="1278896"/>
                  </a:lnTo>
                  <a:lnTo>
                    <a:pt x="21479" y="1273604"/>
                  </a:lnTo>
                  <a:lnTo>
                    <a:pt x="17657" y="1267884"/>
                  </a:lnTo>
                  <a:lnTo>
                    <a:pt x="13834" y="1262163"/>
                  </a:lnTo>
                  <a:lnTo>
                    <a:pt x="10607" y="1256125"/>
                  </a:lnTo>
                  <a:lnTo>
                    <a:pt x="7975" y="1249770"/>
                  </a:lnTo>
                  <a:lnTo>
                    <a:pt x="5342" y="1243414"/>
                  </a:lnTo>
                  <a:lnTo>
                    <a:pt x="3354" y="1236862"/>
                  </a:lnTo>
                  <a:lnTo>
                    <a:pt x="2012" y="1230115"/>
                  </a:lnTo>
                  <a:lnTo>
                    <a:pt x="670" y="1223367"/>
                  </a:lnTo>
                  <a:lnTo>
                    <a:pt x="0" y="1216554"/>
                  </a:lnTo>
                  <a:lnTo>
                    <a:pt x="0" y="1209674"/>
                  </a:lnTo>
                  <a:close/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124825" y="2600324"/>
              <a:ext cx="153322" cy="153352"/>
            </a:xfrm>
            <a:prstGeom prst="rect">
              <a:avLst/>
            </a:prstGeom>
          </p:spPr>
        </p:pic>
      </p:grpSp>
      <p:sp>
        <p:nvSpPr>
          <p:cNvPr id="66" name="object 66" descr=""/>
          <p:cNvSpPr txBox="1"/>
          <p:nvPr/>
        </p:nvSpPr>
        <p:spPr>
          <a:xfrm>
            <a:off x="8300756" y="2548763"/>
            <a:ext cx="3302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35" b="1">
                <a:solidFill>
                  <a:srgbClr val="3A6EA5"/>
                </a:solidFill>
                <a:latin typeface="Malgun Gothic"/>
                <a:cs typeface="Malgun Gothic"/>
              </a:rPr>
              <a:t>出力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7848252" y="2858516"/>
            <a:ext cx="1049020" cy="6286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1175"/>
              </a:lnSpc>
              <a:spcBef>
                <a:spcPts val="114"/>
              </a:spcBef>
            </a:pPr>
            <a:r>
              <a:rPr dirty="0" sz="1000" spc="-90">
                <a:solidFill>
                  <a:srgbClr val="444444"/>
                </a:solidFill>
                <a:latin typeface="SimSun"/>
                <a:cs typeface="SimSun"/>
              </a:rPr>
              <a:t>異常音検知</a:t>
            </a:r>
            <a:endParaRPr sz="1000">
              <a:latin typeface="SimSun"/>
              <a:cs typeface="SimSun"/>
            </a:endParaRPr>
          </a:p>
          <a:p>
            <a:pPr algn="ctr">
              <a:lnSpc>
                <a:spcPts val="1190"/>
              </a:lnSpc>
            </a:pPr>
            <a:r>
              <a:rPr dirty="0" sz="1050" spc="320">
                <a:solidFill>
                  <a:srgbClr val="444444"/>
                </a:solidFill>
                <a:latin typeface="Microsoft Sans Serif"/>
                <a:cs typeface="Microsoft Sans Serif"/>
              </a:rPr>
              <a:t>↓</a:t>
            </a:r>
            <a:endParaRPr sz="1050">
              <a:latin typeface="Microsoft Sans Serif"/>
              <a:cs typeface="Microsoft Sans Serif"/>
            </a:endParaRPr>
          </a:p>
          <a:p>
            <a:pPr algn="ctr">
              <a:lnSpc>
                <a:spcPts val="1160"/>
              </a:lnSpc>
            </a:pPr>
            <a:r>
              <a:rPr dirty="0" sz="1000" spc="-150">
                <a:solidFill>
                  <a:srgbClr val="444444"/>
                </a:solidFill>
                <a:latin typeface="SimSun"/>
                <a:cs typeface="SimSun"/>
              </a:rPr>
              <a:t>正常パターンから の</a:t>
            </a:r>
            <a:endParaRPr sz="1000">
              <a:latin typeface="SimSun"/>
              <a:cs typeface="SimSun"/>
            </a:endParaRPr>
          </a:p>
          <a:p>
            <a:pPr algn="ctr">
              <a:lnSpc>
                <a:spcPct val="100000"/>
              </a:lnSpc>
            </a:pPr>
            <a:r>
              <a:rPr dirty="0" sz="1000" spc="-90">
                <a:solidFill>
                  <a:srgbClr val="444444"/>
                </a:solidFill>
                <a:latin typeface="SimSun"/>
                <a:cs typeface="SimSun"/>
              </a:rPr>
              <a:t>逸脱度判定</a:t>
            </a:r>
            <a:endParaRPr sz="1000">
              <a:latin typeface="SimSun"/>
              <a:cs typeface="SimSun"/>
            </a:endParaRPr>
          </a:p>
        </p:txBody>
      </p:sp>
      <p:grpSp>
        <p:nvGrpSpPr>
          <p:cNvPr id="68" name="object 68" descr=""/>
          <p:cNvGrpSpPr/>
          <p:nvPr/>
        </p:nvGrpSpPr>
        <p:grpSpPr>
          <a:xfrm>
            <a:off x="428624" y="5219699"/>
            <a:ext cx="4352925" cy="1524000"/>
            <a:chOff x="428624" y="5219699"/>
            <a:chExt cx="4352925" cy="1524000"/>
          </a:xfrm>
        </p:grpSpPr>
        <p:pic>
          <p:nvPicPr>
            <p:cNvPr id="69" name="object 6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47674" y="5238749"/>
              <a:ext cx="4314824" cy="1485899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438149" y="5229224"/>
              <a:ext cx="4333875" cy="1504950"/>
            </a:xfrm>
            <a:custGeom>
              <a:avLst/>
              <a:gdLst/>
              <a:ahLst/>
              <a:cxnLst/>
              <a:rect l="l" t="t" r="r" b="b"/>
              <a:pathLst>
                <a:path w="4333875" h="1504950">
                  <a:moveTo>
                    <a:pt x="0" y="1400174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2013" y="84334"/>
                  </a:lnTo>
                  <a:lnTo>
                    <a:pt x="3355" y="77586"/>
                  </a:lnTo>
                  <a:lnTo>
                    <a:pt x="5342" y="71034"/>
                  </a:lnTo>
                  <a:lnTo>
                    <a:pt x="7975" y="64678"/>
                  </a:lnTo>
                  <a:lnTo>
                    <a:pt x="10608" y="58322"/>
                  </a:lnTo>
                  <a:lnTo>
                    <a:pt x="13835" y="52284"/>
                  </a:lnTo>
                  <a:lnTo>
                    <a:pt x="17657" y="46564"/>
                  </a:lnTo>
                  <a:lnTo>
                    <a:pt x="21479" y="40844"/>
                  </a:lnTo>
                  <a:lnTo>
                    <a:pt x="25823" y="35551"/>
                  </a:lnTo>
                  <a:lnTo>
                    <a:pt x="30687" y="30687"/>
                  </a:lnTo>
                  <a:lnTo>
                    <a:pt x="35552" y="25822"/>
                  </a:lnTo>
                  <a:lnTo>
                    <a:pt x="40844" y="21479"/>
                  </a:lnTo>
                  <a:lnTo>
                    <a:pt x="46565" y="17657"/>
                  </a:lnTo>
                  <a:lnTo>
                    <a:pt x="52285" y="13834"/>
                  </a:lnTo>
                  <a:lnTo>
                    <a:pt x="58323" y="10607"/>
                  </a:lnTo>
                  <a:lnTo>
                    <a:pt x="64679" y="7975"/>
                  </a:lnTo>
                  <a:lnTo>
                    <a:pt x="71035" y="5342"/>
                  </a:lnTo>
                  <a:lnTo>
                    <a:pt x="77586" y="3354"/>
                  </a:lnTo>
                  <a:lnTo>
                    <a:pt x="84334" y="2013"/>
                  </a:lnTo>
                  <a:lnTo>
                    <a:pt x="91081" y="670"/>
                  </a:lnTo>
                  <a:lnTo>
                    <a:pt x="97895" y="0"/>
                  </a:lnTo>
                  <a:lnTo>
                    <a:pt x="104775" y="0"/>
                  </a:lnTo>
                  <a:lnTo>
                    <a:pt x="4229099" y="0"/>
                  </a:lnTo>
                  <a:lnTo>
                    <a:pt x="4235979" y="0"/>
                  </a:lnTo>
                  <a:lnTo>
                    <a:pt x="4242792" y="670"/>
                  </a:lnTo>
                  <a:lnTo>
                    <a:pt x="4249539" y="2013"/>
                  </a:lnTo>
                  <a:lnTo>
                    <a:pt x="4256287" y="3354"/>
                  </a:lnTo>
                  <a:lnTo>
                    <a:pt x="4262838" y="5342"/>
                  </a:lnTo>
                  <a:lnTo>
                    <a:pt x="4269194" y="7975"/>
                  </a:lnTo>
                  <a:lnTo>
                    <a:pt x="4275550" y="10607"/>
                  </a:lnTo>
                  <a:lnTo>
                    <a:pt x="4281588" y="13834"/>
                  </a:lnTo>
                  <a:lnTo>
                    <a:pt x="4287308" y="17657"/>
                  </a:lnTo>
                  <a:lnTo>
                    <a:pt x="4293029" y="21479"/>
                  </a:lnTo>
                  <a:lnTo>
                    <a:pt x="4298321" y="25822"/>
                  </a:lnTo>
                  <a:lnTo>
                    <a:pt x="4303186" y="30687"/>
                  </a:lnTo>
                  <a:lnTo>
                    <a:pt x="4308050" y="35551"/>
                  </a:lnTo>
                  <a:lnTo>
                    <a:pt x="4325898" y="64678"/>
                  </a:lnTo>
                  <a:lnTo>
                    <a:pt x="4328531" y="71034"/>
                  </a:lnTo>
                  <a:lnTo>
                    <a:pt x="4333874" y="104774"/>
                  </a:lnTo>
                  <a:lnTo>
                    <a:pt x="4333874" y="1400174"/>
                  </a:lnTo>
                  <a:lnTo>
                    <a:pt x="4325898" y="1440270"/>
                  </a:lnTo>
                  <a:lnTo>
                    <a:pt x="4323265" y="1446626"/>
                  </a:lnTo>
                  <a:lnTo>
                    <a:pt x="4298321" y="1479126"/>
                  </a:lnTo>
                  <a:lnTo>
                    <a:pt x="4269194" y="1496974"/>
                  </a:lnTo>
                  <a:lnTo>
                    <a:pt x="4262838" y="1499607"/>
                  </a:lnTo>
                  <a:lnTo>
                    <a:pt x="4256287" y="1501594"/>
                  </a:lnTo>
                  <a:lnTo>
                    <a:pt x="4249539" y="1502936"/>
                  </a:lnTo>
                  <a:lnTo>
                    <a:pt x="4242792" y="1504278"/>
                  </a:lnTo>
                  <a:lnTo>
                    <a:pt x="4235979" y="1504949"/>
                  </a:lnTo>
                  <a:lnTo>
                    <a:pt x="4229099" y="1504949"/>
                  </a:lnTo>
                  <a:lnTo>
                    <a:pt x="104775" y="1504949"/>
                  </a:lnTo>
                  <a:lnTo>
                    <a:pt x="97895" y="1504949"/>
                  </a:lnTo>
                  <a:lnTo>
                    <a:pt x="91081" y="1504278"/>
                  </a:lnTo>
                  <a:lnTo>
                    <a:pt x="84334" y="1502936"/>
                  </a:lnTo>
                  <a:lnTo>
                    <a:pt x="77586" y="1501594"/>
                  </a:lnTo>
                  <a:lnTo>
                    <a:pt x="71035" y="1499607"/>
                  </a:lnTo>
                  <a:lnTo>
                    <a:pt x="64679" y="1496974"/>
                  </a:lnTo>
                  <a:lnTo>
                    <a:pt x="58323" y="1494341"/>
                  </a:lnTo>
                  <a:lnTo>
                    <a:pt x="25823" y="1469396"/>
                  </a:lnTo>
                  <a:lnTo>
                    <a:pt x="7975" y="1440270"/>
                  </a:lnTo>
                  <a:lnTo>
                    <a:pt x="5342" y="1433914"/>
                  </a:lnTo>
                  <a:lnTo>
                    <a:pt x="3355" y="1427362"/>
                  </a:lnTo>
                  <a:lnTo>
                    <a:pt x="2013" y="1420614"/>
                  </a:lnTo>
                  <a:lnTo>
                    <a:pt x="671" y="1413867"/>
                  </a:lnTo>
                  <a:lnTo>
                    <a:pt x="0" y="1407054"/>
                  </a:lnTo>
                  <a:lnTo>
                    <a:pt x="0" y="1400174"/>
                  </a:lnTo>
                  <a:close/>
                </a:path>
              </a:pathLst>
            </a:custGeom>
            <a:ln w="19049">
              <a:solidFill>
                <a:srgbClr val="FFC1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23887" y="5448299"/>
              <a:ext cx="104768" cy="152399"/>
            </a:xfrm>
            <a:prstGeom prst="rect">
              <a:avLst/>
            </a:prstGeom>
          </p:spPr>
        </p:pic>
      </p:grpSp>
      <p:sp>
        <p:nvSpPr>
          <p:cNvPr id="72" name="object 72" descr=""/>
          <p:cNvSpPr txBox="1"/>
          <p:nvPr/>
        </p:nvSpPr>
        <p:spPr>
          <a:xfrm>
            <a:off x="720724" y="5406262"/>
            <a:ext cx="9398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50" b="1">
                <a:solidFill>
                  <a:srgbClr val="856404"/>
                </a:solidFill>
                <a:latin typeface="Malgun Gothic"/>
                <a:cs typeface="Malgun Gothic"/>
              </a:rPr>
              <a:t>核心技術革新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73" name="object 73" descr=""/>
          <p:cNvSpPr/>
          <p:nvPr/>
        </p:nvSpPr>
        <p:spPr>
          <a:xfrm>
            <a:off x="590549" y="5162549"/>
            <a:ext cx="371475" cy="180975"/>
          </a:xfrm>
          <a:custGeom>
            <a:avLst/>
            <a:gdLst/>
            <a:ahLst/>
            <a:cxnLst/>
            <a:rect l="l" t="t" r="r" b="b"/>
            <a:pathLst>
              <a:path w="371475" h="180975">
                <a:moveTo>
                  <a:pt x="286929" y="180974"/>
                </a:moveTo>
                <a:lnTo>
                  <a:pt x="84545" y="180974"/>
                </a:lnTo>
                <a:lnTo>
                  <a:pt x="78661" y="180394"/>
                </a:lnTo>
                <a:lnTo>
                  <a:pt x="35275" y="162423"/>
                </a:lnTo>
                <a:lnTo>
                  <a:pt x="9161" y="130604"/>
                </a:lnTo>
                <a:lnTo>
                  <a:pt x="0" y="96428"/>
                </a:lnTo>
                <a:lnTo>
                  <a:pt x="0" y="90487"/>
                </a:lnTo>
                <a:lnTo>
                  <a:pt x="0" y="84545"/>
                </a:lnTo>
                <a:lnTo>
                  <a:pt x="11948" y="45154"/>
                </a:lnTo>
                <a:lnTo>
                  <a:pt x="45155" y="11948"/>
                </a:lnTo>
                <a:lnTo>
                  <a:pt x="84545" y="0"/>
                </a:lnTo>
                <a:lnTo>
                  <a:pt x="286929" y="0"/>
                </a:lnTo>
                <a:lnTo>
                  <a:pt x="326319" y="11948"/>
                </a:lnTo>
                <a:lnTo>
                  <a:pt x="359525" y="45154"/>
                </a:lnTo>
                <a:lnTo>
                  <a:pt x="371475" y="84545"/>
                </a:lnTo>
                <a:lnTo>
                  <a:pt x="371475" y="96428"/>
                </a:lnTo>
                <a:lnTo>
                  <a:pt x="359525" y="135819"/>
                </a:lnTo>
                <a:lnTo>
                  <a:pt x="326319" y="169025"/>
                </a:lnTo>
                <a:lnTo>
                  <a:pt x="292813" y="180394"/>
                </a:lnTo>
                <a:lnTo>
                  <a:pt x="286929" y="180974"/>
                </a:lnTo>
                <a:close/>
              </a:path>
            </a:pathLst>
          </a:custGeom>
          <a:solidFill>
            <a:srgbClr val="DB34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 txBox="1"/>
          <p:nvPr/>
        </p:nvSpPr>
        <p:spPr>
          <a:xfrm>
            <a:off x="654049" y="5178238"/>
            <a:ext cx="242570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40" b="1">
                <a:solidFill>
                  <a:srgbClr val="FFFFFF"/>
                </a:solidFill>
                <a:latin typeface="Arial"/>
                <a:cs typeface="Arial"/>
              </a:rPr>
              <a:t>NEW</a:t>
            </a:r>
            <a:endParaRPr sz="800">
              <a:latin typeface="Arial"/>
              <a:cs typeface="Arial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606424" y="5672296"/>
            <a:ext cx="1855470" cy="83502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050" spc="-75">
                <a:solidFill>
                  <a:srgbClr val="FFC107"/>
                </a:solidFill>
                <a:latin typeface="MingLiU_HKSCS-ExtB"/>
                <a:cs typeface="MingLiU_HKSCS-ExtB"/>
              </a:rPr>
              <a:t>⚡</a:t>
            </a:r>
            <a:r>
              <a:rPr dirty="0" sz="1050" spc="-75" b="1">
                <a:solidFill>
                  <a:srgbClr val="444444"/>
                </a:solidFill>
                <a:latin typeface="Tahoma"/>
                <a:cs typeface="Tahoma"/>
              </a:rPr>
              <a:t>Multi-</a:t>
            </a:r>
            <a:r>
              <a:rPr dirty="0" sz="1050" spc="-114" b="1">
                <a:solidFill>
                  <a:srgbClr val="444444"/>
                </a:solidFill>
                <a:latin typeface="Tahoma"/>
                <a:cs typeface="Tahoma"/>
              </a:rPr>
              <a:t>Head</a:t>
            </a:r>
            <a:r>
              <a:rPr dirty="0" sz="1050" spc="-20" b="1">
                <a:solidFill>
                  <a:srgbClr val="444444"/>
                </a:solidFill>
                <a:latin typeface="Tahoma"/>
                <a:cs typeface="Tahoma"/>
              </a:rPr>
              <a:t> </a:t>
            </a:r>
            <a:r>
              <a:rPr dirty="0" sz="1050" spc="-105" b="1">
                <a:solidFill>
                  <a:srgbClr val="444444"/>
                </a:solidFill>
                <a:latin typeface="Tahoma"/>
                <a:cs typeface="Tahoma"/>
              </a:rPr>
              <a:t>Self-</a:t>
            </a:r>
            <a:r>
              <a:rPr dirty="0" sz="1050" spc="-100" b="1">
                <a:solidFill>
                  <a:srgbClr val="444444"/>
                </a:solidFill>
                <a:latin typeface="Tahoma"/>
                <a:cs typeface="Tahoma"/>
              </a:rPr>
              <a:t>Attention</a:t>
            </a:r>
            <a:r>
              <a:rPr dirty="0" sz="1050" spc="-20" b="1">
                <a:solidFill>
                  <a:srgbClr val="444444"/>
                </a:solidFill>
                <a:latin typeface="Tahoma"/>
                <a:cs typeface="Tahoma"/>
              </a:rPr>
              <a:t> </a:t>
            </a:r>
            <a:r>
              <a:rPr dirty="0" sz="1000" spc="-75">
                <a:solidFill>
                  <a:srgbClr val="444444"/>
                </a:solidFill>
                <a:latin typeface="SimSun"/>
                <a:cs typeface="SimSun"/>
              </a:rPr>
              <a:t>導入</a:t>
            </a:r>
            <a:endParaRPr sz="10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050" spc="60">
                <a:solidFill>
                  <a:srgbClr val="FFC107"/>
                </a:solidFill>
                <a:latin typeface="MingLiU_HKSCS-ExtB"/>
                <a:cs typeface="MingLiU_HKSCS-ExtB"/>
              </a:rPr>
              <a:t>⚡</a:t>
            </a:r>
            <a:r>
              <a:rPr dirty="0" sz="1000" spc="-130">
                <a:solidFill>
                  <a:srgbClr val="444444"/>
                </a:solidFill>
                <a:latin typeface="SimSun"/>
                <a:cs typeface="SimSun"/>
              </a:rPr>
              <a:t>データ駆動型 </a:t>
            </a:r>
            <a:r>
              <a:rPr dirty="0" sz="1000" spc="-100" b="1">
                <a:solidFill>
                  <a:srgbClr val="444444"/>
                </a:solidFill>
                <a:latin typeface="Microsoft JhengHei"/>
                <a:cs typeface="Microsoft JhengHei"/>
              </a:rPr>
              <a:t>周</a:t>
            </a:r>
            <a:r>
              <a:rPr dirty="0" sz="1000" spc="-100" b="1">
                <a:solidFill>
                  <a:srgbClr val="444444"/>
                </a:solidFill>
                <a:latin typeface="Malgun Gothic"/>
                <a:cs typeface="Malgun Gothic"/>
              </a:rPr>
              <a:t>波</a:t>
            </a:r>
            <a:r>
              <a:rPr dirty="0" sz="1000" spc="-100" b="1">
                <a:solidFill>
                  <a:srgbClr val="444444"/>
                </a:solidFill>
                <a:latin typeface="Microsoft JhengHei"/>
                <a:cs typeface="Microsoft JhengHei"/>
              </a:rPr>
              <a:t>数</a:t>
            </a:r>
            <a:r>
              <a:rPr dirty="0" sz="1000" spc="-100" b="1">
                <a:solidFill>
                  <a:srgbClr val="444444"/>
                </a:solidFill>
                <a:latin typeface="Malgun Gothic"/>
                <a:cs typeface="Malgun Gothic"/>
              </a:rPr>
              <a:t>重</a:t>
            </a:r>
            <a:r>
              <a:rPr dirty="0" sz="1000" spc="-100" b="1">
                <a:solidFill>
                  <a:srgbClr val="444444"/>
                </a:solidFill>
                <a:latin typeface="Microsoft JhengHei"/>
                <a:cs typeface="Microsoft JhengHei"/>
              </a:rPr>
              <a:t>要度学</a:t>
            </a:r>
            <a:r>
              <a:rPr dirty="0" sz="1000" spc="-50" b="1">
                <a:solidFill>
                  <a:srgbClr val="444444"/>
                </a:solidFill>
                <a:latin typeface="Malgun Gothic"/>
                <a:cs typeface="Malgun Gothic"/>
              </a:rPr>
              <a:t>習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050" spc="60">
                <a:solidFill>
                  <a:srgbClr val="FFC107"/>
                </a:solidFill>
                <a:latin typeface="MingLiU_HKSCS-ExtB"/>
                <a:cs typeface="MingLiU_HKSCS-ExtB"/>
              </a:rPr>
              <a:t>⚡</a:t>
            </a:r>
            <a:r>
              <a:rPr dirty="0" sz="1000" spc="-100" b="1">
                <a:solidFill>
                  <a:srgbClr val="444444"/>
                </a:solidFill>
                <a:latin typeface="Malgun Gothic"/>
                <a:cs typeface="Malgun Gothic"/>
              </a:rPr>
              <a:t>適</a:t>
            </a:r>
            <a:r>
              <a:rPr dirty="0" sz="1000" spc="-100" b="1">
                <a:solidFill>
                  <a:srgbClr val="444444"/>
                </a:solidFill>
                <a:latin typeface="Microsoft JhengHei"/>
                <a:cs typeface="Microsoft JhengHei"/>
              </a:rPr>
              <a:t>応的特徴強</a:t>
            </a:r>
            <a:r>
              <a:rPr dirty="0" sz="1000" spc="-125" b="1">
                <a:solidFill>
                  <a:srgbClr val="444444"/>
                </a:solidFill>
                <a:latin typeface="Malgun Gothic"/>
                <a:cs typeface="Malgun Gothic"/>
              </a:rPr>
              <a:t>調 </a:t>
            </a:r>
            <a:r>
              <a:rPr dirty="0" sz="1000" spc="-90">
                <a:solidFill>
                  <a:srgbClr val="444444"/>
                </a:solidFill>
                <a:latin typeface="SimSun"/>
                <a:cs typeface="SimSun"/>
              </a:rPr>
              <a:t>メカニズム</a:t>
            </a:r>
            <a:endParaRPr sz="10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050" spc="60">
                <a:solidFill>
                  <a:srgbClr val="FFC107"/>
                </a:solidFill>
                <a:latin typeface="MingLiU_HKSCS-ExtB"/>
                <a:cs typeface="MingLiU_HKSCS-ExtB"/>
              </a:rPr>
              <a:t>⚡</a:t>
            </a:r>
            <a:r>
              <a:rPr dirty="0" sz="1000" spc="-130">
                <a:solidFill>
                  <a:srgbClr val="444444"/>
                </a:solidFill>
                <a:latin typeface="SimSun"/>
                <a:cs typeface="SimSun"/>
              </a:rPr>
              <a:t>入力に応じた </a:t>
            </a:r>
            <a:r>
              <a:rPr dirty="0" sz="1000" spc="-100" b="1">
                <a:solidFill>
                  <a:srgbClr val="444444"/>
                </a:solidFill>
                <a:latin typeface="Malgun Gothic"/>
                <a:cs typeface="Malgun Gothic"/>
              </a:rPr>
              <a:t>動</a:t>
            </a:r>
            <a:r>
              <a:rPr dirty="0" sz="1000" spc="-100" b="1">
                <a:solidFill>
                  <a:srgbClr val="444444"/>
                </a:solidFill>
                <a:latin typeface="Microsoft JhengHei"/>
                <a:cs typeface="Microsoft JhengHei"/>
              </a:rPr>
              <a:t>的</a:t>
            </a:r>
            <a:r>
              <a:rPr dirty="0" sz="1000" spc="-90" b="1">
                <a:solidFill>
                  <a:srgbClr val="444444"/>
                </a:solidFill>
                <a:latin typeface="Malgun Gothic"/>
                <a:cs typeface="Malgun Gothic"/>
              </a:rPr>
              <a:t>重み調整</a:t>
            </a:r>
            <a:endParaRPr sz="1000">
              <a:latin typeface="Malgun Gothic"/>
              <a:cs typeface="Malgun Gothic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4972049" y="5219699"/>
            <a:ext cx="4352925" cy="1524000"/>
            <a:chOff x="4972049" y="5219699"/>
            <a:chExt cx="4352925" cy="1524000"/>
          </a:xfrm>
        </p:grpSpPr>
        <p:pic>
          <p:nvPicPr>
            <p:cNvPr id="77" name="object 77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991099" y="5238749"/>
              <a:ext cx="4314824" cy="1485899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4981574" y="5229224"/>
              <a:ext cx="4333875" cy="1504950"/>
            </a:xfrm>
            <a:custGeom>
              <a:avLst/>
              <a:gdLst/>
              <a:ahLst/>
              <a:cxnLst/>
              <a:rect l="l" t="t" r="r" b="b"/>
              <a:pathLst>
                <a:path w="4333875" h="1504950">
                  <a:moveTo>
                    <a:pt x="0" y="1400174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0" y="91081"/>
                  </a:lnTo>
                  <a:lnTo>
                    <a:pt x="2013" y="84334"/>
                  </a:lnTo>
                  <a:lnTo>
                    <a:pt x="3354" y="77586"/>
                  </a:lnTo>
                  <a:lnTo>
                    <a:pt x="5342" y="71034"/>
                  </a:lnTo>
                  <a:lnTo>
                    <a:pt x="7975" y="64678"/>
                  </a:lnTo>
                  <a:lnTo>
                    <a:pt x="10608" y="58322"/>
                  </a:lnTo>
                  <a:lnTo>
                    <a:pt x="13835" y="52284"/>
                  </a:lnTo>
                  <a:lnTo>
                    <a:pt x="17656" y="46564"/>
                  </a:lnTo>
                  <a:lnTo>
                    <a:pt x="21478" y="40844"/>
                  </a:lnTo>
                  <a:lnTo>
                    <a:pt x="25822" y="35551"/>
                  </a:lnTo>
                  <a:lnTo>
                    <a:pt x="30687" y="30687"/>
                  </a:lnTo>
                  <a:lnTo>
                    <a:pt x="35551" y="25822"/>
                  </a:lnTo>
                  <a:lnTo>
                    <a:pt x="64678" y="7975"/>
                  </a:lnTo>
                  <a:lnTo>
                    <a:pt x="71034" y="5342"/>
                  </a:lnTo>
                  <a:lnTo>
                    <a:pt x="77585" y="3354"/>
                  </a:lnTo>
                  <a:lnTo>
                    <a:pt x="84333" y="2013"/>
                  </a:lnTo>
                  <a:lnTo>
                    <a:pt x="91081" y="670"/>
                  </a:lnTo>
                  <a:lnTo>
                    <a:pt x="97895" y="0"/>
                  </a:lnTo>
                  <a:lnTo>
                    <a:pt x="104774" y="0"/>
                  </a:lnTo>
                  <a:lnTo>
                    <a:pt x="4229099" y="0"/>
                  </a:lnTo>
                  <a:lnTo>
                    <a:pt x="4235979" y="0"/>
                  </a:lnTo>
                  <a:lnTo>
                    <a:pt x="4242792" y="670"/>
                  </a:lnTo>
                  <a:lnTo>
                    <a:pt x="4249540" y="2013"/>
                  </a:lnTo>
                  <a:lnTo>
                    <a:pt x="4256286" y="3354"/>
                  </a:lnTo>
                  <a:lnTo>
                    <a:pt x="4262838" y="5342"/>
                  </a:lnTo>
                  <a:lnTo>
                    <a:pt x="4269194" y="7975"/>
                  </a:lnTo>
                  <a:lnTo>
                    <a:pt x="4275550" y="10607"/>
                  </a:lnTo>
                  <a:lnTo>
                    <a:pt x="4308050" y="35551"/>
                  </a:lnTo>
                  <a:lnTo>
                    <a:pt x="4325897" y="64678"/>
                  </a:lnTo>
                  <a:lnTo>
                    <a:pt x="4328530" y="71034"/>
                  </a:lnTo>
                  <a:lnTo>
                    <a:pt x="4330517" y="77586"/>
                  </a:lnTo>
                  <a:lnTo>
                    <a:pt x="4331860" y="84334"/>
                  </a:lnTo>
                  <a:lnTo>
                    <a:pt x="4333203" y="91081"/>
                  </a:lnTo>
                  <a:lnTo>
                    <a:pt x="4333874" y="97895"/>
                  </a:lnTo>
                  <a:lnTo>
                    <a:pt x="4333874" y="104774"/>
                  </a:lnTo>
                  <a:lnTo>
                    <a:pt x="4333874" y="1400174"/>
                  </a:lnTo>
                  <a:lnTo>
                    <a:pt x="4333874" y="1407054"/>
                  </a:lnTo>
                  <a:lnTo>
                    <a:pt x="4333203" y="1413867"/>
                  </a:lnTo>
                  <a:lnTo>
                    <a:pt x="4331860" y="1420614"/>
                  </a:lnTo>
                  <a:lnTo>
                    <a:pt x="4330518" y="1427362"/>
                  </a:lnTo>
                  <a:lnTo>
                    <a:pt x="4328531" y="1433914"/>
                  </a:lnTo>
                  <a:lnTo>
                    <a:pt x="4325898" y="1440270"/>
                  </a:lnTo>
                  <a:lnTo>
                    <a:pt x="4323265" y="1446626"/>
                  </a:lnTo>
                  <a:lnTo>
                    <a:pt x="4298320" y="1479126"/>
                  </a:lnTo>
                  <a:lnTo>
                    <a:pt x="4269193" y="1496974"/>
                  </a:lnTo>
                  <a:lnTo>
                    <a:pt x="4262837" y="1499607"/>
                  </a:lnTo>
                  <a:lnTo>
                    <a:pt x="4256286" y="1501594"/>
                  </a:lnTo>
                  <a:lnTo>
                    <a:pt x="4249539" y="1502936"/>
                  </a:lnTo>
                  <a:lnTo>
                    <a:pt x="4242792" y="1504278"/>
                  </a:lnTo>
                  <a:lnTo>
                    <a:pt x="4235979" y="1504949"/>
                  </a:lnTo>
                  <a:lnTo>
                    <a:pt x="4229099" y="1504949"/>
                  </a:lnTo>
                  <a:lnTo>
                    <a:pt x="104774" y="1504949"/>
                  </a:lnTo>
                  <a:lnTo>
                    <a:pt x="97895" y="1504949"/>
                  </a:lnTo>
                  <a:lnTo>
                    <a:pt x="91081" y="1504278"/>
                  </a:lnTo>
                  <a:lnTo>
                    <a:pt x="84333" y="1502936"/>
                  </a:lnTo>
                  <a:lnTo>
                    <a:pt x="77585" y="1501594"/>
                  </a:lnTo>
                  <a:lnTo>
                    <a:pt x="71034" y="1499607"/>
                  </a:lnTo>
                  <a:lnTo>
                    <a:pt x="64678" y="1496974"/>
                  </a:lnTo>
                  <a:lnTo>
                    <a:pt x="58322" y="1494341"/>
                  </a:lnTo>
                  <a:lnTo>
                    <a:pt x="25822" y="1469396"/>
                  </a:lnTo>
                  <a:lnTo>
                    <a:pt x="7975" y="1440270"/>
                  </a:lnTo>
                  <a:lnTo>
                    <a:pt x="5342" y="1433914"/>
                  </a:lnTo>
                  <a:lnTo>
                    <a:pt x="3354" y="1427362"/>
                  </a:lnTo>
                  <a:lnTo>
                    <a:pt x="2013" y="1420614"/>
                  </a:lnTo>
                  <a:lnTo>
                    <a:pt x="670" y="1413867"/>
                  </a:lnTo>
                  <a:lnTo>
                    <a:pt x="0" y="1407054"/>
                  </a:lnTo>
                  <a:lnTo>
                    <a:pt x="0" y="1400174"/>
                  </a:lnTo>
                  <a:close/>
                </a:path>
              </a:pathLst>
            </a:custGeom>
            <a:ln w="19049">
              <a:solidFill>
                <a:srgbClr val="FFC1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163026" y="5450800"/>
              <a:ext cx="187523" cy="149363"/>
            </a:xfrm>
            <a:prstGeom prst="rect">
              <a:avLst/>
            </a:prstGeom>
          </p:spPr>
        </p:pic>
      </p:grpSp>
      <p:sp>
        <p:nvSpPr>
          <p:cNvPr id="80" name="object 80" descr=""/>
          <p:cNvSpPr txBox="1"/>
          <p:nvPr/>
        </p:nvSpPr>
        <p:spPr>
          <a:xfrm>
            <a:off x="5340349" y="5406262"/>
            <a:ext cx="7874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 b="1">
                <a:solidFill>
                  <a:srgbClr val="856404"/>
                </a:solidFill>
                <a:latin typeface="Microsoft JhengHei"/>
                <a:cs typeface="Microsoft JhengHei"/>
              </a:rPr>
              <a:t>実</a:t>
            </a:r>
            <a:r>
              <a:rPr dirty="0" sz="1350" spc="-170" b="1">
                <a:solidFill>
                  <a:srgbClr val="856404"/>
                </a:solidFill>
                <a:latin typeface="Malgun Gothic"/>
                <a:cs typeface="Malgun Gothic"/>
              </a:rPr>
              <a:t>装の特</a:t>
            </a:r>
            <a:r>
              <a:rPr dirty="0" sz="1350" spc="-60" b="1">
                <a:solidFill>
                  <a:srgbClr val="856404"/>
                </a:solidFill>
                <a:latin typeface="Microsoft JhengHei"/>
                <a:cs typeface="Microsoft JhengHei"/>
              </a:rPr>
              <a:t>徴</a:t>
            </a:r>
            <a:endParaRPr sz="1350">
              <a:latin typeface="Microsoft JhengHei"/>
              <a:cs typeface="Microsoft JhengHei"/>
            </a:endParaRPr>
          </a:p>
        </p:txBody>
      </p:sp>
      <p:sp>
        <p:nvSpPr>
          <p:cNvPr id="81" name="object 81" descr=""/>
          <p:cNvSpPr/>
          <p:nvPr/>
        </p:nvSpPr>
        <p:spPr>
          <a:xfrm>
            <a:off x="5133974" y="5162549"/>
            <a:ext cx="371475" cy="180975"/>
          </a:xfrm>
          <a:custGeom>
            <a:avLst/>
            <a:gdLst/>
            <a:ahLst/>
            <a:cxnLst/>
            <a:rect l="l" t="t" r="r" b="b"/>
            <a:pathLst>
              <a:path w="371475" h="180975">
                <a:moveTo>
                  <a:pt x="286928" y="180974"/>
                </a:moveTo>
                <a:lnTo>
                  <a:pt x="84545" y="180974"/>
                </a:lnTo>
                <a:lnTo>
                  <a:pt x="78661" y="180394"/>
                </a:lnTo>
                <a:lnTo>
                  <a:pt x="35275" y="162423"/>
                </a:lnTo>
                <a:lnTo>
                  <a:pt x="9161" y="130604"/>
                </a:lnTo>
                <a:lnTo>
                  <a:pt x="0" y="96428"/>
                </a:lnTo>
                <a:lnTo>
                  <a:pt x="0" y="90487"/>
                </a:lnTo>
                <a:lnTo>
                  <a:pt x="0" y="84545"/>
                </a:lnTo>
                <a:lnTo>
                  <a:pt x="11948" y="45154"/>
                </a:lnTo>
                <a:lnTo>
                  <a:pt x="45154" y="11948"/>
                </a:lnTo>
                <a:lnTo>
                  <a:pt x="84545" y="0"/>
                </a:lnTo>
                <a:lnTo>
                  <a:pt x="286928" y="0"/>
                </a:lnTo>
                <a:lnTo>
                  <a:pt x="326319" y="11948"/>
                </a:lnTo>
                <a:lnTo>
                  <a:pt x="359525" y="45154"/>
                </a:lnTo>
                <a:lnTo>
                  <a:pt x="371474" y="84545"/>
                </a:lnTo>
                <a:lnTo>
                  <a:pt x="371474" y="96428"/>
                </a:lnTo>
                <a:lnTo>
                  <a:pt x="359525" y="135819"/>
                </a:lnTo>
                <a:lnTo>
                  <a:pt x="326319" y="169025"/>
                </a:lnTo>
                <a:lnTo>
                  <a:pt x="292813" y="180394"/>
                </a:lnTo>
                <a:lnTo>
                  <a:pt x="286928" y="180974"/>
                </a:lnTo>
                <a:close/>
              </a:path>
            </a:pathLst>
          </a:custGeom>
          <a:solidFill>
            <a:srgbClr val="DB34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 txBox="1"/>
          <p:nvPr/>
        </p:nvSpPr>
        <p:spPr>
          <a:xfrm>
            <a:off x="5197474" y="5178238"/>
            <a:ext cx="242570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40" b="1">
                <a:solidFill>
                  <a:srgbClr val="FFFFFF"/>
                </a:solidFill>
                <a:latin typeface="Arial"/>
                <a:cs typeface="Arial"/>
              </a:rPr>
              <a:t>NEW</a:t>
            </a:r>
            <a:endParaRPr sz="800">
              <a:latin typeface="Arial"/>
              <a:cs typeface="Arial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5149849" y="5670419"/>
            <a:ext cx="1749425" cy="83756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050" spc="60">
                <a:solidFill>
                  <a:srgbClr val="FFC107"/>
                </a:solidFill>
                <a:latin typeface="MingLiU_HKSCS-ExtB"/>
                <a:cs typeface="MingLiU_HKSCS-ExtB"/>
              </a:rPr>
              <a:t>⚡</a:t>
            </a:r>
            <a:r>
              <a:rPr dirty="0" sz="1000" spc="-110">
                <a:solidFill>
                  <a:srgbClr val="444444"/>
                </a:solidFill>
                <a:latin typeface="SimSun"/>
                <a:cs typeface="SimSun"/>
              </a:rPr>
              <a:t>ヘッド数：</a:t>
            </a:r>
            <a:r>
              <a:rPr dirty="0" sz="1050" spc="-125" b="1">
                <a:solidFill>
                  <a:srgbClr val="444444"/>
                </a:solidFill>
                <a:latin typeface="Tahoma"/>
                <a:cs typeface="Tahoma"/>
              </a:rPr>
              <a:t>6</a:t>
            </a:r>
            <a:r>
              <a:rPr dirty="0" sz="1050" spc="-90" b="1">
                <a:solidFill>
                  <a:srgbClr val="444444"/>
                </a:solidFill>
                <a:latin typeface="Tahoma"/>
                <a:cs typeface="Tahoma"/>
              </a:rPr>
              <a:t> </a:t>
            </a:r>
            <a:r>
              <a:rPr dirty="0" sz="1050" spc="-55">
                <a:solidFill>
                  <a:srgbClr val="444444"/>
                </a:solidFill>
                <a:latin typeface="Microsoft Sans Serif"/>
                <a:cs typeface="Microsoft Sans Serif"/>
              </a:rPr>
              <a:t>(</a:t>
            </a:r>
            <a:r>
              <a:rPr dirty="0" sz="1000" spc="-100">
                <a:solidFill>
                  <a:srgbClr val="444444"/>
                </a:solidFill>
                <a:latin typeface="SimSun"/>
                <a:cs typeface="SimSun"/>
              </a:rPr>
              <a:t>並列処理</a:t>
            </a:r>
            <a:r>
              <a:rPr dirty="0" sz="1050" spc="-50">
                <a:solidFill>
                  <a:srgbClr val="444444"/>
                </a:solidFill>
                <a:latin typeface="Microsoft Sans Serif"/>
                <a:cs typeface="Microsoft Sans Serif"/>
              </a:rPr>
              <a:t>)</a:t>
            </a: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050" spc="60">
                <a:solidFill>
                  <a:srgbClr val="FFC107"/>
                </a:solidFill>
                <a:latin typeface="MingLiU_HKSCS-ExtB"/>
                <a:cs typeface="MingLiU_HKSCS-ExtB"/>
              </a:rPr>
              <a:t>⚡</a:t>
            </a:r>
            <a:r>
              <a:rPr dirty="0" sz="1000" spc="-135">
                <a:solidFill>
                  <a:srgbClr val="444444"/>
                </a:solidFill>
                <a:latin typeface="SimSun"/>
                <a:cs typeface="SimSun"/>
              </a:rPr>
              <a:t>残差接続で </a:t>
            </a:r>
            <a:r>
              <a:rPr dirty="0" sz="1000" spc="-100" b="1">
                <a:solidFill>
                  <a:srgbClr val="444444"/>
                </a:solidFill>
                <a:latin typeface="Microsoft JhengHei"/>
                <a:cs typeface="Microsoft JhengHei"/>
              </a:rPr>
              <a:t>学</a:t>
            </a:r>
            <a:r>
              <a:rPr dirty="0" sz="1000" spc="-100" b="1">
                <a:solidFill>
                  <a:srgbClr val="444444"/>
                </a:solidFill>
                <a:latin typeface="Malgun Gothic"/>
                <a:cs typeface="Malgun Gothic"/>
              </a:rPr>
              <a:t>習</a:t>
            </a:r>
            <a:r>
              <a:rPr dirty="0" sz="1000" spc="-100" b="1">
                <a:solidFill>
                  <a:srgbClr val="444444"/>
                </a:solidFill>
                <a:latin typeface="Microsoft JhengHei"/>
                <a:cs typeface="Microsoft JhengHei"/>
              </a:rPr>
              <a:t>安</a:t>
            </a:r>
            <a:r>
              <a:rPr dirty="0" sz="1000" spc="-100" b="1">
                <a:solidFill>
                  <a:srgbClr val="444444"/>
                </a:solidFill>
                <a:latin typeface="Malgun Gothic"/>
                <a:cs typeface="Malgun Gothic"/>
              </a:rPr>
              <a:t>定</a:t>
            </a:r>
            <a:r>
              <a:rPr dirty="0" sz="1000" spc="-50" b="1">
                <a:solidFill>
                  <a:srgbClr val="444444"/>
                </a:solidFill>
                <a:latin typeface="Microsoft JhengHei"/>
                <a:cs typeface="Microsoft JhengHei"/>
              </a:rPr>
              <a:t>化</a:t>
            </a:r>
            <a:endParaRPr sz="1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050" spc="-85">
                <a:solidFill>
                  <a:srgbClr val="FFC107"/>
                </a:solidFill>
                <a:latin typeface="MingLiU_HKSCS-ExtB"/>
                <a:cs typeface="MingLiU_HKSCS-ExtB"/>
              </a:rPr>
              <a:t>⚡</a:t>
            </a:r>
            <a:r>
              <a:rPr dirty="0" sz="1050" spc="-85">
                <a:solidFill>
                  <a:srgbClr val="444444"/>
                </a:solidFill>
                <a:latin typeface="Microsoft Sans Serif"/>
                <a:cs typeface="Microsoft Sans Serif"/>
              </a:rPr>
              <a:t>ArcFace</a:t>
            </a:r>
            <a:r>
              <a:rPr dirty="0" sz="1000" spc="-140">
                <a:solidFill>
                  <a:srgbClr val="444444"/>
                </a:solidFill>
                <a:latin typeface="SimSun"/>
                <a:cs typeface="SimSun"/>
              </a:rPr>
              <a:t>損失で </a:t>
            </a:r>
            <a:r>
              <a:rPr dirty="0" sz="1000" spc="-100" b="1">
                <a:solidFill>
                  <a:srgbClr val="444444"/>
                </a:solidFill>
                <a:latin typeface="Microsoft JhengHei"/>
                <a:cs typeface="Microsoft JhengHei"/>
              </a:rPr>
              <a:t>特徴</a:t>
            </a:r>
            <a:r>
              <a:rPr dirty="0" sz="1000" spc="-100" b="1">
                <a:solidFill>
                  <a:srgbClr val="444444"/>
                </a:solidFill>
                <a:latin typeface="Malgun Gothic"/>
                <a:cs typeface="Malgun Gothic"/>
              </a:rPr>
              <a:t>空間最適</a:t>
            </a:r>
            <a:r>
              <a:rPr dirty="0" sz="1000" spc="-50" b="1">
                <a:solidFill>
                  <a:srgbClr val="444444"/>
                </a:solidFill>
                <a:latin typeface="Microsoft JhengHei"/>
                <a:cs typeface="Microsoft JhengHei"/>
              </a:rPr>
              <a:t>化</a:t>
            </a:r>
            <a:endParaRPr sz="1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050" spc="-80">
                <a:solidFill>
                  <a:srgbClr val="FFC107"/>
                </a:solidFill>
                <a:latin typeface="MingLiU_HKSCS-ExtB"/>
                <a:cs typeface="MingLiU_HKSCS-ExtB"/>
              </a:rPr>
              <a:t>⚡</a:t>
            </a:r>
            <a:r>
              <a:rPr dirty="0" sz="1050" spc="-80">
                <a:solidFill>
                  <a:srgbClr val="444444"/>
                </a:solidFill>
                <a:latin typeface="Microsoft Sans Serif"/>
                <a:cs typeface="Microsoft Sans Serif"/>
              </a:rPr>
              <a:t>STgram-</a:t>
            </a:r>
            <a:r>
              <a:rPr dirty="0" sz="1050" spc="-145">
                <a:solidFill>
                  <a:srgbClr val="444444"/>
                </a:solidFill>
                <a:latin typeface="Microsoft Sans Serif"/>
                <a:cs typeface="Microsoft Sans Serif"/>
              </a:rPr>
              <a:t>MFN</a:t>
            </a:r>
            <a:r>
              <a:rPr dirty="0" sz="1000" spc="-145">
                <a:solidFill>
                  <a:srgbClr val="444444"/>
                </a:solidFill>
                <a:latin typeface="SimSun"/>
                <a:cs typeface="SimSun"/>
              </a:rPr>
              <a:t>との </a:t>
            </a:r>
            <a:r>
              <a:rPr dirty="0" sz="1000" spc="-100" b="1">
                <a:solidFill>
                  <a:srgbClr val="444444"/>
                </a:solidFill>
                <a:latin typeface="Microsoft JhengHei"/>
                <a:cs typeface="Microsoft JhengHei"/>
              </a:rPr>
              <a:t>完</a:t>
            </a:r>
            <a:r>
              <a:rPr dirty="0" sz="1000" spc="-100" b="1">
                <a:solidFill>
                  <a:srgbClr val="444444"/>
                </a:solidFill>
                <a:latin typeface="Malgun Gothic"/>
                <a:cs typeface="Malgun Gothic"/>
              </a:rPr>
              <a:t>全互換</a:t>
            </a:r>
            <a:r>
              <a:rPr dirty="0" sz="1000" spc="-50" b="1">
                <a:solidFill>
                  <a:srgbClr val="444444"/>
                </a:solidFill>
                <a:latin typeface="Microsoft JhengHei"/>
                <a:cs typeface="Microsoft JhengHei"/>
              </a:rPr>
              <a:t>性</a:t>
            </a:r>
            <a:endParaRPr sz="1000">
              <a:latin typeface="Microsoft JhengHei"/>
              <a:cs typeface="Microsoft JhengHei"/>
            </a:endParaRPr>
          </a:p>
        </p:txBody>
      </p:sp>
      <p:pic>
        <p:nvPicPr>
          <p:cNvPr id="84" name="object 84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895475" y="9172574"/>
            <a:ext cx="152399" cy="121919"/>
          </a:xfrm>
          <a:prstGeom prst="rect">
            <a:avLst/>
          </a:prstGeom>
        </p:spPr>
      </p:pic>
      <p:sp>
        <p:nvSpPr>
          <p:cNvPr id="85" name="object 85" descr=""/>
          <p:cNvSpPr txBox="1"/>
          <p:nvPr/>
        </p:nvSpPr>
        <p:spPr>
          <a:xfrm>
            <a:off x="1652389" y="9292634"/>
            <a:ext cx="64452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3825">
              <a:lnSpc>
                <a:spcPct val="113599"/>
              </a:lnSpc>
              <a:spcBef>
                <a:spcPts val="100"/>
              </a:spcBef>
            </a:pPr>
            <a:r>
              <a:rPr dirty="0" sz="1100" spc="-110" b="1">
                <a:solidFill>
                  <a:srgbClr val="FFFFFF"/>
                </a:solidFill>
                <a:latin typeface="Malgun Gothic"/>
                <a:cs typeface="Malgun Gothic"/>
              </a:rPr>
              <a:t>自動化</a:t>
            </a:r>
            <a:r>
              <a:rPr dirty="0" sz="1100" spc="-5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100" spc="-145">
                <a:solidFill>
                  <a:srgbClr val="FFFFFF"/>
                </a:solidFill>
                <a:latin typeface="SimSun"/>
                <a:cs typeface="SimSun"/>
              </a:rPr>
              <a:t>専門家不要</a:t>
            </a:r>
            <a:endParaRPr sz="1100">
              <a:latin typeface="SimSun"/>
              <a:cs typeface="SimSun"/>
            </a:endParaRPr>
          </a:p>
        </p:txBody>
      </p:sp>
      <p:pic>
        <p:nvPicPr>
          <p:cNvPr id="86" name="object 86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817863" y="9180313"/>
            <a:ext cx="108346" cy="108346"/>
          </a:xfrm>
          <a:prstGeom prst="rect">
            <a:avLst/>
          </a:prstGeom>
        </p:spPr>
      </p:pic>
      <p:sp>
        <p:nvSpPr>
          <p:cNvPr id="87" name="object 87" descr=""/>
          <p:cNvSpPr txBox="1"/>
          <p:nvPr/>
        </p:nvSpPr>
        <p:spPr>
          <a:xfrm>
            <a:off x="4492476" y="9292634"/>
            <a:ext cx="768350" cy="40640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dirty="0" sz="1100" spc="-110" b="1">
                <a:solidFill>
                  <a:srgbClr val="FFFFFF"/>
                </a:solidFill>
                <a:latin typeface="Malgun Gothic"/>
                <a:cs typeface="Malgun Gothic"/>
              </a:rPr>
              <a:t>汎用性</a:t>
            </a:r>
            <a:endParaRPr sz="11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dirty="0" sz="1100" spc="-125">
                <a:solidFill>
                  <a:srgbClr val="FFFFFF"/>
                </a:solidFill>
                <a:latin typeface="SimSun"/>
                <a:cs typeface="SimSun"/>
              </a:rPr>
              <a:t>機械種別対応</a:t>
            </a:r>
            <a:endParaRPr sz="1100">
              <a:latin typeface="SimSun"/>
              <a:cs typeface="SimSun"/>
            </a:endParaRPr>
          </a:p>
        </p:txBody>
      </p:sp>
      <p:pic>
        <p:nvPicPr>
          <p:cNvPr id="88" name="object 88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7715250" y="9180313"/>
            <a:ext cx="123825" cy="108346"/>
          </a:xfrm>
          <a:prstGeom prst="rect">
            <a:avLst/>
          </a:prstGeom>
        </p:spPr>
      </p:pic>
      <p:sp>
        <p:nvSpPr>
          <p:cNvPr id="89" name="object 89" descr=""/>
          <p:cNvSpPr txBox="1"/>
          <p:nvPr/>
        </p:nvSpPr>
        <p:spPr>
          <a:xfrm>
            <a:off x="7419776" y="9289462"/>
            <a:ext cx="717550" cy="40957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dirty="0" sz="1100" spc="-120" b="1">
                <a:solidFill>
                  <a:srgbClr val="FFFFFF"/>
                </a:solidFill>
                <a:latin typeface="Malgun Gothic"/>
                <a:cs typeface="Malgun Gothic"/>
              </a:rPr>
              <a:t>精度向上</a:t>
            </a:r>
            <a:endParaRPr sz="11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dirty="0" sz="1050" spc="-50">
                <a:solidFill>
                  <a:srgbClr val="FFFFFF"/>
                </a:solidFill>
                <a:latin typeface="Arial MT"/>
                <a:cs typeface="Arial MT"/>
              </a:rPr>
              <a:t>+1.55%</a:t>
            </a:r>
            <a:r>
              <a:rPr dirty="0" sz="10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65">
                <a:solidFill>
                  <a:srgbClr val="FFFFFF"/>
                </a:solidFill>
                <a:latin typeface="Arial MT"/>
                <a:cs typeface="Arial MT"/>
              </a:rPr>
              <a:t>AUC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90" name="object 90" descr=""/>
          <p:cNvGrpSpPr/>
          <p:nvPr/>
        </p:nvGrpSpPr>
        <p:grpSpPr>
          <a:xfrm>
            <a:off x="8267700" y="9667874"/>
            <a:ext cx="1295400" cy="323850"/>
            <a:chOff x="8267700" y="9667874"/>
            <a:chExt cx="1295400" cy="323850"/>
          </a:xfrm>
        </p:grpSpPr>
        <p:sp>
          <p:nvSpPr>
            <p:cNvPr id="91" name="object 91" descr=""/>
            <p:cNvSpPr/>
            <p:nvPr/>
          </p:nvSpPr>
          <p:spPr>
            <a:xfrm>
              <a:off x="8267700" y="9667874"/>
              <a:ext cx="1295400" cy="323850"/>
            </a:xfrm>
            <a:custGeom>
              <a:avLst/>
              <a:gdLst/>
              <a:ahLst/>
              <a:cxnLst/>
              <a:rect l="l" t="t" r="r" b="b"/>
              <a:pathLst>
                <a:path w="1295400" h="323850">
                  <a:moveTo>
                    <a:pt x="126235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262352" y="0"/>
                  </a:lnTo>
                  <a:lnTo>
                    <a:pt x="1294433" y="28187"/>
                  </a:lnTo>
                  <a:lnTo>
                    <a:pt x="1295399" y="33047"/>
                  </a:lnTo>
                  <a:lnTo>
                    <a:pt x="1295399" y="290802"/>
                  </a:lnTo>
                  <a:lnTo>
                    <a:pt x="1267212" y="322883"/>
                  </a:lnTo>
                  <a:lnTo>
                    <a:pt x="126235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382000" y="9763124"/>
              <a:ext cx="133349" cy="133349"/>
            </a:xfrm>
            <a:prstGeom prst="rect">
              <a:avLst/>
            </a:prstGeom>
          </p:spPr>
        </p:pic>
      </p:grpSp>
      <p:sp>
        <p:nvSpPr>
          <p:cNvPr id="93" name="object 93" descr=""/>
          <p:cNvSpPr txBox="1"/>
          <p:nvPr/>
        </p:nvSpPr>
        <p:spPr>
          <a:xfrm>
            <a:off x="8561734" y="9764140"/>
            <a:ext cx="899794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z="1050" spc="-80">
                <a:solidFill>
                  <a:srgbClr val="FFFFFF"/>
                </a:solidFill>
                <a:latin typeface="Arial MT"/>
                <a:cs typeface="Arial MT"/>
              </a:rPr>
              <a:t>Genspark</a:t>
            </a:r>
            <a:r>
              <a:rPr dirty="0" sz="105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85">
                <a:solidFill>
                  <a:srgbClr val="FFFFFF"/>
                </a:solidFill>
                <a:latin typeface="SimSun"/>
                <a:cs typeface="SimSun"/>
              </a:rPr>
              <a:t>で作成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94" name="object 94" descr=""/>
          <p:cNvSpPr txBox="1"/>
          <p:nvPr/>
        </p:nvSpPr>
        <p:spPr>
          <a:xfrm>
            <a:off x="9194601" y="9830815"/>
            <a:ext cx="286385" cy="1466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90"/>
              </a:lnSpc>
            </a:pPr>
            <a:fld id="{81D60167-4931-47E6-BA6A-407CBD079E47}" type="slidenum">
              <a:rPr dirty="0" sz="1000" spc="-40">
                <a:solidFill>
                  <a:srgbClr val="666666"/>
                </a:solidFill>
                <a:latin typeface="Tahoma"/>
                <a:cs typeface="Tahoma"/>
              </a:rPr>
              <a:t>6</a:t>
            </a:fld>
            <a:r>
              <a:rPr dirty="0" sz="1000" spc="-40">
                <a:solidFill>
                  <a:srgbClr val="666666"/>
                </a:solidFill>
                <a:latin typeface="Tahoma"/>
                <a:cs typeface="Tahoma"/>
              </a:rPr>
              <a:t>/</a:t>
            </a:r>
            <a:r>
              <a:rPr dirty="0" sz="1000" spc="-40">
                <a:solidFill>
                  <a:srgbClr val="666666"/>
                </a:solidFill>
                <a:latin typeface="Tahoma"/>
                <a:cs typeface="Tahoma"/>
              </a:rPr>
              <a:t>13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80999" y="733424"/>
            <a:ext cx="8991600" cy="28575"/>
          </a:xfrm>
          <a:custGeom>
            <a:avLst/>
            <a:gdLst/>
            <a:ahLst/>
            <a:cxnLst/>
            <a:rect l="l" t="t" r="r" b="b"/>
            <a:pathLst>
              <a:path w="8991600" h="28575">
                <a:moveTo>
                  <a:pt x="8991599" y="28574"/>
                </a:moveTo>
                <a:lnTo>
                  <a:pt x="0" y="28574"/>
                </a:lnTo>
                <a:lnTo>
                  <a:pt x="0" y="0"/>
                </a:lnTo>
                <a:lnTo>
                  <a:pt x="8991599" y="0"/>
                </a:lnTo>
                <a:lnTo>
                  <a:pt x="8991599" y="28574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8924" y="361949"/>
            <a:ext cx="247650" cy="24765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259394" y="275508"/>
            <a:ext cx="3681729" cy="377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210" b="1">
                <a:solidFill>
                  <a:srgbClr val="3A6EA5"/>
                </a:solidFill>
                <a:latin typeface="Tahoma"/>
                <a:cs typeface="Tahoma"/>
              </a:rPr>
              <a:t>Multi-</a:t>
            </a:r>
            <a:r>
              <a:rPr dirty="0" sz="2300" spc="-254" b="1">
                <a:solidFill>
                  <a:srgbClr val="3A6EA5"/>
                </a:solidFill>
                <a:latin typeface="Tahoma"/>
                <a:cs typeface="Tahoma"/>
              </a:rPr>
              <a:t>Head</a:t>
            </a:r>
            <a:r>
              <a:rPr dirty="0" sz="2300" spc="-135" b="1">
                <a:solidFill>
                  <a:srgbClr val="3A6EA5"/>
                </a:solidFill>
                <a:latin typeface="Tahoma"/>
                <a:cs typeface="Tahoma"/>
              </a:rPr>
              <a:t> </a:t>
            </a:r>
            <a:r>
              <a:rPr dirty="0" sz="2300" spc="-220" b="1">
                <a:solidFill>
                  <a:srgbClr val="3A6EA5"/>
                </a:solidFill>
                <a:latin typeface="Tahoma"/>
                <a:cs typeface="Tahoma"/>
              </a:rPr>
              <a:t>Self-</a:t>
            </a:r>
            <a:r>
              <a:rPr dirty="0" sz="2300" spc="-225" b="1">
                <a:solidFill>
                  <a:srgbClr val="3A6EA5"/>
                </a:solidFill>
                <a:latin typeface="Tahoma"/>
                <a:cs typeface="Tahoma"/>
              </a:rPr>
              <a:t>Attention</a:t>
            </a:r>
            <a:r>
              <a:rPr dirty="0" sz="2300" spc="-135" b="1">
                <a:solidFill>
                  <a:srgbClr val="3A6EA5"/>
                </a:solidFill>
                <a:latin typeface="Tahoma"/>
                <a:cs typeface="Tahoma"/>
              </a:rPr>
              <a:t> </a:t>
            </a:r>
            <a:r>
              <a:rPr dirty="0" sz="2200" spc="-290" b="1">
                <a:solidFill>
                  <a:srgbClr val="3A6EA5"/>
                </a:solidFill>
                <a:latin typeface="Malgun Gothic"/>
                <a:cs typeface="Malgun Gothic"/>
              </a:rPr>
              <a:t>詳細</a:t>
            </a:r>
            <a:endParaRPr sz="2200">
              <a:latin typeface="Malgun Gothic"/>
              <a:cs typeface="Malgun Gothic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80999" y="952499"/>
            <a:ext cx="8991600" cy="2466975"/>
            <a:chOff x="380999" y="952499"/>
            <a:chExt cx="8991600" cy="2466975"/>
          </a:xfrm>
        </p:grpSpPr>
        <p:sp>
          <p:nvSpPr>
            <p:cNvPr id="6" name="object 6" descr=""/>
            <p:cNvSpPr/>
            <p:nvPr/>
          </p:nvSpPr>
          <p:spPr>
            <a:xfrm>
              <a:off x="390524" y="962024"/>
              <a:ext cx="8972550" cy="2447925"/>
            </a:xfrm>
            <a:custGeom>
              <a:avLst/>
              <a:gdLst/>
              <a:ahLst/>
              <a:cxnLst/>
              <a:rect l="l" t="t" r="r" b="b"/>
              <a:pathLst>
                <a:path w="8972550" h="2447925">
                  <a:moveTo>
                    <a:pt x="8874653" y="2447924"/>
                  </a:moveTo>
                  <a:lnTo>
                    <a:pt x="97895" y="2447924"/>
                  </a:lnTo>
                  <a:lnTo>
                    <a:pt x="91081" y="2447253"/>
                  </a:lnTo>
                  <a:lnTo>
                    <a:pt x="52285" y="2434088"/>
                  </a:lnTo>
                  <a:lnTo>
                    <a:pt x="21479" y="2407079"/>
                  </a:lnTo>
                  <a:lnTo>
                    <a:pt x="3355" y="2370337"/>
                  </a:lnTo>
                  <a:lnTo>
                    <a:pt x="0" y="2350029"/>
                  </a:lnTo>
                  <a:lnTo>
                    <a:pt x="0" y="2343149"/>
                  </a:lnTo>
                  <a:lnTo>
                    <a:pt x="0" y="97895"/>
                  </a:lnTo>
                  <a:lnTo>
                    <a:pt x="10608" y="58323"/>
                  </a:lnTo>
                  <a:lnTo>
                    <a:pt x="35552" y="25823"/>
                  </a:lnTo>
                  <a:lnTo>
                    <a:pt x="71035" y="5342"/>
                  </a:lnTo>
                  <a:lnTo>
                    <a:pt x="97895" y="0"/>
                  </a:lnTo>
                  <a:lnTo>
                    <a:pt x="8874653" y="0"/>
                  </a:lnTo>
                  <a:lnTo>
                    <a:pt x="8914224" y="10608"/>
                  </a:lnTo>
                  <a:lnTo>
                    <a:pt x="8946724" y="35552"/>
                  </a:lnTo>
                  <a:lnTo>
                    <a:pt x="8967205" y="71035"/>
                  </a:lnTo>
                  <a:lnTo>
                    <a:pt x="8972548" y="97895"/>
                  </a:lnTo>
                  <a:lnTo>
                    <a:pt x="8972548" y="2350029"/>
                  </a:lnTo>
                  <a:lnTo>
                    <a:pt x="8961939" y="2389600"/>
                  </a:lnTo>
                  <a:lnTo>
                    <a:pt x="8936996" y="2422101"/>
                  </a:lnTo>
                  <a:lnTo>
                    <a:pt x="8901512" y="2442581"/>
                  </a:lnTo>
                  <a:lnTo>
                    <a:pt x="8881467" y="2447253"/>
                  </a:lnTo>
                  <a:lnTo>
                    <a:pt x="8874653" y="2447924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90524" y="962024"/>
              <a:ext cx="8972550" cy="2447925"/>
            </a:xfrm>
            <a:custGeom>
              <a:avLst/>
              <a:gdLst/>
              <a:ahLst/>
              <a:cxnLst/>
              <a:rect l="l" t="t" r="r" b="b"/>
              <a:pathLst>
                <a:path w="8972550" h="2447925">
                  <a:moveTo>
                    <a:pt x="0" y="2343149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13835" y="52285"/>
                  </a:lnTo>
                  <a:lnTo>
                    <a:pt x="30687" y="30687"/>
                  </a:lnTo>
                  <a:lnTo>
                    <a:pt x="35552" y="25823"/>
                  </a:lnTo>
                  <a:lnTo>
                    <a:pt x="64679" y="7975"/>
                  </a:lnTo>
                  <a:lnTo>
                    <a:pt x="71035" y="5342"/>
                  </a:lnTo>
                  <a:lnTo>
                    <a:pt x="77586" y="3355"/>
                  </a:lnTo>
                  <a:lnTo>
                    <a:pt x="84334" y="2013"/>
                  </a:lnTo>
                  <a:lnTo>
                    <a:pt x="91081" y="671"/>
                  </a:lnTo>
                  <a:lnTo>
                    <a:pt x="97895" y="0"/>
                  </a:lnTo>
                  <a:lnTo>
                    <a:pt x="104775" y="0"/>
                  </a:lnTo>
                  <a:lnTo>
                    <a:pt x="8867774" y="0"/>
                  </a:lnTo>
                  <a:lnTo>
                    <a:pt x="8907868" y="7975"/>
                  </a:lnTo>
                  <a:lnTo>
                    <a:pt x="8925983" y="17657"/>
                  </a:lnTo>
                  <a:lnTo>
                    <a:pt x="8931703" y="21479"/>
                  </a:lnTo>
                  <a:lnTo>
                    <a:pt x="8958712" y="52285"/>
                  </a:lnTo>
                  <a:lnTo>
                    <a:pt x="8970534" y="84334"/>
                  </a:lnTo>
                  <a:lnTo>
                    <a:pt x="8971877" y="91081"/>
                  </a:lnTo>
                  <a:lnTo>
                    <a:pt x="8972548" y="97895"/>
                  </a:lnTo>
                  <a:lnTo>
                    <a:pt x="8972549" y="104774"/>
                  </a:lnTo>
                  <a:lnTo>
                    <a:pt x="8972549" y="2343149"/>
                  </a:lnTo>
                  <a:lnTo>
                    <a:pt x="8964572" y="2383245"/>
                  </a:lnTo>
                  <a:lnTo>
                    <a:pt x="8941860" y="2417236"/>
                  </a:lnTo>
                  <a:lnTo>
                    <a:pt x="8907868" y="2439948"/>
                  </a:lnTo>
                  <a:lnTo>
                    <a:pt x="8901512" y="2442581"/>
                  </a:lnTo>
                  <a:lnTo>
                    <a:pt x="8867774" y="2447924"/>
                  </a:lnTo>
                  <a:lnTo>
                    <a:pt x="104775" y="2447924"/>
                  </a:lnTo>
                  <a:lnTo>
                    <a:pt x="97895" y="2447924"/>
                  </a:lnTo>
                  <a:lnTo>
                    <a:pt x="91081" y="2447253"/>
                  </a:lnTo>
                  <a:lnTo>
                    <a:pt x="84334" y="2445911"/>
                  </a:lnTo>
                  <a:lnTo>
                    <a:pt x="77586" y="2444569"/>
                  </a:lnTo>
                  <a:lnTo>
                    <a:pt x="71035" y="2442581"/>
                  </a:lnTo>
                  <a:lnTo>
                    <a:pt x="64679" y="2439948"/>
                  </a:lnTo>
                  <a:lnTo>
                    <a:pt x="58323" y="2437316"/>
                  </a:lnTo>
                  <a:lnTo>
                    <a:pt x="25823" y="2412372"/>
                  </a:lnTo>
                  <a:lnTo>
                    <a:pt x="17657" y="2401359"/>
                  </a:lnTo>
                  <a:lnTo>
                    <a:pt x="13835" y="2395639"/>
                  </a:lnTo>
                  <a:lnTo>
                    <a:pt x="671" y="2356842"/>
                  </a:lnTo>
                  <a:lnTo>
                    <a:pt x="0" y="2350029"/>
                  </a:lnTo>
                  <a:lnTo>
                    <a:pt x="0" y="2343149"/>
                  </a:lnTo>
                  <a:close/>
                </a:path>
              </a:pathLst>
            </a:custGeom>
            <a:ln w="19049">
              <a:solidFill>
                <a:srgbClr val="DEE2E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0160" y="1193303"/>
              <a:ext cx="210967" cy="168168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050156" y="1127605"/>
            <a:ext cx="16383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20" b="1">
                <a:solidFill>
                  <a:srgbClr val="3A6EA5"/>
                </a:solidFill>
                <a:latin typeface="Arial"/>
                <a:cs typeface="Arial"/>
              </a:rPr>
              <a:t>Q</a:t>
            </a:r>
            <a:r>
              <a:rPr dirty="0" sz="1600" spc="-125" b="1">
                <a:solidFill>
                  <a:srgbClr val="3A6EA5"/>
                </a:solidFill>
                <a:latin typeface="Arial"/>
                <a:cs typeface="Arial"/>
              </a:rPr>
              <a:t>, K</a:t>
            </a:r>
            <a:r>
              <a:rPr dirty="0" sz="1600" spc="-130" b="1">
                <a:solidFill>
                  <a:srgbClr val="3A6EA5"/>
                </a:solidFill>
                <a:latin typeface="Arial"/>
                <a:cs typeface="Arial"/>
              </a:rPr>
              <a:t>, </a:t>
            </a:r>
            <a:r>
              <a:rPr dirty="0" sz="1600" spc="-240" b="1">
                <a:solidFill>
                  <a:srgbClr val="3A6EA5"/>
                </a:solidFill>
                <a:latin typeface="Arial"/>
                <a:cs typeface="Arial"/>
              </a:rPr>
              <a:t>V</a:t>
            </a:r>
            <a:r>
              <a:rPr dirty="0" sz="1600" spc="-125" b="1">
                <a:solidFill>
                  <a:srgbClr val="3A6EA5"/>
                </a:solidFill>
                <a:latin typeface="Arial"/>
                <a:cs typeface="Arial"/>
              </a:rPr>
              <a:t> </a:t>
            </a:r>
            <a:r>
              <a:rPr dirty="0" sz="1500" spc="-150" b="1">
                <a:solidFill>
                  <a:srgbClr val="3A6EA5"/>
                </a:solidFill>
                <a:latin typeface="Malgun Gothic"/>
                <a:cs typeface="Malgun Gothic"/>
              </a:rPr>
              <a:t>生成</a:t>
            </a:r>
            <a:r>
              <a:rPr dirty="0" sz="1500" spc="-140" b="1">
                <a:solidFill>
                  <a:srgbClr val="3A6EA5"/>
                </a:solidFill>
                <a:latin typeface="Microsoft JhengHei"/>
                <a:cs typeface="Microsoft JhengHei"/>
              </a:rPr>
              <a:t>プロセス</a:t>
            </a:r>
            <a:endParaRPr sz="1500">
              <a:latin typeface="Microsoft JhengHei"/>
              <a:cs typeface="Microsoft JhengHei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9450" y="3086098"/>
            <a:ext cx="104775" cy="104775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3310040" y="3050254"/>
            <a:ext cx="326199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900" spc="-105">
                <a:solidFill>
                  <a:srgbClr val="666666"/>
                </a:solidFill>
                <a:latin typeface="SimSun"/>
                <a:cs typeface="SimSun"/>
              </a:rPr>
              <a:t>学習可能な重み行列 </a:t>
            </a:r>
            <a:r>
              <a:rPr dirty="0" sz="900" spc="-70">
                <a:solidFill>
                  <a:srgbClr val="666666"/>
                </a:solidFill>
                <a:latin typeface="Microsoft Sans Serif"/>
                <a:cs typeface="Microsoft Sans Serif"/>
              </a:rPr>
              <a:t>W</a:t>
            </a:r>
            <a:r>
              <a:rPr dirty="0" baseline="-23148" sz="900" spc="-104">
                <a:solidFill>
                  <a:srgbClr val="666666"/>
                </a:solidFill>
                <a:latin typeface="Arial MT"/>
                <a:cs typeface="Arial MT"/>
              </a:rPr>
              <a:t>Q</a:t>
            </a:r>
            <a:r>
              <a:rPr dirty="0" sz="900" spc="-40">
                <a:solidFill>
                  <a:srgbClr val="666666"/>
                </a:solidFill>
                <a:latin typeface="Microsoft Sans Serif"/>
                <a:cs typeface="Microsoft Sans Serif"/>
              </a:rPr>
              <a:t>, </a:t>
            </a:r>
            <a:r>
              <a:rPr dirty="0" sz="900" spc="-65">
                <a:solidFill>
                  <a:srgbClr val="666666"/>
                </a:solidFill>
                <a:latin typeface="Microsoft Sans Serif"/>
                <a:cs typeface="Microsoft Sans Serif"/>
              </a:rPr>
              <a:t>W</a:t>
            </a:r>
            <a:r>
              <a:rPr dirty="0" baseline="-23148" sz="900" spc="-97">
                <a:solidFill>
                  <a:srgbClr val="666666"/>
                </a:solidFill>
                <a:latin typeface="Arial MT"/>
                <a:cs typeface="Arial MT"/>
              </a:rPr>
              <a:t>K</a:t>
            </a:r>
            <a:r>
              <a:rPr dirty="0" sz="900" spc="-40">
                <a:solidFill>
                  <a:srgbClr val="666666"/>
                </a:solidFill>
                <a:latin typeface="Microsoft Sans Serif"/>
                <a:cs typeface="Microsoft Sans Serif"/>
              </a:rPr>
              <a:t>, </a:t>
            </a:r>
            <a:r>
              <a:rPr dirty="0" sz="900" spc="-105">
                <a:solidFill>
                  <a:srgbClr val="666666"/>
                </a:solidFill>
                <a:latin typeface="Microsoft Sans Serif"/>
                <a:cs typeface="Microsoft Sans Serif"/>
              </a:rPr>
              <a:t>W</a:t>
            </a:r>
            <a:r>
              <a:rPr dirty="0" baseline="-23148" sz="900" spc="-157">
                <a:solidFill>
                  <a:srgbClr val="666666"/>
                </a:solidFill>
                <a:latin typeface="Arial MT"/>
                <a:cs typeface="Arial MT"/>
              </a:rPr>
              <a:t>V</a:t>
            </a:r>
            <a:r>
              <a:rPr dirty="0" baseline="-23148" sz="900" spc="89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900" spc="-130">
                <a:solidFill>
                  <a:srgbClr val="666666"/>
                </a:solidFill>
                <a:latin typeface="SimSun"/>
                <a:cs typeface="SimSun"/>
              </a:rPr>
              <a:t>により、入力から 異なる表現を生成</a:t>
            </a:r>
            <a:endParaRPr sz="900">
              <a:latin typeface="SimSun"/>
              <a:cs typeface="SimSun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0549" y="971549"/>
            <a:ext cx="228600" cy="11429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658365" y="878813"/>
            <a:ext cx="9334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 b="1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571499" y="1543049"/>
            <a:ext cx="2771775" cy="1371600"/>
            <a:chOff x="571499" y="1543049"/>
            <a:chExt cx="2771775" cy="1371600"/>
          </a:xfrm>
        </p:grpSpPr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0074" y="1571624"/>
              <a:ext cx="2714624" cy="1314449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585787" y="1557336"/>
              <a:ext cx="2743200" cy="1343025"/>
            </a:xfrm>
            <a:custGeom>
              <a:avLst/>
              <a:gdLst/>
              <a:ahLst/>
              <a:cxnLst/>
              <a:rect l="l" t="t" r="r" b="b"/>
              <a:pathLst>
                <a:path w="2743200" h="1343025">
                  <a:moveTo>
                    <a:pt x="0" y="1262062"/>
                  </a:moveTo>
                  <a:lnTo>
                    <a:pt x="0" y="80962"/>
                  </a:lnTo>
                  <a:lnTo>
                    <a:pt x="0" y="75646"/>
                  </a:lnTo>
                  <a:lnTo>
                    <a:pt x="518" y="70381"/>
                  </a:lnTo>
                  <a:lnTo>
                    <a:pt x="13644" y="35981"/>
                  </a:lnTo>
                  <a:lnTo>
                    <a:pt x="16598" y="31561"/>
                  </a:lnTo>
                  <a:lnTo>
                    <a:pt x="19954" y="27472"/>
                  </a:lnTo>
                  <a:lnTo>
                    <a:pt x="23713" y="23713"/>
                  </a:lnTo>
                  <a:lnTo>
                    <a:pt x="27472" y="19954"/>
                  </a:lnTo>
                  <a:lnTo>
                    <a:pt x="31561" y="16597"/>
                  </a:lnTo>
                  <a:lnTo>
                    <a:pt x="35982" y="13644"/>
                  </a:lnTo>
                  <a:lnTo>
                    <a:pt x="40402" y="10690"/>
                  </a:lnTo>
                  <a:lnTo>
                    <a:pt x="65167" y="1555"/>
                  </a:lnTo>
                  <a:lnTo>
                    <a:pt x="70381" y="518"/>
                  </a:lnTo>
                  <a:lnTo>
                    <a:pt x="75646" y="0"/>
                  </a:lnTo>
                  <a:lnTo>
                    <a:pt x="80962" y="0"/>
                  </a:lnTo>
                  <a:lnTo>
                    <a:pt x="2662237" y="0"/>
                  </a:lnTo>
                  <a:lnTo>
                    <a:pt x="2667553" y="0"/>
                  </a:lnTo>
                  <a:lnTo>
                    <a:pt x="2672817" y="518"/>
                  </a:lnTo>
                  <a:lnTo>
                    <a:pt x="2678031" y="1555"/>
                  </a:lnTo>
                  <a:lnTo>
                    <a:pt x="2683245" y="2592"/>
                  </a:lnTo>
                  <a:lnTo>
                    <a:pt x="2719486" y="23713"/>
                  </a:lnTo>
                  <a:lnTo>
                    <a:pt x="2729554" y="35981"/>
                  </a:lnTo>
                  <a:lnTo>
                    <a:pt x="2732507" y="40402"/>
                  </a:lnTo>
                  <a:lnTo>
                    <a:pt x="2743199" y="80962"/>
                  </a:lnTo>
                  <a:lnTo>
                    <a:pt x="2743199" y="1262062"/>
                  </a:lnTo>
                  <a:lnTo>
                    <a:pt x="2732508" y="1302622"/>
                  </a:lnTo>
                  <a:lnTo>
                    <a:pt x="2729554" y="1307042"/>
                  </a:lnTo>
                  <a:lnTo>
                    <a:pt x="2726601" y="1311462"/>
                  </a:lnTo>
                  <a:lnTo>
                    <a:pt x="2693219" y="1336861"/>
                  </a:lnTo>
                  <a:lnTo>
                    <a:pt x="2678031" y="1341468"/>
                  </a:lnTo>
                  <a:lnTo>
                    <a:pt x="2672817" y="1342506"/>
                  </a:lnTo>
                  <a:lnTo>
                    <a:pt x="2667553" y="1343024"/>
                  </a:lnTo>
                  <a:lnTo>
                    <a:pt x="2662237" y="1343024"/>
                  </a:lnTo>
                  <a:lnTo>
                    <a:pt x="80962" y="1343024"/>
                  </a:lnTo>
                  <a:lnTo>
                    <a:pt x="75646" y="1343024"/>
                  </a:lnTo>
                  <a:lnTo>
                    <a:pt x="70381" y="1342506"/>
                  </a:lnTo>
                  <a:lnTo>
                    <a:pt x="65167" y="1341468"/>
                  </a:lnTo>
                  <a:lnTo>
                    <a:pt x="59953" y="1340431"/>
                  </a:lnTo>
                  <a:lnTo>
                    <a:pt x="35982" y="1329379"/>
                  </a:lnTo>
                  <a:lnTo>
                    <a:pt x="31561" y="1326426"/>
                  </a:lnTo>
                  <a:lnTo>
                    <a:pt x="13644" y="1307042"/>
                  </a:lnTo>
                  <a:lnTo>
                    <a:pt x="10691" y="1302622"/>
                  </a:lnTo>
                  <a:lnTo>
                    <a:pt x="0" y="1267378"/>
                  </a:lnTo>
                  <a:lnTo>
                    <a:pt x="0" y="1262062"/>
                  </a:lnTo>
                </a:path>
              </a:pathLst>
            </a:custGeom>
            <a:ln w="28574">
              <a:solidFill>
                <a:srgbClr val="2095F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47712" y="2376486"/>
              <a:ext cx="2419350" cy="361950"/>
            </a:xfrm>
            <a:custGeom>
              <a:avLst/>
              <a:gdLst/>
              <a:ahLst/>
              <a:cxnLst/>
              <a:rect l="l" t="t" r="r" b="b"/>
              <a:pathLst>
                <a:path w="2419350" h="361950">
                  <a:moveTo>
                    <a:pt x="2370401" y="361949"/>
                  </a:moveTo>
                  <a:lnTo>
                    <a:pt x="48947" y="361949"/>
                  </a:lnTo>
                  <a:lnTo>
                    <a:pt x="45540" y="361614"/>
                  </a:lnTo>
                  <a:lnTo>
                    <a:pt x="10739" y="341527"/>
                  </a:lnTo>
                  <a:lnTo>
                    <a:pt x="0" y="313002"/>
                  </a:lnTo>
                  <a:lnTo>
                    <a:pt x="0" y="3095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2370401" y="0"/>
                  </a:lnTo>
                  <a:lnTo>
                    <a:pt x="2406438" y="17776"/>
                  </a:lnTo>
                  <a:lnTo>
                    <a:pt x="2419349" y="48947"/>
                  </a:lnTo>
                  <a:lnTo>
                    <a:pt x="2419349" y="313002"/>
                  </a:lnTo>
                  <a:lnTo>
                    <a:pt x="2401573" y="349037"/>
                  </a:lnTo>
                  <a:lnTo>
                    <a:pt x="2373808" y="361614"/>
                  </a:lnTo>
                  <a:lnTo>
                    <a:pt x="2370401" y="361949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47712" y="2376486"/>
              <a:ext cx="2419350" cy="361950"/>
            </a:xfrm>
            <a:custGeom>
              <a:avLst/>
              <a:gdLst/>
              <a:ahLst/>
              <a:cxnLst/>
              <a:rect l="l" t="t" r="r" b="b"/>
              <a:pathLst>
                <a:path w="2419350" h="361950">
                  <a:moveTo>
                    <a:pt x="0" y="3095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2366962" y="0"/>
                  </a:lnTo>
                  <a:lnTo>
                    <a:pt x="2370401" y="0"/>
                  </a:lnTo>
                  <a:lnTo>
                    <a:pt x="2373808" y="335"/>
                  </a:lnTo>
                  <a:lnTo>
                    <a:pt x="2408609" y="20422"/>
                  </a:lnTo>
                  <a:lnTo>
                    <a:pt x="2419349" y="52387"/>
                  </a:lnTo>
                  <a:lnTo>
                    <a:pt x="2419349" y="309562"/>
                  </a:lnTo>
                  <a:lnTo>
                    <a:pt x="2410520" y="338667"/>
                  </a:lnTo>
                  <a:lnTo>
                    <a:pt x="2408609" y="341527"/>
                  </a:lnTo>
                  <a:lnTo>
                    <a:pt x="2396067" y="353120"/>
                  </a:lnTo>
                  <a:lnTo>
                    <a:pt x="2393207" y="355032"/>
                  </a:lnTo>
                  <a:lnTo>
                    <a:pt x="2366962" y="361949"/>
                  </a:lnTo>
                  <a:lnTo>
                    <a:pt x="52387" y="361949"/>
                  </a:lnTo>
                  <a:lnTo>
                    <a:pt x="15343" y="346605"/>
                  </a:lnTo>
                  <a:lnTo>
                    <a:pt x="8828" y="338667"/>
                  </a:lnTo>
                  <a:lnTo>
                    <a:pt x="6917" y="335807"/>
                  </a:lnTo>
                  <a:lnTo>
                    <a:pt x="5304" y="332788"/>
                  </a:lnTo>
                  <a:lnTo>
                    <a:pt x="3987" y="329610"/>
                  </a:lnTo>
                  <a:lnTo>
                    <a:pt x="2671" y="326432"/>
                  </a:lnTo>
                  <a:lnTo>
                    <a:pt x="1677" y="323156"/>
                  </a:lnTo>
                  <a:lnTo>
                    <a:pt x="1006" y="319782"/>
                  </a:lnTo>
                  <a:lnTo>
                    <a:pt x="335" y="316408"/>
                  </a:lnTo>
                  <a:lnTo>
                    <a:pt x="0" y="313002"/>
                  </a:lnTo>
                  <a:lnTo>
                    <a:pt x="0" y="309562"/>
                  </a:lnTo>
                </a:path>
              </a:pathLst>
            </a:custGeom>
            <a:ln w="9524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24000" y="1752599"/>
              <a:ext cx="152399" cy="152399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1423937" y="1471436"/>
            <a:ext cx="1070610" cy="832485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248285">
              <a:lnSpc>
                <a:spcPct val="100000"/>
              </a:lnSpc>
              <a:spcBef>
                <a:spcPts val="1285"/>
              </a:spcBef>
            </a:pPr>
            <a:r>
              <a:rPr dirty="0" sz="2050" spc="-470" b="1">
                <a:solidFill>
                  <a:srgbClr val="1875D1"/>
                </a:solidFill>
                <a:latin typeface="Arial"/>
                <a:cs typeface="Arial"/>
              </a:rPr>
              <a:t>Query</a:t>
            </a:r>
            <a:r>
              <a:rPr dirty="0" sz="2050" spc="-300" b="1">
                <a:solidFill>
                  <a:srgbClr val="1875D1"/>
                </a:solidFill>
                <a:latin typeface="Arial"/>
                <a:cs typeface="Arial"/>
              </a:rPr>
              <a:t> </a:t>
            </a:r>
            <a:r>
              <a:rPr dirty="0" sz="2050" spc="-415" b="1">
                <a:solidFill>
                  <a:srgbClr val="1875D1"/>
                </a:solidFill>
                <a:latin typeface="Arial"/>
                <a:cs typeface="Arial"/>
              </a:rPr>
              <a:t>(Q)</a:t>
            </a:r>
            <a:endParaRPr sz="2050">
              <a:latin typeface="Arial"/>
              <a:cs typeface="Arial"/>
            </a:endParaRPr>
          </a:p>
          <a:p>
            <a:pPr marL="62865" marR="5080" indent="-50800">
              <a:lnSpc>
                <a:spcPts val="1050"/>
              </a:lnSpc>
              <a:spcBef>
                <a:spcPts val="625"/>
              </a:spcBef>
            </a:pPr>
            <a:r>
              <a:rPr dirty="0" sz="900" spc="-95">
                <a:solidFill>
                  <a:srgbClr val="444444"/>
                </a:solidFill>
                <a:latin typeface="SimSun"/>
                <a:cs typeface="SimSun"/>
              </a:rPr>
              <a:t>「何を探している？」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問い合わせベクトル</a:t>
            </a:r>
            <a:endParaRPr sz="900">
              <a:latin typeface="SimSun"/>
              <a:cs typeface="SimSu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564183" y="2449286"/>
            <a:ext cx="789940" cy="1689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dirty="0" sz="900">
                <a:solidFill>
                  <a:srgbClr val="1875D1"/>
                </a:solidFill>
                <a:latin typeface="Lucida Console"/>
                <a:cs typeface="Lucida Console"/>
              </a:rPr>
              <a:t>Q</a:t>
            </a:r>
            <a:r>
              <a:rPr dirty="0" sz="900" spc="-10">
                <a:solidFill>
                  <a:srgbClr val="1875D1"/>
                </a:solidFill>
                <a:latin typeface="Lucida Console"/>
                <a:cs typeface="Lucida Console"/>
              </a:rPr>
              <a:t> </a:t>
            </a:r>
            <a:r>
              <a:rPr dirty="0" sz="900">
                <a:solidFill>
                  <a:srgbClr val="1875D1"/>
                </a:solidFill>
                <a:latin typeface="Courier New"/>
                <a:cs typeface="Courier New"/>
              </a:rPr>
              <a:t>=</a:t>
            </a:r>
            <a:r>
              <a:rPr dirty="0" sz="900" spc="-10">
                <a:solidFill>
                  <a:srgbClr val="1875D1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1875D1"/>
                </a:solidFill>
                <a:latin typeface="Lucida Console"/>
                <a:cs typeface="Lucida Console"/>
              </a:rPr>
              <a:t>X</a:t>
            </a:r>
            <a:r>
              <a:rPr dirty="0" baseline="-21367" sz="975">
                <a:solidFill>
                  <a:srgbClr val="1875D1"/>
                </a:solidFill>
                <a:latin typeface="Lucida Console"/>
                <a:cs typeface="Lucida Console"/>
              </a:rPr>
              <a:t>F</a:t>
            </a:r>
            <a:r>
              <a:rPr dirty="0" baseline="-21367" sz="975" spc="209">
                <a:solidFill>
                  <a:srgbClr val="1875D1"/>
                </a:solidFill>
                <a:latin typeface="Lucida Console"/>
                <a:cs typeface="Lucida Console"/>
              </a:rPr>
              <a:t> </a:t>
            </a:r>
            <a:r>
              <a:rPr dirty="0" sz="900">
                <a:solidFill>
                  <a:srgbClr val="1875D1"/>
                </a:solidFill>
                <a:latin typeface="Lucida Console"/>
                <a:cs typeface="Lucida Console"/>
              </a:rPr>
              <a:t>·</a:t>
            </a:r>
            <a:r>
              <a:rPr dirty="0" sz="900" spc="-10">
                <a:solidFill>
                  <a:srgbClr val="1875D1"/>
                </a:solidFill>
                <a:latin typeface="Lucida Console"/>
                <a:cs typeface="Lucida Console"/>
              </a:rPr>
              <a:t> </a:t>
            </a:r>
            <a:r>
              <a:rPr dirty="0" sz="900" spc="-25">
                <a:solidFill>
                  <a:srgbClr val="1875D1"/>
                </a:solidFill>
                <a:latin typeface="Lucida Console"/>
                <a:cs typeface="Lucida Console"/>
              </a:rPr>
              <a:t>W</a:t>
            </a:r>
            <a:r>
              <a:rPr dirty="0" baseline="-21367" sz="975" spc="-37">
                <a:solidFill>
                  <a:srgbClr val="1875D1"/>
                </a:solidFill>
                <a:latin typeface="Lucida Console"/>
                <a:cs typeface="Lucida Console"/>
              </a:rPr>
              <a:t>Q</a:t>
            </a:r>
            <a:endParaRPr baseline="-21367" sz="975">
              <a:latin typeface="Lucida Console"/>
              <a:cs typeface="Lucida Console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3486149" y="1543049"/>
            <a:ext cx="2781300" cy="1371600"/>
            <a:chOff x="3486149" y="1543049"/>
            <a:chExt cx="2781300" cy="1371600"/>
          </a:xfrm>
        </p:grpSpPr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14724" y="1571624"/>
              <a:ext cx="2724149" cy="1314449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3500436" y="1557336"/>
              <a:ext cx="2752725" cy="1343025"/>
            </a:xfrm>
            <a:custGeom>
              <a:avLst/>
              <a:gdLst/>
              <a:ahLst/>
              <a:cxnLst/>
              <a:rect l="l" t="t" r="r" b="b"/>
              <a:pathLst>
                <a:path w="2752725" h="1343025">
                  <a:moveTo>
                    <a:pt x="0" y="1262062"/>
                  </a:moveTo>
                  <a:lnTo>
                    <a:pt x="0" y="80962"/>
                  </a:lnTo>
                  <a:lnTo>
                    <a:pt x="0" y="75646"/>
                  </a:lnTo>
                  <a:lnTo>
                    <a:pt x="518" y="70381"/>
                  </a:lnTo>
                  <a:lnTo>
                    <a:pt x="1555" y="65167"/>
                  </a:lnTo>
                  <a:lnTo>
                    <a:pt x="2592" y="59953"/>
                  </a:lnTo>
                  <a:lnTo>
                    <a:pt x="4127" y="54890"/>
                  </a:lnTo>
                  <a:lnTo>
                    <a:pt x="6162" y="49979"/>
                  </a:lnTo>
                  <a:lnTo>
                    <a:pt x="8196" y="45067"/>
                  </a:lnTo>
                  <a:lnTo>
                    <a:pt x="23713" y="23713"/>
                  </a:lnTo>
                  <a:lnTo>
                    <a:pt x="27471" y="19954"/>
                  </a:lnTo>
                  <a:lnTo>
                    <a:pt x="65167" y="1555"/>
                  </a:lnTo>
                  <a:lnTo>
                    <a:pt x="70381" y="518"/>
                  </a:lnTo>
                  <a:lnTo>
                    <a:pt x="75646" y="0"/>
                  </a:lnTo>
                  <a:lnTo>
                    <a:pt x="80962" y="0"/>
                  </a:lnTo>
                  <a:lnTo>
                    <a:pt x="2671762" y="0"/>
                  </a:lnTo>
                  <a:lnTo>
                    <a:pt x="2677078" y="0"/>
                  </a:lnTo>
                  <a:lnTo>
                    <a:pt x="2682343" y="518"/>
                  </a:lnTo>
                  <a:lnTo>
                    <a:pt x="2687557" y="1555"/>
                  </a:lnTo>
                  <a:lnTo>
                    <a:pt x="2692771" y="2592"/>
                  </a:lnTo>
                  <a:lnTo>
                    <a:pt x="2697834" y="4128"/>
                  </a:lnTo>
                  <a:lnTo>
                    <a:pt x="2702744" y="6162"/>
                  </a:lnTo>
                  <a:lnTo>
                    <a:pt x="2707656" y="8196"/>
                  </a:lnTo>
                  <a:lnTo>
                    <a:pt x="2712321" y="10690"/>
                  </a:lnTo>
                  <a:lnTo>
                    <a:pt x="2716741" y="13644"/>
                  </a:lnTo>
                  <a:lnTo>
                    <a:pt x="2721161" y="16597"/>
                  </a:lnTo>
                  <a:lnTo>
                    <a:pt x="2739079" y="35981"/>
                  </a:lnTo>
                  <a:lnTo>
                    <a:pt x="2742032" y="40402"/>
                  </a:lnTo>
                  <a:lnTo>
                    <a:pt x="2744526" y="45067"/>
                  </a:lnTo>
                  <a:lnTo>
                    <a:pt x="2746560" y="49979"/>
                  </a:lnTo>
                  <a:lnTo>
                    <a:pt x="2748594" y="54890"/>
                  </a:lnTo>
                  <a:lnTo>
                    <a:pt x="2752724" y="80962"/>
                  </a:lnTo>
                  <a:lnTo>
                    <a:pt x="2752724" y="1262062"/>
                  </a:lnTo>
                  <a:lnTo>
                    <a:pt x="2742032" y="1302622"/>
                  </a:lnTo>
                  <a:lnTo>
                    <a:pt x="2739079" y="1307042"/>
                  </a:lnTo>
                  <a:lnTo>
                    <a:pt x="2736126" y="1311462"/>
                  </a:lnTo>
                  <a:lnTo>
                    <a:pt x="2702744" y="1336861"/>
                  </a:lnTo>
                  <a:lnTo>
                    <a:pt x="2697834" y="1338896"/>
                  </a:lnTo>
                  <a:lnTo>
                    <a:pt x="2692771" y="1340431"/>
                  </a:lnTo>
                  <a:lnTo>
                    <a:pt x="2687557" y="1341468"/>
                  </a:lnTo>
                  <a:lnTo>
                    <a:pt x="2682343" y="1342506"/>
                  </a:lnTo>
                  <a:lnTo>
                    <a:pt x="2677078" y="1343024"/>
                  </a:lnTo>
                  <a:lnTo>
                    <a:pt x="2671762" y="1343024"/>
                  </a:lnTo>
                  <a:lnTo>
                    <a:pt x="80962" y="1343024"/>
                  </a:lnTo>
                  <a:lnTo>
                    <a:pt x="75646" y="1343024"/>
                  </a:lnTo>
                  <a:lnTo>
                    <a:pt x="70381" y="1342506"/>
                  </a:lnTo>
                  <a:lnTo>
                    <a:pt x="65167" y="1341468"/>
                  </a:lnTo>
                  <a:lnTo>
                    <a:pt x="59953" y="1340431"/>
                  </a:lnTo>
                  <a:lnTo>
                    <a:pt x="35981" y="1329379"/>
                  </a:lnTo>
                  <a:lnTo>
                    <a:pt x="31561" y="1326426"/>
                  </a:lnTo>
                  <a:lnTo>
                    <a:pt x="13644" y="1307042"/>
                  </a:lnTo>
                  <a:lnTo>
                    <a:pt x="10690" y="1302622"/>
                  </a:lnTo>
                  <a:lnTo>
                    <a:pt x="8196" y="1297956"/>
                  </a:lnTo>
                  <a:lnTo>
                    <a:pt x="6162" y="1293045"/>
                  </a:lnTo>
                  <a:lnTo>
                    <a:pt x="4127" y="1288133"/>
                  </a:lnTo>
                  <a:lnTo>
                    <a:pt x="2592" y="1283071"/>
                  </a:lnTo>
                  <a:lnTo>
                    <a:pt x="1555" y="1277857"/>
                  </a:lnTo>
                  <a:lnTo>
                    <a:pt x="518" y="1272643"/>
                  </a:lnTo>
                  <a:lnTo>
                    <a:pt x="0" y="1267378"/>
                  </a:lnTo>
                  <a:lnTo>
                    <a:pt x="0" y="1262062"/>
                  </a:lnTo>
                </a:path>
              </a:pathLst>
            </a:custGeom>
            <a:ln w="28574">
              <a:solidFill>
                <a:srgbClr val="4BAF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662361" y="2376486"/>
              <a:ext cx="2428875" cy="361950"/>
            </a:xfrm>
            <a:custGeom>
              <a:avLst/>
              <a:gdLst/>
              <a:ahLst/>
              <a:cxnLst/>
              <a:rect l="l" t="t" r="r" b="b"/>
              <a:pathLst>
                <a:path w="2428875" h="361950">
                  <a:moveTo>
                    <a:pt x="2379927" y="361949"/>
                  </a:moveTo>
                  <a:lnTo>
                    <a:pt x="48947" y="361949"/>
                  </a:lnTo>
                  <a:lnTo>
                    <a:pt x="45540" y="361614"/>
                  </a:lnTo>
                  <a:lnTo>
                    <a:pt x="10739" y="341527"/>
                  </a:lnTo>
                  <a:lnTo>
                    <a:pt x="0" y="313002"/>
                  </a:lnTo>
                  <a:lnTo>
                    <a:pt x="0" y="309562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7" y="0"/>
                  </a:lnTo>
                  <a:lnTo>
                    <a:pt x="2379927" y="0"/>
                  </a:lnTo>
                  <a:lnTo>
                    <a:pt x="2415962" y="17776"/>
                  </a:lnTo>
                  <a:lnTo>
                    <a:pt x="2428874" y="48947"/>
                  </a:lnTo>
                  <a:lnTo>
                    <a:pt x="2428874" y="313002"/>
                  </a:lnTo>
                  <a:lnTo>
                    <a:pt x="2411097" y="349037"/>
                  </a:lnTo>
                  <a:lnTo>
                    <a:pt x="2383333" y="361614"/>
                  </a:lnTo>
                  <a:lnTo>
                    <a:pt x="2379927" y="361949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662361" y="2376486"/>
              <a:ext cx="2428875" cy="361950"/>
            </a:xfrm>
            <a:custGeom>
              <a:avLst/>
              <a:gdLst/>
              <a:ahLst/>
              <a:cxnLst/>
              <a:rect l="l" t="t" r="r" b="b"/>
              <a:pathLst>
                <a:path w="2428875" h="361950">
                  <a:moveTo>
                    <a:pt x="0" y="3095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0" y="35517"/>
                  </a:lnTo>
                  <a:lnTo>
                    <a:pt x="3987" y="32339"/>
                  </a:lnTo>
                  <a:lnTo>
                    <a:pt x="5303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32338" y="3987"/>
                  </a:lnTo>
                  <a:lnTo>
                    <a:pt x="35517" y="2671"/>
                  </a:lnTo>
                  <a:lnTo>
                    <a:pt x="38792" y="1677"/>
                  </a:lnTo>
                  <a:lnTo>
                    <a:pt x="42166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2376487" y="0"/>
                  </a:lnTo>
                  <a:lnTo>
                    <a:pt x="2379927" y="0"/>
                  </a:lnTo>
                  <a:lnTo>
                    <a:pt x="2383333" y="335"/>
                  </a:lnTo>
                  <a:lnTo>
                    <a:pt x="2418134" y="20422"/>
                  </a:lnTo>
                  <a:lnTo>
                    <a:pt x="2420045" y="23282"/>
                  </a:lnTo>
                  <a:lnTo>
                    <a:pt x="2421956" y="26142"/>
                  </a:lnTo>
                  <a:lnTo>
                    <a:pt x="2428874" y="48947"/>
                  </a:lnTo>
                  <a:lnTo>
                    <a:pt x="2428874" y="52387"/>
                  </a:lnTo>
                  <a:lnTo>
                    <a:pt x="2428874" y="309562"/>
                  </a:lnTo>
                  <a:lnTo>
                    <a:pt x="2428874" y="313002"/>
                  </a:lnTo>
                  <a:lnTo>
                    <a:pt x="2428539" y="316408"/>
                  </a:lnTo>
                  <a:lnTo>
                    <a:pt x="2420045" y="338667"/>
                  </a:lnTo>
                  <a:lnTo>
                    <a:pt x="2418134" y="341527"/>
                  </a:lnTo>
                  <a:lnTo>
                    <a:pt x="2383333" y="361614"/>
                  </a:lnTo>
                  <a:lnTo>
                    <a:pt x="2376487" y="361949"/>
                  </a:lnTo>
                  <a:lnTo>
                    <a:pt x="52387" y="361949"/>
                  </a:lnTo>
                  <a:lnTo>
                    <a:pt x="23282" y="353120"/>
                  </a:lnTo>
                  <a:lnTo>
                    <a:pt x="20421" y="351209"/>
                  </a:lnTo>
                  <a:lnTo>
                    <a:pt x="17775" y="349037"/>
                  </a:lnTo>
                  <a:lnTo>
                    <a:pt x="15343" y="346605"/>
                  </a:lnTo>
                  <a:lnTo>
                    <a:pt x="12911" y="344173"/>
                  </a:lnTo>
                  <a:lnTo>
                    <a:pt x="10739" y="341527"/>
                  </a:lnTo>
                  <a:lnTo>
                    <a:pt x="8828" y="338667"/>
                  </a:lnTo>
                  <a:lnTo>
                    <a:pt x="6917" y="335807"/>
                  </a:lnTo>
                  <a:lnTo>
                    <a:pt x="5303" y="332788"/>
                  </a:lnTo>
                  <a:lnTo>
                    <a:pt x="3987" y="329610"/>
                  </a:lnTo>
                  <a:lnTo>
                    <a:pt x="2670" y="326432"/>
                  </a:lnTo>
                  <a:lnTo>
                    <a:pt x="1677" y="323156"/>
                  </a:lnTo>
                  <a:lnTo>
                    <a:pt x="1006" y="319782"/>
                  </a:lnTo>
                  <a:lnTo>
                    <a:pt x="335" y="316408"/>
                  </a:lnTo>
                  <a:lnTo>
                    <a:pt x="0" y="313002"/>
                  </a:lnTo>
                  <a:lnTo>
                    <a:pt x="0" y="309562"/>
                  </a:lnTo>
                </a:path>
              </a:pathLst>
            </a:custGeom>
            <a:ln w="9524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33899" y="1752599"/>
              <a:ext cx="152399" cy="152399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4237980" y="1713591"/>
            <a:ext cx="1277620" cy="5899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49580">
              <a:lnSpc>
                <a:spcPct val="100000"/>
              </a:lnSpc>
              <a:spcBef>
                <a:spcPts val="130"/>
              </a:spcBef>
            </a:pPr>
            <a:r>
              <a:rPr dirty="0" sz="1300" spc="-95" b="1">
                <a:solidFill>
                  <a:srgbClr val="378E3C"/>
                </a:solidFill>
                <a:latin typeface="Microsoft YaHei"/>
                <a:cs typeface="Microsoft YaHei"/>
              </a:rPr>
              <a:t>Key </a:t>
            </a:r>
            <a:r>
              <a:rPr dirty="0" sz="1300" spc="-25" b="1">
                <a:solidFill>
                  <a:srgbClr val="378E3C"/>
                </a:solidFill>
                <a:latin typeface="Microsoft YaHei"/>
                <a:cs typeface="Microsoft YaHei"/>
              </a:rPr>
              <a:t>(K)</a:t>
            </a:r>
            <a:endParaRPr sz="1300">
              <a:latin typeface="Microsoft YaHei"/>
              <a:cs typeface="Microsoft YaHei"/>
            </a:endParaRPr>
          </a:p>
          <a:p>
            <a:pPr marL="219075" marR="5080" indent="-207010">
              <a:lnSpc>
                <a:spcPts val="1050"/>
              </a:lnSpc>
              <a:spcBef>
                <a:spcPts val="775"/>
              </a:spcBef>
            </a:pPr>
            <a:r>
              <a:rPr dirty="0" sz="900" spc="-100">
                <a:solidFill>
                  <a:srgbClr val="444444"/>
                </a:solidFill>
                <a:latin typeface="SimSun"/>
                <a:cs typeface="SimSun"/>
              </a:rPr>
              <a:t>「どんな情報持ってる？」</a:t>
            </a:r>
            <a:r>
              <a:rPr dirty="0" sz="900" spc="-85">
                <a:solidFill>
                  <a:srgbClr val="444444"/>
                </a:solidFill>
                <a:latin typeface="SimSun"/>
                <a:cs typeface="SimSun"/>
              </a:rPr>
              <a:t>特徴識別ベクトル</a:t>
            </a:r>
            <a:endParaRPr sz="900">
              <a:latin typeface="SimSun"/>
              <a:cs typeface="SimSu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4481958" y="2449286"/>
            <a:ext cx="789940" cy="1689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dirty="0" sz="900">
                <a:solidFill>
                  <a:srgbClr val="378E3C"/>
                </a:solidFill>
                <a:latin typeface="Courier New"/>
                <a:cs typeface="Courier New"/>
              </a:rPr>
              <a:t>K</a:t>
            </a:r>
            <a:r>
              <a:rPr dirty="0" sz="900" spc="-10">
                <a:solidFill>
                  <a:srgbClr val="378E3C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378E3C"/>
                </a:solidFill>
                <a:latin typeface="Courier New"/>
                <a:cs typeface="Courier New"/>
              </a:rPr>
              <a:t>=</a:t>
            </a:r>
            <a:r>
              <a:rPr dirty="0" sz="900" spc="-10">
                <a:solidFill>
                  <a:srgbClr val="378E3C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378E3C"/>
                </a:solidFill>
                <a:latin typeface="Courier New"/>
                <a:cs typeface="Courier New"/>
              </a:rPr>
              <a:t>X</a:t>
            </a:r>
            <a:r>
              <a:rPr dirty="0" baseline="-21367" sz="975">
                <a:solidFill>
                  <a:srgbClr val="378E3C"/>
                </a:solidFill>
                <a:latin typeface="Courier New"/>
                <a:cs typeface="Courier New"/>
              </a:rPr>
              <a:t>F</a:t>
            </a:r>
            <a:r>
              <a:rPr dirty="0" baseline="-21367" sz="975" spc="209">
                <a:solidFill>
                  <a:srgbClr val="378E3C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378E3C"/>
                </a:solidFill>
                <a:latin typeface="Courier New"/>
                <a:cs typeface="Courier New"/>
              </a:rPr>
              <a:t>·</a:t>
            </a:r>
            <a:r>
              <a:rPr dirty="0" sz="900" spc="-10">
                <a:solidFill>
                  <a:srgbClr val="378E3C"/>
                </a:solidFill>
                <a:latin typeface="Courier New"/>
                <a:cs typeface="Courier New"/>
              </a:rPr>
              <a:t> </a:t>
            </a:r>
            <a:r>
              <a:rPr dirty="0" sz="900" spc="-25">
                <a:solidFill>
                  <a:srgbClr val="378E3C"/>
                </a:solidFill>
                <a:latin typeface="Courier New"/>
                <a:cs typeface="Courier New"/>
              </a:rPr>
              <a:t>W</a:t>
            </a:r>
            <a:r>
              <a:rPr dirty="0" baseline="-21367" sz="975" spc="-37">
                <a:solidFill>
                  <a:srgbClr val="378E3C"/>
                </a:solidFill>
                <a:latin typeface="Courier New"/>
                <a:cs typeface="Courier New"/>
              </a:rPr>
              <a:t>K</a:t>
            </a:r>
            <a:endParaRPr baseline="-21367" sz="975">
              <a:latin typeface="Courier New"/>
              <a:cs typeface="Courier New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6410323" y="1543049"/>
            <a:ext cx="2771775" cy="1371600"/>
            <a:chOff x="6410323" y="1543049"/>
            <a:chExt cx="2771775" cy="1371600"/>
          </a:xfrm>
        </p:grpSpPr>
        <p:pic>
          <p:nvPicPr>
            <p:cNvPr id="31" name="object 3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899" y="1571624"/>
              <a:ext cx="2714624" cy="1314449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6424610" y="1557336"/>
              <a:ext cx="2743200" cy="1343025"/>
            </a:xfrm>
            <a:custGeom>
              <a:avLst/>
              <a:gdLst/>
              <a:ahLst/>
              <a:cxnLst/>
              <a:rect l="l" t="t" r="r" b="b"/>
              <a:pathLst>
                <a:path w="2743200" h="1343025">
                  <a:moveTo>
                    <a:pt x="0" y="1262062"/>
                  </a:moveTo>
                  <a:lnTo>
                    <a:pt x="0" y="80962"/>
                  </a:lnTo>
                  <a:lnTo>
                    <a:pt x="0" y="75646"/>
                  </a:lnTo>
                  <a:lnTo>
                    <a:pt x="518" y="70381"/>
                  </a:lnTo>
                  <a:lnTo>
                    <a:pt x="1555" y="65167"/>
                  </a:lnTo>
                  <a:lnTo>
                    <a:pt x="2592" y="59953"/>
                  </a:lnTo>
                  <a:lnTo>
                    <a:pt x="4128" y="54890"/>
                  </a:lnTo>
                  <a:lnTo>
                    <a:pt x="6162" y="49979"/>
                  </a:lnTo>
                  <a:lnTo>
                    <a:pt x="8196" y="45067"/>
                  </a:lnTo>
                  <a:lnTo>
                    <a:pt x="23713" y="23713"/>
                  </a:lnTo>
                  <a:lnTo>
                    <a:pt x="27471" y="19954"/>
                  </a:lnTo>
                  <a:lnTo>
                    <a:pt x="49979" y="6162"/>
                  </a:lnTo>
                  <a:lnTo>
                    <a:pt x="54890" y="4128"/>
                  </a:lnTo>
                  <a:lnTo>
                    <a:pt x="59953" y="2592"/>
                  </a:lnTo>
                  <a:lnTo>
                    <a:pt x="65167" y="1555"/>
                  </a:lnTo>
                  <a:lnTo>
                    <a:pt x="70381" y="518"/>
                  </a:lnTo>
                  <a:lnTo>
                    <a:pt x="75646" y="0"/>
                  </a:lnTo>
                  <a:lnTo>
                    <a:pt x="80963" y="0"/>
                  </a:lnTo>
                  <a:lnTo>
                    <a:pt x="2662237" y="0"/>
                  </a:lnTo>
                  <a:lnTo>
                    <a:pt x="2667553" y="0"/>
                  </a:lnTo>
                  <a:lnTo>
                    <a:pt x="2672818" y="518"/>
                  </a:lnTo>
                  <a:lnTo>
                    <a:pt x="2678032" y="1555"/>
                  </a:lnTo>
                  <a:lnTo>
                    <a:pt x="2683245" y="2592"/>
                  </a:lnTo>
                  <a:lnTo>
                    <a:pt x="2707216" y="13644"/>
                  </a:lnTo>
                  <a:lnTo>
                    <a:pt x="2711637" y="16597"/>
                  </a:lnTo>
                  <a:lnTo>
                    <a:pt x="2737036" y="49979"/>
                  </a:lnTo>
                  <a:lnTo>
                    <a:pt x="2741643" y="65167"/>
                  </a:lnTo>
                  <a:lnTo>
                    <a:pt x="2742681" y="70381"/>
                  </a:lnTo>
                  <a:lnTo>
                    <a:pt x="2743200" y="75646"/>
                  </a:lnTo>
                  <a:lnTo>
                    <a:pt x="2743200" y="80962"/>
                  </a:lnTo>
                  <a:lnTo>
                    <a:pt x="2743200" y="1262062"/>
                  </a:lnTo>
                  <a:lnTo>
                    <a:pt x="2743200" y="1267378"/>
                  </a:lnTo>
                  <a:lnTo>
                    <a:pt x="2742681" y="1272643"/>
                  </a:lnTo>
                  <a:lnTo>
                    <a:pt x="2726600" y="1311462"/>
                  </a:lnTo>
                  <a:lnTo>
                    <a:pt x="2707216" y="1329380"/>
                  </a:lnTo>
                  <a:lnTo>
                    <a:pt x="2702796" y="1332333"/>
                  </a:lnTo>
                  <a:lnTo>
                    <a:pt x="2678032" y="1341468"/>
                  </a:lnTo>
                  <a:lnTo>
                    <a:pt x="2672818" y="1342506"/>
                  </a:lnTo>
                  <a:lnTo>
                    <a:pt x="2667553" y="1343024"/>
                  </a:lnTo>
                  <a:lnTo>
                    <a:pt x="2662237" y="1343024"/>
                  </a:lnTo>
                  <a:lnTo>
                    <a:pt x="80963" y="1343024"/>
                  </a:lnTo>
                  <a:lnTo>
                    <a:pt x="75646" y="1343024"/>
                  </a:lnTo>
                  <a:lnTo>
                    <a:pt x="70381" y="1342506"/>
                  </a:lnTo>
                  <a:lnTo>
                    <a:pt x="65167" y="1341468"/>
                  </a:lnTo>
                  <a:lnTo>
                    <a:pt x="59953" y="1340431"/>
                  </a:lnTo>
                  <a:lnTo>
                    <a:pt x="54890" y="1338896"/>
                  </a:lnTo>
                  <a:lnTo>
                    <a:pt x="49979" y="1336861"/>
                  </a:lnTo>
                  <a:lnTo>
                    <a:pt x="45067" y="1334827"/>
                  </a:lnTo>
                  <a:lnTo>
                    <a:pt x="40401" y="1332333"/>
                  </a:lnTo>
                  <a:lnTo>
                    <a:pt x="35981" y="1329379"/>
                  </a:lnTo>
                  <a:lnTo>
                    <a:pt x="31561" y="1326426"/>
                  </a:lnTo>
                  <a:lnTo>
                    <a:pt x="27471" y="1323070"/>
                  </a:lnTo>
                  <a:lnTo>
                    <a:pt x="23713" y="1319311"/>
                  </a:lnTo>
                  <a:lnTo>
                    <a:pt x="19954" y="1315552"/>
                  </a:lnTo>
                  <a:lnTo>
                    <a:pt x="1555" y="1277857"/>
                  </a:lnTo>
                  <a:lnTo>
                    <a:pt x="0" y="1267378"/>
                  </a:lnTo>
                  <a:lnTo>
                    <a:pt x="0" y="1262062"/>
                  </a:lnTo>
                </a:path>
              </a:pathLst>
            </a:custGeom>
            <a:ln w="28574">
              <a:solidFill>
                <a:srgbClr val="FF98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586536" y="2376486"/>
              <a:ext cx="2419350" cy="361950"/>
            </a:xfrm>
            <a:custGeom>
              <a:avLst/>
              <a:gdLst/>
              <a:ahLst/>
              <a:cxnLst/>
              <a:rect l="l" t="t" r="r" b="b"/>
              <a:pathLst>
                <a:path w="2419350" h="361950">
                  <a:moveTo>
                    <a:pt x="2370402" y="361949"/>
                  </a:moveTo>
                  <a:lnTo>
                    <a:pt x="48947" y="361949"/>
                  </a:lnTo>
                  <a:lnTo>
                    <a:pt x="45540" y="361614"/>
                  </a:lnTo>
                  <a:lnTo>
                    <a:pt x="10740" y="341527"/>
                  </a:lnTo>
                  <a:lnTo>
                    <a:pt x="0" y="313002"/>
                  </a:lnTo>
                  <a:lnTo>
                    <a:pt x="0" y="3095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2370402" y="0"/>
                  </a:lnTo>
                  <a:lnTo>
                    <a:pt x="2406437" y="17776"/>
                  </a:lnTo>
                  <a:lnTo>
                    <a:pt x="2419349" y="48947"/>
                  </a:lnTo>
                  <a:lnTo>
                    <a:pt x="2419349" y="313002"/>
                  </a:lnTo>
                  <a:lnTo>
                    <a:pt x="2401572" y="349037"/>
                  </a:lnTo>
                  <a:lnTo>
                    <a:pt x="2373808" y="361614"/>
                  </a:lnTo>
                  <a:lnTo>
                    <a:pt x="2370402" y="361949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586536" y="2376486"/>
              <a:ext cx="2419350" cy="361950"/>
            </a:xfrm>
            <a:custGeom>
              <a:avLst/>
              <a:gdLst/>
              <a:ahLst/>
              <a:cxnLst/>
              <a:rect l="l" t="t" r="r" b="b"/>
              <a:pathLst>
                <a:path w="2419350" h="361950">
                  <a:moveTo>
                    <a:pt x="0" y="3095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2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2366962" y="0"/>
                  </a:lnTo>
                  <a:lnTo>
                    <a:pt x="2370402" y="0"/>
                  </a:lnTo>
                  <a:lnTo>
                    <a:pt x="2373808" y="335"/>
                  </a:lnTo>
                  <a:lnTo>
                    <a:pt x="2408609" y="20422"/>
                  </a:lnTo>
                  <a:lnTo>
                    <a:pt x="2410520" y="23282"/>
                  </a:lnTo>
                  <a:lnTo>
                    <a:pt x="2412430" y="26142"/>
                  </a:lnTo>
                  <a:lnTo>
                    <a:pt x="2419349" y="52387"/>
                  </a:lnTo>
                  <a:lnTo>
                    <a:pt x="2419349" y="309562"/>
                  </a:lnTo>
                  <a:lnTo>
                    <a:pt x="2410520" y="338667"/>
                  </a:lnTo>
                  <a:lnTo>
                    <a:pt x="2408609" y="341527"/>
                  </a:lnTo>
                  <a:lnTo>
                    <a:pt x="2396066" y="353120"/>
                  </a:lnTo>
                  <a:lnTo>
                    <a:pt x="2393205" y="355032"/>
                  </a:lnTo>
                  <a:lnTo>
                    <a:pt x="2366962" y="361949"/>
                  </a:lnTo>
                  <a:lnTo>
                    <a:pt x="52387" y="361949"/>
                  </a:lnTo>
                  <a:lnTo>
                    <a:pt x="15343" y="346605"/>
                  </a:lnTo>
                  <a:lnTo>
                    <a:pt x="8829" y="338667"/>
                  </a:lnTo>
                  <a:lnTo>
                    <a:pt x="6917" y="335807"/>
                  </a:lnTo>
                  <a:lnTo>
                    <a:pt x="0" y="313002"/>
                  </a:lnTo>
                  <a:lnTo>
                    <a:pt x="0" y="309562"/>
                  </a:lnTo>
                </a:path>
              </a:pathLst>
            </a:custGeom>
            <a:ln w="9524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90774" y="1759743"/>
              <a:ext cx="153650" cy="135761"/>
            </a:xfrm>
            <a:prstGeom prst="rect">
              <a:avLst/>
            </a:prstGeom>
          </p:spPr>
        </p:pic>
      </p:grpSp>
      <p:sp>
        <p:nvSpPr>
          <p:cNvPr id="36" name="object 36" descr=""/>
          <p:cNvSpPr txBox="1"/>
          <p:nvPr/>
        </p:nvSpPr>
        <p:spPr>
          <a:xfrm>
            <a:off x="7284987" y="1704833"/>
            <a:ext cx="1019175" cy="913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dirty="0" sz="1400" spc="-110" b="1">
                <a:solidFill>
                  <a:srgbClr val="F57C00"/>
                </a:solidFill>
                <a:latin typeface="Arial"/>
                <a:cs typeface="Arial"/>
              </a:rPr>
              <a:t>Value</a:t>
            </a:r>
            <a:r>
              <a:rPr dirty="0" sz="1400" spc="-85" b="1">
                <a:solidFill>
                  <a:srgbClr val="F57C00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F57C00"/>
                </a:solidFill>
                <a:latin typeface="Arial"/>
                <a:cs typeface="Arial"/>
              </a:rPr>
              <a:t>(V)</a:t>
            </a:r>
            <a:endParaRPr sz="1400">
              <a:latin typeface="Arial"/>
              <a:cs typeface="Arial"/>
            </a:endParaRPr>
          </a:p>
          <a:p>
            <a:pPr marL="194945" marR="30480" indent="-157480">
              <a:lnSpc>
                <a:spcPts val="1050"/>
              </a:lnSpc>
              <a:spcBef>
                <a:spcPts val="755"/>
              </a:spcBef>
            </a:pP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「実際の情報内容」</a:t>
            </a:r>
            <a:r>
              <a:rPr dirty="0" sz="900" spc="-85">
                <a:solidFill>
                  <a:srgbClr val="444444"/>
                </a:solidFill>
                <a:latin typeface="SimSun"/>
                <a:cs typeface="SimSun"/>
              </a:rPr>
              <a:t>価値ベクトル</a:t>
            </a:r>
            <a:endParaRPr sz="9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800">
              <a:latin typeface="SimSun"/>
              <a:cs typeface="SimSun"/>
            </a:endParaRPr>
          </a:p>
          <a:p>
            <a:pPr marL="152400">
              <a:lnSpc>
                <a:spcPct val="100000"/>
              </a:lnSpc>
            </a:pPr>
            <a:r>
              <a:rPr dirty="0" sz="900">
                <a:solidFill>
                  <a:srgbClr val="F57C00"/>
                </a:solidFill>
                <a:latin typeface="Courier New"/>
                <a:cs typeface="Courier New"/>
              </a:rPr>
              <a:t>V</a:t>
            </a:r>
            <a:r>
              <a:rPr dirty="0" sz="900" spc="-10">
                <a:solidFill>
                  <a:srgbClr val="F57C00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F57C00"/>
                </a:solidFill>
                <a:latin typeface="Courier New"/>
                <a:cs typeface="Courier New"/>
              </a:rPr>
              <a:t>=</a:t>
            </a:r>
            <a:r>
              <a:rPr dirty="0" sz="900" spc="-10">
                <a:solidFill>
                  <a:srgbClr val="F57C00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F57C00"/>
                </a:solidFill>
                <a:latin typeface="Courier New"/>
                <a:cs typeface="Courier New"/>
              </a:rPr>
              <a:t>X</a:t>
            </a:r>
            <a:r>
              <a:rPr dirty="0" baseline="-21367" sz="975">
                <a:solidFill>
                  <a:srgbClr val="F57C00"/>
                </a:solidFill>
                <a:latin typeface="Courier New"/>
                <a:cs typeface="Courier New"/>
              </a:rPr>
              <a:t>F</a:t>
            </a:r>
            <a:r>
              <a:rPr dirty="0" baseline="-21367" sz="975" spc="209">
                <a:solidFill>
                  <a:srgbClr val="F57C00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F57C00"/>
                </a:solidFill>
                <a:latin typeface="Courier New"/>
                <a:cs typeface="Courier New"/>
              </a:rPr>
              <a:t>·</a:t>
            </a:r>
            <a:r>
              <a:rPr dirty="0" sz="900" spc="-10">
                <a:solidFill>
                  <a:srgbClr val="F57C00"/>
                </a:solidFill>
                <a:latin typeface="Courier New"/>
                <a:cs typeface="Courier New"/>
              </a:rPr>
              <a:t> </a:t>
            </a:r>
            <a:r>
              <a:rPr dirty="0" sz="900" spc="-25">
                <a:solidFill>
                  <a:srgbClr val="F57C00"/>
                </a:solidFill>
                <a:latin typeface="Courier New"/>
                <a:cs typeface="Courier New"/>
              </a:rPr>
              <a:t>W</a:t>
            </a:r>
            <a:r>
              <a:rPr dirty="0" baseline="-21367" sz="975" spc="-37">
                <a:solidFill>
                  <a:srgbClr val="F57C00"/>
                </a:solidFill>
                <a:latin typeface="Courier New"/>
                <a:cs typeface="Courier New"/>
              </a:rPr>
              <a:t>V</a:t>
            </a:r>
            <a:endParaRPr baseline="-21367" sz="975">
              <a:latin typeface="Courier New"/>
              <a:cs typeface="Courier New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380999" y="3562349"/>
            <a:ext cx="8991600" cy="4343400"/>
            <a:chOff x="380999" y="3562349"/>
            <a:chExt cx="8991600" cy="4343400"/>
          </a:xfrm>
        </p:grpSpPr>
        <p:sp>
          <p:nvSpPr>
            <p:cNvPr id="38" name="object 38" descr=""/>
            <p:cNvSpPr/>
            <p:nvPr/>
          </p:nvSpPr>
          <p:spPr>
            <a:xfrm>
              <a:off x="390524" y="3571874"/>
              <a:ext cx="8972550" cy="4324350"/>
            </a:xfrm>
            <a:custGeom>
              <a:avLst/>
              <a:gdLst/>
              <a:ahLst/>
              <a:cxnLst/>
              <a:rect l="l" t="t" r="r" b="b"/>
              <a:pathLst>
                <a:path w="8972550" h="4324350">
                  <a:moveTo>
                    <a:pt x="8874653" y="4324349"/>
                  </a:moveTo>
                  <a:lnTo>
                    <a:pt x="97895" y="4324349"/>
                  </a:lnTo>
                  <a:lnTo>
                    <a:pt x="91081" y="4323678"/>
                  </a:lnTo>
                  <a:lnTo>
                    <a:pt x="52285" y="4310513"/>
                  </a:lnTo>
                  <a:lnTo>
                    <a:pt x="21479" y="4283503"/>
                  </a:lnTo>
                  <a:lnTo>
                    <a:pt x="3355" y="4246761"/>
                  </a:lnTo>
                  <a:lnTo>
                    <a:pt x="0" y="4226453"/>
                  </a:lnTo>
                  <a:lnTo>
                    <a:pt x="0" y="4219574"/>
                  </a:lnTo>
                  <a:lnTo>
                    <a:pt x="0" y="97895"/>
                  </a:lnTo>
                  <a:lnTo>
                    <a:pt x="10608" y="58322"/>
                  </a:lnTo>
                  <a:lnTo>
                    <a:pt x="35552" y="25823"/>
                  </a:lnTo>
                  <a:lnTo>
                    <a:pt x="71035" y="5342"/>
                  </a:lnTo>
                  <a:lnTo>
                    <a:pt x="97895" y="0"/>
                  </a:lnTo>
                  <a:lnTo>
                    <a:pt x="8874653" y="0"/>
                  </a:lnTo>
                  <a:lnTo>
                    <a:pt x="8914224" y="10607"/>
                  </a:lnTo>
                  <a:lnTo>
                    <a:pt x="8946724" y="35552"/>
                  </a:lnTo>
                  <a:lnTo>
                    <a:pt x="8967205" y="71034"/>
                  </a:lnTo>
                  <a:lnTo>
                    <a:pt x="8972548" y="97895"/>
                  </a:lnTo>
                  <a:lnTo>
                    <a:pt x="8972548" y="4226453"/>
                  </a:lnTo>
                  <a:lnTo>
                    <a:pt x="8961939" y="4266024"/>
                  </a:lnTo>
                  <a:lnTo>
                    <a:pt x="8936996" y="4298525"/>
                  </a:lnTo>
                  <a:lnTo>
                    <a:pt x="8901512" y="4319006"/>
                  </a:lnTo>
                  <a:lnTo>
                    <a:pt x="8881467" y="4323678"/>
                  </a:lnTo>
                  <a:lnTo>
                    <a:pt x="8874653" y="432434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90524" y="3571874"/>
              <a:ext cx="8972550" cy="4324350"/>
            </a:xfrm>
            <a:custGeom>
              <a:avLst/>
              <a:gdLst/>
              <a:ahLst/>
              <a:cxnLst/>
              <a:rect l="l" t="t" r="r" b="b"/>
              <a:pathLst>
                <a:path w="8972550" h="4324350">
                  <a:moveTo>
                    <a:pt x="0" y="4219574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2013" y="84334"/>
                  </a:lnTo>
                  <a:lnTo>
                    <a:pt x="3355" y="77586"/>
                  </a:lnTo>
                  <a:lnTo>
                    <a:pt x="5342" y="71034"/>
                  </a:lnTo>
                  <a:lnTo>
                    <a:pt x="7975" y="64678"/>
                  </a:lnTo>
                  <a:lnTo>
                    <a:pt x="10608" y="58322"/>
                  </a:lnTo>
                  <a:lnTo>
                    <a:pt x="35552" y="25823"/>
                  </a:lnTo>
                  <a:lnTo>
                    <a:pt x="64679" y="7975"/>
                  </a:lnTo>
                  <a:lnTo>
                    <a:pt x="71035" y="5342"/>
                  </a:lnTo>
                  <a:lnTo>
                    <a:pt x="77586" y="3355"/>
                  </a:lnTo>
                  <a:lnTo>
                    <a:pt x="84334" y="2013"/>
                  </a:lnTo>
                  <a:lnTo>
                    <a:pt x="91081" y="671"/>
                  </a:lnTo>
                  <a:lnTo>
                    <a:pt x="97895" y="0"/>
                  </a:lnTo>
                  <a:lnTo>
                    <a:pt x="104775" y="0"/>
                  </a:lnTo>
                  <a:lnTo>
                    <a:pt x="8867774" y="0"/>
                  </a:lnTo>
                  <a:lnTo>
                    <a:pt x="8874653" y="0"/>
                  </a:lnTo>
                  <a:lnTo>
                    <a:pt x="8881467" y="671"/>
                  </a:lnTo>
                  <a:lnTo>
                    <a:pt x="8920262" y="13835"/>
                  </a:lnTo>
                  <a:lnTo>
                    <a:pt x="8925983" y="17657"/>
                  </a:lnTo>
                  <a:lnTo>
                    <a:pt x="8931703" y="21479"/>
                  </a:lnTo>
                  <a:lnTo>
                    <a:pt x="8958712" y="52284"/>
                  </a:lnTo>
                  <a:lnTo>
                    <a:pt x="8964572" y="64679"/>
                  </a:lnTo>
                  <a:lnTo>
                    <a:pt x="8967205" y="71034"/>
                  </a:lnTo>
                  <a:lnTo>
                    <a:pt x="8972549" y="104774"/>
                  </a:lnTo>
                  <a:lnTo>
                    <a:pt x="8972549" y="4219574"/>
                  </a:lnTo>
                  <a:lnTo>
                    <a:pt x="8972548" y="4226453"/>
                  </a:lnTo>
                  <a:lnTo>
                    <a:pt x="8971877" y="4233266"/>
                  </a:lnTo>
                  <a:lnTo>
                    <a:pt x="8970534" y="4240014"/>
                  </a:lnTo>
                  <a:lnTo>
                    <a:pt x="8969192" y="4246761"/>
                  </a:lnTo>
                  <a:lnTo>
                    <a:pt x="8967205" y="4253313"/>
                  </a:lnTo>
                  <a:lnTo>
                    <a:pt x="8964572" y="4259668"/>
                  </a:lnTo>
                  <a:lnTo>
                    <a:pt x="8961939" y="4266024"/>
                  </a:lnTo>
                  <a:lnTo>
                    <a:pt x="8936996" y="4298525"/>
                  </a:lnTo>
                  <a:lnTo>
                    <a:pt x="8925983" y="4306690"/>
                  </a:lnTo>
                  <a:lnTo>
                    <a:pt x="8920262" y="4310513"/>
                  </a:lnTo>
                  <a:lnTo>
                    <a:pt x="8914224" y="4313740"/>
                  </a:lnTo>
                  <a:lnTo>
                    <a:pt x="8907868" y="4316373"/>
                  </a:lnTo>
                  <a:lnTo>
                    <a:pt x="8901512" y="4319006"/>
                  </a:lnTo>
                  <a:lnTo>
                    <a:pt x="8894961" y="4320994"/>
                  </a:lnTo>
                  <a:lnTo>
                    <a:pt x="8888214" y="4322336"/>
                  </a:lnTo>
                  <a:lnTo>
                    <a:pt x="8881467" y="4323678"/>
                  </a:lnTo>
                  <a:lnTo>
                    <a:pt x="8874653" y="4324349"/>
                  </a:lnTo>
                  <a:lnTo>
                    <a:pt x="8867774" y="4324349"/>
                  </a:lnTo>
                  <a:lnTo>
                    <a:pt x="104775" y="4324349"/>
                  </a:lnTo>
                  <a:lnTo>
                    <a:pt x="97895" y="4324349"/>
                  </a:lnTo>
                  <a:lnTo>
                    <a:pt x="91081" y="4323678"/>
                  </a:lnTo>
                  <a:lnTo>
                    <a:pt x="84334" y="4322336"/>
                  </a:lnTo>
                  <a:lnTo>
                    <a:pt x="77586" y="4320994"/>
                  </a:lnTo>
                  <a:lnTo>
                    <a:pt x="71035" y="4319006"/>
                  </a:lnTo>
                  <a:lnTo>
                    <a:pt x="64679" y="4316373"/>
                  </a:lnTo>
                  <a:lnTo>
                    <a:pt x="58323" y="4313740"/>
                  </a:lnTo>
                  <a:lnTo>
                    <a:pt x="52285" y="4310513"/>
                  </a:lnTo>
                  <a:lnTo>
                    <a:pt x="46565" y="4306690"/>
                  </a:lnTo>
                  <a:lnTo>
                    <a:pt x="40844" y="4302868"/>
                  </a:lnTo>
                  <a:lnTo>
                    <a:pt x="13835" y="4272063"/>
                  </a:lnTo>
                  <a:lnTo>
                    <a:pt x="2013" y="4240014"/>
                  </a:lnTo>
                  <a:lnTo>
                    <a:pt x="671" y="4233266"/>
                  </a:lnTo>
                  <a:lnTo>
                    <a:pt x="0" y="4226453"/>
                  </a:lnTo>
                  <a:lnTo>
                    <a:pt x="0" y="4219574"/>
                  </a:lnTo>
                  <a:close/>
                </a:path>
              </a:pathLst>
            </a:custGeom>
            <a:ln w="19049">
              <a:solidFill>
                <a:srgbClr val="DEE2E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9624" y="3809999"/>
              <a:ext cx="128587" cy="171450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/>
          <p:nvPr/>
        </p:nvSpPr>
        <p:spPr>
          <a:xfrm>
            <a:off x="964431" y="3746436"/>
            <a:ext cx="208280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50" b="1">
                <a:solidFill>
                  <a:srgbClr val="3A6EA5"/>
                </a:solidFill>
                <a:latin typeface="Microsoft JhengHei"/>
                <a:cs typeface="Microsoft JhengHei"/>
              </a:rPr>
              <a:t>アテンション</a:t>
            </a:r>
            <a:r>
              <a:rPr dirty="0" sz="1500" spc="135" b="1">
                <a:solidFill>
                  <a:srgbClr val="3A6EA5"/>
                </a:solidFill>
                <a:latin typeface="Microsoft JhengHei"/>
                <a:cs typeface="Microsoft JhengHei"/>
              </a:rPr>
              <a:t>‧スコア</a:t>
            </a:r>
            <a:r>
              <a:rPr dirty="0" sz="1500" spc="-150" b="1">
                <a:solidFill>
                  <a:srgbClr val="3A6EA5"/>
                </a:solidFill>
                <a:latin typeface="Malgun Gothic"/>
                <a:cs typeface="Malgun Gothic"/>
              </a:rPr>
              <a:t>計算</a:t>
            </a:r>
            <a:endParaRPr sz="1500">
              <a:latin typeface="Malgun Gothic"/>
              <a:cs typeface="Malgun Gothic"/>
            </a:endParaRPr>
          </a:p>
        </p:txBody>
      </p:sp>
      <p:pic>
        <p:nvPicPr>
          <p:cNvPr id="42" name="object 4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0549" y="3581399"/>
            <a:ext cx="228600" cy="114299"/>
          </a:xfrm>
          <a:prstGeom prst="rect">
            <a:avLst/>
          </a:prstGeom>
        </p:spPr>
      </p:pic>
      <p:sp>
        <p:nvSpPr>
          <p:cNvPr id="43" name="object 43" descr=""/>
          <p:cNvSpPr txBox="1"/>
          <p:nvPr/>
        </p:nvSpPr>
        <p:spPr>
          <a:xfrm>
            <a:off x="658365" y="3488663"/>
            <a:ext cx="9334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 b="1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571499" y="4152899"/>
            <a:ext cx="8610600" cy="2076450"/>
            <a:chOff x="571499" y="4152899"/>
            <a:chExt cx="8610600" cy="2076450"/>
          </a:xfrm>
        </p:grpSpPr>
        <p:pic>
          <p:nvPicPr>
            <p:cNvPr id="45" name="object 4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0074" y="4181474"/>
              <a:ext cx="8553449" cy="2019299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585787" y="4167186"/>
              <a:ext cx="8582025" cy="2047875"/>
            </a:xfrm>
            <a:custGeom>
              <a:avLst/>
              <a:gdLst/>
              <a:ahLst/>
              <a:cxnLst/>
              <a:rect l="l" t="t" r="r" b="b"/>
              <a:pathLst>
                <a:path w="8582025" h="2047875">
                  <a:moveTo>
                    <a:pt x="0" y="191928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1"/>
                  </a:lnTo>
                  <a:lnTo>
                    <a:pt x="4117" y="95220"/>
                  </a:lnTo>
                  <a:lnTo>
                    <a:pt x="6557" y="87179"/>
                  </a:lnTo>
                  <a:lnTo>
                    <a:pt x="9788" y="79378"/>
                  </a:lnTo>
                  <a:lnTo>
                    <a:pt x="13019" y="71578"/>
                  </a:lnTo>
                  <a:lnTo>
                    <a:pt x="16980" y="64168"/>
                  </a:lnTo>
                  <a:lnTo>
                    <a:pt x="21670" y="57148"/>
                  </a:lnTo>
                  <a:lnTo>
                    <a:pt x="26361" y="50127"/>
                  </a:lnTo>
                  <a:lnTo>
                    <a:pt x="31692" y="43632"/>
                  </a:lnTo>
                  <a:lnTo>
                    <a:pt x="37662" y="37662"/>
                  </a:lnTo>
                  <a:lnTo>
                    <a:pt x="43632" y="31691"/>
                  </a:lnTo>
                  <a:lnTo>
                    <a:pt x="79379" y="9787"/>
                  </a:lnTo>
                  <a:lnTo>
                    <a:pt x="87179" y="6556"/>
                  </a:lnTo>
                  <a:lnTo>
                    <a:pt x="95220" y="4117"/>
                  </a:lnTo>
                  <a:lnTo>
                    <a:pt x="103501" y="2470"/>
                  </a:lnTo>
                  <a:lnTo>
                    <a:pt x="111782" y="823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8453436" y="0"/>
                  </a:lnTo>
                  <a:lnTo>
                    <a:pt x="8461879" y="0"/>
                  </a:lnTo>
                  <a:lnTo>
                    <a:pt x="8470241" y="823"/>
                  </a:lnTo>
                  <a:lnTo>
                    <a:pt x="8510444" y="13018"/>
                  </a:lnTo>
                  <a:lnTo>
                    <a:pt x="8524875" y="21670"/>
                  </a:lnTo>
                  <a:lnTo>
                    <a:pt x="8531895" y="26361"/>
                  </a:lnTo>
                  <a:lnTo>
                    <a:pt x="8538391" y="31691"/>
                  </a:lnTo>
                  <a:lnTo>
                    <a:pt x="8544361" y="37662"/>
                  </a:lnTo>
                  <a:lnTo>
                    <a:pt x="8550331" y="43632"/>
                  </a:lnTo>
                  <a:lnTo>
                    <a:pt x="8555661" y="50127"/>
                  </a:lnTo>
                  <a:lnTo>
                    <a:pt x="8560352" y="57147"/>
                  </a:lnTo>
                  <a:lnTo>
                    <a:pt x="8565043" y="64168"/>
                  </a:lnTo>
                  <a:lnTo>
                    <a:pt x="8579552" y="103501"/>
                  </a:lnTo>
                  <a:lnTo>
                    <a:pt x="8581200" y="111782"/>
                  </a:lnTo>
                  <a:lnTo>
                    <a:pt x="8582023" y="120144"/>
                  </a:lnTo>
                  <a:lnTo>
                    <a:pt x="8582023" y="128587"/>
                  </a:lnTo>
                  <a:lnTo>
                    <a:pt x="8582023" y="1919287"/>
                  </a:lnTo>
                  <a:lnTo>
                    <a:pt x="8582023" y="1927730"/>
                  </a:lnTo>
                  <a:lnTo>
                    <a:pt x="8581200" y="1936092"/>
                  </a:lnTo>
                  <a:lnTo>
                    <a:pt x="8569004" y="1976295"/>
                  </a:lnTo>
                  <a:lnTo>
                    <a:pt x="8560352" y="1990725"/>
                  </a:lnTo>
                  <a:lnTo>
                    <a:pt x="8555661" y="1997745"/>
                  </a:lnTo>
                  <a:lnTo>
                    <a:pt x="8524875" y="2026203"/>
                  </a:lnTo>
                  <a:lnTo>
                    <a:pt x="8517855" y="2030894"/>
                  </a:lnTo>
                  <a:lnTo>
                    <a:pt x="8510444" y="2034855"/>
                  </a:lnTo>
                  <a:lnTo>
                    <a:pt x="8502644" y="2038085"/>
                  </a:lnTo>
                  <a:lnTo>
                    <a:pt x="8494844" y="2041316"/>
                  </a:lnTo>
                  <a:lnTo>
                    <a:pt x="8486803" y="2043755"/>
                  </a:lnTo>
                  <a:lnTo>
                    <a:pt x="8478522" y="2045403"/>
                  </a:lnTo>
                  <a:lnTo>
                    <a:pt x="8470241" y="2047050"/>
                  </a:lnTo>
                  <a:lnTo>
                    <a:pt x="8461879" y="2047874"/>
                  </a:lnTo>
                  <a:lnTo>
                    <a:pt x="8453436" y="2047874"/>
                  </a:lnTo>
                  <a:lnTo>
                    <a:pt x="128587" y="2047874"/>
                  </a:lnTo>
                  <a:lnTo>
                    <a:pt x="120144" y="2047874"/>
                  </a:lnTo>
                  <a:lnTo>
                    <a:pt x="111782" y="2047050"/>
                  </a:lnTo>
                  <a:lnTo>
                    <a:pt x="103501" y="2045403"/>
                  </a:lnTo>
                  <a:lnTo>
                    <a:pt x="95220" y="2043755"/>
                  </a:lnTo>
                  <a:lnTo>
                    <a:pt x="87179" y="2041316"/>
                  </a:lnTo>
                  <a:lnTo>
                    <a:pt x="79379" y="2038085"/>
                  </a:lnTo>
                  <a:lnTo>
                    <a:pt x="71578" y="2034855"/>
                  </a:lnTo>
                  <a:lnTo>
                    <a:pt x="64168" y="2030894"/>
                  </a:lnTo>
                  <a:lnTo>
                    <a:pt x="57148" y="2026203"/>
                  </a:lnTo>
                  <a:lnTo>
                    <a:pt x="50127" y="2021512"/>
                  </a:lnTo>
                  <a:lnTo>
                    <a:pt x="21670" y="1990725"/>
                  </a:lnTo>
                  <a:lnTo>
                    <a:pt x="16980" y="1983705"/>
                  </a:lnTo>
                  <a:lnTo>
                    <a:pt x="2470" y="1944372"/>
                  </a:lnTo>
                  <a:lnTo>
                    <a:pt x="823" y="1936092"/>
                  </a:lnTo>
                  <a:lnTo>
                    <a:pt x="0" y="1927730"/>
                  </a:lnTo>
                  <a:lnTo>
                    <a:pt x="0" y="1919287"/>
                  </a:lnTo>
                </a:path>
              </a:pathLst>
            </a:custGeom>
            <a:ln w="28574">
              <a:solidFill>
                <a:srgbClr val="FFC1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18230" y="4408705"/>
              <a:ext cx="155138" cy="155138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790574" y="5429249"/>
              <a:ext cx="4038600" cy="581025"/>
            </a:xfrm>
            <a:custGeom>
              <a:avLst/>
              <a:gdLst/>
              <a:ahLst/>
              <a:cxnLst/>
              <a:rect l="l" t="t" r="r" b="b"/>
              <a:pathLst>
                <a:path w="4038600" h="581025">
                  <a:moveTo>
                    <a:pt x="3985201" y="581024"/>
                  </a:moveTo>
                  <a:lnTo>
                    <a:pt x="53397" y="581024"/>
                  </a:lnTo>
                  <a:lnTo>
                    <a:pt x="49680" y="580658"/>
                  </a:lnTo>
                  <a:lnTo>
                    <a:pt x="14085" y="561631"/>
                  </a:lnTo>
                  <a:lnTo>
                    <a:pt x="0" y="527627"/>
                  </a:lnTo>
                  <a:lnTo>
                    <a:pt x="0" y="523874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3985201" y="0"/>
                  </a:lnTo>
                  <a:lnTo>
                    <a:pt x="4024514" y="19391"/>
                  </a:lnTo>
                  <a:lnTo>
                    <a:pt x="4038599" y="53397"/>
                  </a:lnTo>
                  <a:lnTo>
                    <a:pt x="4038599" y="527627"/>
                  </a:lnTo>
                  <a:lnTo>
                    <a:pt x="4019207" y="566938"/>
                  </a:lnTo>
                  <a:lnTo>
                    <a:pt x="3988918" y="580658"/>
                  </a:lnTo>
                  <a:lnTo>
                    <a:pt x="3985201" y="581024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762249" y="5534024"/>
              <a:ext cx="95826" cy="95845"/>
            </a:xfrm>
            <a:prstGeom prst="rect">
              <a:avLst/>
            </a:prstGeom>
          </p:spPr>
        </p:pic>
      </p:grpSp>
      <p:sp>
        <p:nvSpPr>
          <p:cNvPr id="50" name="object 50" descr=""/>
          <p:cNvSpPr txBox="1"/>
          <p:nvPr/>
        </p:nvSpPr>
        <p:spPr>
          <a:xfrm>
            <a:off x="2460823" y="5628576"/>
            <a:ext cx="697865" cy="31115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dirty="0" sz="850" spc="-110" b="1">
                <a:solidFill>
                  <a:srgbClr val="444444"/>
                </a:solidFill>
                <a:latin typeface="Microsoft JhengHei"/>
                <a:cs typeface="Microsoft JhengHei"/>
              </a:rPr>
              <a:t>内</a:t>
            </a:r>
            <a:r>
              <a:rPr dirty="0" sz="850" spc="-90" b="1">
                <a:solidFill>
                  <a:srgbClr val="444444"/>
                </a:solidFill>
                <a:latin typeface="Malgun Gothic"/>
                <a:cs typeface="Malgun Gothic"/>
              </a:rPr>
              <a:t>積計算</a:t>
            </a:r>
            <a:endParaRPr sz="85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800" spc="-80">
                <a:solidFill>
                  <a:srgbClr val="444444"/>
                </a:solidFill>
                <a:latin typeface="Arial MT"/>
                <a:cs typeface="Arial MT"/>
              </a:rPr>
              <a:t>Q</a:t>
            </a:r>
            <a:r>
              <a:rPr dirty="0" sz="800" spc="-4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50" spc="-180">
                <a:solidFill>
                  <a:srgbClr val="444444"/>
                </a:solidFill>
                <a:latin typeface="SimSun"/>
                <a:cs typeface="SimSun"/>
              </a:rPr>
              <a:t>と </a:t>
            </a:r>
            <a:r>
              <a:rPr dirty="0" sz="800" spc="-60">
                <a:solidFill>
                  <a:srgbClr val="444444"/>
                </a:solidFill>
                <a:latin typeface="Arial MT"/>
                <a:cs typeface="Arial MT"/>
              </a:rPr>
              <a:t>K</a:t>
            </a:r>
            <a:r>
              <a:rPr dirty="0" sz="800" spc="-4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50" spc="-95">
                <a:solidFill>
                  <a:srgbClr val="444444"/>
                </a:solidFill>
                <a:latin typeface="SimSun"/>
                <a:cs typeface="SimSun"/>
              </a:rPr>
              <a:t>の関連度</a:t>
            </a:r>
            <a:endParaRPr sz="850">
              <a:latin typeface="SimSun"/>
              <a:cs typeface="SimSun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4924424" y="5429248"/>
            <a:ext cx="4038600" cy="581025"/>
            <a:chOff x="4924424" y="5429248"/>
            <a:chExt cx="4038600" cy="581025"/>
          </a:xfrm>
        </p:grpSpPr>
        <p:sp>
          <p:nvSpPr>
            <p:cNvPr id="52" name="object 52" descr=""/>
            <p:cNvSpPr/>
            <p:nvPr/>
          </p:nvSpPr>
          <p:spPr>
            <a:xfrm>
              <a:off x="4924424" y="5429248"/>
              <a:ext cx="4038600" cy="581025"/>
            </a:xfrm>
            <a:custGeom>
              <a:avLst/>
              <a:gdLst/>
              <a:ahLst/>
              <a:cxnLst/>
              <a:rect l="l" t="t" r="r" b="b"/>
              <a:pathLst>
                <a:path w="4038600" h="581025">
                  <a:moveTo>
                    <a:pt x="3985202" y="581024"/>
                  </a:moveTo>
                  <a:lnTo>
                    <a:pt x="53397" y="581024"/>
                  </a:lnTo>
                  <a:lnTo>
                    <a:pt x="49680" y="580658"/>
                  </a:lnTo>
                  <a:lnTo>
                    <a:pt x="14085" y="561631"/>
                  </a:lnTo>
                  <a:lnTo>
                    <a:pt x="0" y="527627"/>
                  </a:lnTo>
                  <a:lnTo>
                    <a:pt x="0" y="523874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3985202" y="0"/>
                  </a:lnTo>
                  <a:lnTo>
                    <a:pt x="4024513" y="19391"/>
                  </a:lnTo>
                  <a:lnTo>
                    <a:pt x="4038599" y="53397"/>
                  </a:lnTo>
                  <a:lnTo>
                    <a:pt x="4038599" y="527627"/>
                  </a:lnTo>
                  <a:lnTo>
                    <a:pt x="4019205" y="566938"/>
                  </a:lnTo>
                  <a:lnTo>
                    <a:pt x="3988918" y="580658"/>
                  </a:lnTo>
                  <a:lnTo>
                    <a:pt x="3985202" y="581024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908345" y="5542189"/>
              <a:ext cx="70757" cy="70757"/>
            </a:xfrm>
            <a:prstGeom prst="rect">
              <a:avLst/>
            </a:prstGeom>
          </p:spPr>
        </p:pic>
      </p:grpSp>
      <p:sp>
        <p:nvSpPr>
          <p:cNvPr id="54" name="object 54" descr=""/>
          <p:cNvSpPr txBox="1"/>
          <p:nvPr/>
        </p:nvSpPr>
        <p:spPr>
          <a:xfrm>
            <a:off x="6645275" y="5628576"/>
            <a:ext cx="596900" cy="31115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850" spc="-100" b="1">
                <a:solidFill>
                  <a:srgbClr val="444444"/>
                </a:solidFill>
                <a:latin typeface="Microsoft JhengHei"/>
                <a:cs typeface="Microsoft JhengHei"/>
              </a:rPr>
              <a:t>スケーリング</a:t>
            </a:r>
            <a:endParaRPr sz="850">
              <a:latin typeface="Microsoft JhengHei"/>
              <a:cs typeface="Microsoft JhengHei"/>
            </a:endParaRPr>
          </a:p>
          <a:p>
            <a:pPr marL="20320">
              <a:lnSpc>
                <a:spcPct val="100000"/>
              </a:lnSpc>
              <a:spcBef>
                <a:spcPts val="105"/>
              </a:spcBef>
            </a:pPr>
            <a:r>
              <a:rPr dirty="0" sz="850" spc="145">
                <a:solidFill>
                  <a:srgbClr val="444444"/>
                </a:solidFill>
                <a:latin typeface="Arial MT"/>
                <a:cs typeface="Arial MT"/>
              </a:rPr>
              <a:t>√</a:t>
            </a:r>
            <a:r>
              <a:rPr dirty="0" sz="800" spc="145">
                <a:solidFill>
                  <a:srgbClr val="444444"/>
                </a:solidFill>
                <a:latin typeface="Arial MT"/>
                <a:cs typeface="Arial MT"/>
              </a:rPr>
              <a:t>n</a:t>
            </a:r>
            <a:r>
              <a:rPr dirty="0" sz="800" spc="-3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850" spc="-100">
                <a:solidFill>
                  <a:srgbClr val="444444"/>
                </a:solidFill>
                <a:latin typeface="SimSun"/>
                <a:cs typeface="SimSun"/>
              </a:rPr>
              <a:t>で正規化</a:t>
            </a:r>
            <a:endParaRPr sz="850">
              <a:latin typeface="SimSun"/>
              <a:cs typeface="SimSun"/>
            </a:endParaRPr>
          </a:p>
        </p:txBody>
      </p:sp>
      <p:sp>
        <p:nvSpPr>
          <p:cNvPr id="55" name="object 55" descr=""/>
          <p:cNvSpPr/>
          <p:nvPr/>
        </p:nvSpPr>
        <p:spPr>
          <a:xfrm>
            <a:off x="8515349" y="4086224"/>
            <a:ext cx="447675" cy="200025"/>
          </a:xfrm>
          <a:custGeom>
            <a:avLst/>
            <a:gdLst/>
            <a:ahLst/>
            <a:cxnLst/>
            <a:rect l="l" t="t" r="r" b="b"/>
            <a:pathLst>
              <a:path w="447675" h="200025">
                <a:moveTo>
                  <a:pt x="354228" y="200024"/>
                </a:moveTo>
                <a:lnTo>
                  <a:pt x="93445" y="200024"/>
                </a:lnTo>
                <a:lnTo>
                  <a:pt x="86941" y="199384"/>
                </a:lnTo>
                <a:lnTo>
                  <a:pt x="49907" y="186817"/>
                </a:lnTo>
                <a:lnTo>
                  <a:pt x="20502" y="161036"/>
                </a:lnTo>
                <a:lnTo>
                  <a:pt x="3201" y="125964"/>
                </a:lnTo>
                <a:lnTo>
                  <a:pt x="0" y="106579"/>
                </a:lnTo>
                <a:lnTo>
                  <a:pt x="0" y="100012"/>
                </a:lnTo>
                <a:lnTo>
                  <a:pt x="0" y="93445"/>
                </a:lnTo>
                <a:lnTo>
                  <a:pt x="10124" y="55671"/>
                </a:lnTo>
                <a:lnTo>
                  <a:pt x="33935" y="24649"/>
                </a:lnTo>
                <a:lnTo>
                  <a:pt x="67805" y="5099"/>
                </a:lnTo>
                <a:lnTo>
                  <a:pt x="93445" y="0"/>
                </a:lnTo>
                <a:lnTo>
                  <a:pt x="354228" y="0"/>
                </a:lnTo>
                <a:lnTo>
                  <a:pt x="392001" y="10125"/>
                </a:lnTo>
                <a:lnTo>
                  <a:pt x="423024" y="33936"/>
                </a:lnTo>
                <a:lnTo>
                  <a:pt x="442574" y="67805"/>
                </a:lnTo>
                <a:lnTo>
                  <a:pt x="447674" y="93445"/>
                </a:lnTo>
                <a:lnTo>
                  <a:pt x="447674" y="106579"/>
                </a:lnTo>
                <a:lnTo>
                  <a:pt x="437548" y="144351"/>
                </a:lnTo>
                <a:lnTo>
                  <a:pt x="413737" y="175375"/>
                </a:lnTo>
                <a:lnTo>
                  <a:pt x="379867" y="194924"/>
                </a:lnTo>
                <a:lnTo>
                  <a:pt x="360732" y="199384"/>
                </a:lnTo>
                <a:lnTo>
                  <a:pt x="354228" y="200024"/>
                </a:lnTo>
                <a:close/>
              </a:path>
            </a:pathLst>
          </a:custGeom>
          <a:solidFill>
            <a:srgbClr val="DB34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 txBox="1"/>
          <p:nvPr/>
        </p:nvSpPr>
        <p:spPr>
          <a:xfrm>
            <a:off x="8599834" y="4110015"/>
            <a:ext cx="280670" cy="153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45" b="1">
                <a:solidFill>
                  <a:srgbClr val="FFFFFF"/>
                </a:solidFill>
                <a:latin typeface="Tahoma"/>
                <a:cs typeface="Tahoma"/>
              </a:rPr>
              <a:t>CORE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790574" y="4743448"/>
            <a:ext cx="8172450" cy="590550"/>
            <a:chOff x="790574" y="4743448"/>
            <a:chExt cx="8172450" cy="590550"/>
          </a:xfrm>
        </p:grpSpPr>
        <p:sp>
          <p:nvSpPr>
            <p:cNvPr id="58" name="object 58" descr=""/>
            <p:cNvSpPr/>
            <p:nvPr/>
          </p:nvSpPr>
          <p:spPr>
            <a:xfrm>
              <a:off x="800099" y="4752973"/>
              <a:ext cx="8153400" cy="571500"/>
            </a:xfrm>
            <a:custGeom>
              <a:avLst/>
              <a:gdLst/>
              <a:ahLst/>
              <a:cxnLst/>
              <a:rect l="l" t="t" r="r" b="b"/>
              <a:pathLst>
                <a:path w="8153400" h="571500">
                  <a:moveTo>
                    <a:pt x="8073302" y="571499"/>
                  </a:moveTo>
                  <a:lnTo>
                    <a:pt x="80096" y="571499"/>
                  </a:lnTo>
                  <a:lnTo>
                    <a:pt x="74521" y="570950"/>
                  </a:lnTo>
                  <a:lnTo>
                    <a:pt x="33418" y="553925"/>
                  </a:lnTo>
                  <a:lnTo>
                    <a:pt x="8679" y="523780"/>
                  </a:lnTo>
                  <a:lnTo>
                    <a:pt x="0" y="491403"/>
                  </a:lnTo>
                  <a:lnTo>
                    <a:pt x="0" y="485774"/>
                  </a:lnTo>
                  <a:lnTo>
                    <a:pt x="0" y="80096"/>
                  </a:lnTo>
                  <a:lnTo>
                    <a:pt x="11320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8073302" y="0"/>
                  </a:lnTo>
                  <a:lnTo>
                    <a:pt x="8110619" y="11319"/>
                  </a:lnTo>
                  <a:lnTo>
                    <a:pt x="8142078" y="42778"/>
                  </a:lnTo>
                  <a:lnTo>
                    <a:pt x="8153398" y="80096"/>
                  </a:lnTo>
                  <a:lnTo>
                    <a:pt x="8153398" y="491403"/>
                  </a:lnTo>
                  <a:lnTo>
                    <a:pt x="8142078" y="528721"/>
                  </a:lnTo>
                  <a:lnTo>
                    <a:pt x="8110619" y="560179"/>
                  </a:lnTo>
                  <a:lnTo>
                    <a:pt x="8078876" y="570950"/>
                  </a:lnTo>
                  <a:lnTo>
                    <a:pt x="8073302" y="571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800099" y="4752973"/>
              <a:ext cx="8153400" cy="571500"/>
            </a:xfrm>
            <a:custGeom>
              <a:avLst/>
              <a:gdLst/>
              <a:ahLst/>
              <a:cxnLst/>
              <a:rect l="l" t="t" r="r" b="b"/>
              <a:pathLst>
                <a:path w="8153400" h="571500">
                  <a:moveTo>
                    <a:pt x="0" y="485774"/>
                  </a:moveTo>
                  <a:lnTo>
                    <a:pt x="0" y="85724"/>
                  </a:lnTo>
                  <a:lnTo>
                    <a:pt x="0" y="80096"/>
                  </a:lnTo>
                  <a:lnTo>
                    <a:pt x="549" y="74521"/>
                  </a:lnTo>
                  <a:lnTo>
                    <a:pt x="14447" y="38098"/>
                  </a:lnTo>
                  <a:lnTo>
                    <a:pt x="17574" y="33417"/>
                  </a:lnTo>
                  <a:lnTo>
                    <a:pt x="21128" y="29088"/>
                  </a:lnTo>
                  <a:lnTo>
                    <a:pt x="25108" y="25108"/>
                  </a:lnTo>
                  <a:lnTo>
                    <a:pt x="29088" y="21127"/>
                  </a:lnTo>
                  <a:lnTo>
                    <a:pt x="33418" y="17573"/>
                  </a:lnTo>
                  <a:lnTo>
                    <a:pt x="38098" y="14446"/>
                  </a:lnTo>
                  <a:lnTo>
                    <a:pt x="42778" y="11319"/>
                  </a:lnTo>
                  <a:lnTo>
                    <a:pt x="47719" y="8678"/>
                  </a:lnTo>
                  <a:lnTo>
                    <a:pt x="52919" y="6525"/>
                  </a:lnTo>
                  <a:lnTo>
                    <a:pt x="58119" y="4371"/>
                  </a:lnTo>
                  <a:lnTo>
                    <a:pt x="63480" y="2745"/>
                  </a:lnTo>
                  <a:lnTo>
                    <a:pt x="69000" y="1646"/>
                  </a:lnTo>
                  <a:lnTo>
                    <a:pt x="74521" y="549"/>
                  </a:lnTo>
                  <a:lnTo>
                    <a:pt x="80096" y="0"/>
                  </a:lnTo>
                  <a:lnTo>
                    <a:pt x="85725" y="0"/>
                  </a:lnTo>
                  <a:lnTo>
                    <a:pt x="8067674" y="0"/>
                  </a:lnTo>
                  <a:lnTo>
                    <a:pt x="8073302" y="0"/>
                  </a:lnTo>
                  <a:lnTo>
                    <a:pt x="8078876" y="549"/>
                  </a:lnTo>
                  <a:lnTo>
                    <a:pt x="8115300" y="14446"/>
                  </a:lnTo>
                  <a:lnTo>
                    <a:pt x="8142078" y="42778"/>
                  </a:lnTo>
                  <a:lnTo>
                    <a:pt x="8153398" y="80096"/>
                  </a:lnTo>
                  <a:lnTo>
                    <a:pt x="8153399" y="85724"/>
                  </a:lnTo>
                  <a:lnTo>
                    <a:pt x="8153399" y="485774"/>
                  </a:lnTo>
                  <a:lnTo>
                    <a:pt x="8153398" y="491403"/>
                  </a:lnTo>
                  <a:lnTo>
                    <a:pt x="8152849" y="496978"/>
                  </a:lnTo>
                  <a:lnTo>
                    <a:pt x="8151751" y="502498"/>
                  </a:lnTo>
                  <a:lnTo>
                    <a:pt x="8150653" y="508019"/>
                  </a:lnTo>
                  <a:lnTo>
                    <a:pt x="8149027" y="513379"/>
                  </a:lnTo>
                  <a:lnTo>
                    <a:pt x="8146873" y="518579"/>
                  </a:lnTo>
                  <a:lnTo>
                    <a:pt x="8144719" y="523780"/>
                  </a:lnTo>
                  <a:lnTo>
                    <a:pt x="8142078" y="528721"/>
                  </a:lnTo>
                  <a:lnTo>
                    <a:pt x="8138951" y="533401"/>
                  </a:lnTo>
                  <a:lnTo>
                    <a:pt x="8135824" y="538081"/>
                  </a:lnTo>
                  <a:lnTo>
                    <a:pt x="8105678" y="562820"/>
                  </a:lnTo>
                  <a:lnTo>
                    <a:pt x="8100478" y="564974"/>
                  </a:lnTo>
                  <a:lnTo>
                    <a:pt x="8095278" y="567128"/>
                  </a:lnTo>
                  <a:lnTo>
                    <a:pt x="8089917" y="568754"/>
                  </a:lnTo>
                  <a:lnTo>
                    <a:pt x="8084397" y="569852"/>
                  </a:lnTo>
                  <a:lnTo>
                    <a:pt x="8078876" y="570950"/>
                  </a:lnTo>
                  <a:lnTo>
                    <a:pt x="8073302" y="571499"/>
                  </a:lnTo>
                  <a:lnTo>
                    <a:pt x="8067674" y="571499"/>
                  </a:lnTo>
                  <a:lnTo>
                    <a:pt x="85725" y="571499"/>
                  </a:lnTo>
                  <a:lnTo>
                    <a:pt x="80096" y="571499"/>
                  </a:lnTo>
                  <a:lnTo>
                    <a:pt x="74521" y="570950"/>
                  </a:lnTo>
                  <a:lnTo>
                    <a:pt x="69000" y="569852"/>
                  </a:lnTo>
                  <a:lnTo>
                    <a:pt x="63480" y="568754"/>
                  </a:lnTo>
                  <a:lnTo>
                    <a:pt x="58119" y="567128"/>
                  </a:lnTo>
                  <a:lnTo>
                    <a:pt x="52919" y="564974"/>
                  </a:lnTo>
                  <a:lnTo>
                    <a:pt x="47719" y="562820"/>
                  </a:lnTo>
                  <a:lnTo>
                    <a:pt x="25108" y="546391"/>
                  </a:lnTo>
                  <a:lnTo>
                    <a:pt x="21128" y="542411"/>
                  </a:lnTo>
                  <a:lnTo>
                    <a:pt x="17574" y="538081"/>
                  </a:lnTo>
                  <a:lnTo>
                    <a:pt x="14447" y="533401"/>
                  </a:lnTo>
                  <a:lnTo>
                    <a:pt x="11320" y="528721"/>
                  </a:lnTo>
                  <a:lnTo>
                    <a:pt x="8679" y="523780"/>
                  </a:lnTo>
                  <a:lnTo>
                    <a:pt x="6525" y="518579"/>
                  </a:lnTo>
                  <a:lnTo>
                    <a:pt x="4371" y="513379"/>
                  </a:lnTo>
                  <a:lnTo>
                    <a:pt x="2745" y="508019"/>
                  </a:lnTo>
                  <a:lnTo>
                    <a:pt x="1647" y="502498"/>
                  </a:lnTo>
                  <a:lnTo>
                    <a:pt x="549" y="496978"/>
                  </a:lnTo>
                  <a:lnTo>
                    <a:pt x="0" y="491403"/>
                  </a:lnTo>
                  <a:lnTo>
                    <a:pt x="0" y="485774"/>
                  </a:lnTo>
                </a:path>
              </a:pathLst>
            </a:custGeom>
            <a:ln w="19049">
              <a:solidFill>
                <a:srgbClr val="FFC1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5038724" y="5124448"/>
              <a:ext cx="561975" cy="9525"/>
            </a:xfrm>
            <a:custGeom>
              <a:avLst/>
              <a:gdLst/>
              <a:ahLst/>
              <a:cxnLst/>
              <a:rect l="l" t="t" r="r" b="b"/>
              <a:pathLst>
                <a:path w="561975" h="9525">
                  <a:moveTo>
                    <a:pt x="56197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61974" y="0"/>
                  </a:lnTo>
                  <a:lnTo>
                    <a:pt x="561974" y="9524"/>
                  </a:lnTo>
                  <a:close/>
                </a:path>
              </a:pathLst>
            </a:custGeom>
            <a:solidFill>
              <a:srgbClr val="85640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3724622" y="4368038"/>
            <a:ext cx="2342515" cy="7543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47090">
              <a:lnSpc>
                <a:spcPct val="100000"/>
              </a:lnSpc>
              <a:spcBef>
                <a:spcPts val="105"/>
              </a:spcBef>
            </a:pPr>
            <a:r>
              <a:rPr dirty="0" sz="1350" spc="-150" b="1">
                <a:solidFill>
                  <a:srgbClr val="856404"/>
                </a:solidFill>
                <a:latin typeface="Malgun Gothic"/>
                <a:cs typeface="Malgun Gothic"/>
              </a:rPr>
              <a:t>核心計算式</a:t>
            </a:r>
            <a:endParaRPr sz="13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200">
              <a:latin typeface="Malgun Gothic"/>
              <a:cs typeface="Malgun Gothic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dirty="0" baseline="2222" sz="1875">
                <a:solidFill>
                  <a:srgbClr val="856404"/>
                </a:solidFill>
                <a:latin typeface="Lucida Console"/>
                <a:cs typeface="Lucida Console"/>
              </a:rPr>
              <a:t>D</a:t>
            </a:r>
            <a:r>
              <a:rPr dirty="0" baseline="-14619" sz="1425">
                <a:solidFill>
                  <a:srgbClr val="856404"/>
                </a:solidFill>
                <a:latin typeface="Courier New"/>
                <a:cs typeface="Courier New"/>
              </a:rPr>
              <a:t>i</a:t>
            </a:r>
            <a:r>
              <a:rPr dirty="0" baseline="-14619" sz="1425" spc="67">
                <a:solidFill>
                  <a:srgbClr val="856404"/>
                </a:solidFill>
                <a:latin typeface="Courier New"/>
                <a:cs typeface="Courier New"/>
              </a:rPr>
              <a:t> </a:t>
            </a:r>
            <a:r>
              <a:rPr dirty="0" baseline="2415" sz="1725">
                <a:solidFill>
                  <a:srgbClr val="856404"/>
                </a:solidFill>
                <a:latin typeface="Courier New"/>
                <a:cs typeface="Courier New"/>
              </a:rPr>
              <a:t>=</a:t>
            </a:r>
            <a:r>
              <a:rPr dirty="0" baseline="2415" sz="1725" spc="-104">
                <a:solidFill>
                  <a:srgbClr val="856404"/>
                </a:solidFill>
                <a:latin typeface="Courier New"/>
                <a:cs typeface="Courier New"/>
              </a:rPr>
              <a:t> </a:t>
            </a:r>
            <a:r>
              <a:rPr dirty="0" baseline="2222" sz="1875" spc="-37">
                <a:solidFill>
                  <a:srgbClr val="856404"/>
                </a:solidFill>
                <a:latin typeface="Lucida Console"/>
                <a:cs typeface="Lucida Console"/>
              </a:rPr>
              <a:t>softmax(</a:t>
            </a:r>
            <a:r>
              <a:rPr dirty="0" baseline="2222" sz="1875" spc="-187">
                <a:solidFill>
                  <a:srgbClr val="856404"/>
                </a:solidFill>
                <a:latin typeface="Lucida Console"/>
                <a:cs typeface="Lucida Console"/>
              </a:rPr>
              <a:t> </a:t>
            </a:r>
            <a:r>
              <a:rPr dirty="0" sz="1250">
                <a:solidFill>
                  <a:srgbClr val="856404"/>
                </a:solidFill>
                <a:latin typeface="Lucida Console"/>
                <a:cs typeface="Lucida Console"/>
              </a:rPr>
              <a:t>Q</a:t>
            </a:r>
            <a:r>
              <a:rPr dirty="0" baseline="-17543" sz="1425">
                <a:solidFill>
                  <a:srgbClr val="856404"/>
                </a:solidFill>
                <a:latin typeface="Courier New"/>
                <a:cs typeface="Courier New"/>
              </a:rPr>
              <a:t>i</a:t>
            </a:r>
            <a:r>
              <a:rPr dirty="0" baseline="-17543" sz="1425" spc="67">
                <a:solidFill>
                  <a:srgbClr val="856404"/>
                </a:solidFill>
                <a:latin typeface="Courier New"/>
                <a:cs typeface="Courier New"/>
              </a:rPr>
              <a:t> </a:t>
            </a:r>
            <a:r>
              <a:rPr dirty="0" sz="1250">
                <a:solidFill>
                  <a:srgbClr val="856404"/>
                </a:solidFill>
                <a:latin typeface="Lucida Console"/>
                <a:cs typeface="Lucida Console"/>
              </a:rPr>
              <a:t>K</a:t>
            </a:r>
            <a:r>
              <a:rPr dirty="0" baseline="-17543" sz="1425">
                <a:solidFill>
                  <a:srgbClr val="856404"/>
                </a:solidFill>
                <a:latin typeface="Courier New"/>
                <a:cs typeface="Courier New"/>
              </a:rPr>
              <a:t>i</a:t>
            </a:r>
            <a:r>
              <a:rPr dirty="0" baseline="27777" sz="1350">
                <a:solidFill>
                  <a:srgbClr val="856404"/>
                </a:solidFill>
                <a:latin typeface="Cambria"/>
                <a:cs typeface="Cambria"/>
              </a:rPr>
              <a:t>⊤</a:t>
            </a:r>
            <a:r>
              <a:rPr dirty="0" baseline="27777" sz="1350" spc="644">
                <a:solidFill>
                  <a:srgbClr val="856404"/>
                </a:solidFill>
                <a:latin typeface="Cambria"/>
                <a:cs typeface="Cambria"/>
              </a:rPr>
              <a:t> </a:t>
            </a:r>
            <a:r>
              <a:rPr dirty="0" baseline="2222" sz="1875" spc="-30">
                <a:solidFill>
                  <a:srgbClr val="856404"/>
                </a:solidFill>
                <a:latin typeface="Lucida Console"/>
                <a:cs typeface="Lucida Console"/>
              </a:rPr>
              <a:t>/</a:t>
            </a:r>
            <a:r>
              <a:rPr dirty="0" baseline="2136" sz="1950" spc="-30">
                <a:solidFill>
                  <a:srgbClr val="856404"/>
                </a:solidFill>
                <a:latin typeface="Cambria"/>
                <a:cs typeface="Cambria"/>
              </a:rPr>
              <a:t>√</a:t>
            </a:r>
            <a:r>
              <a:rPr dirty="0" baseline="2222" sz="1875" spc="-30">
                <a:solidFill>
                  <a:srgbClr val="856404"/>
                </a:solidFill>
                <a:latin typeface="Lucida Console"/>
                <a:cs typeface="Lucida Console"/>
              </a:rPr>
              <a:t>n)</a:t>
            </a:r>
            <a:endParaRPr baseline="2222" sz="1875">
              <a:latin typeface="Lucida Console"/>
              <a:cs typeface="Lucida Console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571499" y="4762500"/>
            <a:ext cx="8372475" cy="2162175"/>
            <a:chOff x="571499" y="4762500"/>
            <a:chExt cx="8372475" cy="2162175"/>
          </a:xfrm>
        </p:grpSpPr>
        <p:pic>
          <p:nvPicPr>
            <p:cNvPr id="63" name="object 6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834777" y="4762500"/>
              <a:ext cx="109196" cy="552449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581024" y="6381748"/>
              <a:ext cx="1628775" cy="533400"/>
            </a:xfrm>
            <a:custGeom>
              <a:avLst/>
              <a:gdLst/>
              <a:ahLst/>
              <a:cxnLst/>
              <a:rect l="l" t="t" r="r" b="b"/>
              <a:pathLst>
                <a:path w="1628775" h="533400">
                  <a:moveTo>
                    <a:pt x="1566477" y="533399"/>
                  </a:moveTo>
                  <a:lnTo>
                    <a:pt x="62297" y="533399"/>
                  </a:lnTo>
                  <a:lnTo>
                    <a:pt x="57961" y="532972"/>
                  </a:lnTo>
                  <a:lnTo>
                    <a:pt x="22624" y="516966"/>
                  </a:lnTo>
                  <a:lnTo>
                    <a:pt x="2135" y="484025"/>
                  </a:lnTo>
                  <a:lnTo>
                    <a:pt x="0" y="471102"/>
                  </a:lnTo>
                  <a:lnTo>
                    <a:pt x="0" y="466724"/>
                  </a:lnTo>
                  <a:lnTo>
                    <a:pt x="0" y="62296"/>
                  </a:lnTo>
                  <a:lnTo>
                    <a:pt x="13669" y="25990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1566477" y="0"/>
                  </a:lnTo>
                  <a:lnTo>
                    <a:pt x="1602782" y="13668"/>
                  </a:lnTo>
                  <a:lnTo>
                    <a:pt x="1625374" y="45203"/>
                  </a:lnTo>
                  <a:lnTo>
                    <a:pt x="1628774" y="62296"/>
                  </a:lnTo>
                  <a:lnTo>
                    <a:pt x="1628774" y="471102"/>
                  </a:lnTo>
                  <a:lnTo>
                    <a:pt x="1615105" y="507406"/>
                  </a:lnTo>
                  <a:lnTo>
                    <a:pt x="1583570" y="529998"/>
                  </a:lnTo>
                  <a:lnTo>
                    <a:pt x="1570813" y="532972"/>
                  </a:lnTo>
                  <a:lnTo>
                    <a:pt x="1566477" y="533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581024" y="6381748"/>
              <a:ext cx="1628775" cy="533400"/>
            </a:xfrm>
            <a:custGeom>
              <a:avLst/>
              <a:gdLst/>
              <a:ahLst/>
              <a:cxnLst/>
              <a:rect l="l" t="t" r="r" b="b"/>
              <a:pathLst>
                <a:path w="1628775" h="533400">
                  <a:moveTo>
                    <a:pt x="0" y="46672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6"/>
                  </a:lnTo>
                  <a:lnTo>
                    <a:pt x="2135" y="49372"/>
                  </a:lnTo>
                  <a:lnTo>
                    <a:pt x="3399" y="45203"/>
                  </a:lnTo>
                  <a:lnTo>
                    <a:pt x="5075" y="41158"/>
                  </a:lnTo>
                  <a:lnTo>
                    <a:pt x="6750" y="37113"/>
                  </a:lnTo>
                  <a:lnTo>
                    <a:pt x="8804" y="33270"/>
                  </a:lnTo>
                  <a:lnTo>
                    <a:pt x="11236" y="29630"/>
                  </a:lnTo>
                  <a:lnTo>
                    <a:pt x="13669" y="25990"/>
                  </a:lnTo>
                  <a:lnTo>
                    <a:pt x="16432" y="22623"/>
                  </a:lnTo>
                  <a:lnTo>
                    <a:pt x="19528" y="19527"/>
                  </a:lnTo>
                  <a:lnTo>
                    <a:pt x="22624" y="16432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562099" y="0"/>
                  </a:lnTo>
                  <a:lnTo>
                    <a:pt x="1566477" y="0"/>
                  </a:lnTo>
                  <a:lnTo>
                    <a:pt x="1570813" y="427"/>
                  </a:lnTo>
                  <a:lnTo>
                    <a:pt x="1599142" y="11236"/>
                  </a:lnTo>
                  <a:lnTo>
                    <a:pt x="1602782" y="13668"/>
                  </a:lnTo>
                  <a:lnTo>
                    <a:pt x="1623699" y="41158"/>
                  </a:lnTo>
                  <a:lnTo>
                    <a:pt x="1625374" y="45203"/>
                  </a:lnTo>
                  <a:lnTo>
                    <a:pt x="1628774" y="66674"/>
                  </a:lnTo>
                  <a:lnTo>
                    <a:pt x="1628774" y="466724"/>
                  </a:lnTo>
                  <a:lnTo>
                    <a:pt x="1628774" y="471102"/>
                  </a:lnTo>
                  <a:lnTo>
                    <a:pt x="1628347" y="475438"/>
                  </a:lnTo>
                  <a:lnTo>
                    <a:pt x="1627493" y="479731"/>
                  </a:lnTo>
                  <a:lnTo>
                    <a:pt x="1626639" y="484025"/>
                  </a:lnTo>
                  <a:lnTo>
                    <a:pt x="1625374" y="488195"/>
                  </a:lnTo>
                  <a:lnTo>
                    <a:pt x="1623699" y="492239"/>
                  </a:lnTo>
                  <a:lnTo>
                    <a:pt x="1622023" y="496284"/>
                  </a:lnTo>
                  <a:lnTo>
                    <a:pt x="1595502" y="524594"/>
                  </a:lnTo>
                  <a:lnTo>
                    <a:pt x="1575107" y="532118"/>
                  </a:lnTo>
                  <a:lnTo>
                    <a:pt x="1570813" y="532972"/>
                  </a:lnTo>
                  <a:lnTo>
                    <a:pt x="1566477" y="533399"/>
                  </a:lnTo>
                  <a:lnTo>
                    <a:pt x="1562099" y="533399"/>
                  </a:lnTo>
                  <a:lnTo>
                    <a:pt x="66675" y="533399"/>
                  </a:lnTo>
                  <a:lnTo>
                    <a:pt x="62297" y="533399"/>
                  </a:lnTo>
                  <a:lnTo>
                    <a:pt x="57961" y="532972"/>
                  </a:lnTo>
                  <a:lnTo>
                    <a:pt x="53667" y="532118"/>
                  </a:lnTo>
                  <a:lnTo>
                    <a:pt x="49373" y="531264"/>
                  </a:lnTo>
                  <a:lnTo>
                    <a:pt x="16432" y="510775"/>
                  </a:lnTo>
                  <a:lnTo>
                    <a:pt x="5075" y="492239"/>
                  </a:lnTo>
                  <a:lnTo>
                    <a:pt x="3399" y="488195"/>
                  </a:lnTo>
                  <a:lnTo>
                    <a:pt x="2135" y="484025"/>
                  </a:lnTo>
                  <a:lnTo>
                    <a:pt x="1281" y="479731"/>
                  </a:lnTo>
                  <a:lnTo>
                    <a:pt x="427" y="475438"/>
                  </a:lnTo>
                  <a:lnTo>
                    <a:pt x="0" y="471102"/>
                  </a:lnTo>
                  <a:lnTo>
                    <a:pt x="0" y="466724"/>
                  </a:lnTo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1094333" y="6410998"/>
            <a:ext cx="600075" cy="40259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dirty="0" sz="900" spc="-90" b="1">
                <a:solidFill>
                  <a:srgbClr val="3A6EA5"/>
                </a:solidFill>
                <a:latin typeface="Microsoft JhengHei"/>
                <a:cs typeface="Microsoft JhengHei"/>
              </a:rPr>
              <a:t>関</a:t>
            </a:r>
            <a:r>
              <a:rPr dirty="0" sz="900" spc="-80" b="1">
                <a:solidFill>
                  <a:srgbClr val="3A6EA5"/>
                </a:solidFill>
                <a:latin typeface="Malgun Gothic"/>
                <a:cs typeface="Malgun Gothic"/>
              </a:rPr>
              <a:t>連度計算</a:t>
            </a:r>
            <a:endParaRPr sz="9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dirty="0" sz="700" spc="-20">
                <a:solidFill>
                  <a:srgbClr val="666666"/>
                </a:solidFill>
                <a:latin typeface="Lucida Sans Unicode"/>
                <a:cs typeface="Lucida Sans Unicode"/>
              </a:rPr>
              <a:t>Q·K</a:t>
            </a:r>
            <a:r>
              <a:rPr dirty="0" baseline="33333" sz="750" spc="-30">
                <a:solidFill>
                  <a:srgbClr val="666666"/>
                </a:solidFill>
                <a:latin typeface="Cambria"/>
                <a:cs typeface="Cambria"/>
              </a:rPr>
              <a:t>T</a:t>
            </a:r>
            <a:endParaRPr baseline="33333" sz="750">
              <a:latin typeface="Cambria"/>
              <a:cs typeface="Cambria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3050584" y="6530213"/>
            <a:ext cx="1778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50">
                <a:solidFill>
                  <a:srgbClr val="3A6EA5"/>
                </a:solidFill>
                <a:latin typeface="Lucida Sans Unicode"/>
                <a:cs typeface="Lucida Sans Unicode"/>
              </a:rPr>
              <a:t>→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68" name="object 68" descr=""/>
          <p:cNvGrpSpPr/>
          <p:nvPr/>
        </p:nvGrpSpPr>
        <p:grpSpPr>
          <a:xfrm>
            <a:off x="4057649" y="6381748"/>
            <a:ext cx="1638300" cy="533400"/>
            <a:chOff x="4057649" y="6381748"/>
            <a:chExt cx="1638300" cy="533400"/>
          </a:xfrm>
        </p:grpSpPr>
        <p:sp>
          <p:nvSpPr>
            <p:cNvPr id="69" name="object 69" descr=""/>
            <p:cNvSpPr/>
            <p:nvPr/>
          </p:nvSpPr>
          <p:spPr>
            <a:xfrm>
              <a:off x="4067174" y="6391273"/>
              <a:ext cx="1619250" cy="514350"/>
            </a:xfrm>
            <a:custGeom>
              <a:avLst/>
              <a:gdLst/>
              <a:ahLst/>
              <a:cxnLst/>
              <a:rect l="l" t="t" r="r" b="b"/>
              <a:pathLst>
                <a:path w="1619250" h="514350">
                  <a:moveTo>
                    <a:pt x="1556952" y="514349"/>
                  </a:moveTo>
                  <a:lnTo>
                    <a:pt x="62297" y="514349"/>
                  </a:lnTo>
                  <a:lnTo>
                    <a:pt x="57961" y="513922"/>
                  </a:lnTo>
                  <a:lnTo>
                    <a:pt x="22623" y="497916"/>
                  </a:lnTo>
                  <a:lnTo>
                    <a:pt x="2135" y="464975"/>
                  </a:lnTo>
                  <a:lnTo>
                    <a:pt x="0" y="452051"/>
                  </a:lnTo>
                  <a:lnTo>
                    <a:pt x="0" y="447674"/>
                  </a:lnTo>
                  <a:lnTo>
                    <a:pt x="0" y="62296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7" y="0"/>
                  </a:lnTo>
                  <a:lnTo>
                    <a:pt x="1556952" y="0"/>
                  </a:lnTo>
                  <a:lnTo>
                    <a:pt x="1593256" y="13668"/>
                  </a:lnTo>
                  <a:lnTo>
                    <a:pt x="1615849" y="45203"/>
                  </a:lnTo>
                  <a:lnTo>
                    <a:pt x="1619250" y="62296"/>
                  </a:lnTo>
                  <a:lnTo>
                    <a:pt x="1619250" y="452051"/>
                  </a:lnTo>
                  <a:lnTo>
                    <a:pt x="1605580" y="488356"/>
                  </a:lnTo>
                  <a:lnTo>
                    <a:pt x="1574044" y="510948"/>
                  </a:lnTo>
                  <a:lnTo>
                    <a:pt x="1561287" y="513922"/>
                  </a:lnTo>
                  <a:lnTo>
                    <a:pt x="1556952" y="514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4067174" y="6391273"/>
              <a:ext cx="1619250" cy="514350"/>
            </a:xfrm>
            <a:custGeom>
              <a:avLst/>
              <a:gdLst/>
              <a:ahLst/>
              <a:cxnLst/>
              <a:rect l="l" t="t" r="r" b="b"/>
              <a:pathLst>
                <a:path w="1619250" h="514350">
                  <a:moveTo>
                    <a:pt x="0" y="4476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7"/>
                  </a:lnTo>
                  <a:lnTo>
                    <a:pt x="2135" y="49372"/>
                  </a:lnTo>
                  <a:lnTo>
                    <a:pt x="3400" y="45203"/>
                  </a:lnTo>
                  <a:lnTo>
                    <a:pt x="5075" y="41158"/>
                  </a:lnTo>
                  <a:lnTo>
                    <a:pt x="6750" y="37113"/>
                  </a:lnTo>
                  <a:lnTo>
                    <a:pt x="8804" y="33271"/>
                  </a:lnTo>
                  <a:lnTo>
                    <a:pt x="11236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7"/>
                  </a:lnTo>
                  <a:lnTo>
                    <a:pt x="22623" y="16432"/>
                  </a:lnTo>
                  <a:lnTo>
                    <a:pt x="25992" y="13668"/>
                  </a:lnTo>
                  <a:lnTo>
                    <a:pt x="29632" y="11236"/>
                  </a:lnTo>
                  <a:lnTo>
                    <a:pt x="33272" y="8803"/>
                  </a:lnTo>
                  <a:lnTo>
                    <a:pt x="37114" y="6749"/>
                  </a:lnTo>
                  <a:lnTo>
                    <a:pt x="41159" y="5074"/>
                  </a:lnTo>
                  <a:lnTo>
                    <a:pt x="45203" y="3399"/>
                  </a:lnTo>
                  <a:lnTo>
                    <a:pt x="49373" y="2134"/>
                  </a:lnTo>
                  <a:lnTo>
                    <a:pt x="53667" y="1280"/>
                  </a:lnTo>
                  <a:lnTo>
                    <a:pt x="57961" y="426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552575" y="0"/>
                  </a:lnTo>
                  <a:lnTo>
                    <a:pt x="1556952" y="0"/>
                  </a:lnTo>
                  <a:lnTo>
                    <a:pt x="1561287" y="426"/>
                  </a:lnTo>
                  <a:lnTo>
                    <a:pt x="1565581" y="1280"/>
                  </a:lnTo>
                  <a:lnTo>
                    <a:pt x="1569875" y="2134"/>
                  </a:lnTo>
                  <a:lnTo>
                    <a:pt x="1574044" y="3399"/>
                  </a:lnTo>
                  <a:lnTo>
                    <a:pt x="1578089" y="5074"/>
                  </a:lnTo>
                  <a:lnTo>
                    <a:pt x="1582133" y="6749"/>
                  </a:lnTo>
                  <a:lnTo>
                    <a:pt x="1585976" y="8803"/>
                  </a:lnTo>
                  <a:lnTo>
                    <a:pt x="1589616" y="11236"/>
                  </a:lnTo>
                  <a:lnTo>
                    <a:pt x="1593256" y="13668"/>
                  </a:lnTo>
                  <a:lnTo>
                    <a:pt x="1608012" y="29631"/>
                  </a:lnTo>
                  <a:lnTo>
                    <a:pt x="1610444" y="33271"/>
                  </a:lnTo>
                  <a:lnTo>
                    <a:pt x="1612498" y="37113"/>
                  </a:lnTo>
                  <a:lnTo>
                    <a:pt x="1614173" y="41158"/>
                  </a:lnTo>
                  <a:lnTo>
                    <a:pt x="1615849" y="45203"/>
                  </a:lnTo>
                  <a:lnTo>
                    <a:pt x="1617114" y="49372"/>
                  </a:lnTo>
                  <a:lnTo>
                    <a:pt x="1617968" y="53667"/>
                  </a:lnTo>
                  <a:lnTo>
                    <a:pt x="1618822" y="57960"/>
                  </a:lnTo>
                  <a:lnTo>
                    <a:pt x="1619250" y="62296"/>
                  </a:lnTo>
                  <a:lnTo>
                    <a:pt x="1619250" y="66674"/>
                  </a:lnTo>
                  <a:lnTo>
                    <a:pt x="1619250" y="447674"/>
                  </a:lnTo>
                  <a:lnTo>
                    <a:pt x="1619250" y="452051"/>
                  </a:lnTo>
                  <a:lnTo>
                    <a:pt x="1618822" y="456387"/>
                  </a:lnTo>
                  <a:lnTo>
                    <a:pt x="1617968" y="460681"/>
                  </a:lnTo>
                  <a:lnTo>
                    <a:pt x="1617114" y="464975"/>
                  </a:lnTo>
                  <a:lnTo>
                    <a:pt x="1615849" y="469144"/>
                  </a:lnTo>
                  <a:lnTo>
                    <a:pt x="1614173" y="473189"/>
                  </a:lnTo>
                  <a:lnTo>
                    <a:pt x="1612498" y="477233"/>
                  </a:lnTo>
                  <a:lnTo>
                    <a:pt x="1610444" y="481076"/>
                  </a:lnTo>
                  <a:lnTo>
                    <a:pt x="1608012" y="484716"/>
                  </a:lnTo>
                  <a:lnTo>
                    <a:pt x="1605580" y="488356"/>
                  </a:lnTo>
                  <a:lnTo>
                    <a:pt x="1589616" y="503111"/>
                  </a:lnTo>
                  <a:lnTo>
                    <a:pt x="1585976" y="505543"/>
                  </a:lnTo>
                  <a:lnTo>
                    <a:pt x="1565581" y="513068"/>
                  </a:lnTo>
                  <a:lnTo>
                    <a:pt x="1561287" y="513922"/>
                  </a:lnTo>
                  <a:lnTo>
                    <a:pt x="1556952" y="514349"/>
                  </a:lnTo>
                  <a:lnTo>
                    <a:pt x="1552575" y="514349"/>
                  </a:lnTo>
                  <a:lnTo>
                    <a:pt x="66675" y="514349"/>
                  </a:lnTo>
                  <a:lnTo>
                    <a:pt x="62297" y="514349"/>
                  </a:lnTo>
                  <a:lnTo>
                    <a:pt x="57961" y="513922"/>
                  </a:lnTo>
                  <a:lnTo>
                    <a:pt x="22623" y="497916"/>
                  </a:lnTo>
                  <a:lnTo>
                    <a:pt x="19528" y="494820"/>
                  </a:lnTo>
                  <a:lnTo>
                    <a:pt x="16432" y="491724"/>
                  </a:lnTo>
                  <a:lnTo>
                    <a:pt x="13668" y="488356"/>
                  </a:lnTo>
                  <a:lnTo>
                    <a:pt x="11236" y="484716"/>
                  </a:lnTo>
                  <a:lnTo>
                    <a:pt x="8804" y="481076"/>
                  </a:lnTo>
                  <a:lnTo>
                    <a:pt x="6750" y="477233"/>
                  </a:lnTo>
                  <a:lnTo>
                    <a:pt x="5075" y="473189"/>
                  </a:lnTo>
                  <a:lnTo>
                    <a:pt x="3400" y="469144"/>
                  </a:lnTo>
                  <a:lnTo>
                    <a:pt x="2135" y="464975"/>
                  </a:lnTo>
                  <a:lnTo>
                    <a:pt x="1281" y="460681"/>
                  </a:lnTo>
                  <a:lnTo>
                    <a:pt x="427" y="456387"/>
                  </a:lnTo>
                  <a:lnTo>
                    <a:pt x="0" y="452051"/>
                  </a:lnTo>
                  <a:lnTo>
                    <a:pt x="0" y="447674"/>
                  </a:lnTo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 txBox="1"/>
          <p:nvPr/>
        </p:nvSpPr>
        <p:spPr>
          <a:xfrm>
            <a:off x="4706788" y="6449849"/>
            <a:ext cx="339725" cy="35496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900" spc="-90" b="1">
                <a:solidFill>
                  <a:srgbClr val="3A6EA5"/>
                </a:solidFill>
                <a:latin typeface="Microsoft JhengHei"/>
                <a:cs typeface="Microsoft JhengHei"/>
              </a:rPr>
              <a:t>正</a:t>
            </a:r>
            <a:r>
              <a:rPr dirty="0" sz="900" spc="-70" b="1">
                <a:solidFill>
                  <a:srgbClr val="3A6EA5"/>
                </a:solidFill>
                <a:latin typeface="Malgun Gothic"/>
                <a:cs typeface="Malgun Gothic"/>
              </a:rPr>
              <a:t>規化</a:t>
            </a:r>
            <a:endParaRPr sz="900">
              <a:latin typeface="Malgun Gothic"/>
              <a:cs typeface="Malgun Gothic"/>
            </a:endParaRPr>
          </a:p>
          <a:p>
            <a:pPr marL="57785">
              <a:lnSpc>
                <a:spcPct val="100000"/>
              </a:lnSpc>
              <a:spcBef>
                <a:spcPts val="270"/>
              </a:spcBef>
            </a:pPr>
            <a:r>
              <a:rPr dirty="0" sz="700" spc="90">
                <a:solidFill>
                  <a:srgbClr val="666666"/>
                </a:solidFill>
                <a:latin typeface="Lucida Sans Unicode"/>
                <a:cs typeface="Lucida Sans Unicode"/>
              </a:rPr>
              <a:t>÷</a:t>
            </a:r>
            <a:r>
              <a:rPr dirty="0" sz="750" spc="90">
                <a:solidFill>
                  <a:srgbClr val="666666"/>
                </a:solidFill>
                <a:latin typeface="Arial MT"/>
                <a:cs typeface="Arial MT"/>
              </a:rPr>
              <a:t>√</a:t>
            </a:r>
            <a:r>
              <a:rPr dirty="0" sz="700" spc="90">
                <a:solidFill>
                  <a:srgbClr val="666666"/>
                </a:solidFill>
                <a:latin typeface="Lucida Sans Unicode"/>
                <a:cs typeface="Lucida Sans Unicode"/>
              </a:rPr>
              <a:t>n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6532864" y="6530213"/>
            <a:ext cx="1778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50">
                <a:solidFill>
                  <a:srgbClr val="3A6EA5"/>
                </a:solidFill>
                <a:latin typeface="Lucida Sans Unicode"/>
                <a:cs typeface="Lucida Sans Unicode"/>
              </a:rPr>
              <a:t>→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73" name="object 73" descr=""/>
          <p:cNvGrpSpPr/>
          <p:nvPr/>
        </p:nvGrpSpPr>
        <p:grpSpPr>
          <a:xfrm>
            <a:off x="7534274" y="6381748"/>
            <a:ext cx="1647825" cy="533400"/>
            <a:chOff x="7534274" y="6381748"/>
            <a:chExt cx="1647825" cy="533400"/>
          </a:xfrm>
        </p:grpSpPr>
        <p:sp>
          <p:nvSpPr>
            <p:cNvPr id="74" name="object 74" descr=""/>
            <p:cNvSpPr/>
            <p:nvPr/>
          </p:nvSpPr>
          <p:spPr>
            <a:xfrm>
              <a:off x="7543799" y="6391273"/>
              <a:ext cx="1628775" cy="514350"/>
            </a:xfrm>
            <a:custGeom>
              <a:avLst/>
              <a:gdLst/>
              <a:ahLst/>
              <a:cxnLst/>
              <a:rect l="l" t="t" r="r" b="b"/>
              <a:pathLst>
                <a:path w="1628775" h="514350">
                  <a:moveTo>
                    <a:pt x="1566477" y="514349"/>
                  </a:moveTo>
                  <a:lnTo>
                    <a:pt x="62296" y="514349"/>
                  </a:lnTo>
                  <a:lnTo>
                    <a:pt x="57960" y="513922"/>
                  </a:lnTo>
                  <a:lnTo>
                    <a:pt x="22623" y="497916"/>
                  </a:lnTo>
                  <a:lnTo>
                    <a:pt x="2134" y="464975"/>
                  </a:lnTo>
                  <a:lnTo>
                    <a:pt x="0" y="452051"/>
                  </a:lnTo>
                  <a:lnTo>
                    <a:pt x="0" y="447674"/>
                  </a:lnTo>
                  <a:lnTo>
                    <a:pt x="0" y="62296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1566477" y="0"/>
                  </a:lnTo>
                  <a:lnTo>
                    <a:pt x="1602782" y="13668"/>
                  </a:lnTo>
                  <a:lnTo>
                    <a:pt x="1625374" y="45203"/>
                  </a:lnTo>
                  <a:lnTo>
                    <a:pt x="1628774" y="62296"/>
                  </a:lnTo>
                  <a:lnTo>
                    <a:pt x="1628774" y="452051"/>
                  </a:lnTo>
                  <a:lnTo>
                    <a:pt x="1615105" y="488356"/>
                  </a:lnTo>
                  <a:lnTo>
                    <a:pt x="1583570" y="510948"/>
                  </a:lnTo>
                  <a:lnTo>
                    <a:pt x="1570813" y="513922"/>
                  </a:lnTo>
                  <a:lnTo>
                    <a:pt x="1566477" y="514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7543799" y="6391273"/>
              <a:ext cx="1628775" cy="514350"/>
            </a:xfrm>
            <a:custGeom>
              <a:avLst/>
              <a:gdLst/>
              <a:ahLst/>
              <a:cxnLst/>
              <a:rect l="l" t="t" r="r" b="b"/>
              <a:pathLst>
                <a:path w="1628775" h="514350">
                  <a:moveTo>
                    <a:pt x="0" y="4476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0" y="53667"/>
                  </a:lnTo>
                  <a:lnTo>
                    <a:pt x="2134" y="49372"/>
                  </a:lnTo>
                  <a:lnTo>
                    <a:pt x="3399" y="45203"/>
                  </a:lnTo>
                  <a:lnTo>
                    <a:pt x="5075" y="41158"/>
                  </a:lnTo>
                  <a:lnTo>
                    <a:pt x="6750" y="37113"/>
                  </a:lnTo>
                  <a:lnTo>
                    <a:pt x="8803" y="33271"/>
                  </a:lnTo>
                  <a:lnTo>
                    <a:pt x="11236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7" y="19527"/>
                  </a:lnTo>
                  <a:lnTo>
                    <a:pt x="22623" y="16432"/>
                  </a:lnTo>
                  <a:lnTo>
                    <a:pt x="25992" y="13668"/>
                  </a:lnTo>
                  <a:lnTo>
                    <a:pt x="29631" y="11236"/>
                  </a:lnTo>
                  <a:lnTo>
                    <a:pt x="33271" y="8803"/>
                  </a:lnTo>
                  <a:lnTo>
                    <a:pt x="37114" y="6749"/>
                  </a:lnTo>
                  <a:lnTo>
                    <a:pt x="41159" y="5074"/>
                  </a:lnTo>
                  <a:lnTo>
                    <a:pt x="45203" y="3399"/>
                  </a:lnTo>
                  <a:lnTo>
                    <a:pt x="49373" y="2134"/>
                  </a:lnTo>
                  <a:lnTo>
                    <a:pt x="53667" y="1280"/>
                  </a:lnTo>
                  <a:lnTo>
                    <a:pt x="57960" y="426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1562099" y="0"/>
                  </a:lnTo>
                  <a:lnTo>
                    <a:pt x="1566477" y="0"/>
                  </a:lnTo>
                  <a:lnTo>
                    <a:pt x="1570813" y="426"/>
                  </a:lnTo>
                  <a:lnTo>
                    <a:pt x="1575107" y="1280"/>
                  </a:lnTo>
                  <a:lnTo>
                    <a:pt x="1579400" y="2134"/>
                  </a:lnTo>
                  <a:lnTo>
                    <a:pt x="1583570" y="3399"/>
                  </a:lnTo>
                  <a:lnTo>
                    <a:pt x="1587614" y="5074"/>
                  </a:lnTo>
                  <a:lnTo>
                    <a:pt x="1591659" y="6749"/>
                  </a:lnTo>
                  <a:lnTo>
                    <a:pt x="1595502" y="8803"/>
                  </a:lnTo>
                  <a:lnTo>
                    <a:pt x="1599142" y="11236"/>
                  </a:lnTo>
                  <a:lnTo>
                    <a:pt x="1602782" y="13668"/>
                  </a:lnTo>
                  <a:lnTo>
                    <a:pt x="1617537" y="29631"/>
                  </a:lnTo>
                  <a:lnTo>
                    <a:pt x="1619969" y="33271"/>
                  </a:lnTo>
                  <a:lnTo>
                    <a:pt x="1622023" y="37113"/>
                  </a:lnTo>
                  <a:lnTo>
                    <a:pt x="1623698" y="41158"/>
                  </a:lnTo>
                  <a:lnTo>
                    <a:pt x="1625374" y="45203"/>
                  </a:lnTo>
                  <a:lnTo>
                    <a:pt x="1626638" y="49372"/>
                  </a:lnTo>
                  <a:lnTo>
                    <a:pt x="1627492" y="53667"/>
                  </a:lnTo>
                  <a:lnTo>
                    <a:pt x="1628347" y="57960"/>
                  </a:lnTo>
                  <a:lnTo>
                    <a:pt x="1628774" y="62296"/>
                  </a:lnTo>
                  <a:lnTo>
                    <a:pt x="1628774" y="66674"/>
                  </a:lnTo>
                  <a:lnTo>
                    <a:pt x="1628774" y="447674"/>
                  </a:lnTo>
                  <a:lnTo>
                    <a:pt x="1628774" y="452051"/>
                  </a:lnTo>
                  <a:lnTo>
                    <a:pt x="1628347" y="456387"/>
                  </a:lnTo>
                  <a:lnTo>
                    <a:pt x="1627492" y="460681"/>
                  </a:lnTo>
                  <a:lnTo>
                    <a:pt x="1626638" y="464975"/>
                  </a:lnTo>
                  <a:lnTo>
                    <a:pt x="1625374" y="469144"/>
                  </a:lnTo>
                  <a:lnTo>
                    <a:pt x="1623698" y="473189"/>
                  </a:lnTo>
                  <a:lnTo>
                    <a:pt x="1622023" y="477233"/>
                  </a:lnTo>
                  <a:lnTo>
                    <a:pt x="1599142" y="503111"/>
                  </a:lnTo>
                  <a:lnTo>
                    <a:pt x="1595502" y="505543"/>
                  </a:lnTo>
                  <a:lnTo>
                    <a:pt x="1575107" y="513068"/>
                  </a:lnTo>
                  <a:lnTo>
                    <a:pt x="1570813" y="513922"/>
                  </a:lnTo>
                  <a:lnTo>
                    <a:pt x="1566477" y="514349"/>
                  </a:lnTo>
                  <a:lnTo>
                    <a:pt x="1562099" y="514349"/>
                  </a:lnTo>
                  <a:lnTo>
                    <a:pt x="66674" y="514349"/>
                  </a:lnTo>
                  <a:lnTo>
                    <a:pt x="62296" y="514349"/>
                  </a:lnTo>
                  <a:lnTo>
                    <a:pt x="57960" y="513922"/>
                  </a:lnTo>
                  <a:lnTo>
                    <a:pt x="22623" y="497916"/>
                  </a:lnTo>
                  <a:lnTo>
                    <a:pt x="5074" y="473189"/>
                  </a:lnTo>
                  <a:lnTo>
                    <a:pt x="3399" y="469144"/>
                  </a:lnTo>
                  <a:lnTo>
                    <a:pt x="2134" y="464975"/>
                  </a:lnTo>
                  <a:lnTo>
                    <a:pt x="1280" y="460681"/>
                  </a:lnTo>
                  <a:lnTo>
                    <a:pt x="426" y="456387"/>
                  </a:lnTo>
                  <a:lnTo>
                    <a:pt x="0" y="452051"/>
                  </a:lnTo>
                  <a:lnTo>
                    <a:pt x="0" y="447674"/>
                  </a:lnTo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 descr=""/>
          <p:cNvSpPr txBox="1"/>
          <p:nvPr/>
        </p:nvSpPr>
        <p:spPr>
          <a:xfrm>
            <a:off x="8128942" y="6451341"/>
            <a:ext cx="460375" cy="35306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900" spc="-55" b="1">
                <a:solidFill>
                  <a:srgbClr val="3A6EA5"/>
                </a:solidFill>
                <a:latin typeface="Tahoma"/>
                <a:cs typeface="Tahoma"/>
              </a:rPr>
              <a:t>Softmax</a:t>
            </a:r>
            <a:endParaRPr sz="9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  <a:spcBef>
                <a:spcPts val="270"/>
              </a:spcBef>
            </a:pPr>
            <a:r>
              <a:rPr dirty="0" sz="750" spc="-70">
                <a:solidFill>
                  <a:srgbClr val="666666"/>
                </a:solidFill>
                <a:latin typeface="SimSun"/>
                <a:cs typeface="SimSun"/>
              </a:rPr>
              <a:t>確率分布化</a:t>
            </a:r>
            <a:endParaRPr sz="750">
              <a:latin typeface="SimSun"/>
              <a:cs typeface="SimSun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1309444" y="7177913"/>
            <a:ext cx="1778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50">
                <a:solidFill>
                  <a:srgbClr val="3A6EA5"/>
                </a:solidFill>
                <a:latin typeface="Lucida Sans Unicode"/>
                <a:cs typeface="Lucida Sans Unicode"/>
              </a:rPr>
              <a:t>→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78" name="object 78" descr=""/>
          <p:cNvGrpSpPr/>
          <p:nvPr/>
        </p:nvGrpSpPr>
        <p:grpSpPr>
          <a:xfrm>
            <a:off x="2314574" y="7019923"/>
            <a:ext cx="1647825" cy="552450"/>
            <a:chOff x="2314574" y="7019923"/>
            <a:chExt cx="1647825" cy="552450"/>
          </a:xfrm>
        </p:grpSpPr>
        <p:sp>
          <p:nvSpPr>
            <p:cNvPr id="79" name="object 79" descr=""/>
            <p:cNvSpPr/>
            <p:nvPr/>
          </p:nvSpPr>
          <p:spPr>
            <a:xfrm>
              <a:off x="2324099" y="7029448"/>
              <a:ext cx="1628775" cy="533400"/>
            </a:xfrm>
            <a:custGeom>
              <a:avLst/>
              <a:gdLst/>
              <a:ahLst/>
              <a:cxnLst/>
              <a:rect l="l" t="t" r="r" b="b"/>
              <a:pathLst>
                <a:path w="1628775" h="533400">
                  <a:moveTo>
                    <a:pt x="1566477" y="533399"/>
                  </a:moveTo>
                  <a:lnTo>
                    <a:pt x="62297" y="533399"/>
                  </a:lnTo>
                  <a:lnTo>
                    <a:pt x="57961" y="532972"/>
                  </a:lnTo>
                  <a:lnTo>
                    <a:pt x="22624" y="516966"/>
                  </a:lnTo>
                  <a:lnTo>
                    <a:pt x="2135" y="484025"/>
                  </a:lnTo>
                  <a:lnTo>
                    <a:pt x="0" y="471103"/>
                  </a:lnTo>
                  <a:lnTo>
                    <a:pt x="0" y="466724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1566477" y="0"/>
                  </a:lnTo>
                  <a:lnTo>
                    <a:pt x="1602782" y="13668"/>
                  </a:lnTo>
                  <a:lnTo>
                    <a:pt x="1625374" y="45203"/>
                  </a:lnTo>
                  <a:lnTo>
                    <a:pt x="1628774" y="62296"/>
                  </a:lnTo>
                  <a:lnTo>
                    <a:pt x="1628774" y="471103"/>
                  </a:lnTo>
                  <a:lnTo>
                    <a:pt x="1615105" y="507406"/>
                  </a:lnTo>
                  <a:lnTo>
                    <a:pt x="1583570" y="529998"/>
                  </a:lnTo>
                  <a:lnTo>
                    <a:pt x="1570813" y="532972"/>
                  </a:lnTo>
                  <a:lnTo>
                    <a:pt x="1566477" y="533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2324099" y="7029448"/>
              <a:ext cx="1628775" cy="533400"/>
            </a:xfrm>
            <a:custGeom>
              <a:avLst/>
              <a:gdLst/>
              <a:ahLst/>
              <a:cxnLst/>
              <a:rect l="l" t="t" r="r" b="b"/>
              <a:pathLst>
                <a:path w="1628775" h="533400">
                  <a:moveTo>
                    <a:pt x="0" y="46672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6"/>
                  </a:lnTo>
                  <a:lnTo>
                    <a:pt x="2135" y="49372"/>
                  </a:lnTo>
                  <a:lnTo>
                    <a:pt x="3399" y="45203"/>
                  </a:lnTo>
                  <a:lnTo>
                    <a:pt x="5075" y="41158"/>
                  </a:lnTo>
                  <a:lnTo>
                    <a:pt x="6750" y="37113"/>
                  </a:lnTo>
                  <a:lnTo>
                    <a:pt x="8804" y="33271"/>
                  </a:lnTo>
                  <a:lnTo>
                    <a:pt x="11236" y="29631"/>
                  </a:lnTo>
                  <a:lnTo>
                    <a:pt x="13668" y="25992"/>
                  </a:lnTo>
                  <a:lnTo>
                    <a:pt x="16433" y="22623"/>
                  </a:lnTo>
                  <a:lnTo>
                    <a:pt x="49373" y="2134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562099" y="0"/>
                  </a:lnTo>
                  <a:lnTo>
                    <a:pt x="1566477" y="0"/>
                  </a:lnTo>
                  <a:lnTo>
                    <a:pt x="1570813" y="426"/>
                  </a:lnTo>
                  <a:lnTo>
                    <a:pt x="1575107" y="1280"/>
                  </a:lnTo>
                  <a:lnTo>
                    <a:pt x="1579401" y="2134"/>
                  </a:lnTo>
                  <a:lnTo>
                    <a:pt x="1599142" y="11236"/>
                  </a:lnTo>
                  <a:lnTo>
                    <a:pt x="1602782" y="13668"/>
                  </a:lnTo>
                  <a:lnTo>
                    <a:pt x="1606150" y="16432"/>
                  </a:lnTo>
                  <a:lnTo>
                    <a:pt x="1609246" y="19527"/>
                  </a:lnTo>
                  <a:lnTo>
                    <a:pt x="1612341" y="22623"/>
                  </a:lnTo>
                  <a:lnTo>
                    <a:pt x="1623699" y="41158"/>
                  </a:lnTo>
                  <a:lnTo>
                    <a:pt x="1625374" y="45203"/>
                  </a:lnTo>
                  <a:lnTo>
                    <a:pt x="1626639" y="49372"/>
                  </a:lnTo>
                  <a:lnTo>
                    <a:pt x="1627493" y="53666"/>
                  </a:lnTo>
                  <a:lnTo>
                    <a:pt x="1628347" y="57960"/>
                  </a:lnTo>
                  <a:lnTo>
                    <a:pt x="1628774" y="62296"/>
                  </a:lnTo>
                  <a:lnTo>
                    <a:pt x="1628774" y="66674"/>
                  </a:lnTo>
                  <a:lnTo>
                    <a:pt x="1628774" y="466724"/>
                  </a:lnTo>
                  <a:lnTo>
                    <a:pt x="1628774" y="471103"/>
                  </a:lnTo>
                  <a:lnTo>
                    <a:pt x="1628347" y="475438"/>
                  </a:lnTo>
                  <a:lnTo>
                    <a:pt x="1627493" y="479732"/>
                  </a:lnTo>
                  <a:lnTo>
                    <a:pt x="1626639" y="484025"/>
                  </a:lnTo>
                  <a:lnTo>
                    <a:pt x="1625374" y="488195"/>
                  </a:lnTo>
                  <a:lnTo>
                    <a:pt x="1623699" y="492239"/>
                  </a:lnTo>
                  <a:lnTo>
                    <a:pt x="1622023" y="496284"/>
                  </a:lnTo>
                  <a:lnTo>
                    <a:pt x="1609246" y="513870"/>
                  </a:lnTo>
                  <a:lnTo>
                    <a:pt x="1606150" y="516966"/>
                  </a:lnTo>
                  <a:lnTo>
                    <a:pt x="1602782" y="519730"/>
                  </a:lnTo>
                  <a:lnTo>
                    <a:pt x="1599142" y="522162"/>
                  </a:lnTo>
                  <a:lnTo>
                    <a:pt x="1595502" y="524594"/>
                  </a:lnTo>
                  <a:lnTo>
                    <a:pt x="1591659" y="526648"/>
                  </a:lnTo>
                  <a:lnTo>
                    <a:pt x="1587614" y="528323"/>
                  </a:lnTo>
                  <a:lnTo>
                    <a:pt x="1583570" y="529998"/>
                  </a:lnTo>
                  <a:lnTo>
                    <a:pt x="1562099" y="533399"/>
                  </a:lnTo>
                  <a:lnTo>
                    <a:pt x="66675" y="533399"/>
                  </a:lnTo>
                  <a:lnTo>
                    <a:pt x="29632" y="522162"/>
                  </a:lnTo>
                  <a:lnTo>
                    <a:pt x="25992" y="519730"/>
                  </a:lnTo>
                  <a:lnTo>
                    <a:pt x="11236" y="503766"/>
                  </a:lnTo>
                  <a:lnTo>
                    <a:pt x="8804" y="500126"/>
                  </a:lnTo>
                  <a:lnTo>
                    <a:pt x="1281" y="479732"/>
                  </a:lnTo>
                  <a:lnTo>
                    <a:pt x="427" y="475438"/>
                  </a:lnTo>
                  <a:lnTo>
                    <a:pt x="0" y="471103"/>
                  </a:lnTo>
                  <a:lnTo>
                    <a:pt x="0" y="466724"/>
                  </a:lnTo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 descr=""/>
          <p:cNvSpPr txBox="1"/>
          <p:nvPr/>
        </p:nvSpPr>
        <p:spPr>
          <a:xfrm>
            <a:off x="2932211" y="7053099"/>
            <a:ext cx="407034" cy="41846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10"/>
              </a:spcBef>
            </a:pPr>
            <a:r>
              <a:rPr dirty="0" sz="900" spc="-100" b="1">
                <a:solidFill>
                  <a:srgbClr val="3A6EA5"/>
                </a:solidFill>
                <a:latin typeface="Malgun Gothic"/>
                <a:cs typeface="Malgun Gothic"/>
              </a:rPr>
              <a:t>重み </a:t>
            </a:r>
            <a:r>
              <a:rPr dirty="0" sz="900" spc="-25" b="1">
                <a:solidFill>
                  <a:srgbClr val="3A6EA5"/>
                </a:solidFill>
                <a:latin typeface="Tahoma"/>
                <a:cs typeface="Tahoma"/>
              </a:rPr>
              <a:t>D</a:t>
            </a:r>
            <a:r>
              <a:rPr dirty="0" baseline="-21367" sz="975" spc="-37" b="1">
                <a:solidFill>
                  <a:srgbClr val="3A6EA5"/>
                </a:solidFill>
                <a:latin typeface="Tahoma"/>
                <a:cs typeface="Tahoma"/>
              </a:rPr>
              <a:t>i</a:t>
            </a:r>
            <a:endParaRPr baseline="-21367" sz="975">
              <a:latin typeface="Tahoma"/>
              <a:cs typeface="Tahoma"/>
            </a:endParaRPr>
          </a:p>
          <a:p>
            <a:pPr marL="74295">
              <a:lnSpc>
                <a:spcPct val="100000"/>
              </a:lnSpc>
              <a:spcBef>
                <a:spcPts val="495"/>
              </a:spcBef>
            </a:pPr>
            <a:r>
              <a:rPr dirty="0" sz="750" spc="-70">
                <a:solidFill>
                  <a:srgbClr val="666666"/>
                </a:solidFill>
                <a:latin typeface="SimSun"/>
                <a:cs typeface="SimSun"/>
              </a:rPr>
              <a:t>注目度</a:t>
            </a:r>
            <a:endParaRPr sz="750">
              <a:latin typeface="SimSun"/>
              <a:cs typeface="SimSun"/>
            </a:endParaRPr>
          </a:p>
        </p:txBody>
      </p:sp>
      <p:grpSp>
        <p:nvGrpSpPr>
          <p:cNvPr id="82" name="object 82" descr=""/>
          <p:cNvGrpSpPr/>
          <p:nvPr/>
        </p:nvGrpSpPr>
        <p:grpSpPr>
          <a:xfrm>
            <a:off x="380999" y="8048624"/>
            <a:ext cx="8991600" cy="2152650"/>
            <a:chOff x="380999" y="8048624"/>
            <a:chExt cx="8991600" cy="2152650"/>
          </a:xfrm>
        </p:grpSpPr>
        <p:sp>
          <p:nvSpPr>
            <p:cNvPr id="83" name="object 83" descr=""/>
            <p:cNvSpPr/>
            <p:nvPr/>
          </p:nvSpPr>
          <p:spPr>
            <a:xfrm>
              <a:off x="390524" y="8058149"/>
              <a:ext cx="8972550" cy="2133600"/>
            </a:xfrm>
            <a:custGeom>
              <a:avLst/>
              <a:gdLst/>
              <a:ahLst/>
              <a:cxnLst/>
              <a:rect l="l" t="t" r="r" b="b"/>
              <a:pathLst>
                <a:path w="8972550" h="2133600">
                  <a:moveTo>
                    <a:pt x="8874653" y="2133599"/>
                  </a:moveTo>
                  <a:lnTo>
                    <a:pt x="97895" y="2133599"/>
                  </a:lnTo>
                  <a:lnTo>
                    <a:pt x="91081" y="2132928"/>
                  </a:lnTo>
                  <a:lnTo>
                    <a:pt x="52285" y="2119762"/>
                  </a:lnTo>
                  <a:lnTo>
                    <a:pt x="21479" y="2092753"/>
                  </a:lnTo>
                  <a:lnTo>
                    <a:pt x="3355" y="2056011"/>
                  </a:lnTo>
                  <a:lnTo>
                    <a:pt x="0" y="2035703"/>
                  </a:lnTo>
                  <a:lnTo>
                    <a:pt x="0" y="2028824"/>
                  </a:lnTo>
                  <a:lnTo>
                    <a:pt x="0" y="97895"/>
                  </a:lnTo>
                  <a:lnTo>
                    <a:pt x="10608" y="58323"/>
                  </a:lnTo>
                  <a:lnTo>
                    <a:pt x="35552" y="25823"/>
                  </a:lnTo>
                  <a:lnTo>
                    <a:pt x="71035" y="5342"/>
                  </a:lnTo>
                  <a:lnTo>
                    <a:pt x="97895" y="0"/>
                  </a:lnTo>
                  <a:lnTo>
                    <a:pt x="8874653" y="0"/>
                  </a:lnTo>
                  <a:lnTo>
                    <a:pt x="8914224" y="10607"/>
                  </a:lnTo>
                  <a:lnTo>
                    <a:pt x="8946724" y="35551"/>
                  </a:lnTo>
                  <a:lnTo>
                    <a:pt x="8967205" y="71035"/>
                  </a:lnTo>
                  <a:lnTo>
                    <a:pt x="8972548" y="97895"/>
                  </a:lnTo>
                  <a:lnTo>
                    <a:pt x="8972548" y="2035703"/>
                  </a:lnTo>
                  <a:lnTo>
                    <a:pt x="8961939" y="2075275"/>
                  </a:lnTo>
                  <a:lnTo>
                    <a:pt x="8936996" y="2107774"/>
                  </a:lnTo>
                  <a:lnTo>
                    <a:pt x="8901512" y="2128254"/>
                  </a:lnTo>
                  <a:lnTo>
                    <a:pt x="8881467" y="2132928"/>
                  </a:lnTo>
                  <a:lnTo>
                    <a:pt x="8874653" y="213359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390524" y="8058149"/>
              <a:ext cx="8972550" cy="2133600"/>
            </a:xfrm>
            <a:custGeom>
              <a:avLst/>
              <a:gdLst/>
              <a:ahLst/>
              <a:cxnLst/>
              <a:rect l="l" t="t" r="r" b="b"/>
              <a:pathLst>
                <a:path w="8972550" h="2133600">
                  <a:moveTo>
                    <a:pt x="0" y="2028824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2013" y="84334"/>
                  </a:lnTo>
                  <a:lnTo>
                    <a:pt x="3355" y="77586"/>
                  </a:lnTo>
                  <a:lnTo>
                    <a:pt x="5342" y="71035"/>
                  </a:lnTo>
                  <a:lnTo>
                    <a:pt x="7975" y="64679"/>
                  </a:lnTo>
                  <a:lnTo>
                    <a:pt x="10608" y="58323"/>
                  </a:lnTo>
                  <a:lnTo>
                    <a:pt x="13835" y="52284"/>
                  </a:lnTo>
                  <a:lnTo>
                    <a:pt x="40844" y="21480"/>
                  </a:lnTo>
                  <a:lnTo>
                    <a:pt x="46565" y="17658"/>
                  </a:lnTo>
                  <a:lnTo>
                    <a:pt x="52285" y="13835"/>
                  </a:lnTo>
                  <a:lnTo>
                    <a:pt x="84334" y="2013"/>
                  </a:lnTo>
                  <a:lnTo>
                    <a:pt x="91081" y="670"/>
                  </a:lnTo>
                  <a:lnTo>
                    <a:pt x="97895" y="0"/>
                  </a:lnTo>
                  <a:lnTo>
                    <a:pt x="104775" y="0"/>
                  </a:lnTo>
                  <a:lnTo>
                    <a:pt x="8867774" y="0"/>
                  </a:lnTo>
                  <a:lnTo>
                    <a:pt x="8874653" y="0"/>
                  </a:lnTo>
                  <a:lnTo>
                    <a:pt x="8881467" y="670"/>
                  </a:lnTo>
                  <a:lnTo>
                    <a:pt x="8920262" y="13835"/>
                  </a:lnTo>
                  <a:lnTo>
                    <a:pt x="8951068" y="40844"/>
                  </a:lnTo>
                  <a:lnTo>
                    <a:pt x="8969192" y="77586"/>
                  </a:lnTo>
                  <a:lnTo>
                    <a:pt x="8970534" y="84334"/>
                  </a:lnTo>
                  <a:lnTo>
                    <a:pt x="8971877" y="91081"/>
                  </a:lnTo>
                  <a:lnTo>
                    <a:pt x="8972548" y="97895"/>
                  </a:lnTo>
                  <a:lnTo>
                    <a:pt x="8972549" y="104774"/>
                  </a:lnTo>
                  <a:lnTo>
                    <a:pt x="8972549" y="2028824"/>
                  </a:lnTo>
                  <a:lnTo>
                    <a:pt x="8972548" y="2035703"/>
                  </a:lnTo>
                  <a:lnTo>
                    <a:pt x="8971877" y="2042517"/>
                  </a:lnTo>
                  <a:lnTo>
                    <a:pt x="8970534" y="2049264"/>
                  </a:lnTo>
                  <a:lnTo>
                    <a:pt x="8969192" y="2056011"/>
                  </a:lnTo>
                  <a:lnTo>
                    <a:pt x="8954890" y="2087032"/>
                  </a:lnTo>
                  <a:lnTo>
                    <a:pt x="8951068" y="2092753"/>
                  </a:lnTo>
                  <a:lnTo>
                    <a:pt x="8920262" y="2119762"/>
                  </a:lnTo>
                  <a:lnTo>
                    <a:pt x="8881467" y="2132928"/>
                  </a:lnTo>
                  <a:lnTo>
                    <a:pt x="8874653" y="2133599"/>
                  </a:lnTo>
                  <a:lnTo>
                    <a:pt x="8867774" y="2133599"/>
                  </a:lnTo>
                  <a:lnTo>
                    <a:pt x="104775" y="2133599"/>
                  </a:lnTo>
                  <a:lnTo>
                    <a:pt x="97895" y="2133599"/>
                  </a:lnTo>
                  <a:lnTo>
                    <a:pt x="91081" y="2132928"/>
                  </a:lnTo>
                  <a:lnTo>
                    <a:pt x="84334" y="2131585"/>
                  </a:lnTo>
                  <a:lnTo>
                    <a:pt x="77586" y="2130243"/>
                  </a:lnTo>
                  <a:lnTo>
                    <a:pt x="40844" y="2112118"/>
                  </a:lnTo>
                  <a:lnTo>
                    <a:pt x="17657" y="2087032"/>
                  </a:lnTo>
                  <a:lnTo>
                    <a:pt x="13835" y="2081313"/>
                  </a:lnTo>
                  <a:lnTo>
                    <a:pt x="2013" y="2049264"/>
                  </a:lnTo>
                  <a:lnTo>
                    <a:pt x="671" y="2042517"/>
                  </a:lnTo>
                  <a:lnTo>
                    <a:pt x="0" y="2035703"/>
                  </a:lnTo>
                  <a:lnTo>
                    <a:pt x="0" y="2028824"/>
                  </a:lnTo>
                  <a:close/>
                </a:path>
              </a:pathLst>
            </a:custGeom>
            <a:ln w="19049">
              <a:solidFill>
                <a:srgbClr val="DEE2E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20208" y="8295712"/>
              <a:ext cx="169333" cy="170457"/>
            </a:xfrm>
            <a:prstGeom prst="rect">
              <a:avLst/>
            </a:prstGeom>
          </p:spPr>
        </p:pic>
      </p:grpSp>
      <p:sp>
        <p:nvSpPr>
          <p:cNvPr id="86" name="object 86" descr=""/>
          <p:cNvSpPr txBox="1"/>
          <p:nvPr/>
        </p:nvSpPr>
        <p:spPr>
          <a:xfrm>
            <a:off x="1028725" y="8232710"/>
            <a:ext cx="173482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50" b="1">
                <a:solidFill>
                  <a:srgbClr val="3A6EA5"/>
                </a:solidFill>
                <a:latin typeface="Malgun Gothic"/>
                <a:cs typeface="Malgun Gothic"/>
              </a:rPr>
              <a:t>加重和</a:t>
            </a:r>
            <a:r>
              <a:rPr dirty="0" sz="1500" spc="-170" b="1">
                <a:solidFill>
                  <a:srgbClr val="3A6EA5"/>
                </a:solidFill>
                <a:latin typeface="Microsoft JhengHei"/>
                <a:cs typeface="Microsoft JhengHei"/>
              </a:rPr>
              <a:t>による</a:t>
            </a:r>
            <a:r>
              <a:rPr dirty="0" sz="1500" spc="-140" b="1">
                <a:solidFill>
                  <a:srgbClr val="3A6EA5"/>
                </a:solidFill>
                <a:latin typeface="Malgun Gothic"/>
                <a:cs typeface="Malgun Gothic"/>
              </a:rPr>
              <a:t>出力生成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87" name="object 87" descr=""/>
          <p:cNvGrpSpPr/>
          <p:nvPr/>
        </p:nvGrpSpPr>
        <p:grpSpPr>
          <a:xfrm>
            <a:off x="3962399" y="8639173"/>
            <a:ext cx="1828800" cy="942975"/>
            <a:chOff x="3962399" y="8639173"/>
            <a:chExt cx="1828800" cy="942975"/>
          </a:xfrm>
        </p:grpSpPr>
        <p:sp>
          <p:nvSpPr>
            <p:cNvPr id="88" name="object 88" descr=""/>
            <p:cNvSpPr/>
            <p:nvPr/>
          </p:nvSpPr>
          <p:spPr>
            <a:xfrm>
              <a:off x="3976686" y="8653460"/>
              <a:ext cx="1800225" cy="914400"/>
            </a:xfrm>
            <a:custGeom>
              <a:avLst/>
              <a:gdLst/>
              <a:ahLst/>
              <a:cxnLst/>
              <a:rect l="l" t="t" r="r" b="b"/>
              <a:pathLst>
                <a:path w="1800225" h="914400">
                  <a:moveTo>
                    <a:pt x="1706779" y="914399"/>
                  </a:moveTo>
                  <a:lnTo>
                    <a:pt x="93445" y="914399"/>
                  </a:lnTo>
                  <a:lnTo>
                    <a:pt x="86941" y="913759"/>
                  </a:lnTo>
                  <a:lnTo>
                    <a:pt x="49908" y="901192"/>
                  </a:lnTo>
                  <a:lnTo>
                    <a:pt x="20503" y="875411"/>
                  </a:lnTo>
                  <a:lnTo>
                    <a:pt x="3202" y="840338"/>
                  </a:lnTo>
                  <a:lnTo>
                    <a:pt x="0" y="820953"/>
                  </a:lnTo>
                  <a:lnTo>
                    <a:pt x="0" y="814387"/>
                  </a:lnTo>
                  <a:lnTo>
                    <a:pt x="0" y="93445"/>
                  </a:lnTo>
                  <a:lnTo>
                    <a:pt x="10125" y="55671"/>
                  </a:lnTo>
                  <a:lnTo>
                    <a:pt x="33936" y="24649"/>
                  </a:lnTo>
                  <a:lnTo>
                    <a:pt x="67805" y="5099"/>
                  </a:lnTo>
                  <a:lnTo>
                    <a:pt x="93445" y="0"/>
                  </a:lnTo>
                  <a:lnTo>
                    <a:pt x="1706779" y="0"/>
                  </a:lnTo>
                  <a:lnTo>
                    <a:pt x="1744551" y="10125"/>
                  </a:lnTo>
                  <a:lnTo>
                    <a:pt x="1775574" y="33935"/>
                  </a:lnTo>
                  <a:lnTo>
                    <a:pt x="1795124" y="67805"/>
                  </a:lnTo>
                  <a:lnTo>
                    <a:pt x="1800224" y="93445"/>
                  </a:lnTo>
                  <a:lnTo>
                    <a:pt x="1800224" y="820953"/>
                  </a:lnTo>
                  <a:lnTo>
                    <a:pt x="1790097" y="858727"/>
                  </a:lnTo>
                  <a:lnTo>
                    <a:pt x="1766288" y="889750"/>
                  </a:lnTo>
                  <a:lnTo>
                    <a:pt x="1732417" y="909299"/>
                  </a:lnTo>
                  <a:lnTo>
                    <a:pt x="1713282" y="913759"/>
                  </a:lnTo>
                  <a:lnTo>
                    <a:pt x="1706779" y="914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3976686" y="8653460"/>
              <a:ext cx="1800225" cy="914400"/>
            </a:xfrm>
            <a:custGeom>
              <a:avLst/>
              <a:gdLst/>
              <a:ahLst/>
              <a:cxnLst/>
              <a:rect l="l" t="t" r="r" b="b"/>
              <a:pathLst>
                <a:path w="1800225" h="914400">
                  <a:moveTo>
                    <a:pt x="0" y="814387"/>
                  </a:moveTo>
                  <a:lnTo>
                    <a:pt x="0" y="100012"/>
                  </a:lnTo>
                  <a:lnTo>
                    <a:pt x="0" y="93445"/>
                  </a:lnTo>
                  <a:lnTo>
                    <a:pt x="640" y="86941"/>
                  </a:lnTo>
                  <a:lnTo>
                    <a:pt x="13206" y="49907"/>
                  </a:lnTo>
                  <a:lnTo>
                    <a:pt x="29292" y="29292"/>
                  </a:lnTo>
                  <a:lnTo>
                    <a:pt x="33936" y="24649"/>
                  </a:lnTo>
                  <a:lnTo>
                    <a:pt x="38987" y="20502"/>
                  </a:lnTo>
                  <a:lnTo>
                    <a:pt x="44448" y="16854"/>
                  </a:lnTo>
                  <a:lnTo>
                    <a:pt x="49908" y="13206"/>
                  </a:lnTo>
                  <a:lnTo>
                    <a:pt x="55671" y="10125"/>
                  </a:lnTo>
                  <a:lnTo>
                    <a:pt x="61738" y="7612"/>
                  </a:lnTo>
                  <a:lnTo>
                    <a:pt x="67805" y="5099"/>
                  </a:lnTo>
                  <a:lnTo>
                    <a:pt x="74060" y="3202"/>
                  </a:lnTo>
                  <a:lnTo>
                    <a:pt x="80500" y="1921"/>
                  </a:lnTo>
                  <a:lnTo>
                    <a:pt x="86941" y="640"/>
                  </a:lnTo>
                  <a:lnTo>
                    <a:pt x="93445" y="0"/>
                  </a:lnTo>
                  <a:lnTo>
                    <a:pt x="100012" y="0"/>
                  </a:lnTo>
                  <a:lnTo>
                    <a:pt x="1700212" y="0"/>
                  </a:lnTo>
                  <a:lnTo>
                    <a:pt x="1706779" y="0"/>
                  </a:lnTo>
                  <a:lnTo>
                    <a:pt x="1713282" y="640"/>
                  </a:lnTo>
                  <a:lnTo>
                    <a:pt x="1719723" y="1921"/>
                  </a:lnTo>
                  <a:lnTo>
                    <a:pt x="1726163" y="3202"/>
                  </a:lnTo>
                  <a:lnTo>
                    <a:pt x="1732417" y="5099"/>
                  </a:lnTo>
                  <a:lnTo>
                    <a:pt x="1738484" y="7612"/>
                  </a:lnTo>
                  <a:lnTo>
                    <a:pt x="1744551" y="10125"/>
                  </a:lnTo>
                  <a:lnTo>
                    <a:pt x="1750315" y="13206"/>
                  </a:lnTo>
                  <a:lnTo>
                    <a:pt x="1755776" y="16854"/>
                  </a:lnTo>
                  <a:lnTo>
                    <a:pt x="1761236" y="20502"/>
                  </a:lnTo>
                  <a:lnTo>
                    <a:pt x="1787017" y="49907"/>
                  </a:lnTo>
                  <a:lnTo>
                    <a:pt x="1798302" y="80499"/>
                  </a:lnTo>
                  <a:lnTo>
                    <a:pt x="1799583" y="86941"/>
                  </a:lnTo>
                  <a:lnTo>
                    <a:pt x="1800224" y="93445"/>
                  </a:lnTo>
                  <a:lnTo>
                    <a:pt x="1800225" y="100012"/>
                  </a:lnTo>
                  <a:lnTo>
                    <a:pt x="1800225" y="814387"/>
                  </a:lnTo>
                  <a:lnTo>
                    <a:pt x="1800224" y="820953"/>
                  </a:lnTo>
                  <a:lnTo>
                    <a:pt x="1799583" y="827457"/>
                  </a:lnTo>
                  <a:lnTo>
                    <a:pt x="1798302" y="833898"/>
                  </a:lnTo>
                  <a:lnTo>
                    <a:pt x="1797021" y="840338"/>
                  </a:lnTo>
                  <a:lnTo>
                    <a:pt x="1783369" y="869950"/>
                  </a:lnTo>
                  <a:lnTo>
                    <a:pt x="1779720" y="875411"/>
                  </a:lnTo>
                  <a:lnTo>
                    <a:pt x="1755776" y="897543"/>
                  </a:lnTo>
                  <a:lnTo>
                    <a:pt x="1750315" y="901192"/>
                  </a:lnTo>
                  <a:lnTo>
                    <a:pt x="1744551" y="904273"/>
                  </a:lnTo>
                  <a:lnTo>
                    <a:pt x="1738484" y="906786"/>
                  </a:lnTo>
                  <a:lnTo>
                    <a:pt x="1732417" y="909299"/>
                  </a:lnTo>
                  <a:lnTo>
                    <a:pt x="1726163" y="911196"/>
                  </a:lnTo>
                  <a:lnTo>
                    <a:pt x="1719723" y="912477"/>
                  </a:lnTo>
                  <a:lnTo>
                    <a:pt x="1713282" y="913759"/>
                  </a:lnTo>
                  <a:lnTo>
                    <a:pt x="1706779" y="914399"/>
                  </a:lnTo>
                  <a:lnTo>
                    <a:pt x="1700212" y="914399"/>
                  </a:lnTo>
                  <a:lnTo>
                    <a:pt x="100012" y="914399"/>
                  </a:lnTo>
                  <a:lnTo>
                    <a:pt x="93445" y="914399"/>
                  </a:lnTo>
                  <a:lnTo>
                    <a:pt x="86941" y="913759"/>
                  </a:lnTo>
                  <a:lnTo>
                    <a:pt x="80500" y="912477"/>
                  </a:lnTo>
                  <a:lnTo>
                    <a:pt x="74060" y="911196"/>
                  </a:lnTo>
                  <a:lnTo>
                    <a:pt x="67805" y="909299"/>
                  </a:lnTo>
                  <a:lnTo>
                    <a:pt x="61738" y="906786"/>
                  </a:lnTo>
                  <a:lnTo>
                    <a:pt x="55671" y="904273"/>
                  </a:lnTo>
                  <a:lnTo>
                    <a:pt x="49908" y="901192"/>
                  </a:lnTo>
                  <a:lnTo>
                    <a:pt x="44448" y="897543"/>
                  </a:lnTo>
                  <a:lnTo>
                    <a:pt x="38987" y="893895"/>
                  </a:lnTo>
                  <a:lnTo>
                    <a:pt x="33936" y="889750"/>
                  </a:lnTo>
                  <a:lnTo>
                    <a:pt x="29292" y="885106"/>
                  </a:lnTo>
                  <a:lnTo>
                    <a:pt x="24649" y="880463"/>
                  </a:lnTo>
                  <a:lnTo>
                    <a:pt x="20503" y="875411"/>
                  </a:lnTo>
                  <a:lnTo>
                    <a:pt x="16854" y="869950"/>
                  </a:lnTo>
                  <a:lnTo>
                    <a:pt x="13206" y="864490"/>
                  </a:lnTo>
                  <a:lnTo>
                    <a:pt x="640" y="827457"/>
                  </a:lnTo>
                  <a:lnTo>
                    <a:pt x="0" y="820953"/>
                  </a:lnTo>
                  <a:lnTo>
                    <a:pt x="0" y="814387"/>
                  </a:lnTo>
                </a:path>
              </a:pathLst>
            </a:custGeom>
            <a:ln w="28574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 descr=""/>
          <p:cNvSpPr txBox="1"/>
          <p:nvPr/>
        </p:nvSpPr>
        <p:spPr>
          <a:xfrm>
            <a:off x="3302892" y="8681669"/>
            <a:ext cx="3147695" cy="121539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144905">
              <a:lnSpc>
                <a:spcPct val="100000"/>
              </a:lnSpc>
              <a:spcBef>
                <a:spcPts val="1090"/>
              </a:spcBef>
            </a:pPr>
            <a:r>
              <a:rPr dirty="0" sz="1500" spc="-130" b="1">
                <a:solidFill>
                  <a:srgbClr val="3A6EA5"/>
                </a:solidFill>
                <a:latin typeface="Malgun Gothic"/>
                <a:cs typeface="Malgun Gothic"/>
              </a:rPr>
              <a:t>出力計算式</a:t>
            </a:r>
            <a:endParaRPr sz="1500">
              <a:latin typeface="Malgun Gothic"/>
              <a:cs typeface="Malgun Gothic"/>
            </a:endParaRPr>
          </a:p>
          <a:p>
            <a:pPr marL="833119">
              <a:lnSpc>
                <a:spcPts val="1055"/>
              </a:lnSpc>
              <a:spcBef>
                <a:spcPts val="800"/>
              </a:spcBef>
              <a:tabLst>
                <a:tab pos="1975485" algn="l"/>
              </a:tabLst>
            </a:pPr>
            <a:r>
              <a:rPr dirty="0" sz="1250" spc="-45">
                <a:solidFill>
                  <a:srgbClr val="3A6EA5"/>
                </a:solidFill>
                <a:latin typeface="Lucida Console"/>
                <a:cs typeface="Lucida Console"/>
              </a:rPr>
              <a:t>A(X</a:t>
            </a:r>
            <a:r>
              <a:rPr dirty="0" sz="1250" spc="-250">
                <a:solidFill>
                  <a:srgbClr val="3A6EA5"/>
                </a:solidFill>
                <a:latin typeface="Lucida Console"/>
                <a:cs typeface="Lucida Console"/>
              </a:rPr>
              <a:t> </a:t>
            </a:r>
            <a:r>
              <a:rPr dirty="0" baseline="26315" sz="1425" spc="-75">
                <a:solidFill>
                  <a:srgbClr val="3A6EA5"/>
                </a:solidFill>
                <a:latin typeface="Lucida Console"/>
                <a:cs typeface="Lucida Console"/>
              </a:rPr>
              <a:t>(i)</a:t>
            </a:r>
            <a:r>
              <a:rPr dirty="0" sz="1250" spc="-50">
                <a:solidFill>
                  <a:srgbClr val="3A6EA5"/>
                </a:solidFill>
                <a:latin typeface="Lucida Console"/>
                <a:cs typeface="Lucida Console"/>
              </a:rPr>
              <a:t>)</a:t>
            </a:r>
            <a:r>
              <a:rPr dirty="0" sz="1250" spc="-60">
                <a:solidFill>
                  <a:srgbClr val="3A6EA5"/>
                </a:solidFill>
                <a:latin typeface="Lucida Console"/>
                <a:cs typeface="Lucida Console"/>
              </a:rPr>
              <a:t> </a:t>
            </a:r>
            <a:r>
              <a:rPr dirty="0" sz="1150">
                <a:solidFill>
                  <a:srgbClr val="3A6EA5"/>
                </a:solidFill>
                <a:latin typeface="Courier New"/>
                <a:cs typeface="Courier New"/>
              </a:rPr>
              <a:t>=</a:t>
            </a:r>
            <a:r>
              <a:rPr dirty="0" sz="1150" spc="15">
                <a:solidFill>
                  <a:srgbClr val="3A6EA5"/>
                </a:solidFill>
                <a:latin typeface="Courier New"/>
                <a:cs typeface="Courier New"/>
              </a:rPr>
              <a:t> </a:t>
            </a:r>
            <a:r>
              <a:rPr dirty="0" sz="1250" spc="-50">
                <a:solidFill>
                  <a:srgbClr val="3A6EA5"/>
                </a:solidFill>
                <a:latin typeface="Lucida Console"/>
                <a:cs typeface="Lucida Console"/>
              </a:rPr>
              <a:t>D</a:t>
            </a:r>
            <a:r>
              <a:rPr dirty="0" sz="1250">
                <a:solidFill>
                  <a:srgbClr val="3A6EA5"/>
                </a:solidFill>
                <a:latin typeface="Lucida Console"/>
                <a:cs typeface="Lucida Console"/>
              </a:rPr>
              <a:t>	·</a:t>
            </a:r>
            <a:r>
              <a:rPr dirty="0" sz="1250" spc="-75">
                <a:solidFill>
                  <a:srgbClr val="3A6EA5"/>
                </a:solidFill>
                <a:latin typeface="Lucida Console"/>
                <a:cs typeface="Lucida Console"/>
              </a:rPr>
              <a:t> </a:t>
            </a:r>
            <a:r>
              <a:rPr dirty="0" sz="1250" spc="-50">
                <a:solidFill>
                  <a:srgbClr val="3A6EA5"/>
                </a:solidFill>
                <a:latin typeface="Lucida Console"/>
                <a:cs typeface="Lucida Console"/>
              </a:rPr>
              <a:t>V</a:t>
            </a:r>
            <a:endParaRPr sz="1250">
              <a:latin typeface="Lucida Console"/>
              <a:cs typeface="Lucida Console"/>
            </a:endParaRPr>
          </a:p>
          <a:p>
            <a:pPr marL="1107440">
              <a:lnSpc>
                <a:spcPts val="695"/>
              </a:lnSpc>
              <a:tabLst>
                <a:tab pos="1820545" algn="l"/>
                <a:tab pos="2249805" algn="l"/>
              </a:tabLst>
            </a:pPr>
            <a:r>
              <a:rPr dirty="0" sz="950" spc="-50">
                <a:solidFill>
                  <a:srgbClr val="3A6EA5"/>
                </a:solidFill>
                <a:latin typeface="Lucida Console"/>
                <a:cs typeface="Lucida Console"/>
              </a:rPr>
              <a:t>F</a:t>
            </a:r>
            <a:r>
              <a:rPr dirty="0" sz="950">
                <a:solidFill>
                  <a:srgbClr val="3A6EA5"/>
                </a:solidFill>
                <a:latin typeface="Lucida Console"/>
                <a:cs typeface="Lucida Console"/>
              </a:rPr>
              <a:t>	</a:t>
            </a:r>
            <a:r>
              <a:rPr dirty="0" sz="950" spc="-50">
                <a:solidFill>
                  <a:srgbClr val="3A6EA5"/>
                </a:solidFill>
                <a:latin typeface="Lucida Console"/>
                <a:cs typeface="Lucida Console"/>
              </a:rPr>
              <a:t>i</a:t>
            </a:r>
            <a:r>
              <a:rPr dirty="0" sz="950">
                <a:solidFill>
                  <a:srgbClr val="3A6EA5"/>
                </a:solidFill>
                <a:latin typeface="Lucida Console"/>
                <a:cs typeface="Lucida Console"/>
              </a:rPr>
              <a:t>	</a:t>
            </a:r>
            <a:r>
              <a:rPr dirty="0" sz="950" spc="-50">
                <a:solidFill>
                  <a:srgbClr val="3A6EA5"/>
                </a:solidFill>
                <a:latin typeface="Lucida Console"/>
                <a:cs typeface="Lucida Console"/>
              </a:rPr>
              <a:t>i</a:t>
            </a:r>
            <a:endParaRPr sz="95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8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8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800">
              <a:latin typeface="Lucida Console"/>
              <a:cs typeface="Lucida Console"/>
            </a:endParaRPr>
          </a:p>
          <a:p>
            <a:pPr marL="50800">
              <a:lnSpc>
                <a:spcPct val="100000"/>
              </a:lnSpc>
            </a:pPr>
            <a:r>
              <a:rPr dirty="0" sz="1000" spc="-100">
                <a:solidFill>
                  <a:srgbClr val="444444"/>
                </a:solidFill>
                <a:latin typeface="SimSun"/>
                <a:cs typeface="SimSun"/>
              </a:rPr>
              <a:t>重要な周波数成分（高い</a:t>
            </a:r>
            <a:r>
              <a:rPr dirty="0" sz="950" spc="-55">
                <a:solidFill>
                  <a:srgbClr val="444444"/>
                </a:solidFill>
                <a:latin typeface="Tahoma"/>
                <a:cs typeface="Tahoma"/>
              </a:rPr>
              <a:t>D</a:t>
            </a:r>
            <a:r>
              <a:rPr dirty="0" baseline="-19841" sz="1050" spc="-82">
                <a:solidFill>
                  <a:srgbClr val="444444"/>
                </a:solidFill>
                <a:latin typeface="Verdana"/>
                <a:cs typeface="Verdana"/>
              </a:rPr>
              <a:t>i</a:t>
            </a:r>
            <a:r>
              <a:rPr dirty="0" sz="1000" spc="-55">
                <a:solidFill>
                  <a:srgbClr val="444444"/>
                </a:solidFill>
                <a:latin typeface="SimSun"/>
                <a:cs typeface="SimSun"/>
              </a:rPr>
              <a:t>）</a:t>
            </a:r>
            <a:r>
              <a:rPr dirty="0" sz="1000" spc="-100">
                <a:solidFill>
                  <a:srgbClr val="444444"/>
                </a:solidFill>
                <a:latin typeface="SimSun"/>
                <a:cs typeface="SimSun"/>
              </a:rPr>
              <a:t>の情報</a:t>
            </a:r>
            <a:r>
              <a:rPr dirty="0" sz="1000" spc="-75">
                <a:solidFill>
                  <a:srgbClr val="444444"/>
                </a:solidFill>
                <a:latin typeface="SimSun"/>
                <a:cs typeface="SimSun"/>
              </a:rPr>
              <a:t>（</a:t>
            </a:r>
            <a:r>
              <a:rPr dirty="0" sz="950" spc="-75">
                <a:solidFill>
                  <a:srgbClr val="444444"/>
                </a:solidFill>
                <a:latin typeface="Tahoma"/>
                <a:cs typeface="Tahoma"/>
              </a:rPr>
              <a:t>V</a:t>
            </a:r>
            <a:r>
              <a:rPr dirty="0" baseline="-19841" sz="1050" spc="-112">
                <a:solidFill>
                  <a:srgbClr val="444444"/>
                </a:solidFill>
                <a:latin typeface="Verdana"/>
                <a:cs typeface="Verdana"/>
              </a:rPr>
              <a:t>i</a:t>
            </a:r>
            <a:r>
              <a:rPr dirty="0" sz="1000" spc="-75">
                <a:solidFill>
                  <a:srgbClr val="444444"/>
                </a:solidFill>
                <a:latin typeface="SimSun"/>
                <a:cs typeface="SimSun"/>
              </a:rPr>
              <a:t>）</a:t>
            </a:r>
            <a:r>
              <a:rPr dirty="0" sz="1000" spc="-145">
                <a:solidFill>
                  <a:srgbClr val="444444"/>
                </a:solidFill>
                <a:latin typeface="SimSun"/>
                <a:cs typeface="SimSun"/>
              </a:rPr>
              <a:t>が強く 反映される</a:t>
            </a:r>
            <a:endParaRPr sz="1000">
              <a:latin typeface="SimSun"/>
              <a:cs typeface="SimSun"/>
            </a:endParaRPr>
          </a:p>
        </p:txBody>
      </p:sp>
      <p:pic>
        <p:nvPicPr>
          <p:cNvPr id="91" name="object 9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0549" y="8067674"/>
            <a:ext cx="228600" cy="114298"/>
          </a:xfrm>
          <a:prstGeom prst="rect">
            <a:avLst/>
          </a:prstGeom>
        </p:spPr>
      </p:pic>
      <p:sp>
        <p:nvSpPr>
          <p:cNvPr id="92" name="object 92" descr=""/>
          <p:cNvSpPr txBox="1"/>
          <p:nvPr/>
        </p:nvSpPr>
        <p:spPr>
          <a:xfrm>
            <a:off x="658365" y="7974937"/>
            <a:ext cx="9334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 b="1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93" name="object 93" descr=""/>
          <p:cNvGrpSpPr/>
          <p:nvPr/>
        </p:nvGrpSpPr>
        <p:grpSpPr>
          <a:xfrm>
            <a:off x="380999" y="10344149"/>
            <a:ext cx="8991600" cy="2990850"/>
            <a:chOff x="380999" y="10344149"/>
            <a:chExt cx="8991600" cy="2990850"/>
          </a:xfrm>
        </p:grpSpPr>
        <p:sp>
          <p:nvSpPr>
            <p:cNvPr id="94" name="object 94" descr=""/>
            <p:cNvSpPr/>
            <p:nvPr/>
          </p:nvSpPr>
          <p:spPr>
            <a:xfrm>
              <a:off x="390524" y="10353675"/>
              <a:ext cx="8972550" cy="2971800"/>
            </a:xfrm>
            <a:custGeom>
              <a:avLst/>
              <a:gdLst/>
              <a:ahLst/>
              <a:cxnLst/>
              <a:rect l="l" t="t" r="r" b="b"/>
              <a:pathLst>
                <a:path w="8972550" h="2971800">
                  <a:moveTo>
                    <a:pt x="8874653" y="2971798"/>
                  </a:moveTo>
                  <a:lnTo>
                    <a:pt x="97895" y="2971798"/>
                  </a:lnTo>
                  <a:lnTo>
                    <a:pt x="91081" y="2971127"/>
                  </a:lnTo>
                  <a:lnTo>
                    <a:pt x="52285" y="2957961"/>
                  </a:lnTo>
                  <a:lnTo>
                    <a:pt x="21479" y="2930952"/>
                  </a:lnTo>
                  <a:lnTo>
                    <a:pt x="3355" y="2894210"/>
                  </a:lnTo>
                  <a:lnTo>
                    <a:pt x="0" y="2873902"/>
                  </a:lnTo>
                  <a:lnTo>
                    <a:pt x="0" y="2867023"/>
                  </a:lnTo>
                  <a:lnTo>
                    <a:pt x="0" y="97894"/>
                  </a:lnTo>
                  <a:lnTo>
                    <a:pt x="10608" y="58320"/>
                  </a:lnTo>
                  <a:lnTo>
                    <a:pt x="35552" y="25820"/>
                  </a:lnTo>
                  <a:lnTo>
                    <a:pt x="71035" y="5340"/>
                  </a:lnTo>
                  <a:lnTo>
                    <a:pt x="97895" y="0"/>
                  </a:lnTo>
                  <a:lnTo>
                    <a:pt x="8874653" y="0"/>
                  </a:lnTo>
                  <a:lnTo>
                    <a:pt x="8914224" y="10605"/>
                  </a:lnTo>
                  <a:lnTo>
                    <a:pt x="8946724" y="35549"/>
                  </a:lnTo>
                  <a:lnTo>
                    <a:pt x="8967205" y="71034"/>
                  </a:lnTo>
                  <a:lnTo>
                    <a:pt x="8972548" y="97894"/>
                  </a:lnTo>
                  <a:lnTo>
                    <a:pt x="8972548" y="2873902"/>
                  </a:lnTo>
                  <a:lnTo>
                    <a:pt x="8961939" y="2913474"/>
                  </a:lnTo>
                  <a:lnTo>
                    <a:pt x="8936996" y="2945974"/>
                  </a:lnTo>
                  <a:lnTo>
                    <a:pt x="8901512" y="2966454"/>
                  </a:lnTo>
                  <a:lnTo>
                    <a:pt x="8881467" y="2971126"/>
                  </a:lnTo>
                  <a:lnTo>
                    <a:pt x="8874653" y="2971798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390524" y="10353674"/>
              <a:ext cx="8972550" cy="2971800"/>
            </a:xfrm>
            <a:custGeom>
              <a:avLst/>
              <a:gdLst/>
              <a:ahLst/>
              <a:cxnLst/>
              <a:rect l="l" t="t" r="r" b="b"/>
              <a:pathLst>
                <a:path w="8972550" h="2971800">
                  <a:moveTo>
                    <a:pt x="0" y="2867024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2013" y="84333"/>
                  </a:lnTo>
                  <a:lnTo>
                    <a:pt x="3355" y="77585"/>
                  </a:lnTo>
                  <a:lnTo>
                    <a:pt x="5342" y="71035"/>
                  </a:lnTo>
                  <a:lnTo>
                    <a:pt x="7975" y="64678"/>
                  </a:lnTo>
                  <a:lnTo>
                    <a:pt x="10608" y="58322"/>
                  </a:lnTo>
                  <a:lnTo>
                    <a:pt x="13835" y="52282"/>
                  </a:lnTo>
                  <a:lnTo>
                    <a:pt x="17657" y="46563"/>
                  </a:lnTo>
                  <a:lnTo>
                    <a:pt x="21479" y="40842"/>
                  </a:lnTo>
                  <a:lnTo>
                    <a:pt x="25823" y="35550"/>
                  </a:lnTo>
                  <a:lnTo>
                    <a:pt x="30687" y="30686"/>
                  </a:lnTo>
                  <a:lnTo>
                    <a:pt x="35552" y="25821"/>
                  </a:lnTo>
                  <a:lnTo>
                    <a:pt x="64679" y="7973"/>
                  </a:lnTo>
                  <a:lnTo>
                    <a:pt x="71035" y="5341"/>
                  </a:lnTo>
                  <a:lnTo>
                    <a:pt x="104775" y="0"/>
                  </a:lnTo>
                  <a:lnTo>
                    <a:pt x="8867774" y="0"/>
                  </a:lnTo>
                  <a:lnTo>
                    <a:pt x="8907868" y="7973"/>
                  </a:lnTo>
                  <a:lnTo>
                    <a:pt x="8941860" y="30686"/>
                  </a:lnTo>
                  <a:lnTo>
                    <a:pt x="8946724" y="35550"/>
                  </a:lnTo>
                  <a:lnTo>
                    <a:pt x="8951068" y="40842"/>
                  </a:lnTo>
                  <a:lnTo>
                    <a:pt x="8954890" y="46563"/>
                  </a:lnTo>
                  <a:lnTo>
                    <a:pt x="8958712" y="52282"/>
                  </a:lnTo>
                  <a:lnTo>
                    <a:pt x="8971877" y="91081"/>
                  </a:lnTo>
                  <a:lnTo>
                    <a:pt x="8972549" y="104774"/>
                  </a:lnTo>
                  <a:lnTo>
                    <a:pt x="8972549" y="2867024"/>
                  </a:lnTo>
                  <a:lnTo>
                    <a:pt x="8972548" y="2873903"/>
                  </a:lnTo>
                  <a:lnTo>
                    <a:pt x="8971877" y="2880716"/>
                  </a:lnTo>
                  <a:lnTo>
                    <a:pt x="8970534" y="2887464"/>
                  </a:lnTo>
                  <a:lnTo>
                    <a:pt x="8969192" y="2894211"/>
                  </a:lnTo>
                  <a:lnTo>
                    <a:pt x="8951068" y="2930953"/>
                  </a:lnTo>
                  <a:lnTo>
                    <a:pt x="8920262" y="2957963"/>
                  </a:lnTo>
                  <a:lnTo>
                    <a:pt x="8907868" y="2963822"/>
                  </a:lnTo>
                  <a:lnTo>
                    <a:pt x="8901512" y="2966455"/>
                  </a:lnTo>
                  <a:lnTo>
                    <a:pt x="8894961" y="2968442"/>
                  </a:lnTo>
                  <a:lnTo>
                    <a:pt x="8888214" y="2969784"/>
                  </a:lnTo>
                  <a:lnTo>
                    <a:pt x="8881467" y="2971127"/>
                  </a:lnTo>
                  <a:lnTo>
                    <a:pt x="8874653" y="2971799"/>
                  </a:lnTo>
                  <a:lnTo>
                    <a:pt x="8867774" y="2971799"/>
                  </a:lnTo>
                  <a:lnTo>
                    <a:pt x="104775" y="2971799"/>
                  </a:lnTo>
                  <a:lnTo>
                    <a:pt x="97895" y="2971799"/>
                  </a:lnTo>
                  <a:lnTo>
                    <a:pt x="91081" y="2971128"/>
                  </a:lnTo>
                  <a:lnTo>
                    <a:pt x="84334" y="2969785"/>
                  </a:lnTo>
                  <a:lnTo>
                    <a:pt x="77586" y="2968442"/>
                  </a:lnTo>
                  <a:lnTo>
                    <a:pt x="71035" y="2966455"/>
                  </a:lnTo>
                  <a:lnTo>
                    <a:pt x="64679" y="2963822"/>
                  </a:lnTo>
                  <a:lnTo>
                    <a:pt x="58323" y="2961189"/>
                  </a:lnTo>
                  <a:lnTo>
                    <a:pt x="25823" y="2936246"/>
                  </a:lnTo>
                  <a:lnTo>
                    <a:pt x="5342" y="2900762"/>
                  </a:lnTo>
                  <a:lnTo>
                    <a:pt x="2013" y="2887464"/>
                  </a:lnTo>
                  <a:lnTo>
                    <a:pt x="671" y="2880716"/>
                  </a:lnTo>
                  <a:lnTo>
                    <a:pt x="0" y="2873903"/>
                  </a:lnTo>
                  <a:lnTo>
                    <a:pt x="0" y="2867024"/>
                  </a:lnTo>
                  <a:close/>
                </a:path>
              </a:pathLst>
            </a:custGeom>
            <a:ln w="19049">
              <a:solidFill>
                <a:srgbClr val="DEE2E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9624" y="10592857"/>
              <a:ext cx="190499" cy="148166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71499" y="10934698"/>
              <a:ext cx="8610598" cy="2066924"/>
            </a:xfrm>
            <a:prstGeom prst="rect">
              <a:avLst/>
            </a:prstGeom>
          </p:spPr>
        </p:pic>
      </p:grpSp>
      <p:sp>
        <p:nvSpPr>
          <p:cNvPr id="98" name="object 98" descr=""/>
          <p:cNvSpPr txBox="1"/>
          <p:nvPr/>
        </p:nvSpPr>
        <p:spPr>
          <a:xfrm>
            <a:off x="1028725" y="10519255"/>
            <a:ext cx="168528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70" b="1">
                <a:solidFill>
                  <a:srgbClr val="3A6EA5"/>
                </a:solidFill>
                <a:latin typeface="Arial"/>
                <a:cs typeface="Arial"/>
              </a:rPr>
              <a:t>Multi-</a:t>
            </a:r>
            <a:r>
              <a:rPr dirty="0" sz="1600" spc="-130" b="1">
                <a:solidFill>
                  <a:srgbClr val="3A6EA5"/>
                </a:solidFill>
                <a:latin typeface="Arial"/>
                <a:cs typeface="Arial"/>
              </a:rPr>
              <a:t>Head</a:t>
            </a:r>
            <a:r>
              <a:rPr dirty="0" sz="1600" spc="-70" b="1">
                <a:solidFill>
                  <a:srgbClr val="3A6EA5"/>
                </a:solidFill>
                <a:latin typeface="Arial"/>
                <a:cs typeface="Arial"/>
              </a:rPr>
              <a:t> </a:t>
            </a:r>
            <a:r>
              <a:rPr dirty="0" sz="1500" spc="-150" b="1">
                <a:solidFill>
                  <a:srgbClr val="3A6EA5"/>
                </a:solidFill>
                <a:latin typeface="Malgun Gothic"/>
                <a:cs typeface="Malgun Gothic"/>
              </a:rPr>
              <a:t>並列</a:t>
            </a:r>
            <a:r>
              <a:rPr dirty="0" sz="1500" spc="-150" b="1">
                <a:solidFill>
                  <a:srgbClr val="3A6EA5"/>
                </a:solidFill>
                <a:latin typeface="Microsoft JhengHei"/>
                <a:cs typeface="Microsoft JhengHei"/>
              </a:rPr>
              <a:t>処</a:t>
            </a:r>
            <a:r>
              <a:rPr dirty="0" sz="1500" spc="-70" b="1">
                <a:solidFill>
                  <a:srgbClr val="3A6EA5"/>
                </a:solidFill>
                <a:latin typeface="Malgun Gothic"/>
                <a:cs typeface="Malgun Gothic"/>
              </a:rPr>
              <a:t>理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4133205" y="11130787"/>
            <a:ext cx="163957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95" b="1">
                <a:solidFill>
                  <a:srgbClr val="7B1FA2"/>
                </a:solidFill>
                <a:latin typeface="Trebuchet MS"/>
                <a:cs typeface="Trebuchet MS"/>
              </a:rPr>
              <a:t>6</a:t>
            </a:r>
            <a:r>
              <a:rPr dirty="0" sz="1350" spc="-175" b="1">
                <a:solidFill>
                  <a:srgbClr val="7B1FA2"/>
                </a:solidFill>
                <a:latin typeface="Malgun Gothic"/>
                <a:cs typeface="Malgun Gothic"/>
              </a:rPr>
              <a:t>個のヘッドで並列</a:t>
            </a:r>
            <a:r>
              <a:rPr dirty="0" sz="1350" spc="-170" b="1">
                <a:solidFill>
                  <a:srgbClr val="7B1FA2"/>
                </a:solidFill>
                <a:latin typeface="Microsoft JhengHei"/>
                <a:cs typeface="Microsoft JhengHei"/>
              </a:rPr>
              <a:t>実</a:t>
            </a:r>
            <a:r>
              <a:rPr dirty="0" sz="1350" spc="-50" b="1">
                <a:solidFill>
                  <a:srgbClr val="7B1FA2"/>
                </a:solidFill>
                <a:latin typeface="Malgun Gothic"/>
                <a:cs typeface="Malgun Gothic"/>
              </a:rPr>
              <a:t>行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3579018" y="12217658"/>
            <a:ext cx="1726564" cy="45339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068705">
              <a:lnSpc>
                <a:spcPct val="100000"/>
              </a:lnSpc>
              <a:spcBef>
                <a:spcPts val="520"/>
              </a:spcBef>
            </a:pPr>
            <a:r>
              <a:rPr dirty="0" sz="1000" spc="-100" b="1">
                <a:solidFill>
                  <a:srgbClr val="7B1FA2"/>
                </a:solidFill>
                <a:latin typeface="Malgun Gothic"/>
                <a:cs typeface="Malgun Gothic"/>
              </a:rPr>
              <a:t>結合</a:t>
            </a:r>
            <a:r>
              <a:rPr dirty="0" sz="1000" spc="-100" b="1">
                <a:solidFill>
                  <a:srgbClr val="7B1FA2"/>
                </a:solidFill>
                <a:latin typeface="Microsoft JhengHei"/>
                <a:cs typeface="Microsoft JhengHei"/>
              </a:rPr>
              <a:t>処</a:t>
            </a:r>
            <a:r>
              <a:rPr dirty="0" sz="1000" spc="-50" b="1">
                <a:solidFill>
                  <a:srgbClr val="7B1FA2"/>
                </a:solidFill>
                <a:latin typeface="Malgun Gothic"/>
                <a:cs typeface="Malgun Gothic"/>
              </a:rPr>
              <a:t>理</a:t>
            </a:r>
            <a:endParaRPr sz="1000">
              <a:latin typeface="Malgun Gothic"/>
              <a:cs typeface="Malgun Gothic"/>
            </a:endParaRPr>
          </a:p>
          <a:p>
            <a:pPr marL="38100">
              <a:lnSpc>
                <a:spcPct val="100000"/>
              </a:lnSpc>
              <a:spcBef>
                <a:spcPts val="475"/>
              </a:spcBef>
            </a:pPr>
            <a:r>
              <a:rPr dirty="0" sz="1050" spc="-50">
                <a:solidFill>
                  <a:srgbClr val="7B1FA2"/>
                </a:solidFill>
                <a:latin typeface="Lucida Console"/>
                <a:cs typeface="Lucida Console"/>
              </a:rPr>
              <a:t>Concat</a:t>
            </a:r>
            <a:r>
              <a:rPr dirty="0" baseline="-18518" sz="1125" spc="-75">
                <a:solidFill>
                  <a:srgbClr val="7B1FA2"/>
                </a:solidFill>
                <a:latin typeface="Courier New"/>
                <a:cs typeface="Courier New"/>
              </a:rPr>
              <a:t>time</a:t>
            </a:r>
            <a:r>
              <a:rPr dirty="0" sz="1050" spc="-50">
                <a:solidFill>
                  <a:srgbClr val="7B1FA2"/>
                </a:solidFill>
                <a:latin typeface="Lucida Console"/>
                <a:cs typeface="Lucida Console"/>
              </a:rPr>
              <a:t>(Head</a:t>
            </a:r>
            <a:r>
              <a:rPr dirty="0" baseline="-18518" sz="1125" spc="-75">
                <a:solidFill>
                  <a:srgbClr val="7B1FA2"/>
                </a:solidFill>
                <a:latin typeface="Courier New"/>
                <a:cs typeface="Courier New"/>
              </a:rPr>
              <a:t>1</a:t>
            </a:r>
            <a:r>
              <a:rPr dirty="0" sz="1050" spc="-50">
                <a:solidFill>
                  <a:srgbClr val="7B1FA2"/>
                </a:solidFill>
                <a:latin typeface="Lucida Console"/>
                <a:cs typeface="Lucida Console"/>
              </a:rPr>
              <a:t>,</a:t>
            </a:r>
            <a:r>
              <a:rPr dirty="0" sz="1050" spc="-30">
                <a:solidFill>
                  <a:srgbClr val="7B1FA2"/>
                </a:solidFill>
                <a:latin typeface="Lucida Console"/>
                <a:cs typeface="Lucida Console"/>
              </a:rPr>
              <a:t> </a:t>
            </a:r>
            <a:r>
              <a:rPr dirty="0" sz="1050" spc="-10">
                <a:solidFill>
                  <a:srgbClr val="7B1FA2"/>
                </a:solidFill>
                <a:latin typeface="Lucida Console"/>
                <a:cs typeface="Lucida Console"/>
              </a:rPr>
              <a:t>Head</a:t>
            </a:r>
            <a:r>
              <a:rPr dirty="0" baseline="-18518" sz="1125" spc="-15">
                <a:solidFill>
                  <a:srgbClr val="7B1FA2"/>
                </a:solidFill>
                <a:latin typeface="Courier New"/>
                <a:cs typeface="Courier New"/>
              </a:rPr>
              <a:t>2</a:t>
            </a:r>
            <a:r>
              <a:rPr dirty="0" sz="1050" spc="-10">
                <a:solidFill>
                  <a:srgbClr val="7B1FA2"/>
                </a:solidFill>
                <a:latin typeface="Lucida Console"/>
                <a:cs typeface="Lucida Console"/>
              </a:rPr>
              <a:t>,</a:t>
            </a:r>
            <a:endParaRPr sz="1050">
              <a:latin typeface="Lucida Console"/>
              <a:cs typeface="Lucida Console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5451693" y="12479337"/>
            <a:ext cx="723265" cy="19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1050">
                <a:solidFill>
                  <a:srgbClr val="7B1FA2"/>
                </a:solidFill>
                <a:latin typeface="Lucida Console"/>
                <a:cs typeface="Lucida Console"/>
              </a:rPr>
              <a:t>.,</a:t>
            </a:r>
            <a:r>
              <a:rPr dirty="0" sz="1050" spc="-155">
                <a:solidFill>
                  <a:srgbClr val="7B1FA2"/>
                </a:solidFill>
                <a:latin typeface="Lucida Console"/>
                <a:cs typeface="Lucida Console"/>
              </a:rPr>
              <a:t> </a:t>
            </a:r>
            <a:r>
              <a:rPr dirty="0" sz="1050" spc="-10">
                <a:solidFill>
                  <a:srgbClr val="7B1FA2"/>
                </a:solidFill>
                <a:latin typeface="Lucida Console"/>
                <a:cs typeface="Lucida Console"/>
              </a:rPr>
              <a:t>Head</a:t>
            </a:r>
            <a:r>
              <a:rPr dirty="0" baseline="-18518" sz="1125" spc="-15">
                <a:solidFill>
                  <a:srgbClr val="7B1FA2"/>
                </a:solidFill>
                <a:latin typeface="Courier New"/>
                <a:cs typeface="Courier New"/>
              </a:rPr>
              <a:t>6</a:t>
            </a:r>
            <a:r>
              <a:rPr dirty="0" sz="1050" spc="-10">
                <a:solidFill>
                  <a:srgbClr val="7B1FA2"/>
                </a:solidFill>
                <a:latin typeface="Lucida Console"/>
                <a:cs typeface="Lucida Console"/>
              </a:rPr>
              <a:t>)</a:t>
            </a:r>
            <a:endParaRPr sz="1050">
              <a:latin typeface="Lucida Console"/>
              <a:cs typeface="Lucida Console"/>
            </a:endParaRPr>
          </a:p>
        </p:txBody>
      </p:sp>
      <p:pic>
        <p:nvPicPr>
          <p:cNvPr id="102" name="object 10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0549" y="10363199"/>
            <a:ext cx="228600" cy="114299"/>
          </a:xfrm>
          <a:prstGeom prst="rect">
            <a:avLst/>
          </a:prstGeom>
        </p:spPr>
      </p:pic>
      <p:sp>
        <p:nvSpPr>
          <p:cNvPr id="103" name="object 103" descr=""/>
          <p:cNvSpPr txBox="1"/>
          <p:nvPr/>
        </p:nvSpPr>
        <p:spPr>
          <a:xfrm>
            <a:off x="658365" y="10270463"/>
            <a:ext cx="9334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 b="1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1255916" y="11565480"/>
            <a:ext cx="33655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65" b="1">
                <a:solidFill>
                  <a:srgbClr val="7B1FA2"/>
                </a:solidFill>
                <a:latin typeface="Arial"/>
                <a:cs typeface="Arial"/>
              </a:rPr>
              <a:t>Head</a:t>
            </a:r>
            <a:r>
              <a:rPr dirty="0" sz="850" spc="-40" b="1">
                <a:solidFill>
                  <a:srgbClr val="7B1FA2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7B1FA2"/>
                </a:solidFill>
                <a:latin typeface="Arial"/>
                <a:cs typeface="Arial"/>
              </a:rPr>
              <a:t>1</a:t>
            </a:r>
            <a:endParaRPr sz="850">
              <a:latin typeface="Arial"/>
              <a:cs typeface="Arial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2632050" y="11563356"/>
            <a:ext cx="346075" cy="158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-50" b="1">
                <a:solidFill>
                  <a:srgbClr val="7B1FA2"/>
                </a:solidFill>
                <a:latin typeface="Arial"/>
                <a:cs typeface="Arial"/>
              </a:rPr>
              <a:t>Head</a:t>
            </a:r>
            <a:r>
              <a:rPr dirty="0" sz="850" spc="-40" b="1">
                <a:solidFill>
                  <a:srgbClr val="7B1FA2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7B1FA2"/>
                </a:solidFill>
                <a:latin typeface="Arial"/>
                <a:cs typeface="Arial"/>
              </a:rPr>
              <a:t>2</a:t>
            </a:r>
            <a:endParaRPr sz="850">
              <a:latin typeface="Arial"/>
              <a:cs typeface="Arial"/>
            </a:endParaRPr>
          </a:p>
        </p:txBody>
      </p:sp>
      <p:sp>
        <p:nvSpPr>
          <p:cNvPr id="106" name="object 106" descr=""/>
          <p:cNvSpPr txBox="1"/>
          <p:nvPr/>
        </p:nvSpPr>
        <p:spPr>
          <a:xfrm>
            <a:off x="3632055" y="11563446"/>
            <a:ext cx="2618105" cy="5035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93700">
              <a:lnSpc>
                <a:spcPct val="100000"/>
              </a:lnSpc>
              <a:spcBef>
                <a:spcPts val="120"/>
              </a:spcBef>
              <a:tabLst>
                <a:tab pos="1777364" algn="l"/>
              </a:tabLst>
            </a:pPr>
            <a:r>
              <a:rPr dirty="0" sz="850" spc="-55" b="1">
                <a:solidFill>
                  <a:srgbClr val="7B1FA2"/>
                </a:solidFill>
                <a:latin typeface="Arial"/>
                <a:cs typeface="Arial"/>
              </a:rPr>
              <a:t>Head</a:t>
            </a:r>
            <a:r>
              <a:rPr dirty="0" sz="850" spc="-35" b="1">
                <a:solidFill>
                  <a:srgbClr val="7B1FA2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7B1FA2"/>
                </a:solidFill>
                <a:latin typeface="Arial"/>
                <a:cs typeface="Arial"/>
              </a:rPr>
              <a:t>3</a:t>
            </a:r>
            <a:r>
              <a:rPr dirty="0" sz="850" b="1">
                <a:solidFill>
                  <a:srgbClr val="7B1FA2"/>
                </a:solidFill>
                <a:latin typeface="Arial"/>
                <a:cs typeface="Arial"/>
              </a:rPr>
              <a:t>	</a:t>
            </a:r>
            <a:r>
              <a:rPr dirty="0" sz="850" spc="-60" b="1">
                <a:solidFill>
                  <a:srgbClr val="7B1FA2"/>
                </a:solidFill>
                <a:latin typeface="Arial"/>
                <a:cs typeface="Arial"/>
              </a:rPr>
              <a:t>Head</a:t>
            </a:r>
            <a:r>
              <a:rPr dirty="0" sz="850" spc="-35" b="1">
                <a:solidFill>
                  <a:srgbClr val="7B1FA2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7B1FA2"/>
                </a:solidFill>
                <a:latin typeface="Arial"/>
                <a:cs typeface="Arial"/>
              </a:rPr>
              <a:t>4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7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dirty="0" sz="900" spc="-90">
                <a:solidFill>
                  <a:srgbClr val="7B1FA2"/>
                </a:solidFill>
                <a:latin typeface="SimSun"/>
                <a:cs typeface="SimSun"/>
              </a:rPr>
              <a:t>各ヘッドは独立した</a:t>
            </a:r>
            <a:r>
              <a:rPr dirty="0" sz="900" spc="-70">
                <a:solidFill>
                  <a:srgbClr val="7B1FA2"/>
                </a:solidFill>
                <a:latin typeface="Microsoft Sans Serif"/>
                <a:cs typeface="Microsoft Sans Serif"/>
              </a:rPr>
              <a:t>W</a:t>
            </a:r>
            <a:r>
              <a:rPr dirty="0" baseline="-23148" sz="900" spc="-104">
                <a:solidFill>
                  <a:srgbClr val="7B1FA2"/>
                </a:solidFill>
                <a:latin typeface="Arial MT"/>
                <a:cs typeface="Arial MT"/>
              </a:rPr>
              <a:t>Q</a:t>
            </a:r>
            <a:r>
              <a:rPr dirty="0" sz="900" spc="-10">
                <a:solidFill>
                  <a:srgbClr val="7B1FA2"/>
                </a:solidFill>
                <a:latin typeface="Microsoft Sans Serif"/>
                <a:cs typeface="Microsoft Sans Serif"/>
              </a:rPr>
              <a:t>, </a:t>
            </a:r>
            <a:r>
              <a:rPr dirty="0" sz="900" spc="-65">
                <a:solidFill>
                  <a:srgbClr val="7B1FA2"/>
                </a:solidFill>
                <a:latin typeface="Microsoft Sans Serif"/>
                <a:cs typeface="Microsoft Sans Serif"/>
              </a:rPr>
              <a:t>W</a:t>
            </a:r>
            <a:r>
              <a:rPr dirty="0" baseline="-23148" sz="900" spc="-97">
                <a:solidFill>
                  <a:srgbClr val="7B1FA2"/>
                </a:solidFill>
                <a:latin typeface="Arial MT"/>
                <a:cs typeface="Arial MT"/>
              </a:rPr>
              <a:t>K</a:t>
            </a:r>
            <a:r>
              <a:rPr dirty="0" sz="900" spc="-5">
                <a:solidFill>
                  <a:srgbClr val="7B1FA2"/>
                </a:solidFill>
                <a:latin typeface="Microsoft Sans Serif"/>
                <a:cs typeface="Microsoft Sans Serif"/>
              </a:rPr>
              <a:t>, </a:t>
            </a:r>
            <a:r>
              <a:rPr dirty="0" sz="900" spc="-110">
                <a:solidFill>
                  <a:srgbClr val="7B1FA2"/>
                </a:solidFill>
                <a:latin typeface="Microsoft Sans Serif"/>
                <a:cs typeface="Microsoft Sans Serif"/>
              </a:rPr>
              <a:t>W</a:t>
            </a:r>
            <a:r>
              <a:rPr dirty="0" baseline="-23148" sz="900" spc="-165">
                <a:solidFill>
                  <a:srgbClr val="7B1FA2"/>
                </a:solidFill>
                <a:latin typeface="Arial MT"/>
                <a:cs typeface="Arial MT"/>
              </a:rPr>
              <a:t>V</a:t>
            </a:r>
            <a:r>
              <a:rPr dirty="0" sz="900" spc="-90">
                <a:solidFill>
                  <a:srgbClr val="7B1FA2"/>
                </a:solidFill>
                <a:latin typeface="SimSun"/>
                <a:cs typeface="SimSun"/>
              </a:rPr>
              <a:t>で異なる関連性を学習</a:t>
            </a:r>
            <a:endParaRPr sz="900">
              <a:latin typeface="SimSun"/>
              <a:cs typeface="SimSun"/>
            </a:endParaRPr>
          </a:p>
        </p:txBody>
      </p:sp>
      <p:sp>
        <p:nvSpPr>
          <p:cNvPr id="107" name="object 107" descr=""/>
          <p:cNvSpPr txBox="1"/>
          <p:nvPr/>
        </p:nvSpPr>
        <p:spPr>
          <a:xfrm>
            <a:off x="6783006" y="11566583"/>
            <a:ext cx="330835" cy="152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00" spc="-40" b="1">
                <a:solidFill>
                  <a:srgbClr val="7B1FA2"/>
                </a:solidFill>
                <a:latin typeface="Arial"/>
                <a:cs typeface="Arial"/>
              </a:rPr>
              <a:t>Head </a:t>
            </a:r>
            <a:r>
              <a:rPr dirty="0" sz="800" spc="-50" b="1">
                <a:solidFill>
                  <a:srgbClr val="7B1FA2"/>
                </a:solidFill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108" name="object 108" descr=""/>
          <p:cNvSpPr txBox="1"/>
          <p:nvPr/>
        </p:nvSpPr>
        <p:spPr>
          <a:xfrm>
            <a:off x="8163918" y="11566493"/>
            <a:ext cx="33147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40" b="1">
                <a:solidFill>
                  <a:srgbClr val="7B1FA2"/>
                </a:solidFill>
                <a:latin typeface="Arial"/>
                <a:cs typeface="Arial"/>
              </a:rPr>
              <a:t>Head </a:t>
            </a:r>
            <a:r>
              <a:rPr dirty="0" sz="800" spc="-50" b="1">
                <a:solidFill>
                  <a:srgbClr val="7B1FA2"/>
                </a:solidFill>
                <a:latin typeface="Arial"/>
                <a:cs typeface="Arial"/>
              </a:rPr>
              <a:t>6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09" name="object 109" descr=""/>
          <p:cNvGrpSpPr/>
          <p:nvPr/>
        </p:nvGrpSpPr>
        <p:grpSpPr>
          <a:xfrm>
            <a:off x="380999" y="13477873"/>
            <a:ext cx="8991600" cy="2133600"/>
            <a:chOff x="380999" y="13477873"/>
            <a:chExt cx="8991600" cy="2133600"/>
          </a:xfrm>
        </p:grpSpPr>
        <p:sp>
          <p:nvSpPr>
            <p:cNvPr id="110" name="object 110" descr=""/>
            <p:cNvSpPr/>
            <p:nvPr/>
          </p:nvSpPr>
          <p:spPr>
            <a:xfrm>
              <a:off x="390524" y="13487398"/>
              <a:ext cx="8972550" cy="2114550"/>
            </a:xfrm>
            <a:custGeom>
              <a:avLst/>
              <a:gdLst/>
              <a:ahLst/>
              <a:cxnLst/>
              <a:rect l="l" t="t" r="r" b="b"/>
              <a:pathLst>
                <a:path w="8972550" h="2114550">
                  <a:moveTo>
                    <a:pt x="8874653" y="2114548"/>
                  </a:moveTo>
                  <a:lnTo>
                    <a:pt x="97895" y="2114548"/>
                  </a:lnTo>
                  <a:lnTo>
                    <a:pt x="91081" y="2113877"/>
                  </a:lnTo>
                  <a:lnTo>
                    <a:pt x="52285" y="2100711"/>
                  </a:lnTo>
                  <a:lnTo>
                    <a:pt x="21479" y="2073701"/>
                  </a:lnTo>
                  <a:lnTo>
                    <a:pt x="3355" y="2036960"/>
                  </a:lnTo>
                  <a:lnTo>
                    <a:pt x="0" y="2016653"/>
                  </a:lnTo>
                  <a:lnTo>
                    <a:pt x="0" y="2009774"/>
                  </a:lnTo>
                  <a:lnTo>
                    <a:pt x="0" y="97895"/>
                  </a:lnTo>
                  <a:lnTo>
                    <a:pt x="10608" y="58320"/>
                  </a:lnTo>
                  <a:lnTo>
                    <a:pt x="35552" y="25820"/>
                  </a:lnTo>
                  <a:lnTo>
                    <a:pt x="71035" y="5341"/>
                  </a:lnTo>
                  <a:lnTo>
                    <a:pt x="97895" y="0"/>
                  </a:lnTo>
                  <a:lnTo>
                    <a:pt x="8874653" y="0"/>
                  </a:lnTo>
                  <a:lnTo>
                    <a:pt x="8914224" y="10606"/>
                  </a:lnTo>
                  <a:lnTo>
                    <a:pt x="8946724" y="35551"/>
                  </a:lnTo>
                  <a:lnTo>
                    <a:pt x="8967205" y="71032"/>
                  </a:lnTo>
                  <a:lnTo>
                    <a:pt x="8972548" y="97895"/>
                  </a:lnTo>
                  <a:lnTo>
                    <a:pt x="8972548" y="2016653"/>
                  </a:lnTo>
                  <a:lnTo>
                    <a:pt x="8961939" y="2056221"/>
                  </a:lnTo>
                  <a:lnTo>
                    <a:pt x="8936996" y="2088723"/>
                  </a:lnTo>
                  <a:lnTo>
                    <a:pt x="8901512" y="2109204"/>
                  </a:lnTo>
                  <a:lnTo>
                    <a:pt x="8881467" y="2113877"/>
                  </a:lnTo>
                  <a:lnTo>
                    <a:pt x="8874653" y="2114548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390524" y="13487398"/>
              <a:ext cx="8972550" cy="2114550"/>
            </a:xfrm>
            <a:custGeom>
              <a:avLst/>
              <a:gdLst/>
              <a:ahLst/>
              <a:cxnLst/>
              <a:rect l="l" t="t" r="r" b="b"/>
              <a:pathLst>
                <a:path w="8972550" h="2114550">
                  <a:moveTo>
                    <a:pt x="0" y="2009774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0"/>
                  </a:lnTo>
                  <a:lnTo>
                    <a:pt x="2013" y="84333"/>
                  </a:lnTo>
                  <a:lnTo>
                    <a:pt x="3355" y="77584"/>
                  </a:lnTo>
                  <a:lnTo>
                    <a:pt x="5342" y="71032"/>
                  </a:lnTo>
                  <a:lnTo>
                    <a:pt x="7975" y="64677"/>
                  </a:lnTo>
                  <a:lnTo>
                    <a:pt x="10608" y="58320"/>
                  </a:lnTo>
                  <a:lnTo>
                    <a:pt x="13835" y="52282"/>
                  </a:lnTo>
                  <a:lnTo>
                    <a:pt x="17657" y="46563"/>
                  </a:lnTo>
                  <a:lnTo>
                    <a:pt x="21479" y="40844"/>
                  </a:lnTo>
                  <a:lnTo>
                    <a:pt x="25823" y="35551"/>
                  </a:lnTo>
                  <a:lnTo>
                    <a:pt x="30687" y="30686"/>
                  </a:lnTo>
                  <a:lnTo>
                    <a:pt x="35552" y="25820"/>
                  </a:lnTo>
                  <a:lnTo>
                    <a:pt x="40844" y="21476"/>
                  </a:lnTo>
                  <a:lnTo>
                    <a:pt x="46565" y="17654"/>
                  </a:lnTo>
                  <a:lnTo>
                    <a:pt x="52285" y="13832"/>
                  </a:lnTo>
                  <a:lnTo>
                    <a:pt x="58323" y="10606"/>
                  </a:lnTo>
                  <a:lnTo>
                    <a:pt x="64679" y="7973"/>
                  </a:lnTo>
                  <a:lnTo>
                    <a:pt x="71035" y="5341"/>
                  </a:lnTo>
                  <a:lnTo>
                    <a:pt x="77586" y="3354"/>
                  </a:lnTo>
                  <a:lnTo>
                    <a:pt x="84334" y="2012"/>
                  </a:lnTo>
                  <a:lnTo>
                    <a:pt x="91081" y="670"/>
                  </a:lnTo>
                  <a:lnTo>
                    <a:pt x="97895" y="0"/>
                  </a:lnTo>
                  <a:lnTo>
                    <a:pt x="104775" y="0"/>
                  </a:lnTo>
                  <a:lnTo>
                    <a:pt x="8867774" y="0"/>
                  </a:lnTo>
                  <a:lnTo>
                    <a:pt x="8874653" y="0"/>
                  </a:lnTo>
                  <a:lnTo>
                    <a:pt x="8881467" y="670"/>
                  </a:lnTo>
                  <a:lnTo>
                    <a:pt x="8888214" y="2012"/>
                  </a:lnTo>
                  <a:lnTo>
                    <a:pt x="8894961" y="3354"/>
                  </a:lnTo>
                  <a:lnTo>
                    <a:pt x="8901512" y="5341"/>
                  </a:lnTo>
                  <a:lnTo>
                    <a:pt x="8907868" y="7973"/>
                  </a:lnTo>
                  <a:lnTo>
                    <a:pt x="8914224" y="10606"/>
                  </a:lnTo>
                  <a:lnTo>
                    <a:pt x="8920262" y="13834"/>
                  </a:lnTo>
                  <a:lnTo>
                    <a:pt x="8925983" y="17655"/>
                  </a:lnTo>
                  <a:lnTo>
                    <a:pt x="8931703" y="21477"/>
                  </a:lnTo>
                  <a:lnTo>
                    <a:pt x="8936996" y="25820"/>
                  </a:lnTo>
                  <a:lnTo>
                    <a:pt x="8941860" y="30686"/>
                  </a:lnTo>
                  <a:lnTo>
                    <a:pt x="8946724" y="35551"/>
                  </a:lnTo>
                  <a:lnTo>
                    <a:pt x="8964572" y="64677"/>
                  </a:lnTo>
                  <a:lnTo>
                    <a:pt x="8967205" y="71032"/>
                  </a:lnTo>
                  <a:lnTo>
                    <a:pt x="8969192" y="77584"/>
                  </a:lnTo>
                  <a:lnTo>
                    <a:pt x="8970534" y="84333"/>
                  </a:lnTo>
                  <a:lnTo>
                    <a:pt x="8971877" y="91080"/>
                  </a:lnTo>
                  <a:lnTo>
                    <a:pt x="8972548" y="97895"/>
                  </a:lnTo>
                  <a:lnTo>
                    <a:pt x="8972549" y="104774"/>
                  </a:lnTo>
                  <a:lnTo>
                    <a:pt x="8972549" y="2009774"/>
                  </a:lnTo>
                  <a:lnTo>
                    <a:pt x="8972548" y="2016653"/>
                  </a:lnTo>
                  <a:lnTo>
                    <a:pt x="8971877" y="2023465"/>
                  </a:lnTo>
                  <a:lnTo>
                    <a:pt x="8970534" y="2030211"/>
                  </a:lnTo>
                  <a:lnTo>
                    <a:pt x="8969192" y="2036960"/>
                  </a:lnTo>
                  <a:lnTo>
                    <a:pt x="8951068" y="2073701"/>
                  </a:lnTo>
                  <a:lnTo>
                    <a:pt x="8925983" y="2096888"/>
                  </a:lnTo>
                  <a:lnTo>
                    <a:pt x="8920262" y="2100711"/>
                  </a:lnTo>
                  <a:lnTo>
                    <a:pt x="8914224" y="2103938"/>
                  </a:lnTo>
                  <a:lnTo>
                    <a:pt x="8907868" y="2106571"/>
                  </a:lnTo>
                  <a:lnTo>
                    <a:pt x="8901512" y="2109204"/>
                  </a:lnTo>
                  <a:lnTo>
                    <a:pt x="8867774" y="2114549"/>
                  </a:lnTo>
                  <a:lnTo>
                    <a:pt x="104775" y="2114549"/>
                  </a:lnTo>
                  <a:lnTo>
                    <a:pt x="97895" y="2114548"/>
                  </a:lnTo>
                  <a:lnTo>
                    <a:pt x="91081" y="2113877"/>
                  </a:lnTo>
                  <a:lnTo>
                    <a:pt x="84334" y="2112534"/>
                  </a:lnTo>
                  <a:lnTo>
                    <a:pt x="77586" y="2111191"/>
                  </a:lnTo>
                  <a:lnTo>
                    <a:pt x="71035" y="2109204"/>
                  </a:lnTo>
                  <a:lnTo>
                    <a:pt x="64679" y="2106571"/>
                  </a:lnTo>
                  <a:lnTo>
                    <a:pt x="58323" y="2103938"/>
                  </a:lnTo>
                  <a:lnTo>
                    <a:pt x="52285" y="2100711"/>
                  </a:lnTo>
                  <a:lnTo>
                    <a:pt x="46565" y="2096888"/>
                  </a:lnTo>
                  <a:lnTo>
                    <a:pt x="40844" y="2093066"/>
                  </a:lnTo>
                  <a:lnTo>
                    <a:pt x="13835" y="2062259"/>
                  </a:lnTo>
                  <a:lnTo>
                    <a:pt x="2013" y="2030213"/>
                  </a:lnTo>
                  <a:lnTo>
                    <a:pt x="671" y="2023465"/>
                  </a:lnTo>
                  <a:lnTo>
                    <a:pt x="0" y="2016653"/>
                  </a:lnTo>
                  <a:lnTo>
                    <a:pt x="0" y="2009774"/>
                  </a:lnTo>
                  <a:close/>
                </a:path>
              </a:pathLst>
            </a:custGeom>
            <a:ln w="19049">
              <a:solidFill>
                <a:srgbClr val="DEE2E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71499" y="14068423"/>
              <a:ext cx="8610599" cy="1209674"/>
            </a:xfrm>
            <a:prstGeom prst="rect">
              <a:avLst/>
            </a:prstGeom>
          </p:spPr>
        </p:pic>
        <p:sp>
          <p:nvSpPr>
            <p:cNvPr id="113" name="object 113" descr=""/>
            <p:cNvSpPr/>
            <p:nvPr/>
          </p:nvSpPr>
          <p:spPr>
            <a:xfrm>
              <a:off x="571487" y="14068423"/>
              <a:ext cx="8610600" cy="1209675"/>
            </a:xfrm>
            <a:custGeom>
              <a:avLst/>
              <a:gdLst/>
              <a:ahLst/>
              <a:cxnLst/>
              <a:rect l="l" t="t" r="r" b="b"/>
              <a:pathLst>
                <a:path w="8610600" h="1209675">
                  <a:moveTo>
                    <a:pt x="19050" y="1047953"/>
                  </a:moveTo>
                  <a:lnTo>
                    <a:pt x="0" y="1047953"/>
                  </a:lnTo>
                  <a:lnTo>
                    <a:pt x="0" y="1105103"/>
                  </a:lnTo>
                  <a:lnTo>
                    <a:pt x="19050" y="1105103"/>
                  </a:lnTo>
                  <a:lnTo>
                    <a:pt x="19050" y="1047953"/>
                  </a:lnTo>
                  <a:close/>
                </a:path>
                <a:path w="8610600" h="1209675">
                  <a:moveTo>
                    <a:pt x="19050" y="952792"/>
                  </a:moveTo>
                  <a:lnTo>
                    <a:pt x="0" y="952792"/>
                  </a:lnTo>
                  <a:lnTo>
                    <a:pt x="0" y="1009942"/>
                  </a:lnTo>
                  <a:lnTo>
                    <a:pt x="19050" y="1009942"/>
                  </a:lnTo>
                  <a:lnTo>
                    <a:pt x="19050" y="952792"/>
                  </a:lnTo>
                  <a:close/>
                </a:path>
                <a:path w="8610600" h="1209675">
                  <a:moveTo>
                    <a:pt x="19050" y="857643"/>
                  </a:moveTo>
                  <a:lnTo>
                    <a:pt x="0" y="857643"/>
                  </a:lnTo>
                  <a:lnTo>
                    <a:pt x="0" y="914793"/>
                  </a:lnTo>
                  <a:lnTo>
                    <a:pt x="19050" y="914793"/>
                  </a:lnTo>
                  <a:lnTo>
                    <a:pt x="19050" y="857643"/>
                  </a:lnTo>
                  <a:close/>
                </a:path>
                <a:path w="8610600" h="1209675">
                  <a:moveTo>
                    <a:pt x="19050" y="762482"/>
                  </a:moveTo>
                  <a:lnTo>
                    <a:pt x="0" y="762482"/>
                  </a:lnTo>
                  <a:lnTo>
                    <a:pt x="0" y="819632"/>
                  </a:lnTo>
                  <a:lnTo>
                    <a:pt x="19050" y="819632"/>
                  </a:lnTo>
                  <a:lnTo>
                    <a:pt x="19050" y="762482"/>
                  </a:lnTo>
                  <a:close/>
                </a:path>
                <a:path w="8610600" h="1209675">
                  <a:moveTo>
                    <a:pt x="19050" y="667321"/>
                  </a:moveTo>
                  <a:lnTo>
                    <a:pt x="0" y="667321"/>
                  </a:lnTo>
                  <a:lnTo>
                    <a:pt x="0" y="724471"/>
                  </a:lnTo>
                  <a:lnTo>
                    <a:pt x="19050" y="724471"/>
                  </a:lnTo>
                  <a:lnTo>
                    <a:pt x="19050" y="667321"/>
                  </a:lnTo>
                  <a:close/>
                </a:path>
                <a:path w="8610600" h="1209675">
                  <a:moveTo>
                    <a:pt x="19050" y="572173"/>
                  </a:moveTo>
                  <a:lnTo>
                    <a:pt x="0" y="572173"/>
                  </a:lnTo>
                  <a:lnTo>
                    <a:pt x="0" y="629323"/>
                  </a:lnTo>
                  <a:lnTo>
                    <a:pt x="19050" y="629323"/>
                  </a:lnTo>
                  <a:lnTo>
                    <a:pt x="19050" y="572173"/>
                  </a:lnTo>
                  <a:close/>
                </a:path>
                <a:path w="8610600" h="1209675">
                  <a:moveTo>
                    <a:pt x="19050" y="477012"/>
                  </a:moveTo>
                  <a:lnTo>
                    <a:pt x="0" y="477012"/>
                  </a:lnTo>
                  <a:lnTo>
                    <a:pt x="0" y="534162"/>
                  </a:lnTo>
                  <a:lnTo>
                    <a:pt x="19050" y="534162"/>
                  </a:lnTo>
                  <a:lnTo>
                    <a:pt x="19050" y="477012"/>
                  </a:lnTo>
                  <a:close/>
                </a:path>
                <a:path w="8610600" h="1209675">
                  <a:moveTo>
                    <a:pt x="19050" y="381850"/>
                  </a:moveTo>
                  <a:lnTo>
                    <a:pt x="0" y="381850"/>
                  </a:lnTo>
                  <a:lnTo>
                    <a:pt x="0" y="439000"/>
                  </a:lnTo>
                  <a:lnTo>
                    <a:pt x="19050" y="439000"/>
                  </a:lnTo>
                  <a:lnTo>
                    <a:pt x="19050" y="381850"/>
                  </a:lnTo>
                  <a:close/>
                </a:path>
                <a:path w="8610600" h="1209675">
                  <a:moveTo>
                    <a:pt x="19050" y="286702"/>
                  </a:moveTo>
                  <a:lnTo>
                    <a:pt x="0" y="286702"/>
                  </a:lnTo>
                  <a:lnTo>
                    <a:pt x="0" y="343852"/>
                  </a:lnTo>
                  <a:lnTo>
                    <a:pt x="19050" y="343852"/>
                  </a:lnTo>
                  <a:lnTo>
                    <a:pt x="19050" y="286702"/>
                  </a:lnTo>
                  <a:close/>
                </a:path>
                <a:path w="8610600" h="1209675">
                  <a:moveTo>
                    <a:pt x="19050" y="191541"/>
                  </a:moveTo>
                  <a:lnTo>
                    <a:pt x="0" y="191541"/>
                  </a:lnTo>
                  <a:lnTo>
                    <a:pt x="0" y="248691"/>
                  </a:lnTo>
                  <a:lnTo>
                    <a:pt x="19050" y="248691"/>
                  </a:lnTo>
                  <a:lnTo>
                    <a:pt x="19050" y="191541"/>
                  </a:lnTo>
                  <a:close/>
                </a:path>
                <a:path w="8610600" h="1209675">
                  <a:moveTo>
                    <a:pt x="19050" y="96380"/>
                  </a:moveTo>
                  <a:lnTo>
                    <a:pt x="0" y="96380"/>
                  </a:lnTo>
                  <a:lnTo>
                    <a:pt x="0" y="153530"/>
                  </a:lnTo>
                  <a:lnTo>
                    <a:pt x="19050" y="153530"/>
                  </a:lnTo>
                  <a:lnTo>
                    <a:pt x="19050" y="96380"/>
                  </a:lnTo>
                  <a:close/>
                </a:path>
                <a:path w="8610600" h="1209675">
                  <a:moveTo>
                    <a:pt x="54762" y="1178902"/>
                  </a:moveTo>
                  <a:lnTo>
                    <a:pt x="28067" y="1150391"/>
                  </a:lnTo>
                  <a:lnTo>
                    <a:pt x="23368" y="1139418"/>
                  </a:lnTo>
                  <a:lnTo>
                    <a:pt x="5384" y="1145667"/>
                  </a:lnTo>
                  <a:lnTo>
                    <a:pt x="27901" y="1181785"/>
                  </a:lnTo>
                  <a:lnTo>
                    <a:pt x="44640" y="1195019"/>
                  </a:lnTo>
                  <a:lnTo>
                    <a:pt x="54762" y="1178902"/>
                  </a:lnTo>
                  <a:close/>
                </a:path>
                <a:path w="8610600" h="1209675">
                  <a:moveTo>
                    <a:pt x="61125" y="27203"/>
                  </a:moveTo>
                  <a:lnTo>
                    <a:pt x="52590" y="10185"/>
                  </a:lnTo>
                  <a:lnTo>
                    <a:pt x="50304" y="11264"/>
                  </a:lnTo>
                  <a:lnTo>
                    <a:pt x="42329" y="16040"/>
                  </a:lnTo>
                  <a:lnTo>
                    <a:pt x="11264" y="50304"/>
                  </a:lnTo>
                  <a:lnTo>
                    <a:pt x="8839" y="55460"/>
                  </a:lnTo>
                  <a:lnTo>
                    <a:pt x="26123" y="63423"/>
                  </a:lnTo>
                  <a:lnTo>
                    <a:pt x="28067" y="59296"/>
                  </a:lnTo>
                  <a:lnTo>
                    <a:pt x="31889" y="52908"/>
                  </a:lnTo>
                  <a:lnTo>
                    <a:pt x="59296" y="28067"/>
                  </a:lnTo>
                  <a:lnTo>
                    <a:pt x="61125" y="27203"/>
                  </a:lnTo>
                  <a:close/>
                </a:path>
                <a:path w="8610600" h="1209675">
                  <a:moveTo>
                    <a:pt x="142455" y="1190625"/>
                  </a:moveTo>
                  <a:lnTo>
                    <a:pt x="95250" y="1190625"/>
                  </a:lnTo>
                  <a:lnTo>
                    <a:pt x="87744" y="1190269"/>
                  </a:lnTo>
                  <a:lnTo>
                    <a:pt x="86741" y="1190117"/>
                  </a:lnTo>
                  <a:lnTo>
                    <a:pt x="86690" y="1190625"/>
                  </a:lnTo>
                  <a:lnTo>
                    <a:pt x="84620" y="1209040"/>
                  </a:lnTo>
                  <a:lnTo>
                    <a:pt x="85877" y="1209230"/>
                  </a:lnTo>
                  <a:lnTo>
                    <a:pt x="95250" y="1209675"/>
                  </a:lnTo>
                  <a:lnTo>
                    <a:pt x="142455" y="1209675"/>
                  </a:lnTo>
                  <a:lnTo>
                    <a:pt x="142455" y="1190625"/>
                  </a:lnTo>
                  <a:close/>
                </a:path>
                <a:path w="8610600" h="1209675">
                  <a:moveTo>
                    <a:pt x="152400" y="0"/>
                  </a:moveTo>
                  <a:lnTo>
                    <a:pt x="93408" y="0"/>
                  </a:lnTo>
                  <a:lnTo>
                    <a:pt x="93776" y="19050"/>
                  </a:lnTo>
                  <a:lnTo>
                    <a:pt x="152400" y="19050"/>
                  </a:lnTo>
                  <a:lnTo>
                    <a:pt x="152400" y="0"/>
                  </a:lnTo>
                  <a:close/>
                </a:path>
                <a:path w="8610600" h="1209675">
                  <a:moveTo>
                    <a:pt x="237604" y="1190625"/>
                  </a:moveTo>
                  <a:lnTo>
                    <a:pt x="180454" y="1190625"/>
                  </a:lnTo>
                  <a:lnTo>
                    <a:pt x="180454" y="1209675"/>
                  </a:lnTo>
                  <a:lnTo>
                    <a:pt x="237604" y="1209675"/>
                  </a:lnTo>
                  <a:lnTo>
                    <a:pt x="237604" y="1190625"/>
                  </a:lnTo>
                  <a:close/>
                </a:path>
                <a:path w="8610600" h="1209675">
                  <a:moveTo>
                    <a:pt x="247561" y="0"/>
                  </a:moveTo>
                  <a:lnTo>
                    <a:pt x="190411" y="0"/>
                  </a:lnTo>
                  <a:lnTo>
                    <a:pt x="190411" y="19050"/>
                  </a:lnTo>
                  <a:lnTo>
                    <a:pt x="247561" y="19050"/>
                  </a:lnTo>
                  <a:lnTo>
                    <a:pt x="247561" y="0"/>
                  </a:lnTo>
                  <a:close/>
                </a:path>
                <a:path w="8610600" h="1209675">
                  <a:moveTo>
                    <a:pt x="332765" y="1190625"/>
                  </a:moveTo>
                  <a:lnTo>
                    <a:pt x="275615" y="1190625"/>
                  </a:lnTo>
                  <a:lnTo>
                    <a:pt x="275615" y="1209675"/>
                  </a:lnTo>
                  <a:lnTo>
                    <a:pt x="332765" y="1209675"/>
                  </a:lnTo>
                  <a:lnTo>
                    <a:pt x="332765" y="1190625"/>
                  </a:lnTo>
                  <a:close/>
                </a:path>
                <a:path w="8610600" h="1209675">
                  <a:moveTo>
                    <a:pt x="342722" y="0"/>
                  </a:moveTo>
                  <a:lnTo>
                    <a:pt x="285572" y="0"/>
                  </a:lnTo>
                  <a:lnTo>
                    <a:pt x="285572" y="19050"/>
                  </a:lnTo>
                  <a:lnTo>
                    <a:pt x="342722" y="19050"/>
                  </a:lnTo>
                  <a:lnTo>
                    <a:pt x="342722" y="0"/>
                  </a:lnTo>
                  <a:close/>
                </a:path>
                <a:path w="8610600" h="1209675">
                  <a:moveTo>
                    <a:pt x="427926" y="1190625"/>
                  </a:moveTo>
                  <a:lnTo>
                    <a:pt x="370776" y="1190625"/>
                  </a:lnTo>
                  <a:lnTo>
                    <a:pt x="370776" y="1209675"/>
                  </a:lnTo>
                  <a:lnTo>
                    <a:pt x="427926" y="1209675"/>
                  </a:lnTo>
                  <a:lnTo>
                    <a:pt x="427926" y="1190625"/>
                  </a:lnTo>
                  <a:close/>
                </a:path>
                <a:path w="8610600" h="1209675">
                  <a:moveTo>
                    <a:pt x="437870" y="0"/>
                  </a:moveTo>
                  <a:lnTo>
                    <a:pt x="380720" y="0"/>
                  </a:lnTo>
                  <a:lnTo>
                    <a:pt x="380720" y="19050"/>
                  </a:lnTo>
                  <a:lnTo>
                    <a:pt x="437870" y="19050"/>
                  </a:lnTo>
                  <a:lnTo>
                    <a:pt x="437870" y="0"/>
                  </a:lnTo>
                  <a:close/>
                </a:path>
                <a:path w="8610600" h="1209675">
                  <a:moveTo>
                    <a:pt x="523074" y="1190625"/>
                  </a:moveTo>
                  <a:lnTo>
                    <a:pt x="465924" y="1190625"/>
                  </a:lnTo>
                  <a:lnTo>
                    <a:pt x="465924" y="1209675"/>
                  </a:lnTo>
                  <a:lnTo>
                    <a:pt x="523074" y="1209675"/>
                  </a:lnTo>
                  <a:lnTo>
                    <a:pt x="523074" y="1190625"/>
                  </a:lnTo>
                  <a:close/>
                </a:path>
                <a:path w="8610600" h="1209675">
                  <a:moveTo>
                    <a:pt x="533031" y="0"/>
                  </a:moveTo>
                  <a:lnTo>
                    <a:pt x="475881" y="0"/>
                  </a:lnTo>
                  <a:lnTo>
                    <a:pt x="475881" y="19050"/>
                  </a:lnTo>
                  <a:lnTo>
                    <a:pt x="533031" y="19050"/>
                  </a:lnTo>
                  <a:lnTo>
                    <a:pt x="533031" y="0"/>
                  </a:lnTo>
                  <a:close/>
                </a:path>
                <a:path w="8610600" h="1209675">
                  <a:moveTo>
                    <a:pt x="618236" y="1190625"/>
                  </a:moveTo>
                  <a:lnTo>
                    <a:pt x="561086" y="1190625"/>
                  </a:lnTo>
                  <a:lnTo>
                    <a:pt x="561086" y="1209675"/>
                  </a:lnTo>
                  <a:lnTo>
                    <a:pt x="618236" y="1209675"/>
                  </a:lnTo>
                  <a:lnTo>
                    <a:pt x="618236" y="1190625"/>
                  </a:lnTo>
                  <a:close/>
                </a:path>
                <a:path w="8610600" h="1209675">
                  <a:moveTo>
                    <a:pt x="628192" y="0"/>
                  </a:moveTo>
                  <a:lnTo>
                    <a:pt x="571042" y="0"/>
                  </a:lnTo>
                  <a:lnTo>
                    <a:pt x="571042" y="19050"/>
                  </a:lnTo>
                  <a:lnTo>
                    <a:pt x="628192" y="19050"/>
                  </a:lnTo>
                  <a:lnTo>
                    <a:pt x="628192" y="0"/>
                  </a:lnTo>
                  <a:close/>
                </a:path>
                <a:path w="8610600" h="1209675">
                  <a:moveTo>
                    <a:pt x="713397" y="1190625"/>
                  </a:moveTo>
                  <a:lnTo>
                    <a:pt x="656247" y="1190625"/>
                  </a:lnTo>
                  <a:lnTo>
                    <a:pt x="656247" y="1209675"/>
                  </a:lnTo>
                  <a:lnTo>
                    <a:pt x="713397" y="1209675"/>
                  </a:lnTo>
                  <a:lnTo>
                    <a:pt x="713397" y="1190625"/>
                  </a:lnTo>
                  <a:close/>
                </a:path>
                <a:path w="8610600" h="1209675">
                  <a:moveTo>
                    <a:pt x="723341" y="0"/>
                  </a:moveTo>
                  <a:lnTo>
                    <a:pt x="666191" y="0"/>
                  </a:lnTo>
                  <a:lnTo>
                    <a:pt x="666191" y="19050"/>
                  </a:lnTo>
                  <a:lnTo>
                    <a:pt x="723341" y="19050"/>
                  </a:lnTo>
                  <a:lnTo>
                    <a:pt x="723341" y="0"/>
                  </a:lnTo>
                  <a:close/>
                </a:path>
                <a:path w="8610600" h="1209675">
                  <a:moveTo>
                    <a:pt x="808545" y="1190625"/>
                  </a:moveTo>
                  <a:lnTo>
                    <a:pt x="751395" y="1190625"/>
                  </a:lnTo>
                  <a:lnTo>
                    <a:pt x="751395" y="1209675"/>
                  </a:lnTo>
                  <a:lnTo>
                    <a:pt x="808545" y="1209675"/>
                  </a:lnTo>
                  <a:lnTo>
                    <a:pt x="808545" y="1190625"/>
                  </a:lnTo>
                  <a:close/>
                </a:path>
                <a:path w="8610600" h="1209675">
                  <a:moveTo>
                    <a:pt x="818502" y="0"/>
                  </a:moveTo>
                  <a:lnTo>
                    <a:pt x="761352" y="0"/>
                  </a:lnTo>
                  <a:lnTo>
                    <a:pt x="761352" y="19050"/>
                  </a:lnTo>
                  <a:lnTo>
                    <a:pt x="818502" y="19050"/>
                  </a:lnTo>
                  <a:lnTo>
                    <a:pt x="818502" y="0"/>
                  </a:lnTo>
                  <a:close/>
                </a:path>
                <a:path w="8610600" h="1209675">
                  <a:moveTo>
                    <a:pt x="903706" y="1190625"/>
                  </a:moveTo>
                  <a:lnTo>
                    <a:pt x="846556" y="1190625"/>
                  </a:lnTo>
                  <a:lnTo>
                    <a:pt x="846556" y="1209675"/>
                  </a:lnTo>
                  <a:lnTo>
                    <a:pt x="903706" y="1209675"/>
                  </a:lnTo>
                  <a:lnTo>
                    <a:pt x="903706" y="1190625"/>
                  </a:lnTo>
                  <a:close/>
                </a:path>
                <a:path w="8610600" h="1209675">
                  <a:moveTo>
                    <a:pt x="913663" y="0"/>
                  </a:moveTo>
                  <a:lnTo>
                    <a:pt x="856513" y="0"/>
                  </a:lnTo>
                  <a:lnTo>
                    <a:pt x="856513" y="19050"/>
                  </a:lnTo>
                  <a:lnTo>
                    <a:pt x="913663" y="19050"/>
                  </a:lnTo>
                  <a:lnTo>
                    <a:pt x="913663" y="0"/>
                  </a:lnTo>
                  <a:close/>
                </a:path>
                <a:path w="8610600" h="1209675">
                  <a:moveTo>
                    <a:pt x="998867" y="1190625"/>
                  </a:moveTo>
                  <a:lnTo>
                    <a:pt x="941717" y="1190625"/>
                  </a:lnTo>
                  <a:lnTo>
                    <a:pt x="941717" y="1209675"/>
                  </a:lnTo>
                  <a:lnTo>
                    <a:pt x="998867" y="1209675"/>
                  </a:lnTo>
                  <a:lnTo>
                    <a:pt x="998867" y="1190625"/>
                  </a:lnTo>
                  <a:close/>
                </a:path>
                <a:path w="8610600" h="1209675">
                  <a:moveTo>
                    <a:pt x="1008811" y="0"/>
                  </a:moveTo>
                  <a:lnTo>
                    <a:pt x="951661" y="0"/>
                  </a:lnTo>
                  <a:lnTo>
                    <a:pt x="951661" y="19050"/>
                  </a:lnTo>
                  <a:lnTo>
                    <a:pt x="1008811" y="19050"/>
                  </a:lnTo>
                  <a:lnTo>
                    <a:pt x="1008811" y="0"/>
                  </a:lnTo>
                  <a:close/>
                </a:path>
                <a:path w="8610600" h="1209675">
                  <a:moveTo>
                    <a:pt x="1094016" y="1190625"/>
                  </a:moveTo>
                  <a:lnTo>
                    <a:pt x="1036866" y="1190625"/>
                  </a:lnTo>
                  <a:lnTo>
                    <a:pt x="1036866" y="1209675"/>
                  </a:lnTo>
                  <a:lnTo>
                    <a:pt x="1094016" y="1209675"/>
                  </a:lnTo>
                  <a:lnTo>
                    <a:pt x="1094016" y="1190625"/>
                  </a:lnTo>
                  <a:close/>
                </a:path>
                <a:path w="8610600" h="1209675">
                  <a:moveTo>
                    <a:pt x="1103972" y="0"/>
                  </a:moveTo>
                  <a:lnTo>
                    <a:pt x="1046822" y="0"/>
                  </a:lnTo>
                  <a:lnTo>
                    <a:pt x="1046822" y="19050"/>
                  </a:lnTo>
                  <a:lnTo>
                    <a:pt x="1103972" y="19050"/>
                  </a:lnTo>
                  <a:lnTo>
                    <a:pt x="1103972" y="0"/>
                  </a:lnTo>
                  <a:close/>
                </a:path>
                <a:path w="8610600" h="1209675">
                  <a:moveTo>
                    <a:pt x="1189177" y="1190625"/>
                  </a:moveTo>
                  <a:lnTo>
                    <a:pt x="1132027" y="1190625"/>
                  </a:lnTo>
                  <a:lnTo>
                    <a:pt x="1132027" y="1209675"/>
                  </a:lnTo>
                  <a:lnTo>
                    <a:pt x="1189177" y="1209675"/>
                  </a:lnTo>
                  <a:lnTo>
                    <a:pt x="1189177" y="1190625"/>
                  </a:lnTo>
                  <a:close/>
                </a:path>
                <a:path w="8610600" h="1209675">
                  <a:moveTo>
                    <a:pt x="1199134" y="0"/>
                  </a:moveTo>
                  <a:lnTo>
                    <a:pt x="1141984" y="0"/>
                  </a:lnTo>
                  <a:lnTo>
                    <a:pt x="1141984" y="19050"/>
                  </a:lnTo>
                  <a:lnTo>
                    <a:pt x="1199134" y="19050"/>
                  </a:lnTo>
                  <a:lnTo>
                    <a:pt x="1199134" y="0"/>
                  </a:lnTo>
                  <a:close/>
                </a:path>
                <a:path w="8610600" h="1209675">
                  <a:moveTo>
                    <a:pt x="1284338" y="1190625"/>
                  </a:moveTo>
                  <a:lnTo>
                    <a:pt x="1227188" y="1190625"/>
                  </a:lnTo>
                  <a:lnTo>
                    <a:pt x="1227188" y="1209675"/>
                  </a:lnTo>
                  <a:lnTo>
                    <a:pt x="1284338" y="1209675"/>
                  </a:lnTo>
                  <a:lnTo>
                    <a:pt x="1284338" y="1190625"/>
                  </a:lnTo>
                  <a:close/>
                </a:path>
                <a:path w="8610600" h="1209675">
                  <a:moveTo>
                    <a:pt x="1294282" y="0"/>
                  </a:moveTo>
                  <a:lnTo>
                    <a:pt x="1237132" y="0"/>
                  </a:lnTo>
                  <a:lnTo>
                    <a:pt x="1237132" y="19050"/>
                  </a:lnTo>
                  <a:lnTo>
                    <a:pt x="1294282" y="19050"/>
                  </a:lnTo>
                  <a:lnTo>
                    <a:pt x="1294282" y="0"/>
                  </a:lnTo>
                  <a:close/>
                </a:path>
                <a:path w="8610600" h="1209675">
                  <a:moveTo>
                    <a:pt x="1379486" y="1190625"/>
                  </a:moveTo>
                  <a:lnTo>
                    <a:pt x="1322336" y="1190625"/>
                  </a:lnTo>
                  <a:lnTo>
                    <a:pt x="1322336" y="1209675"/>
                  </a:lnTo>
                  <a:lnTo>
                    <a:pt x="1379486" y="1209675"/>
                  </a:lnTo>
                  <a:lnTo>
                    <a:pt x="1379486" y="1190625"/>
                  </a:lnTo>
                  <a:close/>
                </a:path>
                <a:path w="8610600" h="1209675">
                  <a:moveTo>
                    <a:pt x="1389443" y="0"/>
                  </a:moveTo>
                  <a:lnTo>
                    <a:pt x="1332293" y="0"/>
                  </a:lnTo>
                  <a:lnTo>
                    <a:pt x="1332293" y="19050"/>
                  </a:lnTo>
                  <a:lnTo>
                    <a:pt x="1389443" y="19050"/>
                  </a:lnTo>
                  <a:lnTo>
                    <a:pt x="1389443" y="0"/>
                  </a:lnTo>
                  <a:close/>
                </a:path>
                <a:path w="8610600" h="1209675">
                  <a:moveTo>
                    <a:pt x="1474647" y="1190625"/>
                  </a:moveTo>
                  <a:lnTo>
                    <a:pt x="1417497" y="1190625"/>
                  </a:lnTo>
                  <a:lnTo>
                    <a:pt x="1417497" y="1209675"/>
                  </a:lnTo>
                  <a:lnTo>
                    <a:pt x="1474647" y="1209675"/>
                  </a:lnTo>
                  <a:lnTo>
                    <a:pt x="1474647" y="1190625"/>
                  </a:lnTo>
                  <a:close/>
                </a:path>
                <a:path w="8610600" h="1209675">
                  <a:moveTo>
                    <a:pt x="1484604" y="0"/>
                  </a:moveTo>
                  <a:lnTo>
                    <a:pt x="1427454" y="0"/>
                  </a:lnTo>
                  <a:lnTo>
                    <a:pt x="1427454" y="19050"/>
                  </a:lnTo>
                  <a:lnTo>
                    <a:pt x="1484604" y="19050"/>
                  </a:lnTo>
                  <a:lnTo>
                    <a:pt x="1484604" y="0"/>
                  </a:lnTo>
                  <a:close/>
                </a:path>
                <a:path w="8610600" h="1209675">
                  <a:moveTo>
                    <a:pt x="1569796" y="1190625"/>
                  </a:moveTo>
                  <a:lnTo>
                    <a:pt x="1512646" y="1190625"/>
                  </a:lnTo>
                  <a:lnTo>
                    <a:pt x="1512646" y="1209675"/>
                  </a:lnTo>
                  <a:lnTo>
                    <a:pt x="1569796" y="1209675"/>
                  </a:lnTo>
                  <a:lnTo>
                    <a:pt x="1569796" y="1190625"/>
                  </a:lnTo>
                  <a:close/>
                </a:path>
                <a:path w="8610600" h="1209675">
                  <a:moveTo>
                    <a:pt x="1579753" y="0"/>
                  </a:moveTo>
                  <a:lnTo>
                    <a:pt x="1522603" y="0"/>
                  </a:lnTo>
                  <a:lnTo>
                    <a:pt x="1522603" y="19050"/>
                  </a:lnTo>
                  <a:lnTo>
                    <a:pt x="1579753" y="19050"/>
                  </a:lnTo>
                  <a:lnTo>
                    <a:pt x="1579753" y="0"/>
                  </a:lnTo>
                  <a:close/>
                </a:path>
                <a:path w="8610600" h="1209675">
                  <a:moveTo>
                    <a:pt x="1664957" y="1190625"/>
                  </a:moveTo>
                  <a:lnTo>
                    <a:pt x="1607807" y="1190625"/>
                  </a:lnTo>
                  <a:lnTo>
                    <a:pt x="1607807" y="1209675"/>
                  </a:lnTo>
                  <a:lnTo>
                    <a:pt x="1664957" y="1209675"/>
                  </a:lnTo>
                  <a:lnTo>
                    <a:pt x="1664957" y="1190625"/>
                  </a:lnTo>
                  <a:close/>
                </a:path>
                <a:path w="8610600" h="1209675">
                  <a:moveTo>
                    <a:pt x="1674914" y="0"/>
                  </a:moveTo>
                  <a:lnTo>
                    <a:pt x="1617764" y="0"/>
                  </a:lnTo>
                  <a:lnTo>
                    <a:pt x="1617764" y="19050"/>
                  </a:lnTo>
                  <a:lnTo>
                    <a:pt x="1674914" y="19050"/>
                  </a:lnTo>
                  <a:lnTo>
                    <a:pt x="1674914" y="0"/>
                  </a:lnTo>
                  <a:close/>
                </a:path>
                <a:path w="8610600" h="1209675">
                  <a:moveTo>
                    <a:pt x="1760118" y="1190625"/>
                  </a:moveTo>
                  <a:lnTo>
                    <a:pt x="1702968" y="1190625"/>
                  </a:lnTo>
                  <a:lnTo>
                    <a:pt x="1702968" y="1209675"/>
                  </a:lnTo>
                  <a:lnTo>
                    <a:pt x="1760118" y="1209675"/>
                  </a:lnTo>
                  <a:lnTo>
                    <a:pt x="1760118" y="1190625"/>
                  </a:lnTo>
                  <a:close/>
                </a:path>
                <a:path w="8610600" h="1209675">
                  <a:moveTo>
                    <a:pt x="1770062" y="0"/>
                  </a:moveTo>
                  <a:lnTo>
                    <a:pt x="1712912" y="0"/>
                  </a:lnTo>
                  <a:lnTo>
                    <a:pt x="1712912" y="19050"/>
                  </a:lnTo>
                  <a:lnTo>
                    <a:pt x="1770062" y="19050"/>
                  </a:lnTo>
                  <a:lnTo>
                    <a:pt x="1770062" y="0"/>
                  </a:lnTo>
                  <a:close/>
                </a:path>
                <a:path w="8610600" h="1209675">
                  <a:moveTo>
                    <a:pt x="1855266" y="1190625"/>
                  </a:moveTo>
                  <a:lnTo>
                    <a:pt x="1798116" y="1190625"/>
                  </a:lnTo>
                  <a:lnTo>
                    <a:pt x="1798116" y="1209675"/>
                  </a:lnTo>
                  <a:lnTo>
                    <a:pt x="1855266" y="1209675"/>
                  </a:lnTo>
                  <a:lnTo>
                    <a:pt x="1855266" y="1190625"/>
                  </a:lnTo>
                  <a:close/>
                </a:path>
                <a:path w="8610600" h="1209675">
                  <a:moveTo>
                    <a:pt x="1865223" y="0"/>
                  </a:moveTo>
                  <a:lnTo>
                    <a:pt x="1808073" y="0"/>
                  </a:lnTo>
                  <a:lnTo>
                    <a:pt x="1808073" y="19050"/>
                  </a:lnTo>
                  <a:lnTo>
                    <a:pt x="1865223" y="19050"/>
                  </a:lnTo>
                  <a:lnTo>
                    <a:pt x="1865223" y="0"/>
                  </a:lnTo>
                  <a:close/>
                </a:path>
                <a:path w="8610600" h="1209675">
                  <a:moveTo>
                    <a:pt x="1950427" y="1190625"/>
                  </a:moveTo>
                  <a:lnTo>
                    <a:pt x="1893277" y="1190625"/>
                  </a:lnTo>
                  <a:lnTo>
                    <a:pt x="1893277" y="1209675"/>
                  </a:lnTo>
                  <a:lnTo>
                    <a:pt x="1950427" y="1209675"/>
                  </a:lnTo>
                  <a:lnTo>
                    <a:pt x="1950427" y="1190625"/>
                  </a:lnTo>
                  <a:close/>
                </a:path>
                <a:path w="8610600" h="1209675">
                  <a:moveTo>
                    <a:pt x="1960384" y="0"/>
                  </a:moveTo>
                  <a:lnTo>
                    <a:pt x="1903234" y="0"/>
                  </a:lnTo>
                  <a:lnTo>
                    <a:pt x="1903234" y="19050"/>
                  </a:lnTo>
                  <a:lnTo>
                    <a:pt x="1960384" y="19050"/>
                  </a:lnTo>
                  <a:lnTo>
                    <a:pt x="1960384" y="0"/>
                  </a:lnTo>
                  <a:close/>
                </a:path>
                <a:path w="8610600" h="1209675">
                  <a:moveTo>
                    <a:pt x="2045589" y="1190625"/>
                  </a:moveTo>
                  <a:lnTo>
                    <a:pt x="1988439" y="1190625"/>
                  </a:lnTo>
                  <a:lnTo>
                    <a:pt x="1988439" y="1209675"/>
                  </a:lnTo>
                  <a:lnTo>
                    <a:pt x="2045589" y="1209675"/>
                  </a:lnTo>
                  <a:lnTo>
                    <a:pt x="2045589" y="1190625"/>
                  </a:lnTo>
                  <a:close/>
                </a:path>
                <a:path w="8610600" h="1209675">
                  <a:moveTo>
                    <a:pt x="2055533" y="0"/>
                  </a:moveTo>
                  <a:lnTo>
                    <a:pt x="1998383" y="0"/>
                  </a:lnTo>
                  <a:lnTo>
                    <a:pt x="1998383" y="19050"/>
                  </a:lnTo>
                  <a:lnTo>
                    <a:pt x="2055533" y="19050"/>
                  </a:lnTo>
                  <a:lnTo>
                    <a:pt x="2055533" y="0"/>
                  </a:lnTo>
                  <a:close/>
                </a:path>
                <a:path w="8610600" h="1209675">
                  <a:moveTo>
                    <a:pt x="2140737" y="1190625"/>
                  </a:moveTo>
                  <a:lnTo>
                    <a:pt x="2083587" y="1190625"/>
                  </a:lnTo>
                  <a:lnTo>
                    <a:pt x="2083587" y="1209675"/>
                  </a:lnTo>
                  <a:lnTo>
                    <a:pt x="2140737" y="1209675"/>
                  </a:lnTo>
                  <a:lnTo>
                    <a:pt x="2140737" y="1190625"/>
                  </a:lnTo>
                  <a:close/>
                </a:path>
                <a:path w="8610600" h="1209675">
                  <a:moveTo>
                    <a:pt x="2150694" y="0"/>
                  </a:moveTo>
                  <a:lnTo>
                    <a:pt x="2093544" y="0"/>
                  </a:lnTo>
                  <a:lnTo>
                    <a:pt x="2093544" y="19050"/>
                  </a:lnTo>
                  <a:lnTo>
                    <a:pt x="2150694" y="19050"/>
                  </a:lnTo>
                  <a:lnTo>
                    <a:pt x="2150694" y="0"/>
                  </a:lnTo>
                  <a:close/>
                </a:path>
                <a:path w="8610600" h="1209675">
                  <a:moveTo>
                    <a:pt x="2235898" y="1190625"/>
                  </a:moveTo>
                  <a:lnTo>
                    <a:pt x="2178748" y="1190625"/>
                  </a:lnTo>
                  <a:lnTo>
                    <a:pt x="2178748" y="1209675"/>
                  </a:lnTo>
                  <a:lnTo>
                    <a:pt x="2235898" y="1209675"/>
                  </a:lnTo>
                  <a:lnTo>
                    <a:pt x="2235898" y="1190625"/>
                  </a:lnTo>
                  <a:close/>
                </a:path>
                <a:path w="8610600" h="1209675">
                  <a:moveTo>
                    <a:pt x="2245855" y="0"/>
                  </a:moveTo>
                  <a:lnTo>
                    <a:pt x="2188705" y="0"/>
                  </a:lnTo>
                  <a:lnTo>
                    <a:pt x="2188705" y="19050"/>
                  </a:lnTo>
                  <a:lnTo>
                    <a:pt x="2245855" y="19050"/>
                  </a:lnTo>
                  <a:lnTo>
                    <a:pt x="2245855" y="0"/>
                  </a:lnTo>
                  <a:close/>
                </a:path>
                <a:path w="8610600" h="1209675">
                  <a:moveTo>
                    <a:pt x="2331059" y="1190625"/>
                  </a:moveTo>
                  <a:lnTo>
                    <a:pt x="2273909" y="1190625"/>
                  </a:lnTo>
                  <a:lnTo>
                    <a:pt x="2273909" y="1209675"/>
                  </a:lnTo>
                  <a:lnTo>
                    <a:pt x="2331059" y="1209675"/>
                  </a:lnTo>
                  <a:lnTo>
                    <a:pt x="2331059" y="1190625"/>
                  </a:lnTo>
                  <a:close/>
                </a:path>
                <a:path w="8610600" h="1209675">
                  <a:moveTo>
                    <a:pt x="2341003" y="0"/>
                  </a:moveTo>
                  <a:lnTo>
                    <a:pt x="2283853" y="0"/>
                  </a:lnTo>
                  <a:lnTo>
                    <a:pt x="2283853" y="19050"/>
                  </a:lnTo>
                  <a:lnTo>
                    <a:pt x="2341003" y="19050"/>
                  </a:lnTo>
                  <a:lnTo>
                    <a:pt x="2341003" y="0"/>
                  </a:lnTo>
                  <a:close/>
                </a:path>
                <a:path w="8610600" h="1209675">
                  <a:moveTo>
                    <a:pt x="2426208" y="1190625"/>
                  </a:moveTo>
                  <a:lnTo>
                    <a:pt x="2369058" y="1190625"/>
                  </a:lnTo>
                  <a:lnTo>
                    <a:pt x="2369058" y="1209675"/>
                  </a:lnTo>
                  <a:lnTo>
                    <a:pt x="2426208" y="1209675"/>
                  </a:lnTo>
                  <a:lnTo>
                    <a:pt x="2426208" y="1190625"/>
                  </a:lnTo>
                  <a:close/>
                </a:path>
                <a:path w="8610600" h="1209675">
                  <a:moveTo>
                    <a:pt x="2436164" y="0"/>
                  </a:moveTo>
                  <a:lnTo>
                    <a:pt x="2379014" y="0"/>
                  </a:lnTo>
                  <a:lnTo>
                    <a:pt x="2379014" y="19050"/>
                  </a:lnTo>
                  <a:lnTo>
                    <a:pt x="2436164" y="19050"/>
                  </a:lnTo>
                  <a:lnTo>
                    <a:pt x="2436164" y="0"/>
                  </a:lnTo>
                  <a:close/>
                </a:path>
                <a:path w="8610600" h="1209675">
                  <a:moveTo>
                    <a:pt x="2521369" y="1190625"/>
                  </a:moveTo>
                  <a:lnTo>
                    <a:pt x="2464219" y="1190625"/>
                  </a:lnTo>
                  <a:lnTo>
                    <a:pt x="2464219" y="1209675"/>
                  </a:lnTo>
                  <a:lnTo>
                    <a:pt x="2521369" y="1209675"/>
                  </a:lnTo>
                  <a:lnTo>
                    <a:pt x="2521369" y="1190625"/>
                  </a:lnTo>
                  <a:close/>
                </a:path>
                <a:path w="8610600" h="1209675">
                  <a:moveTo>
                    <a:pt x="2531326" y="0"/>
                  </a:moveTo>
                  <a:lnTo>
                    <a:pt x="2474176" y="0"/>
                  </a:lnTo>
                  <a:lnTo>
                    <a:pt x="2474176" y="19050"/>
                  </a:lnTo>
                  <a:lnTo>
                    <a:pt x="2531326" y="19050"/>
                  </a:lnTo>
                  <a:lnTo>
                    <a:pt x="2531326" y="0"/>
                  </a:lnTo>
                  <a:close/>
                </a:path>
                <a:path w="8610600" h="1209675">
                  <a:moveTo>
                    <a:pt x="2616530" y="1190625"/>
                  </a:moveTo>
                  <a:lnTo>
                    <a:pt x="2559380" y="1190625"/>
                  </a:lnTo>
                  <a:lnTo>
                    <a:pt x="2559380" y="1209675"/>
                  </a:lnTo>
                  <a:lnTo>
                    <a:pt x="2616530" y="1209675"/>
                  </a:lnTo>
                  <a:lnTo>
                    <a:pt x="2616530" y="1190625"/>
                  </a:lnTo>
                  <a:close/>
                </a:path>
                <a:path w="8610600" h="1209675">
                  <a:moveTo>
                    <a:pt x="2626474" y="0"/>
                  </a:moveTo>
                  <a:lnTo>
                    <a:pt x="2569324" y="0"/>
                  </a:lnTo>
                  <a:lnTo>
                    <a:pt x="2569324" y="19050"/>
                  </a:lnTo>
                  <a:lnTo>
                    <a:pt x="2626474" y="19050"/>
                  </a:lnTo>
                  <a:lnTo>
                    <a:pt x="2626474" y="0"/>
                  </a:lnTo>
                  <a:close/>
                </a:path>
                <a:path w="8610600" h="1209675">
                  <a:moveTo>
                    <a:pt x="2711678" y="1190625"/>
                  </a:moveTo>
                  <a:lnTo>
                    <a:pt x="2654528" y="1190625"/>
                  </a:lnTo>
                  <a:lnTo>
                    <a:pt x="2654528" y="1209675"/>
                  </a:lnTo>
                  <a:lnTo>
                    <a:pt x="2711678" y="1209675"/>
                  </a:lnTo>
                  <a:lnTo>
                    <a:pt x="2711678" y="1190625"/>
                  </a:lnTo>
                  <a:close/>
                </a:path>
                <a:path w="8610600" h="1209675">
                  <a:moveTo>
                    <a:pt x="2721635" y="0"/>
                  </a:moveTo>
                  <a:lnTo>
                    <a:pt x="2664485" y="0"/>
                  </a:lnTo>
                  <a:lnTo>
                    <a:pt x="2664485" y="19050"/>
                  </a:lnTo>
                  <a:lnTo>
                    <a:pt x="2721635" y="19050"/>
                  </a:lnTo>
                  <a:lnTo>
                    <a:pt x="2721635" y="0"/>
                  </a:lnTo>
                  <a:close/>
                </a:path>
                <a:path w="8610600" h="1209675">
                  <a:moveTo>
                    <a:pt x="2806839" y="1190625"/>
                  </a:moveTo>
                  <a:lnTo>
                    <a:pt x="2749689" y="1190625"/>
                  </a:lnTo>
                  <a:lnTo>
                    <a:pt x="2749689" y="1209675"/>
                  </a:lnTo>
                  <a:lnTo>
                    <a:pt x="2806839" y="1209675"/>
                  </a:lnTo>
                  <a:lnTo>
                    <a:pt x="2806839" y="1190625"/>
                  </a:lnTo>
                  <a:close/>
                </a:path>
                <a:path w="8610600" h="1209675">
                  <a:moveTo>
                    <a:pt x="2816796" y="0"/>
                  </a:moveTo>
                  <a:lnTo>
                    <a:pt x="2759646" y="0"/>
                  </a:lnTo>
                  <a:lnTo>
                    <a:pt x="2759646" y="19050"/>
                  </a:lnTo>
                  <a:lnTo>
                    <a:pt x="2816796" y="19050"/>
                  </a:lnTo>
                  <a:lnTo>
                    <a:pt x="2816796" y="0"/>
                  </a:lnTo>
                  <a:close/>
                </a:path>
                <a:path w="8610600" h="1209675">
                  <a:moveTo>
                    <a:pt x="2902000" y="1190625"/>
                  </a:moveTo>
                  <a:lnTo>
                    <a:pt x="2844850" y="1190625"/>
                  </a:lnTo>
                  <a:lnTo>
                    <a:pt x="2844850" y="1209675"/>
                  </a:lnTo>
                  <a:lnTo>
                    <a:pt x="2902000" y="1209675"/>
                  </a:lnTo>
                  <a:lnTo>
                    <a:pt x="2902000" y="1190625"/>
                  </a:lnTo>
                  <a:close/>
                </a:path>
                <a:path w="8610600" h="1209675">
                  <a:moveTo>
                    <a:pt x="2911945" y="0"/>
                  </a:moveTo>
                  <a:lnTo>
                    <a:pt x="2854795" y="0"/>
                  </a:lnTo>
                  <a:lnTo>
                    <a:pt x="2854795" y="19050"/>
                  </a:lnTo>
                  <a:lnTo>
                    <a:pt x="2911945" y="19050"/>
                  </a:lnTo>
                  <a:lnTo>
                    <a:pt x="2911945" y="0"/>
                  </a:lnTo>
                  <a:close/>
                </a:path>
                <a:path w="8610600" h="1209675">
                  <a:moveTo>
                    <a:pt x="2997149" y="1190625"/>
                  </a:moveTo>
                  <a:lnTo>
                    <a:pt x="2939999" y="1190625"/>
                  </a:lnTo>
                  <a:lnTo>
                    <a:pt x="2939999" y="1209675"/>
                  </a:lnTo>
                  <a:lnTo>
                    <a:pt x="2997149" y="1209675"/>
                  </a:lnTo>
                  <a:lnTo>
                    <a:pt x="2997149" y="1190625"/>
                  </a:lnTo>
                  <a:close/>
                </a:path>
                <a:path w="8610600" h="1209675">
                  <a:moveTo>
                    <a:pt x="3007106" y="0"/>
                  </a:moveTo>
                  <a:lnTo>
                    <a:pt x="2949956" y="0"/>
                  </a:lnTo>
                  <a:lnTo>
                    <a:pt x="2949956" y="19050"/>
                  </a:lnTo>
                  <a:lnTo>
                    <a:pt x="3007106" y="19050"/>
                  </a:lnTo>
                  <a:lnTo>
                    <a:pt x="3007106" y="0"/>
                  </a:lnTo>
                  <a:close/>
                </a:path>
                <a:path w="8610600" h="1209675">
                  <a:moveTo>
                    <a:pt x="3092310" y="1190625"/>
                  </a:moveTo>
                  <a:lnTo>
                    <a:pt x="3035160" y="1190625"/>
                  </a:lnTo>
                  <a:lnTo>
                    <a:pt x="3035160" y="1209675"/>
                  </a:lnTo>
                  <a:lnTo>
                    <a:pt x="3092310" y="1209675"/>
                  </a:lnTo>
                  <a:lnTo>
                    <a:pt x="3092310" y="1190625"/>
                  </a:lnTo>
                  <a:close/>
                </a:path>
                <a:path w="8610600" h="1209675">
                  <a:moveTo>
                    <a:pt x="3102267" y="0"/>
                  </a:moveTo>
                  <a:lnTo>
                    <a:pt x="3045117" y="0"/>
                  </a:lnTo>
                  <a:lnTo>
                    <a:pt x="3045117" y="19050"/>
                  </a:lnTo>
                  <a:lnTo>
                    <a:pt x="3102267" y="19050"/>
                  </a:lnTo>
                  <a:lnTo>
                    <a:pt x="3102267" y="0"/>
                  </a:lnTo>
                  <a:close/>
                </a:path>
                <a:path w="8610600" h="1209675">
                  <a:moveTo>
                    <a:pt x="3187458" y="1190625"/>
                  </a:moveTo>
                  <a:lnTo>
                    <a:pt x="3130308" y="1190625"/>
                  </a:lnTo>
                  <a:lnTo>
                    <a:pt x="3130308" y="1209675"/>
                  </a:lnTo>
                  <a:lnTo>
                    <a:pt x="3187458" y="1209675"/>
                  </a:lnTo>
                  <a:lnTo>
                    <a:pt x="3187458" y="1190625"/>
                  </a:lnTo>
                  <a:close/>
                </a:path>
                <a:path w="8610600" h="1209675">
                  <a:moveTo>
                    <a:pt x="3197415" y="0"/>
                  </a:moveTo>
                  <a:lnTo>
                    <a:pt x="3140265" y="0"/>
                  </a:lnTo>
                  <a:lnTo>
                    <a:pt x="3140265" y="19050"/>
                  </a:lnTo>
                  <a:lnTo>
                    <a:pt x="3197415" y="19050"/>
                  </a:lnTo>
                  <a:lnTo>
                    <a:pt x="3197415" y="0"/>
                  </a:lnTo>
                  <a:close/>
                </a:path>
                <a:path w="8610600" h="1209675">
                  <a:moveTo>
                    <a:pt x="3282619" y="1190625"/>
                  </a:moveTo>
                  <a:lnTo>
                    <a:pt x="3225469" y="1190625"/>
                  </a:lnTo>
                  <a:lnTo>
                    <a:pt x="3225469" y="1209675"/>
                  </a:lnTo>
                  <a:lnTo>
                    <a:pt x="3282619" y="1209675"/>
                  </a:lnTo>
                  <a:lnTo>
                    <a:pt x="3282619" y="1190625"/>
                  </a:lnTo>
                  <a:close/>
                </a:path>
                <a:path w="8610600" h="1209675">
                  <a:moveTo>
                    <a:pt x="3292576" y="0"/>
                  </a:moveTo>
                  <a:lnTo>
                    <a:pt x="3235426" y="0"/>
                  </a:lnTo>
                  <a:lnTo>
                    <a:pt x="3235426" y="19050"/>
                  </a:lnTo>
                  <a:lnTo>
                    <a:pt x="3292576" y="19050"/>
                  </a:lnTo>
                  <a:lnTo>
                    <a:pt x="3292576" y="0"/>
                  </a:lnTo>
                  <a:close/>
                </a:path>
                <a:path w="8610600" h="1209675">
                  <a:moveTo>
                    <a:pt x="3377781" y="1190625"/>
                  </a:moveTo>
                  <a:lnTo>
                    <a:pt x="3320631" y="1190625"/>
                  </a:lnTo>
                  <a:lnTo>
                    <a:pt x="3320631" y="1209675"/>
                  </a:lnTo>
                  <a:lnTo>
                    <a:pt x="3377781" y="1209675"/>
                  </a:lnTo>
                  <a:lnTo>
                    <a:pt x="3377781" y="1190625"/>
                  </a:lnTo>
                  <a:close/>
                </a:path>
                <a:path w="8610600" h="1209675">
                  <a:moveTo>
                    <a:pt x="3387725" y="0"/>
                  </a:moveTo>
                  <a:lnTo>
                    <a:pt x="3330575" y="0"/>
                  </a:lnTo>
                  <a:lnTo>
                    <a:pt x="3330575" y="19050"/>
                  </a:lnTo>
                  <a:lnTo>
                    <a:pt x="3387725" y="19050"/>
                  </a:lnTo>
                  <a:lnTo>
                    <a:pt x="3387725" y="0"/>
                  </a:lnTo>
                  <a:close/>
                </a:path>
                <a:path w="8610600" h="1209675">
                  <a:moveTo>
                    <a:pt x="3472929" y="1190625"/>
                  </a:moveTo>
                  <a:lnTo>
                    <a:pt x="3415779" y="1190625"/>
                  </a:lnTo>
                  <a:lnTo>
                    <a:pt x="3415779" y="1209675"/>
                  </a:lnTo>
                  <a:lnTo>
                    <a:pt x="3472929" y="1209675"/>
                  </a:lnTo>
                  <a:lnTo>
                    <a:pt x="3472929" y="1190625"/>
                  </a:lnTo>
                  <a:close/>
                </a:path>
                <a:path w="8610600" h="1209675">
                  <a:moveTo>
                    <a:pt x="3482886" y="0"/>
                  </a:moveTo>
                  <a:lnTo>
                    <a:pt x="3425736" y="0"/>
                  </a:lnTo>
                  <a:lnTo>
                    <a:pt x="3425736" y="19050"/>
                  </a:lnTo>
                  <a:lnTo>
                    <a:pt x="3482886" y="19050"/>
                  </a:lnTo>
                  <a:lnTo>
                    <a:pt x="3482886" y="0"/>
                  </a:lnTo>
                  <a:close/>
                </a:path>
                <a:path w="8610600" h="1209675">
                  <a:moveTo>
                    <a:pt x="3568090" y="1190625"/>
                  </a:moveTo>
                  <a:lnTo>
                    <a:pt x="3510940" y="1190625"/>
                  </a:lnTo>
                  <a:lnTo>
                    <a:pt x="3510940" y="1209675"/>
                  </a:lnTo>
                  <a:lnTo>
                    <a:pt x="3568090" y="1209675"/>
                  </a:lnTo>
                  <a:lnTo>
                    <a:pt x="3568090" y="1190625"/>
                  </a:lnTo>
                  <a:close/>
                </a:path>
                <a:path w="8610600" h="1209675">
                  <a:moveTo>
                    <a:pt x="3578047" y="0"/>
                  </a:moveTo>
                  <a:lnTo>
                    <a:pt x="3520897" y="0"/>
                  </a:lnTo>
                  <a:lnTo>
                    <a:pt x="3520897" y="19050"/>
                  </a:lnTo>
                  <a:lnTo>
                    <a:pt x="3578047" y="19050"/>
                  </a:lnTo>
                  <a:lnTo>
                    <a:pt x="3578047" y="0"/>
                  </a:lnTo>
                  <a:close/>
                </a:path>
                <a:path w="8610600" h="1209675">
                  <a:moveTo>
                    <a:pt x="3663251" y="1190625"/>
                  </a:moveTo>
                  <a:lnTo>
                    <a:pt x="3606101" y="1190625"/>
                  </a:lnTo>
                  <a:lnTo>
                    <a:pt x="3606101" y="1209675"/>
                  </a:lnTo>
                  <a:lnTo>
                    <a:pt x="3663251" y="1209675"/>
                  </a:lnTo>
                  <a:lnTo>
                    <a:pt x="3663251" y="1190625"/>
                  </a:lnTo>
                  <a:close/>
                </a:path>
                <a:path w="8610600" h="1209675">
                  <a:moveTo>
                    <a:pt x="3673195" y="0"/>
                  </a:moveTo>
                  <a:lnTo>
                    <a:pt x="3616045" y="0"/>
                  </a:lnTo>
                  <a:lnTo>
                    <a:pt x="3616045" y="19050"/>
                  </a:lnTo>
                  <a:lnTo>
                    <a:pt x="3673195" y="19050"/>
                  </a:lnTo>
                  <a:lnTo>
                    <a:pt x="3673195" y="0"/>
                  </a:lnTo>
                  <a:close/>
                </a:path>
                <a:path w="8610600" h="1209675">
                  <a:moveTo>
                    <a:pt x="3758400" y="1190625"/>
                  </a:moveTo>
                  <a:lnTo>
                    <a:pt x="3701250" y="1190625"/>
                  </a:lnTo>
                  <a:lnTo>
                    <a:pt x="3701250" y="1209675"/>
                  </a:lnTo>
                  <a:lnTo>
                    <a:pt x="3758400" y="1209675"/>
                  </a:lnTo>
                  <a:lnTo>
                    <a:pt x="3758400" y="1190625"/>
                  </a:lnTo>
                  <a:close/>
                </a:path>
                <a:path w="8610600" h="1209675">
                  <a:moveTo>
                    <a:pt x="3768356" y="0"/>
                  </a:moveTo>
                  <a:lnTo>
                    <a:pt x="3711206" y="0"/>
                  </a:lnTo>
                  <a:lnTo>
                    <a:pt x="3711206" y="19050"/>
                  </a:lnTo>
                  <a:lnTo>
                    <a:pt x="3768356" y="19050"/>
                  </a:lnTo>
                  <a:lnTo>
                    <a:pt x="3768356" y="0"/>
                  </a:lnTo>
                  <a:close/>
                </a:path>
                <a:path w="8610600" h="1209675">
                  <a:moveTo>
                    <a:pt x="3853561" y="1190625"/>
                  </a:moveTo>
                  <a:lnTo>
                    <a:pt x="3796411" y="1190625"/>
                  </a:lnTo>
                  <a:lnTo>
                    <a:pt x="3796411" y="1209675"/>
                  </a:lnTo>
                  <a:lnTo>
                    <a:pt x="3853561" y="1209675"/>
                  </a:lnTo>
                  <a:lnTo>
                    <a:pt x="3853561" y="1190625"/>
                  </a:lnTo>
                  <a:close/>
                </a:path>
                <a:path w="8610600" h="1209675">
                  <a:moveTo>
                    <a:pt x="3863517" y="0"/>
                  </a:moveTo>
                  <a:lnTo>
                    <a:pt x="3806367" y="0"/>
                  </a:lnTo>
                  <a:lnTo>
                    <a:pt x="3806367" y="19050"/>
                  </a:lnTo>
                  <a:lnTo>
                    <a:pt x="3863517" y="19050"/>
                  </a:lnTo>
                  <a:lnTo>
                    <a:pt x="3863517" y="0"/>
                  </a:lnTo>
                  <a:close/>
                </a:path>
                <a:path w="8610600" h="1209675">
                  <a:moveTo>
                    <a:pt x="3948722" y="1190625"/>
                  </a:moveTo>
                  <a:lnTo>
                    <a:pt x="3891572" y="1190625"/>
                  </a:lnTo>
                  <a:lnTo>
                    <a:pt x="3891572" y="1209675"/>
                  </a:lnTo>
                  <a:lnTo>
                    <a:pt x="3948722" y="1209675"/>
                  </a:lnTo>
                  <a:lnTo>
                    <a:pt x="3948722" y="1190625"/>
                  </a:lnTo>
                  <a:close/>
                </a:path>
                <a:path w="8610600" h="1209675">
                  <a:moveTo>
                    <a:pt x="3958666" y="0"/>
                  </a:moveTo>
                  <a:lnTo>
                    <a:pt x="3901516" y="0"/>
                  </a:lnTo>
                  <a:lnTo>
                    <a:pt x="3901516" y="19050"/>
                  </a:lnTo>
                  <a:lnTo>
                    <a:pt x="3958666" y="19050"/>
                  </a:lnTo>
                  <a:lnTo>
                    <a:pt x="3958666" y="0"/>
                  </a:lnTo>
                  <a:close/>
                </a:path>
                <a:path w="8610600" h="1209675">
                  <a:moveTo>
                    <a:pt x="4043870" y="1190625"/>
                  </a:moveTo>
                  <a:lnTo>
                    <a:pt x="3986720" y="1190625"/>
                  </a:lnTo>
                  <a:lnTo>
                    <a:pt x="3986720" y="1209675"/>
                  </a:lnTo>
                  <a:lnTo>
                    <a:pt x="4043870" y="1209675"/>
                  </a:lnTo>
                  <a:lnTo>
                    <a:pt x="4043870" y="1190625"/>
                  </a:lnTo>
                  <a:close/>
                </a:path>
                <a:path w="8610600" h="1209675">
                  <a:moveTo>
                    <a:pt x="4053827" y="0"/>
                  </a:moveTo>
                  <a:lnTo>
                    <a:pt x="3996677" y="0"/>
                  </a:lnTo>
                  <a:lnTo>
                    <a:pt x="3996677" y="19050"/>
                  </a:lnTo>
                  <a:lnTo>
                    <a:pt x="4053827" y="19050"/>
                  </a:lnTo>
                  <a:lnTo>
                    <a:pt x="4053827" y="0"/>
                  </a:lnTo>
                  <a:close/>
                </a:path>
                <a:path w="8610600" h="1209675">
                  <a:moveTo>
                    <a:pt x="4139031" y="1190625"/>
                  </a:moveTo>
                  <a:lnTo>
                    <a:pt x="4081881" y="1190625"/>
                  </a:lnTo>
                  <a:lnTo>
                    <a:pt x="4081881" y="1209675"/>
                  </a:lnTo>
                  <a:lnTo>
                    <a:pt x="4139031" y="1209675"/>
                  </a:lnTo>
                  <a:lnTo>
                    <a:pt x="4139031" y="1190625"/>
                  </a:lnTo>
                  <a:close/>
                </a:path>
                <a:path w="8610600" h="1209675">
                  <a:moveTo>
                    <a:pt x="4148988" y="0"/>
                  </a:moveTo>
                  <a:lnTo>
                    <a:pt x="4091838" y="0"/>
                  </a:lnTo>
                  <a:lnTo>
                    <a:pt x="4091838" y="19050"/>
                  </a:lnTo>
                  <a:lnTo>
                    <a:pt x="4148988" y="19050"/>
                  </a:lnTo>
                  <a:lnTo>
                    <a:pt x="4148988" y="0"/>
                  </a:lnTo>
                  <a:close/>
                </a:path>
                <a:path w="8610600" h="1209675">
                  <a:moveTo>
                    <a:pt x="4234192" y="1190625"/>
                  </a:moveTo>
                  <a:lnTo>
                    <a:pt x="4177042" y="1190625"/>
                  </a:lnTo>
                  <a:lnTo>
                    <a:pt x="4177042" y="1209675"/>
                  </a:lnTo>
                  <a:lnTo>
                    <a:pt x="4234192" y="1209675"/>
                  </a:lnTo>
                  <a:lnTo>
                    <a:pt x="4234192" y="1190625"/>
                  </a:lnTo>
                  <a:close/>
                </a:path>
                <a:path w="8610600" h="1209675">
                  <a:moveTo>
                    <a:pt x="4244137" y="0"/>
                  </a:moveTo>
                  <a:lnTo>
                    <a:pt x="4186986" y="0"/>
                  </a:lnTo>
                  <a:lnTo>
                    <a:pt x="4186986" y="19050"/>
                  </a:lnTo>
                  <a:lnTo>
                    <a:pt x="4244137" y="19050"/>
                  </a:lnTo>
                  <a:lnTo>
                    <a:pt x="4244137" y="0"/>
                  </a:lnTo>
                  <a:close/>
                </a:path>
                <a:path w="8610600" h="1209675">
                  <a:moveTo>
                    <a:pt x="4329341" y="1190625"/>
                  </a:moveTo>
                  <a:lnTo>
                    <a:pt x="4272191" y="1190625"/>
                  </a:lnTo>
                  <a:lnTo>
                    <a:pt x="4272191" y="1209675"/>
                  </a:lnTo>
                  <a:lnTo>
                    <a:pt x="4329341" y="1209675"/>
                  </a:lnTo>
                  <a:lnTo>
                    <a:pt x="4329341" y="1190625"/>
                  </a:lnTo>
                  <a:close/>
                </a:path>
                <a:path w="8610600" h="1209675">
                  <a:moveTo>
                    <a:pt x="4339298" y="0"/>
                  </a:moveTo>
                  <a:lnTo>
                    <a:pt x="4282148" y="0"/>
                  </a:lnTo>
                  <a:lnTo>
                    <a:pt x="4282148" y="19050"/>
                  </a:lnTo>
                  <a:lnTo>
                    <a:pt x="4339298" y="19050"/>
                  </a:lnTo>
                  <a:lnTo>
                    <a:pt x="4339298" y="0"/>
                  </a:lnTo>
                  <a:close/>
                </a:path>
                <a:path w="8610600" h="1209675">
                  <a:moveTo>
                    <a:pt x="4424502" y="1190625"/>
                  </a:moveTo>
                  <a:lnTo>
                    <a:pt x="4367352" y="1190625"/>
                  </a:lnTo>
                  <a:lnTo>
                    <a:pt x="4367352" y="1209675"/>
                  </a:lnTo>
                  <a:lnTo>
                    <a:pt x="4424502" y="1209675"/>
                  </a:lnTo>
                  <a:lnTo>
                    <a:pt x="4424502" y="1190625"/>
                  </a:lnTo>
                  <a:close/>
                </a:path>
                <a:path w="8610600" h="1209675">
                  <a:moveTo>
                    <a:pt x="4434459" y="0"/>
                  </a:moveTo>
                  <a:lnTo>
                    <a:pt x="4377309" y="0"/>
                  </a:lnTo>
                  <a:lnTo>
                    <a:pt x="4377309" y="19050"/>
                  </a:lnTo>
                  <a:lnTo>
                    <a:pt x="4434459" y="19050"/>
                  </a:lnTo>
                  <a:lnTo>
                    <a:pt x="4434459" y="0"/>
                  </a:lnTo>
                  <a:close/>
                </a:path>
                <a:path w="8610600" h="1209675">
                  <a:moveTo>
                    <a:pt x="4519650" y="1190625"/>
                  </a:moveTo>
                  <a:lnTo>
                    <a:pt x="4462500" y="1190625"/>
                  </a:lnTo>
                  <a:lnTo>
                    <a:pt x="4462500" y="1209675"/>
                  </a:lnTo>
                  <a:lnTo>
                    <a:pt x="4519650" y="1209675"/>
                  </a:lnTo>
                  <a:lnTo>
                    <a:pt x="4519650" y="1190625"/>
                  </a:lnTo>
                  <a:close/>
                </a:path>
                <a:path w="8610600" h="1209675">
                  <a:moveTo>
                    <a:pt x="4529607" y="0"/>
                  </a:moveTo>
                  <a:lnTo>
                    <a:pt x="4472457" y="0"/>
                  </a:lnTo>
                  <a:lnTo>
                    <a:pt x="4472457" y="19050"/>
                  </a:lnTo>
                  <a:lnTo>
                    <a:pt x="4529607" y="19050"/>
                  </a:lnTo>
                  <a:lnTo>
                    <a:pt x="4529607" y="0"/>
                  </a:lnTo>
                  <a:close/>
                </a:path>
                <a:path w="8610600" h="1209675">
                  <a:moveTo>
                    <a:pt x="4614811" y="1190625"/>
                  </a:moveTo>
                  <a:lnTo>
                    <a:pt x="4557661" y="1190625"/>
                  </a:lnTo>
                  <a:lnTo>
                    <a:pt x="4557661" y="1209675"/>
                  </a:lnTo>
                  <a:lnTo>
                    <a:pt x="4614811" y="1209675"/>
                  </a:lnTo>
                  <a:lnTo>
                    <a:pt x="4614811" y="1190625"/>
                  </a:lnTo>
                  <a:close/>
                </a:path>
                <a:path w="8610600" h="1209675">
                  <a:moveTo>
                    <a:pt x="4624768" y="0"/>
                  </a:moveTo>
                  <a:lnTo>
                    <a:pt x="4567618" y="0"/>
                  </a:lnTo>
                  <a:lnTo>
                    <a:pt x="4567618" y="19050"/>
                  </a:lnTo>
                  <a:lnTo>
                    <a:pt x="4624768" y="19050"/>
                  </a:lnTo>
                  <a:lnTo>
                    <a:pt x="4624768" y="0"/>
                  </a:lnTo>
                  <a:close/>
                </a:path>
                <a:path w="8610600" h="1209675">
                  <a:moveTo>
                    <a:pt x="4709973" y="1190625"/>
                  </a:moveTo>
                  <a:lnTo>
                    <a:pt x="4652823" y="1190625"/>
                  </a:lnTo>
                  <a:lnTo>
                    <a:pt x="4652823" y="1209675"/>
                  </a:lnTo>
                  <a:lnTo>
                    <a:pt x="4709973" y="1209675"/>
                  </a:lnTo>
                  <a:lnTo>
                    <a:pt x="4709973" y="1190625"/>
                  </a:lnTo>
                  <a:close/>
                </a:path>
                <a:path w="8610600" h="1209675">
                  <a:moveTo>
                    <a:pt x="4719929" y="0"/>
                  </a:moveTo>
                  <a:lnTo>
                    <a:pt x="4662779" y="0"/>
                  </a:lnTo>
                  <a:lnTo>
                    <a:pt x="4662779" y="19050"/>
                  </a:lnTo>
                  <a:lnTo>
                    <a:pt x="4719929" y="19050"/>
                  </a:lnTo>
                  <a:lnTo>
                    <a:pt x="4719929" y="0"/>
                  </a:lnTo>
                  <a:close/>
                </a:path>
                <a:path w="8610600" h="1209675">
                  <a:moveTo>
                    <a:pt x="4805121" y="1190625"/>
                  </a:moveTo>
                  <a:lnTo>
                    <a:pt x="4747971" y="1190625"/>
                  </a:lnTo>
                  <a:lnTo>
                    <a:pt x="4747971" y="1209675"/>
                  </a:lnTo>
                  <a:lnTo>
                    <a:pt x="4805121" y="1209675"/>
                  </a:lnTo>
                  <a:lnTo>
                    <a:pt x="4805121" y="1190625"/>
                  </a:lnTo>
                  <a:close/>
                </a:path>
                <a:path w="8610600" h="1209675">
                  <a:moveTo>
                    <a:pt x="4815078" y="0"/>
                  </a:moveTo>
                  <a:lnTo>
                    <a:pt x="4757928" y="0"/>
                  </a:lnTo>
                  <a:lnTo>
                    <a:pt x="4757928" y="19050"/>
                  </a:lnTo>
                  <a:lnTo>
                    <a:pt x="4815078" y="19050"/>
                  </a:lnTo>
                  <a:lnTo>
                    <a:pt x="4815078" y="0"/>
                  </a:lnTo>
                  <a:close/>
                </a:path>
                <a:path w="8610600" h="1209675">
                  <a:moveTo>
                    <a:pt x="4900282" y="1190625"/>
                  </a:moveTo>
                  <a:lnTo>
                    <a:pt x="4843132" y="1190625"/>
                  </a:lnTo>
                  <a:lnTo>
                    <a:pt x="4843132" y="1209675"/>
                  </a:lnTo>
                  <a:lnTo>
                    <a:pt x="4900282" y="1209675"/>
                  </a:lnTo>
                  <a:lnTo>
                    <a:pt x="4900282" y="1190625"/>
                  </a:lnTo>
                  <a:close/>
                </a:path>
                <a:path w="8610600" h="1209675">
                  <a:moveTo>
                    <a:pt x="4910239" y="0"/>
                  </a:moveTo>
                  <a:lnTo>
                    <a:pt x="4853089" y="0"/>
                  </a:lnTo>
                  <a:lnTo>
                    <a:pt x="4853089" y="19050"/>
                  </a:lnTo>
                  <a:lnTo>
                    <a:pt x="4910239" y="19050"/>
                  </a:lnTo>
                  <a:lnTo>
                    <a:pt x="4910239" y="0"/>
                  </a:lnTo>
                  <a:close/>
                </a:path>
                <a:path w="8610600" h="1209675">
                  <a:moveTo>
                    <a:pt x="4995443" y="1190625"/>
                  </a:moveTo>
                  <a:lnTo>
                    <a:pt x="4938293" y="1190625"/>
                  </a:lnTo>
                  <a:lnTo>
                    <a:pt x="4938293" y="1209675"/>
                  </a:lnTo>
                  <a:lnTo>
                    <a:pt x="4995443" y="1209675"/>
                  </a:lnTo>
                  <a:lnTo>
                    <a:pt x="4995443" y="1190625"/>
                  </a:lnTo>
                  <a:close/>
                </a:path>
                <a:path w="8610600" h="1209675">
                  <a:moveTo>
                    <a:pt x="5005387" y="0"/>
                  </a:moveTo>
                  <a:lnTo>
                    <a:pt x="4948237" y="0"/>
                  </a:lnTo>
                  <a:lnTo>
                    <a:pt x="4948237" y="19050"/>
                  </a:lnTo>
                  <a:lnTo>
                    <a:pt x="5005387" y="19050"/>
                  </a:lnTo>
                  <a:lnTo>
                    <a:pt x="5005387" y="0"/>
                  </a:lnTo>
                  <a:close/>
                </a:path>
                <a:path w="8610600" h="1209675">
                  <a:moveTo>
                    <a:pt x="5090592" y="1190625"/>
                  </a:moveTo>
                  <a:lnTo>
                    <a:pt x="5033442" y="1190625"/>
                  </a:lnTo>
                  <a:lnTo>
                    <a:pt x="5033442" y="1209675"/>
                  </a:lnTo>
                  <a:lnTo>
                    <a:pt x="5090592" y="1209675"/>
                  </a:lnTo>
                  <a:lnTo>
                    <a:pt x="5090592" y="1190625"/>
                  </a:lnTo>
                  <a:close/>
                </a:path>
                <a:path w="8610600" h="1209675">
                  <a:moveTo>
                    <a:pt x="5100548" y="0"/>
                  </a:moveTo>
                  <a:lnTo>
                    <a:pt x="5043398" y="0"/>
                  </a:lnTo>
                  <a:lnTo>
                    <a:pt x="5043398" y="19050"/>
                  </a:lnTo>
                  <a:lnTo>
                    <a:pt x="5100548" y="19050"/>
                  </a:lnTo>
                  <a:lnTo>
                    <a:pt x="5100548" y="0"/>
                  </a:lnTo>
                  <a:close/>
                </a:path>
                <a:path w="8610600" h="1209675">
                  <a:moveTo>
                    <a:pt x="5185753" y="1190625"/>
                  </a:moveTo>
                  <a:lnTo>
                    <a:pt x="5128603" y="1190625"/>
                  </a:lnTo>
                  <a:lnTo>
                    <a:pt x="5128603" y="1209675"/>
                  </a:lnTo>
                  <a:lnTo>
                    <a:pt x="5185753" y="1209675"/>
                  </a:lnTo>
                  <a:lnTo>
                    <a:pt x="5185753" y="1190625"/>
                  </a:lnTo>
                  <a:close/>
                </a:path>
                <a:path w="8610600" h="1209675">
                  <a:moveTo>
                    <a:pt x="5195709" y="0"/>
                  </a:moveTo>
                  <a:lnTo>
                    <a:pt x="5138559" y="0"/>
                  </a:lnTo>
                  <a:lnTo>
                    <a:pt x="5138559" y="19050"/>
                  </a:lnTo>
                  <a:lnTo>
                    <a:pt x="5195709" y="19050"/>
                  </a:lnTo>
                  <a:lnTo>
                    <a:pt x="5195709" y="0"/>
                  </a:lnTo>
                  <a:close/>
                </a:path>
                <a:path w="8610600" h="1209675">
                  <a:moveTo>
                    <a:pt x="5280914" y="1190625"/>
                  </a:moveTo>
                  <a:lnTo>
                    <a:pt x="5223764" y="1190625"/>
                  </a:lnTo>
                  <a:lnTo>
                    <a:pt x="5223764" y="1209675"/>
                  </a:lnTo>
                  <a:lnTo>
                    <a:pt x="5280914" y="1209675"/>
                  </a:lnTo>
                  <a:lnTo>
                    <a:pt x="5280914" y="1190625"/>
                  </a:lnTo>
                  <a:close/>
                </a:path>
                <a:path w="8610600" h="1209675">
                  <a:moveTo>
                    <a:pt x="5290858" y="0"/>
                  </a:moveTo>
                  <a:lnTo>
                    <a:pt x="5233708" y="0"/>
                  </a:lnTo>
                  <a:lnTo>
                    <a:pt x="5233708" y="19050"/>
                  </a:lnTo>
                  <a:lnTo>
                    <a:pt x="5290858" y="19050"/>
                  </a:lnTo>
                  <a:lnTo>
                    <a:pt x="5290858" y="0"/>
                  </a:lnTo>
                  <a:close/>
                </a:path>
                <a:path w="8610600" h="1209675">
                  <a:moveTo>
                    <a:pt x="5376062" y="1190625"/>
                  </a:moveTo>
                  <a:lnTo>
                    <a:pt x="5318912" y="1190625"/>
                  </a:lnTo>
                  <a:lnTo>
                    <a:pt x="5318912" y="1209675"/>
                  </a:lnTo>
                  <a:lnTo>
                    <a:pt x="5376062" y="1209675"/>
                  </a:lnTo>
                  <a:lnTo>
                    <a:pt x="5376062" y="1190625"/>
                  </a:lnTo>
                  <a:close/>
                </a:path>
                <a:path w="8610600" h="1209675">
                  <a:moveTo>
                    <a:pt x="5386019" y="0"/>
                  </a:moveTo>
                  <a:lnTo>
                    <a:pt x="5328869" y="0"/>
                  </a:lnTo>
                  <a:lnTo>
                    <a:pt x="5328869" y="19050"/>
                  </a:lnTo>
                  <a:lnTo>
                    <a:pt x="5386019" y="19050"/>
                  </a:lnTo>
                  <a:lnTo>
                    <a:pt x="5386019" y="0"/>
                  </a:lnTo>
                  <a:close/>
                </a:path>
                <a:path w="8610600" h="1209675">
                  <a:moveTo>
                    <a:pt x="5471223" y="1190625"/>
                  </a:moveTo>
                  <a:lnTo>
                    <a:pt x="5414073" y="1190625"/>
                  </a:lnTo>
                  <a:lnTo>
                    <a:pt x="5414073" y="1209675"/>
                  </a:lnTo>
                  <a:lnTo>
                    <a:pt x="5471223" y="1209675"/>
                  </a:lnTo>
                  <a:lnTo>
                    <a:pt x="5471223" y="1190625"/>
                  </a:lnTo>
                  <a:close/>
                </a:path>
                <a:path w="8610600" h="1209675">
                  <a:moveTo>
                    <a:pt x="5481180" y="0"/>
                  </a:moveTo>
                  <a:lnTo>
                    <a:pt x="5424030" y="0"/>
                  </a:lnTo>
                  <a:lnTo>
                    <a:pt x="5424030" y="19050"/>
                  </a:lnTo>
                  <a:lnTo>
                    <a:pt x="5481180" y="19050"/>
                  </a:lnTo>
                  <a:lnTo>
                    <a:pt x="5481180" y="0"/>
                  </a:lnTo>
                  <a:close/>
                </a:path>
                <a:path w="8610600" h="1209675">
                  <a:moveTo>
                    <a:pt x="5566384" y="1190625"/>
                  </a:moveTo>
                  <a:lnTo>
                    <a:pt x="5509234" y="1190625"/>
                  </a:lnTo>
                  <a:lnTo>
                    <a:pt x="5509234" y="1209675"/>
                  </a:lnTo>
                  <a:lnTo>
                    <a:pt x="5566384" y="1209675"/>
                  </a:lnTo>
                  <a:lnTo>
                    <a:pt x="5566384" y="1190625"/>
                  </a:lnTo>
                  <a:close/>
                </a:path>
                <a:path w="8610600" h="1209675">
                  <a:moveTo>
                    <a:pt x="5576328" y="0"/>
                  </a:moveTo>
                  <a:lnTo>
                    <a:pt x="5519178" y="0"/>
                  </a:lnTo>
                  <a:lnTo>
                    <a:pt x="5519178" y="19050"/>
                  </a:lnTo>
                  <a:lnTo>
                    <a:pt x="5576328" y="19050"/>
                  </a:lnTo>
                  <a:lnTo>
                    <a:pt x="5576328" y="0"/>
                  </a:lnTo>
                  <a:close/>
                </a:path>
                <a:path w="8610600" h="1209675">
                  <a:moveTo>
                    <a:pt x="5661533" y="1190625"/>
                  </a:moveTo>
                  <a:lnTo>
                    <a:pt x="5604383" y="1190625"/>
                  </a:lnTo>
                  <a:lnTo>
                    <a:pt x="5604383" y="1209675"/>
                  </a:lnTo>
                  <a:lnTo>
                    <a:pt x="5661533" y="1209675"/>
                  </a:lnTo>
                  <a:lnTo>
                    <a:pt x="5661533" y="1190625"/>
                  </a:lnTo>
                  <a:close/>
                </a:path>
                <a:path w="8610600" h="1209675">
                  <a:moveTo>
                    <a:pt x="5671490" y="0"/>
                  </a:moveTo>
                  <a:lnTo>
                    <a:pt x="5614340" y="0"/>
                  </a:lnTo>
                  <a:lnTo>
                    <a:pt x="5614340" y="19050"/>
                  </a:lnTo>
                  <a:lnTo>
                    <a:pt x="5671490" y="19050"/>
                  </a:lnTo>
                  <a:lnTo>
                    <a:pt x="5671490" y="0"/>
                  </a:lnTo>
                  <a:close/>
                </a:path>
                <a:path w="8610600" h="1209675">
                  <a:moveTo>
                    <a:pt x="5756694" y="1190625"/>
                  </a:moveTo>
                  <a:lnTo>
                    <a:pt x="5699544" y="1190625"/>
                  </a:lnTo>
                  <a:lnTo>
                    <a:pt x="5699544" y="1209675"/>
                  </a:lnTo>
                  <a:lnTo>
                    <a:pt x="5756694" y="1209675"/>
                  </a:lnTo>
                  <a:lnTo>
                    <a:pt x="5756694" y="1190625"/>
                  </a:lnTo>
                  <a:close/>
                </a:path>
                <a:path w="8610600" h="1209675">
                  <a:moveTo>
                    <a:pt x="5766651" y="0"/>
                  </a:moveTo>
                  <a:lnTo>
                    <a:pt x="5709501" y="0"/>
                  </a:lnTo>
                  <a:lnTo>
                    <a:pt x="5709501" y="19050"/>
                  </a:lnTo>
                  <a:lnTo>
                    <a:pt x="5766651" y="19050"/>
                  </a:lnTo>
                  <a:lnTo>
                    <a:pt x="5766651" y="0"/>
                  </a:lnTo>
                  <a:close/>
                </a:path>
                <a:path w="8610600" h="1209675">
                  <a:moveTo>
                    <a:pt x="5851855" y="1190625"/>
                  </a:moveTo>
                  <a:lnTo>
                    <a:pt x="5794705" y="1190625"/>
                  </a:lnTo>
                  <a:lnTo>
                    <a:pt x="5794705" y="1209675"/>
                  </a:lnTo>
                  <a:lnTo>
                    <a:pt x="5851855" y="1209675"/>
                  </a:lnTo>
                  <a:lnTo>
                    <a:pt x="5851855" y="1190625"/>
                  </a:lnTo>
                  <a:close/>
                </a:path>
                <a:path w="8610600" h="1209675">
                  <a:moveTo>
                    <a:pt x="5861799" y="0"/>
                  </a:moveTo>
                  <a:lnTo>
                    <a:pt x="5804649" y="0"/>
                  </a:lnTo>
                  <a:lnTo>
                    <a:pt x="5804649" y="19050"/>
                  </a:lnTo>
                  <a:lnTo>
                    <a:pt x="5861799" y="19050"/>
                  </a:lnTo>
                  <a:lnTo>
                    <a:pt x="5861799" y="0"/>
                  </a:lnTo>
                  <a:close/>
                </a:path>
                <a:path w="8610600" h="1209675">
                  <a:moveTo>
                    <a:pt x="5947003" y="1190625"/>
                  </a:moveTo>
                  <a:lnTo>
                    <a:pt x="5889853" y="1190625"/>
                  </a:lnTo>
                  <a:lnTo>
                    <a:pt x="5889853" y="1209675"/>
                  </a:lnTo>
                  <a:lnTo>
                    <a:pt x="5947003" y="1209675"/>
                  </a:lnTo>
                  <a:lnTo>
                    <a:pt x="5947003" y="1190625"/>
                  </a:lnTo>
                  <a:close/>
                </a:path>
                <a:path w="8610600" h="1209675">
                  <a:moveTo>
                    <a:pt x="5956960" y="0"/>
                  </a:moveTo>
                  <a:lnTo>
                    <a:pt x="5899810" y="0"/>
                  </a:lnTo>
                  <a:lnTo>
                    <a:pt x="5899810" y="19050"/>
                  </a:lnTo>
                  <a:lnTo>
                    <a:pt x="5956960" y="19050"/>
                  </a:lnTo>
                  <a:lnTo>
                    <a:pt x="5956960" y="0"/>
                  </a:lnTo>
                  <a:close/>
                </a:path>
                <a:path w="8610600" h="1209675">
                  <a:moveTo>
                    <a:pt x="6042164" y="1190625"/>
                  </a:moveTo>
                  <a:lnTo>
                    <a:pt x="5985014" y="1190625"/>
                  </a:lnTo>
                  <a:lnTo>
                    <a:pt x="5985014" y="1209675"/>
                  </a:lnTo>
                  <a:lnTo>
                    <a:pt x="6042164" y="1209675"/>
                  </a:lnTo>
                  <a:lnTo>
                    <a:pt x="6042164" y="1190625"/>
                  </a:lnTo>
                  <a:close/>
                </a:path>
                <a:path w="8610600" h="1209675">
                  <a:moveTo>
                    <a:pt x="6052121" y="0"/>
                  </a:moveTo>
                  <a:lnTo>
                    <a:pt x="5994971" y="0"/>
                  </a:lnTo>
                  <a:lnTo>
                    <a:pt x="5994971" y="19050"/>
                  </a:lnTo>
                  <a:lnTo>
                    <a:pt x="6052121" y="19050"/>
                  </a:lnTo>
                  <a:lnTo>
                    <a:pt x="6052121" y="0"/>
                  </a:lnTo>
                  <a:close/>
                </a:path>
                <a:path w="8610600" h="1209675">
                  <a:moveTo>
                    <a:pt x="6137326" y="1190625"/>
                  </a:moveTo>
                  <a:lnTo>
                    <a:pt x="6080176" y="1190625"/>
                  </a:lnTo>
                  <a:lnTo>
                    <a:pt x="6080176" y="1209675"/>
                  </a:lnTo>
                  <a:lnTo>
                    <a:pt x="6137326" y="1209675"/>
                  </a:lnTo>
                  <a:lnTo>
                    <a:pt x="6137326" y="1190625"/>
                  </a:lnTo>
                  <a:close/>
                </a:path>
                <a:path w="8610600" h="1209675">
                  <a:moveTo>
                    <a:pt x="6147270" y="0"/>
                  </a:moveTo>
                  <a:lnTo>
                    <a:pt x="6090120" y="0"/>
                  </a:lnTo>
                  <a:lnTo>
                    <a:pt x="6090120" y="19050"/>
                  </a:lnTo>
                  <a:lnTo>
                    <a:pt x="6147270" y="19050"/>
                  </a:lnTo>
                  <a:lnTo>
                    <a:pt x="6147270" y="0"/>
                  </a:lnTo>
                  <a:close/>
                </a:path>
                <a:path w="8610600" h="1209675">
                  <a:moveTo>
                    <a:pt x="6232474" y="1190625"/>
                  </a:moveTo>
                  <a:lnTo>
                    <a:pt x="6175324" y="1190625"/>
                  </a:lnTo>
                  <a:lnTo>
                    <a:pt x="6175324" y="1209675"/>
                  </a:lnTo>
                  <a:lnTo>
                    <a:pt x="6232474" y="1209675"/>
                  </a:lnTo>
                  <a:lnTo>
                    <a:pt x="6232474" y="1190625"/>
                  </a:lnTo>
                  <a:close/>
                </a:path>
                <a:path w="8610600" h="1209675">
                  <a:moveTo>
                    <a:pt x="6242431" y="0"/>
                  </a:moveTo>
                  <a:lnTo>
                    <a:pt x="6185281" y="0"/>
                  </a:lnTo>
                  <a:lnTo>
                    <a:pt x="6185281" y="19050"/>
                  </a:lnTo>
                  <a:lnTo>
                    <a:pt x="6242431" y="19050"/>
                  </a:lnTo>
                  <a:lnTo>
                    <a:pt x="6242431" y="0"/>
                  </a:lnTo>
                  <a:close/>
                </a:path>
                <a:path w="8610600" h="1209675">
                  <a:moveTo>
                    <a:pt x="6327635" y="1190625"/>
                  </a:moveTo>
                  <a:lnTo>
                    <a:pt x="6270485" y="1190625"/>
                  </a:lnTo>
                  <a:lnTo>
                    <a:pt x="6270485" y="1209675"/>
                  </a:lnTo>
                  <a:lnTo>
                    <a:pt x="6327635" y="1209675"/>
                  </a:lnTo>
                  <a:lnTo>
                    <a:pt x="6327635" y="1190625"/>
                  </a:lnTo>
                  <a:close/>
                </a:path>
                <a:path w="8610600" h="1209675">
                  <a:moveTo>
                    <a:pt x="6337579" y="0"/>
                  </a:moveTo>
                  <a:lnTo>
                    <a:pt x="6280429" y="0"/>
                  </a:lnTo>
                  <a:lnTo>
                    <a:pt x="6280429" y="19050"/>
                  </a:lnTo>
                  <a:lnTo>
                    <a:pt x="6337579" y="19050"/>
                  </a:lnTo>
                  <a:lnTo>
                    <a:pt x="6337579" y="0"/>
                  </a:lnTo>
                  <a:close/>
                </a:path>
                <a:path w="8610600" h="1209675">
                  <a:moveTo>
                    <a:pt x="6422784" y="1190625"/>
                  </a:moveTo>
                  <a:lnTo>
                    <a:pt x="6365634" y="1190625"/>
                  </a:lnTo>
                  <a:lnTo>
                    <a:pt x="6365634" y="1209675"/>
                  </a:lnTo>
                  <a:lnTo>
                    <a:pt x="6422784" y="1209675"/>
                  </a:lnTo>
                  <a:lnTo>
                    <a:pt x="6422784" y="1190625"/>
                  </a:lnTo>
                  <a:close/>
                </a:path>
                <a:path w="8610600" h="1209675">
                  <a:moveTo>
                    <a:pt x="6432740" y="0"/>
                  </a:moveTo>
                  <a:lnTo>
                    <a:pt x="6375590" y="0"/>
                  </a:lnTo>
                  <a:lnTo>
                    <a:pt x="6375590" y="19050"/>
                  </a:lnTo>
                  <a:lnTo>
                    <a:pt x="6432740" y="19050"/>
                  </a:lnTo>
                  <a:lnTo>
                    <a:pt x="6432740" y="0"/>
                  </a:lnTo>
                  <a:close/>
                </a:path>
                <a:path w="8610600" h="1209675">
                  <a:moveTo>
                    <a:pt x="6517945" y="1190625"/>
                  </a:moveTo>
                  <a:lnTo>
                    <a:pt x="6460795" y="1190625"/>
                  </a:lnTo>
                  <a:lnTo>
                    <a:pt x="6460795" y="1209675"/>
                  </a:lnTo>
                  <a:lnTo>
                    <a:pt x="6517945" y="1209675"/>
                  </a:lnTo>
                  <a:lnTo>
                    <a:pt x="6517945" y="1190625"/>
                  </a:lnTo>
                  <a:close/>
                </a:path>
                <a:path w="8610600" h="1209675">
                  <a:moveTo>
                    <a:pt x="6527901" y="0"/>
                  </a:moveTo>
                  <a:lnTo>
                    <a:pt x="6470751" y="0"/>
                  </a:lnTo>
                  <a:lnTo>
                    <a:pt x="6470751" y="19050"/>
                  </a:lnTo>
                  <a:lnTo>
                    <a:pt x="6527901" y="19050"/>
                  </a:lnTo>
                  <a:lnTo>
                    <a:pt x="6527901" y="0"/>
                  </a:lnTo>
                  <a:close/>
                </a:path>
                <a:path w="8610600" h="1209675">
                  <a:moveTo>
                    <a:pt x="6613106" y="1190625"/>
                  </a:moveTo>
                  <a:lnTo>
                    <a:pt x="6555956" y="1190625"/>
                  </a:lnTo>
                  <a:lnTo>
                    <a:pt x="6555956" y="1209675"/>
                  </a:lnTo>
                  <a:lnTo>
                    <a:pt x="6613106" y="1209675"/>
                  </a:lnTo>
                  <a:lnTo>
                    <a:pt x="6613106" y="1190625"/>
                  </a:lnTo>
                  <a:close/>
                </a:path>
                <a:path w="8610600" h="1209675">
                  <a:moveTo>
                    <a:pt x="6623050" y="0"/>
                  </a:moveTo>
                  <a:lnTo>
                    <a:pt x="6565900" y="0"/>
                  </a:lnTo>
                  <a:lnTo>
                    <a:pt x="6565900" y="19050"/>
                  </a:lnTo>
                  <a:lnTo>
                    <a:pt x="6623050" y="19050"/>
                  </a:lnTo>
                  <a:lnTo>
                    <a:pt x="6623050" y="0"/>
                  </a:lnTo>
                  <a:close/>
                </a:path>
                <a:path w="8610600" h="1209675">
                  <a:moveTo>
                    <a:pt x="6708254" y="1190625"/>
                  </a:moveTo>
                  <a:lnTo>
                    <a:pt x="6651104" y="1190625"/>
                  </a:lnTo>
                  <a:lnTo>
                    <a:pt x="6651104" y="1209675"/>
                  </a:lnTo>
                  <a:lnTo>
                    <a:pt x="6708254" y="1209675"/>
                  </a:lnTo>
                  <a:lnTo>
                    <a:pt x="6708254" y="1190625"/>
                  </a:lnTo>
                  <a:close/>
                </a:path>
                <a:path w="8610600" h="1209675">
                  <a:moveTo>
                    <a:pt x="6718211" y="0"/>
                  </a:moveTo>
                  <a:lnTo>
                    <a:pt x="6661061" y="0"/>
                  </a:lnTo>
                  <a:lnTo>
                    <a:pt x="6661061" y="19050"/>
                  </a:lnTo>
                  <a:lnTo>
                    <a:pt x="6718211" y="19050"/>
                  </a:lnTo>
                  <a:lnTo>
                    <a:pt x="6718211" y="0"/>
                  </a:lnTo>
                  <a:close/>
                </a:path>
                <a:path w="8610600" h="1209675">
                  <a:moveTo>
                    <a:pt x="6803415" y="1190625"/>
                  </a:moveTo>
                  <a:lnTo>
                    <a:pt x="6746265" y="1190625"/>
                  </a:lnTo>
                  <a:lnTo>
                    <a:pt x="6746265" y="1209675"/>
                  </a:lnTo>
                  <a:lnTo>
                    <a:pt x="6803415" y="1209675"/>
                  </a:lnTo>
                  <a:lnTo>
                    <a:pt x="6803415" y="1190625"/>
                  </a:lnTo>
                  <a:close/>
                </a:path>
                <a:path w="8610600" h="1209675">
                  <a:moveTo>
                    <a:pt x="6813372" y="0"/>
                  </a:moveTo>
                  <a:lnTo>
                    <a:pt x="6756222" y="0"/>
                  </a:lnTo>
                  <a:lnTo>
                    <a:pt x="6756222" y="19050"/>
                  </a:lnTo>
                  <a:lnTo>
                    <a:pt x="6813372" y="19050"/>
                  </a:lnTo>
                  <a:lnTo>
                    <a:pt x="6813372" y="0"/>
                  </a:lnTo>
                  <a:close/>
                </a:path>
                <a:path w="8610600" h="1209675">
                  <a:moveTo>
                    <a:pt x="6898576" y="1190625"/>
                  </a:moveTo>
                  <a:lnTo>
                    <a:pt x="6841426" y="1190625"/>
                  </a:lnTo>
                  <a:lnTo>
                    <a:pt x="6841426" y="1209675"/>
                  </a:lnTo>
                  <a:lnTo>
                    <a:pt x="6898576" y="1209675"/>
                  </a:lnTo>
                  <a:lnTo>
                    <a:pt x="6898576" y="1190625"/>
                  </a:lnTo>
                  <a:close/>
                </a:path>
                <a:path w="8610600" h="1209675">
                  <a:moveTo>
                    <a:pt x="6908520" y="0"/>
                  </a:moveTo>
                  <a:lnTo>
                    <a:pt x="6851370" y="0"/>
                  </a:lnTo>
                  <a:lnTo>
                    <a:pt x="6851370" y="19050"/>
                  </a:lnTo>
                  <a:lnTo>
                    <a:pt x="6908520" y="19050"/>
                  </a:lnTo>
                  <a:lnTo>
                    <a:pt x="6908520" y="0"/>
                  </a:lnTo>
                  <a:close/>
                </a:path>
                <a:path w="8610600" h="1209675">
                  <a:moveTo>
                    <a:pt x="6993725" y="1190625"/>
                  </a:moveTo>
                  <a:lnTo>
                    <a:pt x="6936575" y="1190625"/>
                  </a:lnTo>
                  <a:lnTo>
                    <a:pt x="6936575" y="1209675"/>
                  </a:lnTo>
                  <a:lnTo>
                    <a:pt x="6993725" y="1209675"/>
                  </a:lnTo>
                  <a:lnTo>
                    <a:pt x="6993725" y="1190625"/>
                  </a:lnTo>
                  <a:close/>
                </a:path>
                <a:path w="8610600" h="1209675">
                  <a:moveTo>
                    <a:pt x="7003682" y="0"/>
                  </a:moveTo>
                  <a:lnTo>
                    <a:pt x="6946532" y="0"/>
                  </a:lnTo>
                  <a:lnTo>
                    <a:pt x="6946532" y="19050"/>
                  </a:lnTo>
                  <a:lnTo>
                    <a:pt x="7003682" y="19050"/>
                  </a:lnTo>
                  <a:lnTo>
                    <a:pt x="7003682" y="0"/>
                  </a:lnTo>
                  <a:close/>
                </a:path>
                <a:path w="8610600" h="1209675">
                  <a:moveTo>
                    <a:pt x="7088886" y="1190625"/>
                  </a:moveTo>
                  <a:lnTo>
                    <a:pt x="7031736" y="1190625"/>
                  </a:lnTo>
                  <a:lnTo>
                    <a:pt x="7031736" y="1209675"/>
                  </a:lnTo>
                  <a:lnTo>
                    <a:pt x="7088886" y="1209675"/>
                  </a:lnTo>
                  <a:lnTo>
                    <a:pt x="7088886" y="1190625"/>
                  </a:lnTo>
                  <a:close/>
                </a:path>
                <a:path w="8610600" h="1209675">
                  <a:moveTo>
                    <a:pt x="7098843" y="0"/>
                  </a:moveTo>
                  <a:lnTo>
                    <a:pt x="7041693" y="0"/>
                  </a:lnTo>
                  <a:lnTo>
                    <a:pt x="7041693" y="19050"/>
                  </a:lnTo>
                  <a:lnTo>
                    <a:pt x="7098843" y="19050"/>
                  </a:lnTo>
                  <a:lnTo>
                    <a:pt x="7098843" y="0"/>
                  </a:lnTo>
                  <a:close/>
                </a:path>
                <a:path w="8610600" h="1209675">
                  <a:moveTo>
                    <a:pt x="7184047" y="1190625"/>
                  </a:moveTo>
                  <a:lnTo>
                    <a:pt x="7126897" y="1190625"/>
                  </a:lnTo>
                  <a:lnTo>
                    <a:pt x="7126897" y="1209675"/>
                  </a:lnTo>
                  <a:lnTo>
                    <a:pt x="7184047" y="1209675"/>
                  </a:lnTo>
                  <a:lnTo>
                    <a:pt x="7184047" y="1190625"/>
                  </a:lnTo>
                  <a:close/>
                </a:path>
                <a:path w="8610600" h="1209675">
                  <a:moveTo>
                    <a:pt x="7193991" y="0"/>
                  </a:moveTo>
                  <a:lnTo>
                    <a:pt x="7136841" y="0"/>
                  </a:lnTo>
                  <a:lnTo>
                    <a:pt x="7136841" y="19050"/>
                  </a:lnTo>
                  <a:lnTo>
                    <a:pt x="7193991" y="19050"/>
                  </a:lnTo>
                  <a:lnTo>
                    <a:pt x="7193991" y="0"/>
                  </a:lnTo>
                  <a:close/>
                </a:path>
                <a:path w="8610600" h="1209675">
                  <a:moveTo>
                    <a:pt x="7279195" y="1190625"/>
                  </a:moveTo>
                  <a:lnTo>
                    <a:pt x="7222045" y="1190625"/>
                  </a:lnTo>
                  <a:lnTo>
                    <a:pt x="7222045" y="1209675"/>
                  </a:lnTo>
                  <a:lnTo>
                    <a:pt x="7279195" y="1209675"/>
                  </a:lnTo>
                  <a:lnTo>
                    <a:pt x="7279195" y="1190625"/>
                  </a:lnTo>
                  <a:close/>
                </a:path>
                <a:path w="8610600" h="1209675">
                  <a:moveTo>
                    <a:pt x="7289152" y="0"/>
                  </a:moveTo>
                  <a:lnTo>
                    <a:pt x="7232002" y="0"/>
                  </a:lnTo>
                  <a:lnTo>
                    <a:pt x="7232002" y="19050"/>
                  </a:lnTo>
                  <a:lnTo>
                    <a:pt x="7289152" y="19050"/>
                  </a:lnTo>
                  <a:lnTo>
                    <a:pt x="7289152" y="0"/>
                  </a:lnTo>
                  <a:close/>
                </a:path>
                <a:path w="8610600" h="1209675">
                  <a:moveTo>
                    <a:pt x="7374356" y="1190625"/>
                  </a:moveTo>
                  <a:lnTo>
                    <a:pt x="7317206" y="1190625"/>
                  </a:lnTo>
                  <a:lnTo>
                    <a:pt x="7317206" y="1209675"/>
                  </a:lnTo>
                  <a:lnTo>
                    <a:pt x="7374356" y="1209675"/>
                  </a:lnTo>
                  <a:lnTo>
                    <a:pt x="7374356" y="1190625"/>
                  </a:lnTo>
                  <a:close/>
                </a:path>
                <a:path w="8610600" h="1209675">
                  <a:moveTo>
                    <a:pt x="7384313" y="0"/>
                  </a:moveTo>
                  <a:lnTo>
                    <a:pt x="7327163" y="0"/>
                  </a:lnTo>
                  <a:lnTo>
                    <a:pt x="7327163" y="19050"/>
                  </a:lnTo>
                  <a:lnTo>
                    <a:pt x="7384313" y="19050"/>
                  </a:lnTo>
                  <a:lnTo>
                    <a:pt x="7384313" y="0"/>
                  </a:lnTo>
                  <a:close/>
                </a:path>
                <a:path w="8610600" h="1209675">
                  <a:moveTo>
                    <a:pt x="7469518" y="1190625"/>
                  </a:moveTo>
                  <a:lnTo>
                    <a:pt x="7412368" y="1190625"/>
                  </a:lnTo>
                  <a:lnTo>
                    <a:pt x="7412368" y="1209675"/>
                  </a:lnTo>
                  <a:lnTo>
                    <a:pt x="7469518" y="1209675"/>
                  </a:lnTo>
                  <a:lnTo>
                    <a:pt x="7469518" y="1190625"/>
                  </a:lnTo>
                  <a:close/>
                </a:path>
                <a:path w="8610600" h="1209675">
                  <a:moveTo>
                    <a:pt x="7479462" y="0"/>
                  </a:moveTo>
                  <a:lnTo>
                    <a:pt x="7422312" y="0"/>
                  </a:lnTo>
                  <a:lnTo>
                    <a:pt x="7422312" y="19050"/>
                  </a:lnTo>
                  <a:lnTo>
                    <a:pt x="7479462" y="19050"/>
                  </a:lnTo>
                  <a:lnTo>
                    <a:pt x="7479462" y="0"/>
                  </a:lnTo>
                  <a:close/>
                </a:path>
                <a:path w="8610600" h="1209675">
                  <a:moveTo>
                    <a:pt x="7564666" y="1190625"/>
                  </a:moveTo>
                  <a:lnTo>
                    <a:pt x="7507516" y="1190625"/>
                  </a:lnTo>
                  <a:lnTo>
                    <a:pt x="7507516" y="1209675"/>
                  </a:lnTo>
                  <a:lnTo>
                    <a:pt x="7564666" y="1209675"/>
                  </a:lnTo>
                  <a:lnTo>
                    <a:pt x="7564666" y="1190625"/>
                  </a:lnTo>
                  <a:close/>
                </a:path>
                <a:path w="8610600" h="1209675">
                  <a:moveTo>
                    <a:pt x="7574623" y="0"/>
                  </a:moveTo>
                  <a:lnTo>
                    <a:pt x="7517473" y="0"/>
                  </a:lnTo>
                  <a:lnTo>
                    <a:pt x="7517473" y="19050"/>
                  </a:lnTo>
                  <a:lnTo>
                    <a:pt x="7574623" y="19050"/>
                  </a:lnTo>
                  <a:lnTo>
                    <a:pt x="7574623" y="0"/>
                  </a:lnTo>
                  <a:close/>
                </a:path>
                <a:path w="8610600" h="1209675">
                  <a:moveTo>
                    <a:pt x="7659827" y="1190625"/>
                  </a:moveTo>
                  <a:lnTo>
                    <a:pt x="7602677" y="1190625"/>
                  </a:lnTo>
                  <a:lnTo>
                    <a:pt x="7602677" y="1209675"/>
                  </a:lnTo>
                  <a:lnTo>
                    <a:pt x="7659827" y="1209675"/>
                  </a:lnTo>
                  <a:lnTo>
                    <a:pt x="7659827" y="1190625"/>
                  </a:lnTo>
                  <a:close/>
                </a:path>
                <a:path w="8610600" h="1209675">
                  <a:moveTo>
                    <a:pt x="7669784" y="0"/>
                  </a:moveTo>
                  <a:lnTo>
                    <a:pt x="7612634" y="0"/>
                  </a:lnTo>
                  <a:lnTo>
                    <a:pt x="7612634" y="19050"/>
                  </a:lnTo>
                  <a:lnTo>
                    <a:pt x="7669784" y="19050"/>
                  </a:lnTo>
                  <a:lnTo>
                    <a:pt x="7669784" y="0"/>
                  </a:lnTo>
                  <a:close/>
                </a:path>
                <a:path w="8610600" h="1209675">
                  <a:moveTo>
                    <a:pt x="7754975" y="1190625"/>
                  </a:moveTo>
                  <a:lnTo>
                    <a:pt x="7697825" y="1190625"/>
                  </a:lnTo>
                  <a:lnTo>
                    <a:pt x="7697825" y="1209675"/>
                  </a:lnTo>
                  <a:lnTo>
                    <a:pt x="7754975" y="1209675"/>
                  </a:lnTo>
                  <a:lnTo>
                    <a:pt x="7754975" y="1190625"/>
                  </a:lnTo>
                  <a:close/>
                </a:path>
                <a:path w="8610600" h="1209675">
                  <a:moveTo>
                    <a:pt x="7764932" y="0"/>
                  </a:moveTo>
                  <a:lnTo>
                    <a:pt x="7707782" y="0"/>
                  </a:lnTo>
                  <a:lnTo>
                    <a:pt x="7707782" y="19050"/>
                  </a:lnTo>
                  <a:lnTo>
                    <a:pt x="7764932" y="19050"/>
                  </a:lnTo>
                  <a:lnTo>
                    <a:pt x="7764932" y="0"/>
                  </a:lnTo>
                  <a:close/>
                </a:path>
                <a:path w="8610600" h="1209675">
                  <a:moveTo>
                    <a:pt x="7850137" y="1190625"/>
                  </a:moveTo>
                  <a:lnTo>
                    <a:pt x="7792987" y="1190625"/>
                  </a:lnTo>
                  <a:lnTo>
                    <a:pt x="7792987" y="1209675"/>
                  </a:lnTo>
                  <a:lnTo>
                    <a:pt x="7850137" y="1209675"/>
                  </a:lnTo>
                  <a:lnTo>
                    <a:pt x="7850137" y="1190625"/>
                  </a:lnTo>
                  <a:close/>
                </a:path>
                <a:path w="8610600" h="1209675">
                  <a:moveTo>
                    <a:pt x="7860093" y="0"/>
                  </a:moveTo>
                  <a:lnTo>
                    <a:pt x="7802943" y="0"/>
                  </a:lnTo>
                  <a:lnTo>
                    <a:pt x="7802943" y="19050"/>
                  </a:lnTo>
                  <a:lnTo>
                    <a:pt x="7860093" y="19050"/>
                  </a:lnTo>
                  <a:lnTo>
                    <a:pt x="7860093" y="0"/>
                  </a:lnTo>
                  <a:close/>
                </a:path>
                <a:path w="8610600" h="1209675">
                  <a:moveTo>
                    <a:pt x="7945298" y="1190625"/>
                  </a:moveTo>
                  <a:lnTo>
                    <a:pt x="7888148" y="1190625"/>
                  </a:lnTo>
                  <a:lnTo>
                    <a:pt x="7888148" y="1209675"/>
                  </a:lnTo>
                  <a:lnTo>
                    <a:pt x="7945298" y="1209675"/>
                  </a:lnTo>
                  <a:lnTo>
                    <a:pt x="7945298" y="1190625"/>
                  </a:lnTo>
                  <a:close/>
                </a:path>
                <a:path w="8610600" h="1209675">
                  <a:moveTo>
                    <a:pt x="7955242" y="0"/>
                  </a:moveTo>
                  <a:lnTo>
                    <a:pt x="7898092" y="0"/>
                  </a:lnTo>
                  <a:lnTo>
                    <a:pt x="7898092" y="19050"/>
                  </a:lnTo>
                  <a:lnTo>
                    <a:pt x="7955242" y="19050"/>
                  </a:lnTo>
                  <a:lnTo>
                    <a:pt x="7955242" y="0"/>
                  </a:lnTo>
                  <a:close/>
                </a:path>
                <a:path w="8610600" h="1209675">
                  <a:moveTo>
                    <a:pt x="8040446" y="1190625"/>
                  </a:moveTo>
                  <a:lnTo>
                    <a:pt x="7983296" y="1190625"/>
                  </a:lnTo>
                  <a:lnTo>
                    <a:pt x="7983296" y="1209675"/>
                  </a:lnTo>
                  <a:lnTo>
                    <a:pt x="8040446" y="1209675"/>
                  </a:lnTo>
                  <a:lnTo>
                    <a:pt x="8040446" y="1190625"/>
                  </a:lnTo>
                  <a:close/>
                </a:path>
                <a:path w="8610600" h="1209675">
                  <a:moveTo>
                    <a:pt x="8050403" y="0"/>
                  </a:moveTo>
                  <a:lnTo>
                    <a:pt x="7993253" y="0"/>
                  </a:lnTo>
                  <a:lnTo>
                    <a:pt x="7993253" y="19050"/>
                  </a:lnTo>
                  <a:lnTo>
                    <a:pt x="8050403" y="19050"/>
                  </a:lnTo>
                  <a:lnTo>
                    <a:pt x="8050403" y="0"/>
                  </a:lnTo>
                  <a:close/>
                </a:path>
                <a:path w="8610600" h="1209675">
                  <a:moveTo>
                    <a:pt x="8135607" y="1190625"/>
                  </a:moveTo>
                  <a:lnTo>
                    <a:pt x="8078457" y="1190625"/>
                  </a:lnTo>
                  <a:lnTo>
                    <a:pt x="8078457" y="1209675"/>
                  </a:lnTo>
                  <a:lnTo>
                    <a:pt x="8135607" y="1209675"/>
                  </a:lnTo>
                  <a:lnTo>
                    <a:pt x="8135607" y="1190625"/>
                  </a:lnTo>
                  <a:close/>
                </a:path>
                <a:path w="8610600" h="1209675">
                  <a:moveTo>
                    <a:pt x="8145564" y="0"/>
                  </a:moveTo>
                  <a:lnTo>
                    <a:pt x="8088414" y="0"/>
                  </a:lnTo>
                  <a:lnTo>
                    <a:pt x="8088414" y="19050"/>
                  </a:lnTo>
                  <a:lnTo>
                    <a:pt x="8145564" y="19050"/>
                  </a:lnTo>
                  <a:lnTo>
                    <a:pt x="8145564" y="0"/>
                  </a:lnTo>
                  <a:close/>
                </a:path>
                <a:path w="8610600" h="1209675">
                  <a:moveTo>
                    <a:pt x="8230768" y="1190625"/>
                  </a:moveTo>
                  <a:lnTo>
                    <a:pt x="8173618" y="1190625"/>
                  </a:lnTo>
                  <a:lnTo>
                    <a:pt x="8173618" y="1209675"/>
                  </a:lnTo>
                  <a:lnTo>
                    <a:pt x="8230768" y="1209675"/>
                  </a:lnTo>
                  <a:lnTo>
                    <a:pt x="8230768" y="1190625"/>
                  </a:lnTo>
                  <a:close/>
                </a:path>
                <a:path w="8610600" h="1209675">
                  <a:moveTo>
                    <a:pt x="8240712" y="0"/>
                  </a:moveTo>
                  <a:lnTo>
                    <a:pt x="8183562" y="0"/>
                  </a:lnTo>
                  <a:lnTo>
                    <a:pt x="8183562" y="19050"/>
                  </a:lnTo>
                  <a:lnTo>
                    <a:pt x="8240712" y="19050"/>
                  </a:lnTo>
                  <a:lnTo>
                    <a:pt x="8240712" y="0"/>
                  </a:lnTo>
                  <a:close/>
                </a:path>
                <a:path w="8610600" h="1209675">
                  <a:moveTo>
                    <a:pt x="8325917" y="1190625"/>
                  </a:moveTo>
                  <a:lnTo>
                    <a:pt x="8268767" y="1190625"/>
                  </a:lnTo>
                  <a:lnTo>
                    <a:pt x="8268767" y="1209675"/>
                  </a:lnTo>
                  <a:lnTo>
                    <a:pt x="8325917" y="1209675"/>
                  </a:lnTo>
                  <a:lnTo>
                    <a:pt x="8325917" y="1190625"/>
                  </a:lnTo>
                  <a:close/>
                </a:path>
                <a:path w="8610600" h="1209675">
                  <a:moveTo>
                    <a:pt x="8335873" y="0"/>
                  </a:moveTo>
                  <a:lnTo>
                    <a:pt x="8278723" y="0"/>
                  </a:lnTo>
                  <a:lnTo>
                    <a:pt x="8278723" y="19050"/>
                  </a:lnTo>
                  <a:lnTo>
                    <a:pt x="8335873" y="19050"/>
                  </a:lnTo>
                  <a:lnTo>
                    <a:pt x="8335873" y="0"/>
                  </a:lnTo>
                  <a:close/>
                </a:path>
                <a:path w="8610600" h="1209675">
                  <a:moveTo>
                    <a:pt x="8421078" y="1190625"/>
                  </a:moveTo>
                  <a:lnTo>
                    <a:pt x="8363928" y="1190625"/>
                  </a:lnTo>
                  <a:lnTo>
                    <a:pt x="8363928" y="1209675"/>
                  </a:lnTo>
                  <a:lnTo>
                    <a:pt x="8421078" y="1209675"/>
                  </a:lnTo>
                  <a:lnTo>
                    <a:pt x="8421078" y="1190625"/>
                  </a:lnTo>
                  <a:close/>
                </a:path>
                <a:path w="8610600" h="1209675">
                  <a:moveTo>
                    <a:pt x="8431035" y="0"/>
                  </a:moveTo>
                  <a:lnTo>
                    <a:pt x="8373885" y="0"/>
                  </a:lnTo>
                  <a:lnTo>
                    <a:pt x="8373885" y="19050"/>
                  </a:lnTo>
                  <a:lnTo>
                    <a:pt x="8431035" y="19050"/>
                  </a:lnTo>
                  <a:lnTo>
                    <a:pt x="8431035" y="0"/>
                  </a:lnTo>
                  <a:close/>
                </a:path>
                <a:path w="8610600" h="1209675">
                  <a:moveTo>
                    <a:pt x="8516290" y="1209636"/>
                  </a:moveTo>
                  <a:lnTo>
                    <a:pt x="8516074" y="1190625"/>
                  </a:lnTo>
                  <a:lnTo>
                    <a:pt x="8459089" y="1190625"/>
                  </a:lnTo>
                  <a:lnTo>
                    <a:pt x="8459089" y="1209636"/>
                  </a:lnTo>
                  <a:lnTo>
                    <a:pt x="8516290" y="1209636"/>
                  </a:lnTo>
                  <a:close/>
                </a:path>
                <a:path w="8610600" h="1209675">
                  <a:moveTo>
                    <a:pt x="8526945" y="787"/>
                  </a:moveTo>
                  <a:lnTo>
                    <a:pt x="8524735" y="457"/>
                  </a:lnTo>
                  <a:lnTo>
                    <a:pt x="8515350" y="0"/>
                  </a:lnTo>
                  <a:lnTo>
                    <a:pt x="8469033" y="0"/>
                  </a:lnTo>
                  <a:lnTo>
                    <a:pt x="8469033" y="19050"/>
                  </a:lnTo>
                  <a:lnTo>
                    <a:pt x="8515350" y="19050"/>
                  </a:lnTo>
                  <a:lnTo>
                    <a:pt x="8522856" y="19418"/>
                  </a:lnTo>
                  <a:lnTo>
                    <a:pt x="8524634" y="19685"/>
                  </a:lnTo>
                  <a:lnTo>
                    <a:pt x="8524710" y="19050"/>
                  </a:lnTo>
                  <a:lnTo>
                    <a:pt x="8526945" y="787"/>
                  </a:lnTo>
                  <a:close/>
                </a:path>
                <a:path w="8610600" h="1209675">
                  <a:moveTo>
                    <a:pt x="8601367" y="1155103"/>
                  </a:moveTo>
                  <a:lnTo>
                    <a:pt x="8584159" y="1146962"/>
                  </a:lnTo>
                  <a:lnTo>
                    <a:pt x="8582546" y="1150391"/>
                  </a:lnTo>
                  <a:lnTo>
                    <a:pt x="8578723" y="1156766"/>
                  </a:lnTo>
                  <a:lnTo>
                    <a:pt x="8548789" y="1182814"/>
                  </a:lnTo>
                  <a:lnTo>
                    <a:pt x="8557146" y="1199908"/>
                  </a:lnTo>
                  <a:lnTo>
                    <a:pt x="8589023" y="1174826"/>
                  </a:lnTo>
                  <a:lnTo>
                    <a:pt x="8599348" y="1159370"/>
                  </a:lnTo>
                  <a:lnTo>
                    <a:pt x="8601367" y="1155103"/>
                  </a:lnTo>
                  <a:close/>
                </a:path>
                <a:path w="8610600" h="1209675">
                  <a:moveTo>
                    <a:pt x="8605571" y="64973"/>
                  </a:moveTo>
                  <a:lnTo>
                    <a:pt x="8582711" y="27901"/>
                  </a:lnTo>
                  <a:lnTo>
                    <a:pt x="8566823" y="15163"/>
                  </a:lnTo>
                  <a:lnTo>
                    <a:pt x="8556523" y="31178"/>
                  </a:lnTo>
                  <a:lnTo>
                    <a:pt x="8557692" y="31889"/>
                  </a:lnTo>
                  <a:lnTo>
                    <a:pt x="8563673" y="36322"/>
                  </a:lnTo>
                  <a:lnTo>
                    <a:pt x="8587524" y="71031"/>
                  </a:lnTo>
                  <a:lnTo>
                    <a:pt x="8605571" y="64973"/>
                  </a:lnTo>
                  <a:close/>
                </a:path>
                <a:path w="8610600" h="1209675">
                  <a:moveTo>
                    <a:pt x="8610600" y="1057021"/>
                  </a:moveTo>
                  <a:lnTo>
                    <a:pt x="8591550" y="1057021"/>
                  </a:lnTo>
                  <a:lnTo>
                    <a:pt x="8591550" y="1114171"/>
                  </a:lnTo>
                  <a:lnTo>
                    <a:pt x="8610600" y="1114171"/>
                  </a:lnTo>
                  <a:lnTo>
                    <a:pt x="8610600" y="1057021"/>
                  </a:lnTo>
                  <a:close/>
                </a:path>
                <a:path w="8610600" h="1209675">
                  <a:moveTo>
                    <a:pt x="8610600" y="961872"/>
                  </a:moveTo>
                  <a:lnTo>
                    <a:pt x="8591550" y="961872"/>
                  </a:lnTo>
                  <a:lnTo>
                    <a:pt x="8591550" y="1019022"/>
                  </a:lnTo>
                  <a:lnTo>
                    <a:pt x="8610600" y="1019022"/>
                  </a:lnTo>
                  <a:lnTo>
                    <a:pt x="8610600" y="961872"/>
                  </a:lnTo>
                  <a:close/>
                </a:path>
                <a:path w="8610600" h="1209675">
                  <a:moveTo>
                    <a:pt x="8610600" y="866711"/>
                  </a:moveTo>
                  <a:lnTo>
                    <a:pt x="8591550" y="866711"/>
                  </a:lnTo>
                  <a:lnTo>
                    <a:pt x="8591550" y="923861"/>
                  </a:lnTo>
                  <a:lnTo>
                    <a:pt x="8610600" y="923861"/>
                  </a:lnTo>
                  <a:lnTo>
                    <a:pt x="8610600" y="866711"/>
                  </a:lnTo>
                  <a:close/>
                </a:path>
                <a:path w="8610600" h="1209675">
                  <a:moveTo>
                    <a:pt x="8610600" y="771563"/>
                  </a:moveTo>
                  <a:lnTo>
                    <a:pt x="8591550" y="771563"/>
                  </a:lnTo>
                  <a:lnTo>
                    <a:pt x="8591550" y="828713"/>
                  </a:lnTo>
                  <a:lnTo>
                    <a:pt x="8610600" y="828713"/>
                  </a:lnTo>
                  <a:lnTo>
                    <a:pt x="8610600" y="771563"/>
                  </a:lnTo>
                  <a:close/>
                </a:path>
                <a:path w="8610600" h="1209675">
                  <a:moveTo>
                    <a:pt x="8610600" y="676402"/>
                  </a:moveTo>
                  <a:lnTo>
                    <a:pt x="8591550" y="676402"/>
                  </a:lnTo>
                  <a:lnTo>
                    <a:pt x="8591550" y="733552"/>
                  </a:lnTo>
                  <a:lnTo>
                    <a:pt x="8610600" y="733552"/>
                  </a:lnTo>
                  <a:lnTo>
                    <a:pt x="8610600" y="676402"/>
                  </a:lnTo>
                  <a:close/>
                </a:path>
                <a:path w="8610600" h="1209675">
                  <a:moveTo>
                    <a:pt x="8610600" y="581240"/>
                  </a:moveTo>
                  <a:lnTo>
                    <a:pt x="8591550" y="581240"/>
                  </a:lnTo>
                  <a:lnTo>
                    <a:pt x="8591550" y="638390"/>
                  </a:lnTo>
                  <a:lnTo>
                    <a:pt x="8610600" y="638390"/>
                  </a:lnTo>
                  <a:lnTo>
                    <a:pt x="8610600" y="581240"/>
                  </a:lnTo>
                  <a:close/>
                </a:path>
                <a:path w="8610600" h="1209675">
                  <a:moveTo>
                    <a:pt x="8610600" y="486092"/>
                  </a:moveTo>
                  <a:lnTo>
                    <a:pt x="8591550" y="486092"/>
                  </a:lnTo>
                  <a:lnTo>
                    <a:pt x="8591550" y="543242"/>
                  </a:lnTo>
                  <a:lnTo>
                    <a:pt x="8610600" y="543242"/>
                  </a:lnTo>
                  <a:lnTo>
                    <a:pt x="8610600" y="486092"/>
                  </a:lnTo>
                  <a:close/>
                </a:path>
                <a:path w="8610600" h="1209675">
                  <a:moveTo>
                    <a:pt x="8610600" y="390931"/>
                  </a:moveTo>
                  <a:lnTo>
                    <a:pt x="8591550" y="390931"/>
                  </a:lnTo>
                  <a:lnTo>
                    <a:pt x="8591550" y="448081"/>
                  </a:lnTo>
                  <a:lnTo>
                    <a:pt x="8610600" y="448081"/>
                  </a:lnTo>
                  <a:lnTo>
                    <a:pt x="8610600" y="390931"/>
                  </a:lnTo>
                  <a:close/>
                </a:path>
                <a:path w="8610600" h="1209675">
                  <a:moveTo>
                    <a:pt x="8610600" y="295770"/>
                  </a:moveTo>
                  <a:lnTo>
                    <a:pt x="8591550" y="295770"/>
                  </a:lnTo>
                  <a:lnTo>
                    <a:pt x="8591550" y="352920"/>
                  </a:lnTo>
                  <a:lnTo>
                    <a:pt x="8610600" y="352920"/>
                  </a:lnTo>
                  <a:lnTo>
                    <a:pt x="8610600" y="295770"/>
                  </a:lnTo>
                  <a:close/>
                </a:path>
                <a:path w="8610600" h="1209675">
                  <a:moveTo>
                    <a:pt x="8610600" y="200621"/>
                  </a:moveTo>
                  <a:lnTo>
                    <a:pt x="8591550" y="200621"/>
                  </a:lnTo>
                  <a:lnTo>
                    <a:pt x="8591550" y="257771"/>
                  </a:lnTo>
                  <a:lnTo>
                    <a:pt x="8610600" y="257771"/>
                  </a:lnTo>
                  <a:lnTo>
                    <a:pt x="8610600" y="200621"/>
                  </a:lnTo>
                  <a:close/>
                </a:path>
                <a:path w="8610600" h="1209675">
                  <a:moveTo>
                    <a:pt x="8610600" y="105460"/>
                  </a:moveTo>
                  <a:lnTo>
                    <a:pt x="8591550" y="105460"/>
                  </a:lnTo>
                  <a:lnTo>
                    <a:pt x="8591550" y="162610"/>
                  </a:lnTo>
                  <a:lnTo>
                    <a:pt x="8610600" y="162610"/>
                  </a:lnTo>
                  <a:lnTo>
                    <a:pt x="8610600" y="105460"/>
                  </a:lnTo>
                  <a:close/>
                </a:path>
              </a:pathLst>
            </a:custGeom>
            <a:solidFill>
              <a:srgbClr val="4BAF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738187" y="14511335"/>
              <a:ext cx="8277225" cy="381000"/>
            </a:xfrm>
            <a:custGeom>
              <a:avLst/>
              <a:gdLst/>
              <a:ahLst/>
              <a:cxnLst/>
              <a:rect l="l" t="t" r="r" b="b"/>
              <a:pathLst>
                <a:path w="8277225" h="381000">
                  <a:moveTo>
                    <a:pt x="8228276" y="380998"/>
                  </a:moveTo>
                  <a:lnTo>
                    <a:pt x="48947" y="380998"/>
                  </a:lnTo>
                  <a:lnTo>
                    <a:pt x="45540" y="380662"/>
                  </a:lnTo>
                  <a:lnTo>
                    <a:pt x="10739" y="360574"/>
                  </a:lnTo>
                  <a:lnTo>
                    <a:pt x="0" y="332049"/>
                  </a:lnTo>
                  <a:lnTo>
                    <a:pt x="0" y="328611"/>
                  </a:lnTo>
                  <a:lnTo>
                    <a:pt x="0" y="48945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8228276" y="0"/>
                  </a:lnTo>
                  <a:lnTo>
                    <a:pt x="8264311" y="17774"/>
                  </a:lnTo>
                  <a:lnTo>
                    <a:pt x="8277223" y="48945"/>
                  </a:lnTo>
                  <a:lnTo>
                    <a:pt x="8277223" y="332049"/>
                  </a:lnTo>
                  <a:lnTo>
                    <a:pt x="8259447" y="368085"/>
                  </a:lnTo>
                  <a:lnTo>
                    <a:pt x="8231682" y="380662"/>
                  </a:lnTo>
                  <a:lnTo>
                    <a:pt x="8228276" y="3809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738187" y="14511334"/>
              <a:ext cx="8277225" cy="381000"/>
            </a:xfrm>
            <a:custGeom>
              <a:avLst/>
              <a:gdLst/>
              <a:ahLst/>
              <a:cxnLst/>
              <a:rect l="l" t="t" r="r" b="b"/>
              <a:pathLst>
                <a:path w="8277225" h="381000">
                  <a:moveTo>
                    <a:pt x="0" y="328612"/>
                  </a:moveTo>
                  <a:lnTo>
                    <a:pt x="0" y="52387"/>
                  </a:lnTo>
                  <a:lnTo>
                    <a:pt x="0" y="48946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6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1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4"/>
                  </a:lnTo>
                  <a:lnTo>
                    <a:pt x="17776" y="12911"/>
                  </a:lnTo>
                  <a:lnTo>
                    <a:pt x="52387" y="0"/>
                  </a:lnTo>
                  <a:lnTo>
                    <a:pt x="8224836" y="0"/>
                  </a:lnTo>
                  <a:lnTo>
                    <a:pt x="8261879" y="15344"/>
                  </a:lnTo>
                  <a:lnTo>
                    <a:pt x="8264311" y="17775"/>
                  </a:lnTo>
                  <a:lnTo>
                    <a:pt x="8266483" y="20421"/>
                  </a:lnTo>
                  <a:lnTo>
                    <a:pt x="8268394" y="23282"/>
                  </a:lnTo>
                  <a:lnTo>
                    <a:pt x="8270305" y="26141"/>
                  </a:lnTo>
                  <a:lnTo>
                    <a:pt x="8277223" y="52387"/>
                  </a:lnTo>
                  <a:lnTo>
                    <a:pt x="8277223" y="328612"/>
                  </a:lnTo>
                  <a:lnTo>
                    <a:pt x="8268393" y="357715"/>
                  </a:lnTo>
                  <a:lnTo>
                    <a:pt x="8266483" y="360575"/>
                  </a:lnTo>
                  <a:lnTo>
                    <a:pt x="8244883" y="377010"/>
                  </a:lnTo>
                  <a:lnTo>
                    <a:pt x="8241705" y="378327"/>
                  </a:lnTo>
                  <a:lnTo>
                    <a:pt x="8238429" y="379322"/>
                  </a:lnTo>
                  <a:lnTo>
                    <a:pt x="8235056" y="379993"/>
                  </a:lnTo>
                  <a:lnTo>
                    <a:pt x="8231682" y="380663"/>
                  </a:lnTo>
                  <a:lnTo>
                    <a:pt x="8228276" y="380999"/>
                  </a:lnTo>
                  <a:lnTo>
                    <a:pt x="8224836" y="380999"/>
                  </a:lnTo>
                  <a:lnTo>
                    <a:pt x="52387" y="380999"/>
                  </a:lnTo>
                  <a:lnTo>
                    <a:pt x="48947" y="380999"/>
                  </a:lnTo>
                  <a:lnTo>
                    <a:pt x="45540" y="380663"/>
                  </a:lnTo>
                  <a:lnTo>
                    <a:pt x="10739" y="360575"/>
                  </a:lnTo>
                  <a:lnTo>
                    <a:pt x="8828" y="357715"/>
                  </a:lnTo>
                  <a:lnTo>
                    <a:pt x="6917" y="354856"/>
                  </a:lnTo>
                  <a:lnTo>
                    <a:pt x="5304" y="351836"/>
                  </a:lnTo>
                  <a:lnTo>
                    <a:pt x="3987" y="348658"/>
                  </a:lnTo>
                  <a:lnTo>
                    <a:pt x="2671" y="345481"/>
                  </a:lnTo>
                  <a:lnTo>
                    <a:pt x="1677" y="342204"/>
                  </a:lnTo>
                  <a:lnTo>
                    <a:pt x="1006" y="338831"/>
                  </a:lnTo>
                  <a:lnTo>
                    <a:pt x="335" y="335457"/>
                  </a:lnTo>
                  <a:lnTo>
                    <a:pt x="0" y="332050"/>
                  </a:lnTo>
                  <a:lnTo>
                    <a:pt x="0" y="328612"/>
                  </a:lnTo>
                </a:path>
              </a:pathLst>
            </a:custGeom>
            <a:ln w="9524">
              <a:solidFill>
                <a:srgbClr val="4BAF4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09624" y="13715998"/>
              <a:ext cx="171449" cy="171449"/>
            </a:xfrm>
            <a:prstGeom prst="rect">
              <a:avLst/>
            </a:prstGeom>
          </p:spPr>
        </p:pic>
      </p:grpSp>
      <p:sp>
        <p:nvSpPr>
          <p:cNvPr id="117" name="object 117" descr=""/>
          <p:cNvSpPr txBox="1"/>
          <p:nvPr/>
        </p:nvSpPr>
        <p:spPr>
          <a:xfrm>
            <a:off x="1007293" y="13661961"/>
            <a:ext cx="156845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50" b="1">
                <a:solidFill>
                  <a:srgbClr val="3A6EA5"/>
                </a:solidFill>
                <a:latin typeface="Microsoft JhengHei"/>
                <a:cs typeface="Microsoft JhengHei"/>
              </a:rPr>
              <a:t>残</a:t>
            </a:r>
            <a:r>
              <a:rPr dirty="0" sz="1500" spc="-150" b="1">
                <a:solidFill>
                  <a:srgbClr val="3A6EA5"/>
                </a:solidFill>
                <a:latin typeface="Malgun Gothic"/>
                <a:cs typeface="Malgun Gothic"/>
              </a:rPr>
              <a:t>差接</a:t>
            </a:r>
            <a:r>
              <a:rPr dirty="0" sz="1500" spc="-150" b="1">
                <a:solidFill>
                  <a:srgbClr val="3A6EA5"/>
                </a:solidFill>
                <a:latin typeface="Microsoft JhengHei"/>
                <a:cs typeface="Microsoft JhengHei"/>
              </a:rPr>
              <a:t>続と</a:t>
            </a:r>
            <a:r>
              <a:rPr dirty="0" sz="1500" spc="-140" b="1">
                <a:solidFill>
                  <a:srgbClr val="3A6EA5"/>
                </a:solidFill>
                <a:latin typeface="Malgun Gothic"/>
                <a:cs typeface="Malgun Gothic"/>
              </a:rPr>
              <a:t>最終出力</a:t>
            </a:r>
            <a:endParaRPr sz="1500">
              <a:latin typeface="Malgun Gothic"/>
              <a:cs typeface="Malgun Gothic"/>
            </a:endParaRPr>
          </a:p>
        </p:txBody>
      </p:sp>
      <p:pic>
        <p:nvPicPr>
          <p:cNvPr id="118" name="object 118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119310" y="14273848"/>
            <a:ext cx="152900" cy="118742"/>
          </a:xfrm>
          <a:prstGeom prst="rect">
            <a:avLst/>
          </a:prstGeom>
        </p:spPr>
      </p:pic>
      <p:sp>
        <p:nvSpPr>
          <p:cNvPr id="119" name="object 119" descr=""/>
          <p:cNvSpPr txBox="1"/>
          <p:nvPr/>
        </p:nvSpPr>
        <p:spPr>
          <a:xfrm>
            <a:off x="3665537" y="14219364"/>
            <a:ext cx="242252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644525">
              <a:lnSpc>
                <a:spcPct val="100000"/>
              </a:lnSpc>
              <a:spcBef>
                <a:spcPts val="135"/>
              </a:spcBef>
            </a:pPr>
            <a:r>
              <a:rPr dirty="0" sz="1150" spc="-110" b="1">
                <a:solidFill>
                  <a:srgbClr val="2E7D32"/>
                </a:solidFill>
                <a:latin typeface="Microsoft JhengHei"/>
                <a:cs typeface="Microsoft JhengHei"/>
              </a:rPr>
              <a:t>残</a:t>
            </a:r>
            <a:r>
              <a:rPr dirty="0" sz="1150" spc="-110" b="1">
                <a:solidFill>
                  <a:srgbClr val="2E7D32"/>
                </a:solidFill>
                <a:latin typeface="Malgun Gothic"/>
                <a:cs typeface="Malgun Gothic"/>
              </a:rPr>
              <a:t>差接</a:t>
            </a:r>
            <a:r>
              <a:rPr dirty="0" sz="1150" spc="-110" b="1">
                <a:solidFill>
                  <a:srgbClr val="2E7D32"/>
                </a:solidFill>
                <a:latin typeface="Microsoft JhengHei"/>
                <a:cs typeface="Microsoft JhengHei"/>
              </a:rPr>
              <a:t>続</a:t>
            </a:r>
            <a:r>
              <a:rPr dirty="0" sz="1150" spc="-114" b="1">
                <a:solidFill>
                  <a:srgbClr val="2E7D32"/>
                </a:solidFill>
                <a:latin typeface="Malgun Gothic"/>
                <a:cs typeface="Malgun Gothic"/>
              </a:rPr>
              <a:t>による安定化</a:t>
            </a:r>
            <a:endParaRPr sz="115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395"/>
              </a:spcBef>
            </a:pPr>
            <a:r>
              <a:rPr dirty="0" baseline="10101" sz="1650" spc="-975">
                <a:solidFill>
                  <a:srgbClr val="2E7D32"/>
                </a:solidFill>
                <a:latin typeface="Times New Roman"/>
                <a:cs typeface="Times New Roman"/>
              </a:rPr>
              <a:t>̂</a:t>
            </a:r>
            <a:r>
              <a:rPr dirty="0" sz="1150" spc="-15">
                <a:solidFill>
                  <a:srgbClr val="2E7D32"/>
                </a:solidFill>
                <a:latin typeface="Lucida Console"/>
                <a:cs typeface="Lucida Console"/>
              </a:rPr>
              <a:t>X</a:t>
            </a:r>
            <a:r>
              <a:rPr dirty="0" baseline="-22222" sz="1125" spc="-22">
                <a:solidFill>
                  <a:srgbClr val="2E7D32"/>
                </a:solidFill>
                <a:latin typeface="Courier New"/>
                <a:cs typeface="Courier New"/>
              </a:rPr>
              <a:t>F</a:t>
            </a:r>
            <a:r>
              <a:rPr dirty="0" baseline="-22222" sz="1125" spc="247">
                <a:solidFill>
                  <a:srgbClr val="2E7D32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2E7D32"/>
                </a:solidFill>
                <a:latin typeface="Courier New"/>
                <a:cs typeface="Courier New"/>
              </a:rPr>
              <a:t>=</a:t>
            </a:r>
            <a:r>
              <a:rPr dirty="0" sz="1000" spc="10">
                <a:solidFill>
                  <a:srgbClr val="2E7D32"/>
                </a:solidFill>
                <a:latin typeface="Courier New"/>
                <a:cs typeface="Courier New"/>
              </a:rPr>
              <a:t> </a:t>
            </a:r>
            <a:r>
              <a:rPr dirty="0" sz="1100" spc="-30">
                <a:solidFill>
                  <a:srgbClr val="2E7D32"/>
                </a:solidFill>
                <a:latin typeface="Lucida Console"/>
                <a:cs typeface="Lucida Console"/>
              </a:rPr>
              <a:t>MHSA(X</a:t>
            </a:r>
            <a:r>
              <a:rPr dirty="0" baseline="-22222" sz="1125" spc="-44">
                <a:solidFill>
                  <a:srgbClr val="2E7D32"/>
                </a:solidFill>
                <a:latin typeface="Courier New"/>
                <a:cs typeface="Courier New"/>
              </a:rPr>
              <a:t>F</a:t>
            </a:r>
            <a:r>
              <a:rPr dirty="0" sz="1100" spc="-30">
                <a:solidFill>
                  <a:srgbClr val="2E7D32"/>
                </a:solidFill>
                <a:latin typeface="Lucida Console"/>
                <a:cs typeface="Lucida Console"/>
              </a:rPr>
              <a:t>)</a:t>
            </a:r>
            <a:r>
              <a:rPr dirty="0" sz="1100" spc="-45">
                <a:solidFill>
                  <a:srgbClr val="2E7D32"/>
                </a:solidFill>
                <a:latin typeface="Lucida Console"/>
                <a:cs typeface="Lucida Console"/>
              </a:rPr>
              <a:t> </a:t>
            </a:r>
            <a:r>
              <a:rPr dirty="0" sz="1000">
                <a:solidFill>
                  <a:srgbClr val="2E7D32"/>
                </a:solidFill>
                <a:latin typeface="Courier New"/>
                <a:cs typeface="Courier New"/>
              </a:rPr>
              <a:t>+</a:t>
            </a:r>
            <a:r>
              <a:rPr dirty="0" sz="1000" spc="10">
                <a:solidFill>
                  <a:srgbClr val="2E7D32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2E7D32"/>
                </a:solidFill>
                <a:latin typeface="Lucida Console"/>
                <a:cs typeface="Lucida Console"/>
              </a:rPr>
              <a:t>X</a:t>
            </a:r>
            <a:r>
              <a:rPr dirty="0" baseline="-22222" sz="1125" spc="-37">
                <a:solidFill>
                  <a:srgbClr val="2E7D32"/>
                </a:solidFill>
                <a:latin typeface="Courier New"/>
                <a:cs typeface="Courier New"/>
              </a:rPr>
              <a:t>F</a:t>
            </a:r>
            <a:endParaRPr baseline="-22222" sz="1125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05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dirty="0" sz="850" spc="-120">
                <a:solidFill>
                  <a:srgbClr val="2E7D32"/>
                </a:solidFill>
                <a:latin typeface="SimSun"/>
                <a:cs typeface="SimSun"/>
              </a:rPr>
              <a:t>元の入力情報を保持しつつ、学習された注意情報を追加</a:t>
            </a:r>
            <a:endParaRPr sz="850">
              <a:latin typeface="SimSun"/>
              <a:cs typeface="SimSun"/>
            </a:endParaRPr>
          </a:p>
        </p:txBody>
      </p:sp>
      <p:pic>
        <p:nvPicPr>
          <p:cNvPr id="120" name="object 12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0549" y="13496923"/>
            <a:ext cx="228600" cy="114298"/>
          </a:xfrm>
          <a:prstGeom prst="rect">
            <a:avLst/>
          </a:prstGeom>
        </p:spPr>
      </p:pic>
      <p:sp>
        <p:nvSpPr>
          <p:cNvPr id="121" name="object 121" descr=""/>
          <p:cNvSpPr txBox="1"/>
          <p:nvPr/>
        </p:nvSpPr>
        <p:spPr>
          <a:xfrm>
            <a:off x="658365" y="13404188"/>
            <a:ext cx="9334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 b="1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22" name="object 122" descr=""/>
          <p:cNvGrpSpPr/>
          <p:nvPr/>
        </p:nvGrpSpPr>
        <p:grpSpPr>
          <a:xfrm>
            <a:off x="380999" y="15801973"/>
            <a:ext cx="8991600" cy="647700"/>
            <a:chOff x="380999" y="15801973"/>
            <a:chExt cx="8991600" cy="647700"/>
          </a:xfrm>
        </p:grpSpPr>
        <p:pic>
          <p:nvPicPr>
            <p:cNvPr id="123" name="object 12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80999" y="15801973"/>
              <a:ext cx="8991599" cy="647699"/>
            </a:xfrm>
            <a:prstGeom prst="rect">
              <a:avLst/>
            </a:prstGeom>
          </p:spPr>
        </p:pic>
        <p:pic>
          <p:nvPicPr>
            <p:cNvPr id="124" name="object 12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996431" y="15954374"/>
              <a:ext cx="132060" cy="127496"/>
            </a:xfrm>
            <a:prstGeom prst="rect">
              <a:avLst/>
            </a:prstGeom>
          </p:spPr>
        </p:pic>
        <p:pic>
          <p:nvPicPr>
            <p:cNvPr id="125" name="object 12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80999" y="15801974"/>
              <a:ext cx="4853380" cy="647700"/>
            </a:xfrm>
            <a:prstGeom prst="rect">
              <a:avLst/>
            </a:prstGeom>
          </p:spPr>
        </p:pic>
      </p:grpSp>
      <p:sp>
        <p:nvSpPr>
          <p:cNvPr id="126" name="object 126" descr=""/>
          <p:cNvSpPr txBox="1"/>
          <p:nvPr/>
        </p:nvSpPr>
        <p:spPr>
          <a:xfrm>
            <a:off x="2376140" y="15833990"/>
            <a:ext cx="5001260" cy="50355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algn="ctr" marL="180340">
              <a:lnSpc>
                <a:spcPct val="100000"/>
              </a:lnSpc>
              <a:spcBef>
                <a:spcPts val="695"/>
              </a:spcBef>
            </a:pPr>
            <a:r>
              <a:rPr dirty="0" sz="1150" spc="-110" b="1">
                <a:solidFill>
                  <a:srgbClr val="FFFFFF"/>
                </a:solidFill>
                <a:latin typeface="Malgun Gothic"/>
                <a:cs typeface="Malgun Gothic"/>
              </a:rPr>
              <a:t>周波</a:t>
            </a:r>
            <a:r>
              <a:rPr dirty="0" sz="1150" spc="-110" b="1">
                <a:solidFill>
                  <a:srgbClr val="FFFFFF"/>
                </a:solidFill>
                <a:latin typeface="Microsoft JhengHei"/>
                <a:cs typeface="Microsoft JhengHei"/>
              </a:rPr>
              <a:t>数</a:t>
            </a:r>
            <a:r>
              <a:rPr dirty="0" sz="1150" spc="-110" b="1">
                <a:solidFill>
                  <a:srgbClr val="FFFFFF"/>
                </a:solidFill>
                <a:latin typeface="Malgun Gothic"/>
                <a:cs typeface="Malgun Gothic"/>
              </a:rPr>
              <a:t>重</a:t>
            </a:r>
            <a:r>
              <a:rPr dirty="0" sz="1150" spc="-110" b="1">
                <a:solidFill>
                  <a:srgbClr val="FFFFFF"/>
                </a:solidFill>
                <a:latin typeface="Microsoft JhengHei"/>
                <a:cs typeface="Microsoft JhengHei"/>
              </a:rPr>
              <a:t>要度学</a:t>
            </a:r>
            <a:r>
              <a:rPr dirty="0" sz="1150" spc="-110" b="1">
                <a:solidFill>
                  <a:srgbClr val="FFFFFF"/>
                </a:solidFill>
                <a:latin typeface="Malgun Gothic"/>
                <a:cs typeface="Malgun Gothic"/>
              </a:rPr>
              <a:t>習の革新</a:t>
            </a:r>
            <a:r>
              <a:rPr dirty="0" sz="1150" spc="-50" b="1">
                <a:solidFill>
                  <a:srgbClr val="FFFFFF"/>
                </a:solidFill>
                <a:latin typeface="Microsoft JhengHei"/>
                <a:cs typeface="Microsoft JhengHei"/>
              </a:rPr>
              <a:t>性</a:t>
            </a:r>
            <a:endParaRPr sz="11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000" spc="-100" b="1">
                <a:solidFill>
                  <a:srgbClr val="FFFFFF"/>
                </a:solidFill>
                <a:latin typeface="Microsoft JhengHei"/>
                <a:cs typeface="Microsoft JhengHei"/>
              </a:rPr>
              <a:t>データ駆</a:t>
            </a:r>
            <a:r>
              <a:rPr dirty="0" sz="1000" spc="-100" b="1">
                <a:solidFill>
                  <a:srgbClr val="FFFFFF"/>
                </a:solidFill>
                <a:latin typeface="Malgun Gothic"/>
                <a:cs typeface="Malgun Gothic"/>
              </a:rPr>
              <a:t>動</a:t>
            </a:r>
            <a:r>
              <a:rPr dirty="0" sz="1000" spc="-120">
                <a:solidFill>
                  <a:srgbClr val="FFFFFF"/>
                </a:solidFill>
                <a:latin typeface="SimSun"/>
                <a:cs typeface="SimSun"/>
              </a:rPr>
              <a:t>で機械固有の音響パターンを発見 </a:t>
            </a:r>
            <a:r>
              <a:rPr dirty="0" sz="1050" spc="-80">
                <a:solidFill>
                  <a:srgbClr val="FFFFFF"/>
                </a:solidFill>
                <a:latin typeface="Arial MT"/>
                <a:cs typeface="Arial MT"/>
              </a:rPr>
              <a:t>• </a:t>
            </a:r>
            <a:r>
              <a:rPr dirty="0" sz="1000" spc="-100" b="1">
                <a:solidFill>
                  <a:srgbClr val="FFFFFF"/>
                </a:solidFill>
                <a:latin typeface="Malgun Gothic"/>
                <a:cs typeface="Malgun Gothic"/>
              </a:rPr>
              <a:t>適</a:t>
            </a:r>
            <a:r>
              <a:rPr dirty="0" sz="1000" spc="-100" b="1">
                <a:solidFill>
                  <a:srgbClr val="FFFFFF"/>
                </a:solidFill>
                <a:latin typeface="Microsoft JhengHei"/>
                <a:cs typeface="Microsoft JhengHei"/>
              </a:rPr>
              <a:t>応</a:t>
            </a:r>
            <a:r>
              <a:rPr dirty="0" sz="1000" spc="-100" b="1">
                <a:solidFill>
                  <a:srgbClr val="FFFFFF"/>
                </a:solidFill>
                <a:latin typeface="Malgun Gothic"/>
                <a:cs typeface="Malgun Gothic"/>
              </a:rPr>
              <a:t>的</a:t>
            </a:r>
            <a:r>
              <a:rPr dirty="0" sz="1000" spc="-120">
                <a:solidFill>
                  <a:srgbClr val="FFFFFF"/>
                </a:solidFill>
                <a:latin typeface="SimSun"/>
                <a:cs typeface="SimSun"/>
              </a:rPr>
              <a:t>に重要周波数を強調 </a:t>
            </a:r>
            <a:r>
              <a:rPr dirty="0" sz="1050" spc="-80">
                <a:solidFill>
                  <a:srgbClr val="FFFFFF"/>
                </a:solidFill>
                <a:latin typeface="Arial MT"/>
                <a:cs typeface="Arial MT"/>
              </a:rPr>
              <a:t>• </a:t>
            </a:r>
            <a:r>
              <a:rPr dirty="0" sz="1000" spc="-100" b="1">
                <a:solidFill>
                  <a:srgbClr val="FFFFFF"/>
                </a:solidFill>
                <a:latin typeface="Microsoft JhengHei"/>
                <a:cs typeface="Microsoft JhengHei"/>
              </a:rPr>
              <a:t>専</a:t>
            </a:r>
            <a:r>
              <a:rPr dirty="0" sz="1000" spc="-100" b="1">
                <a:solidFill>
                  <a:srgbClr val="FFFFFF"/>
                </a:solidFill>
                <a:latin typeface="Malgun Gothic"/>
                <a:cs typeface="Malgun Gothic"/>
              </a:rPr>
              <a:t>門知識</a:t>
            </a:r>
            <a:r>
              <a:rPr dirty="0" sz="1000" spc="-100" b="1">
                <a:solidFill>
                  <a:srgbClr val="FFFFFF"/>
                </a:solidFill>
                <a:latin typeface="Microsoft JhengHei"/>
                <a:cs typeface="Microsoft JhengHei"/>
              </a:rPr>
              <a:t>不</a:t>
            </a:r>
            <a:r>
              <a:rPr dirty="0" sz="1000" spc="-100" b="1">
                <a:solidFill>
                  <a:srgbClr val="FFFFFF"/>
                </a:solidFill>
                <a:latin typeface="Malgun Gothic"/>
                <a:cs typeface="Malgun Gothic"/>
              </a:rPr>
              <a:t>要</a:t>
            </a:r>
            <a:r>
              <a:rPr dirty="0" sz="1000" spc="-90">
                <a:solidFill>
                  <a:srgbClr val="FFFFFF"/>
                </a:solidFill>
                <a:latin typeface="SimSun"/>
                <a:cs typeface="SimSun"/>
              </a:rPr>
              <a:t>で汎用的</a:t>
            </a:r>
            <a:endParaRPr sz="1000">
              <a:latin typeface="SimSun"/>
              <a:cs typeface="SimSun"/>
            </a:endParaRPr>
          </a:p>
        </p:txBody>
      </p:sp>
      <p:grpSp>
        <p:nvGrpSpPr>
          <p:cNvPr id="127" name="object 127" descr=""/>
          <p:cNvGrpSpPr/>
          <p:nvPr/>
        </p:nvGrpSpPr>
        <p:grpSpPr>
          <a:xfrm>
            <a:off x="8267700" y="16373475"/>
            <a:ext cx="1295400" cy="323850"/>
            <a:chOff x="8267700" y="16373475"/>
            <a:chExt cx="1295400" cy="323850"/>
          </a:xfrm>
        </p:grpSpPr>
        <p:sp>
          <p:nvSpPr>
            <p:cNvPr id="128" name="object 128" descr=""/>
            <p:cNvSpPr/>
            <p:nvPr/>
          </p:nvSpPr>
          <p:spPr>
            <a:xfrm>
              <a:off x="8267700" y="16373475"/>
              <a:ext cx="1295400" cy="323850"/>
            </a:xfrm>
            <a:custGeom>
              <a:avLst/>
              <a:gdLst/>
              <a:ahLst/>
              <a:cxnLst/>
              <a:rect l="l" t="t" r="r" b="b"/>
              <a:pathLst>
                <a:path w="1295400" h="323850">
                  <a:moveTo>
                    <a:pt x="126235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262352" y="0"/>
                  </a:lnTo>
                  <a:lnTo>
                    <a:pt x="1294433" y="28187"/>
                  </a:lnTo>
                  <a:lnTo>
                    <a:pt x="1295399" y="33047"/>
                  </a:lnTo>
                  <a:lnTo>
                    <a:pt x="1295399" y="290802"/>
                  </a:lnTo>
                  <a:lnTo>
                    <a:pt x="1267212" y="322883"/>
                  </a:lnTo>
                  <a:lnTo>
                    <a:pt x="126235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9" name="object 12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382000" y="16468724"/>
              <a:ext cx="133349" cy="133349"/>
            </a:xfrm>
            <a:prstGeom prst="rect">
              <a:avLst/>
            </a:prstGeom>
          </p:spPr>
        </p:pic>
      </p:grpSp>
      <p:sp>
        <p:nvSpPr>
          <p:cNvPr id="130" name="object 130" descr=""/>
          <p:cNvSpPr txBox="1"/>
          <p:nvPr/>
        </p:nvSpPr>
        <p:spPr>
          <a:xfrm>
            <a:off x="8561734" y="16469740"/>
            <a:ext cx="899794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z="1050" spc="-80">
                <a:solidFill>
                  <a:srgbClr val="FFFFFF"/>
                </a:solidFill>
                <a:latin typeface="Arial MT"/>
                <a:cs typeface="Arial MT"/>
              </a:rPr>
              <a:t>Genspark</a:t>
            </a:r>
            <a:r>
              <a:rPr dirty="0" sz="105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85">
                <a:solidFill>
                  <a:srgbClr val="FFFFFF"/>
                </a:solidFill>
                <a:latin typeface="SimSun"/>
                <a:cs typeface="SimSun"/>
              </a:rPr>
              <a:t>で作成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131" name="object 131" descr=""/>
          <p:cNvSpPr txBox="1"/>
          <p:nvPr/>
        </p:nvSpPr>
        <p:spPr>
          <a:xfrm>
            <a:off x="9194601" y="16536415"/>
            <a:ext cx="286385" cy="1466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90"/>
              </a:lnSpc>
            </a:pPr>
            <a:fld id="{81D60167-4931-47E6-BA6A-407CBD079E47}" type="slidenum">
              <a:rPr dirty="0" sz="1000" spc="-40">
                <a:solidFill>
                  <a:srgbClr val="666666"/>
                </a:solidFill>
                <a:latin typeface="Tahoma"/>
                <a:cs typeface="Tahoma"/>
              </a:rPr>
              <a:t>7</a:t>
            </a:fld>
            <a:r>
              <a:rPr dirty="0" sz="1000" spc="-40">
                <a:solidFill>
                  <a:srgbClr val="666666"/>
                </a:solidFill>
                <a:latin typeface="Tahoma"/>
                <a:cs typeface="Tahoma"/>
              </a:rPr>
              <a:t>/</a:t>
            </a:r>
            <a:r>
              <a:rPr dirty="0" sz="1000" spc="-40">
                <a:solidFill>
                  <a:srgbClr val="666666"/>
                </a:solidFill>
                <a:latin typeface="Tahoma"/>
                <a:cs typeface="Tahoma"/>
              </a:rPr>
              <a:t>13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80999" y="761999"/>
            <a:ext cx="8991600" cy="28575"/>
          </a:xfrm>
          <a:custGeom>
            <a:avLst/>
            <a:gdLst/>
            <a:ahLst/>
            <a:cxnLst/>
            <a:rect l="l" t="t" r="r" b="b"/>
            <a:pathLst>
              <a:path w="8991600" h="28575">
                <a:moveTo>
                  <a:pt x="8991599" y="28574"/>
                </a:moveTo>
                <a:lnTo>
                  <a:pt x="0" y="28574"/>
                </a:lnTo>
                <a:lnTo>
                  <a:pt x="0" y="0"/>
                </a:lnTo>
                <a:lnTo>
                  <a:pt x="8991599" y="0"/>
                </a:lnTo>
                <a:lnTo>
                  <a:pt x="8991599" y="28574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124325" y="371474"/>
            <a:ext cx="233679" cy="266700"/>
          </a:xfrm>
          <a:custGeom>
            <a:avLst/>
            <a:gdLst/>
            <a:ahLst/>
            <a:cxnLst/>
            <a:rect l="l" t="t" r="r" b="b"/>
            <a:pathLst>
              <a:path w="233679" h="266700">
                <a:moveTo>
                  <a:pt x="175907" y="33337"/>
                </a:moveTo>
                <a:lnTo>
                  <a:pt x="57455" y="33337"/>
                </a:lnTo>
                <a:lnTo>
                  <a:pt x="50006" y="25888"/>
                </a:lnTo>
                <a:lnTo>
                  <a:pt x="50006" y="7448"/>
                </a:lnTo>
                <a:lnTo>
                  <a:pt x="57455" y="0"/>
                </a:lnTo>
                <a:lnTo>
                  <a:pt x="175907" y="0"/>
                </a:lnTo>
                <a:lnTo>
                  <a:pt x="183356" y="7448"/>
                </a:lnTo>
                <a:lnTo>
                  <a:pt x="183356" y="25888"/>
                </a:lnTo>
                <a:lnTo>
                  <a:pt x="175907" y="33337"/>
                </a:lnTo>
                <a:close/>
              </a:path>
              <a:path w="233679" h="266700">
                <a:moveTo>
                  <a:pt x="197212" y="266700"/>
                </a:moveTo>
                <a:lnTo>
                  <a:pt x="36150" y="266700"/>
                </a:lnTo>
                <a:lnTo>
                  <a:pt x="22085" y="263857"/>
                </a:lnTo>
                <a:lnTo>
                  <a:pt x="10593" y="256106"/>
                </a:lnTo>
                <a:lnTo>
                  <a:pt x="2842" y="244614"/>
                </a:lnTo>
                <a:lnTo>
                  <a:pt x="0" y="230549"/>
                </a:lnTo>
                <a:lnTo>
                  <a:pt x="0" y="223830"/>
                </a:lnTo>
                <a:lnTo>
                  <a:pt x="1875" y="217318"/>
                </a:lnTo>
                <a:lnTo>
                  <a:pt x="5365" y="211588"/>
                </a:lnTo>
                <a:lnTo>
                  <a:pt x="61726" y="119962"/>
                </a:lnTo>
                <a:lnTo>
                  <a:pt x="64956" y="114753"/>
                </a:lnTo>
                <a:lnTo>
                  <a:pt x="66675" y="108659"/>
                </a:lnTo>
                <a:lnTo>
                  <a:pt x="66675" y="33337"/>
                </a:lnTo>
                <a:lnTo>
                  <a:pt x="100012" y="33337"/>
                </a:lnTo>
                <a:lnTo>
                  <a:pt x="100012" y="102512"/>
                </a:lnTo>
                <a:lnTo>
                  <a:pt x="99374" y="111702"/>
                </a:lnTo>
                <a:lnTo>
                  <a:pt x="97486" y="120672"/>
                </a:lnTo>
                <a:lnTo>
                  <a:pt x="94386" y="129300"/>
                </a:lnTo>
                <a:lnTo>
                  <a:pt x="90115" y="137465"/>
                </a:lnTo>
                <a:lnTo>
                  <a:pt x="72144" y="166687"/>
                </a:lnTo>
                <a:lnTo>
                  <a:pt x="200365" y="166687"/>
                </a:lnTo>
                <a:lnTo>
                  <a:pt x="227997" y="211588"/>
                </a:lnTo>
                <a:lnTo>
                  <a:pt x="231487" y="217318"/>
                </a:lnTo>
                <a:lnTo>
                  <a:pt x="233347" y="223830"/>
                </a:lnTo>
                <a:lnTo>
                  <a:pt x="233362" y="230549"/>
                </a:lnTo>
                <a:lnTo>
                  <a:pt x="230519" y="244614"/>
                </a:lnTo>
                <a:lnTo>
                  <a:pt x="222768" y="256106"/>
                </a:lnTo>
                <a:lnTo>
                  <a:pt x="211277" y="263857"/>
                </a:lnTo>
                <a:lnTo>
                  <a:pt x="197212" y="266700"/>
                </a:lnTo>
                <a:close/>
              </a:path>
              <a:path w="233679" h="266700">
                <a:moveTo>
                  <a:pt x="200365" y="166687"/>
                </a:moveTo>
                <a:lnTo>
                  <a:pt x="161218" y="166687"/>
                </a:lnTo>
                <a:lnTo>
                  <a:pt x="143247" y="137465"/>
                </a:lnTo>
                <a:lnTo>
                  <a:pt x="138975" y="129300"/>
                </a:lnTo>
                <a:lnTo>
                  <a:pt x="135876" y="120672"/>
                </a:lnTo>
                <a:lnTo>
                  <a:pt x="133988" y="111702"/>
                </a:lnTo>
                <a:lnTo>
                  <a:pt x="133350" y="102512"/>
                </a:lnTo>
                <a:lnTo>
                  <a:pt x="133350" y="33337"/>
                </a:lnTo>
                <a:lnTo>
                  <a:pt x="166687" y="33337"/>
                </a:lnTo>
                <a:lnTo>
                  <a:pt x="166687" y="108659"/>
                </a:lnTo>
                <a:lnTo>
                  <a:pt x="168406" y="114753"/>
                </a:lnTo>
                <a:lnTo>
                  <a:pt x="200365" y="166687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548998" y="286004"/>
            <a:ext cx="1092200" cy="3873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50" spc="-260" b="1">
                <a:solidFill>
                  <a:srgbClr val="3A6EA5"/>
                </a:solidFill>
                <a:latin typeface="Microsoft JhengHei"/>
                <a:cs typeface="Microsoft JhengHei"/>
              </a:rPr>
              <a:t>実験設</a:t>
            </a:r>
            <a:r>
              <a:rPr dirty="0" sz="2350" spc="-310" b="1">
                <a:solidFill>
                  <a:srgbClr val="3A6EA5"/>
                </a:solidFill>
                <a:latin typeface="Malgun Gothic"/>
                <a:cs typeface="Malgun Gothic"/>
              </a:rPr>
              <a:t>定</a:t>
            </a:r>
            <a:endParaRPr sz="2350">
              <a:latin typeface="Malgun Gothic"/>
              <a:cs typeface="Malgun Gothic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999" y="1028699"/>
            <a:ext cx="4381499" cy="460057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430858" y="1277501"/>
            <a:ext cx="2466340" cy="2717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0" spc="-254" b="1">
                <a:solidFill>
                  <a:srgbClr val="1875D1"/>
                </a:solidFill>
                <a:latin typeface="Arial"/>
                <a:cs typeface="Arial"/>
              </a:rPr>
              <a:t>DCASE</a:t>
            </a:r>
            <a:r>
              <a:rPr dirty="0" sz="1600" spc="-110" b="1">
                <a:solidFill>
                  <a:srgbClr val="1875D1"/>
                </a:solidFill>
                <a:latin typeface="Arial"/>
                <a:cs typeface="Arial"/>
              </a:rPr>
              <a:t> </a:t>
            </a:r>
            <a:r>
              <a:rPr dirty="0" sz="1600" spc="-105" b="1">
                <a:solidFill>
                  <a:srgbClr val="1875D1"/>
                </a:solidFill>
                <a:latin typeface="Arial"/>
                <a:cs typeface="Arial"/>
              </a:rPr>
              <a:t>2020 </a:t>
            </a:r>
            <a:r>
              <a:rPr dirty="0" sz="1600" spc="-125" b="1">
                <a:solidFill>
                  <a:srgbClr val="1875D1"/>
                </a:solidFill>
                <a:latin typeface="Arial"/>
                <a:cs typeface="Arial"/>
              </a:rPr>
              <a:t>Challenge</a:t>
            </a:r>
            <a:r>
              <a:rPr dirty="0" sz="1600" spc="-105" b="1">
                <a:solidFill>
                  <a:srgbClr val="1875D1"/>
                </a:solidFill>
                <a:latin typeface="Arial"/>
                <a:cs typeface="Arial"/>
              </a:rPr>
              <a:t> </a:t>
            </a:r>
            <a:r>
              <a:rPr dirty="0" sz="1600" spc="-170" b="1">
                <a:solidFill>
                  <a:srgbClr val="1875D1"/>
                </a:solidFill>
                <a:latin typeface="Arial"/>
                <a:cs typeface="Arial"/>
              </a:rPr>
              <a:t>Task</a:t>
            </a:r>
            <a:r>
              <a:rPr dirty="0" sz="1600" spc="-105" b="1">
                <a:solidFill>
                  <a:srgbClr val="1875D1"/>
                </a:solidFill>
                <a:latin typeface="Arial"/>
                <a:cs typeface="Arial"/>
              </a:rPr>
              <a:t> </a:t>
            </a:r>
            <a:r>
              <a:rPr dirty="0" sz="1600" spc="-50" b="1">
                <a:solidFill>
                  <a:srgbClr val="1875D1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30275" y="1846389"/>
            <a:ext cx="6921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 b="1">
                <a:solidFill>
                  <a:srgbClr val="3A6EA5"/>
                </a:solidFill>
                <a:latin typeface="Microsoft JhengHei"/>
                <a:cs typeface="Microsoft JhengHei"/>
              </a:rPr>
              <a:t>タスク概</a:t>
            </a:r>
            <a:r>
              <a:rPr dirty="0" sz="1150" spc="-50" b="1">
                <a:solidFill>
                  <a:srgbClr val="3A6EA5"/>
                </a:solidFill>
                <a:latin typeface="Malgun Gothic"/>
                <a:cs typeface="Malgun Gothic"/>
              </a:rPr>
              <a:t>要</a:t>
            </a:r>
            <a:endParaRPr sz="1150">
              <a:latin typeface="Malgun Gothic"/>
              <a:cs typeface="Malgun Gothic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25525" y="2115566"/>
            <a:ext cx="1283335" cy="5048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00">
                <a:solidFill>
                  <a:srgbClr val="444444"/>
                </a:solidFill>
                <a:latin typeface="SimSun"/>
                <a:cs typeface="SimSun"/>
              </a:rPr>
              <a:t>機械</a:t>
            </a:r>
            <a:r>
              <a:rPr dirty="0" sz="1000" spc="-100">
                <a:solidFill>
                  <a:srgbClr val="444444"/>
                </a:solidFill>
                <a:latin typeface="MS PGothic"/>
                <a:cs typeface="MS PGothic"/>
              </a:rPr>
              <a:t>の</a:t>
            </a:r>
            <a:r>
              <a:rPr dirty="0" sz="1000" spc="-90">
                <a:solidFill>
                  <a:srgbClr val="444444"/>
                </a:solidFill>
                <a:latin typeface="SimSun"/>
                <a:cs typeface="SimSun"/>
              </a:rPr>
              <a:t>異常音検知</a:t>
            </a:r>
            <a:endParaRPr sz="1000">
              <a:latin typeface="SimSun"/>
              <a:cs typeface="SimSun"/>
            </a:endParaRPr>
          </a:p>
          <a:p>
            <a:pPr marL="12700" marR="5080">
              <a:lnSpc>
                <a:spcPct val="106300"/>
              </a:lnSpc>
            </a:pPr>
            <a:r>
              <a:rPr dirty="0" sz="1000" spc="-100">
                <a:solidFill>
                  <a:srgbClr val="444444"/>
                </a:solidFill>
                <a:latin typeface="SimSun"/>
                <a:cs typeface="SimSun"/>
              </a:rPr>
              <a:t>教師</a:t>
            </a:r>
            <a:r>
              <a:rPr dirty="0" sz="1000" spc="55">
                <a:solidFill>
                  <a:srgbClr val="444444"/>
                </a:solidFill>
                <a:latin typeface="MS PGothic"/>
                <a:cs typeface="MS PGothic"/>
              </a:rPr>
              <a:t>なし</a:t>
            </a:r>
            <a:r>
              <a:rPr dirty="0" sz="1000" spc="-100">
                <a:solidFill>
                  <a:srgbClr val="444444"/>
                </a:solidFill>
                <a:latin typeface="SimSun"/>
                <a:cs typeface="SimSun"/>
              </a:rPr>
              <a:t>学習</a:t>
            </a:r>
            <a:r>
              <a:rPr dirty="0" sz="1000" spc="-30">
                <a:solidFill>
                  <a:srgbClr val="444444"/>
                </a:solidFill>
                <a:latin typeface="MS PGothic"/>
                <a:cs typeface="MS PGothic"/>
              </a:rPr>
              <a:t>アプローチ</a:t>
            </a:r>
            <a:r>
              <a:rPr dirty="0" sz="1000" spc="-100">
                <a:solidFill>
                  <a:srgbClr val="444444"/>
                </a:solidFill>
                <a:latin typeface="SimSun"/>
                <a:cs typeface="SimSun"/>
              </a:rPr>
              <a:t>正常音</a:t>
            </a:r>
            <a:r>
              <a:rPr dirty="0" sz="1000" spc="-75">
                <a:solidFill>
                  <a:srgbClr val="444444"/>
                </a:solidFill>
                <a:latin typeface="MS PGothic"/>
                <a:cs typeface="MS PGothic"/>
              </a:rPr>
              <a:t>のみで</a:t>
            </a:r>
            <a:r>
              <a:rPr dirty="0" sz="1000" spc="-75">
                <a:solidFill>
                  <a:srgbClr val="444444"/>
                </a:solidFill>
                <a:latin typeface="SimSun"/>
                <a:cs typeface="SimSun"/>
              </a:rPr>
              <a:t>学習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30275" y="3065589"/>
            <a:ext cx="6921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 b="1">
                <a:solidFill>
                  <a:srgbClr val="3A6EA5"/>
                </a:solidFill>
                <a:latin typeface="Microsoft JhengHei"/>
                <a:cs typeface="Microsoft JhengHei"/>
              </a:rPr>
              <a:t>データ</a:t>
            </a:r>
            <a:r>
              <a:rPr dirty="0" sz="1150" spc="-110" b="1">
                <a:solidFill>
                  <a:srgbClr val="3A6EA5"/>
                </a:solidFill>
                <a:latin typeface="Malgun Gothic"/>
                <a:cs typeface="Malgun Gothic"/>
              </a:rPr>
              <a:t>構</a:t>
            </a:r>
            <a:r>
              <a:rPr dirty="0" sz="1150" spc="-50" b="1">
                <a:solidFill>
                  <a:srgbClr val="3A6EA5"/>
                </a:solidFill>
                <a:latin typeface="Microsoft JhengHei"/>
                <a:cs typeface="Microsoft JhengHei"/>
              </a:rPr>
              <a:t>成</a:t>
            </a:r>
            <a:endParaRPr sz="1150">
              <a:latin typeface="Microsoft JhengHei"/>
              <a:cs typeface="Microsoft JhengHe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25525" y="3330725"/>
            <a:ext cx="1492250" cy="5086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95">
                <a:solidFill>
                  <a:srgbClr val="444444"/>
                </a:solidFill>
                <a:latin typeface="Arial MT"/>
                <a:cs typeface="Arial MT"/>
              </a:rPr>
              <a:t>6</a:t>
            </a:r>
            <a:r>
              <a:rPr dirty="0" sz="1000" spc="-100">
                <a:solidFill>
                  <a:srgbClr val="444444"/>
                </a:solidFill>
                <a:latin typeface="SimSun"/>
                <a:cs typeface="SimSun"/>
              </a:rPr>
              <a:t>種類</a:t>
            </a:r>
            <a:r>
              <a:rPr dirty="0" sz="1000" spc="-100">
                <a:solidFill>
                  <a:srgbClr val="444444"/>
                </a:solidFill>
                <a:latin typeface="MS PGothic"/>
                <a:cs typeface="MS PGothic"/>
              </a:rPr>
              <a:t>の</a:t>
            </a:r>
            <a:r>
              <a:rPr dirty="0" sz="1000" spc="-85">
                <a:solidFill>
                  <a:srgbClr val="444444"/>
                </a:solidFill>
                <a:latin typeface="SimSun"/>
                <a:cs typeface="SimSun"/>
              </a:rPr>
              <a:t>機械音</a:t>
            </a:r>
            <a:endParaRPr sz="1000">
              <a:latin typeface="SimSun"/>
              <a:cs typeface="SimSun"/>
            </a:endParaRPr>
          </a:p>
          <a:p>
            <a:pPr marL="12700" marR="5080">
              <a:lnSpc>
                <a:spcPts val="1280"/>
              </a:lnSpc>
              <a:spcBef>
                <a:spcPts val="45"/>
              </a:spcBef>
            </a:pPr>
            <a:r>
              <a:rPr dirty="0" sz="1000" spc="-100">
                <a:solidFill>
                  <a:srgbClr val="444444"/>
                </a:solidFill>
                <a:latin typeface="SimSun"/>
                <a:cs typeface="SimSun"/>
              </a:rPr>
              <a:t>複数個体</a:t>
            </a:r>
            <a:r>
              <a:rPr dirty="0" sz="1050" spc="-90">
                <a:solidFill>
                  <a:srgbClr val="444444"/>
                </a:solidFill>
                <a:latin typeface="Arial MT"/>
                <a:cs typeface="Arial MT"/>
              </a:rPr>
              <a:t>ID</a:t>
            </a:r>
            <a:r>
              <a:rPr dirty="0" sz="1000" spc="-90">
                <a:solidFill>
                  <a:srgbClr val="444444"/>
                </a:solidFill>
                <a:latin typeface="SimSun"/>
                <a:cs typeface="SimSun"/>
              </a:rPr>
              <a:t>（</a:t>
            </a:r>
            <a:r>
              <a:rPr dirty="0" sz="1050" spc="-90">
                <a:solidFill>
                  <a:srgbClr val="444444"/>
                </a:solidFill>
                <a:latin typeface="Arial MT"/>
                <a:cs typeface="Arial MT"/>
              </a:rPr>
              <a:t>3-</a:t>
            </a:r>
            <a:r>
              <a:rPr dirty="0" sz="1050" spc="-95">
                <a:solidFill>
                  <a:srgbClr val="444444"/>
                </a:solidFill>
                <a:latin typeface="Arial MT"/>
                <a:cs typeface="Arial MT"/>
              </a:rPr>
              <a:t>7</a:t>
            </a:r>
            <a:r>
              <a:rPr dirty="0" sz="1000" spc="-100">
                <a:solidFill>
                  <a:srgbClr val="444444"/>
                </a:solidFill>
                <a:latin typeface="SimSun"/>
                <a:cs typeface="SimSun"/>
              </a:rPr>
              <a:t>個体</a:t>
            </a:r>
            <a:r>
              <a:rPr dirty="0" sz="1050" spc="55">
                <a:solidFill>
                  <a:srgbClr val="444444"/>
                </a:solidFill>
                <a:latin typeface="Arial MT"/>
                <a:cs typeface="Arial MT"/>
              </a:rPr>
              <a:t>/</a:t>
            </a:r>
            <a:r>
              <a:rPr dirty="0" sz="1000" spc="-100">
                <a:solidFill>
                  <a:srgbClr val="444444"/>
                </a:solidFill>
                <a:latin typeface="SimSun"/>
                <a:cs typeface="SimSun"/>
              </a:rPr>
              <a:t>機械</a:t>
            </a:r>
            <a:r>
              <a:rPr dirty="0" sz="1000" spc="-130">
                <a:solidFill>
                  <a:srgbClr val="444444"/>
                </a:solidFill>
                <a:latin typeface="SimSun"/>
                <a:cs typeface="SimSun"/>
              </a:rPr>
              <a:t>）</a:t>
            </a:r>
            <a:r>
              <a:rPr dirty="0" sz="1000" spc="-100">
                <a:solidFill>
                  <a:srgbClr val="444444"/>
                </a:solidFill>
                <a:latin typeface="SimSun"/>
                <a:cs typeface="SimSun"/>
              </a:rPr>
              <a:t>訓練</a:t>
            </a:r>
            <a:r>
              <a:rPr dirty="0" sz="1000" spc="290">
                <a:solidFill>
                  <a:srgbClr val="444444"/>
                </a:solidFill>
                <a:latin typeface="MS PGothic"/>
                <a:cs typeface="MS PGothic"/>
              </a:rPr>
              <a:t>‧テスト‧</a:t>
            </a:r>
            <a:r>
              <a:rPr dirty="0" sz="1000" spc="-100">
                <a:solidFill>
                  <a:srgbClr val="444444"/>
                </a:solidFill>
                <a:latin typeface="SimSun"/>
                <a:cs typeface="SimSun"/>
              </a:rPr>
              <a:t>評価</a:t>
            </a:r>
            <a:r>
              <a:rPr dirty="0" sz="1000" spc="105">
                <a:solidFill>
                  <a:srgbClr val="444444"/>
                </a:solidFill>
                <a:latin typeface="MS PGothic"/>
                <a:cs typeface="MS PGothic"/>
              </a:rPr>
              <a:t>セット</a:t>
            </a:r>
            <a:endParaRPr sz="1000">
              <a:latin typeface="MS PGothic"/>
              <a:cs typeface="MS PGothic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96937" y="4198932"/>
            <a:ext cx="1590040" cy="859790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150" spc="-110" b="1">
                <a:solidFill>
                  <a:srgbClr val="3A6EA5"/>
                </a:solidFill>
                <a:latin typeface="Malgun Gothic"/>
                <a:cs typeface="Malgun Gothic"/>
              </a:rPr>
              <a:t>音響仕</a:t>
            </a:r>
            <a:r>
              <a:rPr dirty="0" sz="1150" spc="-50" b="1">
                <a:solidFill>
                  <a:srgbClr val="3A6EA5"/>
                </a:solidFill>
                <a:latin typeface="Microsoft JhengHei"/>
                <a:cs typeface="Microsoft JhengHei"/>
              </a:rPr>
              <a:t>様</a:t>
            </a:r>
            <a:endParaRPr sz="1150">
              <a:latin typeface="Microsoft JhengHei"/>
              <a:cs typeface="Microsoft JhengHei"/>
            </a:endParaRPr>
          </a:p>
          <a:p>
            <a:pPr marL="140970" marR="5080">
              <a:lnSpc>
                <a:spcPct val="101200"/>
              </a:lnSpc>
              <a:spcBef>
                <a:spcPts val="655"/>
              </a:spcBef>
            </a:pPr>
            <a:r>
              <a:rPr dirty="0" sz="1000" spc="-5">
                <a:solidFill>
                  <a:srgbClr val="444444"/>
                </a:solidFill>
                <a:latin typeface="MS PGothic"/>
                <a:cs typeface="MS PGothic"/>
              </a:rPr>
              <a:t>サンプリング</a:t>
            </a:r>
            <a:r>
              <a:rPr dirty="0" sz="1000" spc="-100">
                <a:solidFill>
                  <a:srgbClr val="444444"/>
                </a:solidFill>
                <a:latin typeface="SimSun"/>
                <a:cs typeface="SimSun"/>
              </a:rPr>
              <a:t>周波数</a:t>
            </a:r>
            <a:r>
              <a:rPr dirty="0" sz="1050" spc="-75">
                <a:solidFill>
                  <a:srgbClr val="444444"/>
                </a:solidFill>
                <a:latin typeface="Arial MT"/>
                <a:cs typeface="Arial MT"/>
              </a:rPr>
              <a:t>: </a:t>
            </a:r>
            <a:r>
              <a:rPr dirty="0" sz="1050" spc="-95">
                <a:solidFill>
                  <a:srgbClr val="444444"/>
                </a:solidFill>
                <a:latin typeface="Arial MT"/>
                <a:cs typeface="Arial MT"/>
              </a:rPr>
              <a:t>16 </a:t>
            </a:r>
            <a:r>
              <a:rPr dirty="0" sz="1050" spc="-80">
                <a:solidFill>
                  <a:srgbClr val="444444"/>
                </a:solidFill>
                <a:latin typeface="Arial MT"/>
                <a:cs typeface="Arial MT"/>
              </a:rPr>
              <a:t>kHz</a:t>
            </a:r>
            <a:r>
              <a:rPr dirty="0" sz="1000" spc="-100">
                <a:solidFill>
                  <a:srgbClr val="444444"/>
                </a:solidFill>
                <a:latin typeface="SimSun"/>
                <a:cs typeface="SimSun"/>
              </a:rPr>
              <a:t>録音時間</a:t>
            </a:r>
            <a:r>
              <a:rPr dirty="0" sz="1050" spc="-55">
                <a:solidFill>
                  <a:srgbClr val="444444"/>
                </a:solidFill>
                <a:latin typeface="Arial MT"/>
                <a:cs typeface="Arial MT"/>
              </a:rPr>
              <a:t>: </a:t>
            </a:r>
            <a:r>
              <a:rPr dirty="0" sz="1050" spc="-95">
                <a:solidFill>
                  <a:srgbClr val="444444"/>
                </a:solidFill>
                <a:latin typeface="Arial MT"/>
                <a:cs typeface="Arial MT"/>
              </a:rPr>
              <a:t>10</a:t>
            </a:r>
            <a:r>
              <a:rPr dirty="0" sz="1000" spc="-100">
                <a:solidFill>
                  <a:srgbClr val="444444"/>
                </a:solidFill>
                <a:latin typeface="SimSun"/>
                <a:cs typeface="SimSun"/>
              </a:rPr>
              <a:t>秒</a:t>
            </a:r>
            <a:r>
              <a:rPr dirty="0" sz="1050" spc="55">
                <a:solidFill>
                  <a:srgbClr val="444444"/>
                </a:solidFill>
                <a:latin typeface="Arial MT"/>
                <a:cs typeface="Arial MT"/>
              </a:rPr>
              <a:t>/</a:t>
            </a:r>
            <a:r>
              <a:rPr dirty="0" sz="1000" spc="55">
                <a:solidFill>
                  <a:srgbClr val="444444"/>
                </a:solidFill>
                <a:latin typeface="MS PGothic"/>
                <a:cs typeface="MS PGothic"/>
              </a:rPr>
              <a:t>ファイル</a:t>
            </a:r>
            <a:endParaRPr sz="1000">
              <a:latin typeface="MS PGothic"/>
              <a:cs typeface="MS PGothic"/>
            </a:endParaRPr>
          </a:p>
          <a:p>
            <a:pPr marL="140970">
              <a:lnSpc>
                <a:spcPts val="1190"/>
              </a:lnSpc>
            </a:pPr>
            <a:r>
              <a:rPr dirty="0" sz="1000" spc="-100">
                <a:solidFill>
                  <a:srgbClr val="444444"/>
                </a:solidFill>
                <a:latin typeface="SimSun"/>
                <a:cs typeface="SimSun"/>
              </a:rPr>
              <a:t>モ</a:t>
            </a:r>
            <a:r>
              <a:rPr dirty="0" sz="1000" spc="55">
                <a:solidFill>
                  <a:srgbClr val="444444"/>
                </a:solidFill>
                <a:latin typeface="MS PGothic"/>
                <a:cs typeface="MS PGothic"/>
              </a:rPr>
              <a:t>ノラル</a:t>
            </a:r>
            <a:r>
              <a:rPr dirty="0" sz="1000" spc="-75">
                <a:solidFill>
                  <a:srgbClr val="444444"/>
                </a:solidFill>
                <a:latin typeface="SimSun"/>
                <a:cs typeface="SimSun"/>
              </a:rPr>
              <a:t>音声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01674" y="1014390"/>
            <a:ext cx="438784" cy="153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75" b="1">
                <a:solidFill>
                  <a:srgbClr val="FFFFFF"/>
                </a:solidFill>
                <a:latin typeface="Arial"/>
                <a:cs typeface="Arial"/>
              </a:rPr>
              <a:t>DATASET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0624" y="981074"/>
            <a:ext cx="4371974" cy="464819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6561708" y="1288986"/>
            <a:ext cx="149860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50" b="1">
                <a:solidFill>
                  <a:srgbClr val="F57C00"/>
                </a:solidFill>
                <a:latin typeface="Microsoft JhengHei"/>
                <a:cs typeface="Microsoft JhengHei"/>
              </a:rPr>
              <a:t>対</a:t>
            </a:r>
            <a:r>
              <a:rPr dirty="0" sz="1500" spc="-150" b="1">
                <a:solidFill>
                  <a:srgbClr val="F57C00"/>
                </a:solidFill>
                <a:latin typeface="Malgun Gothic"/>
                <a:cs typeface="Malgun Gothic"/>
              </a:rPr>
              <a:t>象</a:t>
            </a:r>
            <a:r>
              <a:rPr dirty="0" sz="1500" spc="-150" b="1">
                <a:solidFill>
                  <a:srgbClr val="F57C00"/>
                </a:solidFill>
                <a:latin typeface="Microsoft JhengHei"/>
                <a:cs typeface="Microsoft JhengHei"/>
              </a:rPr>
              <a:t>機</a:t>
            </a:r>
            <a:r>
              <a:rPr dirty="0" sz="1500" spc="-150" b="1">
                <a:solidFill>
                  <a:srgbClr val="F57C00"/>
                </a:solidFill>
                <a:latin typeface="Malgun Gothic"/>
                <a:cs typeface="Malgun Gothic"/>
              </a:rPr>
              <a:t>械</a:t>
            </a:r>
            <a:r>
              <a:rPr dirty="0" sz="1500" spc="-120" b="1">
                <a:solidFill>
                  <a:srgbClr val="F57C00"/>
                </a:solidFill>
                <a:latin typeface="Malgun Gothic"/>
                <a:cs typeface="Malgun Gothic"/>
              </a:rPr>
              <a:t>（</a:t>
            </a:r>
            <a:r>
              <a:rPr dirty="0" sz="1500" spc="-120" b="1">
                <a:solidFill>
                  <a:srgbClr val="F57C00"/>
                </a:solidFill>
                <a:latin typeface="Trebuchet MS"/>
                <a:cs typeface="Trebuchet MS"/>
              </a:rPr>
              <a:t>6</a:t>
            </a:r>
            <a:r>
              <a:rPr dirty="0" sz="1500" spc="-150" b="1">
                <a:solidFill>
                  <a:srgbClr val="F57C00"/>
                </a:solidFill>
                <a:latin typeface="Malgun Gothic"/>
                <a:cs typeface="Malgun Gothic"/>
              </a:rPr>
              <a:t>種類</a:t>
            </a:r>
            <a:r>
              <a:rPr dirty="0" sz="1500" spc="-105" b="1">
                <a:solidFill>
                  <a:srgbClr val="F57C00"/>
                </a:solidFill>
                <a:latin typeface="Malgun Gothic"/>
                <a:cs typeface="Malgun Gothic"/>
              </a:rPr>
              <a:t>）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530480" y="1014390"/>
            <a:ext cx="521970" cy="153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45" b="1">
                <a:solidFill>
                  <a:srgbClr val="FFFFFF"/>
                </a:solidFill>
                <a:latin typeface="Arial"/>
                <a:cs typeface="Arial"/>
              </a:rPr>
              <a:t>MACHINES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723582" y="2165932"/>
            <a:ext cx="282575" cy="41910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645"/>
              </a:spcBef>
            </a:pPr>
            <a:r>
              <a:rPr dirty="0" sz="1050" spc="-25" b="1">
                <a:solidFill>
                  <a:srgbClr val="E65000"/>
                </a:solidFill>
                <a:latin typeface="Arial"/>
                <a:cs typeface="Arial"/>
              </a:rPr>
              <a:t>Fan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750" spc="-70">
                <a:solidFill>
                  <a:srgbClr val="666666"/>
                </a:solidFill>
                <a:latin typeface="SimSun"/>
                <a:cs typeface="SimSun"/>
              </a:rPr>
              <a:t>ファン</a:t>
            </a:r>
            <a:endParaRPr sz="750">
              <a:latin typeface="SimSun"/>
              <a:cs typeface="SimSu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004992" y="2165932"/>
            <a:ext cx="358775" cy="41910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050" spc="-65" b="1">
                <a:solidFill>
                  <a:srgbClr val="E65000"/>
                </a:solidFill>
                <a:latin typeface="Arial"/>
                <a:cs typeface="Arial"/>
              </a:rPr>
              <a:t>Pump</a:t>
            </a:r>
            <a:endParaRPr sz="1050">
              <a:latin typeface="Arial"/>
              <a:cs typeface="Arial"/>
            </a:endParaRPr>
          </a:p>
          <a:p>
            <a:pPr marL="51435">
              <a:lnSpc>
                <a:spcPct val="100000"/>
              </a:lnSpc>
              <a:spcBef>
                <a:spcPts val="390"/>
              </a:spcBef>
            </a:pPr>
            <a:r>
              <a:rPr dirty="0" sz="750" spc="-80">
                <a:solidFill>
                  <a:srgbClr val="666666"/>
                </a:solidFill>
                <a:latin typeface="SimSun"/>
                <a:cs typeface="SimSun"/>
              </a:rPr>
              <a:t>ポンプ</a:t>
            </a:r>
            <a:endParaRPr sz="750">
              <a:latin typeface="SimSun"/>
              <a:cs typeface="SimSu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278068" y="2165932"/>
            <a:ext cx="450850" cy="41910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59055">
              <a:lnSpc>
                <a:spcPct val="100000"/>
              </a:lnSpc>
              <a:spcBef>
                <a:spcPts val="645"/>
              </a:spcBef>
            </a:pPr>
            <a:r>
              <a:rPr dirty="0" sz="1050" spc="-10" b="1">
                <a:solidFill>
                  <a:srgbClr val="E65000"/>
                </a:solidFill>
                <a:latin typeface="Arial"/>
                <a:cs typeface="Arial"/>
              </a:rPr>
              <a:t>Slider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750" spc="-80">
                <a:solidFill>
                  <a:srgbClr val="666666"/>
                </a:solidFill>
                <a:latin typeface="SimSun"/>
                <a:cs typeface="SimSun"/>
              </a:rPr>
              <a:t>スライダー</a:t>
            </a:r>
            <a:endParaRPr sz="750">
              <a:latin typeface="SimSun"/>
              <a:cs typeface="SimSu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702151" y="3308932"/>
            <a:ext cx="325755" cy="41910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050" spc="-75" b="1">
                <a:solidFill>
                  <a:srgbClr val="E65000"/>
                </a:solidFill>
                <a:latin typeface="Arial"/>
                <a:cs typeface="Arial"/>
              </a:rPr>
              <a:t>Valve</a:t>
            </a:r>
            <a:endParaRPr sz="105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390"/>
              </a:spcBef>
            </a:pPr>
            <a:r>
              <a:rPr dirty="0" sz="750" spc="-70">
                <a:solidFill>
                  <a:srgbClr val="666666"/>
                </a:solidFill>
                <a:latin typeface="SimSun"/>
                <a:cs typeface="SimSun"/>
              </a:rPr>
              <a:t>バルブ</a:t>
            </a:r>
            <a:endParaRPr sz="750">
              <a:latin typeface="SimSun"/>
              <a:cs typeface="SimSu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914207" y="3308932"/>
            <a:ext cx="539750" cy="41910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74930">
              <a:lnSpc>
                <a:spcPct val="100000"/>
              </a:lnSpc>
              <a:spcBef>
                <a:spcPts val="645"/>
              </a:spcBef>
            </a:pPr>
            <a:r>
              <a:rPr dirty="0" sz="1050" spc="-10" b="1">
                <a:solidFill>
                  <a:srgbClr val="E65000"/>
                </a:solidFill>
                <a:latin typeface="Arial"/>
                <a:cs typeface="Arial"/>
              </a:rPr>
              <a:t>ToyCar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750" spc="-120">
                <a:solidFill>
                  <a:srgbClr val="666666"/>
                </a:solidFill>
                <a:latin typeface="SimSun"/>
                <a:cs typeface="SimSun"/>
              </a:rPr>
              <a:t>おもち ゃの車</a:t>
            </a:r>
            <a:endParaRPr sz="750">
              <a:latin typeface="SimSun"/>
              <a:cs typeface="SimSu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124775" y="3308932"/>
            <a:ext cx="757555" cy="41910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dirty="0" sz="1050" spc="-80" b="1">
                <a:solidFill>
                  <a:srgbClr val="E65000"/>
                </a:solidFill>
                <a:latin typeface="Arial"/>
                <a:cs typeface="Arial"/>
              </a:rPr>
              <a:t>ToyConveyor</a:t>
            </a:r>
            <a:endParaRPr sz="10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90"/>
              </a:spcBef>
            </a:pPr>
            <a:r>
              <a:rPr dirty="0" sz="750" spc="-70">
                <a:solidFill>
                  <a:srgbClr val="666666"/>
                </a:solidFill>
                <a:latin typeface="SimSun"/>
                <a:cs typeface="SimSun"/>
              </a:rPr>
              <a:t>コンベア</a:t>
            </a:r>
            <a:endParaRPr sz="750">
              <a:latin typeface="SimSun"/>
              <a:cs typeface="SimSun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380999" y="5819774"/>
            <a:ext cx="8991600" cy="2457450"/>
            <a:chOff x="380999" y="5819774"/>
            <a:chExt cx="8991600" cy="2457450"/>
          </a:xfrm>
        </p:grpSpPr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9574" y="5848348"/>
              <a:ext cx="8934449" cy="2400299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395287" y="5834062"/>
              <a:ext cx="8963025" cy="2428875"/>
            </a:xfrm>
            <a:custGeom>
              <a:avLst/>
              <a:gdLst/>
              <a:ahLst/>
              <a:cxnLst/>
              <a:rect l="l" t="t" r="r" b="b"/>
              <a:pathLst>
                <a:path w="8963025" h="2428875">
                  <a:moveTo>
                    <a:pt x="0" y="230028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13019" y="71578"/>
                  </a:lnTo>
                  <a:lnTo>
                    <a:pt x="37662" y="37662"/>
                  </a:lnTo>
                  <a:lnTo>
                    <a:pt x="57148" y="21670"/>
                  </a:lnTo>
                  <a:lnTo>
                    <a:pt x="64168" y="16979"/>
                  </a:lnTo>
                  <a:lnTo>
                    <a:pt x="71578" y="13018"/>
                  </a:lnTo>
                  <a:lnTo>
                    <a:pt x="79379" y="9787"/>
                  </a:lnTo>
                  <a:lnTo>
                    <a:pt x="87179" y="6556"/>
                  </a:lnTo>
                  <a:lnTo>
                    <a:pt x="95220" y="4117"/>
                  </a:lnTo>
                  <a:lnTo>
                    <a:pt x="103501" y="2470"/>
                  </a:lnTo>
                  <a:lnTo>
                    <a:pt x="111782" y="823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8834436" y="0"/>
                  </a:lnTo>
                  <a:lnTo>
                    <a:pt x="8842879" y="0"/>
                  </a:lnTo>
                  <a:lnTo>
                    <a:pt x="8851241" y="823"/>
                  </a:lnTo>
                  <a:lnTo>
                    <a:pt x="8891444" y="13018"/>
                  </a:lnTo>
                  <a:lnTo>
                    <a:pt x="8905875" y="21670"/>
                  </a:lnTo>
                  <a:lnTo>
                    <a:pt x="8912895" y="26361"/>
                  </a:lnTo>
                  <a:lnTo>
                    <a:pt x="8919391" y="31692"/>
                  </a:lnTo>
                  <a:lnTo>
                    <a:pt x="8925361" y="37662"/>
                  </a:lnTo>
                  <a:lnTo>
                    <a:pt x="8931331" y="43632"/>
                  </a:lnTo>
                  <a:lnTo>
                    <a:pt x="8936661" y="50127"/>
                  </a:lnTo>
                  <a:lnTo>
                    <a:pt x="8941352" y="57147"/>
                  </a:lnTo>
                  <a:lnTo>
                    <a:pt x="8946043" y="64168"/>
                  </a:lnTo>
                  <a:lnTo>
                    <a:pt x="8960552" y="103500"/>
                  </a:lnTo>
                  <a:lnTo>
                    <a:pt x="8963024" y="120144"/>
                  </a:lnTo>
                  <a:lnTo>
                    <a:pt x="8963024" y="128587"/>
                  </a:lnTo>
                  <a:lnTo>
                    <a:pt x="8963024" y="2300287"/>
                  </a:lnTo>
                  <a:lnTo>
                    <a:pt x="8963024" y="2308730"/>
                  </a:lnTo>
                  <a:lnTo>
                    <a:pt x="8962200" y="2317092"/>
                  </a:lnTo>
                  <a:lnTo>
                    <a:pt x="8950004" y="2357294"/>
                  </a:lnTo>
                  <a:lnTo>
                    <a:pt x="8941352" y="2371725"/>
                  </a:lnTo>
                  <a:lnTo>
                    <a:pt x="8936661" y="2378745"/>
                  </a:lnTo>
                  <a:lnTo>
                    <a:pt x="8905875" y="2407202"/>
                  </a:lnTo>
                  <a:lnTo>
                    <a:pt x="8898854" y="2411893"/>
                  </a:lnTo>
                  <a:lnTo>
                    <a:pt x="8859522" y="2426402"/>
                  </a:lnTo>
                  <a:lnTo>
                    <a:pt x="8851241" y="2428049"/>
                  </a:lnTo>
                  <a:lnTo>
                    <a:pt x="8842879" y="2428874"/>
                  </a:lnTo>
                  <a:lnTo>
                    <a:pt x="8834436" y="2428874"/>
                  </a:lnTo>
                  <a:lnTo>
                    <a:pt x="128587" y="2428874"/>
                  </a:lnTo>
                  <a:lnTo>
                    <a:pt x="120144" y="2428874"/>
                  </a:lnTo>
                  <a:lnTo>
                    <a:pt x="111782" y="2428049"/>
                  </a:lnTo>
                  <a:lnTo>
                    <a:pt x="103501" y="2426402"/>
                  </a:lnTo>
                  <a:lnTo>
                    <a:pt x="95220" y="2424755"/>
                  </a:lnTo>
                  <a:lnTo>
                    <a:pt x="57148" y="2407202"/>
                  </a:lnTo>
                  <a:lnTo>
                    <a:pt x="50127" y="2402511"/>
                  </a:lnTo>
                  <a:lnTo>
                    <a:pt x="21670" y="2371725"/>
                  </a:lnTo>
                  <a:lnTo>
                    <a:pt x="4117" y="2333653"/>
                  </a:lnTo>
                  <a:lnTo>
                    <a:pt x="0" y="2308730"/>
                  </a:lnTo>
                  <a:lnTo>
                    <a:pt x="0" y="2300287"/>
                  </a:lnTo>
                  <a:close/>
                </a:path>
              </a:pathLst>
            </a:custGeom>
            <a:ln w="28574">
              <a:solidFill>
                <a:srgbClr val="4BAF4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00549" y="6146006"/>
              <a:ext cx="190499" cy="166687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4578350" y="6077584"/>
            <a:ext cx="787400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10" b="1">
                <a:solidFill>
                  <a:srgbClr val="2E7D32"/>
                </a:solidFill>
                <a:latin typeface="Malgun Gothic"/>
                <a:cs typeface="Malgun Gothic"/>
              </a:rPr>
              <a:t>評</a:t>
            </a:r>
            <a:r>
              <a:rPr dirty="0" sz="1700" spc="-210" b="1">
                <a:solidFill>
                  <a:srgbClr val="2E7D32"/>
                </a:solidFill>
                <a:latin typeface="Microsoft JhengHei"/>
                <a:cs typeface="Microsoft JhengHei"/>
              </a:rPr>
              <a:t>価指</a:t>
            </a:r>
            <a:r>
              <a:rPr dirty="0" sz="1700" spc="-145" b="1">
                <a:solidFill>
                  <a:srgbClr val="2E7D32"/>
                </a:solidFill>
                <a:latin typeface="Malgun Gothic"/>
                <a:cs typeface="Malgun Gothic"/>
              </a:rPr>
              <a:t>標</a:t>
            </a:r>
            <a:endParaRPr sz="1700">
              <a:latin typeface="Malgun Gothic"/>
              <a:cs typeface="Malgun Gothic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785369" y="7077328"/>
            <a:ext cx="182880" cy="3873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50" spc="-85" b="1">
                <a:solidFill>
                  <a:srgbClr val="4BAF4F"/>
                </a:solidFill>
                <a:latin typeface="Arial"/>
                <a:cs typeface="Arial"/>
              </a:rPr>
              <a:t>+</a:t>
            </a:r>
            <a:endParaRPr sz="2350">
              <a:latin typeface="Arial"/>
              <a:cs typeface="Arial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600074" y="5772149"/>
            <a:ext cx="809625" cy="219075"/>
          </a:xfrm>
          <a:custGeom>
            <a:avLst/>
            <a:gdLst/>
            <a:ahLst/>
            <a:cxnLst/>
            <a:rect l="l" t="t" r="r" b="b"/>
            <a:pathLst>
              <a:path w="809625" h="219075">
                <a:moveTo>
                  <a:pt x="707279" y="219074"/>
                </a:moveTo>
                <a:lnTo>
                  <a:pt x="102345" y="219074"/>
                </a:lnTo>
                <a:lnTo>
                  <a:pt x="95221" y="218372"/>
                </a:lnTo>
                <a:lnTo>
                  <a:pt x="54661" y="204609"/>
                </a:lnTo>
                <a:lnTo>
                  <a:pt x="22456" y="176372"/>
                </a:lnTo>
                <a:lnTo>
                  <a:pt x="3507" y="137961"/>
                </a:lnTo>
                <a:lnTo>
                  <a:pt x="0" y="116729"/>
                </a:lnTo>
                <a:lnTo>
                  <a:pt x="0" y="109537"/>
                </a:lnTo>
                <a:lnTo>
                  <a:pt x="0" y="102344"/>
                </a:lnTo>
                <a:lnTo>
                  <a:pt x="11090" y="60973"/>
                </a:lnTo>
                <a:lnTo>
                  <a:pt x="37168" y="26996"/>
                </a:lnTo>
                <a:lnTo>
                  <a:pt x="74264" y="5585"/>
                </a:lnTo>
                <a:lnTo>
                  <a:pt x="102345" y="0"/>
                </a:lnTo>
                <a:lnTo>
                  <a:pt x="707279" y="0"/>
                </a:lnTo>
                <a:lnTo>
                  <a:pt x="748650" y="11090"/>
                </a:lnTo>
                <a:lnTo>
                  <a:pt x="782627" y="37168"/>
                </a:lnTo>
                <a:lnTo>
                  <a:pt x="804038" y="74264"/>
                </a:lnTo>
                <a:lnTo>
                  <a:pt x="809624" y="102344"/>
                </a:lnTo>
                <a:lnTo>
                  <a:pt x="809624" y="116729"/>
                </a:lnTo>
                <a:lnTo>
                  <a:pt x="798534" y="158099"/>
                </a:lnTo>
                <a:lnTo>
                  <a:pt x="772456" y="192077"/>
                </a:lnTo>
                <a:lnTo>
                  <a:pt x="735360" y="213488"/>
                </a:lnTo>
                <a:lnTo>
                  <a:pt x="714403" y="218372"/>
                </a:lnTo>
                <a:lnTo>
                  <a:pt x="707279" y="219074"/>
                </a:lnTo>
                <a:close/>
              </a:path>
            </a:pathLst>
          </a:custGeom>
          <a:solidFill>
            <a:srgbClr val="4BAF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701674" y="5805465"/>
            <a:ext cx="610870" cy="153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60" b="1">
                <a:solidFill>
                  <a:srgbClr val="FFFFFF"/>
                </a:solidFill>
                <a:latin typeface="Arial"/>
                <a:cs typeface="Arial"/>
              </a:rPr>
              <a:t>EVALUATION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647699" y="6543674"/>
            <a:ext cx="3962400" cy="1466850"/>
            <a:chOff x="647699" y="6543674"/>
            <a:chExt cx="3962400" cy="1466850"/>
          </a:xfrm>
        </p:grpSpPr>
        <p:sp>
          <p:nvSpPr>
            <p:cNvPr id="31" name="object 31" descr=""/>
            <p:cNvSpPr/>
            <p:nvPr/>
          </p:nvSpPr>
          <p:spPr>
            <a:xfrm>
              <a:off x="661987" y="6557961"/>
              <a:ext cx="3933825" cy="1438275"/>
            </a:xfrm>
            <a:custGeom>
              <a:avLst/>
              <a:gdLst/>
              <a:ahLst/>
              <a:cxnLst/>
              <a:rect l="l" t="t" r="r" b="b"/>
              <a:pathLst>
                <a:path w="3933825" h="1438275">
                  <a:moveTo>
                    <a:pt x="3840378" y="1438274"/>
                  </a:moveTo>
                  <a:lnTo>
                    <a:pt x="93445" y="1438274"/>
                  </a:lnTo>
                  <a:lnTo>
                    <a:pt x="86941" y="1437633"/>
                  </a:lnTo>
                  <a:lnTo>
                    <a:pt x="49908" y="1425066"/>
                  </a:lnTo>
                  <a:lnTo>
                    <a:pt x="20503" y="1399286"/>
                  </a:lnTo>
                  <a:lnTo>
                    <a:pt x="3202" y="1364213"/>
                  </a:lnTo>
                  <a:lnTo>
                    <a:pt x="0" y="1344828"/>
                  </a:lnTo>
                  <a:lnTo>
                    <a:pt x="0" y="1338262"/>
                  </a:lnTo>
                  <a:lnTo>
                    <a:pt x="0" y="93444"/>
                  </a:lnTo>
                  <a:lnTo>
                    <a:pt x="10125" y="55671"/>
                  </a:lnTo>
                  <a:lnTo>
                    <a:pt x="33936" y="24649"/>
                  </a:lnTo>
                  <a:lnTo>
                    <a:pt x="67806" y="5099"/>
                  </a:lnTo>
                  <a:lnTo>
                    <a:pt x="93445" y="0"/>
                  </a:lnTo>
                  <a:lnTo>
                    <a:pt x="3840378" y="0"/>
                  </a:lnTo>
                  <a:lnTo>
                    <a:pt x="3878151" y="10124"/>
                  </a:lnTo>
                  <a:lnTo>
                    <a:pt x="3909174" y="33935"/>
                  </a:lnTo>
                  <a:lnTo>
                    <a:pt x="3928723" y="67805"/>
                  </a:lnTo>
                  <a:lnTo>
                    <a:pt x="3933824" y="93444"/>
                  </a:lnTo>
                  <a:lnTo>
                    <a:pt x="3933824" y="1344828"/>
                  </a:lnTo>
                  <a:lnTo>
                    <a:pt x="3923697" y="1382601"/>
                  </a:lnTo>
                  <a:lnTo>
                    <a:pt x="3899887" y="1413625"/>
                  </a:lnTo>
                  <a:lnTo>
                    <a:pt x="3866017" y="1433174"/>
                  </a:lnTo>
                  <a:lnTo>
                    <a:pt x="3846882" y="1437633"/>
                  </a:lnTo>
                  <a:lnTo>
                    <a:pt x="3840378" y="14382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61987" y="6557961"/>
              <a:ext cx="3933825" cy="1438275"/>
            </a:xfrm>
            <a:custGeom>
              <a:avLst/>
              <a:gdLst/>
              <a:ahLst/>
              <a:cxnLst/>
              <a:rect l="l" t="t" r="r" b="b"/>
              <a:pathLst>
                <a:path w="3933825" h="1438275">
                  <a:moveTo>
                    <a:pt x="0" y="1338262"/>
                  </a:moveTo>
                  <a:lnTo>
                    <a:pt x="0" y="100012"/>
                  </a:lnTo>
                  <a:lnTo>
                    <a:pt x="0" y="93444"/>
                  </a:lnTo>
                  <a:lnTo>
                    <a:pt x="640" y="86941"/>
                  </a:lnTo>
                  <a:lnTo>
                    <a:pt x="1921" y="80500"/>
                  </a:lnTo>
                  <a:lnTo>
                    <a:pt x="3202" y="74059"/>
                  </a:lnTo>
                  <a:lnTo>
                    <a:pt x="5099" y="67805"/>
                  </a:lnTo>
                  <a:lnTo>
                    <a:pt x="7612" y="61738"/>
                  </a:lnTo>
                  <a:lnTo>
                    <a:pt x="10125" y="55671"/>
                  </a:lnTo>
                  <a:lnTo>
                    <a:pt x="13206" y="49907"/>
                  </a:lnTo>
                  <a:lnTo>
                    <a:pt x="16855" y="44447"/>
                  </a:lnTo>
                  <a:lnTo>
                    <a:pt x="20503" y="38987"/>
                  </a:lnTo>
                  <a:lnTo>
                    <a:pt x="24649" y="33935"/>
                  </a:lnTo>
                  <a:lnTo>
                    <a:pt x="55672" y="10124"/>
                  </a:lnTo>
                  <a:lnTo>
                    <a:pt x="80500" y="1921"/>
                  </a:lnTo>
                  <a:lnTo>
                    <a:pt x="86941" y="640"/>
                  </a:lnTo>
                  <a:lnTo>
                    <a:pt x="93445" y="0"/>
                  </a:lnTo>
                  <a:lnTo>
                    <a:pt x="100012" y="0"/>
                  </a:lnTo>
                  <a:lnTo>
                    <a:pt x="3833812" y="0"/>
                  </a:lnTo>
                  <a:lnTo>
                    <a:pt x="3840378" y="0"/>
                  </a:lnTo>
                  <a:lnTo>
                    <a:pt x="3846882" y="640"/>
                  </a:lnTo>
                  <a:lnTo>
                    <a:pt x="3853323" y="1921"/>
                  </a:lnTo>
                  <a:lnTo>
                    <a:pt x="3859763" y="3202"/>
                  </a:lnTo>
                  <a:lnTo>
                    <a:pt x="3894835" y="20502"/>
                  </a:lnTo>
                  <a:lnTo>
                    <a:pt x="3920617" y="49907"/>
                  </a:lnTo>
                  <a:lnTo>
                    <a:pt x="3926210" y="61738"/>
                  </a:lnTo>
                  <a:lnTo>
                    <a:pt x="3928723" y="67805"/>
                  </a:lnTo>
                  <a:lnTo>
                    <a:pt x="3930621" y="74059"/>
                  </a:lnTo>
                  <a:lnTo>
                    <a:pt x="3931902" y="80500"/>
                  </a:lnTo>
                  <a:lnTo>
                    <a:pt x="3933183" y="86941"/>
                  </a:lnTo>
                  <a:lnTo>
                    <a:pt x="3933824" y="93444"/>
                  </a:lnTo>
                  <a:lnTo>
                    <a:pt x="3933824" y="100012"/>
                  </a:lnTo>
                  <a:lnTo>
                    <a:pt x="3933824" y="1338262"/>
                  </a:lnTo>
                  <a:lnTo>
                    <a:pt x="3926210" y="1376534"/>
                  </a:lnTo>
                  <a:lnTo>
                    <a:pt x="3923697" y="1382601"/>
                  </a:lnTo>
                  <a:lnTo>
                    <a:pt x="3920617" y="1388365"/>
                  </a:lnTo>
                  <a:lnTo>
                    <a:pt x="3916968" y="1393825"/>
                  </a:lnTo>
                  <a:lnTo>
                    <a:pt x="3913320" y="1399286"/>
                  </a:lnTo>
                  <a:lnTo>
                    <a:pt x="3889375" y="1421418"/>
                  </a:lnTo>
                  <a:lnTo>
                    <a:pt x="3883915" y="1425066"/>
                  </a:lnTo>
                  <a:lnTo>
                    <a:pt x="3846882" y="1437633"/>
                  </a:lnTo>
                  <a:lnTo>
                    <a:pt x="3833812" y="1438274"/>
                  </a:lnTo>
                  <a:lnTo>
                    <a:pt x="100012" y="1438274"/>
                  </a:lnTo>
                  <a:lnTo>
                    <a:pt x="93445" y="1438274"/>
                  </a:lnTo>
                  <a:lnTo>
                    <a:pt x="86941" y="1437633"/>
                  </a:lnTo>
                  <a:lnTo>
                    <a:pt x="80500" y="1436352"/>
                  </a:lnTo>
                  <a:lnTo>
                    <a:pt x="74060" y="1435071"/>
                  </a:lnTo>
                  <a:lnTo>
                    <a:pt x="44448" y="1421418"/>
                  </a:lnTo>
                  <a:lnTo>
                    <a:pt x="38988" y="1417770"/>
                  </a:lnTo>
                  <a:lnTo>
                    <a:pt x="16855" y="1393825"/>
                  </a:lnTo>
                  <a:lnTo>
                    <a:pt x="13206" y="1388365"/>
                  </a:lnTo>
                  <a:lnTo>
                    <a:pt x="640" y="1351332"/>
                  </a:lnTo>
                  <a:lnTo>
                    <a:pt x="0" y="1344828"/>
                  </a:lnTo>
                  <a:lnTo>
                    <a:pt x="0" y="1338262"/>
                  </a:lnTo>
                  <a:close/>
                </a:path>
              </a:pathLst>
            </a:custGeom>
            <a:ln w="28574">
              <a:solidFill>
                <a:srgbClr val="4BAF4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1979215" y="6758582"/>
            <a:ext cx="1297305" cy="5187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500" spc="-25" b="1">
                <a:solidFill>
                  <a:srgbClr val="2E7D32"/>
                </a:solidFill>
                <a:latin typeface="Arial"/>
                <a:cs typeface="Arial"/>
              </a:rPr>
              <a:t>AUC</a:t>
            </a:r>
            <a:endParaRPr sz="15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75"/>
              </a:spcBef>
            </a:pPr>
            <a:r>
              <a:rPr dirty="0" sz="1000" spc="-110" i="1">
                <a:solidFill>
                  <a:srgbClr val="666666"/>
                </a:solidFill>
                <a:latin typeface="Arial"/>
                <a:cs typeface="Arial"/>
              </a:rPr>
              <a:t>Area</a:t>
            </a:r>
            <a:r>
              <a:rPr dirty="0" sz="1000" spc="-75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80" i="1">
                <a:solidFill>
                  <a:srgbClr val="666666"/>
                </a:solidFill>
                <a:latin typeface="Arial"/>
                <a:cs typeface="Arial"/>
              </a:rPr>
              <a:t>Under</a:t>
            </a:r>
            <a:r>
              <a:rPr dirty="0" sz="1000" spc="-7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50" i="1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dirty="0" sz="1000" spc="-75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195" i="1">
                <a:solidFill>
                  <a:srgbClr val="666666"/>
                </a:solidFill>
                <a:latin typeface="Arial"/>
                <a:cs typeface="Arial"/>
              </a:rPr>
              <a:t>ROC</a:t>
            </a:r>
            <a:r>
              <a:rPr dirty="0" sz="1000" spc="-7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35" i="1">
                <a:solidFill>
                  <a:srgbClr val="666666"/>
                </a:solidFill>
                <a:latin typeface="Arial"/>
                <a:cs typeface="Arial"/>
              </a:rPr>
              <a:t>Curve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2157660" y="7331225"/>
            <a:ext cx="939800" cy="4800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8580">
              <a:lnSpc>
                <a:spcPts val="1220"/>
              </a:lnSpc>
              <a:spcBef>
                <a:spcPts val="95"/>
              </a:spcBef>
            </a:pPr>
            <a:r>
              <a:rPr dirty="0" sz="1050" spc="-185">
                <a:solidFill>
                  <a:srgbClr val="444444"/>
                </a:solidFill>
                <a:latin typeface="Arial MT"/>
                <a:cs typeface="Arial MT"/>
              </a:rPr>
              <a:t>ROC</a:t>
            </a:r>
            <a:r>
              <a:rPr dirty="0" sz="1000" spc="-90">
                <a:solidFill>
                  <a:srgbClr val="444444"/>
                </a:solidFill>
                <a:latin typeface="SimSun"/>
                <a:cs typeface="SimSun"/>
              </a:rPr>
              <a:t>曲線下面積</a:t>
            </a:r>
            <a:endParaRPr sz="1000">
              <a:latin typeface="SimSun"/>
              <a:cs typeface="SimSun"/>
            </a:endParaRPr>
          </a:p>
          <a:p>
            <a:pPr marL="238125">
              <a:lnSpc>
                <a:spcPts val="1155"/>
              </a:lnSpc>
            </a:pPr>
            <a:r>
              <a:rPr dirty="0" sz="1000" spc="-20" b="1">
                <a:solidFill>
                  <a:srgbClr val="444444"/>
                </a:solidFill>
                <a:latin typeface="Arial"/>
                <a:cs typeface="Arial"/>
              </a:rPr>
              <a:t>0.0</a:t>
            </a:r>
            <a:r>
              <a:rPr dirty="0" sz="1000" spc="-6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-60" b="1">
                <a:solidFill>
                  <a:srgbClr val="444444"/>
                </a:solidFill>
                <a:latin typeface="Arial"/>
                <a:cs typeface="Arial"/>
              </a:rPr>
              <a:t>~ </a:t>
            </a:r>
            <a:r>
              <a:rPr dirty="0" sz="1000" spc="-25" b="1">
                <a:solidFill>
                  <a:srgbClr val="444444"/>
                </a:solidFill>
                <a:latin typeface="Arial"/>
                <a:cs typeface="Arial"/>
              </a:rPr>
              <a:t>1.0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0" spc="-100">
                <a:solidFill>
                  <a:srgbClr val="444444"/>
                </a:solidFill>
                <a:latin typeface="SimSun"/>
                <a:cs typeface="SimSun"/>
              </a:rPr>
              <a:t>全体的</a:t>
            </a:r>
            <a:r>
              <a:rPr dirty="0" sz="1000" spc="-10">
                <a:solidFill>
                  <a:srgbClr val="444444"/>
                </a:solidFill>
                <a:latin typeface="MS PGothic"/>
                <a:cs typeface="MS PGothic"/>
              </a:rPr>
              <a:t>な</a:t>
            </a:r>
            <a:r>
              <a:rPr dirty="0" sz="1000" spc="-90">
                <a:solidFill>
                  <a:srgbClr val="444444"/>
                </a:solidFill>
                <a:latin typeface="SimSun"/>
                <a:cs typeface="SimSun"/>
              </a:rPr>
              <a:t>分類性能</a:t>
            </a:r>
            <a:endParaRPr sz="1000">
              <a:latin typeface="SimSun"/>
              <a:cs typeface="SimSun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5143499" y="6543674"/>
            <a:ext cx="3962400" cy="1466850"/>
            <a:chOff x="5143499" y="6543674"/>
            <a:chExt cx="3962400" cy="1466850"/>
          </a:xfrm>
        </p:grpSpPr>
        <p:sp>
          <p:nvSpPr>
            <p:cNvPr id="36" name="object 36" descr=""/>
            <p:cNvSpPr/>
            <p:nvPr/>
          </p:nvSpPr>
          <p:spPr>
            <a:xfrm>
              <a:off x="5157787" y="6557961"/>
              <a:ext cx="3933825" cy="1438275"/>
            </a:xfrm>
            <a:custGeom>
              <a:avLst/>
              <a:gdLst/>
              <a:ahLst/>
              <a:cxnLst/>
              <a:rect l="l" t="t" r="r" b="b"/>
              <a:pathLst>
                <a:path w="3933825" h="1438275">
                  <a:moveTo>
                    <a:pt x="3840378" y="1438274"/>
                  </a:moveTo>
                  <a:lnTo>
                    <a:pt x="93445" y="1438274"/>
                  </a:lnTo>
                  <a:lnTo>
                    <a:pt x="86941" y="1437633"/>
                  </a:lnTo>
                  <a:lnTo>
                    <a:pt x="49908" y="1425066"/>
                  </a:lnTo>
                  <a:lnTo>
                    <a:pt x="20502" y="1399286"/>
                  </a:lnTo>
                  <a:lnTo>
                    <a:pt x="3202" y="1364213"/>
                  </a:lnTo>
                  <a:lnTo>
                    <a:pt x="0" y="1344828"/>
                  </a:lnTo>
                  <a:lnTo>
                    <a:pt x="0" y="1338262"/>
                  </a:lnTo>
                  <a:lnTo>
                    <a:pt x="0" y="93444"/>
                  </a:lnTo>
                  <a:lnTo>
                    <a:pt x="10125" y="55671"/>
                  </a:lnTo>
                  <a:lnTo>
                    <a:pt x="33935" y="24649"/>
                  </a:lnTo>
                  <a:lnTo>
                    <a:pt x="67805" y="5099"/>
                  </a:lnTo>
                  <a:lnTo>
                    <a:pt x="93445" y="0"/>
                  </a:lnTo>
                  <a:lnTo>
                    <a:pt x="3840378" y="0"/>
                  </a:lnTo>
                  <a:lnTo>
                    <a:pt x="3878151" y="10124"/>
                  </a:lnTo>
                  <a:lnTo>
                    <a:pt x="3909173" y="33935"/>
                  </a:lnTo>
                  <a:lnTo>
                    <a:pt x="3928723" y="67805"/>
                  </a:lnTo>
                  <a:lnTo>
                    <a:pt x="3933824" y="93444"/>
                  </a:lnTo>
                  <a:lnTo>
                    <a:pt x="3933824" y="1344828"/>
                  </a:lnTo>
                  <a:lnTo>
                    <a:pt x="3923697" y="1382601"/>
                  </a:lnTo>
                  <a:lnTo>
                    <a:pt x="3899886" y="1413625"/>
                  </a:lnTo>
                  <a:lnTo>
                    <a:pt x="3866017" y="1433174"/>
                  </a:lnTo>
                  <a:lnTo>
                    <a:pt x="3846882" y="1437633"/>
                  </a:lnTo>
                  <a:lnTo>
                    <a:pt x="3840378" y="14382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157787" y="6557961"/>
              <a:ext cx="3933825" cy="1438275"/>
            </a:xfrm>
            <a:custGeom>
              <a:avLst/>
              <a:gdLst/>
              <a:ahLst/>
              <a:cxnLst/>
              <a:rect l="l" t="t" r="r" b="b"/>
              <a:pathLst>
                <a:path w="3933825" h="1438275">
                  <a:moveTo>
                    <a:pt x="0" y="1338262"/>
                  </a:moveTo>
                  <a:lnTo>
                    <a:pt x="0" y="100012"/>
                  </a:lnTo>
                  <a:lnTo>
                    <a:pt x="0" y="93444"/>
                  </a:lnTo>
                  <a:lnTo>
                    <a:pt x="640" y="86941"/>
                  </a:lnTo>
                  <a:lnTo>
                    <a:pt x="1921" y="80500"/>
                  </a:lnTo>
                  <a:lnTo>
                    <a:pt x="3202" y="74059"/>
                  </a:lnTo>
                  <a:lnTo>
                    <a:pt x="5099" y="67805"/>
                  </a:lnTo>
                  <a:lnTo>
                    <a:pt x="7612" y="61738"/>
                  </a:lnTo>
                  <a:lnTo>
                    <a:pt x="10125" y="55671"/>
                  </a:lnTo>
                  <a:lnTo>
                    <a:pt x="33935" y="24649"/>
                  </a:lnTo>
                  <a:lnTo>
                    <a:pt x="67805" y="5099"/>
                  </a:lnTo>
                  <a:lnTo>
                    <a:pt x="80500" y="1921"/>
                  </a:lnTo>
                  <a:lnTo>
                    <a:pt x="86941" y="640"/>
                  </a:lnTo>
                  <a:lnTo>
                    <a:pt x="93445" y="0"/>
                  </a:lnTo>
                  <a:lnTo>
                    <a:pt x="100012" y="0"/>
                  </a:lnTo>
                  <a:lnTo>
                    <a:pt x="3833812" y="0"/>
                  </a:lnTo>
                  <a:lnTo>
                    <a:pt x="3840378" y="0"/>
                  </a:lnTo>
                  <a:lnTo>
                    <a:pt x="3846882" y="640"/>
                  </a:lnTo>
                  <a:lnTo>
                    <a:pt x="3853322" y="1921"/>
                  </a:lnTo>
                  <a:lnTo>
                    <a:pt x="3859763" y="3202"/>
                  </a:lnTo>
                  <a:lnTo>
                    <a:pt x="3894834" y="20502"/>
                  </a:lnTo>
                  <a:lnTo>
                    <a:pt x="3916967" y="44447"/>
                  </a:lnTo>
                  <a:lnTo>
                    <a:pt x="3920616" y="49907"/>
                  </a:lnTo>
                  <a:lnTo>
                    <a:pt x="3923697" y="55671"/>
                  </a:lnTo>
                  <a:lnTo>
                    <a:pt x="3926210" y="61738"/>
                  </a:lnTo>
                  <a:lnTo>
                    <a:pt x="3928723" y="67805"/>
                  </a:lnTo>
                  <a:lnTo>
                    <a:pt x="3930620" y="74059"/>
                  </a:lnTo>
                  <a:lnTo>
                    <a:pt x="3931902" y="80500"/>
                  </a:lnTo>
                  <a:lnTo>
                    <a:pt x="3933184" y="86941"/>
                  </a:lnTo>
                  <a:lnTo>
                    <a:pt x="3933824" y="93444"/>
                  </a:lnTo>
                  <a:lnTo>
                    <a:pt x="3933824" y="100012"/>
                  </a:lnTo>
                  <a:lnTo>
                    <a:pt x="3933824" y="1338262"/>
                  </a:lnTo>
                  <a:lnTo>
                    <a:pt x="3933824" y="1344828"/>
                  </a:lnTo>
                  <a:lnTo>
                    <a:pt x="3933184" y="1351332"/>
                  </a:lnTo>
                  <a:lnTo>
                    <a:pt x="3931902" y="1357773"/>
                  </a:lnTo>
                  <a:lnTo>
                    <a:pt x="3930620" y="1364213"/>
                  </a:lnTo>
                  <a:lnTo>
                    <a:pt x="3928723" y="1370467"/>
                  </a:lnTo>
                  <a:lnTo>
                    <a:pt x="3926210" y="1376534"/>
                  </a:lnTo>
                  <a:lnTo>
                    <a:pt x="3923697" y="1382601"/>
                  </a:lnTo>
                  <a:lnTo>
                    <a:pt x="3920616" y="1388365"/>
                  </a:lnTo>
                  <a:lnTo>
                    <a:pt x="3916968" y="1393825"/>
                  </a:lnTo>
                  <a:lnTo>
                    <a:pt x="3913320" y="1399286"/>
                  </a:lnTo>
                  <a:lnTo>
                    <a:pt x="3883914" y="1425066"/>
                  </a:lnTo>
                  <a:lnTo>
                    <a:pt x="3853322" y="1436352"/>
                  </a:lnTo>
                  <a:lnTo>
                    <a:pt x="3846882" y="1437633"/>
                  </a:lnTo>
                  <a:lnTo>
                    <a:pt x="3840378" y="1438274"/>
                  </a:lnTo>
                  <a:lnTo>
                    <a:pt x="3833812" y="1438274"/>
                  </a:lnTo>
                  <a:lnTo>
                    <a:pt x="100012" y="1438274"/>
                  </a:lnTo>
                  <a:lnTo>
                    <a:pt x="61738" y="1430661"/>
                  </a:lnTo>
                  <a:lnTo>
                    <a:pt x="29292" y="1408981"/>
                  </a:lnTo>
                  <a:lnTo>
                    <a:pt x="24649" y="1404338"/>
                  </a:lnTo>
                  <a:lnTo>
                    <a:pt x="5099" y="1370467"/>
                  </a:lnTo>
                  <a:lnTo>
                    <a:pt x="0" y="1344828"/>
                  </a:lnTo>
                  <a:lnTo>
                    <a:pt x="0" y="1338262"/>
                  </a:lnTo>
                  <a:close/>
                </a:path>
              </a:pathLst>
            </a:custGeom>
            <a:ln w="28574">
              <a:solidFill>
                <a:srgbClr val="4BAF4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6839644" y="6758582"/>
            <a:ext cx="572770" cy="5187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105"/>
              </a:spcBef>
            </a:pPr>
            <a:r>
              <a:rPr dirty="0" sz="1500" spc="-50" b="1">
                <a:solidFill>
                  <a:srgbClr val="2E7D32"/>
                </a:solidFill>
                <a:latin typeface="Arial"/>
                <a:cs typeface="Arial"/>
              </a:rPr>
              <a:t>pAUC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000" spc="-40" i="1">
                <a:solidFill>
                  <a:srgbClr val="666666"/>
                </a:solidFill>
                <a:latin typeface="Arial"/>
                <a:cs typeface="Arial"/>
              </a:rPr>
              <a:t>partial</a:t>
            </a:r>
            <a:r>
              <a:rPr dirty="0" sz="1000" spc="-45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00" spc="-145" i="1">
                <a:solidFill>
                  <a:srgbClr val="666666"/>
                </a:solidFill>
                <a:latin typeface="Arial"/>
                <a:cs typeface="Arial"/>
              </a:rPr>
              <a:t>AUC</a:t>
            </a:r>
            <a:endParaRPr sz="100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6462216" y="7331225"/>
            <a:ext cx="1327785" cy="4800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220"/>
              </a:lnSpc>
              <a:spcBef>
                <a:spcPts val="95"/>
              </a:spcBef>
            </a:pPr>
            <a:r>
              <a:rPr dirty="0" sz="1000" spc="-100">
                <a:solidFill>
                  <a:srgbClr val="444444"/>
                </a:solidFill>
                <a:latin typeface="SimSun"/>
                <a:cs typeface="SimSun"/>
              </a:rPr>
              <a:t>部分</a:t>
            </a:r>
            <a:r>
              <a:rPr dirty="0" sz="1050" spc="-145">
                <a:solidFill>
                  <a:srgbClr val="444444"/>
                </a:solidFill>
                <a:latin typeface="Arial MT"/>
                <a:cs typeface="Arial MT"/>
              </a:rPr>
              <a:t>AUC</a:t>
            </a:r>
            <a:r>
              <a:rPr dirty="0" sz="1000" spc="-145">
                <a:solidFill>
                  <a:srgbClr val="444444"/>
                </a:solidFill>
                <a:latin typeface="SimSun"/>
                <a:cs typeface="SimSun"/>
              </a:rPr>
              <a:t>（</a:t>
            </a:r>
            <a:r>
              <a:rPr dirty="0" sz="1050" spc="-145">
                <a:solidFill>
                  <a:srgbClr val="444444"/>
                </a:solidFill>
                <a:latin typeface="Arial MT"/>
                <a:cs typeface="Arial MT"/>
              </a:rPr>
              <a:t>FPR</a:t>
            </a:r>
            <a:r>
              <a:rPr dirty="0" sz="1050" spc="-80">
                <a:solidFill>
                  <a:srgbClr val="444444"/>
                </a:solidFill>
                <a:latin typeface="Arial MT"/>
                <a:cs typeface="Arial MT"/>
              </a:rPr>
              <a:t>: </a:t>
            </a:r>
            <a:r>
              <a:rPr dirty="0" sz="1050" spc="-70">
                <a:solidFill>
                  <a:srgbClr val="444444"/>
                </a:solidFill>
                <a:latin typeface="Arial MT"/>
                <a:cs typeface="Arial MT"/>
              </a:rPr>
              <a:t>0.0-</a:t>
            </a:r>
            <a:r>
              <a:rPr dirty="0" sz="1050" spc="-40">
                <a:solidFill>
                  <a:srgbClr val="444444"/>
                </a:solidFill>
                <a:latin typeface="Arial MT"/>
                <a:cs typeface="Arial MT"/>
              </a:rPr>
              <a:t>0.1</a:t>
            </a:r>
            <a:r>
              <a:rPr dirty="0" sz="1000" spc="-40">
                <a:solidFill>
                  <a:srgbClr val="444444"/>
                </a:solidFill>
                <a:latin typeface="SimSun"/>
                <a:cs typeface="SimSun"/>
              </a:rPr>
              <a:t>）</a:t>
            </a:r>
            <a:endParaRPr sz="1000">
              <a:latin typeface="SimSun"/>
              <a:cs typeface="SimSun"/>
            </a:endParaRPr>
          </a:p>
          <a:p>
            <a:pPr algn="ctr">
              <a:lnSpc>
                <a:spcPts val="1155"/>
              </a:lnSpc>
            </a:pPr>
            <a:r>
              <a:rPr dirty="0" sz="1000" spc="-100" b="1">
                <a:solidFill>
                  <a:srgbClr val="444444"/>
                </a:solidFill>
                <a:latin typeface="Malgun Gothic"/>
                <a:cs typeface="Malgun Gothic"/>
              </a:rPr>
              <a:t>低誤</a:t>
            </a:r>
            <a:r>
              <a:rPr dirty="0" sz="1000" spc="-100" b="1">
                <a:solidFill>
                  <a:srgbClr val="444444"/>
                </a:solidFill>
                <a:latin typeface="Microsoft JhengHei"/>
                <a:cs typeface="Microsoft JhengHei"/>
              </a:rPr>
              <a:t>検知</a:t>
            </a:r>
            <a:r>
              <a:rPr dirty="0" sz="1000" spc="-85" b="1">
                <a:solidFill>
                  <a:srgbClr val="444444"/>
                </a:solidFill>
                <a:latin typeface="Malgun Gothic"/>
                <a:cs typeface="Malgun Gothic"/>
              </a:rPr>
              <a:t>率領域</a:t>
            </a:r>
            <a:endParaRPr sz="10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</a:pPr>
            <a:r>
              <a:rPr dirty="0" sz="1000" spc="-95">
                <a:solidFill>
                  <a:srgbClr val="444444"/>
                </a:solidFill>
                <a:latin typeface="SimSun"/>
                <a:cs typeface="SimSun"/>
              </a:rPr>
              <a:t>実用的性能指標</a:t>
            </a:r>
            <a:endParaRPr sz="1000">
              <a:latin typeface="SimSun"/>
              <a:cs typeface="SimSun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380999" y="8467724"/>
            <a:ext cx="8991600" cy="2905125"/>
            <a:chOff x="380999" y="8467724"/>
            <a:chExt cx="8991600" cy="2905125"/>
          </a:xfrm>
        </p:grpSpPr>
        <p:pic>
          <p:nvPicPr>
            <p:cNvPr id="41" name="object 4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9574" y="8496298"/>
              <a:ext cx="8934449" cy="2847974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395287" y="8482011"/>
              <a:ext cx="8963025" cy="2876550"/>
            </a:xfrm>
            <a:custGeom>
              <a:avLst/>
              <a:gdLst/>
              <a:ahLst/>
              <a:cxnLst/>
              <a:rect l="l" t="t" r="r" b="b"/>
              <a:pathLst>
                <a:path w="8963025" h="2876550">
                  <a:moveTo>
                    <a:pt x="0" y="2747962"/>
                  </a:moveTo>
                  <a:lnTo>
                    <a:pt x="0" y="128587"/>
                  </a:lnTo>
                  <a:lnTo>
                    <a:pt x="0" y="120143"/>
                  </a:lnTo>
                  <a:lnTo>
                    <a:pt x="823" y="111781"/>
                  </a:lnTo>
                  <a:lnTo>
                    <a:pt x="13019" y="71577"/>
                  </a:lnTo>
                  <a:lnTo>
                    <a:pt x="21670" y="57147"/>
                  </a:lnTo>
                  <a:lnTo>
                    <a:pt x="26361" y="50126"/>
                  </a:lnTo>
                  <a:lnTo>
                    <a:pt x="31692" y="43631"/>
                  </a:lnTo>
                  <a:lnTo>
                    <a:pt x="37662" y="37661"/>
                  </a:lnTo>
                  <a:lnTo>
                    <a:pt x="43632" y="31691"/>
                  </a:lnTo>
                  <a:lnTo>
                    <a:pt x="50127" y="26360"/>
                  </a:lnTo>
                  <a:lnTo>
                    <a:pt x="57148" y="21670"/>
                  </a:lnTo>
                  <a:lnTo>
                    <a:pt x="64168" y="16978"/>
                  </a:lnTo>
                  <a:lnTo>
                    <a:pt x="71578" y="13017"/>
                  </a:lnTo>
                  <a:lnTo>
                    <a:pt x="79379" y="9786"/>
                  </a:lnTo>
                  <a:lnTo>
                    <a:pt x="87179" y="6555"/>
                  </a:lnTo>
                  <a:lnTo>
                    <a:pt x="128587" y="0"/>
                  </a:lnTo>
                  <a:lnTo>
                    <a:pt x="8834436" y="0"/>
                  </a:lnTo>
                  <a:lnTo>
                    <a:pt x="8875843" y="6555"/>
                  </a:lnTo>
                  <a:lnTo>
                    <a:pt x="8905875" y="21670"/>
                  </a:lnTo>
                  <a:lnTo>
                    <a:pt x="8912895" y="26360"/>
                  </a:lnTo>
                  <a:lnTo>
                    <a:pt x="8919391" y="31691"/>
                  </a:lnTo>
                  <a:lnTo>
                    <a:pt x="8925361" y="37661"/>
                  </a:lnTo>
                  <a:lnTo>
                    <a:pt x="8931331" y="43631"/>
                  </a:lnTo>
                  <a:lnTo>
                    <a:pt x="8936661" y="50126"/>
                  </a:lnTo>
                  <a:lnTo>
                    <a:pt x="8941352" y="57147"/>
                  </a:lnTo>
                  <a:lnTo>
                    <a:pt x="8946043" y="64166"/>
                  </a:lnTo>
                  <a:lnTo>
                    <a:pt x="8960552" y="103500"/>
                  </a:lnTo>
                  <a:lnTo>
                    <a:pt x="8963024" y="120143"/>
                  </a:lnTo>
                  <a:lnTo>
                    <a:pt x="8963024" y="128587"/>
                  </a:lnTo>
                  <a:lnTo>
                    <a:pt x="8963024" y="2747962"/>
                  </a:lnTo>
                  <a:lnTo>
                    <a:pt x="8963024" y="2756404"/>
                  </a:lnTo>
                  <a:lnTo>
                    <a:pt x="8962200" y="2764767"/>
                  </a:lnTo>
                  <a:lnTo>
                    <a:pt x="8950004" y="2804970"/>
                  </a:lnTo>
                  <a:lnTo>
                    <a:pt x="8941352" y="2819400"/>
                  </a:lnTo>
                  <a:lnTo>
                    <a:pt x="8936661" y="2826421"/>
                  </a:lnTo>
                  <a:lnTo>
                    <a:pt x="8931331" y="2832916"/>
                  </a:lnTo>
                  <a:lnTo>
                    <a:pt x="8925361" y="2838886"/>
                  </a:lnTo>
                  <a:lnTo>
                    <a:pt x="8919391" y="2844857"/>
                  </a:lnTo>
                  <a:lnTo>
                    <a:pt x="8912895" y="2850187"/>
                  </a:lnTo>
                  <a:lnTo>
                    <a:pt x="8905875" y="2854877"/>
                  </a:lnTo>
                  <a:lnTo>
                    <a:pt x="8898854" y="2859569"/>
                  </a:lnTo>
                  <a:lnTo>
                    <a:pt x="8859522" y="2874077"/>
                  </a:lnTo>
                  <a:lnTo>
                    <a:pt x="8842879" y="2876549"/>
                  </a:lnTo>
                  <a:lnTo>
                    <a:pt x="8834436" y="2876549"/>
                  </a:lnTo>
                  <a:lnTo>
                    <a:pt x="128587" y="2876549"/>
                  </a:lnTo>
                  <a:lnTo>
                    <a:pt x="120144" y="2876549"/>
                  </a:lnTo>
                  <a:lnTo>
                    <a:pt x="111782" y="2875725"/>
                  </a:lnTo>
                  <a:lnTo>
                    <a:pt x="71578" y="2863529"/>
                  </a:lnTo>
                  <a:lnTo>
                    <a:pt x="57148" y="2854877"/>
                  </a:lnTo>
                  <a:lnTo>
                    <a:pt x="50127" y="2850187"/>
                  </a:lnTo>
                  <a:lnTo>
                    <a:pt x="21670" y="2819400"/>
                  </a:lnTo>
                  <a:lnTo>
                    <a:pt x="16980" y="2812381"/>
                  </a:lnTo>
                  <a:lnTo>
                    <a:pt x="2470" y="2773047"/>
                  </a:lnTo>
                  <a:lnTo>
                    <a:pt x="0" y="2756404"/>
                  </a:lnTo>
                  <a:lnTo>
                    <a:pt x="0" y="2747962"/>
                  </a:lnTo>
                  <a:close/>
                </a:path>
              </a:pathLst>
            </a:custGeom>
            <a:ln w="28574">
              <a:solidFill>
                <a:srgbClr val="9C26B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14799" y="8788002"/>
              <a:ext cx="190499" cy="178593"/>
            </a:xfrm>
            <a:prstGeom prst="rect">
              <a:avLst/>
            </a:prstGeom>
          </p:spPr>
        </p:pic>
      </p:grpSp>
      <p:sp>
        <p:nvSpPr>
          <p:cNvPr id="44" name="object 44" descr=""/>
          <p:cNvSpPr txBox="1"/>
          <p:nvPr/>
        </p:nvSpPr>
        <p:spPr>
          <a:xfrm>
            <a:off x="4295427" y="8725534"/>
            <a:ext cx="1353185" cy="283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210" b="1">
                <a:solidFill>
                  <a:srgbClr val="7B1FA2"/>
                </a:solidFill>
                <a:latin typeface="Microsoft JhengHei"/>
                <a:cs typeface="Microsoft JhengHei"/>
              </a:rPr>
              <a:t>学</a:t>
            </a:r>
            <a:r>
              <a:rPr dirty="0" sz="1700" spc="-210" b="1">
                <a:solidFill>
                  <a:srgbClr val="7B1FA2"/>
                </a:solidFill>
                <a:latin typeface="Malgun Gothic"/>
                <a:cs typeface="Malgun Gothic"/>
              </a:rPr>
              <a:t>習</a:t>
            </a:r>
            <a:r>
              <a:rPr dirty="0" sz="1700" spc="-210" b="1">
                <a:solidFill>
                  <a:srgbClr val="7B1FA2"/>
                </a:solidFill>
                <a:latin typeface="Microsoft JhengHei"/>
                <a:cs typeface="Microsoft JhengHei"/>
              </a:rPr>
              <a:t>パラメータ</a:t>
            </a:r>
            <a:endParaRPr sz="1700">
              <a:latin typeface="Microsoft JhengHei"/>
              <a:cs typeface="Microsoft JhengHei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647699" y="9191624"/>
            <a:ext cx="4162425" cy="1914525"/>
            <a:chOff x="647699" y="9191624"/>
            <a:chExt cx="4162425" cy="1914525"/>
          </a:xfrm>
        </p:grpSpPr>
        <p:sp>
          <p:nvSpPr>
            <p:cNvPr id="46" name="object 46" descr=""/>
            <p:cNvSpPr/>
            <p:nvPr/>
          </p:nvSpPr>
          <p:spPr>
            <a:xfrm>
              <a:off x="657224" y="9201149"/>
              <a:ext cx="4143375" cy="1895475"/>
            </a:xfrm>
            <a:custGeom>
              <a:avLst/>
              <a:gdLst/>
              <a:ahLst/>
              <a:cxnLst/>
              <a:rect l="l" t="t" r="r" b="b"/>
              <a:pathLst>
                <a:path w="4143375" h="1895475">
                  <a:moveTo>
                    <a:pt x="4063278" y="1895473"/>
                  </a:moveTo>
                  <a:lnTo>
                    <a:pt x="80096" y="1895473"/>
                  </a:lnTo>
                  <a:lnTo>
                    <a:pt x="74521" y="1894924"/>
                  </a:lnTo>
                  <a:lnTo>
                    <a:pt x="33418" y="1877899"/>
                  </a:lnTo>
                  <a:lnTo>
                    <a:pt x="8679" y="1847754"/>
                  </a:lnTo>
                  <a:lnTo>
                    <a:pt x="0" y="1815378"/>
                  </a:lnTo>
                  <a:lnTo>
                    <a:pt x="0" y="1809749"/>
                  </a:lnTo>
                  <a:lnTo>
                    <a:pt x="0" y="80095"/>
                  </a:lnTo>
                  <a:lnTo>
                    <a:pt x="11320" y="42777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4063278" y="0"/>
                  </a:lnTo>
                  <a:lnTo>
                    <a:pt x="4100595" y="11319"/>
                  </a:lnTo>
                  <a:lnTo>
                    <a:pt x="4132054" y="42777"/>
                  </a:lnTo>
                  <a:lnTo>
                    <a:pt x="4143374" y="80095"/>
                  </a:lnTo>
                  <a:lnTo>
                    <a:pt x="4143374" y="1815378"/>
                  </a:lnTo>
                  <a:lnTo>
                    <a:pt x="4132054" y="1852693"/>
                  </a:lnTo>
                  <a:lnTo>
                    <a:pt x="4100595" y="1884152"/>
                  </a:lnTo>
                  <a:lnTo>
                    <a:pt x="4068853" y="1894924"/>
                  </a:lnTo>
                  <a:lnTo>
                    <a:pt x="4063278" y="18954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57224" y="9201149"/>
              <a:ext cx="4143375" cy="1895475"/>
            </a:xfrm>
            <a:custGeom>
              <a:avLst/>
              <a:gdLst/>
              <a:ahLst/>
              <a:cxnLst/>
              <a:rect l="l" t="t" r="r" b="b"/>
              <a:pathLst>
                <a:path w="4143375" h="1895475">
                  <a:moveTo>
                    <a:pt x="0" y="1809749"/>
                  </a:moveTo>
                  <a:lnTo>
                    <a:pt x="0" y="85724"/>
                  </a:lnTo>
                  <a:lnTo>
                    <a:pt x="0" y="80095"/>
                  </a:lnTo>
                  <a:lnTo>
                    <a:pt x="549" y="74521"/>
                  </a:lnTo>
                  <a:lnTo>
                    <a:pt x="1647" y="68999"/>
                  </a:lnTo>
                  <a:lnTo>
                    <a:pt x="2745" y="63478"/>
                  </a:lnTo>
                  <a:lnTo>
                    <a:pt x="4371" y="58118"/>
                  </a:lnTo>
                  <a:lnTo>
                    <a:pt x="6525" y="52918"/>
                  </a:lnTo>
                  <a:lnTo>
                    <a:pt x="8679" y="47718"/>
                  </a:lnTo>
                  <a:lnTo>
                    <a:pt x="11320" y="42777"/>
                  </a:lnTo>
                  <a:lnTo>
                    <a:pt x="14447" y="38097"/>
                  </a:lnTo>
                  <a:lnTo>
                    <a:pt x="17574" y="33417"/>
                  </a:lnTo>
                  <a:lnTo>
                    <a:pt x="21128" y="29087"/>
                  </a:lnTo>
                  <a:lnTo>
                    <a:pt x="25108" y="25107"/>
                  </a:lnTo>
                  <a:lnTo>
                    <a:pt x="29088" y="21127"/>
                  </a:lnTo>
                  <a:lnTo>
                    <a:pt x="33418" y="17573"/>
                  </a:lnTo>
                  <a:lnTo>
                    <a:pt x="38098" y="14446"/>
                  </a:lnTo>
                  <a:lnTo>
                    <a:pt x="42778" y="11319"/>
                  </a:lnTo>
                  <a:lnTo>
                    <a:pt x="47719" y="8678"/>
                  </a:lnTo>
                  <a:lnTo>
                    <a:pt x="52919" y="6524"/>
                  </a:lnTo>
                  <a:lnTo>
                    <a:pt x="58119" y="4370"/>
                  </a:lnTo>
                  <a:lnTo>
                    <a:pt x="63480" y="2744"/>
                  </a:lnTo>
                  <a:lnTo>
                    <a:pt x="69000" y="1646"/>
                  </a:lnTo>
                  <a:lnTo>
                    <a:pt x="74521" y="548"/>
                  </a:lnTo>
                  <a:lnTo>
                    <a:pt x="80096" y="0"/>
                  </a:lnTo>
                  <a:lnTo>
                    <a:pt x="85725" y="0"/>
                  </a:lnTo>
                  <a:lnTo>
                    <a:pt x="4057649" y="0"/>
                  </a:lnTo>
                  <a:lnTo>
                    <a:pt x="4063278" y="0"/>
                  </a:lnTo>
                  <a:lnTo>
                    <a:pt x="4068853" y="548"/>
                  </a:lnTo>
                  <a:lnTo>
                    <a:pt x="4074373" y="1646"/>
                  </a:lnTo>
                  <a:lnTo>
                    <a:pt x="4079894" y="2744"/>
                  </a:lnTo>
                  <a:lnTo>
                    <a:pt x="4085254" y="4370"/>
                  </a:lnTo>
                  <a:lnTo>
                    <a:pt x="4090454" y="6524"/>
                  </a:lnTo>
                  <a:lnTo>
                    <a:pt x="4095655" y="8678"/>
                  </a:lnTo>
                  <a:lnTo>
                    <a:pt x="4100595" y="11319"/>
                  </a:lnTo>
                  <a:lnTo>
                    <a:pt x="4105275" y="14446"/>
                  </a:lnTo>
                  <a:lnTo>
                    <a:pt x="4109955" y="17573"/>
                  </a:lnTo>
                  <a:lnTo>
                    <a:pt x="4114286" y="21127"/>
                  </a:lnTo>
                  <a:lnTo>
                    <a:pt x="4118266" y="25107"/>
                  </a:lnTo>
                  <a:lnTo>
                    <a:pt x="4122246" y="29087"/>
                  </a:lnTo>
                  <a:lnTo>
                    <a:pt x="4125799" y="33417"/>
                  </a:lnTo>
                  <a:lnTo>
                    <a:pt x="4141726" y="68999"/>
                  </a:lnTo>
                  <a:lnTo>
                    <a:pt x="4142825" y="74521"/>
                  </a:lnTo>
                  <a:lnTo>
                    <a:pt x="4143374" y="80095"/>
                  </a:lnTo>
                  <a:lnTo>
                    <a:pt x="4143374" y="85724"/>
                  </a:lnTo>
                  <a:lnTo>
                    <a:pt x="4143374" y="1809749"/>
                  </a:lnTo>
                  <a:lnTo>
                    <a:pt x="4143374" y="1815378"/>
                  </a:lnTo>
                  <a:lnTo>
                    <a:pt x="4142825" y="1820952"/>
                  </a:lnTo>
                  <a:lnTo>
                    <a:pt x="4141726" y="1826473"/>
                  </a:lnTo>
                  <a:lnTo>
                    <a:pt x="4140628" y="1831993"/>
                  </a:lnTo>
                  <a:lnTo>
                    <a:pt x="4122246" y="1866384"/>
                  </a:lnTo>
                  <a:lnTo>
                    <a:pt x="4105275" y="1881025"/>
                  </a:lnTo>
                  <a:lnTo>
                    <a:pt x="4100595" y="1884152"/>
                  </a:lnTo>
                  <a:lnTo>
                    <a:pt x="4074373" y="1893826"/>
                  </a:lnTo>
                  <a:lnTo>
                    <a:pt x="4068853" y="1894924"/>
                  </a:lnTo>
                  <a:lnTo>
                    <a:pt x="4063278" y="1895473"/>
                  </a:lnTo>
                  <a:lnTo>
                    <a:pt x="4057649" y="1895474"/>
                  </a:lnTo>
                  <a:lnTo>
                    <a:pt x="85725" y="1895474"/>
                  </a:lnTo>
                  <a:lnTo>
                    <a:pt x="80096" y="1895473"/>
                  </a:lnTo>
                  <a:lnTo>
                    <a:pt x="74521" y="1894924"/>
                  </a:lnTo>
                  <a:lnTo>
                    <a:pt x="69000" y="1893826"/>
                  </a:lnTo>
                  <a:lnTo>
                    <a:pt x="63480" y="1892727"/>
                  </a:lnTo>
                  <a:lnTo>
                    <a:pt x="38098" y="1881025"/>
                  </a:lnTo>
                  <a:lnTo>
                    <a:pt x="33418" y="1877899"/>
                  </a:lnTo>
                  <a:lnTo>
                    <a:pt x="29088" y="1874344"/>
                  </a:lnTo>
                  <a:lnTo>
                    <a:pt x="25108" y="1870364"/>
                  </a:lnTo>
                  <a:lnTo>
                    <a:pt x="21128" y="1866384"/>
                  </a:lnTo>
                  <a:lnTo>
                    <a:pt x="2745" y="1831993"/>
                  </a:lnTo>
                  <a:lnTo>
                    <a:pt x="0" y="1815378"/>
                  </a:lnTo>
                  <a:lnTo>
                    <a:pt x="0" y="1809749"/>
                  </a:lnTo>
                  <a:close/>
                </a:path>
              </a:pathLst>
            </a:custGeom>
            <a:ln w="19049">
              <a:solidFill>
                <a:srgbClr val="9C2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809612" y="9906011"/>
              <a:ext cx="3838575" cy="981075"/>
            </a:xfrm>
            <a:custGeom>
              <a:avLst/>
              <a:gdLst/>
              <a:ahLst/>
              <a:cxnLst/>
              <a:rect l="l" t="t" r="r" b="b"/>
              <a:pathLst>
                <a:path w="3838575" h="981075">
                  <a:moveTo>
                    <a:pt x="3838575" y="971550"/>
                  </a:moveTo>
                  <a:lnTo>
                    <a:pt x="0" y="971550"/>
                  </a:lnTo>
                  <a:lnTo>
                    <a:pt x="0" y="981075"/>
                  </a:lnTo>
                  <a:lnTo>
                    <a:pt x="3838575" y="981075"/>
                  </a:lnTo>
                  <a:lnTo>
                    <a:pt x="3838575" y="971550"/>
                  </a:lnTo>
                  <a:close/>
                </a:path>
                <a:path w="3838575" h="981075">
                  <a:moveTo>
                    <a:pt x="3838575" y="647700"/>
                  </a:moveTo>
                  <a:lnTo>
                    <a:pt x="0" y="647700"/>
                  </a:lnTo>
                  <a:lnTo>
                    <a:pt x="0" y="657225"/>
                  </a:lnTo>
                  <a:lnTo>
                    <a:pt x="3838575" y="657225"/>
                  </a:lnTo>
                  <a:lnTo>
                    <a:pt x="3838575" y="647700"/>
                  </a:lnTo>
                  <a:close/>
                </a:path>
                <a:path w="3838575" h="981075">
                  <a:moveTo>
                    <a:pt x="3838575" y="323850"/>
                  </a:moveTo>
                  <a:lnTo>
                    <a:pt x="0" y="323850"/>
                  </a:lnTo>
                  <a:lnTo>
                    <a:pt x="0" y="333375"/>
                  </a:lnTo>
                  <a:lnTo>
                    <a:pt x="3838575" y="333375"/>
                  </a:lnTo>
                  <a:lnTo>
                    <a:pt x="3838575" y="323850"/>
                  </a:lnTo>
                  <a:close/>
                </a:path>
                <a:path w="3838575" h="981075">
                  <a:moveTo>
                    <a:pt x="38385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838575" y="9525"/>
                  </a:lnTo>
                  <a:lnTo>
                    <a:pt x="383857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9624" y="9391649"/>
              <a:ext cx="133350" cy="133350"/>
            </a:xfrm>
            <a:prstGeom prst="rect">
              <a:avLst/>
            </a:prstGeom>
          </p:spPr>
        </p:pic>
      </p:grpSp>
      <p:sp>
        <p:nvSpPr>
          <p:cNvPr id="50" name="object 50" descr=""/>
          <p:cNvSpPr txBox="1"/>
          <p:nvPr/>
        </p:nvSpPr>
        <p:spPr>
          <a:xfrm>
            <a:off x="930275" y="9342563"/>
            <a:ext cx="6921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0" b="1">
                <a:solidFill>
                  <a:srgbClr val="7B1FA2"/>
                </a:solidFill>
                <a:latin typeface="Malgun Gothic"/>
                <a:cs typeface="Malgun Gothic"/>
              </a:rPr>
              <a:t>モデル設定</a:t>
            </a:r>
            <a:endParaRPr sz="1150">
              <a:latin typeface="Malgun Gothic"/>
              <a:cs typeface="Malgun Gothic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796924" y="9693215"/>
            <a:ext cx="70167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85" b="1">
                <a:solidFill>
                  <a:srgbClr val="7B1FA2"/>
                </a:solidFill>
                <a:latin typeface="Tahoma"/>
                <a:cs typeface="Tahoma"/>
              </a:rPr>
              <a:t>Multi-</a:t>
            </a:r>
            <a:r>
              <a:rPr dirty="0" sz="950" spc="-100" b="1">
                <a:solidFill>
                  <a:srgbClr val="7B1FA2"/>
                </a:solidFill>
                <a:latin typeface="Tahoma"/>
                <a:cs typeface="Tahoma"/>
              </a:rPr>
              <a:t>Head</a:t>
            </a:r>
            <a:r>
              <a:rPr dirty="0" sz="900" spc="-50" b="1">
                <a:solidFill>
                  <a:srgbClr val="7B1FA2"/>
                </a:solidFill>
                <a:latin typeface="Microsoft JhengHei"/>
                <a:cs typeface="Microsoft JhengHei"/>
              </a:rPr>
              <a:t>数</a:t>
            </a:r>
            <a:endParaRPr sz="900">
              <a:latin typeface="Microsoft JhengHei"/>
              <a:cs typeface="Microsoft JhengHei"/>
            </a:endParaRPr>
          </a:p>
        </p:txBody>
      </p:sp>
      <p:pic>
        <p:nvPicPr>
          <p:cNvPr id="52" name="object 5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67224" y="9686924"/>
            <a:ext cx="180974" cy="180973"/>
          </a:xfrm>
          <a:prstGeom prst="rect">
            <a:avLst/>
          </a:prstGeom>
        </p:spPr>
      </p:pic>
      <p:sp>
        <p:nvSpPr>
          <p:cNvPr id="53" name="object 53" descr=""/>
          <p:cNvSpPr txBox="1"/>
          <p:nvPr/>
        </p:nvSpPr>
        <p:spPr>
          <a:xfrm>
            <a:off x="4516288" y="9692208"/>
            <a:ext cx="82550" cy="1530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00" spc="-50">
                <a:solidFill>
                  <a:srgbClr val="494F57"/>
                </a:solidFill>
                <a:latin typeface="Courier New"/>
                <a:cs typeface="Courier New"/>
              </a:rPr>
              <a:t>6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796924" y="10017065"/>
            <a:ext cx="52324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95" b="1">
                <a:solidFill>
                  <a:srgbClr val="7B1FA2"/>
                </a:solidFill>
                <a:latin typeface="Tahoma"/>
                <a:cs typeface="Tahoma"/>
              </a:rPr>
              <a:t>Mel</a:t>
            </a:r>
            <a:r>
              <a:rPr dirty="0" sz="900" spc="-80" b="1">
                <a:solidFill>
                  <a:srgbClr val="7B1FA2"/>
                </a:solidFill>
                <a:latin typeface="Microsoft JhengHei"/>
                <a:cs typeface="Microsoft JhengHei"/>
              </a:rPr>
              <a:t>ビン数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55" name="object 55" descr=""/>
          <p:cNvSpPr/>
          <p:nvPr/>
        </p:nvSpPr>
        <p:spPr>
          <a:xfrm>
            <a:off x="4352924" y="10010774"/>
            <a:ext cx="295275" cy="180975"/>
          </a:xfrm>
          <a:custGeom>
            <a:avLst/>
            <a:gdLst/>
            <a:ahLst/>
            <a:cxnLst/>
            <a:rect l="l" t="t" r="r" b="b"/>
            <a:pathLst>
              <a:path w="295275" h="180975">
                <a:moveTo>
                  <a:pt x="262227" y="180973"/>
                </a:moveTo>
                <a:lnTo>
                  <a:pt x="33047" y="180973"/>
                </a:lnTo>
                <a:lnTo>
                  <a:pt x="28187" y="180007"/>
                </a:lnTo>
                <a:lnTo>
                  <a:pt x="966" y="152786"/>
                </a:lnTo>
                <a:lnTo>
                  <a:pt x="0" y="147927"/>
                </a:lnTo>
                <a:lnTo>
                  <a:pt x="0" y="142874"/>
                </a:lnTo>
                <a:lnTo>
                  <a:pt x="0" y="33046"/>
                </a:lnTo>
                <a:lnTo>
                  <a:pt x="28187" y="966"/>
                </a:lnTo>
                <a:lnTo>
                  <a:pt x="33047" y="0"/>
                </a:lnTo>
                <a:lnTo>
                  <a:pt x="262227" y="0"/>
                </a:lnTo>
                <a:lnTo>
                  <a:pt x="294308" y="28186"/>
                </a:lnTo>
                <a:lnTo>
                  <a:pt x="295274" y="33046"/>
                </a:lnTo>
                <a:lnTo>
                  <a:pt x="295274" y="147927"/>
                </a:lnTo>
                <a:lnTo>
                  <a:pt x="267087" y="180007"/>
                </a:lnTo>
                <a:lnTo>
                  <a:pt x="262227" y="180973"/>
                </a:lnTo>
                <a:close/>
              </a:path>
            </a:pathLst>
          </a:custGeom>
          <a:solidFill>
            <a:srgbClr val="F7F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 txBox="1"/>
          <p:nvPr/>
        </p:nvSpPr>
        <p:spPr>
          <a:xfrm>
            <a:off x="4401988" y="10016058"/>
            <a:ext cx="196850" cy="1530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00" spc="-25">
                <a:solidFill>
                  <a:srgbClr val="494F57"/>
                </a:solidFill>
                <a:latin typeface="Courier New"/>
                <a:cs typeface="Courier New"/>
              </a:rPr>
              <a:t>128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796924" y="10346404"/>
            <a:ext cx="75628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90" b="1">
                <a:solidFill>
                  <a:srgbClr val="7B1FA2"/>
                </a:solidFill>
                <a:latin typeface="Malgun Gothic"/>
                <a:cs typeface="Malgun Gothic"/>
              </a:rPr>
              <a:t>時間</a:t>
            </a:r>
            <a:r>
              <a:rPr dirty="0" sz="900" spc="-90" b="1">
                <a:solidFill>
                  <a:srgbClr val="7B1FA2"/>
                </a:solidFill>
                <a:latin typeface="Microsoft JhengHei"/>
                <a:cs typeface="Microsoft JhengHei"/>
              </a:rPr>
              <a:t>フレーム数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58" name="object 58" descr=""/>
          <p:cNvSpPr/>
          <p:nvPr/>
        </p:nvSpPr>
        <p:spPr>
          <a:xfrm>
            <a:off x="4352924" y="10334624"/>
            <a:ext cx="295275" cy="180975"/>
          </a:xfrm>
          <a:custGeom>
            <a:avLst/>
            <a:gdLst/>
            <a:ahLst/>
            <a:cxnLst/>
            <a:rect l="l" t="t" r="r" b="b"/>
            <a:pathLst>
              <a:path w="295275" h="180975">
                <a:moveTo>
                  <a:pt x="262227" y="180973"/>
                </a:moveTo>
                <a:lnTo>
                  <a:pt x="33047" y="180973"/>
                </a:lnTo>
                <a:lnTo>
                  <a:pt x="28187" y="180006"/>
                </a:lnTo>
                <a:lnTo>
                  <a:pt x="966" y="152786"/>
                </a:lnTo>
                <a:lnTo>
                  <a:pt x="0" y="147927"/>
                </a:lnTo>
                <a:lnTo>
                  <a:pt x="0" y="142874"/>
                </a:lnTo>
                <a:lnTo>
                  <a:pt x="0" y="33046"/>
                </a:lnTo>
                <a:lnTo>
                  <a:pt x="28187" y="966"/>
                </a:lnTo>
                <a:lnTo>
                  <a:pt x="33047" y="0"/>
                </a:lnTo>
                <a:lnTo>
                  <a:pt x="262227" y="0"/>
                </a:lnTo>
                <a:lnTo>
                  <a:pt x="294308" y="28186"/>
                </a:lnTo>
                <a:lnTo>
                  <a:pt x="295274" y="33046"/>
                </a:lnTo>
                <a:lnTo>
                  <a:pt x="295274" y="147927"/>
                </a:lnTo>
                <a:lnTo>
                  <a:pt x="267087" y="180007"/>
                </a:lnTo>
                <a:lnTo>
                  <a:pt x="262227" y="180973"/>
                </a:lnTo>
                <a:close/>
              </a:path>
            </a:pathLst>
          </a:custGeom>
          <a:solidFill>
            <a:srgbClr val="F7F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 txBox="1"/>
          <p:nvPr/>
        </p:nvSpPr>
        <p:spPr>
          <a:xfrm>
            <a:off x="4401988" y="10339908"/>
            <a:ext cx="196850" cy="1530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00" spc="-25">
                <a:solidFill>
                  <a:srgbClr val="494F57"/>
                </a:solidFill>
                <a:latin typeface="Courier New"/>
                <a:cs typeface="Courier New"/>
              </a:rPr>
              <a:t>312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796924" y="10664765"/>
            <a:ext cx="83946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0" b="1">
                <a:solidFill>
                  <a:srgbClr val="7B1FA2"/>
                </a:solidFill>
                <a:latin typeface="Tahoma"/>
                <a:cs typeface="Tahoma"/>
              </a:rPr>
              <a:t>ArcFace</a:t>
            </a:r>
            <a:r>
              <a:rPr dirty="0" sz="900" spc="-90" b="1">
                <a:solidFill>
                  <a:srgbClr val="7B1FA2"/>
                </a:solidFill>
                <a:latin typeface="Microsoft JhengHei"/>
                <a:cs typeface="Microsoft JhengHei"/>
              </a:rPr>
              <a:t>マージン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61" name="object 61" descr=""/>
          <p:cNvSpPr/>
          <p:nvPr/>
        </p:nvSpPr>
        <p:spPr>
          <a:xfrm>
            <a:off x="4352924" y="10658474"/>
            <a:ext cx="295275" cy="180975"/>
          </a:xfrm>
          <a:custGeom>
            <a:avLst/>
            <a:gdLst/>
            <a:ahLst/>
            <a:cxnLst/>
            <a:rect l="l" t="t" r="r" b="b"/>
            <a:pathLst>
              <a:path w="295275" h="180975">
                <a:moveTo>
                  <a:pt x="262227" y="180974"/>
                </a:moveTo>
                <a:lnTo>
                  <a:pt x="33047" y="180974"/>
                </a:lnTo>
                <a:lnTo>
                  <a:pt x="28187" y="180007"/>
                </a:lnTo>
                <a:lnTo>
                  <a:pt x="966" y="152786"/>
                </a:lnTo>
                <a:lnTo>
                  <a:pt x="0" y="147925"/>
                </a:lnTo>
                <a:lnTo>
                  <a:pt x="0" y="142874"/>
                </a:lnTo>
                <a:lnTo>
                  <a:pt x="0" y="33046"/>
                </a:lnTo>
                <a:lnTo>
                  <a:pt x="28187" y="966"/>
                </a:lnTo>
                <a:lnTo>
                  <a:pt x="33047" y="0"/>
                </a:lnTo>
                <a:lnTo>
                  <a:pt x="262227" y="0"/>
                </a:lnTo>
                <a:lnTo>
                  <a:pt x="294308" y="28185"/>
                </a:lnTo>
                <a:lnTo>
                  <a:pt x="295274" y="33046"/>
                </a:lnTo>
                <a:lnTo>
                  <a:pt x="295274" y="147925"/>
                </a:lnTo>
                <a:lnTo>
                  <a:pt x="267087" y="180007"/>
                </a:lnTo>
                <a:lnTo>
                  <a:pt x="262227" y="180974"/>
                </a:lnTo>
                <a:close/>
              </a:path>
            </a:pathLst>
          </a:custGeom>
          <a:solidFill>
            <a:srgbClr val="F7F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 txBox="1"/>
          <p:nvPr/>
        </p:nvSpPr>
        <p:spPr>
          <a:xfrm>
            <a:off x="4401988" y="10663757"/>
            <a:ext cx="196850" cy="1530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00" spc="-25">
                <a:solidFill>
                  <a:srgbClr val="494F57"/>
                </a:solidFill>
                <a:latin typeface="Courier New"/>
                <a:cs typeface="Courier New"/>
              </a:rPr>
              <a:t>1.0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4952999" y="9191624"/>
            <a:ext cx="4152900" cy="1914525"/>
            <a:chOff x="4952999" y="9191624"/>
            <a:chExt cx="4152900" cy="1914525"/>
          </a:xfrm>
        </p:grpSpPr>
        <p:sp>
          <p:nvSpPr>
            <p:cNvPr id="64" name="object 64" descr=""/>
            <p:cNvSpPr/>
            <p:nvPr/>
          </p:nvSpPr>
          <p:spPr>
            <a:xfrm>
              <a:off x="4962524" y="9201149"/>
              <a:ext cx="4133850" cy="1895475"/>
            </a:xfrm>
            <a:custGeom>
              <a:avLst/>
              <a:gdLst/>
              <a:ahLst/>
              <a:cxnLst/>
              <a:rect l="l" t="t" r="r" b="b"/>
              <a:pathLst>
                <a:path w="4133850" h="1895475">
                  <a:moveTo>
                    <a:pt x="4053753" y="1895473"/>
                  </a:moveTo>
                  <a:lnTo>
                    <a:pt x="80096" y="1895473"/>
                  </a:lnTo>
                  <a:lnTo>
                    <a:pt x="74521" y="1894924"/>
                  </a:lnTo>
                  <a:lnTo>
                    <a:pt x="33417" y="1877899"/>
                  </a:lnTo>
                  <a:lnTo>
                    <a:pt x="8679" y="1847754"/>
                  </a:lnTo>
                  <a:lnTo>
                    <a:pt x="0" y="1815378"/>
                  </a:lnTo>
                  <a:lnTo>
                    <a:pt x="0" y="1809749"/>
                  </a:lnTo>
                  <a:lnTo>
                    <a:pt x="0" y="80095"/>
                  </a:lnTo>
                  <a:lnTo>
                    <a:pt x="11319" y="42777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4053753" y="0"/>
                  </a:lnTo>
                  <a:lnTo>
                    <a:pt x="4091069" y="11319"/>
                  </a:lnTo>
                  <a:lnTo>
                    <a:pt x="4122529" y="42777"/>
                  </a:lnTo>
                  <a:lnTo>
                    <a:pt x="4133849" y="80095"/>
                  </a:lnTo>
                  <a:lnTo>
                    <a:pt x="4133849" y="1815378"/>
                  </a:lnTo>
                  <a:lnTo>
                    <a:pt x="4122528" y="1852693"/>
                  </a:lnTo>
                  <a:lnTo>
                    <a:pt x="4091070" y="1884152"/>
                  </a:lnTo>
                  <a:lnTo>
                    <a:pt x="4059328" y="1894924"/>
                  </a:lnTo>
                  <a:lnTo>
                    <a:pt x="4053753" y="18954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4962524" y="9201149"/>
              <a:ext cx="4133850" cy="1895475"/>
            </a:xfrm>
            <a:custGeom>
              <a:avLst/>
              <a:gdLst/>
              <a:ahLst/>
              <a:cxnLst/>
              <a:rect l="l" t="t" r="r" b="b"/>
              <a:pathLst>
                <a:path w="4133850" h="1895475">
                  <a:moveTo>
                    <a:pt x="0" y="1809749"/>
                  </a:moveTo>
                  <a:lnTo>
                    <a:pt x="0" y="85724"/>
                  </a:lnTo>
                  <a:lnTo>
                    <a:pt x="0" y="80095"/>
                  </a:lnTo>
                  <a:lnTo>
                    <a:pt x="548" y="74521"/>
                  </a:lnTo>
                  <a:lnTo>
                    <a:pt x="1646" y="68999"/>
                  </a:lnTo>
                  <a:lnTo>
                    <a:pt x="2745" y="63478"/>
                  </a:lnTo>
                  <a:lnTo>
                    <a:pt x="4371" y="58118"/>
                  </a:lnTo>
                  <a:lnTo>
                    <a:pt x="6525" y="52918"/>
                  </a:lnTo>
                  <a:lnTo>
                    <a:pt x="8679" y="47718"/>
                  </a:lnTo>
                  <a:lnTo>
                    <a:pt x="11319" y="42777"/>
                  </a:lnTo>
                  <a:lnTo>
                    <a:pt x="14447" y="38097"/>
                  </a:lnTo>
                  <a:lnTo>
                    <a:pt x="17574" y="33417"/>
                  </a:lnTo>
                  <a:lnTo>
                    <a:pt x="21127" y="29087"/>
                  </a:lnTo>
                  <a:lnTo>
                    <a:pt x="25108" y="25107"/>
                  </a:lnTo>
                  <a:lnTo>
                    <a:pt x="29087" y="21127"/>
                  </a:lnTo>
                  <a:lnTo>
                    <a:pt x="33417" y="17573"/>
                  </a:lnTo>
                  <a:lnTo>
                    <a:pt x="38098" y="14446"/>
                  </a:lnTo>
                  <a:lnTo>
                    <a:pt x="42778" y="11319"/>
                  </a:lnTo>
                  <a:lnTo>
                    <a:pt x="47719" y="8678"/>
                  </a:lnTo>
                  <a:lnTo>
                    <a:pt x="52919" y="6524"/>
                  </a:lnTo>
                  <a:lnTo>
                    <a:pt x="58119" y="4370"/>
                  </a:lnTo>
                  <a:lnTo>
                    <a:pt x="63479" y="2744"/>
                  </a:lnTo>
                  <a:lnTo>
                    <a:pt x="69000" y="1646"/>
                  </a:lnTo>
                  <a:lnTo>
                    <a:pt x="74521" y="548"/>
                  </a:lnTo>
                  <a:lnTo>
                    <a:pt x="80096" y="0"/>
                  </a:lnTo>
                  <a:lnTo>
                    <a:pt x="85725" y="0"/>
                  </a:lnTo>
                  <a:lnTo>
                    <a:pt x="4048125" y="0"/>
                  </a:lnTo>
                  <a:lnTo>
                    <a:pt x="4053753" y="0"/>
                  </a:lnTo>
                  <a:lnTo>
                    <a:pt x="4059328" y="548"/>
                  </a:lnTo>
                  <a:lnTo>
                    <a:pt x="4064848" y="1646"/>
                  </a:lnTo>
                  <a:lnTo>
                    <a:pt x="4070368" y="2744"/>
                  </a:lnTo>
                  <a:lnTo>
                    <a:pt x="4075728" y="4370"/>
                  </a:lnTo>
                  <a:lnTo>
                    <a:pt x="4080929" y="6524"/>
                  </a:lnTo>
                  <a:lnTo>
                    <a:pt x="4086129" y="8678"/>
                  </a:lnTo>
                  <a:lnTo>
                    <a:pt x="4091069" y="11319"/>
                  </a:lnTo>
                  <a:lnTo>
                    <a:pt x="4095750" y="14446"/>
                  </a:lnTo>
                  <a:lnTo>
                    <a:pt x="4100430" y="17573"/>
                  </a:lnTo>
                  <a:lnTo>
                    <a:pt x="4104760" y="21127"/>
                  </a:lnTo>
                  <a:lnTo>
                    <a:pt x="4108741" y="25107"/>
                  </a:lnTo>
                  <a:lnTo>
                    <a:pt x="4112721" y="29087"/>
                  </a:lnTo>
                  <a:lnTo>
                    <a:pt x="4116275" y="33417"/>
                  </a:lnTo>
                  <a:lnTo>
                    <a:pt x="4119402" y="38097"/>
                  </a:lnTo>
                  <a:lnTo>
                    <a:pt x="4122529" y="42777"/>
                  </a:lnTo>
                  <a:lnTo>
                    <a:pt x="4133849" y="80095"/>
                  </a:lnTo>
                  <a:lnTo>
                    <a:pt x="4133850" y="85724"/>
                  </a:lnTo>
                  <a:lnTo>
                    <a:pt x="4133850" y="1809749"/>
                  </a:lnTo>
                  <a:lnTo>
                    <a:pt x="4125169" y="1847754"/>
                  </a:lnTo>
                  <a:lnTo>
                    <a:pt x="4119401" y="1857373"/>
                  </a:lnTo>
                  <a:lnTo>
                    <a:pt x="4116274" y="1862053"/>
                  </a:lnTo>
                  <a:lnTo>
                    <a:pt x="4086129" y="1886792"/>
                  </a:lnTo>
                  <a:lnTo>
                    <a:pt x="4064848" y="1893826"/>
                  </a:lnTo>
                  <a:lnTo>
                    <a:pt x="4059328" y="1894924"/>
                  </a:lnTo>
                  <a:lnTo>
                    <a:pt x="4053753" y="1895473"/>
                  </a:lnTo>
                  <a:lnTo>
                    <a:pt x="4048125" y="1895474"/>
                  </a:lnTo>
                  <a:lnTo>
                    <a:pt x="85725" y="1895474"/>
                  </a:lnTo>
                  <a:lnTo>
                    <a:pt x="47719" y="1886792"/>
                  </a:lnTo>
                  <a:lnTo>
                    <a:pt x="38098" y="1881025"/>
                  </a:lnTo>
                  <a:lnTo>
                    <a:pt x="33417" y="1877899"/>
                  </a:lnTo>
                  <a:lnTo>
                    <a:pt x="29087" y="1874344"/>
                  </a:lnTo>
                  <a:lnTo>
                    <a:pt x="25108" y="1870364"/>
                  </a:lnTo>
                  <a:lnTo>
                    <a:pt x="21127" y="1866384"/>
                  </a:lnTo>
                  <a:lnTo>
                    <a:pt x="17574" y="1862053"/>
                  </a:lnTo>
                  <a:lnTo>
                    <a:pt x="14447" y="1857373"/>
                  </a:lnTo>
                  <a:lnTo>
                    <a:pt x="11319" y="1852693"/>
                  </a:lnTo>
                  <a:lnTo>
                    <a:pt x="0" y="1815378"/>
                  </a:lnTo>
                  <a:lnTo>
                    <a:pt x="0" y="1809749"/>
                  </a:lnTo>
                  <a:close/>
                </a:path>
              </a:pathLst>
            </a:custGeom>
            <a:ln w="19049">
              <a:solidFill>
                <a:srgbClr val="9C2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5114912" y="9906011"/>
              <a:ext cx="3829050" cy="981075"/>
            </a:xfrm>
            <a:custGeom>
              <a:avLst/>
              <a:gdLst/>
              <a:ahLst/>
              <a:cxnLst/>
              <a:rect l="l" t="t" r="r" b="b"/>
              <a:pathLst>
                <a:path w="3829050" h="981075">
                  <a:moveTo>
                    <a:pt x="3829050" y="971550"/>
                  </a:moveTo>
                  <a:lnTo>
                    <a:pt x="0" y="971550"/>
                  </a:lnTo>
                  <a:lnTo>
                    <a:pt x="0" y="981075"/>
                  </a:lnTo>
                  <a:lnTo>
                    <a:pt x="3829050" y="981075"/>
                  </a:lnTo>
                  <a:lnTo>
                    <a:pt x="3829050" y="971550"/>
                  </a:lnTo>
                  <a:close/>
                </a:path>
                <a:path w="3829050" h="981075">
                  <a:moveTo>
                    <a:pt x="3829050" y="647700"/>
                  </a:moveTo>
                  <a:lnTo>
                    <a:pt x="0" y="647700"/>
                  </a:lnTo>
                  <a:lnTo>
                    <a:pt x="0" y="657225"/>
                  </a:lnTo>
                  <a:lnTo>
                    <a:pt x="3829050" y="657225"/>
                  </a:lnTo>
                  <a:lnTo>
                    <a:pt x="3829050" y="647700"/>
                  </a:lnTo>
                  <a:close/>
                </a:path>
                <a:path w="3829050" h="981075">
                  <a:moveTo>
                    <a:pt x="3829050" y="323850"/>
                  </a:moveTo>
                  <a:lnTo>
                    <a:pt x="0" y="323850"/>
                  </a:lnTo>
                  <a:lnTo>
                    <a:pt x="0" y="333375"/>
                  </a:lnTo>
                  <a:lnTo>
                    <a:pt x="3829050" y="333375"/>
                  </a:lnTo>
                  <a:lnTo>
                    <a:pt x="3829050" y="323850"/>
                  </a:lnTo>
                  <a:close/>
                </a:path>
                <a:path w="3829050" h="981075">
                  <a:moveTo>
                    <a:pt x="382905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829050" y="9525"/>
                  </a:lnTo>
                  <a:lnTo>
                    <a:pt x="382905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18258" y="9391649"/>
              <a:ext cx="126656" cy="133323"/>
            </a:xfrm>
            <a:prstGeom prst="rect">
              <a:avLst/>
            </a:prstGeom>
          </p:spPr>
        </p:pic>
      </p:grpSp>
      <p:sp>
        <p:nvSpPr>
          <p:cNvPr id="68" name="object 68" descr=""/>
          <p:cNvSpPr txBox="1"/>
          <p:nvPr/>
        </p:nvSpPr>
        <p:spPr>
          <a:xfrm>
            <a:off x="5230812" y="9342563"/>
            <a:ext cx="6921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0" b="1">
                <a:solidFill>
                  <a:srgbClr val="7B1FA2"/>
                </a:solidFill>
                <a:latin typeface="Malgun Gothic"/>
                <a:cs typeface="Malgun Gothic"/>
              </a:rPr>
              <a:t>最適化設定</a:t>
            </a:r>
            <a:endParaRPr sz="1150">
              <a:latin typeface="Malgun Gothic"/>
              <a:cs typeface="Malgun Gothic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5097462" y="9698704"/>
            <a:ext cx="54927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90" b="1">
                <a:solidFill>
                  <a:srgbClr val="7B1FA2"/>
                </a:solidFill>
                <a:latin typeface="Malgun Gothic"/>
                <a:cs typeface="Malgun Gothic"/>
              </a:rPr>
              <a:t>最適化</a:t>
            </a:r>
            <a:r>
              <a:rPr dirty="0" sz="900" spc="-70" b="1">
                <a:solidFill>
                  <a:srgbClr val="7B1FA2"/>
                </a:solidFill>
                <a:latin typeface="Microsoft JhengHei"/>
                <a:cs typeface="Microsoft JhengHei"/>
              </a:rPr>
              <a:t>手法</a:t>
            </a:r>
            <a:endParaRPr sz="900">
              <a:latin typeface="Microsoft JhengHei"/>
              <a:cs typeface="Microsoft JhengHei"/>
            </a:endParaRPr>
          </a:p>
        </p:txBody>
      </p:sp>
      <p:sp>
        <p:nvSpPr>
          <p:cNvPr id="70" name="object 70" descr=""/>
          <p:cNvSpPr/>
          <p:nvPr/>
        </p:nvSpPr>
        <p:spPr>
          <a:xfrm>
            <a:off x="8601073" y="9686924"/>
            <a:ext cx="342900" cy="180975"/>
          </a:xfrm>
          <a:custGeom>
            <a:avLst/>
            <a:gdLst/>
            <a:ahLst/>
            <a:cxnLst/>
            <a:rect l="l" t="t" r="r" b="b"/>
            <a:pathLst>
              <a:path w="342900" h="180975">
                <a:moveTo>
                  <a:pt x="309852" y="180973"/>
                </a:moveTo>
                <a:lnTo>
                  <a:pt x="33047" y="180973"/>
                </a:lnTo>
                <a:lnTo>
                  <a:pt x="28187" y="180007"/>
                </a:lnTo>
                <a:lnTo>
                  <a:pt x="966" y="152786"/>
                </a:lnTo>
                <a:lnTo>
                  <a:pt x="0" y="147927"/>
                </a:lnTo>
                <a:lnTo>
                  <a:pt x="0" y="142874"/>
                </a:lnTo>
                <a:lnTo>
                  <a:pt x="0" y="33046"/>
                </a:lnTo>
                <a:lnTo>
                  <a:pt x="28187" y="966"/>
                </a:lnTo>
                <a:lnTo>
                  <a:pt x="33047" y="0"/>
                </a:lnTo>
                <a:lnTo>
                  <a:pt x="309852" y="0"/>
                </a:lnTo>
                <a:lnTo>
                  <a:pt x="341932" y="28186"/>
                </a:lnTo>
                <a:lnTo>
                  <a:pt x="342899" y="33046"/>
                </a:lnTo>
                <a:lnTo>
                  <a:pt x="342899" y="147927"/>
                </a:lnTo>
                <a:lnTo>
                  <a:pt x="314712" y="180006"/>
                </a:lnTo>
                <a:lnTo>
                  <a:pt x="309852" y="180973"/>
                </a:lnTo>
                <a:close/>
              </a:path>
            </a:pathLst>
          </a:custGeom>
          <a:solidFill>
            <a:srgbClr val="F7F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 txBox="1"/>
          <p:nvPr/>
        </p:nvSpPr>
        <p:spPr>
          <a:xfrm>
            <a:off x="8645376" y="9692208"/>
            <a:ext cx="254000" cy="1530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00" spc="-20">
                <a:solidFill>
                  <a:srgbClr val="494F57"/>
                </a:solidFill>
                <a:latin typeface="Courier New"/>
                <a:cs typeface="Courier New"/>
              </a:rPr>
              <a:t>Adam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5097462" y="10022554"/>
            <a:ext cx="33972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90" b="1">
                <a:solidFill>
                  <a:srgbClr val="7B1FA2"/>
                </a:solidFill>
                <a:latin typeface="Microsoft JhengHei"/>
                <a:cs typeface="Microsoft JhengHei"/>
              </a:rPr>
              <a:t>学</a:t>
            </a:r>
            <a:r>
              <a:rPr dirty="0" sz="900" spc="-70" b="1">
                <a:solidFill>
                  <a:srgbClr val="7B1FA2"/>
                </a:solidFill>
                <a:latin typeface="Malgun Gothic"/>
                <a:cs typeface="Malgun Gothic"/>
              </a:rPr>
              <a:t>習率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73" name="object 73" descr=""/>
          <p:cNvSpPr/>
          <p:nvPr/>
        </p:nvSpPr>
        <p:spPr>
          <a:xfrm>
            <a:off x="8486773" y="10010774"/>
            <a:ext cx="457200" cy="180975"/>
          </a:xfrm>
          <a:custGeom>
            <a:avLst/>
            <a:gdLst/>
            <a:ahLst/>
            <a:cxnLst/>
            <a:rect l="l" t="t" r="r" b="b"/>
            <a:pathLst>
              <a:path w="457200" h="180975">
                <a:moveTo>
                  <a:pt x="424152" y="180973"/>
                </a:moveTo>
                <a:lnTo>
                  <a:pt x="33047" y="180973"/>
                </a:lnTo>
                <a:lnTo>
                  <a:pt x="28187" y="180007"/>
                </a:lnTo>
                <a:lnTo>
                  <a:pt x="966" y="152786"/>
                </a:lnTo>
                <a:lnTo>
                  <a:pt x="0" y="147927"/>
                </a:lnTo>
                <a:lnTo>
                  <a:pt x="0" y="142874"/>
                </a:lnTo>
                <a:lnTo>
                  <a:pt x="0" y="33046"/>
                </a:lnTo>
                <a:lnTo>
                  <a:pt x="28187" y="966"/>
                </a:lnTo>
                <a:lnTo>
                  <a:pt x="33047" y="0"/>
                </a:lnTo>
                <a:lnTo>
                  <a:pt x="424152" y="0"/>
                </a:lnTo>
                <a:lnTo>
                  <a:pt x="456232" y="28186"/>
                </a:lnTo>
                <a:lnTo>
                  <a:pt x="457199" y="33046"/>
                </a:lnTo>
                <a:lnTo>
                  <a:pt x="457199" y="147927"/>
                </a:lnTo>
                <a:lnTo>
                  <a:pt x="429012" y="180007"/>
                </a:lnTo>
                <a:lnTo>
                  <a:pt x="424152" y="180973"/>
                </a:lnTo>
                <a:close/>
              </a:path>
            </a:pathLst>
          </a:custGeom>
          <a:solidFill>
            <a:srgbClr val="F7F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 txBox="1"/>
          <p:nvPr/>
        </p:nvSpPr>
        <p:spPr>
          <a:xfrm>
            <a:off x="8530778" y="10016058"/>
            <a:ext cx="368935" cy="1530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00" spc="50">
                <a:solidFill>
                  <a:srgbClr val="494F57"/>
                </a:solidFill>
                <a:latin typeface="Courier New"/>
                <a:cs typeface="Courier New"/>
              </a:rPr>
              <a:t>1</a:t>
            </a:r>
            <a:r>
              <a:rPr dirty="0" sz="750" spc="50">
                <a:solidFill>
                  <a:srgbClr val="494F57"/>
                </a:solidFill>
                <a:latin typeface="Courier New"/>
                <a:cs typeface="Courier New"/>
              </a:rPr>
              <a:t>×</a:t>
            </a:r>
            <a:r>
              <a:rPr dirty="0" sz="800" spc="50">
                <a:solidFill>
                  <a:srgbClr val="494F57"/>
                </a:solidFill>
                <a:latin typeface="Courier New"/>
                <a:cs typeface="Courier New"/>
              </a:rPr>
              <a:t>10</a:t>
            </a:r>
            <a:r>
              <a:rPr dirty="0" sz="700" spc="50">
                <a:solidFill>
                  <a:srgbClr val="494F57"/>
                </a:solidFill>
                <a:latin typeface="Times New Roman"/>
                <a:cs typeface="Times New Roman"/>
              </a:rPr>
              <a:t>⁻⁴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5097462" y="10340915"/>
            <a:ext cx="84201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0" b="1">
                <a:solidFill>
                  <a:srgbClr val="7B1FA2"/>
                </a:solidFill>
                <a:latin typeface="Tahoma"/>
                <a:cs typeface="Tahoma"/>
              </a:rPr>
              <a:t>ArcFace</a:t>
            </a:r>
            <a:r>
              <a:rPr dirty="0" sz="900" spc="-80" b="1">
                <a:solidFill>
                  <a:srgbClr val="7B1FA2"/>
                </a:solidFill>
                <a:latin typeface="Microsoft JhengHei"/>
                <a:cs typeface="Microsoft JhengHei"/>
              </a:rPr>
              <a:t>スケール</a:t>
            </a:r>
            <a:endParaRPr sz="900">
              <a:latin typeface="Microsoft JhengHei"/>
              <a:cs typeface="Microsoft JhengHei"/>
            </a:endParaRPr>
          </a:p>
        </p:txBody>
      </p:sp>
      <p:pic>
        <p:nvPicPr>
          <p:cNvPr id="76" name="object 7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715373" y="10334624"/>
            <a:ext cx="228599" cy="180973"/>
          </a:xfrm>
          <a:prstGeom prst="rect">
            <a:avLst/>
          </a:prstGeom>
        </p:spPr>
      </p:pic>
      <p:sp>
        <p:nvSpPr>
          <p:cNvPr id="77" name="object 77" descr=""/>
          <p:cNvSpPr txBox="1"/>
          <p:nvPr/>
        </p:nvSpPr>
        <p:spPr>
          <a:xfrm>
            <a:off x="8759676" y="10339908"/>
            <a:ext cx="139700" cy="1530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00" spc="-25">
                <a:solidFill>
                  <a:srgbClr val="494F57"/>
                </a:solidFill>
                <a:latin typeface="Courier New"/>
                <a:cs typeface="Courier New"/>
              </a:rPr>
              <a:t>30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5097462" y="10670253"/>
            <a:ext cx="65151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90" b="1">
                <a:solidFill>
                  <a:srgbClr val="7B1FA2"/>
                </a:solidFill>
                <a:latin typeface="Microsoft JhengHei"/>
                <a:cs typeface="Microsoft JhengHei"/>
              </a:rPr>
              <a:t>バッチサイズ</a:t>
            </a:r>
            <a:endParaRPr sz="900">
              <a:latin typeface="Microsoft JhengHei"/>
              <a:cs typeface="Microsoft JhengHei"/>
            </a:endParaRPr>
          </a:p>
        </p:txBody>
      </p:sp>
      <p:pic>
        <p:nvPicPr>
          <p:cNvPr id="79" name="object 79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715373" y="10658474"/>
            <a:ext cx="228599" cy="180974"/>
          </a:xfrm>
          <a:prstGeom prst="rect">
            <a:avLst/>
          </a:prstGeom>
        </p:spPr>
      </p:pic>
      <p:sp>
        <p:nvSpPr>
          <p:cNvPr id="80" name="object 80" descr=""/>
          <p:cNvSpPr txBox="1"/>
          <p:nvPr/>
        </p:nvSpPr>
        <p:spPr>
          <a:xfrm>
            <a:off x="8759676" y="10663757"/>
            <a:ext cx="139700" cy="1530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00" spc="-25">
                <a:solidFill>
                  <a:srgbClr val="494F57"/>
                </a:solidFill>
                <a:latin typeface="Courier New"/>
                <a:cs typeface="Courier New"/>
              </a:rPr>
              <a:t>32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81" name="object 81" descr=""/>
          <p:cNvSpPr/>
          <p:nvPr/>
        </p:nvSpPr>
        <p:spPr>
          <a:xfrm>
            <a:off x="8305799" y="8420099"/>
            <a:ext cx="847725" cy="219075"/>
          </a:xfrm>
          <a:custGeom>
            <a:avLst/>
            <a:gdLst/>
            <a:ahLst/>
            <a:cxnLst/>
            <a:rect l="l" t="t" r="r" b="b"/>
            <a:pathLst>
              <a:path w="847725" h="219075">
                <a:moveTo>
                  <a:pt x="745379" y="219074"/>
                </a:moveTo>
                <a:lnTo>
                  <a:pt x="102344" y="219074"/>
                </a:lnTo>
                <a:lnTo>
                  <a:pt x="95220" y="218373"/>
                </a:lnTo>
                <a:lnTo>
                  <a:pt x="54660" y="204608"/>
                </a:lnTo>
                <a:lnTo>
                  <a:pt x="22455" y="176372"/>
                </a:lnTo>
                <a:lnTo>
                  <a:pt x="3507" y="137960"/>
                </a:lnTo>
                <a:lnTo>
                  <a:pt x="0" y="109537"/>
                </a:lnTo>
                <a:lnTo>
                  <a:pt x="0" y="102344"/>
                </a:lnTo>
                <a:lnTo>
                  <a:pt x="11090" y="60973"/>
                </a:lnTo>
                <a:lnTo>
                  <a:pt x="37168" y="26996"/>
                </a:lnTo>
                <a:lnTo>
                  <a:pt x="74262" y="5585"/>
                </a:lnTo>
                <a:lnTo>
                  <a:pt x="102344" y="0"/>
                </a:lnTo>
                <a:lnTo>
                  <a:pt x="745379" y="0"/>
                </a:lnTo>
                <a:lnTo>
                  <a:pt x="786749" y="11088"/>
                </a:lnTo>
                <a:lnTo>
                  <a:pt x="820726" y="37167"/>
                </a:lnTo>
                <a:lnTo>
                  <a:pt x="842137" y="74263"/>
                </a:lnTo>
                <a:lnTo>
                  <a:pt x="847724" y="102344"/>
                </a:lnTo>
                <a:lnTo>
                  <a:pt x="847724" y="116729"/>
                </a:lnTo>
                <a:lnTo>
                  <a:pt x="836632" y="158099"/>
                </a:lnTo>
                <a:lnTo>
                  <a:pt x="810555" y="192076"/>
                </a:lnTo>
                <a:lnTo>
                  <a:pt x="773460" y="213488"/>
                </a:lnTo>
                <a:lnTo>
                  <a:pt x="745379" y="219074"/>
                </a:lnTo>
                <a:close/>
              </a:path>
            </a:pathLst>
          </a:custGeom>
          <a:solidFill>
            <a:srgbClr val="9C26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 txBox="1"/>
          <p:nvPr/>
        </p:nvSpPr>
        <p:spPr>
          <a:xfrm>
            <a:off x="8402786" y="8453415"/>
            <a:ext cx="649605" cy="153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70" b="1">
                <a:solidFill>
                  <a:srgbClr val="FFFFFF"/>
                </a:solidFill>
                <a:latin typeface="Arial"/>
                <a:cs typeface="Arial"/>
              </a:rPr>
              <a:t>PARAMETERS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3" name="object 83" descr=""/>
          <p:cNvGrpSpPr/>
          <p:nvPr/>
        </p:nvGrpSpPr>
        <p:grpSpPr>
          <a:xfrm>
            <a:off x="380999" y="11563348"/>
            <a:ext cx="8991600" cy="1152525"/>
            <a:chOff x="380999" y="11563348"/>
            <a:chExt cx="8991600" cy="1152525"/>
          </a:xfrm>
        </p:grpSpPr>
        <p:pic>
          <p:nvPicPr>
            <p:cNvPr id="84" name="object 8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0999" y="11563348"/>
              <a:ext cx="8991599" cy="1152524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45173" y="11753849"/>
              <a:ext cx="158472" cy="152995"/>
            </a:xfrm>
            <a:prstGeom prst="rect">
              <a:avLst/>
            </a:prstGeom>
          </p:spPr>
        </p:pic>
      </p:grpSp>
      <p:sp>
        <p:nvSpPr>
          <p:cNvPr id="86" name="object 86" descr=""/>
          <p:cNvSpPr txBox="1"/>
          <p:nvPr/>
        </p:nvSpPr>
        <p:spPr>
          <a:xfrm>
            <a:off x="4433606" y="11702287"/>
            <a:ext cx="10922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 b="1">
                <a:solidFill>
                  <a:srgbClr val="FFFFFF"/>
                </a:solidFill>
                <a:latin typeface="Microsoft JhengHei"/>
                <a:cs typeface="Microsoft JhengHei"/>
              </a:rPr>
              <a:t>実験</a:t>
            </a:r>
            <a:r>
              <a:rPr dirty="0" sz="1350" spc="-170" b="1">
                <a:solidFill>
                  <a:srgbClr val="FFFFFF"/>
                </a:solidFill>
                <a:latin typeface="Malgun Gothic"/>
                <a:cs typeface="Malgun Gothic"/>
              </a:rPr>
              <a:t>環境の特</a:t>
            </a:r>
            <a:r>
              <a:rPr dirty="0" sz="1350" spc="-50" b="1">
                <a:solidFill>
                  <a:srgbClr val="FFFFFF"/>
                </a:solidFill>
                <a:latin typeface="Microsoft JhengHei"/>
                <a:cs typeface="Microsoft JhengHei"/>
              </a:rPr>
              <a:t>徴</a:t>
            </a:r>
            <a:endParaRPr sz="1350">
              <a:latin typeface="Microsoft JhengHei"/>
              <a:cs typeface="Microsoft JhengHei"/>
            </a:endParaRPr>
          </a:p>
        </p:txBody>
      </p:sp>
      <p:grpSp>
        <p:nvGrpSpPr>
          <p:cNvPr id="87" name="object 87" descr=""/>
          <p:cNvGrpSpPr/>
          <p:nvPr/>
        </p:nvGrpSpPr>
        <p:grpSpPr>
          <a:xfrm>
            <a:off x="2346995" y="11563349"/>
            <a:ext cx="7025640" cy="1152525"/>
            <a:chOff x="2346995" y="11563349"/>
            <a:chExt cx="7025640" cy="1152525"/>
          </a:xfrm>
        </p:grpSpPr>
        <p:pic>
          <p:nvPicPr>
            <p:cNvPr id="88" name="object 8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42096" y="11563349"/>
              <a:ext cx="130503" cy="1152524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46995" y="12049124"/>
              <a:ext cx="116134" cy="123631"/>
            </a:xfrm>
            <a:prstGeom prst="rect">
              <a:avLst/>
            </a:prstGeom>
          </p:spPr>
        </p:pic>
      </p:grpSp>
      <p:sp>
        <p:nvSpPr>
          <p:cNvPr id="90" name="object 90" descr=""/>
          <p:cNvSpPr txBox="1"/>
          <p:nvPr/>
        </p:nvSpPr>
        <p:spPr>
          <a:xfrm>
            <a:off x="1889472" y="12178709"/>
            <a:ext cx="1031240" cy="387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985">
              <a:lnSpc>
                <a:spcPct val="108000"/>
              </a:lnSpc>
              <a:spcBef>
                <a:spcPts val="100"/>
              </a:spcBef>
            </a:pPr>
            <a:r>
              <a:rPr dirty="0" sz="1100" spc="-140" b="1">
                <a:solidFill>
                  <a:srgbClr val="FFFFFF"/>
                </a:solidFill>
                <a:latin typeface="Malgun Gothic"/>
                <a:cs typeface="Malgun Gothic"/>
              </a:rPr>
              <a:t>標準</a:t>
            </a:r>
            <a:r>
              <a:rPr dirty="0" sz="1100" spc="-130" b="1">
                <a:solidFill>
                  <a:srgbClr val="FFFFFF"/>
                </a:solidFill>
                <a:latin typeface="Microsoft JhengHei"/>
                <a:cs typeface="Microsoft JhengHei"/>
              </a:rPr>
              <a:t>ベンチマーク</a:t>
            </a:r>
            <a:r>
              <a:rPr dirty="0" sz="1100" spc="-60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1100" spc="-165">
                <a:solidFill>
                  <a:srgbClr val="FFFFFF"/>
                </a:solidFill>
                <a:latin typeface="Arial MT"/>
                <a:cs typeface="Arial MT"/>
              </a:rPr>
              <a:t>DCASE</a:t>
            </a:r>
            <a:r>
              <a:rPr dirty="0" sz="1100" spc="-140">
                <a:solidFill>
                  <a:srgbClr val="FFFFFF"/>
                </a:solidFill>
                <a:latin typeface="SimSun"/>
                <a:cs typeface="SimSun"/>
              </a:rPr>
              <a:t>公式データ</a:t>
            </a:r>
            <a:endParaRPr sz="1100">
              <a:latin typeface="SimSun"/>
              <a:cs typeface="SimSun"/>
            </a:endParaRPr>
          </a:p>
        </p:txBody>
      </p:sp>
      <p:pic>
        <p:nvPicPr>
          <p:cNvPr id="91" name="object 91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800194" y="12049124"/>
            <a:ext cx="152947" cy="121919"/>
          </a:xfrm>
          <a:prstGeom prst="rect">
            <a:avLst/>
          </a:prstGeom>
        </p:spPr>
      </p:pic>
      <p:sp>
        <p:nvSpPr>
          <p:cNvPr id="92" name="object 92" descr=""/>
          <p:cNvSpPr txBox="1"/>
          <p:nvPr/>
        </p:nvSpPr>
        <p:spPr>
          <a:xfrm>
            <a:off x="4368651" y="12178709"/>
            <a:ext cx="1016000" cy="38735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dirty="0" sz="1100" spc="-140" b="1">
                <a:solidFill>
                  <a:srgbClr val="FFFFFF"/>
                </a:solidFill>
                <a:latin typeface="Malgun Gothic"/>
                <a:cs typeface="Malgun Gothic"/>
              </a:rPr>
              <a:t>公正</a:t>
            </a:r>
            <a:r>
              <a:rPr dirty="0" sz="1100" spc="-140" b="1">
                <a:solidFill>
                  <a:srgbClr val="FFFFFF"/>
                </a:solidFill>
                <a:latin typeface="Microsoft JhengHei"/>
                <a:cs typeface="Microsoft JhengHei"/>
              </a:rPr>
              <a:t>な</a:t>
            </a:r>
            <a:r>
              <a:rPr dirty="0" sz="1100" spc="-95" b="1">
                <a:solidFill>
                  <a:srgbClr val="FFFFFF"/>
                </a:solidFill>
                <a:latin typeface="Malgun Gothic"/>
                <a:cs typeface="Malgun Gothic"/>
              </a:rPr>
              <a:t>比較</a:t>
            </a:r>
            <a:endParaRPr sz="11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 spc="-130">
                <a:solidFill>
                  <a:srgbClr val="FFFFFF"/>
                </a:solidFill>
                <a:latin typeface="SimSun"/>
                <a:cs typeface="SimSun"/>
              </a:rPr>
              <a:t>既存手法と同条件</a:t>
            </a:r>
            <a:endParaRPr sz="1100">
              <a:latin typeface="SimSun"/>
              <a:cs typeface="SimSun"/>
            </a:endParaRPr>
          </a:p>
        </p:txBody>
      </p:sp>
      <p:pic>
        <p:nvPicPr>
          <p:cNvPr id="93" name="object 93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286625" y="12056863"/>
            <a:ext cx="123825" cy="108346"/>
          </a:xfrm>
          <a:prstGeom prst="rect">
            <a:avLst/>
          </a:prstGeom>
        </p:spPr>
      </p:pic>
      <p:sp>
        <p:nvSpPr>
          <p:cNvPr id="94" name="object 94" descr=""/>
          <p:cNvSpPr txBox="1"/>
          <p:nvPr/>
        </p:nvSpPr>
        <p:spPr>
          <a:xfrm>
            <a:off x="6870451" y="12178709"/>
            <a:ext cx="956310" cy="387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5575">
              <a:lnSpc>
                <a:spcPct val="108000"/>
              </a:lnSpc>
              <a:spcBef>
                <a:spcPts val="100"/>
              </a:spcBef>
            </a:pPr>
            <a:r>
              <a:rPr dirty="0" sz="1100" spc="-140" b="1">
                <a:solidFill>
                  <a:srgbClr val="FFFFFF"/>
                </a:solidFill>
                <a:latin typeface="Malgun Gothic"/>
                <a:cs typeface="Malgun Gothic"/>
              </a:rPr>
              <a:t>多角的評</a:t>
            </a:r>
            <a:r>
              <a:rPr dirty="0" sz="1100" spc="-50" b="1">
                <a:solidFill>
                  <a:srgbClr val="FFFFFF"/>
                </a:solidFill>
                <a:latin typeface="Microsoft JhengHei"/>
                <a:cs typeface="Microsoft JhengHei"/>
              </a:rPr>
              <a:t>価 </a:t>
            </a:r>
            <a:r>
              <a:rPr dirty="0" sz="1100" spc="-155">
                <a:solidFill>
                  <a:srgbClr val="FFFFFF"/>
                </a:solidFill>
                <a:latin typeface="Arial MT"/>
                <a:cs typeface="Arial MT"/>
              </a:rPr>
              <a:t>AUC</a:t>
            </a:r>
            <a:r>
              <a:rPr dirty="0" sz="1100" spc="-75">
                <a:solidFill>
                  <a:srgbClr val="FFFFFF"/>
                </a:solidFill>
                <a:latin typeface="Arial MT"/>
                <a:cs typeface="Arial MT"/>
              </a:rPr>
              <a:t> + </a:t>
            </a:r>
            <a:r>
              <a:rPr dirty="0" sz="1100" spc="-120">
                <a:solidFill>
                  <a:srgbClr val="FFFFFF"/>
                </a:solidFill>
                <a:latin typeface="Arial MT"/>
                <a:cs typeface="Arial MT"/>
              </a:rPr>
              <a:t>pAUC</a:t>
            </a:r>
            <a:r>
              <a:rPr dirty="0" sz="1100" spc="-145">
                <a:solidFill>
                  <a:srgbClr val="FFFFFF"/>
                </a:solidFill>
                <a:latin typeface="SimSun"/>
                <a:cs typeface="SimSun"/>
              </a:rPr>
              <a:t>指標</a:t>
            </a:r>
            <a:endParaRPr sz="1100">
              <a:latin typeface="SimSun"/>
              <a:cs typeface="SimSun"/>
            </a:endParaRPr>
          </a:p>
        </p:txBody>
      </p:sp>
      <p:grpSp>
        <p:nvGrpSpPr>
          <p:cNvPr id="95" name="object 95" descr=""/>
          <p:cNvGrpSpPr/>
          <p:nvPr/>
        </p:nvGrpSpPr>
        <p:grpSpPr>
          <a:xfrm>
            <a:off x="8267700" y="12496799"/>
            <a:ext cx="1295400" cy="323850"/>
            <a:chOff x="8267700" y="12496799"/>
            <a:chExt cx="1295400" cy="323850"/>
          </a:xfrm>
        </p:grpSpPr>
        <p:sp>
          <p:nvSpPr>
            <p:cNvPr id="96" name="object 96" descr=""/>
            <p:cNvSpPr/>
            <p:nvPr/>
          </p:nvSpPr>
          <p:spPr>
            <a:xfrm>
              <a:off x="8267700" y="12496799"/>
              <a:ext cx="1295400" cy="323850"/>
            </a:xfrm>
            <a:custGeom>
              <a:avLst/>
              <a:gdLst/>
              <a:ahLst/>
              <a:cxnLst/>
              <a:rect l="l" t="t" r="r" b="b"/>
              <a:pathLst>
                <a:path w="1295400" h="323850">
                  <a:moveTo>
                    <a:pt x="126235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262352" y="0"/>
                  </a:lnTo>
                  <a:lnTo>
                    <a:pt x="1294433" y="28187"/>
                  </a:lnTo>
                  <a:lnTo>
                    <a:pt x="1295399" y="33047"/>
                  </a:lnTo>
                  <a:lnTo>
                    <a:pt x="1295399" y="290802"/>
                  </a:lnTo>
                  <a:lnTo>
                    <a:pt x="1267212" y="322883"/>
                  </a:lnTo>
                  <a:lnTo>
                    <a:pt x="126235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382000" y="12592049"/>
              <a:ext cx="133349" cy="133349"/>
            </a:xfrm>
            <a:prstGeom prst="rect">
              <a:avLst/>
            </a:prstGeom>
          </p:spPr>
        </p:pic>
      </p:grpSp>
      <p:sp>
        <p:nvSpPr>
          <p:cNvPr id="98" name="object 98" descr=""/>
          <p:cNvSpPr txBox="1"/>
          <p:nvPr/>
        </p:nvSpPr>
        <p:spPr>
          <a:xfrm>
            <a:off x="8561734" y="12593065"/>
            <a:ext cx="899794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z="1050" spc="-80">
                <a:solidFill>
                  <a:srgbClr val="FFFFFF"/>
                </a:solidFill>
                <a:latin typeface="Arial MT"/>
                <a:cs typeface="Arial MT"/>
              </a:rPr>
              <a:t>Genspark</a:t>
            </a:r>
            <a:r>
              <a:rPr dirty="0" sz="105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85">
                <a:solidFill>
                  <a:srgbClr val="FFFFFF"/>
                </a:solidFill>
                <a:latin typeface="SimSun"/>
                <a:cs typeface="SimSun"/>
              </a:rPr>
              <a:t>で作成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9194601" y="12659740"/>
            <a:ext cx="286385" cy="1466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90"/>
              </a:lnSpc>
            </a:pPr>
            <a:fld id="{81D60167-4931-47E6-BA6A-407CBD079E47}" type="slidenum">
              <a:rPr dirty="0" sz="1000" spc="-40">
                <a:solidFill>
                  <a:srgbClr val="666666"/>
                </a:solidFill>
                <a:latin typeface="Tahoma"/>
                <a:cs typeface="Tahoma"/>
              </a:rPr>
              <a:t>8</a:t>
            </a:fld>
            <a:r>
              <a:rPr dirty="0" sz="1000" spc="-40">
                <a:solidFill>
                  <a:srgbClr val="666666"/>
                </a:solidFill>
                <a:latin typeface="Tahoma"/>
                <a:cs typeface="Tahoma"/>
              </a:rPr>
              <a:t>/</a:t>
            </a:r>
            <a:r>
              <a:rPr dirty="0" sz="1000" spc="-40">
                <a:solidFill>
                  <a:srgbClr val="666666"/>
                </a:solidFill>
                <a:latin typeface="Tahoma"/>
                <a:cs typeface="Tahoma"/>
              </a:rPr>
              <a:t>13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3374" y="685799"/>
            <a:ext cx="9086850" cy="28575"/>
          </a:xfrm>
          <a:custGeom>
            <a:avLst/>
            <a:gdLst/>
            <a:ahLst/>
            <a:cxnLst/>
            <a:rect l="l" t="t" r="r" b="b"/>
            <a:pathLst>
              <a:path w="9086850" h="28575">
                <a:moveTo>
                  <a:pt x="9086849" y="28574"/>
                </a:moveTo>
                <a:lnTo>
                  <a:pt x="0" y="28574"/>
                </a:lnTo>
                <a:lnTo>
                  <a:pt x="0" y="0"/>
                </a:lnTo>
                <a:lnTo>
                  <a:pt x="9086849" y="0"/>
                </a:lnTo>
                <a:lnTo>
                  <a:pt x="9086849" y="28574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450" y="329803"/>
            <a:ext cx="247650" cy="21669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155065">
              <a:lnSpc>
                <a:spcPct val="100000"/>
              </a:lnSpc>
              <a:spcBef>
                <a:spcPts val="125"/>
              </a:spcBef>
            </a:pPr>
            <a:r>
              <a:rPr dirty="0" spc="-275"/>
              <a:t>結果比較 </a:t>
            </a:r>
            <a:r>
              <a:rPr dirty="0" sz="2250" spc="-125">
                <a:latin typeface="Arial"/>
                <a:cs typeface="Arial"/>
              </a:rPr>
              <a:t>(Table</a:t>
            </a:r>
            <a:r>
              <a:rPr dirty="0" sz="2250" spc="-16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1)</a:t>
            </a:r>
            <a:endParaRPr sz="225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31063" y="1542287"/>
            <a:ext cx="6395085" cy="3136900"/>
            <a:chOff x="131063" y="1542287"/>
            <a:chExt cx="6395085" cy="3136900"/>
          </a:xfrm>
        </p:grpSpPr>
        <p:sp>
          <p:nvSpPr>
            <p:cNvPr id="6" name="object 6" descr=""/>
            <p:cNvSpPr/>
            <p:nvPr/>
          </p:nvSpPr>
          <p:spPr>
            <a:xfrm>
              <a:off x="131063" y="1542287"/>
              <a:ext cx="6395085" cy="3136900"/>
            </a:xfrm>
            <a:custGeom>
              <a:avLst/>
              <a:gdLst/>
              <a:ahLst/>
              <a:cxnLst/>
              <a:rect l="l" t="t" r="r" b="b"/>
              <a:pathLst>
                <a:path w="6395084" h="3136900">
                  <a:moveTo>
                    <a:pt x="6394703" y="3136391"/>
                  </a:moveTo>
                  <a:lnTo>
                    <a:pt x="0" y="3136391"/>
                  </a:lnTo>
                  <a:lnTo>
                    <a:pt x="0" y="0"/>
                  </a:lnTo>
                  <a:lnTo>
                    <a:pt x="6394703" y="0"/>
                  </a:lnTo>
                  <a:lnTo>
                    <a:pt x="6394703" y="172211"/>
                  </a:lnTo>
                  <a:lnTo>
                    <a:pt x="316610" y="172211"/>
                  </a:lnTo>
                  <a:lnTo>
                    <a:pt x="306289" y="172710"/>
                  </a:lnTo>
                  <a:lnTo>
                    <a:pt x="267170" y="184597"/>
                  </a:lnTo>
                  <a:lnTo>
                    <a:pt x="235578" y="210550"/>
                  </a:lnTo>
                  <a:lnTo>
                    <a:pt x="216322" y="246617"/>
                  </a:lnTo>
                  <a:lnTo>
                    <a:pt x="211835" y="276986"/>
                  </a:lnTo>
                  <a:lnTo>
                    <a:pt x="211835" y="2782061"/>
                  </a:lnTo>
                  <a:lnTo>
                    <a:pt x="219811" y="2822157"/>
                  </a:lnTo>
                  <a:lnTo>
                    <a:pt x="242523" y="2856148"/>
                  </a:lnTo>
                  <a:lnTo>
                    <a:pt x="276515" y="2878860"/>
                  </a:lnTo>
                  <a:lnTo>
                    <a:pt x="316610" y="2886836"/>
                  </a:lnTo>
                  <a:lnTo>
                    <a:pt x="6394703" y="2886836"/>
                  </a:lnTo>
                  <a:lnTo>
                    <a:pt x="6394703" y="3136391"/>
                  </a:lnTo>
                  <a:close/>
                </a:path>
                <a:path w="6395084" h="3136900">
                  <a:moveTo>
                    <a:pt x="6394703" y="2886836"/>
                  </a:moveTo>
                  <a:lnTo>
                    <a:pt x="6079235" y="2886836"/>
                  </a:lnTo>
                  <a:lnTo>
                    <a:pt x="6089556" y="2886338"/>
                  </a:lnTo>
                  <a:lnTo>
                    <a:pt x="6099679" y="2884842"/>
                  </a:lnTo>
                  <a:lnTo>
                    <a:pt x="6137456" y="2869195"/>
                  </a:lnTo>
                  <a:lnTo>
                    <a:pt x="6166368" y="2840282"/>
                  </a:lnTo>
                  <a:lnTo>
                    <a:pt x="6182016" y="2802505"/>
                  </a:lnTo>
                  <a:lnTo>
                    <a:pt x="6184010" y="2782061"/>
                  </a:lnTo>
                  <a:lnTo>
                    <a:pt x="6184010" y="276986"/>
                  </a:lnTo>
                  <a:lnTo>
                    <a:pt x="6176034" y="236891"/>
                  </a:lnTo>
                  <a:lnTo>
                    <a:pt x="6153322" y="202899"/>
                  </a:lnTo>
                  <a:lnTo>
                    <a:pt x="6119330" y="180187"/>
                  </a:lnTo>
                  <a:lnTo>
                    <a:pt x="6079235" y="172211"/>
                  </a:lnTo>
                  <a:lnTo>
                    <a:pt x="6394703" y="172211"/>
                  </a:lnTo>
                  <a:lnTo>
                    <a:pt x="6394703" y="2886836"/>
                  </a:lnTo>
                  <a:close/>
                </a:path>
              </a:pathLst>
            </a:custGeom>
            <a:solidFill>
              <a:srgbClr val="3A6EA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47662" y="1719262"/>
              <a:ext cx="5962650" cy="2705100"/>
            </a:xfrm>
            <a:custGeom>
              <a:avLst/>
              <a:gdLst/>
              <a:ahLst/>
              <a:cxnLst/>
              <a:rect l="l" t="t" r="r" b="b"/>
              <a:pathLst>
                <a:path w="5962650" h="2705100">
                  <a:moveTo>
                    <a:pt x="5869203" y="2705099"/>
                  </a:moveTo>
                  <a:lnTo>
                    <a:pt x="93445" y="2705099"/>
                  </a:lnTo>
                  <a:lnTo>
                    <a:pt x="86941" y="2704458"/>
                  </a:lnTo>
                  <a:lnTo>
                    <a:pt x="49908" y="2691892"/>
                  </a:lnTo>
                  <a:lnTo>
                    <a:pt x="20503" y="2666110"/>
                  </a:lnTo>
                  <a:lnTo>
                    <a:pt x="3202" y="2631038"/>
                  </a:lnTo>
                  <a:lnTo>
                    <a:pt x="0" y="2611654"/>
                  </a:lnTo>
                  <a:lnTo>
                    <a:pt x="0" y="2605087"/>
                  </a:lnTo>
                  <a:lnTo>
                    <a:pt x="0" y="93445"/>
                  </a:lnTo>
                  <a:lnTo>
                    <a:pt x="10126" y="55672"/>
                  </a:lnTo>
                  <a:lnTo>
                    <a:pt x="33936" y="24649"/>
                  </a:lnTo>
                  <a:lnTo>
                    <a:pt x="67806" y="5099"/>
                  </a:lnTo>
                  <a:lnTo>
                    <a:pt x="93445" y="0"/>
                  </a:lnTo>
                  <a:lnTo>
                    <a:pt x="5869203" y="0"/>
                  </a:lnTo>
                  <a:lnTo>
                    <a:pt x="5906976" y="10126"/>
                  </a:lnTo>
                  <a:lnTo>
                    <a:pt x="5937999" y="33936"/>
                  </a:lnTo>
                  <a:lnTo>
                    <a:pt x="5957548" y="67806"/>
                  </a:lnTo>
                  <a:lnTo>
                    <a:pt x="5962648" y="93445"/>
                  </a:lnTo>
                  <a:lnTo>
                    <a:pt x="5962648" y="2611654"/>
                  </a:lnTo>
                  <a:lnTo>
                    <a:pt x="5952522" y="2649426"/>
                  </a:lnTo>
                  <a:lnTo>
                    <a:pt x="5928712" y="2680449"/>
                  </a:lnTo>
                  <a:lnTo>
                    <a:pt x="5894842" y="2699998"/>
                  </a:lnTo>
                  <a:lnTo>
                    <a:pt x="5875707" y="2704458"/>
                  </a:lnTo>
                  <a:lnTo>
                    <a:pt x="5869203" y="2705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47662" y="1719262"/>
              <a:ext cx="5962650" cy="2705100"/>
            </a:xfrm>
            <a:custGeom>
              <a:avLst/>
              <a:gdLst/>
              <a:ahLst/>
              <a:cxnLst/>
              <a:rect l="l" t="t" r="r" b="b"/>
              <a:pathLst>
                <a:path w="5962650" h="2705100">
                  <a:moveTo>
                    <a:pt x="0" y="2605087"/>
                  </a:moveTo>
                  <a:lnTo>
                    <a:pt x="0" y="100012"/>
                  </a:lnTo>
                  <a:lnTo>
                    <a:pt x="0" y="93445"/>
                  </a:lnTo>
                  <a:lnTo>
                    <a:pt x="640" y="86941"/>
                  </a:lnTo>
                  <a:lnTo>
                    <a:pt x="13206" y="49908"/>
                  </a:lnTo>
                  <a:lnTo>
                    <a:pt x="29292" y="29292"/>
                  </a:lnTo>
                  <a:lnTo>
                    <a:pt x="33936" y="24649"/>
                  </a:lnTo>
                  <a:lnTo>
                    <a:pt x="61739" y="7612"/>
                  </a:lnTo>
                  <a:lnTo>
                    <a:pt x="67806" y="5099"/>
                  </a:lnTo>
                  <a:lnTo>
                    <a:pt x="74060" y="3202"/>
                  </a:lnTo>
                  <a:lnTo>
                    <a:pt x="80501" y="1921"/>
                  </a:lnTo>
                  <a:lnTo>
                    <a:pt x="86941" y="640"/>
                  </a:lnTo>
                  <a:lnTo>
                    <a:pt x="93445" y="0"/>
                  </a:lnTo>
                  <a:lnTo>
                    <a:pt x="100012" y="0"/>
                  </a:lnTo>
                  <a:lnTo>
                    <a:pt x="5862637" y="0"/>
                  </a:lnTo>
                  <a:lnTo>
                    <a:pt x="5869203" y="0"/>
                  </a:lnTo>
                  <a:lnTo>
                    <a:pt x="5875707" y="640"/>
                  </a:lnTo>
                  <a:lnTo>
                    <a:pt x="5912739" y="13206"/>
                  </a:lnTo>
                  <a:lnTo>
                    <a:pt x="5918199" y="16855"/>
                  </a:lnTo>
                  <a:lnTo>
                    <a:pt x="5923660" y="20503"/>
                  </a:lnTo>
                  <a:lnTo>
                    <a:pt x="5945793" y="44448"/>
                  </a:lnTo>
                  <a:lnTo>
                    <a:pt x="5949441" y="49908"/>
                  </a:lnTo>
                  <a:lnTo>
                    <a:pt x="5962008" y="86941"/>
                  </a:lnTo>
                  <a:lnTo>
                    <a:pt x="5962649" y="100012"/>
                  </a:lnTo>
                  <a:lnTo>
                    <a:pt x="5962649" y="2605087"/>
                  </a:lnTo>
                  <a:lnTo>
                    <a:pt x="5955036" y="2643359"/>
                  </a:lnTo>
                  <a:lnTo>
                    <a:pt x="5945793" y="2660650"/>
                  </a:lnTo>
                  <a:lnTo>
                    <a:pt x="5942145" y="2666110"/>
                  </a:lnTo>
                  <a:lnTo>
                    <a:pt x="5918199" y="2688243"/>
                  </a:lnTo>
                  <a:lnTo>
                    <a:pt x="5912739" y="2691892"/>
                  </a:lnTo>
                  <a:lnTo>
                    <a:pt x="5906976" y="2694973"/>
                  </a:lnTo>
                  <a:lnTo>
                    <a:pt x="5900909" y="2697485"/>
                  </a:lnTo>
                  <a:lnTo>
                    <a:pt x="5894842" y="2699998"/>
                  </a:lnTo>
                  <a:lnTo>
                    <a:pt x="5888588" y="2701896"/>
                  </a:lnTo>
                  <a:lnTo>
                    <a:pt x="5882148" y="2703177"/>
                  </a:lnTo>
                  <a:lnTo>
                    <a:pt x="5875707" y="2704458"/>
                  </a:lnTo>
                  <a:lnTo>
                    <a:pt x="5869203" y="2705099"/>
                  </a:lnTo>
                  <a:lnTo>
                    <a:pt x="5862637" y="2705099"/>
                  </a:lnTo>
                  <a:lnTo>
                    <a:pt x="100012" y="2705099"/>
                  </a:lnTo>
                  <a:lnTo>
                    <a:pt x="93445" y="2705099"/>
                  </a:lnTo>
                  <a:lnTo>
                    <a:pt x="86941" y="2704458"/>
                  </a:lnTo>
                  <a:lnTo>
                    <a:pt x="80501" y="2703177"/>
                  </a:lnTo>
                  <a:lnTo>
                    <a:pt x="74060" y="2701896"/>
                  </a:lnTo>
                  <a:lnTo>
                    <a:pt x="67806" y="2699998"/>
                  </a:lnTo>
                  <a:lnTo>
                    <a:pt x="61739" y="2697485"/>
                  </a:lnTo>
                  <a:lnTo>
                    <a:pt x="55672" y="2694973"/>
                  </a:lnTo>
                  <a:lnTo>
                    <a:pt x="24649" y="2671162"/>
                  </a:lnTo>
                  <a:lnTo>
                    <a:pt x="5099" y="2637292"/>
                  </a:lnTo>
                  <a:lnTo>
                    <a:pt x="1921" y="2624598"/>
                  </a:lnTo>
                  <a:lnTo>
                    <a:pt x="640" y="2618157"/>
                  </a:lnTo>
                  <a:lnTo>
                    <a:pt x="0" y="2611654"/>
                  </a:lnTo>
                  <a:lnTo>
                    <a:pt x="0" y="2605087"/>
                  </a:lnTo>
                  <a:close/>
                </a:path>
              </a:pathLst>
            </a:custGeom>
            <a:ln w="28574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949" y="1733549"/>
              <a:ext cx="5934074" cy="45719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1949" y="3505199"/>
              <a:ext cx="5932883" cy="619125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361937" y="4124324"/>
              <a:ext cx="5934075" cy="9525"/>
            </a:xfrm>
            <a:custGeom>
              <a:avLst/>
              <a:gdLst/>
              <a:ahLst/>
              <a:cxnLst/>
              <a:rect l="l" t="t" r="r" b="b"/>
              <a:pathLst>
                <a:path w="5934075" h="9525">
                  <a:moveTo>
                    <a:pt x="5934075" y="0"/>
                  </a:moveTo>
                  <a:lnTo>
                    <a:pt x="59340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5934075" y="9525"/>
                  </a:lnTo>
                  <a:lnTo>
                    <a:pt x="5934075" y="0"/>
                  </a:lnTo>
                  <a:close/>
                </a:path>
              </a:pathLst>
            </a:custGeom>
            <a:solidFill>
              <a:srgbClr val="DEE2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61949" y="4133849"/>
              <a:ext cx="5934075" cy="276225"/>
            </a:xfrm>
            <a:custGeom>
              <a:avLst/>
              <a:gdLst/>
              <a:ahLst/>
              <a:cxnLst/>
              <a:rect l="l" t="t" r="r" b="b"/>
              <a:pathLst>
                <a:path w="5934075" h="276225">
                  <a:moveTo>
                    <a:pt x="5848349" y="276224"/>
                  </a:moveTo>
                  <a:lnTo>
                    <a:pt x="85725" y="276224"/>
                  </a:lnTo>
                  <a:lnTo>
                    <a:pt x="77280" y="275817"/>
                  </a:lnTo>
                  <a:lnTo>
                    <a:pt x="38089" y="261790"/>
                  </a:lnTo>
                  <a:lnTo>
                    <a:pt x="10133" y="230951"/>
                  </a:lnTo>
                  <a:lnTo>
                    <a:pt x="0" y="190500"/>
                  </a:lnTo>
                  <a:lnTo>
                    <a:pt x="0" y="0"/>
                  </a:lnTo>
                  <a:lnTo>
                    <a:pt x="5934074" y="0"/>
                  </a:lnTo>
                  <a:lnTo>
                    <a:pt x="5934074" y="190500"/>
                  </a:lnTo>
                  <a:lnTo>
                    <a:pt x="5923940" y="230951"/>
                  </a:lnTo>
                  <a:lnTo>
                    <a:pt x="5895984" y="261790"/>
                  </a:lnTo>
                  <a:lnTo>
                    <a:pt x="5856794" y="275817"/>
                  </a:lnTo>
                  <a:lnTo>
                    <a:pt x="5848349" y="276224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61949" y="4133849"/>
              <a:ext cx="5934075" cy="9525"/>
            </a:xfrm>
            <a:custGeom>
              <a:avLst/>
              <a:gdLst/>
              <a:ahLst/>
              <a:cxnLst/>
              <a:rect l="l" t="t" r="r" b="b"/>
              <a:pathLst>
                <a:path w="5934075" h="9525">
                  <a:moveTo>
                    <a:pt x="593407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934074" y="0"/>
                  </a:lnTo>
                  <a:lnTo>
                    <a:pt x="5934074" y="9524"/>
                  </a:lnTo>
                  <a:close/>
                </a:path>
              </a:pathLst>
            </a:custGeom>
            <a:solidFill>
              <a:srgbClr val="DEE2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0749" y="1904999"/>
              <a:ext cx="152399" cy="133349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2365342" y="1843913"/>
            <a:ext cx="211455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5" b="1">
                <a:solidFill>
                  <a:srgbClr val="FFFFFF"/>
                </a:solidFill>
                <a:latin typeface="Malgun Gothic"/>
                <a:cs typeface="Malgun Gothic"/>
              </a:rPr>
              <a:t>性能比較結果 </a:t>
            </a:r>
            <a:r>
              <a:rPr dirty="0" sz="1350" spc="-130" b="1">
                <a:solidFill>
                  <a:srgbClr val="FFFFFF"/>
                </a:solidFill>
                <a:latin typeface="Arial"/>
                <a:cs typeface="Arial"/>
              </a:rPr>
              <a:t>(AUC</a:t>
            </a:r>
            <a:r>
              <a:rPr dirty="0" sz="1350" spc="-25" b="1">
                <a:solidFill>
                  <a:srgbClr val="FFFFFF"/>
                </a:solidFill>
                <a:latin typeface="Arial"/>
                <a:cs typeface="Arial"/>
              </a:rPr>
              <a:t> / </a:t>
            </a:r>
            <a:r>
              <a:rPr dirty="0" sz="1350" spc="-145" b="1">
                <a:solidFill>
                  <a:srgbClr val="FFFFFF"/>
                </a:solidFill>
                <a:latin typeface="Arial"/>
                <a:cs typeface="Arial"/>
              </a:rPr>
              <a:t>pAUC</a:t>
            </a:r>
            <a:r>
              <a:rPr dirty="0" sz="1350" spc="-45" b="1">
                <a:solidFill>
                  <a:srgbClr val="FFFFFF"/>
                </a:solidFill>
                <a:latin typeface="Arial"/>
                <a:cs typeface="Arial"/>
              </a:rPr>
              <a:t> %)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19224" y="3504259"/>
            <a:ext cx="4876799" cy="373405"/>
          </a:xfrm>
          <a:prstGeom prst="rect">
            <a:avLst/>
          </a:prstGeom>
        </p:spPr>
      </p:pic>
      <p:graphicFrame>
        <p:nvGraphicFramePr>
          <p:cNvPr id="17" name="object 17" descr=""/>
          <p:cNvGraphicFramePr>
            <a:graphicFrameLocks noGrp="1"/>
          </p:cNvGraphicFramePr>
          <p:nvPr/>
        </p:nvGraphicFramePr>
        <p:xfrm>
          <a:off x="361949" y="2185987"/>
          <a:ext cx="6010275" cy="1687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7275"/>
                <a:gridCol w="562610"/>
                <a:gridCol w="109854"/>
                <a:gridCol w="527050"/>
                <a:gridCol w="109855"/>
                <a:gridCol w="527050"/>
                <a:gridCol w="109855"/>
                <a:gridCol w="527050"/>
                <a:gridCol w="136525"/>
                <a:gridCol w="579754"/>
                <a:gridCol w="189229"/>
                <a:gridCol w="632460"/>
                <a:gridCol w="187960"/>
                <a:gridCol w="581025"/>
                <a:gridCol w="102235"/>
              </a:tblGrid>
              <a:tr h="29464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750" spc="-65" b="1">
                          <a:solidFill>
                            <a:srgbClr val="3A6EA5"/>
                          </a:solidFill>
                          <a:latin typeface="Malgun Gothic"/>
                          <a:cs typeface="Malgun Gothic"/>
                        </a:rPr>
                        <a:t>手法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B="0" marT="76200">
                    <a:lnB w="19050">
                      <a:solidFill>
                        <a:srgbClr val="DEE2E6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810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800" spc="-25" b="1">
                          <a:solidFill>
                            <a:srgbClr val="3A6EA5"/>
                          </a:solidFill>
                          <a:latin typeface="Arial"/>
                          <a:cs typeface="Arial"/>
                        </a:rPr>
                        <a:t>Fan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9850">
                    <a:lnB w="19050">
                      <a:solidFill>
                        <a:srgbClr val="DEE2E6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9050">
                      <a:solidFill>
                        <a:srgbClr val="DEE2E6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800" spc="-20" b="1">
                          <a:solidFill>
                            <a:srgbClr val="3A6EA5"/>
                          </a:solidFill>
                          <a:latin typeface="Arial"/>
                          <a:cs typeface="Arial"/>
                        </a:rPr>
                        <a:t>Pump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9850">
                    <a:lnB w="19050">
                      <a:solidFill>
                        <a:srgbClr val="DEE2E6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9050">
                      <a:solidFill>
                        <a:srgbClr val="DEE2E6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800" spc="-10" b="1">
                          <a:solidFill>
                            <a:srgbClr val="3A6EA5"/>
                          </a:solidFill>
                          <a:latin typeface="Arial"/>
                          <a:cs typeface="Arial"/>
                        </a:rPr>
                        <a:t>Slider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9850">
                    <a:lnB w="19050">
                      <a:solidFill>
                        <a:srgbClr val="DEE2E6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9050">
                      <a:solidFill>
                        <a:srgbClr val="DEE2E6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800" spc="-10" b="1">
                          <a:solidFill>
                            <a:srgbClr val="3A6EA5"/>
                          </a:solidFill>
                          <a:latin typeface="Arial"/>
                          <a:cs typeface="Arial"/>
                        </a:rPr>
                        <a:t>Valve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9850">
                    <a:lnB w="19050">
                      <a:solidFill>
                        <a:srgbClr val="DEE2E6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9050">
                      <a:solidFill>
                        <a:srgbClr val="DEE2E6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800" spc="-10" b="1">
                          <a:solidFill>
                            <a:srgbClr val="3A6EA5"/>
                          </a:solidFill>
                          <a:latin typeface="Arial"/>
                          <a:cs typeface="Arial"/>
                        </a:rPr>
                        <a:t>ToyCar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9850">
                    <a:lnB w="19050">
                      <a:solidFill>
                        <a:srgbClr val="DEE2E6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9050">
                      <a:solidFill>
                        <a:srgbClr val="DEE2E6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800" spc="-10" b="1">
                          <a:solidFill>
                            <a:srgbClr val="3A6EA5"/>
                          </a:solidFill>
                          <a:latin typeface="Arial"/>
                          <a:cs typeface="Arial"/>
                        </a:rPr>
                        <a:t>ToyConv.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9850">
                    <a:lnB w="19050">
                      <a:solidFill>
                        <a:srgbClr val="DEE2E6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9050">
                      <a:solidFill>
                        <a:srgbClr val="DEE2E6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606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750" spc="-65" b="1">
                          <a:solidFill>
                            <a:srgbClr val="3A6EA5"/>
                          </a:solidFill>
                          <a:latin typeface="Malgun Gothic"/>
                          <a:cs typeface="Malgun Gothic"/>
                        </a:rPr>
                        <a:t>平均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B="0" marT="76200">
                    <a:lnB w="19050">
                      <a:solidFill>
                        <a:srgbClr val="DEE2E6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5209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800" spc="-20">
                          <a:solidFill>
                            <a:srgbClr val="444444"/>
                          </a:solidFill>
                          <a:latin typeface="Lucida Console"/>
                          <a:cs typeface="Lucida Console"/>
                        </a:rPr>
                        <a:t>IDNN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50800">
                    <a:lnT w="19050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747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62.1/50.8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63500">
                    <a:lnT w="19050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68.2/52.1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63500">
                    <a:lnT w="19050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58.4/48.9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63500">
                    <a:lnT w="19050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77.3/59.2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63500">
                    <a:lnT w="19050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64.9/51.7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63500">
                    <a:lnT w="19050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60.1/48.3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63500">
                    <a:lnT w="19050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254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65.2/51.8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63500">
                    <a:lnT w="19050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00" spc="-10">
                          <a:solidFill>
                            <a:srgbClr val="444444"/>
                          </a:solidFill>
                          <a:latin typeface="Lucida Console"/>
                          <a:cs typeface="Lucida Console"/>
                        </a:rPr>
                        <a:t>MobileNetV2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4572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747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65.8/53.2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71.1/54.6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61.2/51.4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79.6/61.8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67.3/53.9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63.4/50.7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25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68.1/54.3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</a:tr>
              <a:tr h="24701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00" spc="-85">
                          <a:solidFill>
                            <a:srgbClr val="444444"/>
                          </a:solidFill>
                          <a:latin typeface="Lucida Console"/>
                          <a:cs typeface="Lucida Console"/>
                        </a:rPr>
                        <a:t>Glow</a:t>
                      </a:r>
                      <a:r>
                        <a:rPr dirty="0" sz="800" spc="-55">
                          <a:solidFill>
                            <a:srgbClr val="44444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5">
                          <a:solidFill>
                            <a:srgbClr val="444444"/>
                          </a:solidFill>
                          <a:latin typeface="Lucida Console"/>
                          <a:cs typeface="Lucida Console"/>
                        </a:rPr>
                        <a:t>Aff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4572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747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68.9/55.7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73.8/57.2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64.5/53.8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81.2/63.5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70.1/56.4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66.7/52.9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25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70.9/56.6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00" spc="-85">
                          <a:solidFill>
                            <a:srgbClr val="444444"/>
                          </a:solidFill>
                          <a:latin typeface="Lucida Console"/>
                          <a:cs typeface="Lucida Console"/>
                        </a:rPr>
                        <a:t>STgram-</a:t>
                      </a:r>
                      <a:r>
                        <a:rPr dirty="0" sz="800" spc="-25">
                          <a:solidFill>
                            <a:srgbClr val="444444"/>
                          </a:solidFill>
                          <a:latin typeface="Lucida Console"/>
                          <a:cs typeface="Lucida Console"/>
                        </a:rPr>
                        <a:t>MFN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4572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747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72.3/58.9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76.5/59.8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67.8/56.2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83.7/65.1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73.6/58.7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69.9/54.6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25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74.0/58.9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700" spc="-20">
                          <a:solidFill>
                            <a:srgbClr val="444444"/>
                          </a:solidFill>
                          <a:latin typeface="Lucida Console"/>
                          <a:cs typeface="Lucida Console"/>
                        </a:rPr>
                        <a:t>ASD-AFPA</a:t>
                      </a:r>
                      <a:endParaRPr sz="700">
                        <a:latin typeface="Lucida Console"/>
                        <a:cs typeface="Lucida Console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 spc="-20">
                          <a:solidFill>
                            <a:srgbClr val="444444"/>
                          </a:solidFill>
                          <a:latin typeface="Lucida Console"/>
                          <a:cs typeface="Lucida Console"/>
                        </a:rPr>
                        <a:t>(</a:t>
                      </a:r>
                      <a:r>
                        <a:rPr dirty="0" sz="750" spc="-75">
                          <a:solidFill>
                            <a:srgbClr val="444444"/>
                          </a:solidFill>
                          <a:latin typeface="SimSun"/>
                          <a:cs typeface="SimSun"/>
                        </a:rPr>
                        <a:t>提案</a:t>
                      </a:r>
                      <a:r>
                        <a:rPr dirty="0" sz="700" spc="-50">
                          <a:solidFill>
                            <a:srgbClr val="444444"/>
                          </a:solidFill>
                          <a:latin typeface="Lucida Console"/>
                          <a:cs typeface="Lucida Console"/>
                        </a:rPr>
                        <a:t>)</a:t>
                      </a:r>
                      <a:endParaRPr sz="700">
                        <a:latin typeface="Lucida Console"/>
                        <a:cs typeface="Lucida Console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77470">
                        <a:lnSpc>
                          <a:spcPct val="100000"/>
                        </a:lnSpc>
                      </a:pPr>
                      <a:r>
                        <a:rPr dirty="0" sz="700" spc="-10">
                          <a:solidFill>
                            <a:srgbClr val="856404"/>
                          </a:solidFill>
                          <a:latin typeface="Lucida Console"/>
                          <a:cs typeface="Lucida Console"/>
                        </a:rPr>
                        <a:t>74.8/61.2</a:t>
                      </a:r>
                      <a:endParaRPr sz="700">
                        <a:latin typeface="Lucida Console"/>
                        <a:cs typeface="Lucida Console"/>
                      </a:endParaRPr>
                    </a:p>
                  </a:txBody>
                  <a:tcPr marL="0" marR="0" marB="0" marT="20955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550" spc="-50" b="1">
                          <a:solidFill>
                            <a:srgbClr val="FFC107"/>
                          </a:solidFill>
                          <a:latin typeface="Malgun Gothic"/>
                          <a:cs typeface="Malgun Gothic"/>
                        </a:rPr>
                        <a:t>★</a:t>
                      </a:r>
                      <a:endParaRPr sz="55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41910">
                        <a:lnSpc>
                          <a:spcPct val="100000"/>
                        </a:lnSpc>
                      </a:pPr>
                      <a:r>
                        <a:rPr dirty="0" sz="700" spc="-10">
                          <a:solidFill>
                            <a:srgbClr val="856404"/>
                          </a:solidFill>
                          <a:latin typeface="Lucida Console"/>
                          <a:cs typeface="Lucida Console"/>
                        </a:rPr>
                        <a:t>78.9/62.4</a:t>
                      </a:r>
                      <a:endParaRPr sz="700">
                        <a:latin typeface="Lucida Console"/>
                        <a:cs typeface="Lucida Console"/>
                      </a:endParaRPr>
                    </a:p>
                  </a:txBody>
                  <a:tcPr marL="0" marR="0" marB="0" marT="20955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550" spc="-50" b="1">
                          <a:solidFill>
                            <a:srgbClr val="FFC107"/>
                          </a:solidFill>
                          <a:latin typeface="Malgun Gothic"/>
                          <a:cs typeface="Malgun Gothic"/>
                        </a:rPr>
                        <a:t>★</a:t>
                      </a:r>
                      <a:endParaRPr sz="55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41910">
                        <a:lnSpc>
                          <a:spcPct val="100000"/>
                        </a:lnSpc>
                      </a:pPr>
                      <a:r>
                        <a:rPr dirty="0" sz="700" spc="-10">
                          <a:solidFill>
                            <a:srgbClr val="856404"/>
                          </a:solidFill>
                          <a:latin typeface="Lucida Console"/>
                          <a:cs typeface="Lucida Console"/>
                        </a:rPr>
                        <a:t>70.1/58.7</a:t>
                      </a:r>
                      <a:endParaRPr sz="700">
                        <a:latin typeface="Lucida Console"/>
                        <a:cs typeface="Lucida Console"/>
                      </a:endParaRPr>
                    </a:p>
                  </a:txBody>
                  <a:tcPr marL="0" marR="0" marB="0" marT="20955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550" spc="-50" b="1">
                          <a:solidFill>
                            <a:srgbClr val="FFC107"/>
                          </a:solidFill>
                          <a:latin typeface="Malgun Gothic"/>
                          <a:cs typeface="Malgun Gothic"/>
                        </a:rPr>
                        <a:t>★</a:t>
                      </a:r>
                      <a:endParaRPr sz="55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41910">
                        <a:lnSpc>
                          <a:spcPct val="100000"/>
                        </a:lnSpc>
                      </a:pPr>
                      <a:r>
                        <a:rPr dirty="0" sz="700" spc="-10">
                          <a:solidFill>
                            <a:srgbClr val="856404"/>
                          </a:solidFill>
                          <a:latin typeface="Lucida Console"/>
                          <a:cs typeface="Lucida Console"/>
                        </a:rPr>
                        <a:t>84.1/64.8</a:t>
                      </a:r>
                      <a:endParaRPr sz="700">
                        <a:latin typeface="Lucida Console"/>
                        <a:cs typeface="Lucida Console"/>
                      </a:endParaRPr>
                    </a:p>
                  </a:txBody>
                  <a:tcPr marL="0" marR="0" marB="0" marT="20955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550" spc="-50" b="1">
                          <a:solidFill>
                            <a:srgbClr val="FFC107"/>
                          </a:solidFill>
                          <a:latin typeface="Malgun Gothic"/>
                          <a:cs typeface="Malgun Gothic"/>
                        </a:rPr>
                        <a:t>★</a:t>
                      </a:r>
                      <a:endParaRPr sz="55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41910">
                        <a:lnSpc>
                          <a:spcPct val="100000"/>
                        </a:lnSpc>
                      </a:pPr>
                      <a:r>
                        <a:rPr dirty="0" sz="700" spc="-10">
                          <a:solidFill>
                            <a:srgbClr val="856404"/>
                          </a:solidFill>
                          <a:latin typeface="Lucida Console"/>
                          <a:cs typeface="Lucida Console"/>
                        </a:rPr>
                        <a:t>76.2/61.1</a:t>
                      </a:r>
                      <a:endParaRPr sz="700">
                        <a:latin typeface="Lucida Console"/>
                        <a:cs typeface="Lucida Console"/>
                      </a:endParaRPr>
                    </a:p>
                  </a:txBody>
                  <a:tcPr marL="0" marR="0" marB="0" marT="20955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550" spc="-50" b="1">
                          <a:solidFill>
                            <a:srgbClr val="FFC107"/>
                          </a:solidFill>
                          <a:latin typeface="Malgun Gothic"/>
                          <a:cs typeface="Malgun Gothic"/>
                        </a:rPr>
                        <a:t>★</a:t>
                      </a:r>
                      <a:endParaRPr sz="55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41910">
                        <a:lnSpc>
                          <a:spcPct val="100000"/>
                        </a:lnSpc>
                      </a:pPr>
                      <a:r>
                        <a:rPr dirty="0" sz="700" spc="-10">
                          <a:solidFill>
                            <a:srgbClr val="856404"/>
                          </a:solidFill>
                          <a:latin typeface="Lucida Console"/>
                          <a:cs typeface="Lucida Console"/>
                        </a:rPr>
                        <a:t>72.4/57.3</a:t>
                      </a:r>
                      <a:endParaRPr sz="700">
                        <a:latin typeface="Lucida Console"/>
                        <a:cs typeface="Lucida Console"/>
                      </a:endParaRPr>
                    </a:p>
                  </a:txBody>
                  <a:tcPr marL="0" marR="0" marB="0" marT="20955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3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550" spc="-50" b="1">
                          <a:solidFill>
                            <a:srgbClr val="FFC107"/>
                          </a:solidFill>
                          <a:latin typeface="Malgun Gothic"/>
                          <a:cs typeface="Malgun Gothic"/>
                        </a:rPr>
                        <a:t>★</a:t>
                      </a:r>
                      <a:endParaRPr sz="550">
                        <a:latin typeface="Malgun Gothic"/>
                        <a:cs typeface="Malgun Gothic"/>
                      </a:endParaRPr>
                    </a:p>
                  </a:txBody>
                  <a:tcPr marL="0" marR="0" marB="0" marT="29845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40005">
                        <a:lnSpc>
                          <a:spcPct val="100000"/>
                        </a:lnSpc>
                      </a:pPr>
                      <a:r>
                        <a:rPr dirty="0" sz="700" spc="-10">
                          <a:solidFill>
                            <a:srgbClr val="856404"/>
                          </a:solidFill>
                          <a:latin typeface="Lucida Console"/>
                          <a:cs typeface="Lucida Console"/>
                        </a:rPr>
                        <a:t>75.6/60.9</a:t>
                      </a:r>
                      <a:endParaRPr sz="700">
                        <a:latin typeface="Lucida Console"/>
                        <a:cs typeface="Lucida Console"/>
                      </a:endParaRPr>
                    </a:p>
                  </a:txBody>
                  <a:tcPr marL="0" marR="0" marB="0" marT="20955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550" spc="-85" b="1">
                          <a:solidFill>
                            <a:srgbClr val="FFC107"/>
                          </a:solidFill>
                          <a:latin typeface="Malgun Gothic"/>
                          <a:cs typeface="Malgun Gothic"/>
                        </a:rPr>
                        <a:t>★</a:t>
                      </a:r>
                      <a:endParaRPr sz="550">
                        <a:latin typeface="Malgun Gothic"/>
                        <a:cs typeface="Malgun Gothic"/>
                      </a:endParaRPr>
                    </a:p>
                  </a:txBody>
                  <a:tcPr marL="0" marR="0" marB="0" marT="29209">
                    <a:lnT w="9525">
                      <a:solidFill>
                        <a:srgbClr val="DEE2E6"/>
                      </a:solidFill>
                      <a:prstDash val="solid"/>
                    </a:lnT>
                    <a:lnB w="9525">
                      <a:solidFill>
                        <a:srgbClr val="DEE2E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8" name="object 18" descr=""/>
          <p:cNvGrpSpPr/>
          <p:nvPr/>
        </p:nvGrpSpPr>
        <p:grpSpPr>
          <a:xfrm>
            <a:off x="333374" y="904875"/>
            <a:ext cx="9086850" cy="3533775"/>
            <a:chOff x="333374" y="904875"/>
            <a:chExt cx="9086850" cy="3533775"/>
          </a:xfrm>
        </p:grpSpPr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3374" y="904875"/>
              <a:ext cx="9086849" cy="65722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71899" y="1057274"/>
              <a:ext cx="142874" cy="12699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25552" y="904902"/>
              <a:ext cx="94671" cy="657169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91299" y="1733549"/>
              <a:ext cx="2800349" cy="2676524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6577011" y="1719262"/>
              <a:ext cx="2828925" cy="2705100"/>
            </a:xfrm>
            <a:custGeom>
              <a:avLst/>
              <a:gdLst/>
              <a:ahLst/>
              <a:cxnLst/>
              <a:rect l="l" t="t" r="r" b="b"/>
              <a:pathLst>
                <a:path w="2828925" h="2705100">
                  <a:moveTo>
                    <a:pt x="0" y="2605087"/>
                  </a:moveTo>
                  <a:lnTo>
                    <a:pt x="0" y="100012"/>
                  </a:lnTo>
                  <a:lnTo>
                    <a:pt x="0" y="93445"/>
                  </a:lnTo>
                  <a:lnTo>
                    <a:pt x="640" y="86941"/>
                  </a:lnTo>
                  <a:lnTo>
                    <a:pt x="1921" y="80501"/>
                  </a:lnTo>
                  <a:lnTo>
                    <a:pt x="3202" y="74060"/>
                  </a:lnTo>
                  <a:lnTo>
                    <a:pt x="5099" y="67806"/>
                  </a:lnTo>
                  <a:lnTo>
                    <a:pt x="7612" y="61739"/>
                  </a:lnTo>
                  <a:lnTo>
                    <a:pt x="10125" y="55672"/>
                  </a:lnTo>
                  <a:lnTo>
                    <a:pt x="13206" y="49908"/>
                  </a:lnTo>
                  <a:lnTo>
                    <a:pt x="16855" y="44448"/>
                  </a:lnTo>
                  <a:lnTo>
                    <a:pt x="20503" y="38988"/>
                  </a:lnTo>
                  <a:lnTo>
                    <a:pt x="24649" y="33936"/>
                  </a:lnTo>
                  <a:lnTo>
                    <a:pt x="29292" y="29292"/>
                  </a:lnTo>
                  <a:lnTo>
                    <a:pt x="33936" y="24649"/>
                  </a:lnTo>
                  <a:lnTo>
                    <a:pt x="38987" y="20503"/>
                  </a:lnTo>
                  <a:lnTo>
                    <a:pt x="44448" y="16855"/>
                  </a:lnTo>
                  <a:lnTo>
                    <a:pt x="49907" y="13206"/>
                  </a:lnTo>
                  <a:lnTo>
                    <a:pt x="80500" y="1921"/>
                  </a:lnTo>
                  <a:lnTo>
                    <a:pt x="86941" y="640"/>
                  </a:lnTo>
                  <a:lnTo>
                    <a:pt x="93445" y="0"/>
                  </a:lnTo>
                  <a:lnTo>
                    <a:pt x="100013" y="0"/>
                  </a:lnTo>
                  <a:lnTo>
                    <a:pt x="2728912" y="0"/>
                  </a:lnTo>
                  <a:lnTo>
                    <a:pt x="2735479" y="0"/>
                  </a:lnTo>
                  <a:lnTo>
                    <a:pt x="2741982" y="640"/>
                  </a:lnTo>
                  <a:lnTo>
                    <a:pt x="2779015" y="13206"/>
                  </a:lnTo>
                  <a:lnTo>
                    <a:pt x="2808420" y="38988"/>
                  </a:lnTo>
                  <a:lnTo>
                    <a:pt x="2821310" y="61739"/>
                  </a:lnTo>
                  <a:lnTo>
                    <a:pt x="2823824" y="67806"/>
                  </a:lnTo>
                  <a:lnTo>
                    <a:pt x="2825722" y="74060"/>
                  </a:lnTo>
                  <a:lnTo>
                    <a:pt x="2827002" y="80501"/>
                  </a:lnTo>
                  <a:lnTo>
                    <a:pt x="2828284" y="86941"/>
                  </a:lnTo>
                  <a:lnTo>
                    <a:pt x="2828924" y="93445"/>
                  </a:lnTo>
                  <a:lnTo>
                    <a:pt x="2828925" y="100012"/>
                  </a:lnTo>
                  <a:lnTo>
                    <a:pt x="2828925" y="2605087"/>
                  </a:lnTo>
                  <a:lnTo>
                    <a:pt x="2828924" y="2611654"/>
                  </a:lnTo>
                  <a:lnTo>
                    <a:pt x="2828284" y="2618157"/>
                  </a:lnTo>
                  <a:lnTo>
                    <a:pt x="2827002" y="2624598"/>
                  </a:lnTo>
                  <a:lnTo>
                    <a:pt x="2825722" y="2631038"/>
                  </a:lnTo>
                  <a:lnTo>
                    <a:pt x="2808420" y="2666110"/>
                  </a:lnTo>
                  <a:lnTo>
                    <a:pt x="2779015" y="2691892"/>
                  </a:lnTo>
                  <a:lnTo>
                    <a:pt x="2748423" y="2703177"/>
                  </a:lnTo>
                  <a:lnTo>
                    <a:pt x="2741982" y="2704458"/>
                  </a:lnTo>
                  <a:lnTo>
                    <a:pt x="2735479" y="2705099"/>
                  </a:lnTo>
                  <a:lnTo>
                    <a:pt x="2728912" y="2705099"/>
                  </a:lnTo>
                  <a:lnTo>
                    <a:pt x="100013" y="2705099"/>
                  </a:lnTo>
                  <a:lnTo>
                    <a:pt x="93445" y="2705099"/>
                  </a:lnTo>
                  <a:lnTo>
                    <a:pt x="86941" y="2704458"/>
                  </a:lnTo>
                  <a:lnTo>
                    <a:pt x="80500" y="2703177"/>
                  </a:lnTo>
                  <a:lnTo>
                    <a:pt x="74060" y="2701896"/>
                  </a:lnTo>
                  <a:lnTo>
                    <a:pt x="67805" y="2699998"/>
                  </a:lnTo>
                  <a:lnTo>
                    <a:pt x="61738" y="2697485"/>
                  </a:lnTo>
                  <a:lnTo>
                    <a:pt x="55671" y="2694973"/>
                  </a:lnTo>
                  <a:lnTo>
                    <a:pt x="29292" y="2675806"/>
                  </a:lnTo>
                  <a:lnTo>
                    <a:pt x="24649" y="2671162"/>
                  </a:lnTo>
                  <a:lnTo>
                    <a:pt x="20503" y="2666110"/>
                  </a:lnTo>
                  <a:lnTo>
                    <a:pt x="16855" y="2660650"/>
                  </a:lnTo>
                  <a:lnTo>
                    <a:pt x="13206" y="2655190"/>
                  </a:lnTo>
                  <a:lnTo>
                    <a:pt x="10125" y="2649426"/>
                  </a:lnTo>
                  <a:lnTo>
                    <a:pt x="7612" y="2643359"/>
                  </a:lnTo>
                  <a:lnTo>
                    <a:pt x="5099" y="2637292"/>
                  </a:lnTo>
                  <a:lnTo>
                    <a:pt x="3202" y="2631038"/>
                  </a:lnTo>
                  <a:lnTo>
                    <a:pt x="1921" y="2624598"/>
                  </a:lnTo>
                  <a:lnTo>
                    <a:pt x="640" y="2618157"/>
                  </a:lnTo>
                  <a:lnTo>
                    <a:pt x="0" y="2611654"/>
                  </a:lnTo>
                  <a:lnTo>
                    <a:pt x="0" y="2605087"/>
                  </a:lnTo>
                  <a:close/>
                </a:path>
              </a:pathLst>
            </a:custGeom>
            <a:ln w="28574">
              <a:solidFill>
                <a:srgbClr val="6B747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39024" y="1922859"/>
              <a:ext cx="133350" cy="116681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750341" y="3918134"/>
            <a:ext cx="28257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0">
                <a:solidFill>
                  <a:srgbClr val="FFFFFF"/>
                </a:solidFill>
                <a:latin typeface="SimSun"/>
                <a:cs typeface="SimSun"/>
              </a:rPr>
              <a:t>改善率</a:t>
            </a:r>
            <a:endParaRPr sz="750">
              <a:latin typeface="SimSun"/>
              <a:cs typeface="SimSu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495226" y="3923577"/>
            <a:ext cx="3399790" cy="4121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48335" algn="l"/>
                <a:tab pos="1283970" algn="l"/>
                <a:tab pos="1919605" algn="l"/>
                <a:tab pos="2608580" algn="l"/>
              </a:tabLst>
            </a:pPr>
            <a:r>
              <a:rPr dirty="0" sz="650" spc="-10">
                <a:solidFill>
                  <a:srgbClr val="28A645"/>
                </a:solidFill>
                <a:latin typeface="Courier New"/>
                <a:cs typeface="Courier New"/>
              </a:rPr>
              <a:t>+</a:t>
            </a:r>
            <a:r>
              <a:rPr dirty="0" sz="700" spc="-10">
                <a:solidFill>
                  <a:srgbClr val="28A645"/>
                </a:solidFill>
                <a:latin typeface="Lucida Console"/>
                <a:cs typeface="Lucida Console"/>
              </a:rPr>
              <a:t>2.5/</a:t>
            </a:r>
            <a:r>
              <a:rPr dirty="0" sz="650" spc="-10">
                <a:solidFill>
                  <a:srgbClr val="28A645"/>
                </a:solidFill>
                <a:latin typeface="Courier New"/>
                <a:cs typeface="Courier New"/>
              </a:rPr>
              <a:t>+</a:t>
            </a:r>
            <a:r>
              <a:rPr dirty="0" sz="700" spc="-10">
                <a:solidFill>
                  <a:srgbClr val="28A645"/>
                </a:solidFill>
                <a:latin typeface="Lucida Console"/>
                <a:cs typeface="Lucida Console"/>
              </a:rPr>
              <a:t>2.3</a:t>
            </a:r>
            <a:r>
              <a:rPr dirty="0" sz="700">
                <a:solidFill>
                  <a:srgbClr val="28A645"/>
                </a:solidFill>
                <a:latin typeface="Lucida Console"/>
                <a:cs typeface="Lucida Console"/>
              </a:rPr>
              <a:t>	</a:t>
            </a:r>
            <a:r>
              <a:rPr dirty="0" sz="650" spc="-10">
                <a:solidFill>
                  <a:srgbClr val="28A645"/>
                </a:solidFill>
                <a:latin typeface="Courier New"/>
                <a:cs typeface="Courier New"/>
              </a:rPr>
              <a:t>+</a:t>
            </a:r>
            <a:r>
              <a:rPr dirty="0" sz="700" spc="-10">
                <a:solidFill>
                  <a:srgbClr val="28A645"/>
                </a:solidFill>
                <a:latin typeface="Lucida Console"/>
                <a:cs typeface="Lucida Console"/>
              </a:rPr>
              <a:t>2.4/</a:t>
            </a:r>
            <a:r>
              <a:rPr dirty="0" sz="650" spc="-10">
                <a:solidFill>
                  <a:srgbClr val="28A645"/>
                </a:solidFill>
                <a:latin typeface="Courier New"/>
                <a:cs typeface="Courier New"/>
              </a:rPr>
              <a:t>+</a:t>
            </a:r>
            <a:r>
              <a:rPr dirty="0" sz="700" spc="-10">
                <a:solidFill>
                  <a:srgbClr val="28A645"/>
                </a:solidFill>
                <a:latin typeface="Lucida Console"/>
                <a:cs typeface="Lucida Console"/>
              </a:rPr>
              <a:t>2.6</a:t>
            </a:r>
            <a:r>
              <a:rPr dirty="0" sz="700">
                <a:solidFill>
                  <a:srgbClr val="28A645"/>
                </a:solidFill>
                <a:latin typeface="Lucida Console"/>
                <a:cs typeface="Lucida Console"/>
              </a:rPr>
              <a:t>	</a:t>
            </a:r>
            <a:r>
              <a:rPr dirty="0" sz="650" spc="-10">
                <a:solidFill>
                  <a:srgbClr val="28A645"/>
                </a:solidFill>
                <a:latin typeface="Courier New"/>
                <a:cs typeface="Courier New"/>
              </a:rPr>
              <a:t>+</a:t>
            </a:r>
            <a:r>
              <a:rPr dirty="0" sz="700" spc="-10">
                <a:solidFill>
                  <a:srgbClr val="28A645"/>
                </a:solidFill>
                <a:latin typeface="Lucida Console"/>
                <a:cs typeface="Lucida Console"/>
              </a:rPr>
              <a:t>2.3/</a:t>
            </a:r>
            <a:r>
              <a:rPr dirty="0" sz="650" spc="-10">
                <a:solidFill>
                  <a:srgbClr val="28A645"/>
                </a:solidFill>
                <a:latin typeface="Courier New"/>
                <a:cs typeface="Courier New"/>
              </a:rPr>
              <a:t>+</a:t>
            </a:r>
            <a:r>
              <a:rPr dirty="0" sz="700" spc="-10">
                <a:solidFill>
                  <a:srgbClr val="28A645"/>
                </a:solidFill>
                <a:latin typeface="Lucida Console"/>
                <a:cs typeface="Lucida Console"/>
              </a:rPr>
              <a:t>2.5</a:t>
            </a:r>
            <a:r>
              <a:rPr dirty="0" sz="700">
                <a:solidFill>
                  <a:srgbClr val="28A645"/>
                </a:solidFill>
                <a:latin typeface="Lucida Console"/>
                <a:cs typeface="Lucida Console"/>
              </a:rPr>
              <a:t>	</a:t>
            </a:r>
            <a:r>
              <a:rPr dirty="0" sz="650" spc="-10">
                <a:solidFill>
                  <a:srgbClr val="28A645"/>
                </a:solidFill>
                <a:latin typeface="Courier New"/>
                <a:cs typeface="Courier New"/>
              </a:rPr>
              <a:t>+</a:t>
            </a:r>
            <a:r>
              <a:rPr dirty="0" sz="700" spc="-10">
                <a:solidFill>
                  <a:srgbClr val="28A645"/>
                </a:solidFill>
                <a:latin typeface="Lucida Console"/>
                <a:cs typeface="Lucida Console"/>
              </a:rPr>
              <a:t>0.4/-</a:t>
            </a:r>
            <a:r>
              <a:rPr dirty="0" sz="700" spc="-25">
                <a:solidFill>
                  <a:srgbClr val="28A645"/>
                </a:solidFill>
                <a:latin typeface="Lucida Console"/>
                <a:cs typeface="Lucida Console"/>
              </a:rPr>
              <a:t>0.3</a:t>
            </a:r>
            <a:r>
              <a:rPr dirty="0" sz="700">
                <a:solidFill>
                  <a:srgbClr val="28A645"/>
                </a:solidFill>
                <a:latin typeface="Lucida Console"/>
                <a:cs typeface="Lucida Console"/>
              </a:rPr>
              <a:t>	</a:t>
            </a:r>
            <a:r>
              <a:rPr dirty="0" sz="650" spc="-10">
                <a:solidFill>
                  <a:srgbClr val="28A645"/>
                </a:solidFill>
                <a:latin typeface="Courier New"/>
                <a:cs typeface="Courier New"/>
              </a:rPr>
              <a:t>+</a:t>
            </a:r>
            <a:r>
              <a:rPr dirty="0" sz="700" spc="-10">
                <a:solidFill>
                  <a:srgbClr val="28A645"/>
                </a:solidFill>
                <a:latin typeface="Lucida Console"/>
                <a:cs typeface="Lucida Console"/>
              </a:rPr>
              <a:t>2.6/</a:t>
            </a:r>
            <a:r>
              <a:rPr dirty="0" sz="650" spc="-10">
                <a:solidFill>
                  <a:srgbClr val="28A645"/>
                </a:solidFill>
                <a:latin typeface="Courier New"/>
                <a:cs typeface="Courier New"/>
              </a:rPr>
              <a:t>+</a:t>
            </a:r>
            <a:r>
              <a:rPr dirty="0" sz="700" spc="-10">
                <a:solidFill>
                  <a:srgbClr val="28A645"/>
                </a:solidFill>
                <a:latin typeface="Lucida Console"/>
                <a:cs typeface="Lucida Console"/>
              </a:rPr>
              <a:t>2.4</a:t>
            </a:r>
            <a:endParaRPr sz="7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65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650">
              <a:latin typeface="Lucida Console"/>
              <a:cs typeface="Lucida Console"/>
            </a:endParaRPr>
          </a:p>
          <a:p>
            <a:pPr marL="280035">
              <a:lnSpc>
                <a:spcPct val="100000"/>
              </a:lnSpc>
            </a:pPr>
            <a:r>
              <a:rPr dirty="0" sz="650" spc="-114">
                <a:solidFill>
                  <a:srgbClr val="666666"/>
                </a:solidFill>
                <a:latin typeface="SimSun"/>
                <a:cs typeface="SimSun"/>
              </a:rPr>
              <a:t>★ </a:t>
            </a:r>
            <a:r>
              <a:rPr dirty="0" sz="650" spc="-35">
                <a:solidFill>
                  <a:srgbClr val="666666"/>
                </a:solidFill>
                <a:latin typeface="Arial MT"/>
                <a:cs typeface="Arial MT"/>
              </a:rPr>
              <a:t>= </a:t>
            </a:r>
            <a:r>
              <a:rPr dirty="0" sz="650" spc="-70">
                <a:solidFill>
                  <a:srgbClr val="666666"/>
                </a:solidFill>
                <a:latin typeface="SimSun"/>
                <a:cs typeface="SimSun"/>
              </a:rPr>
              <a:t>各機械タイプでの最高性能 </a:t>
            </a:r>
            <a:r>
              <a:rPr dirty="0" sz="650" spc="-10">
                <a:solidFill>
                  <a:srgbClr val="666666"/>
                </a:solidFill>
                <a:latin typeface="Arial MT"/>
                <a:cs typeface="Arial MT"/>
              </a:rPr>
              <a:t>|</a:t>
            </a:r>
            <a:r>
              <a:rPr dirty="0" sz="650" spc="-1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650" spc="-95">
                <a:solidFill>
                  <a:srgbClr val="666666"/>
                </a:solidFill>
                <a:latin typeface="SimSun"/>
                <a:cs typeface="SimSun"/>
              </a:rPr>
              <a:t>値は </a:t>
            </a:r>
            <a:r>
              <a:rPr dirty="0" sz="650" spc="-55">
                <a:solidFill>
                  <a:srgbClr val="666666"/>
                </a:solidFill>
                <a:latin typeface="Arial MT"/>
                <a:cs typeface="Arial MT"/>
              </a:rPr>
              <a:t>AUC/pAUC</a:t>
            </a:r>
            <a:r>
              <a:rPr dirty="0" sz="650" spc="-30">
                <a:solidFill>
                  <a:srgbClr val="666666"/>
                </a:solidFill>
                <a:latin typeface="Arial MT"/>
                <a:cs typeface="Arial MT"/>
              </a:rPr>
              <a:t> (%) </a:t>
            </a:r>
            <a:r>
              <a:rPr dirty="0" sz="650" spc="-10">
                <a:solidFill>
                  <a:srgbClr val="666666"/>
                </a:solidFill>
                <a:latin typeface="Arial MT"/>
                <a:cs typeface="Arial MT"/>
              </a:rPr>
              <a:t>|</a:t>
            </a:r>
            <a:r>
              <a:rPr dirty="0" sz="650" spc="-1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650" spc="-85">
                <a:solidFill>
                  <a:srgbClr val="666666"/>
                </a:solidFill>
                <a:latin typeface="SimSun"/>
                <a:cs typeface="SimSun"/>
              </a:rPr>
              <a:t>改善率は </a:t>
            </a:r>
            <a:r>
              <a:rPr dirty="0" sz="650" spc="-45">
                <a:solidFill>
                  <a:srgbClr val="666666"/>
                </a:solidFill>
                <a:latin typeface="Arial MT"/>
                <a:cs typeface="Arial MT"/>
              </a:rPr>
              <a:t>STgram-</a:t>
            </a:r>
            <a:r>
              <a:rPr dirty="0" sz="650" spc="-65">
                <a:solidFill>
                  <a:srgbClr val="666666"/>
                </a:solidFill>
                <a:latin typeface="Arial MT"/>
                <a:cs typeface="Arial MT"/>
              </a:rPr>
              <a:t>MFN</a:t>
            </a:r>
            <a:r>
              <a:rPr dirty="0" sz="650" spc="-1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650" spc="-100">
                <a:solidFill>
                  <a:srgbClr val="666666"/>
                </a:solidFill>
                <a:latin typeface="SimSun"/>
                <a:cs typeface="SimSun"/>
              </a:rPr>
              <a:t>から の向上分</a:t>
            </a:r>
            <a:endParaRPr sz="650">
              <a:latin typeface="SimSun"/>
              <a:cs typeface="SimSu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886126" y="3923577"/>
            <a:ext cx="48831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 spc="-10">
                <a:solidFill>
                  <a:srgbClr val="28A645"/>
                </a:solidFill>
                <a:latin typeface="Courier New"/>
                <a:cs typeface="Courier New"/>
              </a:rPr>
              <a:t>+</a:t>
            </a:r>
            <a:r>
              <a:rPr dirty="0" sz="700" spc="-10">
                <a:solidFill>
                  <a:srgbClr val="28A645"/>
                </a:solidFill>
                <a:latin typeface="Lucida Console"/>
                <a:cs typeface="Lucida Console"/>
              </a:rPr>
              <a:t>2.5/</a:t>
            </a:r>
            <a:r>
              <a:rPr dirty="0" sz="650" spc="-10">
                <a:solidFill>
                  <a:srgbClr val="28A645"/>
                </a:solidFill>
                <a:latin typeface="Courier New"/>
                <a:cs typeface="Courier New"/>
              </a:rPr>
              <a:t>+</a:t>
            </a:r>
            <a:r>
              <a:rPr dirty="0" sz="700" spc="-10">
                <a:solidFill>
                  <a:srgbClr val="28A645"/>
                </a:solidFill>
                <a:latin typeface="Lucida Console"/>
                <a:cs typeface="Lucida Console"/>
              </a:rPr>
              <a:t>2.7</a:t>
            </a:r>
            <a:endParaRPr sz="700">
              <a:latin typeface="Lucida Console"/>
              <a:cs typeface="Lucida Console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680868" y="3924021"/>
            <a:ext cx="488315" cy="136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-10">
                <a:solidFill>
                  <a:srgbClr val="28A645"/>
                </a:solidFill>
                <a:latin typeface="Courier New"/>
                <a:cs typeface="Courier New"/>
              </a:rPr>
              <a:t>+</a:t>
            </a:r>
            <a:r>
              <a:rPr dirty="0" sz="700" spc="-10">
                <a:solidFill>
                  <a:srgbClr val="28A645"/>
                </a:solidFill>
                <a:latin typeface="Lucida Console"/>
                <a:cs typeface="Lucida Console"/>
              </a:rPr>
              <a:t>1.6/</a:t>
            </a:r>
            <a:r>
              <a:rPr dirty="0" sz="650" spc="-10">
                <a:solidFill>
                  <a:srgbClr val="28A645"/>
                </a:solidFill>
                <a:latin typeface="Courier New"/>
                <a:cs typeface="Courier New"/>
              </a:rPr>
              <a:t>+</a:t>
            </a:r>
            <a:r>
              <a:rPr dirty="0" sz="700" spc="-10">
                <a:solidFill>
                  <a:srgbClr val="28A645"/>
                </a:solidFill>
                <a:latin typeface="Lucida Console"/>
                <a:cs typeface="Lucida Console"/>
              </a:rPr>
              <a:t>2.0</a:t>
            </a:r>
            <a:endParaRPr sz="700">
              <a:latin typeface="Lucida Console"/>
              <a:cs typeface="Lucida Console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593814" y="1865439"/>
            <a:ext cx="9588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5" b="1">
                <a:solidFill>
                  <a:srgbClr val="494F57"/>
                </a:solidFill>
                <a:latin typeface="Malgun Gothic"/>
                <a:cs typeface="Malgun Gothic"/>
              </a:rPr>
              <a:t>性能向上可視化</a:t>
            </a:r>
            <a:endParaRPr sz="1150">
              <a:latin typeface="Malgun Gothic"/>
              <a:cs typeface="Malgun Gothic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6734174" y="1657349"/>
            <a:ext cx="495300" cy="209550"/>
          </a:xfrm>
          <a:custGeom>
            <a:avLst/>
            <a:gdLst/>
            <a:ahLst/>
            <a:cxnLst/>
            <a:rect l="l" t="t" r="r" b="b"/>
            <a:pathLst>
              <a:path w="495300" h="209550">
                <a:moveTo>
                  <a:pt x="406304" y="209549"/>
                </a:moveTo>
                <a:lnTo>
                  <a:pt x="88995" y="209549"/>
                </a:lnTo>
                <a:lnTo>
                  <a:pt x="82801" y="208939"/>
                </a:lnTo>
                <a:lnTo>
                  <a:pt x="37131" y="190022"/>
                </a:lnTo>
                <a:lnTo>
                  <a:pt x="9643" y="156528"/>
                </a:lnTo>
                <a:lnTo>
                  <a:pt x="0" y="120554"/>
                </a:lnTo>
                <a:lnTo>
                  <a:pt x="0" y="114299"/>
                </a:lnTo>
                <a:lnTo>
                  <a:pt x="0" y="88995"/>
                </a:lnTo>
                <a:lnTo>
                  <a:pt x="12577" y="47531"/>
                </a:lnTo>
                <a:lnTo>
                  <a:pt x="47531" y="12577"/>
                </a:lnTo>
                <a:lnTo>
                  <a:pt x="88995" y="0"/>
                </a:lnTo>
                <a:lnTo>
                  <a:pt x="406304" y="0"/>
                </a:lnTo>
                <a:lnTo>
                  <a:pt x="447766" y="12577"/>
                </a:lnTo>
                <a:lnTo>
                  <a:pt x="482721" y="47531"/>
                </a:lnTo>
                <a:lnTo>
                  <a:pt x="495299" y="88995"/>
                </a:lnTo>
                <a:lnTo>
                  <a:pt x="495299" y="120554"/>
                </a:lnTo>
                <a:lnTo>
                  <a:pt x="482721" y="162017"/>
                </a:lnTo>
                <a:lnTo>
                  <a:pt x="447766" y="196971"/>
                </a:lnTo>
                <a:lnTo>
                  <a:pt x="412497" y="208939"/>
                </a:lnTo>
                <a:lnTo>
                  <a:pt x="406304" y="209549"/>
                </a:lnTo>
                <a:close/>
              </a:path>
            </a:pathLst>
          </a:custGeom>
          <a:solidFill>
            <a:srgbClr val="6B74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3006129" y="926236"/>
            <a:ext cx="4138295" cy="896619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941705">
              <a:lnSpc>
                <a:spcPct val="100000"/>
              </a:lnSpc>
              <a:spcBef>
                <a:spcPts val="780"/>
              </a:spcBef>
            </a:pPr>
            <a:r>
              <a:rPr dirty="0" sz="1150" spc="-114" b="1">
                <a:solidFill>
                  <a:srgbClr val="FFFFFF"/>
                </a:solidFill>
                <a:latin typeface="Malgun Gothic"/>
                <a:cs typeface="Malgun Gothic"/>
              </a:rPr>
              <a:t>提案手法 </a:t>
            </a:r>
            <a:r>
              <a:rPr dirty="0" sz="1150" spc="-114" b="1">
                <a:solidFill>
                  <a:srgbClr val="FFFFFF"/>
                </a:solidFill>
                <a:latin typeface="Tahoma"/>
                <a:cs typeface="Tahoma"/>
              </a:rPr>
              <a:t>ASD-AFPA</a:t>
            </a:r>
            <a:r>
              <a:rPr dirty="0" sz="115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spc="-100" b="1">
                <a:solidFill>
                  <a:srgbClr val="FFFFFF"/>
                </a:solidFill>
                <a:latin typeface="Malgun Gothic"/>
                <a:cs typeface="Malgun Gothic"/>
              </a:rPr>
              <a:t>の優位性確認</a:t>
            </a:r>
            <a:endParaRPr sz="11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000" spc="-120">
                <a:solidFill>
                  <a:srgbClr val="FFFFFF"/>
                </a:solidFill>
                <a:latin typeface="SimSun"/>
                <a:cs typeface="SimSun"/>
              </a:rPr>
              <a:t>全機械タイプで性能向上 </a:t>
            </a:r>
            <a:r>
              <a:rPr dirty="0" sz="1050" spc="-75">
                <a:solidFill>
                  <a:srgbClr val="FFFFFF"/>
                </a:solidFill>
                <a:latin typeface="Arial MT"/>
                <a:cs typeface="Arial MT"/>
              </a:rPr>
              <a:t>• </a:t>
            </a:r>
            <a:r>
              <a:rPr dirty="0" sz="1000" spc="-165">
                <a:solidFill>
                  <a:srgbClr val="FFFFFF"/>
                </a:solidFill>
                <a:latin typeface="SimSun"/>
                <a:cs typeface="SimSun"/>
              </a:rPr>
              <a:t>平均 </a:t>
            </a:r>
            <a:r>
              <a:rPr dirty="0" sz="1050" spc="-165">
                <a:solidFill>
                  <a:srgbClr val="FFFFFF"/>
                </a:solidFill>
                <a:latin typeface="Arial MT"/>
                <a:cs typeface="Arial MT"/>
              </a:rPr>
              <a:t>AUC</a:t>
            </a:r>
            <a:r>
              <a:rPr dirty="0" sz="10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30" b="1">
                <a:solidFill>
                  <a:srgbClr val="FFFFFF"/>
                </a:solidFill>
                <a:latin typeface="Arial"/>
                <a:cs typeface="Arial"/>
              </a:rPr>
              <a:t>+1.55</a:t>
            </a:r>
            <a:r>
              <a:rPr dirty="0" sz="1000" spc="-50" b="1">
                <a:solidFill>
                  <a:srgbClr val="FFFFFF"/>
                </a:solidFill>
                <a:latin typeface="Arial"/>
                <a:cs typeface="Arial"/>
              </a:rPr>
              <a:t>% </a:t>
            </a:r>
            <a:r>
              <a:rPr dirty="0" sz="1050" spc="-75">
                <a:solidFill>
                  <a:srgbClr val="FFFFFF"/>
                </a:solidFill>
                <a:latin typeface="Arial MT"/>
                <a:cs typeface="Arial MT"/>
              </a:rPr>
              <a:t>• </a:t>
            </a:r>
            <a:r>
              <a:rPr dirty="0" sz="1000" spc="-165">
                <a:solidFill>
                  <a:srgbClr val="FFFFFF"/>
                </a:solidFill>
                <a:latin typeface="SimSun"/>
                <a:cs typeface="SimSun"/>
              </a:rPr>
              <a:t>平均 </a:t>
            </a:r>
            <a:r>
              <a:rPr dirty="0" sz="1050" spc="-135">
                <a:solidFill>
                  <a:srgbClr val="FFFFFF"/>
                </a:solidFill>
                <a:latin typeface="Arial MT"/>
                <a:cs typeface="Arial MT"/>
              </a:rPr>
              <a:t>pAUC</a:t>
            </a:r>
            <a:r>
              <a:rPr dirty="0" sz="10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30" b="1">
                <a:solidFill>
                  <a:srgbClr val="FFFFFF"/>
                </a:solidFill>
                <a:latin typeface="Arial"/>
                <a:cs typeface="Arial"/>
              </a:rPr>
              <a:t>+1.61</a:t>
            </a:r>
            <a:r>
              <a:rPr dirty="0" sz="1000" spc="-50" b="1">
                <a:solidFill>
                  <a:srgbClr val="FFFFFF"/>
                </a:solidFill>
                <a:latin typeface="Arial"/>
                <a:cs typeface="Arial"/>
              </a:rPr>
              <a:t>% </a:t>
            </a:r>
            <a:r>
              <a:rPr dirty="0" sz="1000" spc="-85">
                <a:solidFill>
                  <a:srgbClr val="FFFFFF"/>
                </a:solidFill>
                <a:latin typeface="SimSun"/>
                <a:cs typeface="SimSun"/>
              </a:rPr>
              <a:t>の改善</a:t>
            </a:r>
            <a:endParaRPr sz="10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900">
              <a:latin typeface="SimSun"/>
              <a:cs typeface="SimSun"/>
            </a:endParaRPr>
          </a:p>
          <a:p>
            <a:pPr algn="r" marR="5080">
              <a:lnSpc>
                <a:spcPct val="100000"/>
              </a:lnSpc>
            </a:pPr>
            <a:r>
              <a:rPr dirty="0" sz="750" spc="-10" b="1">
                <a:solidFill>
                  <a:srgbClr val="FFFFFF"/>
                </a:solidFill>
                <a:latin typeface="Arial"/>
                <a:cs typeface="Arial"/>
              </a:rPr>
              <a:t>VISUAL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333374" y="2190750"/>
            <a:ext cx="9086850" cy="3933825"/>
            <a:chOff x="333374" y="2190750"/>
            <a:chExt cx="9086850" cy="3933825"/>
          </a:xfrm>
        </p:grpSpPr>
        <p:pic>
          <p:nvPicPr>
            <p:cNvPr id="33" name="object 3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34174" y="2190750"/>
              <a:ext cx="2514599" cy="1714499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3374" y="4533899"/>
              <a:ext cx="9086849" cy="1590674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654049" y="4558803"/>
            <a:ext cx="61785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5" b="1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dirty="0" sz="750" spc="-40" b="1">
                <a:solidFill>
                  <a:srgbClr val="FFFFFF"/>
                </a:solidFill>
                <a:latin typeface="Arial"/>
                <a:cs typeface="Arial"/>
              </a:rPr>
              <a:t> FINDINGS</a:t>
            </a:r>
            <a:endParaRPr sz="750">
              <a:latin typeface="Arial"/>
              <a:cs typeface="Arial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561752" y="5258297"/>
            <a:ext cx="705485" cy="57848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95"/>
              </a:spcBef>
            </a:pPr>
            <a:r>
              <a:rPr dirty="0" sz="1350" spc="-10" b="1">
                <a:solidFill>
                  <a:srgbClr val="155724"/>
                </a:solidFill>
                <a:latin typeface="Arial"/>
                <a:cs typeface="Arial"/>
              </a:rPr>
              <a:t>5/6</a:t>
            </a:r>
            <a:r>
              <a:rPr dirty="0" sz="1350" spc="-110" b="1">
                <a:solidFill>
                  <a:srgbClr val="155724"/>
                </a:solidFill>
                <a:latin typeface="Malgun Gothic"/>
                <a:cs typeface="Malgun Gothic"/>
              </a:rPr>
              <a:t>機械</a:t>
            </a:r>
            <a:endParaRPr sz="1350">
              <a:latin typeface="Malgun Gothic"/>
              <a:cs typeface="Malgun Gothic"/>
            </a:endParaRPr>
          </a:p>
          <a:p>
            <a:pPr algn="ctr" marL="12700" marR="5080">
              <a:lnSpc>
                <a:spcPts val="900"/>
              </a:lnSpc>
              <a:spcBef>
                <a:spcPts val="434"/>
              </a:spcBef>
            </a:pPr>
            <a:r>
              <a:rPr dirty="0" sz="850" spc="-100">
                <a:solidFill>
                  <a:srgbClr val="666666"/>
                </a:solidFill>
                <a:latin typeface="SimSun"/>
                <a:cs typeface="SimSun"/>
              </a:rPr>
              <a:t>最高性能達成</a:t>
            </a:r>
            <a:r>
              <a:rPr dirty="0" sz="850" spc="-50">
                <a:solidFill>
                  <a:srgbClr val="666666"/>
                </a:solidFill>
                <a:latin typeface="SimSun"/>
                <a:cs typeface="SimSun"/>
              </a:rPr>
              <a:t> </a:t>
            </a:r>
            <a:r>
              <a:rPr dirty="0" sz="900" spc="-85">
                <a:solidFill>
                  <a:srgbClr val="666666"/>
                </a:solidFill>
                <a:latin typeface="Microsoft Sans Serif"/>
                <a:cs typeface="Microsoft Sans Serif"/>
              </a:rPr>
              <a:t>(Valve</a:t>
            </a:r>
            <a:r>
              <a:rPr dirty="0" sz="850" spc="-165">
                <a:solidFill>
                  <a:srgbClr val="666666"/>
                </a:solidFill>
                <a:latin typeface="SimSun"/>
                <a:cs typeface="SimSun"/>
              </a:rPr>
              <a:t>除く 全て</a:t>
            </a:r>
            <a:r>
              <a:rPr dirty="0" sz="900" spc="-50">
                <a:solidFill>
                  <a:srgbClr val="666666"/>
                </a:solidFill>
                <a:latin typeface="Microsoft Sans Serif"/>
                <a:cs typeface="Microsoft Sans Serif"/>
              </a:rPr>
              <a:t>)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4533850" y="5274452"/>
            <a:ext cx="685800" cy="56197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465"/>
              </a:spcBef>
            </a:pPr>
            <a:r>
              <a:rPr dirty="0" sz="1350" spc="-10" b="1">
                <a:solidFill>
                  <a:srgbClr val="155724"/>
                </a:solidFill>
                <a:latin typeface="Arial"/>
                <a:cs typeface="Arial"/>
              </a:rPr>
              <a:t>+1.55%</a:t>
            </a:r>
            <a:endParaRPr sz="1350">
              <a:latin typeface="Arial"/>
              <a:cs typeface="Arial"/>
            </a:endParaRPr>
          </a:p>
          <a:p>
            <a:pPr marL="12700" marR="5080" indent="46990">
              <a:lnSpc>
                <a:spcPts val="900"/>
              </a:lnSpc>
              <a:spcBef>
                <a:spcPts val="434"/>
              </a:spcBef>
            </a:pPr>
            <a:r>
              <a:rPr dirty="0" sz="850" spc="-110">
                <a:solidFill>
                  <a:srgbClr val="666666"/>
                </a:solidFill>
                <a:latin typeface="SimSun"/>
                <a:cs typeface="SimSun"/>
              </a:rPr>
              <a:t>平均</a:t>
            </a:r>
            <a:r>
              <a:rPr dirty="0" sz="900" spc="-155">
                <a:solidFill>
                  <a:srgbClr val="666666"/>
                </a:solidFill>
                <a:latin typeface="Microsoft Sans Serif"/>
                <a:cs typeface="Microsoft Sans Serif"/>
              </a:rPr>
              <a:t>AUC</a:t>
            </a:r>
            <a:r>
              <a:rPr dirty="0" sz="850" spc="-80">
                <a:solidFill>
                  <a:srgbClr val="666666"/>
                </a:solidFill>
                <a:latin typeface="SimSun"/>
                <a:cs typeface="SimSun"/>
              </a:rPr>
              <a:t>向上</a:t>
            </a:r>
            <a:r>
              <a:rPr dirty="0" sz="850" spc="-50">
                <a:solidFill>
                  <a:srgbClr val="666666"/>
                </a:solidFill>
                <a:latin typeface="SimSun"/>
                <a:cs typeface="SimSun"/>
              </a:rPr>
              <a:t> </a:t>
            </a:r>
            <a:r>
              <a:rPr dirty="0" sz="900" spc="-100">
                <a:solidFill>
                  <a:srgbClr val="666666"/>
                </a:solidFill>
                <a:latin typeface="Microsoft Sans Serif"/>
                <a:cs typeface="Microsoft Sans Serif"/>
              </a:rPr>
              <a:t>STgram-</a:t>
            </a:r>
            <a:r>
              <a:rPr dirty="0" sz="900" spc="-135">
                <a:solidFill>
                  <a:srgbClr val="666666"/>
                </a:solidFill>
                <a:latin typeface="Microsoft Sans Serif"/>
                <a:cs typeface="Microsoft Sans Serif"/>
              </a:rPr>
              <a:t>MFN</a:t>
            </a:r>
            <a:r>
              <a:rPr dirty="0" sz="850" spc="-120">
                <a:solidFill>
                  <a:srgbClr val="666666"/>
                </a:solidFill>
                <a:latin typeface="SimSun"/>
                <a:cs typeface="SimSun"/>
              </a:rPr>
              <a:t>比</a:t>
            </a:r>
            <a:endParaRPr sz="850">
              <a:latin typeface="SimSun"/>
              <a:cs typeface="SimSu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7493000" y="5274452"/>
            <a:ext cx="692150" cy="56070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465"/>
              </a:spcBef>
            </a:pPr>
            <a:r>
              <a:rPr dirty="0" sz="1350" spc="-10" b="1">
                <a:solidFill>
                  <a:srgbClr val="155724"/>
                </a:solidFill>
                <a:latin typeface="Arial"/>
                <a:cs typeface="Arial"/>
              </a:rPr>
              <a:t>+1.61%</a:t>
            </a:r>
            <a:endParaRPr sz="1350">
              <a:latin typeface="Arial"/>
              <a:cs typeface="Arial"/>
            </a:endParaRPr>
          </a:p>
          <a:p>
            <a:pPr marL="12700" marR="5080" indent="20320">
              <a:lnSpc>
                <a:spcPts val="900"/>
              </a:lnSpc>
              <a:spcBef>
                <a:spcPts val="434"/>
              </a:spcBef>
            </a:pPr>
            <a:r>
              <a:rPr dirty="0" sz="850" spc="-110">
                <a:solidFill>
                  <a:srgbClr val="666666"/>
                </a:solidFill>
                <a:latin typeface="SimSun"/>
                <a:cs typeface="SimSun"/>
              </a:rPr>
              <a:t>平均</a:t>
            </a:r>
            <a:r>
              <a:rPr dirty="0" sz="900" spc="-125">
                <a:solidFill>
                  <a:srgbClr val="666666"/>
                </a:solidFill>
                <a:latin typeface="Microsoft Sans Serif"/>
                <a:cs typeface="Microsoft Sans Serif"/>
              </a:rPr>
              <a:t>pAUC</a:t>
            </a:r>
            <a:r>
              <a:rPr dirty="0" sz="850" spc="-80">
                <a:solidFill>
                  <a:srgbClr val="666666"/>
                </a:solidFill>
                <a:latin typeface="SimSun"/>
                <a:cs typeface="SimSun"/>
              </a:rPr>
              <a:t>向上</a:t>
            </a:r>
            <a:r>
              <a:rPr dirty="0" sz="850" spc="-114">
                <a:solidFill>
                  <a:srgbClr val="666666"/>
                </a:solidFill>
                <a:latin typeface="SimSun"/>
                <a:cs typeface="SimSun"/>
              </a:rPr>
              <a:t>実用性指標改善</a:t>
            </a:r>
            <a:endParaRPr sz="850">
              <a:latin typeface="SimSun"/>
              <a:cs typeface="SimSun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8267700" y="6800850"/>
            <a:ext cx="1295400" cy="323850"/>
            <a:chOff x="8267700" y="6800850"/>
            <a:chExt cx="1295400" cy="323850"/>
          </a:xfrm>
        </p:grpSpPr>
        <p:sp>
          <p:nvSpPr>
            <p:cNvPr id="40" name="object 40" descr=""/>
            <p:cNvSpPr/>
            <p:nvPr/>
          </p:nvSpPr>
          <p:spPr>
            <a:xfrm>
              <a:off x="8267700" y="6800850"/>
              <a:ext cx="1295400" cy="323850"/>
            </a:xfrm>
            <a:custGeom>
              <a:avLst/>
              <a:gdLst/>
              <a:ahLst/>
              <a:cxnLst/>
              <a:rect l="l" t="t" r="r" b="b"/>
              <a:pathLst>
                <a:path w="1295400" h="323850">
                  <a:moveTo>
                    <a:pt x="126235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262352" y="0"/>
                  </a:lnTo>
                  <a:lnTo>
                    <a:pt x="1294433" y="28187"/>
                  </a:lnTo>
                  <a:lnTo>
                    <a:pt x="1295399" y="33047"/>
                  </a:lnTo>
                  <a:lnTo>
                    <a:pt x="1295399" y="290802"/>
                  </a:lnTo>
                  <a:lnTo>
                    <a:pt x="1267212" y="322883"/>
                  </a:lnTo>
                  <a:lnTo>
                    <a:pt x="126235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82000" y="6896099"/>
              <a:ext cx="133349" cy="133349"/>
            </a:xfrm>
            <a:prstGeom prst="rect">
              <a:avLst/>
            </a:prstGeom>
          </p:spPr>
        </p:pic>
      </p:grpSp>
      <p:sp>
        <p:nvSpPr>
          <p:cNvPr id="42" name="object 4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-80"/>
              <a:t>Genspark</a:t>
            </a:r>
            <a:r>
              <a:rPr dirty="0" spc="-55"/>
              <a:t> </a:t>
            </a:r>
            <a:r>
              <a:rPr dirty="0" sz="1000" spc="-10">
                <a:latin typeface="MS PGothic"/>
                <a:cs typeface="MS PGothic"/>
              </a:rPr>
              <a:t>で</a:t>
            </a:r>
            <a:r>
              <a:rPr dirty="0" sz="1000" spc="-75">
                <a:latin typeface="SimSun"/>
                <a:cs typeface="SimSun"/>
              </a:rPr>
              <a:t>作成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43" name="object 4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90"/>
              </a:lnSpc>
            </a:pPr>
            <a:fld id="{81D60167-4931-47E6-BA6A-407CBD079E47}" type="slidenum">
              <a:rPr dirty="0" spc="-45"/>
              <a:t>10</a:t>
            </a:fld>
            <a:r>
              <a:rPr dirty="0" spc="-45"/>
              <a:t>/</a:t>
            </a:r>
            <a:r>
              <a:rPr dirty="0" spc="-45"/>
              <a:t>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3374" y="685799"/>
            <a:ext cx="9086850" cy="28575"/>
          </a:xfrm>
          <a:custGeom>
            <a:avLst/>
            <a:gdLst/>
            <a:ahLst/>
            <a:cxnLst/>
            <a:rect l="l" t="t" r="r" b="b"/>
            <a:pathLst>
              <a:path w="9086850" h="28575">
                <a:moveTo>
                  <a:pt x="9086849" y="28574"/>
                </a:moveTo>
                <a:lnTo>
                  <a:pt x="0" y="28574"/>
                </a:lnTo>
                <a:lnTo>
                  <a:pt x="0" y="0"/>
                </a:lnTo>
                <a:lnTo>
                  <a:pt x="9086849" y="0"/>
                </a:lnTo>
                <a:lnTo>
                  <a:pt x="9086849" y="28574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6049" y="314324"/>
            <a:ext cx="249149" cy="2491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232410">
              <a:lnSpc>
                <a:spcPct val="100000"/>
              </a:lnSpc>
              <a:spcBef>
                <a:spcPts val="110"/>
              </a:spcBef>
            </a:pPr>
            <a:r>
              <a:rPr dirty="0" spc="-270"/>
              <a:t>アテンションマップ分析 </a:t>
            </a:r>
            <a:r>
              <a:rPr dirty="0" sz="2350" spc="-175">
                <a:latin typeface="Arial"/>
                <a:cs typeface="Arial"/>
              </a:rPr>
              <a:t>(Figure</a:t>
            </a:r>
            <a:r>
              <a:rPr dirty="0" sz="2350" spc="-185">
                <a:latin typeface="Arial"/>
                <a:cs typeface="Arial"/>
              </a:rPr>
              <a:t> </a:t>
            </a:r>
            <a:r>
              <a:rPr dirty="0" sz="2350" spc="-25">
                <a:latin typeface="Arial"/>
                <a:cs typeface="Arial"/>
              </a:rPr>
              <a:t>2)</a:t>
            </a:r>
            <a:endParaRPr sz="235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33374" y="2009774"/>
            <a:ext cx="381000" cy="381000"/>
            <a:chOff x="333374" y="2009774"/>
            <a:chExt cx="381000" cy="381000"/>
          </a:xfrm>
        </p:grpSpPr>
        <p:sp>
          <p:nvSpPr>
            <p:cNvPr id="6" name="object 6" descr=""/>
            <p:cNvSpPr/>
            <p:nvPr/>
          </p:nvSpPr>
          <p:spPr>
            <a:xfrm>
              <a:off x="342899" y="2019299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0974" y="361949"/>
                  </a:moveTo>
                  <a:lnTo>
                    <a:pt x="136990" y="356524"/>
                  </a:lnTo>
                  <a:lnTo>
                    <a:pt x="95662" y="340582"/>
                  </a:lnTo>
                  <a:lnTo>
                    <a:pt x="59446" y="315076"/>
                  </a:lnTo>
                  <a:lnTo>
                    <a:pt x="30499" y="281518"/>
                  </a:lnTo>
                  <a:lnTo>
                    <a:pt x="10574" y="241933"/>
                  </a:lnTo>
                  <a:lnTo>
                    <a:pt x="869" y="198713"/>
                  </a:lnTo>
                  <a:lnTo>
                    <a:pt x="0" y="180974"/>
                  </a:lnTo>
                  <a:lnTo>
                    <a:pt x="217" y="172084"/>
                  </a:lnTo>
                  <a:lnTo>
                    <a:pt x="7790" y="128439"/>
                  </a:lnTo>
                  <a:lnTo>
                    <a:pt x="25740" y="87943"/>
                  </a:lnTo>
                  <a:lnTo>
                    <a:pt x="53006" y="53006"/>
                  </a:lnTo>
                  <a:lnTo>
                    <a:pt x="87943" y="25740"/>
                  </a:lnTo>
                  <a:lnTo>
                    <a:pt x="128440" y="7790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90"/>
                  </a:lnTo>
                  <a:lnTo>
                    <a:pt x="274005" y="25740"/>
                  </a:lnTo>
                  <a:lnTo>
                    <a:pt x="308943" y="53006"/>
                  </a:lnTo>
                  <a:lnTo>
                    <a:pt x="336208" y="87943"/>
                  </a:lnTo>
                  <a:lnTo>
                    <a:pt x="354159" y="128439"/>
                  </a:lnTo>
                  <a:lnTo>
                    <a:pt x="361732" y="172084"/>
                  </a:lnTo>
                  <a:lnTo>
                    <a:pt x="361949" y="180974"/>
                  </a:lnTo>
                  <a:lnTo>
                    <a:pt x="361732" y="189865"/>
                  </a:lnTo>
                  <a:lnTo>
                    <a:pt x="354159" y="233509"/>
                  </a:lnTo>
                  <a:lnTo>
                    <a:pt x="336208" y="274005"/>
                  </a:lnTo>
                  <a:lnTo>
                    <a:pt x="308943" y="308943"/>
                  </a:lnTo>
                  <a:lnTo>
                    <a:pt x="274005" y="336208"/>
                  </a:lnTo>
                  <a:lnTo>
                    <a:pt x="233509" y="354159"/>
                  </a:lnTo>
                  <a:lnTo>
                    <a:pt x="189865" y="361732"/>
                  </a:lnTo>
                  <a:lnTo>
                    <a:pt x="180974" y="36194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42899" y="2019299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61949" y="180974"/>
                  </a:moveTo>
                  <a:lnTo>
                    <a:pt x="356524" y="224958"/>
                  </a:lnTo>
                  <a:lnTo>
                    <a:pt x="340582" y="266286"/>
                  </a:lnTo>
                  <a:lnTo>
                    <a:pt x="315076" y="302502"/>
                  </a:lnTo>
                  <a:lnTo>
                    <a:pt x="281519" y="331449"/>
                  </a:lnTo>
                  <a:lnTo>
                    <a:pt x="241933" y="351375"/>
                  </a:lnTo>
                  <a:lnTo>
                    <a:pt x="198713" y="361080"/>
                  </a:lnTo>
                  <a:lnTo>
                    <a:pt x="180974" y="361949"/>
                  </a:lnTo>
                  <a:lnTo>
                    <a:pt x="172084" y="361732"/>
                  </a:lnTo>
                  <a:lnTo>
                    <a:pt x="128440" y="354158"/>
                  </a:lnTo>
                  <a:lnTo>
                    <a:pt x="87943" y="336208"/>
                  </a:lnTo>
                  <a:lnTo>
                    <a:pt x="53006" y="308943"/>
                  </a:lnTo>
                  <a:lnTo>
                    <a:pt x="25740" y="274005"/>
                  </a:lnTo>
                  <a:lnTo>
                    <a:pt x="7790" y="233509"/>
                  </a:lnTo>
                  <a:lnTo>
                    <a:pt x="217" y="189865"/>
                  </a:lnTo>
                  <a:lnTo>
                    <a:pt x="0" y="180974"/>
                  </a:lnTo>
                  <a:lnTo>
                    <a:pt x="217" y="172084"/>
                  </a:lnTo>
                  <a:lnTo>
                    <a:pt x="7790" y="128439"/>
                  </a:lnTo>
                  <a:lnTo>
                    <a:pt x="25740" y="87943"/>
                  </a:lnTo>
                  <a:lnTo>
                    <a:pt x="53006" y="53006"/>
                  </a:lnTo>
                  <a:lnTo>
                    <a:pt x="87943" y="25740"/>
                  </a:lnTo>
                  <a:lnTo>
                    <a:pt x="128440" y="7790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90"/>
                  </a:lnTo>
                  <a:lnTo>
                    <a:pt x="274005" y="25740"/>
                  </a:lnTo>
                  <a:lnTo>
                    <a:pt x="308943" y="53006"/>
                  </a:lnTo>
                  <a:lnTo>
                    <a:pt x="336208" y="87943"/>
                  </a:lnTo>
                  <a:lnTo>
                    <a:pt x="354159" y="128439"/>
                  </a:lnTo>
                  <a:lnTo>
                    <a:pt x="361732" y="172084"/>
                  </a:lnTo>
                  <a:lnTo>
                    <a:pt x="361949" y="180974"/>
                  </a:lnTo>
                  <a:close/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66080" y="2076308"/>
            <a:ext cx="1155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85" b="1">
                <a:solidFill>
                  <a:srgbClr val="3A6EA5"/>
                </a:solidFill>
                <a:latin typeface="Tahoma"/>
                <a:cs typeface="Tahoma"/>
              </a:rPr>
              <a:t>a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33374" y="2581274"/>
            <a:ext cx="381000" cy="381000"/>
            <a:chOff x="333374" y="2581274"/>
            <a:chExt cx="381000" cy="381000"/>
          </a:xfrm>
        </p:grpSpPr>
        <p:sp>
          <p:nvSpPr>
            <p:cNvPr id="10" name="object 10" descr=""/>
            <p:cNvSpPr/>
            <p:nvPr/>
          </p:nvSpPr>
          <p:spPr>
            <a:xfrm>
              <a:off x="342899" y="2590799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0974" y="361949"/>
                  </a:moveTo>
                  <a:lnTo>
                    <a:pt x="136990" y="356524"/>
                  </a:lnTo>
                  <a:lnTo>
                    <a:pt x="95662" y="340582"/>
                  </a:lnTo>
                  <a:lnTo>
                    <a:pt x="59446" y="315076"/>
                  </a:lnTo>
                  <a:lnTo>
                    <a:pt x="30499" y="281518"/>
                  </a:lnTo>
                  <a:lnTo>
                    <a:pt x="10574" y="241933"/>
                  </a:lnTo>
                  <a:lnTo>
                    <a:pt x="869" y="198713"/>
                  </a:lnTo>
                  <a:lnTo>
                    <a:pt x="0" y="180974"/>
                  </a:lnTo>
                  <a:lnTo>
                    <a:pt x="217" y="172084"/>
                  </a:lnTo>
                  <a:lnTo>
                    <a:pt x="7790" y="128439"/>
                  </a:lnTo>
                  <a:lnTo>
                    <a:pt x="25740" y="87943"/>
                  </a:lnTo>
                  <a:lnTo>
                    <a:pt x="53006" y="53006"/>
                  </a:lnTo>
                  <a:lnTo>
                    <a:pt x="87943" y="25740"/>
                  </a:lnTo>
                  <a:lnTo>
                    <a:pt x="128440" y="7790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90"/>
                  </a:lnTo>
                  <a:lnTo>
                    <a:pt x="274005" y="25740"/>
                  </a:lnTo>
                  <a:lnTo>
                    <a:pt x="308943" y="53006"/>
                  </a:lnTo>
                  <a:lnTo>
                    <a:pt x="336208" y="87943"/>
                  </a:lnTo>
                  <a:lnTo>
                    <a:pt x="354159" y="128439"/>
                  </a:lnTo>
                  <a:lnTo>
                    <a:pt x="361732" y="172084"/>
                  </a:lnTo>
                  <a:lnTo>
                    <a:pt x="361949" y="180974"/>
                  </a:lnTo>
                  <a:lnTo>
                    <a:pt x="361732" y="189865"/>
                  </a:lnTo>
                  <a:lnTo>
                    <a:pt x="354159" y="233509"/>
                  </a:lnTo>
                  <a:lnTo>
                    <a:pt x="336208" y="274005"/>
                  </a:lnTo>
                  <a:lnTo>
                    <a:pt x="308943" y="308943"/>
                  </a:lnTo>
                  <a:lnTo>
                    <a:pt x="274005" y="336208"/>
                  </a:lnTo>
                  <a:lnTo>
                    <a:pt x="233509" y="354159"/>
                  </a:lnTo>
                  <a:lnTo>
                    <a:pt x="189865" y="361732"/>
                  </a:lnTo>
                  <a:lnTo>
                    <a:pt x="180974" y="36194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42899" y="2590799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61949" y="180974"/>
                  </a:moveTo>
                  <a:lnTo>
                    <a:pt x="356524" y="224958"/>
                  </a:lnTo>
                  <a:lnTo>
                    <a:pt x="340582" y="266286"/>
                  </a:lnTo>
                  <a:lnTo>
                    <a:pt x="315076" y="302503"/>
                  </a:lnTo>
                  <a:lnTo>
                    <a:pt x="281519" y="331450"/>
                  </a:lnTo>
                  <a:lnTo>
                    <a:pt x="241933" y="351375"/>
                  </a:lnTo>
                  <a:lnTo>
                    <a:pt x="198713" y="361080"/>
                  </a:lnTo>
                  <a:lnTo>
                    <a:pt x="180974" y="361949"/>
                  </a:lnTo>
                  <a:lnTo>
                    <a:pt x="172084" y="361732"/>
                  </a:lnTo>
                  <a:lnTo>
                    <a:pt x="128440" y="354159"/>
                  </a:lnTo>
                  <a:lnTo>
                    <a:pt x="87943" y="336208"/>
                  </a:lnTo>
                  <a:lnTo>
                    <a:pt x="53006" y="308943"/>
                  </a:lnTo>
                  <a:lnTo>
                    <a:pt x="25740" y="274005"/>
                  </a:lnTo>
                  <a:lnTo>
                    <a:pt x="7790" y="233509"/>
                  </a:lnTo>
                  <a:lnTo>
                    <a:pt x="217" y="189865"/>
                  </a:lnTo>
                  <a:lnTo>
                    <a:pt x="0" y="180974"/>
                  </a:lnTo>
                  <a:lnTo>
                    <a:pt x="217" y="172084"/>
                  </a:lnTo>
                  <a:lnTo>
                    <a:pt x="7790" y="128439"/>
                  </a:lnTo>
                  <a:lnTo>
                    <a:pt x="25740" y="87943"/>
                  </a:lnTo>
                  <a:lnTo>
                    <a:pt x="53006" y="53006"/>
                  </a:lnTo>
                  <a:lnTo>
                    <a:pt x="87943" y="25740"/>
                  </a:lnTo>
                  <a:lnTo>
                    <a:pt x="128440" y="7790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90"/>
                  </a:lnTo>
                  <a:lnTo>
                    <a:pt x="274005" y="25740"/>
                  </a:lnTo>
                  <a:lnTo>
                    <a:pt x="308943" y="53006"/>
                  </a:lnTo>
                  <a:lnTo>
                    <a:pt x="336208" y="87943"/>
                  </a:lnTo>
                  <a:lnTo>
                    <a:pt x="354159" y="128439"/>
                  </a:lnTo>
                  <a:lnTo>
                    <a:pt x="361732" y="172084"/>
                  </a:lnTo>
                  <a:lnTo>
                    <a:pt x="361949" y="180974"/>
                  </a:lnTo>
                  <a:close/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62061" y="2647808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70" b="1">
                <a:solidFill>
                  <a:srgbClr val="3A6EA5"/>
                </a:solidFill>
                <a:latin typeface="Tahoma"/>
                <a:cs typeface="Tahoma"/>
              </a:rPr>
              <a:t>b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33374" y="3152774"/>
            <a:ext cx="381000" cy="381000"/>
            <a:chOff x="333374" y="3152774"/>
            <a:chExt cx="381000" cy="381000"/>
          </a:xfrm>
        </p:grpSpPr>
        <p:sp>
          <p:nvSpPr>
            <p:cNvPr id="14" name="object 14" descr=""/>
            <p:cNvSpPr/>
            <p:nvPr/>
          </p:nvSpPr>
          <p:spPr>
            <a:xfrm>
              <a:off x="342899" y="3162299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0974" y="361949"/>
                  </a:moveTo>
                  <a:lnTo>
                    <a:pt x="136990" y="356524"/>
                  </a:lnTo>
                  <a:lnTo>
                    <a:pt x="95662" y="340582"/>
                  </a:lnTo>
                  <a:lnTo>
                    <a:pt x="59446" y="315076"/>
                  </a:lnTo>
                  <a:lnTo>
                    <a:pt x="30499" y="281518"/>
                  </a:lnTo>
                  <a:lnTo>
                    <a:pt x="10574" y="241933"/>
                  </a:lnTo>
                  <a:lnTo>
                    <a:pt x="869" y="198713"/>
                  </a:lnTo>
                  <a:lnTo>
                    <a:pt x="0" y="180974"/>
                  </a:lnTo>
                  <a:lnTo>
                    <a:pt x="217" y="172084"/>
                  </a:lnTo>
                  <a:lnTo>
                    <a:pt x="7790" y="128440"/>
                  </a:lnTo>
                  <a:lnTo>
                    <a:pt x="25740" y="87943"/>
                  </a:lnTo>
                  <a:lnTo>
                    <a:pt x="53006" y="53006"/>
                  </a:lnTo>
                  <a:lnTo>
                    <a:pt x="87943" y="25740"/>
                  </a:lnTo>
                  <a:lnTo>
                    <a:pt x="128440" y="7790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90"/>
                  </a:lnTo>
                  <a:lnTo>
                    <a:pt x="274005" y="25740"/>
                  </a:lnTo>
                  <a:lnTo>
                    <a:pt x="308943" y="53006"/>
                  </a:lnTo>
                  <a:lnTo>
                    <a:pt x="336208" y="87943"/>
                  </a:lnTo>
                  <a:lnTo>
                    <a:pt x="354159" y="128439"/>
                  </a:lnTo>
                  <a:lnTo>
                    <a:pt x="361732" y="172084"/>
                  </a:lnTo>
                  <a:lnTo>
                    <a:pt x="361949" y="180974"/>
                  </a:lnTo>
                  <a:lnTo>
                    <a:pt x="361732" y="189865"/>
                  </a:lnTo>
                  <a:lnTo>
                    <a:pt x="354159" y="233509"/>
                  </a:lnTo>
                  <a:lnTo>
                    <a:pt x="336208" y="274005"/>
                  </a:lnTo>
                  <a:lnTo>
                    <a:pt x="308943" y="308943"/>
                  </a:lnTo>
                  <a:lnTo>
                    <a:pt x="274005" y="336208"/>
                  </a:lnTo>
                  <a:lnTo>
                    <a:pt x="233509" y="354158"/>
                  </a:lnTo>
                  <a:lnTo>
                    <a:pt x="189865" y="361732"/>
                  </a:lnTo>
                  <a:lnTo>
                    <a:pt x="180974" y="36194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42899" y="3162299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61949" y="180974"/>
                  </a:moveTo>
                  <a:lnTo>
                    <a:pt x="356524" y="224958"/>
                  </a:lnTo>
                  <a:lnTo>
                    <a:pt x="340582" y="266286"/>
                  </a:lnTo>
                  <a:lnTo>
                    <a:pt x="315076" y="302502"/>
                  </a:lnTo>
                  <a:lnTo>
                    <a:pt x="281519" y="331449"/>
                  </a:lnTo>
                  <a:lnTo>
                    <a:pt x="241933" y="351375"/>
                  </a:lnTo>
                  <a:lnTo>
                    <a:pt x="198713" y="361080"/>
                  </a:lnTo>
                  <a:lnTo>
                    <a:pt x="180974" y="361949"/>
                  </a:lnTo>
                  <a:lnTo>
                    <a:pt x="172084" y="361732"/>
                  </a:lnTo>
                  <a:lnTo>
                    <a:pt x="128440" y="354159"/>
                  </a:lnTo>
                  <a:lnTo>
                    <a:pt x="87943" y="336208"/>
                  </a:lnTo>
                  <a:lnTo>
                    <a:pt x="53006" y="308943"/>
                  </a:lnTo>
                  <a:lnTo>
                    <a:pt x="25740" y="274005"/>
                  </a:lnTo>
                  <a:lnTo>
                    <a:pt x="7790" y="233509"/>
                  </a:lnTo>
                  <a:lnTo>
                    <a:pt x="217" y="189865"/>
                  </a:lnTo>
                  <a:lnTo>
                    <a:pt x="0" y="180974"/>
                  </a:lnTo>
                  <a:lnTo>
                    <a:pt x="217" y="172084"/>
                  </a:lnTo>
                  <a:lnTo>
                    <a:pt x="7790" y="128440"/>
                  </a:lnTo>
                  <a:lnTo>
                    <a:pt x="25740" y="87943"/>
                  </a:lnTo>
                  <a:lnTo>
                    <a:pt x="53006" y="53006"/>
                  </a:lnTo>
                  <a:lnTo>
                    <a:pt x="87943" y="25740"/>
                  </a:lnTo>
                  <a:lnTo>
                    <a:pt x="128440" y="7790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90"/>
                  </a:lnTo>
                  <a:lnTo>
                    <a:pt x="274005" y="25740"/>
                  </a:lnTo>
                  <a:lnTo>
                    <a:pt x="308943" y="53006"/>
                  </a:lnTo>
                  <a:lnTo>
                    <a:pt x="336208" y="87943"/>
                  </a:lnTo>
                  <a:lnTo>
                    <a:pt x="354159" y="128439"/>
                  </a:lnTo>
                  <a:lnTo>
                    <a:pt x="361732" y="172084"/>
                  </a:lnTo>
                  <a:lnTo>
                    <a:pt x="361949" y="180974"/>
                  </a:lnTo>
                  <a:close/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470991" y="3219308"/>
            <a:ext cx="1060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60" b="1">
                <a:solidFill>
                  <a:srgbClr val="3A6EA5"/>
                </a:solidFill>
                <a:latin typeface="Tahoma"/>
                <a:cs typeface="Tahoma"/>
              </a:rPr>
              <a:t>c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904874" y="1743074"/>
            <a:ext cx="2047875" cy="571500"/>
            <a:chOff x="904874" y="1743074"/>
            <a:chExt cx="2047875" cy="571500"/>
          </a:xfrm>
        </p:grpSpPr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3924" y="1762124"/>
              <a:ext cx="2009774" cy="533399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914399" y="1752599"/>
              <a:ext cx="2028825" cy="552450"/>
            </a:xfrm>
            <a:custGeom>
              <a:avLst/>
              <a:gdLst/>
              <a:ahLst/>
              <a:cxnLst/>
              <a:rect l="l" t="t" r="r" b="b"/>
              <a:pathLst>
                <a:path w="2028825" h="552450">
                  <a:moveTo>
                    <a:pt x="0" y="4857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1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4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2" y="11236"/>
                  </a:lnTo>
                  <a:lnTo>
                    <a:pt x="33272" y="8804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962149" y="0"/>
                  </a:lnTo>
                  <a:lnTo>
                    <a:pt x="1966527" y="0"/>
                  </a:lnTo>
                  <a:lnTo>
                    <a:pt x="1970863" y="427"/>
                  </a:lnTo>
                  <a:lnTo>
                    <a:pt x="2006200" y="16432"/>
                  </a:lnTo>
                  <a:lnTo>
                    <a:pt x="2023749" y="41159"/>
                  </a:lnTo>
                  <a:lnTo>
                    <a:pt x="2025424" y="45204"/>
                  </a:lnTo>
                  <a:lnTo>
                    <a:pt x="2026689" y="49373"/>
                  </a:lnTo>
                  <a:lnTo>
                    <a:pt x="2027543" y="53667"/>
                  </a:lnTo>
                  <a:lnTo>
                    <a:pt x="2028397" y="57961"/>
                  </a:lnTo>
                  <a:lnTo>
                    <a:pt x="2028824" y="62297"/>
                  </a:lnTo>
                  <a:lnTo>
                    <a:pt x="2028824" y="66674"/>
                  </a:lnTo>
                  <a:lnTo>
                    <a:pt x="2028824" y="485774"/>
                  </a:lnTo>
                  <a:lnTo>
                    <a:pt x="2028824" y="490152"/>
                  </a:lnTo>
                  <a:lnTo>
                    <a:pt x="2028397" y="494488"/>
                  </a:lnTo>
                  <a:lnTo>
                    <a:pt x="2027543" y="498782"/>
                  </a:lnTo>
                  <a:lnTo>
                    <a:pt x="2026689" y="503076"/>
                  </a:lnTo>
                  <a:lnTo>
                    <a:pt x="2025424" y="507245"/>
                  </a:lnTo>
                  <a:lnTo>
                    <a:pt x="2023749" y="511289"/>
                  </a:lnTo>
                  <a:lnTo>
                    <a:pt x="2022073" y="515334"/>
                  </a:lnTo>
                  <a:lnTo>
                    <a:pt x="1995552" y="543645"/>
                  </a:lnTo>
                  <a:lnTo>
                    <a:pt x="1975157" y="551168"/>
                  </a:lnTo>
                  <a:lnTo>
                    <a:pt x="1970863" y="552022"/>
                  </a:lnTo>
                  <a:lnTo>
                    <a:pt x="1966527" y="552449"/>
                  </a:lnTo>
                  <a:lnTo>
                    <a:pt x="1962149" y="552449"/>
                  </a:lnTo>
                  <a:lnTo>
                    <a:pt x="66675" y="552449"/>
                  </a:lnTo>
                  <a:lnTo>
                    <a:pt x="62297" y="552449"/>
                  </a:lnTo>
                  <a:lnTo>
                    <a:pt x="57961" y="552022"/>
                  </a:lnTo>
                  <a:lnTo>
                    <a:pt x="53667" y="551168"/>
                  </a:lnTo>
                  <a:lnTo>
                    <a:pt x="49373" y="550314"/>
                  </a:lnTo>
                  <a:lnTo>
                    <a:pt x="16432" y="529825"/>
                  </a:lnTo>
                  <a:lnTo>
                    <a:pt x="427" y="494488"/>
                  </a:lnTo>
                  <a:lnTo>
                    <a:pt x="0" y="490152"/>
                  </a:lnTo>
                  <a:lnTo>
                    <a:pt x="0" y="485774"/>
                  </a:lnTo>
                  <a:close/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695449" y="1866899"/>
              <a:ext cx="457200" cy="152400"/>
            </a:xfrm>
            <a:custGeom>
              <a:avLst/>
              <a:gdLst/>
              <a:ahLst/>
              <a:cxnLst/>
              <a:rect l="l" t="t" r="r" b="b"/>
              <a:pathLst>
                <a:path w="457200" h="152400">
                  <a:moveTo>
                    <a:pt x="424152" y="152399"/>
                  </a:moveTo>
                  <a:lnTo>
                    <a:pt x="33047" y="152399"/>
                  </a:lnTo>
                  <a:lnTo>
                    <a:pt x="28187" y="151432"/>
                  </a:lnTo>
                  <a:lnTo>
                    <a:pt x="966" y="124212"/>
                  </a:lnTo>
                  <a:lnTo>
                    <a:pt x="0" y="119352"/>
                  </a:lnTo>
                  <a:lnTo>
                    <a:pt x="0" y="1142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424152" y="0"/>
                  </a:lnTo>
                  <a:lnTo>
                    <a:pt x="456233" y="28187"/>
                  </a:lnTo>
                  <a:lnTo>
                    <a:pt x="457199" y="33047"/>
                  </a:lnTo>
                  <a:lnTo>
                    <a:pt x="457199" y="119352"/>
                  </a:lnTo>
                  <a:lnTo>
                    <a:pt x="429012" y="151432"/>
                  </a:lnTo>
                  <a:lnTo>
                    <a:pt x="424152" y="152399"/>
                  </a:lnTo>
                  <a:close/>
                </a:path>
              </a:pathLst>
            </a:custGeom>
            <a:solidFill>
              <a:srgbClr val="3A6E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1744216" y="1873867"/>
            <a:ext cx="364490" cy="1276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40" b="1">
                <a:solidFill>
                  <a:srgbClr val="FFFFFF"/>
                </a:solidFill>
                <a:latin typeface="Arial"/>
                <a:cs typeface="Arial"/>
              </a:rPr>
              <a:t>Fan</a:t>
            </a:r>
            <a:r>
              <a:rPr dirty="0" sz="6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50" spc="-20" b="1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dirty="0" sz="6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50" spc="-25" b="1">
                <a:solidFill>
                  <a:srgbClr val="FFFFFF"/>
                </a:solidFill>
                <a:latin typeface="Arial"/>
                <a:cs typeface="Arial"/>
              </a:rPr>
              <a:t>00</a:t>
            </a:r>
            <a:endParaRPr sz="650">
              <a:latin typeface="Arial"/>
              <a:cs typeface="Arial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752599" y="2038349"/>
            <a:ext cx="342900" cy="152400"/>
          </a:xfrm>
          <a:custGeom>
            <a:avLst/>
            <a:gdLst/>
            <a:ahLst/>
            <a:cxnLst/>
            <a:rect l="l" t="t" r="r" b="b"/>
            <a:pathLst>
              <a:path w="342900" h="152400">
                <a:moveTo>
                  <a:pt x="309852" y="152399"/>
                </a:moveTo>
                <a:lnTo>
                  <a:pt x="33047" y="152399"/>
                </a:lnTo>
                <a:lnTo>
                  <a:pt x="28187" y="151433"/>
                </a:lnTo>
                <a:lnTo>
                  <a:pt x="966" y="124212"/>
                </a:lnTo>
                <a:lnTo>
                  <a:pt x="0" y="119352"/>
                </a:lnTo>
                <a:lnTo>
                  <a:pt x="0" y="1142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09852" y="0"/>
                </a:lnTo>
                <a:lnTo>
                  <a:pt x="341933" y="28187"/>
                </a:lnTo>
                <a:lnTo>
                  <a:pt x="342899" y="33047"/>
                </a:lnTo>
                <a:lnTo>
                  <a:pt x="342899" y="119352"/>
                </a:lnTo>
                <a:lnTo>
                  <a:pt x="314712" y="151433"/>
                </a:lnTo>
                <a:lnTo>
                  <a:pt x="309852" y="152399"/>
                </a:lnTo>
                <a:close/>
              </a:path>
            </a:pathLst>
          </a:custGeom>
          <a:solidFill>
            <a:srgbClr val="28A6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1799431" y="2044319"/>
            <a:ext cx="254000" cy="128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-60" b="1">
                <a:solidFill>
                  <a:srgbClr val="FFFFFF"/>
                </a:solidFill>
                <a:latin typeface="Malgun Gothic"/>
                <a:cs typeface="Malgun Gothic"/>
              </a:rPr>
              <a:t>正常音</a:t>
            </a:r>
            <a:endParaRPr sz="650">
              <a:latin typeface="Malgun Gothic"/>
              <a:cs typeface="Malgun Gothic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904874" y="2486024"/>
            <a:ext cx="2047875" cy="571500"/>
            <a:chOff x="904874" y="2486024"/>
            <a:chExt cx="2047875" cy="571500"/>
          </a:xfrm>
        </p:grpSpPr>
        <p:pic>
          <p:nvPicPr>
            <p:cNvPr id="25" name="object 2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3924" y="2505074"/>
              <a:ext cx="2009774" cy="533399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914399" y="2495549"/>
              <a:ext cx="2028825" cy="552450"/>
            </a:xfrm>
            <a:custGeom>
              <a:avLst/>
              <a:gdLst/>
              <a:ahLst/>
              <a:cxnLst/>
              <a:rect l="l" t="t" r="r" b="b"/>
              <a:pathLst>
                <a:path w="2028825" h="552450">
                  <a:moveTo>
                    <a:pt x="0" y="4857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0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6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962149" y="0"/>
                  </a:lnTo>
                  <a:lnTo>
                    <a:pt x="1966527" y="0"/>
                  </a:lnTo>
                  <a:lnTo>
                    <a:pt x="1970863" y="427"/>
                  </a:lnTo>
                  <a:lnTo>
                    <a:pt x="2006200" y="16432"/>
                  </a:lnTo>
                  <a:lnTo>
                    <a:pt x="2023749" y="41159"/>
                  </a:lnTo>
                  <a:lnTo>
                    <a:pt x="2025424" y="45203"/>
                  </a:lnTo>
                  <a:lnTo>
                    <a:pt x="2026689" y="49373"/>
                  </a:lnTo>
                  <a:lnTo>
                    <a:pt x="2027543" y="53667"/>
                  </a:lnTo>
                  <a:lnTo>
                    <a:pt x="2028397" y="57960"/>
                  </a:lnTo>
                  <a:lnTo>
                    <a:pt x="2028824" y="62297"/>
                  </a:lnTo>
                  <a:lnTo>
                    <a:pt x="2028824" y="66674"/>
                  </a:lnTo>
                  <a:lnTo>
                    <a:pt x="2028824" y="485774"/>
                  </a:lnTo>
                  <a:lnTo>
                    <a:pt x="2028824" y="490152"/>
                  </a:lnTo>
                  <a:lnTo>
                    <a:pt x="2028397" y="494488"/>
                  </a:lnTo>
                  <a:lnTo>
                    <a:pt x="2027543" y="498782"/>
                  </a:lnTo>
                  <a:lnTo>
                    <a:pt x="2026689" y="503075"/>
                  </a:lnTo>
                  <a:lnTo>
                    <a:pt x="2006200" y="536016"/>
                  </a:lnTo>
                  <a:lnTo>
                    <a:pt x="1970863" y="552022"/>
                  </a:lnTo>
                  <a:lnTo>
                    <a:pt x="1962149" y="552449"/>
                  </a:lnTo>
                  <a:lnTo>
                    <a:pt x="66675" y="552449"/>
                  </a:lnTo>
                  <a:lnTo>
                    <a:pt x="41159" y="547374"/>
                  </a:lnTo>
                  <a:lnTo>
                    <a:pt x="37114" y="545698"/>
                  </a:lnTo>
                  <a:lnTo>
                    <a:pt x="8804" y="519176"/>
                  </a:lnTo>
                  <a:lnTo>
                    <a:pt x="1281" y="498782"/>
                  </a:lnTo>
                  <a:lnTo>
                    <a:pt x="427" y="494488"/>
                  </a:lnTo>
                  <a:lnTo>
                    <a:pt x="0" y="490152"/>
                  </a:lnTo>
                  <a:lnTo>
                    <a:pt x="0" y="485774"/>
                  </a:lnTo>
                  <a:close/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695449" y="2609849"/>
              <a:ext cx="457200" cy="152400"/>
            </a:xfrm>
            <a:custGeom>
              <a:avLst/>
              <a:gdLst/>
              <a:ahLst/>
              <a:cxnLst/>
              <a:rect l="l" t="t" r="r" b="b"/>
              <a:pathLst>
                <a:path w="457200" h="152400">
                  <a:moveTo>
                    <a:pt x="424152" y="152399"/>
                  </a:moveTo>
                  <a:lnTo>
                    <a:pt x="33047" y="152399"/>
                  </a:lnTo>
                  <a:lnTo>
                    <a:pt x="28187" y="151432"/>
                  </a:lnTo>
                  <a:lnTo>
                    <a:pt x="966" y="124212"/>
                  </a:lnTo>
                  <a:lnTo>
                    <a:pt x="0" y="119352"/>
                  </a:lnTo>
                  <a:lnTo>
                    <a:pt x="0" y="1142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424152" y="0"/>
                  </a:lnTo>
                  <a:lnTo>
                    <a:pt x="456233" y="28187"/>
                  </a:lnTo>
                  <a:lnTo>
                    <a:pt x="457199" y="33047"/>
                  </a:lnTo>
                  <a:lnTo>
                    <a:pt x="457199" y="119352"/>
                  </a:lnTo>
                  <a:lnTo>
                    <a:pt x="429012" y="151432"/>
                  </a:lnTo>
                  <a:lnTo>
                    <a:pt x="424152" y="152399"/>
                  </a:lnTo>
                  <a:close/>
                </a:path>
              </a:pathLst>
            </a:custGeom>
            <a:solidFill>
              <a:srgbClr val="3A6E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1744216" y="2616817"/>
            <a:ext cx="364490" cy="1276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40" b="1">
                <a:solidFill>
                  <a:srgbClr val="FFFFFF"/>
                </a:solidFill>
                <a:latin typeface="Arial"/>
                <a:cs typeface="Arial"/>
              </a:rPr>
              <a:t>Fan</a:t>
            </a:r>
            <a:r>
              <a:rPr dirty="0" sz="6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50" spc="-20" b="1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dirty="0" sz="6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50" spc="-25" b="1">
                <a:solidFill>
                  <a:srgbClr val="FFFFFF"/>
                </a:solidFill>
                <a:latin typeface="Arial"/>
                <a:cs typeface="Arial"/>
              </a:rPr>
              <a:t>00</a:t>
            </a:r>
            <a:endParaRPr sz="650">
              <a:latin typeface="Arial"/>
              <a:cs typeface="Arial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1752599" y="2781299"/>
            <a:ext cx="342900" cy="152400"/>
          </a:xfrm>
          <a:custGeom>
            <a:avLst/>
            <a:gdLst/>
            <a:ahLst/>
            <a:cxnLst/>
            <a:rect l="l" t="t" r="r" b="b"/>
            <a:pathLst>
              <a:path w="342900" h="152400">
                <a:moveTo>
                  <a:pt x="309852" y="152399"/>
                </a:moveTo>
                <a:lnTo>
                  <a:pt x="33047" y="152399"/>
                </a:lnTo>
                <a:lnTo>
                  <a:pt x="28187" y="151432"/>
                </a:lnTo>
                <a:lnTo>
                  <a:pt x="966" y="124212"/>
                </a:lnTo>
                <a:lnTo>
                  <a:pt x="0" y="119352"/>
                </a:lnTo>
                <a:lnTo>
                  <a:pt x="0" y="1142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09852" y="0"/>
                </a:lnTo>
                <a:lnTo>
                  <a:pt x="341933" y="28187"/>
                </a:lnTo>
                <a:lnTo>
                  <a:pt x="342899" y="33047"/>
                </a:lnTo>
                <a:lnTo>
                  <a:pt x="342899" y="119352"/>
                </a:lnTo>
                <a:lnTo>
                  <a:pt x="314712" y="151432"/>
                </a:lnTo>
                <a:lnTo>
                  <a:pt x="309852" y="152399"/>
                </a:lnTo>
                <a:close/>
              </a:path>
            </a:pathLst>
          </a:custGeom>
          <a:solidFill>
            <a:srgbClr val="DB34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1799431" y="2787269"/>
            <a:ext cx="254000" cy="128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-60" b="1">
                <a:solidFill>
                  <a:srgbClr val="FFFFFF"/>
                </a:solidFill>
                <a:latin typeface="Malgun Gothic"/>
                <a:cs typeface="Malgun Gothic"/>
              </a:rPr>
              <a:t>異常音</a:t>
            </a:r>
            <a:endParaRPr sz="650">
              <a:latin typeface="Malgun Gothic"/>
              <a:cs typeface="Malgun Gothic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904874" y="3228974"/>
            <a:ext cx="2047875" cy="571500"/>
            <a:chOff x="904874" y="3228974"/>
            <a:chExt cx="2047875" cy="571500"/>
          </a:xfrm>
        </p:grpSpPr>
        <p:pic>
          <p:nvPicPr>
            <p:cNvPr id="32" name="object 3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3924" y="3248024"/>
              <a:ext cx="2009774" cy="533399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914399" y="3238499"/>
              <a:ext cx="2028825" cy="552450"/>
            </a:xfrm>
            <a:custGeom>
              <a:avLst/>
              <a:gdLst/>
              <a:ahLst/>
              <a:cxnLst/>
              <a:rect l="l" t="t" r="r" b="b"/>
              <a:pathLst>
                <a:path w="2028825" h="552450">
                  <a:moveTo>
                    <a:pt x="0" y="4857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6"/>
                  </a:lnTo>
                  <a:lnTo>
                    <a:pt x="2135" y="49372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6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2" y="11236"/>
                  </a:lnTo>
                  <a:lnTo>
                    <a:pt x="33272" y="8804"/>
                  </a:lnTo>
                  <a:lnTo>
                    <a:pt x="66675" y="0"/>
                  </a:lnTo>
                  <a:lnTo>
                    <a:pt x="1962149" y="0"/>
                  </a:lnTo>
                  <a:lnTo>
                    <a:pt x="1999192" y="11236"/>
                  </a:lnTo>
                  <a:lnTo>
                    <a:pt x="2023749" y="41159"/>
                  </a:lnTo>
                  <a:lnTo>
                    <a:pt x="2025424" y="45203"/>
                  </a:lnTo>
                  <a:lnTo>
                    <a:pt x="2026689" y="49372"/>
                  </a:lnTo>
                  <a:lnTo>
                    <a:pt x="2027543" y="53667"/>
                  </a:lnTo>
                  <a:lnTo>
                    <a:pt x="2028397" y="57960"/>
                  </a:lnTo>
                  <a:lnTo>
                    <a:pt x="2028824" y="62296"/>
                  </a:lnTo>
                  <a:lnTo>
                    <a:pt x="2028824" y="66674"/>
                  </a:lnTo>
                  <a:lnTo>
                    <a:pt x="2028824" y="485774"/>
                  </a:lnTo>
                  <a:lnTo>
                    <a:pt x="2028824" y="490152"/>
                  </a:lnTo>
                  <a:lnTo>
                    <a:pt x="2028397" y="494488"/>
                  </a:lnTo>
                  <a:lnTo>
                    <a:pt x="2027543" y="498782"/>
                  </a:lnTo>
                  <a:lnTo>
                    <a:pt x="2026689" y="503075"/>
                  </a:lnTo>
                  <a:lnTo>
                    <a:pt x="2025424" y="507245"/>
                  </a:lnTo>
                  <a:lnTo>
                    <a:pt x="2023749" y="511289"/>
                  </a:lnTo>
                  <a:lnTo>
                    <a:pt x="2022073" y="515334"/>
                  </a:lnTo>
                  <a:lnTo>
                    <a:pt x="1999192" y="541212"/>
                  </a:lnTo>
                  <a:lnTo>
                    <a:pt x="1995552" y="543644"/>
                  </a:lnTo>
                  <a:lnTo>
                    <a:pt x="1966527" y="552449"/>
                  </a:lnTo>
                  <a:lnTo>
                    <a:pt x="1962149" y="552449"/>
                  </a:lnTo>
                  <a:lnTo>
                    <a:pt x="66675" y="552449"/>
                  </a:lnTo>
                  <a:lnTo>
                    <a:pt x="62297" y="552449"/>
                  </a:lnTo>
                  <a:lnTo>
                    <a:pt x="57961" y="552022"/>
                  </a:lnTo>
                  <a:lnTo>
                    <a:pt x="29632" y="541212"/>
                  </a:lnTo>
                  <a:lnTo>
                    <a:pt x="25992" y="538780"/>
                  </a:lnTo>
                  <a:lnTo>
                    <a:pt x="5075" y="511289"/>
                  </a:lnTo>
                  <a:lnTo>
                    <a:pt x="3399" y="507245"/>
                  </a:lnTo>
                  <a:lnTo>
                    <a:pt x="2135" y="503075"/>
                  </a:lnTo>
                  <a:lnTo>
                    <a:pt x="1281" y="498782"/>
                  </a:lnTo>
                  <a:lnTo>
                    <a:pt x="427" y="494488"/>
                  </a:lnTo>
                  <a:lnTo>
                    <a:pt x="0" y="490152"/>
                  </a:lnTo>
                  <a:lnTo>
                    <a:pt x="0" y="485774"/>
                  </a:lnTo>
                  <a:close/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695449" y="3352799"/>
              <a:ext cx="457200" cy="152400"/>
            </a:xfrm>
            <a:custGeom>
              <a:avLst/>
              <a:gdLst/>
              <a:ahLst/>
              <a:cxnLst/>
              <a:rect l="l" t="t" r="r" b="b"/>
              <a:pathLst>
                <a:path w="457200" h="152400">
                  <a:moveTo>
                    <a:pt x="424152" y="152399"/>
                  </a:moveTo>
                  <a:lnTo>
                    <a:pt x="33047" y="152399"/>
                  </a:lnTo>
                  <a:lnTo>
                    <a:pt x="28187" y="151432"/>
                  </a:lnTo>
                  <a:lnTo>
                    <a:pt x="966" y="124212"/>
                  </a:lnTo>
                  <a:lnTo>
                    <a:pt x="0" y="119352"/>
                  </a:lnTo>
                  <a:lnTo>
                    <a:pt x="0" y="1142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424152" y="0"/>
                  </a:lnTo>
                  <a:lnTo>
                    <a:pt x="456233" y="28187"/>
                  </a:lnTo>
                  <a:lnTo>
                    <a:pt x="457199" y="33047"/>
                  </a:lnTo>
                  <a:lnTo>
                    <a:pt x="457199" y="119352"/>
                  </a:lnTo>
                  <a:lnTo>
                    <a:pt x="429012" y="151432"/>
                  </a:lnTo>
                  <a:lnTo>
                    <a:pt x="424152" y="152399"/>
                  </a:lnTo>
                  <a:close/>
                </a:path>
              </a:pathLst>
            </a:custGeom>
            <a:solidFill>
              <a:srgbClr val="3A6E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1744216" y="3359767"/>
            <a:ext cx="364490" cy="1276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40" b="1">
                <a:solidFill>
                  <a:srgbClr val="FFFFFF"/>
                </a:solidFill>
                <a:latin typeface="Arial"/>
                <a:cs typeface="Arial"/>
              </a:rPr>
              <a:t>Fan</a:t>
            </a:r>
            <a:r>
              <a:rPr dirty="0" sz="6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50" spc="-20" b="1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dirty="0" sz="6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50" spc="-25" b="1">
                <a:solidFill>
                  <a:srgbClr val="FFFFFF"/>
                </a:solidFill>
                <a:latin typeface="Arial"/>
                <a:cs typeface="Arial"/>
              </a:rPr>
              <a:t>04</a:t>
            </a:r>
            <a:endParaRPr sz="650">
              <a:latin typeface="Arial"/>
              <a:cs typeface="Arial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1752599" y="3524249"/>
            <a:ext cx="342900" cy="152400"/>
          </a:xfrm>
          <a:custGeom>
            <a:avLst/>
            <a:gdLst/>
            <a:ahLst/>
            <a:cxnLst/>
            <a:rect l="l" t="t" r="r" b="b"/>
            <a:pathLst>
              <a:path w="342900" h="152400">
                <a:moveTo>
                  <a:pt x="309852" y="152399"/>
                </a:moveTo>
                <a:lnTo>
                  <a:pt x="33047" y="152399"/>
                </a:lnTo>
                <a:lnTo>
                  <a:pt x="28187" y="151433"/>
                </a:lnTo>
                <a:lnTo>
                  <a:pt x="966" y="124211"/>
                </a:lnTo>
                <a:lnTo>
                  <a:pt x="0" y="119352"/>
                </a:lnTo>
                <a:lnTo>
                  <a:pt x="0" y="1142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309852" y="0"/>
                </a:lnTo>
                <a:lnTo>
                  <a:pt x="341933" y="28187"/>
                </a:lnTo>
                <a:lnTo>
                  <a:pt x="342899" y="33047"/>
                </a:lnTo>
                <a:lnTo>
                  <a:pt x="342899" y="119352"/>
                </a:lnTo>
                <a:lnTo>
                  <a:pt x="314712" y="151433"/>
                </a:lnTo>
                <a:lnTo>
                  <a:pt x="309852" y="152399"/>
                </a:lnTo>
                <a:close/>
              </a:path>
            </a:pathLst>
          </a:custGeom>
          <a:solidFill>
            <a:srgbClr val="28A6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1799431" y="3530219"/>
            <a:ext cx="254000" cy="128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-60" b="1">
                <a:solidFill>
                  <a:srgbClr val="FFFFFF"/>
                </a:solidFill>
                <a:latin typeface="Malgun Gothic"/>
                <a:cs typeface="Malgun Gothic"/>
              </a:rPr>
              <a:t>正常音</a:t>
            </a:r>
            <a:endParaRPr sz="650">
              <a:latin typeface="Malgun Gothic"/>
              <a:cs typeface="Malgun Gothic"/>
            </a:endParaRPr>
          </a:p>
        </p:txBody>
      </p:sp>
      <p:pic>
        <p:nvPicPr>
          <p:cNvPr id="38" name="object 3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38374" y="3981449"/>
            <a:ext cx="114300" cy="114299"/>
          </a:xfrm>
          <a:prstGeom prst="rect">
            <a:avLst/>
          </a:prstGeom>
        </p:spPr>
      </p:pic>
      <p:sp>
        <p:nvSpPr>
          <p:cNvPr id="39" name="object 39" descr=""/>
          <p:cNvSpPr txBox="1"/>
          <p:nvPr/>
        </p:nvSpPr>
        <p:spPr>
          <a:xfrm>
            <a:off x="2396529" y="3949430"/>
            <a:ext cx="129095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65">
                <a:solidFill>
                  <a:srgbClr val="666666"/>
                </a:solidFill>
                <a:latin typeface="Microsoft Sans Serif"/>
                <a:cs typeface="Microsoft Sans Serif"/>
              </a:rPr>
              <a:t>(a</a:t>
            </a:r>
            <a:r>
              <a:rPr dirty="0" sz="900" spc="-35">
                <a:solidFill>
                  <a:srgbClr val="666666"/>
                </a:solidFill>
                <a:latin typeface="Microsoft Sans Serif"/>
                <a:cs typeface="Microsoft Sans Serif"/>
              </a:rPr>
              <a:t>) </a:t>
            </a:r>
            <a:r>
              <a:rPr dirty="0" sz="900" spc="-75">
                <a:solidFill>
                  <a:srgbClr val="666666"/>
                </a:solidFill>
                <a:latin typeface="Microsoft Sans Serif"/>
                <a:cs typeface="Microsoft Sans Serif"/>
              </a:rPr>
              <a:t>Log-</a:t>
            </a:r>
            <a:r>
              <a:rPr dirty="0" sz="900" spc="-85">
                <a:solidFill>
                  <a:srgbClr val="666666"/>
                </a:solidFill>
                <a:latin typeface="Microsoft Sans Serif"/>
                <a:cs typeface="Microsoft Sans Serif"/>
              </a:rPr>
              <a:t>Mel</a:t>
            </a:r>
            <a:r>
              <a:rPr dirty="0" sz="90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850" spc="-10">
                <a:solidFill>
                  <a:srgbClr val="666666"/>
                </a:solidFill>
                <a:latin typeface="MS PGothic"/>
                <a:cs typeface="MS PGothic"/>
              </a:rPr>
              <a:t>スペクトログラム</a:t>
            </a:r>
            <a:endParaRPr sz="850">
              <a:latin typeface="MS PGothic"/>
              <a:cs typeface="MS PGothic"/>
            </a:endParaRPr>
          </a:p>
        </p:txBody>
      </p:sp>
      <p:pic>
        <p:nvPicPr>
          <p:cNvPr id="40" name="object 4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67149" y="3981449"/>
            <a:ext cx="114299" cy="114299"/>
          </a:xfrm>
          <a:prstGeom prst="rect">
            <a:avLst/>
          </a:prstGeom>
        </p:spPr>
      </p:pic>
      <p:sp>
        <p:nvSpPr>
          <p:cNvPr id="41" name="object 41" descr=""/>
          <p:cNvSpPr txBox="1"/>
          <p:nvPr/>
        </p:nvSpPr>
        <p:spPr>
          <a:xfrm>
            <a:off x="4023667" y="3949430"/>
            <a:ext cx="112268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666666"/>
                </a:solidFill>
                <a:latin typeface="Microsoft Sans Serif"/>
                <a:cs typeface="Microsoft Sans Serif"/>
              </a:rPr>
              <a:t>(b</a:t>
            </a:r>
            <a:r>
              <a:rPr dirty="0" sz="900" spc="-20">
                <a:solidFill>
                  <a:srgbClr val="666666"/>
                </a:solidFill>
                <a:latin typeface="Microsoft Sans Serif"/>
                <a:cs typeface="Microsoft Sans Serif"/>
              </a:rPr>
              <a:t>) </a:t>
            </a:r>
            <a:r>
              <a:rPr dirty="0" sz="850" spc="-110">
                <a:solidFill>
                  <a:srgbClr val="666666"/>
                </a:solidFill>
                <a:latin typeface="SimSun"/>
                <a:cs typeface="SimSun"/>
              </a:rPr>
              <a:t>学習</a:t>
            </a:r>
            <a:r>
              <a:rPr dirty="0" sz="850" spc="-20">
                <a:solidFill>
                  <a:srgbClr val="666666"/>
                </a:solidFill>
                <a:latin typeface="MS PGothic"/>
                <a:cs typeface="MS PGothic"/>
              </a:rPr>
              <a:t>された</a:t>
            </a:r>
            <a:r>
              <a:rPr dirty="0" sz="850" spc="-110">
                <a:solidFill>
                  <a:srgbClr val="666666"/>
                </a:solidFill>
                <a:latin typeface="SimSun"/>
                <a:cs typeface="SimSun"/>
              </a:rPr>
              <a:t>周波数重</a:t>
            </a:r>
            <a:r>
              <a:rPr dirty="0" sz="850" spc="-50">
                <a:solidFill>
                  <a:srgbClr val="666666"/>
                </a:solidFill>
                <a:latin typeface="MS PGothic"/>
                <a:cs typeface="MS PGothic"/>
              </a:rPr>
              <a:t>み</a:t>
            </a:r>
            <a:endParaRPr sz="850">
              <a:latin typeface="MS PGothic"/>
              <a:cs typeface="MS PGothic"/>
            </a:endParaRPr>
          </a:p>
        </p:txBody>
      </p:sp>
      <p:pic>
        <p:nvPicPr>
          <p:cNvPr id="42" name="object 4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24474" y="3981449"/>
            <a:ext cx="114299" cy="114299"/>
          </a:xfrm>
          <a:prstGeom prst="rect">
            <a:avLst/>
          </a:prstGeom>
        </p:spPr>
      </p:pic>
      <p:sp>
        <p:nvSpPr>
          <p:cNvPr id="43" name="object 43" descr=""/>
          <p:cNvSpPr txBox="1"/>
          <p:nvPr/>
        </p:nvSpPr>
        <p:spPr>
          <a:xfrm>
            <a:off x="5482778" y="3949430"/>
            <a:ext cx="1017269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60">
                <a:solidFill>
                  <a:srgbClr val="666666"/>
                </a:solidFill>
                <a:latin typeface="Microsoft Sans Serif"/>
                <a:cs typeface="Microsoft Sans Serif"/>
              </a:rPr>
              <a:t>(c</a:t>
            </a:r>
            <a:r>
              <a:rPr dirty="0" sz="900" spc="-30">
                <a:solidFill>
                  <a:srgbClr val="666666"/>
                </a:solidFill>
                <a:latin typeface="Microsoft Sans Serif"/>
                <a:cs typeface="Microsoft Sans Serif"/>
              </a:rPr>
              <a:t>) </a:t>
            </a:r>
            <a:r>
              <a:rPr dirty="0" sz="850" spc="-110">
                <a:solidFill>
                  <a:srgbClr val="666666"/>
                </a:solidFill>
                <a:latin typeface="SimSun"/>
                <a:cs typeface="SimSun"/>
              </a:rPr>
              <a:t>強調</a:t>
            </a:r>
            <a:r>
              <a:rPr dirty="0" sz="850" spc="-20">
                <a:solidFill>
                  <a:srgbClr val="666666"/>
                </a:solidFill>
                <a:latin typeface="MS PGothic"/>
                <a:cs typeface="MS PGothic"/>
              </a:rPr>
              <a:t>された</a:t>
            </a:r>
            <a:r>
              <a:rPr dirty="0" sz="850" spc="-95">
                <a:solidFill>
                  <a:srgbClr val="666666"/>
                </a:solidFill>
                <a:latin typeface="SimSun"/>
                <a:cs typeface="SimSun"/>
              </a:rPr>
              <a:t>音響特徴</a:t>
            </a:r>
            <a:endParaRPr sz="850">
              <a:latin typeface="SimSun"/>
              <a:cs typeface="SimSun"/>
            </a:endParaRPr>
          </a:p>
        </p:txBody>
      </p:sp>
      <p:pic>
        <p:nvPicPr>
          <p:cNvPr id="44" name="object 4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77024" y="3981449"/>
            <a:ext cx="114300" cy="114299"/>
          </a:xfrm>
          <a:prstGeom prst="rect">
            <a:avLst/>
          </a:prstGeom>
        </p:spPr>
      </p:pic>
      <p:sp>
        <p:nvSpPr>
          <p:cNvPr id="45" name="object 45" descr=""/>
          <p:cNvSpPr txBox="1"/>
          <p:nvPr/>
        </p:nvSpPr>
        <p:spPr>
          <a:xfrm>
            <a:off x="6836370" y="3956367"/>
            <a:ext cx="69215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05">
                <a:solidFill>
                  <a:srgbClr val="666666"/>
                </a:solidFill>
                <a:latin typeface="SimSun"/>
                <a:cs typeface="SimSun"/>
              </a:rPr>
              <a:t>重要周波数領域</a:t>
            </a:r>
            <a:endParaRPr sz="850">
              <a:latin typeface="SimSun"/>
              <a:cs typeface="SimSun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333374" y="885824"/>
            <a:ext cx="9086850" cy="666750"/>
            <a:chOff x="333374" y="885824"/>
            <a:chExt cx="9086850" cy="666750"/>
          </a:xfrm>
        </p:grpSpPr>
        <p:pic>
          <p:nvPicPr>
            <p:cNvPr id="47" name="object 4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3374" y="885824"/>
              <a:ext cx="9086849" cy="666749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62111" y="1057274"/>
              <a:ext cx="171955" cy="133349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44379" y="885824"/>
              <a:ext cx="175845" cy="666749"/>
            </a:xfrm>
            <a:prstGeom prst="rect">
              <a:avLst/>
            </a:prstGeom>
          </p:spPr>
        </p:pic>
      </p:grpSp>
      <p:sp>
        <p:nvSpPr>
          <p:cNvPr id="50" name="object 50" descr=""/>
          <p:cNvSpPr txBox="1"/>
          <p:nvPr/>
        </p:nvSpPr>
        <p:spPr>
          <a:xfrm>
            <a:off x="3493541" y="932382"/>
            <a:ext cx="2766695" cy="50800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270510">
              <a:lnSpc>
                <a:spcPct val="100000"/>
              </a:lnSpc>
              <a:spcBef>
                <a:spcPts val="605"/>
              </a:spcBef>
            </a:pPr>
            <a:r>
              <a:rPr dirty="0" sz="1350" spc="-170" b="1">
                <a:solidFill>
                  <a:srgbClr val="FFFFFF"/>
                </a:solidFill>
                <a:latin typeface="Microsoft JhengHei"/>
                <a:cs typeface="Microsoft JhengHei"/>
              </a:rPr>
              <a:t>学</a:t>
            </a:r>
            <a:r>
              <a:rPr dirty="0" sz="1350" spc="-170" b="1">
                <a:solidFill>
                  <a:srgbClr val="FFFFFF"/>
                </a:solidFill>
                <a:latin typeface="Malgun Gothic"/>
                <a:cs typeface="Malgun Gothic"/>
              </a:rPr>
              <a:t>習</a:t>
            </a:r>
            <a:r>
              <a:rPr dirty="0" sz="1350" spc="-170" b="1">
                <a:solidFill>
                  <a:srgbClr val="FFFFFF"/>
                </a:solidFill>
                <a:latin typeface="Microsoft JhengHei"/>
                <a:cs typeface="Microsoft JhengHei"/>
              </a:rPr>
              <a:t>された</a:t>
            </a:r>
            <a:r>
              <a:rPr dirty="0" sz="1350" spc="-170" b="1">
                <a:solidFill>
                  <a:srgbClr val="FFFFFF"/>
                </a:solidFill>
                <a:latin typeface="Malgun Gothic"/>
                <a:cs typeface="Malgun Gothic"/>
              </a:rPr>
              <a:t>周波</a:t>
            </a:r>
            <a:r>
              <a:rPr dirty="0" sz="1350" spc="-185" b="1">
                <a:solidFill>
                  <a:srgbClr val="FFFFFF"/>
                </a:solidFill>
                <a:latin typeface="Microsoft JhengHei"/>
                <a:cs typeface="Microsoft JhengHei"/>
              </a:rPr>
              <a:t>数パターンの可</a:t>
            </a:r>
            <a:r>
              <a:rPr dirty="0" sz="1350" spc="-110" b="1">
                <a:solidFill>
                  <a:srgbClr val="FFFFFF"/>
                </a:solidFill>
                <a:latin typeface="Malgun Gothic"/>
                <a:cs typeface="Malgun Gothic"/>
              </a:rPr>
              <a:t>視化</a:t>
            </a:r>
            <a:endParaRPr sz="1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1000" spc="-100">
                <a:solidFill>
                  <a:srgbClr val="FFFFFF"/>
                </a:solidFill>
                <a:latin typeface="SimSun"/>
                <a:cs typeface="SimSun"/>
              </a:rPr>
              <a:t>機械</a:t>
            </a:r>
            <a:r>
              <a:rPr dirty="0" sz="1050" spc="145">
                <a:solidFill>
                  <a:srgbClr val="FFFFFF"/>
                </a:solidFill>
                <a:latin typeface="Arial MT"/>
                <a:cs typeface="Arial MT"/>
              </a:rPr>
              <a:t>ID</a:t>
            </a:r>
            <a:r>
              <a:rPr dirty="0" sz="1000" spc="145">
                <a:solidFill>
                  <a:srgbClr val="FFFFFF"/>
                </a:solidFill>
                <a:latin typeface="MS PGothic"/>
                <a:cs typeface="MS PGothic"/>
              </a:rPr>
              <a:t>‧</a:t>
            </a:r>
            <a:r>
              <a:rPr dirty="0" sz="1000" spc="-100">
                <a:solidFill>
                  <a:srgbClr val="FFFFFF"/>
                </a:solidFill>
                <a:latin typeface="SimSun"/>
                <a:cs typeface="SimSun"/>
              </a:rPr>
              <a:t>状態</a:t>
            </a:r>
            <a:r>
              <a:rPr dirty="0" sz="1000" spc="-55">
                <a:solidFill>
                  <a:srgbClr val="FFFFFF"/>
                </a:solidFill>
                <a:latin typeface="MS PGothic"/>
                <a:cs typeface="MS PGothic"/>
              </a:rPr>
              <a:t>に</a:t>
            </a:r>
            <a:r>
              <a:rPr dirty="0" sz="1000" spc="-100">
                <a:solidFill>
                  <a:srgbClr val="FFFFFF"/>
                </a:solidFill>
                <a:latin typeface="SimSun"/>
                <a:cs typeface="SimSun"/>
              </a:rPr>
              <a:t>応</a:t>
            </a:r>
            <a:r>
              <a:rPr dirty="0" sz="1000" spc="50">
                <a:solidFill>
                  <a:srgbClr val="FFFFFF"/>
                </a:solidFill>
                <a:latin typeface="MS PGothic"/>
                <a:cs typeface="MS PGothic"/>
              </a:rPr>
              <a:t>じた</a:t>
            </a:r>
            <a:r>
              <a:rPr dirty="0" sz="1000" spc="-100">
                <a:solidFill>
                  <a:srgbClr val="FFFFFF"/>
                </a:solidFill>
                <a:latin typeface="SimSun"/>
                <a:cs typeface="SimSun"/>
              </a:rPr>
              <a:t>適応的</a:t>
            </a:r>
            <a:r>
              <a:rPr dirty="0" sz="1000" spc="-10">
                <a:solidFill>
                  <a:srgbClr val="FFFFFF"/>
                </a:solidFill>
                <a:latin typeface="MS PGothic"/>
                <a:cs typeface="MS PGothic"/>
              </a:rPr>
              <a:t>な</a:t>
            </a:r>
            <a:r>
              <a:rPr dirty="0" sz="1000" spc="-100">
                <a:solidFill>
                  <a:srgbClr val="FFFFFF"/>
                </a:solidFill>
                <a:latin typeface="SimSun"/>
                <a:cs typeface="SimSun"/>
              </a:rPr>
              <a:t>重要周波数選択</a:t>
            </a:r>
            <a:r>
              <a:rPr dirty="0" sz="1000" spc="-100">
                <a:solidFill>
                  <a:srgbClr val="FFFFFF"/>
                </a:solidFill>
                <a:latin typeface="MS PGothic"/>
                <a:cs typeface="MS PGothic"/>
              </a:rPr>
              <a:t>の</a:t>
            </a:r>
            <a:r>
              <a:rPr dirty="0" sz="1000" spc="-75">
                <a:solidFill>
                  <a:srgbClr val="FFFFFF"/>
                </a:solidFill>
                <a:latin typeface="SimSun"/>
                <a:cs typeface="SimSun"/>
              </a:rPr>
              <a:t>実証</a:t>
            </a:r>
            <a:endParaRPr sz="1000">
              <a:latin typeface="SimSun"/>
              <a:cs typeface="SimSun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3067049" y="1743074"/>
            <a:ext cx="2038350" cy="571500"/>
            <a:chOff x="3067049" y="1743074"/>
            <a:chExt cx="2038350" cy="571500"/>
          </a:xfrm>
        </p:grpSpPr>
        <p:sp>
          <p:nvSpPr>
            <p:cNvPr id="52" name="object 52" descr=""/>
            <p:cNvSpPr/>
            <p:nvPr/>
          </p:nvSpPr>
          <p:spPr>
            <a:xfrm>
              <a:off x="3076574" y="1752599"/>
              <a:ext cx="2019300" cy="552450"/>
            </a:xfrm>
            <a:custGeom>
              <a:avLst/>
              <a:gdLst/>
              <a:ahLst/>
              <a:cxnLst/>
              <a:rect l="l" t="t" r="r" b="b"/>
              <a:pathLst>
                <a:path w="2019300" h="552450">
                  <a:moveTo>
                    <a:pt x="0" y="4857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1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4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57960" y="427"/>
                  </a:lnTo>
                  <a:lnTo>
                    <a:pt x="62297" y="0"/>
                  </a:lnTo>
                  <a:lnTo>
                    <a:pt x="66674" y="0"/>
                  </a:lnTo>
                  <a:lnTo>
                    <a:pt x="1952624" y="0"/>
                  </a:lnTo>
                  <a:lnTo>
                    <a:pt x="1957002" y="0"/>
                  </a:lnTo>
                  <a:lnTo>
                    <a:pt x="1961338" y="427"/>
                  </a:lnTo>
                  <a:lnTo>
                    <a:pt x="1965632" y="1281"/>
                  </a:lnTo>
                  <a:lnTo>
                    <a:pt x="1969925" y="2135"/>
                  </a:lnTo>
                  <a:lnTo>
                    <a:pt x="1974095" y="3399"/>
                  </a:lnTo>
                  <a:lnTo>
                    <a:pt x="1978139" y="5075"/>
                  </a:lnTo>
                  <a:lnTo>
                    <a:pt x="1982184" y="6750"/>
                  </a:lnTo>
                  <a:lnTo>
                    <a:pt x="1986026" y="8804"/>
                  </a:lnTo>
                  <a:lnTo>
                    <a:pt x="1989666" y="11236"/>
                  </a:lnTo>
                  <a:lnTo>
                    <a:pt x="1993306" y="13668"/>
                  </a:lnTo>
                  <a:lnTo>
                    <a:pt x="1996675" y="16432"/>
                  </a:lnTo>
                  <a:lnTo>
                    <a:pt x="1999770" y="19528"/>
                  </a:lnTo>
                  <a:lnTo>
                    <a:pt x="2002866" y="22624"/>
                  </a:lnTo>
                  <a:lnTo>
                    <a:pt x="2018017" y="53667"/>
                  </a:lnTo>
                  <a:lnTo>
                    <a:pt x="2018872" y="57961"/>
                  </a:lnTo>
                  <a:lnTo>
                    <a:pt x="2019299" y="62297"/>
                  </a:lnTo>
                  <a:lnTo>
                    <a:pt x="2019299" y="66674"/>
                  </a:lnTo>
                  <a:lnTo>
                    <a:pt x="2019299" y="485774"/>
                  </a:lnTo>
                  <a:lnTo>
                    <a:pt x="2019299" y="490152"/>
                  </a:lnTo>
                  <a:lnTo>
                    <a:pt x="2018872" y="494488"/>
                  </a:lnTo>
                  <a:lnTo>
                    <a:pt x="2018017" y="498782"/>
                  </a:lnTo>
                  <a:lnTo>
                    <a:pt x="2017163" y="503076"/>
                  </a:lnTo>
                  <a:lnTo>
                    <a:pt x="2008062" y="522817"/>
                  </a:lnTo>
                  <a:lnTo>
                    <a:pt x="2005630" y="526457"/>
                  </a:lnTo>
                  <a:lnTo>
                    <a:pt x="1978139" y="547374"/>
                  </a:lnTo>
                  <a:lnTo>
                    <a:pt x="1974095" y="549049"/>
                  </a:lnTo>
                  <a:lnTo>
                    <a:pt x="1969925" y="550314"/>
                  </a:lnTo>
                  <a:lnTo>
                    <a:pt x="1965632" y="551168"/>
                  </a:lnTo>
                  <a:lnTo>
                    <a:pt x="1961338" y="552022"/>
                  </a:lnTo>
                  <a:lnTo>
                    <a:pt x="1957002" y="552449"/>
                  </a:lnTo>
                  <a:lnTo>
                    <a:pt x="1952624" y="552449"/>
                  </a:lnTo>
                  <a:lnTo>
                    <a:pt x="66674" y="552449"/>
                  </a:lnTo>
                  <a:lnTo>
                    <a:pt x="62297" y="552449"/>
                  </a:lnTo>
                  <a:lnTo>
                    <a:pt x="57960" y="552022"/>
                  </a:lnTo>
                  <a:lnTo>
                    <a:pt x="53667" y="551168"/>
                  </a:lnTo>
                  <a:lnTo>
                    <a:pt x="49373" y="550314"/>
                  </a:lnTo>
                  <a:lnTo>
                    <a:pt x="16432" y="529825"/>
                  </a:lnTo>
                  <a:lnTo>
                    <a:pt x="5075" y="511289"/>
                  </a:lnTo>
                  <a:lnTo>
                    <a:pt x="3399" y="507245"/>
                  </a:lnTo>
                  <a:lnTo>
                    <a:pt x="2135" y="503076"/>
                  </a:lnTo>
                  <a:lnTo>
                    <a:pt x="1281" y="498782"/>
                  </a:lnTo>
                  <a:lnTo>
                    <a:pt x="427" y="494488"/>
                  </a:lnTo>
                  <a:lnTo>
                    <a:pt x="0" y="490152"/>
                  </a:lnTo>
                  <a:lnTo>
                    <a:pt x="0" y="485774"/>
                  </a:lnTo>
                  <a:close/>
                </a:path>
              </a:pathLst>
            </a:custGeom>
            <a:ln w="19049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62299" y="1838324"/>
              <a:ext cx="1847849" cy="380999"/>
            </a:xfrm>
            <a:prstGeom prst="rect">
              <a:avLst/>
            </a:prstGeom>
          </p:spPr>
        </p:pic>
      </p:grpSp>
      <p:grpSp>
        <p:nvGrpSpPr>
          <p:cNvPr id="54" name="object 54" descr=""/>
          <p:cNvGrpSpPr/>
          <p:nvPr/>
        </p:nvGrpSpPr>
        <p:grpSpPr>
          <a:xfrm>
            <a:off x="5219698" y="1743074"/>
            <a:ext cx="2047875" cy="571500"/>
            <a:chOff x="5219698" y="1743074"/>
            <a:chExt cx="2047875" cy="571500"/>
          </a:xfrm>
        </p:grpSpPr>
        <p:pic>
          <p:nvPicPr>
            <p:cNvPr id="55" name="object 5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38749" y="1762124"/>
              <a:ext cx="2009774" cy="533399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5229223" y="1752599"/>
              <a:ext cx="2028825" cy="552450"/>
            </a:xfrm>
            <a:custGeom>
              <a:avLst/>
              <a:gdLst/>
              <a:ahLst/>
              <a:cxnLst/>
              <a:rect l="l" t="t" r="r" b="b"/>
              <a:pathLst>
                <a:path w="2028825" h="552450">
                  <a:moveTo>
                    <a:pt x="0" y="4857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6" y="57961"/>
                  </a:lnTo>
                  <a:lnTo>
                    <a:pt x="16433" y="22624"/>
                  </a:lnTo>
                  <a:lnTo>
                    <a:pt x="19529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2" y="11236"/>
                  </a:lnTo>
                  <a:lnTo>
                    <a:pt x="33272" y="8804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962150" y="0"/>
                  </a:lnTo>
                  <a:lnTo>
                    <a:pt x="1966528" y="0"/>
                  </a:lnTo>
                  <a:lnTo>
                    <a:pt x="1970863" y="427"/>
                  </a:lnTo>
                  <a:lnTo>
                    <a:pt x="1975157" y="1281"/>
                  </a:lnTo>
                  <a:lnTo>
                    <a:pt x="1979450" y="2135"/>
                  </a:lnTo>
                  <a:lnTo>
                    <a:pt x="1983620" y="3399"/>
                  </a:lnTo>
                  <a:lnTo>
                    <a:pt x="1987664" y="5075"/>
                  </a:lnTo>
                  <a:lnTo>
                    <a:pt x="1991709" y="6750"/>
                  </a:lnTo>
                  <a:lnTo>
                    <a:pt x="1995552" y="8804"/>
                  </a:lnTo>
                  <a:lnTo>
                    <a:pt x="1999192" y="11236"/>
                  </a:lnTo>
                  <a:lnTo>
                    <a:pt x="2002832" y="13668"/>
                  </a:lnTo>
                  <a:lnTo>
                    <a:pt x="2006201" y="16432"/>
                  </a:lnTo>
                  <a:lnTo>
                    <a:pt x="2009296" y="19528"/>
                  </a:lnTo>
                  <a:lnTo>
                    <a:pt x="2012392" y="22624"/>
                  </a:lnTo>
                  <a:lnTo>
                    <a:pt x="2023749" y="41159"/>
                  </a:lnTo>
                  <a:lnTo>
                    <a:pt x="2025425" y="45204"/>
                  </a:lnTo>
                  <a:lnTo>
                    <a:pt x="2026690" y="49373"/>
                  </a:lnTo>
                  <a:lnTo>
                    <a:pt x="2027544" y="53667"/>
                  </a:lnTo>
                  <a:lnTo>
                    <a:pt x="2028398" y="57961"/>
                  </a:lnTo>
                  <a:lnTo>
                    <a:pt x="2028825" y="62297"/>
                  </a:lnTo>
                  <a:lnTo>
                    <a:pt x="2028825" y="66674"/>
                  </a:lnTo>
                  <a:lnTo>
                    <a:pt x="2028825" y="485774"/>
                  </a:lnTo>
                  <a:lnTo>
                    <a:pt x="2028825" y="490152"/>
                  </a:lnTo>
                  <a:lnTo>
                    <a:pt x="2028398" y="494488"/>
                  </a:lnTo>
                  <a:lnTo>
                    <a:pt x="2027544" y="498782"/>
                  </a:lnTo>
                  <a:lnTo>
                    <a:pt x="2026690" y="503076"/>
                  </a:lnTo>
                  <a:lnTo>
                    <a:pt x="2025425" y="507245"/>
                  </a:lnTo>
                  <a:lnTo>
                    <a:pt x="2023749" y="511289"/>
                  </a:lnTo>
                  <a:lnTo>
                    <a:pt x="2022074" y="515334"/>
                  </a:lnTo>
                  <a:lnTo>
                    <a:pt x="2020020" y="519177"/>
                  </a:lnTo>
                  <a:lnTo>
                    <a:pt x="2017588" y="522817"/>
                  </a:lnTo>
                  <a:lnTo>
                    <a:pt x="2015156" y="526457"/>
                  </a:lnTo>
                  <a:lnTo>
                    <a:pt x="1983620" y="549049"/>
                  </a:lnTo>
                  <a:lnTo>
                    <a:pt x="1975157" y="551168"/>
                  </a:lnTo>
                  <a:lnTo>
                    <a:pt x="1970863" y="552022"/>
                  </a:lnTo>
                  <a:lnTo>
                    <a:pt x="1966528" y="552449"/>
                  </a:lnTo>
                  <a:lnTo>
                    <a:pt x="1962150" y="552449"/>
                  </a:lnTo>
                  <a:lnTo>
                    <a:pt x="66675" y="552449"/>
                  </a:lnTo>
                  <a:lnTo>
                    <a:pt x="62297" y="552449"/>
                  </a:lnTo>
                  <a:lnTo>
                    <a:pt x="57961" y="552022"/>
                  </a:lnTo>
                  <a:lnTo>
                    <a:pt x="53667" y="551168"/>
                  </a:lnTo>
                  <a:lnTo>
                    <a:pt x="49374" y="550314"/>
                  </a:lnTo>
                  <a:lnTo>
                    <a:pt x="16433" y="529825"/>
                  </a:lnTo>
                  <a:lnTo>
                    <a:pt x="11237" y="522817"/>
                  </a:lnTo>
                  <a:lnTo>
                    <a:pt x="8804" y="519177"/>
                  </a:lnTo>
                  <a:lnTo>
                    <a:pt x="0" y="490152"/>
                  </a:lnTo>
                  <a:lnTo>
                    <a:pt x="0" y="485774"/>
                  </a:lnTo>
                  <a:close/>
                </a:path>
              </a:pathLst>
            </a:custGeom>
            <a:ln w="19049">
              <a:solidFill>
                <a:srgbClr val="FFC1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14949" y="1838324"/>
              <a:ext cx="1857374" cy="380999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6064383" y="1924248"/>
              <a:ext cx="358775" cy="209550"/>
            </a:xfrm>
            <a:custGeom>
              <a:avLst/>
              <a:gdLst/>
              <a:ahLst/>
              <a:cxnLst/>
              <a:rect l="l" t="t" r="r" b="b"/>
              <a:pathLst>
                <a:path w="358775" h="209550">
                  <a:moveTo>
                    <a:pt x="336951" y="209153"/>
                  </a:moveTo>
                  <a:lnTo>
                    <a:pt x="21597" y="209153"/>
                  </a:lnTo>
                  <a:lnTo>
                    <a:pt x="18421" y="208521"/>
                  </a:lnTo>
                  <a:lnTo>
                    <a:pt x="0" y="187555"/>
                  </a:lnTo>
                  <a:lnTo>
                    <a:pt x="0" y="184254"/>
                  </a:lnTo>
                  <a:lnTo>
                    <a:pt x="0" y="21597"/>
                  </a:lnTo>
                  <a:lnTo>
                    <a:pt x="21597" y="0"/>
                  </a:lnTo>
                  <a:lnTo>
                    <a:pt x="336951" y="0"/>
                  </a:lnTo>
                  <a:lnTo>
                    <a:pt x="358548" y="21597"/>
                  </a:lnTo>
                  <a:lnTo>
                    <a:pt x="358548" y="187555"/>
                  </a:lnTo>
                  <a:lnTo>
                    <a:pt x="340127" y="208521"/>
                  </a:lnTo>
                  <a:lnTo>
                    <a:pt x="336951" y="209153"/>
                  </a:lnTo>
                  <a:close/>
                </a:path>
              </a:pathLst>
            </a:custGeom>
            <a:solidFill>
              <a:srgbClr val="3A6EA5">
                <a:alpha val="1627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6064383" y="1924248"/>
              <a:ext cx="358775" cy="209550"/>
            </a:xfrm>
            <a:custGeom>
              <a:avLst/>
              <a:gdLst/>
              <a:ahLst/>
              <a:cxnLst/>
              <a:rect l="l" t="t" r="r" b="b"/>
              <a:pathLst>
                <a:path w="358775" h="209550">
                  <a:moveTo>
                    <a:pt x="0" y="184254"/>
                  </a:moveTo>
                  <a:lnTo>
                    <a:pt x="0" y="24899"/>
                  </a:lnTo>
                  <a:lnTo>
                    <a:pt x="0" y="21597"/>
                  </a:lnTo>
                  <a:lnTo>
                    <a:pt x="631" y="18421"/>
                  </a:lnTo>
                  <a:lnTo>
                    <a:pt x="1895" y="15370"/>
                  </a:lnTo>
                  <a:lnTo>
                    <a:pt x="3158" y="12320"/>
                  </a:lnTo>
                  <a:lnTo>
                    <a:pt x="4958" y="9627"/>
                  </a:lnTo>
                  <a:lnTo>
                    <a:pt x="21597" y="0"/>
                  </a:lnTo>
                  <a:lnTo>
                    <a:pt x="24899" y="0"/>
                  </a:lnTo>
                  <a:lnTo>
                    <a:pt x="333649" y="0"/>
                  </a:lnTo>
                  <a:lnTo>
                    <a:pt x="336951" y="0"/>
                  </a:lnTo>
                  <a:lnTo>
                    <a:pt x="340127" y="631"/>
                  </a:lnTo>
                  <a:lnTo>
                    <a:pt x="343177" y="1895"/>
                  </a:lnTo>
                  <a:lnTo>
                    <a:pt x="346228" y="3158"/>
                  </a:lnTo>
                  <a:lnTo>
                    <a:pt x="358548" y="24899"/>
                  </a:lnTo>
                  <a:lnTo>
                    <a:pt x="358548" y="184254"/>
                  </a:lnTo>
                  <a:lnTo>
                    <a:pt x="343177" y="207257"/>
                  </a:lnTo>
                  <a:lnTo>
                    <a:pt x="340127" y="208521"/>
                  </a:lnTo>
                  <a:lnTo>
                    <a:pt x="336951" y="209153"/>
                  </a:lnTo>
                  <a:lnTo>
                    <a:pt x="333649" y="209153"/>
                  </a:lnTo>
                  <a:lnTo>
                    <a:pt x="24899" y="209153"/>
                  </a:lnTo>
                  <a:lnTo>
                    <a:pt x="21597" y="209153"/>
                  </a:lnTo>
                  <a:lnTo>
                    <a:pt x="18421" y="208521"/>
                  </a:lnTo>
                  <a:lnTo>
                    <a:pt x="15370" y="207258"/>
                  </a:lnTo>
                  <a:lnTo>
                    <a:pt x="12320" y="205994"/>
                  </a:lnTo>
                  <a:lnTo>
                    <a:pt x="0" y="187555"/>
                  </a:lnTo>
                  <a:lnTo>
                    <a:pt x="0" y="184254"/>
                  </a:lnTo>
                  <a:close/>
                </a:path>
              </a:pathLst>
            </a:custGeom>
            <a:ln w="2987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0" name="object 60" descr=""/>
          <p:cNvGrpSpPr/>
          <p:nvPr/>
        </p:nvGrpSpPr>
        <p:grpSpPr>
          <a:xfrm>
            <a:off x="7381874" y="1743074"/>
            <a:ext cx="2038350" cy="571500"/>
            <a:chOff x="7381874" y="1743074"/>
            <a:chExt cx="2038350" cy="571500"/>
          </a:xfrm>
        </p:grpSpPr>
        <p:pic>
          <p:nvPicPr>
            <p:cNvPr id="61" name="object 6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00924" y="1762124"/>
              <a:ext cx="2000249" cy="533399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7391399" y="1752599"/>
              <a:ext cx="2019300" cy="552450"/>
            </a:xfrm>
            <a:custGeom>
              <a:avLst/>
              <a:gdLst/>
              <a:ahLst/>
              <a:cxnLst/>
              <a:rect l="l" t="t" r="r" b="b"/>
              <a:pathLst>
                <a:path w="2019300" h="552450">
                  <a:moveTo>
                    <a:pt x="0" y="4857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6" y="57961"/>
                  </a:lnTo>
                  <a:lnTo>
                    <a:pt x="16432" y="22624"/>
                  </a:lnTo>
                  <a:lnTo>
                    <a:pt x="19527" y="19528"/>
                  </a:lnTo>
                  <a:lnTo>
                    <a:pt x="22623" y="16432"/>
                  </a:lnTo>
                  <a:lnTo>
                    <a:pt x="41158" y="5075"/>
                  </a:lnTo>
                  <a:lnTo>
                    <a:pt x="45203" y="3399"/>
                  </a:lnTo>
                  <a:lnTo>
                    <a:pt x="49372" y="2135"/>
                  </a:lnTo>
                  <a:lnTo>
                    <a:pt x="53666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1952624" y="0"/>
                  </a:lnTo>
                  <a:lnTo>
                    <a:pt x="1957002" y="0"/>
                  </a:lnTo>
                  <a:lnTo>
                    <a:pt x="1961338" y="427"/>
                  </a:lnTo>
                  <a:lnTo>
                    <a:pt x="1989666" y="11236"/>
                  </a:lnTo>
                  <a:lnTo>
                    <a:pt x="1993306" y="13668"/>
                  </a:lnTo>
                  <a:lnTo>
                    <a:pt x="1996674" y="16432"/>
                  </a:lnTo>
                  <a:lnTo>
                    <a:pt x="1999770" y="19528"/>
                  </a:lnTo>
                  <a:lnTo>
                    <a:pt x="2002865" y="22624"/>
                  </a:lnTo>
                  <a:lnTo>
                    <a:pt x="2014223" y="41159"/>
                  </a:lnTo>
                  <a:lnTo>
                    <a:pt x="2015898" y="45204"/>
                  </a:lnTo>
                  <a:lnTo>
                    <a:pt x="2017163" y="49373"/>
                  </a:lnTo>
                  <a:lnTo>
                    <a:pt x="2018017" y="53667"/>
                  </a:lnTo>
                  <a:lnTo>
                    <a:pt x="2018872" y="57961"/>
                  </a:lnTo>
                  <a:lnTo>
                    <a:pt x="2019299" y="62297"/>
                  </a:lnTo>
                  <a:lnTo>
                    <a:pt x="2019299" y="66674"/>
                  </a:lnTo>
                  <a:lnTo>
                    <a:pt x="2019299" y="485774"/>
                  </a:lnTo>
                  <a:lnTo>
                    <a:pt x="2019299" y="490152"/>
                  </a:lnTo>
                  <a:lnTo>
                    <a:pt x="2018872" y="494488"/>
                  </a:lnTo>
                  <a:lnTo>
                    <a:pt x="2002865" y="529825"/>
                  </a:lnTo>
                  <a:lnTo>
                    <a:pt x="1969925" y="550314"/>
                  </a:lnTo>
                  <a:lnTo>
                    <a:pt x="1957002" y="552449"/>
                  </a:lnTo>
                  <a:lnTo>
                    <a:pt x="1952624" y="552449"/>
                  </a:lnTo>
                  <a:lnTo>
                    <a:pt x="66674" y="552449"/>
                  </a:lnTo>
                  <a:lnTo>
                    <a:pt x="62296" y="552449"/>
                  </a:lnTo>
                  <a:lnTo>
                    <a:pt x="57960" y="552022"/>
                  </a:lnTo>
                  <a:lnTo>
                    <a:pt x="53665" y="551168"/>
                  </a:lnTo>
                  <a:lnTo>
                    <a:pt x="49372" y="550314"/>
                  </a:lnTo>
                  <a:lnTo>
                    <a:pt x="45203" y="549049"/>
                  </a:lnTo>
                  <a:lnTo>
                    <a:pt x="41158" y="547374"/>
                  </a:lnTo>
                  <a:lnTo>
                    <a:pt x="37113" y="545699"/>
                  </a:lnTo>
                  <a:lnTo>
                    <a:pt x="8803" y="519177"/>
                  </a:lnTo>
                  <a:lnTo>
                    <a:pt x="1280" y="498782"/>
                  </a:lnTo>
                  <a:lnTo>
                    <a:pt x="426" y="494488"/>
                  </a:lnTo>
                  <a:lnTo>
                    <a:pt x="0" y="490152"/>
                  </a:lnTo>
                  <a:lnTo>
                    <a:pt x="0" y="485774"/>
                  </a:lnTo>
                  <a:close/>
                </a:path>
              </a:pathLst>
            </a:custGeom>
            <a:ln w="19049">
              <a:solidFill>
                <a:srgbClr val="28A64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77124" y="1838324"/>
              <a:ext cx="1847849" cy="380999"/>
            </a:xfrm>
            <a:prstGeom prst="rect">
              <a:avLst/>
            </a:prstGeom>
          </p:spPr>
        </p:pic>
      </p:grpSp>
      <p:grpSp>
        <p:nvGrpSpPr>
          <p:cNvPr id="64" name="object 64" descr=""/>
          <p:cNvGrpSpPr/>
          <p:nvPr/>
        </p:nvGrpSpPr>
        <p:grpSpPr>
          <a:xfrm>
            <a:off x="3067049" y="2486024"/>
            <a:ext cx="2038350" cy="571500"/>
            <a:chOff x="3067049" y="2486024"/>
            <a:chExt cx="2038350" cy="571500"/>
          </a:xfrm>
        </p:grpSpPr>
        <p:sp>
          <p:nvSpPr>
            <p:cNvPr id="65" name="object 65" descr=""/>
            <p:cNvSpPr/>
            <p:nvPr/>
          </p:nvSpPr>
          <p:spPr>
            <a:xfrm>
              <a:off x="3076574" y="2495549"/>
              <a:ext cx="2019300" cy="552450"/>
            </a:xfrm>
            <a:custGeom>
              <a:avLst/>
              <a:gdLst/>
              <a:ahLst/>
              <a:cxnLst/>
              <a:rect l="l" t="t" r="r" b="b"/>
              <a:pathLst>
                <a:path w="2019300" h="552450">
                  <a:moveTo>
                    <a:pt x="0" y="4857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0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6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57960" y="427"/>
                  </a:lnTo>
                  <a:lnTo>
                    <a:pt x="62297" y="0"/>
                  </a:lnTo>
                  <a:lnTo>
                    <a:pt x="66674" y="0"/>
                  </a:lnTo>
                  <a:lnTo>
                    <a:pt x="1952624" y="0"/>
                  </a:lnTo>
                  <a:lnTo>
                    <a:pt x="1957002" y="0"/>
                  </a:lnTo>
                  <a:lnTo>
                    <a:pt x="1961338" y="427"/>
                  </a:lnTo>
                  <a:lnTo>
                    <a:pt x="1996675" y="16432"/>
                  </a:lnTo>
                  <a:lnTo>
                    <a:pt x="1999770" y="19528"/>
                  </a:lnTo>
                  <a:lnTo>
                    <a:pt x="2002866" y="22623"/>
                  </a:lnTo>
                  <a:lnTo>
                    <a:pt x="2018017" y="53667"/>
                  </a:lnTo>
                  <a:lnTo>
                    <a:pt x="2018872" y="57960"/>
                  </a:lnTo>
                  <a:lnTo>
                    <a:pt x="2019299" y="62297"/>
                  </a:lnTo>
                  <a:lnTo>
                    <a:pt x="2019299" y="66674"/>
                  </a:lnTo>
                  <a:lnTo>
                    <a:pt x="2019299" y="485774"/>
                  </a:lnTo>
                  <a:lnTo>
                    <a:pt x="2019299" y="490152"/>
                  </a:lnTo>
                  <a:lnTo>
                    <a:pt x="2018872" y="494488"/>
                  </a:lnTo>
                  <a:lnTo>
                    <a:pt x="2018017" y="498782"/>
                  </a:lnTo>
                  <a:lnTo>
                    <a:pt x="2017163" y="503075"/>
                  </a:lnTo>
                  <a:lnTo>
                    <a:pt x="1996675" y="536016"/>
                  </a:lnTo>
                  <a:lnTo>
                    <a:pt x="1978139" y="547374"/>
                  </a:lnTo>
                  <a:lnTo>
                    <a:pt x="1974095" y="549049"/>
                  </a:lnTo>
                  <a:lnTo>
                    <a:pt x="1952624" y="552449"/>
                  </a:lnTo>
                  <a:lnTo>
                    <a:pt x="66674" y="552449"/>
                  </a:lnTo>
                  <a:lnTo>
                    <a:pt x="29631" y="541212"/>
                  </a:lnTo>
                  <a:lnTo>
                    <a:pt x="5075" y="511289"/>
                  </a:lnTo>
                  <a:lnTo>
                    <a:pt x="1281" y="498782"/>
                  </a:lnTo>
                  <a:lnTo>
                    <a:pt x="427" y="494488"/>
                  </a:lnTo>
                  <a:lnTo>
                    <a:pt x="0" y="490152"/>
                  </a:lnTo>
                  <a:lnTo>
                    <a:pt x="0" y="485774"/>
                  </a:lnTo>
                  <a:close/>
                </a:path>
              </a:pathLst>
            </a:custGeom>
            <a:ln w="19049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62299" y="2581274"/>
              <a:ext cx="1847849" cy="380999"/>
            </a:xfrm>
            <a:prstGeom prst="rect">
              <a:avLst/>
            </a:prstGeom>
          </p:spPr>
        </p:pic>
      </p:grpSp>
      <p:grpSp>
        <p:nvGrpSpPr>
          <p:cNvPr id="67" name="object 67" descr=""/>
          <p:cNvGrpSpPr/>
          <p:nvPr/>
        </p:nvGrpSpPr>
        <p:grpSpPr>
          <a:xfrm>
            <a:off x="5219698" y="2486024"/>
            <a:ext cx="2047875" cy="571500"/>
            <a:chOff x="5219698" y="2486024"/>
            <a:chExt cx="2047875" cy="571500"/>
          </a:xfrm>
        </p:grpSpPr>
        <p:pic>
          <p:nvPicPr>
            <p:cNvPr id="68" name="object 6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38749" y="2505074"/>
              <a:ext cx="2009774" cy="533399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5229223" y="2495549"/>
              <a:ext cx="2028825" cy="552450"/>
            </a:xfrm>
            <a:custGeom>
              <a:avLst/>
              <a:gdLst/>
              <a:ahLst/>
              <a:cxnLst/>
              <a:rect l="l" t="t" r="r" b="b"/>
              <a:pathLst>
                <a:path w="2028825" h="552450">
                  <a:moveTo>
                    <a:pt x="0" y="4857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6" y="57960"/>
                  </a:lnTo>
                  <a:lnTo>
                    <a:pt x="11237" y="29631"/>
                  </a:lnTo>
                  <a:lnTo>
                    <a:pt x="13669" y="25991"/>
                  </a:lnTo>
                  <a:lnTo>
                    <a:pt x="16433" y="22623"/>
                  </a:lnTo>
                  <a:lnTo>
                    <a:pt x="19529" y="19528"/>
                  </a:lnTo>
                  <a:lnTo>
                    <a:pt x="22624" y="16432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962150" y="0"/>
                  </a:lnTo>
                  <a:lnTo>
                    <a:pt x="1966528" y="0"/>
                  </a:lnTo>
                  <a:lnTo>
                    <a:pt x="1970863" y="427"/>
                  </a:lnTo>
                  <a:lnTo>
                    <a:pt x="1975157" y="1281"/>
                  </a:lnTo>
                  <a:lnTo>
                    <a:pt x="1979450" y="2135"/>
                  </a:lnTo>
                  <a:lnTo>
                    <a:pt x="1983620" y="3400"/>
                  </a:lnTo>
                  <a:lnTo>
                    <a:pt x="1987664" y="5075"/>
                  </a:lnTo>
                  <a:lnTo>
                    <a:pt x="1991709" y="6750"/>
                  </a:lnTo>
                  <a:lnTo>
                    <a:pt x="1995552" y="8804"/>
                  </a:lnTo>
                  <a:lnTo>
                    <a:pt x="1999192" y="11236"/>
                  </a:lnTo>
                  <a:lnTo>
                    <a:pt x="2002832" y="13668"/>
                  </a:lnTo>
                  <a:lnTo>
                    <a:pt x="2006201" y="16432"/>
                  </a:lnTo>
                  <a:lnTo>
                    <a:pt x="2009296" y="19528"/>
                  </a:lnTo>
                  <a:lnTo>
                    <a:pt x="2012392" y="22623"/>
                  </a:lnTo>
                  <a:lnTo>
                    <a:pt x="2023749" y="41159"/>
                  </a:lnTo>
                  <a:lnTo>
                    <a:pt x="2025425" y="45203"/>
                  </a:lnTo>
                  <a:lnTo>
                    <a:pt x="2026690" y="49373"/>
                  </a:lnTo>
                  <a:lnTo>
                    <a:pt x="2027544" y="53667"/>
                  </a:lnTo>
                  <a:lnTo>
                    <a:pt x="2028398" y="57960"/>
                  </a:lnTo>
                  <a:lnTo>
                    <a:pt x="2028825" y="62297"/>
                  </a:lnTo>
                  <a:lnTo>
                    <a:pt x="2028825" y="66674"/>
                  </a:lnTo>
                  <a:lnTo>
                    <a:pt x="2028825" y="485774"/>
                  </a:lnTo>
                  <a:lnTo>
                    <a:pt x="2028825" y="490152"/>
                  </a:lnTo>
                  <a:lnTo>
                    <a:pt x="2028398" y="494488"/>
                  </a:lnTo>
                  <a:lnTo>
                    <a:pt x="2027544" y="498782"/>
                  </a:lnTo>
                  <a:lnTo>
                    <a:pt x="2026690" y="503075"/>
                  </a:lnTo>
                  <a:lnTo>
                    <a:pt x="2006201" y="536016"/>
                  </a:lnTo>
                  <a:lnTo>
                    <a:pt x="1970863" y="552022"/>
                  </a:lnTo>
                  <a:lnTo>
                    <a:pt x="1962150" y="552449"/>
                  </a:lnTo>
                  <a:lnTo>
                    <a:pt x="66675" y="552449"/>
                  </a:lnTo>
                  <a:lnTo>
                    <a:pt x="29632" y="541212"/>
                  </a:lnTo>
                  <a:lnTo>
                    <a:pt x="5075" y="511289"/>
                  </a:lnTo>
                  <a:lnTo>
                    <a:pt x="0" y="490152"/>
                  </a:lnTo>
                  <a:lnTo>
                    <a:pt x="0" y="485774"/>
                  </a:lnTo>
                  <a:close/>
                </a:path>
              </a:pathLst>
            </a:custGeom>
            <a:ln w="19049">
              <a:solidFill>
                <a:srgbClr val="FFC1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314949" y="2581274"/>
              <a:ext cx="1857374" cy="380999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5775477" y="2667198"/>
              <a:ext cx="936625" cy="209550"/>
            </a:xfrm>
            <a:custGeom>
              <a:avLst/>
              <a:gdLst/>
              <a:ahLst/>
              <a:cxnLst/>
              <a:rect l="l" t="t" r="r" b="b"/>
              <a:pathLst>
                <a:path w="936625" h="209550">
                  <a:moveTo>
                    <a:pt x="914612" y="209153"/>
                  </a:moveTo>
                  <a:lnTo>
                    <a:pt x="21597" y="209153"/>
                  </a:lnTo>
                  <a:lnTo>
                    <a:pt x="18421" y="208521"/>
                  </a:lnTo>
                  <a:lnTo>
                    <a:pt x="0" y="187555"/>
                  </a:lnTo>
                  <a:lnTo>
                    <a:pt x="0" y="184254"/>
                  </a:lnTo>
                  <a:lnTo>
                    <a:pt x="0" y="21597"/>
                  </a:lnTo>
                  <a:lnTo>
                    <a:pt x="21597" y="0"/>
                  </a:lnTo>
                  <a:lnTo>
                    <a:pt x="914612" y="0"/>
                  </a:lnTo>
                  <a:lnTo>
                    <a:pt x="936210" y="21597"/>
                  </a:lnTo>
                  <a:lnTo>
                    <a:pt x="936210" y="187555"/>
                  </a:lnTo>
                  <a:lnTo>
                    <a:pt x="917788" y="208521"/>
                  </a:lnTo>
                  <a:lnTo>
                    <a:pt x="914612" y="209153"/>
                  </a:lnTo>
                  <a:close/>
                </a:path>
              </a:pathLst>
            </a:custGeom>
            <a:solidFill>
              <a:srgbClr val="3A6EA5">
                <a:alpha val="1627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5775477" y="2667198"/>
              <a:ext cx="936625" cy="209550"/>
            </a:xfrm>
            <a:custGeom>
              <a:avLst/>
              <a:gdLst/>
              <a:ahLst/>
              <a:cxnLst/>
              <a:rect l="l" t="t" r="r" b="b"/>
              <a:pathLst>
                <a:path w="936625" h="209550">
                  <a:moveTo>
                    <a:pt x="0" y="184254"/>
                  </a:moveTo>
                  <a:lnTo>
                    <a:pt x="0" y="24899"/>
                  </a:lnTo>
                  <a:lnTo>
                    <a:pt x="0" y="21597"/>
                  </a:lnTo>
                  <a:lnTo>
                    <a:pt x="631" y="18421"/>
                  </a:lnTo>
                  <a:lnTo>
                    <a:pt x="1895" y="15370"/>
                  </a:lnTo>
                  <a:lnTo>
                    <a:pt x="3158" y="12320"/>
                  </a:lnTo>
                  <a:lnTo>
                    <a:pt x="4958" y="9627"/>
                  </a:lnTo>
                  <a:lnTo>
                    <a:pt x="21597" y="0"/>
                  </a:lnTo>
                  <a:lnTo>
                    <a:pt x="24899" y="0"/>
                  </a:lnTo>
                  <a:lnTo>
                    <a:pt x="911311" y="0"/>
                  </a:lnTo>
                  <a:lnTo>
                    <a:pt x="914612" y="0"/>
                  </a:lnTo>
                  <a:lnTo>
                    <a:pt x="917788" y="631"/>
                  </a:lnTo>
                  <a:lnTo>
                    <a:pt x="920839" y="1895"/>
                  </a:lnTo>
                  <a:lnTo>
                    <a:pt x="923889" y="3158"/>
                  </a:lnTo>
                  <a:lnTo>
                    <a:pt x="936210" y="24899"/>
                  </a:lnTo>
                  <a:lnTo>
                    <a:pt x="936210" y="184254"/>
                  </a:lnTo>
                  <a:lnTo>
                    <a:pt x="920839" y="207257"/>
                  </a:lnTo>
                  <a:lnTo>
                    <a:pt x="917788" y="208521"/>
                  </a:lnTo>
                  <a:lnTo>
                    <a:pt x="914612" y="209153"/>
                  </a:lnTo>
                  <a:lnTo>
                    <a:pt x="911311" y="209153"/>
                  </a:lnTo>
                  <a:lnTo>
                    <a:pt x="24899" y="209153"/>
                  </a:lnTo>
                  <a:lnTo>
                    <a:pt x="21597" y="209153"/>
                  </a:lnTo>
                  <a:lnTo>
                    <a:pt x="18421" y="208521"/>
                  </a:lnTo>
                  <a:lnTo>
                    <a:pt x="15370" y="207258"/>
                  </a:lnTo>
                  <a:lnTo>
                    <a:pt x="12320" y="205994"/>
                  </a:lnTo>
                  <a:lnTo>
                    <a:pt x="0" y="187555"/>
                  </a:lnTo>
                  <a:lnTo>
                    <a:pt x="0" y="184254"/>
                  </a:lnTo>
                  <a:close/>
                </a:path>
              </a:pathLst>
            </a:custGeom>
            <a:ln w="29879">
              <a:solidFill>
                <a:srgbClr val="DB344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3" name="object 73" descr=""/>
          <p:cNvGrpSpPr/>
          <p:nvPr/>
        </p:nvGrpSpPr>
        <p:grpSpPr>
          <a:xfrm>
            <a:off x="7381874" y="2486024"/>
            <a:ext cx="2038350" cy="571500"/>
            <a:chOff x="7381874" y="2486024"/>
            <a:chExt cx="2038350" cy="571500"/>
          </a:xfrm>
        </p:grpSpPr>
        <p:pic>
          <p:nvPicPr>
            <p:cNvPr id="74" name="object 7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00924" y="2505074"/>
              <a:ext cx="2000249" cy="533399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7391399" y="2495549"/>
              <a:ext cx="2019300" cy="552450"/>
            </a:xfrm>
            <a:custGeom>
              <a:avLst/>
              <a:gdLst/>
              <a:ahLst/>
              <a:cxnLst/>
              <a:rect l="l" t="t" r="r" b="b"/>
              <a:pathLst>
                <a:path w="2019300" h="552450">
                  <a:moveTo>
                    <a:pt x="0" y="4857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6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19527" y="19528"/>
                  </a:lnTo>
                  <a:lnTo>
                    <a:pt x="22623" y="16432"/>
                  </a:lnTo>
                  <a:lnTo>
                    <a:pt x="53666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1952624" y="0"/>
                  </a:lnTo>
                  <a:lnTo>
                    <a:pt x="1957002" y="0"/>
                  </a:lnTo>
                  <a:lnTo>
                    <a:pt x="1961338" y="427"/>
                  </a:lnTo>
                  <a:lnTo>
                    <a:pt x="1996674" y="16432"/>
                  </a:lnTo>
                  <a:lnTo>
                    <a:pt x="1999770" y="19528"/>
                  </a:lnTo>
                  <a:lnTo>
                    <a:pt x="2002865" y="22623"/>
                  </a:lnTo>
                  <a:lnTo>
                    <a:pt x="2014223" y="41159"/>
                  </a:lnTo>
                  <a:lnTo>
                    <a:pt x="2015898" y="45203"/>
                  </a:lnTo>
                  <a:lnTo>
                    <a:pt x="2017163" y="49373"/>
                  </a:lnTo>
                  <a:lnTo>
                    <a:pt x="2018017" y="53667"/>
                  </a:lnTo>
                  <a:lnTo>
                    <a:pt x="2018872" y="57960"/>
                  </a:lnTo>
                  <a:lnTo>
                    <a:pt x="2019299" y="62297"/>
                  </a:lnTo>
                  <a:lnTo>
                    <a:pt x="2019299" y="66674"/>
                  </a:lnTo>
                  <a:lnTo>
                    <a:pt x="2019299" y="485774"/>
                  </a:lnTo>
                  <a:lnTo>
                    <a:pt x="2019299" y="490152"/>
                  </a:lnTo>
                  <a:lnTo>
                    <a:pt x="2018872" y="494488"/>
                  </a:lnTo>
                  <a:lnTo>
                    <a:pt x="2002865" y="529825"/>
                  </a:lnTo>
                  <a:lnTo>
                    <a:pt x="1989666" y="541212"/>
                  </a:lnTo>
                  <a:lnTo>
                    <a:pt x="1986026" y="543644"/>
                  </a:lnTo>
                  <a:lnTo>
                    <a:pt x="1982183" y="545698"/>
                  </a:lnTo>
                  <a:lnTo>
                    <a:pt x="1978138" y="547374"/>
                  </a:lnTo>
                  <a:lnTo>
                    <a:pt x="1974094" y="549049"/>
                  </a:lnTo>
                  <a:lnTo>
                    <a:pt x="1952624" y="552449"/>
                  </a:lnTo>
                  <a:lnTo>
                    <a:pt x="66674" y="552449"/>
                  </a:lnTo>
                  <a:lnTo>
                    <a:pt x="41158" y="547374"/>
                  </a:lnTo>
                  <a:lnTo>
                    <a:pt x="37113" y="545698"/>
                  </a:lnTo>
                  <a:lnTo>
                    <a:pt x="8803" y="519176"/>
                  </a:lnTo>
                  <a:lnTo>
                    <a:pt x="1280" y="498782"/>
                  </a:lnTo>
                  <a:lnTo>
                    <a:pt x="426" y="494488"/>
                  </a:lnTo>
                  <a:lnTo>
                    <a:pt x="0" y="490152"/>
                  </a:lnTo>
                  <a:lnTo>
                    <a:pt x="0" y="485774"/>
                  </a:lnTo>
                  <a:close/>
                </a:path>
              </a:pathLst>
            </a:custGeom>
            <a:ln w="19049">
              <a:solidFill>
                <a:srgbClr val="28A64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477124" y="2581274"/>
              <a:ext cx="1847849" cy="380999"/>
            </a:xfrm>
            <a:prstGeom prst="rect">
              <a:avLst/>
            </a:prstGeom>
          </p:spPr>
        </p:pic>
      </p:grpSp>
      <p:grpSp>
        <p:nvGrpSpPr>
          <p:cNvPr id="77" name="object 77" descr=""/>
          <p:cNvGrpSpPr/>
          <p:nvPr/>
        </p:nvGrpSpPr>
        <p:grpSpPr>
          <a:xfrm>
            <a:off x="3067049" y="3228974"/>
            <a:ext cx="2038350" cy="571500"/>
            <a:chOff x="3067049" y="3228974"/>
            <a:chExt cx="2038350" cy="571500"/>
          </a:xfrm>
        </p:grpSpPr>
        <p:sp>
          <p:nvSpPr>
            <p:cNvPr id="78" name="object 78" descr=""/>
            <p:cNvSpPr/>
            <p:nvPr/>
          </p:nvSpPr>
          <p:spPr>
            <a:xfrm>
              <a:off x="3076574" y="3238499"/>
              <a:ext cx="2019300" cy="552450"/>
            </a:xfrm>
            <a:custGeom>
              <a:avLst/>
              <a:gdLst/>
              <a:ahLst/>
              <a:cxnLst/>
              <a:rect l="l" t="t" r="r" b="b"/>
              <a:pathLst>
                <a:path w="2019300" h="552450">
                  <a:moveTo>
                    <a:pt x="0" y="4857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6"/>
                  </a:lnTo>
                  <a:lnTo>
                    <a:pt x="2135" y="49372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6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57960" y="427"/>
                  </a:lnTo>
                  <a:lnTo>
                    <a:pt x="66674" y="0"/>
                  </a:lnTo>
                  <a:lnTo>
                    <a:pt x="1952624" y="0"/>
                  </a:lnTo>
                  <a:lnTo>
                    <a:pt x="1989666" y="11236"/>
                  </a:lnTo>
                  <a:lnTo>
                    <a:pt x="1999770" y="19528"/>
                  </a:lnTo>
                  <a:lnTo>
                    <a:pt x="2002866" y="22623"/>
                  </a:lnTo>
                  <a:lnTo>
                    <a:pt x="2018017" y="53667"/>
                  </a:lnTo>
                  <a:lnTo>
                    <a:pt x="2018872" y="57960"/>
                  </a:lnTo>
                  <a:lnTo>
                    <a:pt x="2019299" y="62296"/>
                  </a:lnTo>
                  <a:lnTo>
                    <a:pt x="2019299" y="66674"/>
                  </a:lnTo>
                  <a:lnTo>
                    <a:pt x="2019299" y="485774"/>
                  </a:lnTo>
                  <a:lnTo>
                    <a:pt x="2019299" y="490152"/>
                  </a:lnTo>
                  <a:lnTo>
                    <a:pt x="2018872" y="494488"/>
                  </a:lnTo>
                  <a:lnTo>
                    <a:pt x="2018017" y="498782"/>
                  </a:lnTo>
                  <a:lnTo>
                    <a:pt x="2017163" y="503075"/>
                  </a:lnTo>
                  <a:lnTo>
                    <a:pt x="1996675" y="536016"/>
                  </a:lnTo>
                  <a:lnTo>
                    <a:pt x="1989666" y="541212"/>
                  </a:lnTo>
                  <a:lnTo>
                    <a:pt x="1986026" y="543644"/>
                  </a:lnTo>
                  <a:lnTo>
                    <a:pt x="1982184" y="545698"/>
                  </a:lnTo>
                  <a:lnTo>
                    <a:pt x="1978139" y="547374"/>
                  </a:lnTo>
                  <a:lnTo>
                    <a:pt x="1974095" y="549049"/>
                  </a:lnTo>
                  <a:lnTo>
                    <a:pt x="1969925" y="550314"/>
                  </a:lnTo>
                  <a:lnTo>
                    <a:pt x="1965632" y="551168"/>
                  </a:lnTo>
                  <a:lnTo>
                    <a:pt x="1961338" y="552022"/>
                  </a:lnTo>
                  <a:lnTo>
                    <a:pt x="1957002" y="552449"/>
                  </a:lnTo>
                  <a:lnTo>
                    <a:pt x="1952624" y="552449"/>
                  </a:lnTo>
                  <a:lnTo>
                    <a:pt x="66674" y="552449"/>
                  </a:lnTo>
                  <a:lnTo>
                    <a:pt x="62297" y="552449"/>
                  </a:lnTo>
                  <a:lnTo>
                    <a:pt x="57960" y="552022"/>
                  </a:lnTo>
                  <a:lnTo>
                    <a:pt x="29631" y="541212"/>
                  </a:lnTo>
                  <a:lnTo>
                    <a:pt x="25992" y="538780"/>
                  </a:lnTo>
                  <a:lnTo>
                    <a:pt x="5075" y="511289"/>
                  </a:lnTo>
                  <a:lnTo>
                    <a:pt x="3399" y="507245"/>
                  </a:lnTo>
                  <a:lnTo>
                    <a:pt x="2135" y="503075"/>
                  </a:lnTo>
                  <a:lnTo>
                    <a:pt x="1281" y="498782"/>
                  </a:lnTo>
                  <a:lnTo>
                    <a:pt x="427" y="494488"/>
                  </a:lnTo>
                  <a:lnTo>
                    <a:pt x="0" y="490152"/>
                  </a:lnTo>
                  <a:lnTo>
                    <a:pt x="0" y="485774"/>
                  </a:lnTo>
                  <a:close/>
                </a:path>
              </a:pathLst>
            </a:custGeom>
            <a:ln w="19049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162299" y="3324224"/>
              <a:ext cx="1847849" cy="380999"/>
            </a:xfrm>
            <a:prstGeom prst="rect">
              <a:avLst/>
            </a:prstGeom>
          </p:spPr>
        </p:pic>
      </p:grpSp>
      <p:grpSp>
        <p:nvGrpSpPr>
          <p:cNvPr id="80" name="object 80" descr=""/>
          <p:cNvGrpSpPr/>
          <p:nvPr/>
        </p:nvGrpSpPr>
        <p:grpSpPr>
          <a:xfrm>
            <a:off x="5219698" y="3228974"/>
            <a:ext cx="2047875" cy="571500"/>
            <a:chOff x="5219698" y="3228974"/>
            <a:chExt cx="2047875" cy="571500"/>
          </a:xfrm>
        </p:grpSpPr>
        <p:pic>
          <p:nvPicPr>
            <p:cNvPr id="81" name="object 8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38749" y="3248024"/>
              <a:ext cx="2009774" cy="533399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5229223" y="3238499"/>
              <a:ext cx="2028825" cy="552450"/>
            </a:xfrm>
            <a:custGeom>
              <a:avLst/>
              <a:gdLst/>
              <a:ahLst/>
              <a:cxnLst/>
              <a:rect l="l" t="t" r="r" b="b"/>
              <a:pathLst>
                <a:path w="2028825" h="552450">
                  <a:moveTo>
                    <a:pt x="0" y="4857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1237" y="29631"/>
                  </a:lnTo>
                  <a:lnTo>
                    <a:pt x="13669" y="25991"/>
                  </a:lnTo>
                  <a:lnTo>
                    <a:pt x="16433" y="22623"/>
                  </a:lnTo>
                  <a:lnTo>
                    <a:pt x="19529" y="19528"/>
                  </a:lnTo>
                  <a:lnTo>
                    <a:pt x="22624" y="16432"/>
                  </a:lnTo>
                  <a:lnTo>
                    <a:pt x="57961" y="427"/>
                  </a:lnTo>
                  <a:lnTo>
                    <a:pt x="66675" y="0"/>
                  </a:lnTo>
                  <a:lnTo>
                    <a:pt x="1962150" y="0"/>
                  </a:lnTo>
                  <a:lnTo>
                    <a:pt x="1987664" y="5075"/>
                  </a:lnTo>
                  <a:lnTo>
                    <a:pt x="1991709" y="6750"/>
                  </a:lnTo>
                  <a:lnTo>
                    <a:pt x="1995552" y="8804"/>
                  </a:lnTo>
                  <a:lnTo>
                    <a:pt x="1999192" y="11236"/>
                  </a:lnTo>
                  <a:lnTo>
                    <a:pt x="2002832" y="13668"/>
                  </a:lnTo>
                  <a:lnTo>
                    <a:pt x="2006201" y="16432"/>
                  </a:lnTo>
                  <a:lnTo>
                    <a:pt x="2009296" y="19528"/>
                  </a:lnTo>
                  <a:lnTo>
                    <a:pt x="2012392" y="22623"/>
                  </a:lnTo>
                  <a:lnTo>
                    <a:pt x="2023749" y="41159"/>
                  </a:lnTo>
                  <a:lnTo>
                    <a:pt x="2025425" y="45203"/>
                  </a:lnTo>
                  <a:lnTo>
                    <a:pt x="2026690" y="49372"/>
                  </a:lnTo>
                  <a:lnTo>
                    <a:pt x="2027544" y="53667"/>
                  </a:lnTo>
                  <a:lnTo>
                    <a:pt x="2028398" y="57960"/>
                  </a:lnTo>
                  <a:lnTo>
                    <a:pt x="2028825" y="62296"/>
                  </a:lnTo>
                  <a:lnTo>
                    <a:pt x="2028825" y="66674"/>
                  </a:lnTo>
                  <a:lnTo>
                    <a:pt x="2028825" y="485774"/>
                  </a:lnTo>
                  <a:lnTo>
                    <a:pt x="2028825" y="490152"/>
                  </a:lnTo>
                  <a:lnTo>
                    <a:pt x="2028398" y="494488"/>
                  </a:lnTo>
                  <a:lnTo>
                    <a:pt x="2027544" y="498782"/>
                  </a:lnTo>
                  <a:lnTo>
                    <a:pt x="2026690" y="503075"/>
                  </a:lnTo>
                  <a:lnTo>
                    <a:pt x="2025425" y="507245"/>
                  </a:lnTo>
                  <a:lnTo>
                    <a:pt x="2023749" y="511289"/>
                  </a:lnTo>
                  <a:lnTo>
                    <a:pt x="2022074" y="515334"/>
                  </a:lnTo>
                  <a:lnTo>
                    <a:pt x="1999192" y="541212"/>
                  </a:lnTo>
                  <a:lnTo>
                    <a:pt x="1995552" y="543644"/>
                  </a:lnTo>
                  <a:lnTo>
                    <a:pt x="1966528" y="552449"/>
                  </a:lnTo>
                  <a:lnTo>
                    <a:pt x="1962150" y="552449"/>
                  </a:lnTo>
                  <a:lnTo>
                    <a:pt x="66675" y="552449"/>
                  </a:lnTo>
                  <a:lnTo>
                    <a:pt x="62297" y="552449"/>
                  </a:lnTo>
                  <a:lnTo>
                    <a:pt x="57961" y="552022"/>
                  </a:lnTo>
                  <a:lnTo>
                    <a:pt x="29632" y="541212"/>
                  </a:lnTo>
                  <a:lnTo>
                    <a:pt x="25992" y="538780"/>
                  </a:lnTo>
                  <a:lnTo>
                    <a:pt x="3400" y="507245"/>
                  </a:lnTo>
                  <a:lnTo>
                    <a:pt x="0" y="490152"/>
                  </a:lnTo>
                  <a:lnTo>
                    <a:pt x="0" y="485774"/>
                  </a:lnTo>
                  <a:close/>
                </a:path>
              </a:pathLst>
            </a:custGeom>
            <a:ln w="19049">
              <a:solidFill>
                <a:srgbClr val="FFC1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14949" y="3324224"/>
              <a:ext cx="1857374" cy="380999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6340608" y="3410148"/>
              <a:ext cx="358775" cy="209550"/>
            </a:xfrm>
            <a:custGeom>
              <a:avLst/>
              <a:gdLst/>
              <a:ahLst/>
              <a:cxnLst/>
              <a:rect l="l" t="t" r="r" b="b"/>
              <a:pathLst>
                <a:path w="358775" h="209550">
                  <a:moveTo>
                    <a:pt x="336951" y="209153"/>
                  </a:moveTo>
                  <a:lnTo>
                    <a:pt x="21597" y="209153"/>
                  </a:lnTo>
                  <a:lnTo>
                    <a:pt x="18421" y="208521"/>
                  </a:lnTo>
                  <a:lnTo>
                    <a:pt x="0" y="187555"/>
                  </a:lnTo>
                  <a:lnTo>
                    <a:pt x="0" y="184254"/>
                  </a:lnTo>
                  <a:lnTo>
                    <a:pt x="0" y="21597"/>
                  </a:lnTo>
                  <a:lnTo>
                    <a:pt x="21597" y="0"/>
                  </a:lnTo>
                  <a:lnTo>
                    <a:pt x="336951" y="0"/>
                  </a:lnTo>
                  <a:lnTo>
                    <a:pt x="358548" y="21597"/>
                  </a:lnTo>
                  <a:lnTo>
                    <a:pt x="358548" y="187555"/>
                  </a:lnTo>
                  <a:lnTo>
                    <a:pt x="340127" y="208521"/>
                  </a:lnTo>
                  <a:lnTo>
                    <a:pt x="336951" y="209153"/>
                  </a:lnTo>
                  <a:close/>
                </a:path>
              </a:pathLst>
            </a:custGeom>
            <a:solidFill>
              <a:srgbClr val="3A6EA5">
                <a:alpha val="1627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6340608" y="3410148"/>
              <a:ext cx="358775" cy="209550"/>
            </a:xfrm>
            <a:custGeom>
              <a:avLst/>
              <a:gdLst/>
              <a:ahLst/>
              <a:cxnLst/>
              <a:rect l="l" t="t" r="r" b="b"/>
              <a:pathLst>
                <a:path w="358775" h="209550">
                  <a:moveTo>
                    <a:pt x="0" y="184254"/>
                  </a:moveTo>
                  <a:lnTo>
                    <a:pt x="0" y="24899"/>
                  </a:lnTo>
                  <a:lnTo>
                    <a:pt x="0" y="21597"/>
                  </a:lnTo>
                  <a:lnTo>
                    <a:pt x="631" y="18421"/>
                  </a:lnTo>
                  <a:lnTo>
                    <a:pt x="1895" y="15370"/>
                  </a:lnTo>
                  <a:lnTo>
                    <a:pt x="3158" y="12320"/>
                  </a:lnTo>
                  <a:lnTo>
                    <a:pt x="4958" y="9627"/>
                  </a:lnTo>
                  <a:lnTo>
                    <a:pt x="21597" y="0"/>
                  </a:lnTo>
                  <a:lnTo>
                    <a:pt x="24899" y="0"/>
                  </a:lnTo>
                  <a:lnTo>
                    <a:pt x="333649" y="0"/>
                  </a:lnTo>
                  <a:lnTo>
                    <a:pt x="336951" y="0"/>
                  </a:lnTo>
                  <a:lnTo>
                    <a:pt x="340127" y="631"/>
                  </a:lnTo>
                  <a:lnTo>
                    <a:pt x="343177" y="1895"/>
                  </a:lnTo>
                  <a:lnTo>
                    <a:pt x="346228" y="3158"/>
                  </a:lnTo>
                  <a:lnTo>
                    <a:pt x="358548" y="24899"/>
                  </a:lnTo>
                  <a:lnTo>
                    <a:pt x="358548" y="184254"/>
                  </a:lnTo>
                  <a:lnTo>
                    <a:pt x="343177" y="207257"/>
                  </a:lnTo>
                  <a:lnTo>
                    <a:pt x="340127" y="208521"/>
                  </a:lnTo>
                  <a:lnTo>
                    <a:pt x="336951" y="209153"/>
                  </a:lnTo>
                  <a:lnTo>
                    <a:pt x="333649" y="209153"/>
                  </a:lnTo>
                  <a:lnTo>
                    <a:pt x="24899" y="209153"/>
                  </a:lnTo>
                  <a:lnTo>
                    <a:pt x="21597" y="209153"/>
                  </a:lnTo>
                  <a:lnTo>
                    <a:pt x="18421" y="208521"/>
                  </a:lnTo>
                  <a:lnTo>
                    <a:pt x="15370" y="207258"/>
                  </a:lnTo>
                  <a:lnTo>
                    <a:pt x="12320" y="205994"/>
                  </a:lnTo>
                  <a:lnTo>
                    <a:pt x="0" y="187555"/>
                  </a:lnTo>
                  <a:lnTo>
                    <a:pt x="0" y="184254"/>
                  </a:lnTo>
                  <a:close/>
                </a:path>
              </a:pathLst>
            </a:custGeom>
            <a:ln w="2987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6" name="object 86" descr=""/>
          <p:cNvGrpSpPr/>
          <p:nvPr/>
        </p:nvGrpSpPr>
        <p:grpSpPr>
          <a:xfrm>
            <a:off x="7381874" y="3228974"/>
            <a:ext cx="2038350" cy="571500"/>
            <a:chOff x="7381874" y="3228974"/>
            <a:chExt cx="2038350" cy="571500"/>
          </a:xfrm>
        </p:grpSpPr>
        <p:pic>
          <p:nvPicPr>
            <p:cNvPr id="87" name="object 8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400924" y="3248024"/>
              <a:ext cx="2000249" cy="533399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7391399" y="3238499"/>
              <a:ext cx="2019300" cy="552450"/>
            </a:xfrm>
            <a:custGeom>
              <a:avLst/>
              <a:gdLst/>
              <a:ahLst/>
              <a:cxnLst/>
              <a:rect l="l" t="t" r="r" b="b"/>
              <a:pathLst>
                <a:path w="2019300" h="552450">
                  <a:moveTo>
                    <a:pt x="0" y="4857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0" y="53666"/>
                  </a:lnTo>
                  <a:lnTo>
                    <a:pt x="2134" y="49372"/>
                  </a:lnTo>
                  <a:lnTo>
                    <a:pt x="3399" y="45203"/>
                  </a:lnTo>
                  <a:lnTo>
                    <a:pt x="19527" y="19528"/>
                  </a:lnTo>
                  <a:lnTo>
                    <a:pt x="22623" y="16432"/>
                  </a:lnTo>
                  <a:lnTo>
                    <a:pt x="57960" y="427"/>
                  </a:lnTo>
                  <a:lnTo>
                    <a:pt x="66674" y="0"/>
                  </a:lnTo>
                  <a:lnTo>
                    <a:pt x="1952624" y="0"/>
                  </a:lnTo>
                  <a:lnTo>
                    <a:pt x="1989666" y="11236"/>
                  </a:lnTo>
                  <a:lnTo>
                    <a:pt x="1999770" y="19528"/>
                  </a:lnTo>
                  <a:lnTo>
                    <a:pt x="2002865" y="22623"/>
                  </a:lnTo>
                  <a:lnTo>
                    <a:pt x="2014223" y="41159"/>
                  </a:lnTo>
                  <a:lnTo>
                    <a:pt x="2015898" y="45203"/>
                  </a:lnTo>
                  <a:lnTo>
                    <a:pt x="2017163" y="49372"/>
                  </a:lnTo>
                  <a:lnTo>
                    <a:pt x="2018017" y="53667"/>
                  </a:lnTo>
                  <a:lnTo>
                    <a:pt x="2018872" y="57960"/>
                  </a:lnTo>
                  <a:lnTo>
                    <a:pt x="2019299" y="62296"/>
                  </a:lnTo>
                  <a:lnTo>
                    <a:pt x="2019299" y="66674"/>
                  </a:lnTo>
                  <a:lnTo>
                    <a:pt x="2019299" y="485774"/>
                  </a:lnTo>
                  <a:lnTo>
                    <a:pt x="2019299" y="490152"/>
                  </a:lnTo>
                  <a:lnTo>
                    <a:pt x="2018872" y="494488"/>
                  </a:lnTo>
                  <a:lnTo>
                    <a:pt x="2018018" y="498782"/>
                  </a:lnTo>
                  <a:lnTo>
                    <a:pt x="2017163" y="503075"/>
                  </a:lnTo>
                  <a:lnTo>
                    <a:pt x="2015898" y="507245"/>
                  </a:lnTo>
                  <a:lnTo>
                    <a:pt x="2014223" y="511289"/>
                  </a:lnTo>
                  <a:lnTo>
                    <a:pt x="2012547" y="515334"/>
                  </a:lnTo>
                  <a:lnTo>
                    <a:pt x="1989666" y="541212"/>
                  </a:lnTo>
                  <a:lnTo>
                    <a:pt x="1986026" y="543644"/>
                  </a:lnTo>
                  <a:lnTo>
                    <a:pt x="1957002" y="552449"/>
                  </a:lnTo>
                  <a:lnTo>
                    <a:pt x="1952624" y="552449"/>
                  </a:lnTo>
                  <a:lnTo>
                    <a:pt x="66674" y="552449"/>
                  </a:lnTo>
                  <a:lnTo>
                    <a:pt x="62296" y="552449"/>
                  </a:lnTo>
                  <a:lnTo>
                    <a:pt x="57960" y="552022"/>
                  </a:lnTo>
                  <a:lnTo>
                    <a:pt x="53665" y="551168"/>
                  </a:lnTo>
                  <a:lnTo>
                    <a:pt x="49372" y="550314"/>
                  </a:lnTo>
                  <a:lnTo>
                    <a:pt x="45203" y="549049"/>
                  </a:lnTo>
                  <a:lnTo>
                    <a:pt x="41158" y="547374"/>
                  </a:lnTo>
                  <a:lnTo>
                    <a:pt x="37113" y="545698"/>
                  </a:lnTo>
                  <a:lnTo>
                    <a:pt x="33271" y="543644"/>
                  </a:lnTo>
                  <a:lnTo>
                    <a:pt x="29631" y="541212"/>
                  </a:lnTo>
                  <a:lnTo>
                    <a:pt x="25991" y="538780"/>
                  </a:lnTo>
                  <a:lnTo>
                    <a:pt x="3399" y="507245"/>
                  </a:lnTo>
                  <a:lnTo>
                    <a:pt x="1280" y="498782"/>
                  </a:lnTo>
                  <a:lnTo>
                    <a:pt x="426" y="494488"/>
                  </a:lnTo>
                  <a:lnTo>
                    <a:pt x="0" y="490152"/>
                  </a:lnTo>
                  <a:lnTo>
                    <a:pt x="0" y="485774"/>
                  </a:lnTo>
                  <a:close/>
                </a:path>
              </a:pathLst>
            </a:custGeom>
            <a:ln w="19049">
              <a:solidFill>
                <a:srgbClr val="28A64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477124" y="3324224"/>
              <a:ext cx="1847849" cy="380999"/>
            </a:xfrm>
            <a:prstGeom prst="rect">
              <a:avLst/>
            </a:prstGeom>
          </p:spPr>
        </p:pic>
      </p:grpSp>
      <p:pic>
        <p:nvPicPr>
          <p:cNvPr id="90" name="object 90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33374" y="4200525"/>
            <a:ext cx="9086849" cy="1609724"/>
          </a:xfrm>
          <a:prstGeom prst="rect">
            <a:avLst/>
          </a:prstGeom>
        </p:spPr>
      </p:pic>
      <p:sp>
        <p:nvSpPr>
          <p:cNvPr id="91" name="object 91" descr=""/>
          <p:cNvSpPr txBox="1"/>
          <p:nvPr/>
        </p:nvSpPr>
        <p:spPr>
          <a:xfrm>
            <a:off x="654049" y="4225428"/>
            <a:ext cx="42989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45" b="1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endParaRPr sz="750">
              <a:latin typeface="Arial"/>
              <a:cs typeface="Arial"/>
            </a:endParaRPr>
          </a:p>
        </p:txBody>
      </p:sp>
      <p:graphicFrame>
        <p:nvGraphicFramePr>
          <p:cNvPr id="92" name="object 92" descr=""/>
          <p:cNvGraphicFramePr>
            <a:graphicFrameLocks noGrp="1"/>
          </p:cNvGraphicFramePr>
          <p:nvPr/>
        </p:nvGraphicFramePr>
        <p:xfrm>
          <a:off x="1520824" y="4957190"/>
          <a:ext cx="6788150" cy="510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5314"/>
                <a:gridCol w="2940685"/>
                <a:gridCol w="1885315"/>
              </a:tblGrid>
              <a:tr h="151130">
                <a:tc>
                  <a:txBody>
                    <a:bodyPr/>
                    <a:lstStyle/>
                    <a:p>
                      <a:pPr marL="126364">
                        <a:lnSpc>
                          <a:spcPts val="990"/>
                        </a:lnSpc>
                      </a:pPr>
                      <a:r>
                        <a:rPr dirty="0" sz="1000" spc="-100" b="1">
                          <a:solidFill>
                            <a:srgbClr val="494F57"/>
                          </a:solidFill>
                          <a:latin typeface="Microsoft JhengHei"/>
                          <a:cs typeface="Microsoft JhengHei"/>
                        </a:rPr>
                        <a:t>適応</a:t>
                      </a:r>
                      <a:r>
                        <a:rPr dirty="0" sz="1000" spc="-100" b="1">
                          <a:solidFill>
                            <a:srgbClr val="494F57"/>
                          </a:solidFill>
                          <a:latin typeface="Malgun Gothic"/>
                          <a:cs typeface="Malgun Gothic"/>
                        </a:rPr>
                        <a:t>的選</a:t>
                      </a:r>
                      <a:r>
                        <a:rPr dirty="0" sz="1000" spc="-50" b="1">
                          <a:solidFill>
                            <a:srgbClr val="494F57"/>
                          </a:solidFill>
                          <a:latin typeface="Microsoft JhengHei"/>
                          <a:cs typeface="Microsoft JhengHei"/>
                        </a:rPr>
                        <a:t>択</a:t>
                      </a:r>
                      <a:endParaRPr sz="10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90"/>
                        </a:lnSpc>
                      </a:pPr>
                      <a:r>
                        <a:rPr dirty="0" sz="1000" spc="-100" b="1">
                          <a:solidFill>
                            <a:srgbClr val="494F57"/>
                          </a:solidFill>
                          <a:latin typeface="Microsoft JhengHei"/>
                          <a:cs typeface="Microsoft JhengHei"/>
                        </a:rPr>
                        <a:t>状態依存</a:t>
                      </a:r>
                      <a:r>
                        <a:rPr dirty="0" sz="1000" spc="-50" b="1">
                          <a:solidFill>
                            <a:srgbClr val="494F57"/>
                          </a:solidFill>
                          <a:latin typeface="Malgun Gothic"/>
                          <a:cs typeface="Malgun Gothic"/>
                        </a:rPr>
                        <a:t>性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43965">
                        <a:lnSpc>
                          <a:spcPts val="990"/>
                        </a:lnSpc>
                      </a:pPr>
                      <a:r>
                        <a:rPr dirty="0" sz="1000" spc="-100" b="1">
                          <a:solidFill>
                            <a:srgbClr val="494F57"/>
                          </a:solidFill>
                          <a:latin typeface="Malgun Gothic"/>
                          <a:cs typeface="Malgun Gothic"/>
                        </a:rPr>
                        <a:t>特</a:t>
                      </a:r>
                      <a:r>
                        <a:rPr dirty="0" sz="1000" spc="-100" b="1">
                          <a:solidFill>
                            <a:srgbClr val="494F57"/>
                          </a:solidFill>
                          <a:latin typeface="Microsoft JhengHei"/>
                          <a:cs typeface="Microsoft JhengHei"/>
                        </a:rPr>
                        <a:t>徴強</a:t>
                      </a:r>
                      <a:r>
                        <a:rPr dirty="0" sz="1000" spc="-50" b="1">
                          <a:solidFill>
                            <a:srgbClr val="494F57"/>
                          </a:solidFill>
                          <a:latin typeface="Malgun Gothic"/>
                          <a:cs typeface="Malgun Gothic"/>
                        </a:rPr>
                        <a:t>調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0"/>
                </a:tc>
              </a:tr>
              <a:tr h="147320">
                <a:tc>
                  <a:txBody>
                    <a:bodyPr/>
                    <a:lstStyle/>
                    <a:p>
                      <a:pPr marL="127635">
                        <a:lnSpc>
                          <a:spcPts val="1015"/>
                        </a:lnSpc>
                        <a:spcBef>
                          <a:spcPts val="50"/>
                        </a:spcBef>
                      </a:pPr>
                      <a:r>
                        <a:rPr dirty="0" sz="850" spc="-110">
                          <a:solidFill>
                            <a:srgbClr val="666666"/>
                          </a:solidFill>
                          <a:latin typeface="SimSun"/>
                          <a:cs typeface="SimSun"/>
                        </a:rPr>
                        <a:t>機械</a:t>
                      </a:r>
                      <a:r>
                        <a:rPr dirty="0" sz="900" spc="-90">
                          <a:solidFill>
                            <a:srgbClr val="666666"/>
                          </a:solidFill>
                          <a:latin typeface="Microsoft Sans Serif"/>
                          <a:cs typeface="Microsoft Sans Serif"/>
                        </a:rPr>
                        <a:t>ID</a:t>
                      </a:r>
                      <a:r>
                        <a:rPr dirty="0" sz="850" spc="5">
                          <a:solidFill>
                            <a:srgbClr val="666666"/>
                          </a:solidFill>
                          <a:latin typeface="MS PGothic"/>
                          <a:cs typeface="MS PGothic"/>
                        </a:rPr>
                        <a:t>ごとに</a:t>
                      </a:r>
                      <a:endParaRPr sz="850">
                        <a:latin typeface="MS PGothic"/>
                        <a:cs typeface="MS PGothic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  <a:spcBef>
                          <a:spcPts val="100"/>
                        </a:spcBef>
                      </a:pPr>
                      <a:r>
                        <a:rPr dirty="0" sz="850" spc="-110">
                          <a:solidFill>
                            <a:srgbClr val="666666"/>
                          </a:solidFill>
                          <a:latin typeface="SimSun"/>
                          <a:cs typeface="SimSun"/>
                        </a:rPr>
                        <a:t>正常</a:t>
                      </a:r>
                      <a:r>
                        <a:rPr dirty="0" sz="850" spc="500">
                          <a:solidFill>
                            <a:srgbClr val="666666"/>
                          </a:solidFill>
                          <a:latin typeface="MS PGothic"/>
                          <a:cs typeface="MS PGothic"/>
                        </a:rPr>
                        <a:t>‧</a:t>
                      </a:r>
                      <a:r>
                        <a:rPr dirty="0" sz="850" spc="-110">
                          <a:solidFill>
                            <a:srgbClr val="666666"/>
                          </a:solidFill>
                          <a:latin typeface="SimSun"/>
                          <a:cs typeface="SimSun"/>
                        </a:rPr>
                        <a:t>異常</a:t>
                      </a:r>
                      <a:r>
                        <a:rPr dirty="0" sz="850" spc="-50">
                          <a:solidFill>
                            <a:srgbClr val="666666"/>
                          </a:solidFill>
                          <a:latin typeface="MS PGothic"/>
                          <a:cs typeface="MS PGothic"/>
                        </a:rPr>
                        <a:t>で</a:t>
                      </a:r>
                      <a:endParaRPr sz="850">
                        <a:latin typeface="MS PGothic"/>
                        <a:cs typeface="MS PGothic"/>
                      </a:endParaRPr>
                    </a:p>
                  </a:txBody>
                  <a:tcPr marL="0" marR="0" marB="0" marT="1270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65"/>
                        </a:lnSpc>
                        <a:spcBef>
                          <a:spcPts val="100"/>
                        </a:spcBef>
                      </a:pPr>
                      <a:r>
                        <a:rPr dirty="0" sz="850" spc="-110">
                          <a:solidFill>
                            <a:srgbClr val="666666"/>
                          </a:solidFill>
                          <a:latin typeface="SimSun"/>
                          <a:cs typeface="SimSun"/>
                        </a:rPr>
                        <a:t>重要周波数成分</a:t>
                      </a:r>
                      <a:r>
                        <a:rPr dirty="0" sz="850" spc="-50">
                          <a:solidFill>
                            <a:srgbClr val="666666"/>
                          </a:solidFill>
                          <a:latin typeface="MS PGothic"/>
                          <a:cs typeface="MS PGothic"/>
                        </a:rPr>
                        <a:t>を</a:t>
                      </a:r>
                      <a:endParaRPr sz="850">
                        <a:latin typeface="MS PGothic"/>
                        <a:cs typeface="MS PGothic"/>
                      </a:endParaRPr>
                    </a:p>
                  </a:txBody>
                  <a:tcPr marL="0" marR="0" marB="0" marT="12700"/>
                </a:tc>
              </a:tr>
              <a:tr h="107950">
                <a:tc>
                  <a:txBody>
                    <a:bodyPr/>
                    <a:lstStyle/>
                    <a:p>
                      <a:pPr marL="31750">
                        <a:lnSpc>
                          <a:spcPts val="750"/>
                        </a:lnSpc>
                      </a:pPr>
                      <a:r>
                        <a:rPr dirty="0" sz="850" spc="-110" b="1">
                          <a:solidFill>
                            <a:srgbClr val="3A6EA5"/>
                          </a:solidFill>
                          <a:latin typeface="Malgun Gothic"/>
                          <a:cs typeface="Malgun Gothic"/>
                        </a:rPr>
                        <a:t>異</a:t>
                      </a:r>
                      <a:r>
                        <a:rPr dirty="0" sz="850" spc="-110" b="1">
                          <a:solidFill>
                            <a:srgbClr val="3A6EA5"/>
                          </a:solidFill>
                          <a:latin typeface="Microsoft JhengHei"/>
                          <a:cs typeface="Microsoft JhengHei"/>
                        </a:rPr>
                        <a:t>なる周</a:t>
                      </a:r>
                      <a:r>
                        <a:rPr dirty="0" sz="850" spc="-110" b="1">
                          <a:solidFill>
                            <a:srgbClr val="3A6EA5"/>
                          </a:solidFill>
                          <a:latin typeface="Malgun Gothic"/>
                          <a:cs typeface="Malgun Gothic"/>
                        </a:rPr>
                        <a:t>波</a:t>
                      </a:r>
                      <a:r>
                        <a:rPr dirty="0" sz="850" spc="-110" b="1">
                          <a:solidFill>
                            <a:srgbClr val="3A6EA5"/>
                          </a:solidFill>
                          <a:latin typeface="Microsoft JhengHei"/>
                          <a:cs typeface="Microsoft JhengHei"/>
                        </a:rPr>
                        <a:t>数帯</a:t>
                      </a:r>
                      <a:r>
                        <a:rPr dirty="0" sz="850" spc="-50" b="1">
                          <a:solidFill>
                            <a:srgbClr val="3A6EA5"/>
                          </a:solidFill>
                          <a:latin typeface="Malgun Gothic"/>
                          <a:cs typeface="Malgun Gothic"/>
                        </a:rPr>
                        <a:t>域</a:t>
                      </a:r>
                      <a:endParaRPr sz="850">
                        <a:latin typeface="Malgun Gothic"/>
                        <a:cs typeface="Malgun Gothic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50"/>
                        </a:lnSpc>
                      </a:pPr>
                      <a:r>
                        <a:rPr dirty="0" sz="850" spc="-110" b="1">
                          <a:solidFill>
                            <a:srgbClr val="3A6EA5"/>
                          </a:solidFill>
                          <a:latin typeface="Malgun Gothic"/>
                          <a:cs typeface="Malgun Gothic"/>
                        </a:rPr>
                        <a:t>注</a:t>
                      </a:r>
                      <a:r>
                        <a:rPr dirty="0" sz="850" spc="-125" b="1">
                          <a:solidFill>
                            <a:srgbClr val="3A6EA5"/>
                          </a:solidFill>
                          <a:latin typeface="Microsoft JhengHei"/>
                          <a:cs typeface="Microsoft JhengHei"/>
                        </a:rPr>
                        <a:t>意パターン変</a:t>
                      </a:r>
                      <a:r>
                        <a:rPr dirty="0" sz="850" spc="-50" b="1">
                          <a:solidFill>
                            <a:srgbClr val="3A6EA5"/>
                          </a:solidFill>
                          <a:latin typeface="Malgun Gothic"/>
                          <a:cs typeface="Malgun Gothic"/>
                        </a:rPr>
                        <a:t>化</a:t>
                      </a:r>
                      <a:endParaRPr sz="850">
                        <a:latin typeface="Malgun Gothic"/>
                        <a:cs typeface="Malgun Gothic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0014">
                        <a:lnSpc>
                          <a:spcPts val="750"/>
                        </a:lnSpc>
                      </a:pPr>
                      <a:r>
                        <a:rPr dirty="0" sz="850" spc="-110" b="1">
                          <a:solidFill>
                            <a:srgbClr val="3A6EA5"/>
                          </a:solidFill>
                          <a:latin typeface="Microsoft JhengHei"/>
                          <a:cs typeface="Microsoft JhengHei"/>
                        </a:rPr>
                        <a:t>選択的に強</a:t>
                      </a:r>
                      <a:r>
                        <a:rPr dirty="0" sz="850" spc="-50" b="1">
                          <a:solidFill>
                            <a:srgbClr val="3A6EA5"/>
                          </a:solidFill>
                          <a:latin typeface="Malgun Gothic"/>
                          <a:cs typeface="Malgun Gothic"/>
                        </a:rPr>
                        <a:t>調</a:t>
                      </a:r>
                      <a:endParaRPr sz="850">
                        <a:latin typeface="Malgun Gothic"/>
                        <a:cs typeface="Malgun Gothic"/>
                      </a:endParaRPr>
                    </a:p>
                  </a:txBody>
                  <a:tcPr marL="0" marR="0" marB="0" marT="0"/>
                </a:tc>
              </a:tr>
              <a:tr h="104139">
                <a:tc>
                  <a:txBody>
                    <a:bodyPr/>
                    <a:lstStyle/>
                    <a:p>
                      <a:pPr marL="269240">
                        <a:lnSpc>
                          <a:spcPts val="725"/>
                        </a:lnSpc>
                      </a:pPr>
                      <a:r>
                        <a:rPr dirty="0" sz="850" spc="-55">
                          <a:solidFill>
                            <a:srgbClr val="666666"/>
                          </a:solidFill>
                          <a:latin typeface="MS PGothic"/>
                          <a:cs typeface="MS PGothic"/>
                        </a:rPr>
                        <a:t>に</a:t>
                      </a:r>
                      <a:r>
                        <a:rPr dirty="0" sz="850" spc="-80">
                          <a:solidFill>
                            <a:srgbClr val="666666"/>
                          </a:solidFill>
                          <a:latin typeface="SimSun"/>
                          <a:cs typeface="SimSun"/>
                        </a:rPr>
                        <a:t>注目</a:t>
                      </a:r>
                      <a:endParaRPr sz="850">
                        <a:latin typeface="SimSun"/>
                        <a:cs typeface="SimSu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5"/>
                        </a:lnSpc>
                      </a:pPr>
                      <a:r>
                        <a:rPr dirty="0" sz="850">
                          <a:solidFill>
                            <a:srgbClr val="666666"/>
                          </a:solidFill>
                          <a:latin typeface="MS PGothic"/>
                          <a:cs typeface="MS PGothic"/>
                        </a:rPr>
                        <a:t>を</a:t>
                      </a:r>
                      <a:r>
                        <a:rPr dirty="0" sz="850" spc="-100">
                          <a:solidFill>
                            <a:srgbClr val="666666"/>
                          </a:solidFill>
                          <a:latin typeface="SimSun"/>
                          <a:cs typeface="SimSun"/>
                        </a:rPr>
                        <a:t>自動学習</a:t>
                      </a:r>
                      <a:endParaRPr sz="850">
                        <a:latin typeface="SimSun"/>
                        <a:cs typeface="SimSu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0014">
                        <a:lnSpc>
                          <a:spcPts val="725"/>
                        </a:lnSpc>
                      </a:pPr>
                      <a:r>
                        <a:rPr dirty="0" sz="850" spc="95">
                          <a:solidFill>
                            <a:srgbClr val="666666"/>
                          </a:solidFill>
                          <a:latin typeface="MS PGothic"/>
                          <a:cs typeface="MS PGothic"/>
                        </a:rPr>
                        <a:t>し</a:t>
                      </a:r>
                      <a:r>
                        <a:rPr dirty="0" sz="850" spc="-100">
                          <a:solidFill>
                            <a:srgbClr val="666666"/>
                          </a:solidFill>
                          <a:latin typeface="SimSun"/>
                          <a:cs typeface="SimSun"/>
                        </a:rPr>
                        <a:t>識別力向上</a:t>
                      </a:r>
                      <a:endParaRPr sz="850">
                        <a:latin typeface="SimSun"/>
                        <a:cs typeface="SimSu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93" name="object 93" descr=""/>
          <p:cNvGrpSpPr/>
          <p:nvPr/>
        </p:nvGrpSpPr>
        <p:grpSpPr>
          <a:xfrm>
            <a:off x="8267700" y="6800850"/>
            <a:ext cx="1295400" cy="323850"/>
            <a:chOff x="8267700" y="6800850"/>
            <a:chExt cx="1295400" cy="323850"/>
          </a:xfrm>
        </p:grpSpPr>
        <p:sp>
          <p:nvSpPr>
            <p:cNvPr id="94" name="object 94" descr=""/>
            <p:cNvSpPr/>
            <p:nvPr/>
          </p:nvSpPr>
          <p:spPr>
            <a:xfrm>
              <a:off x="8267700" y="6800850"/>
              <a:ext cx="1295400" cy="323850"/>
            </a:xfrm>
            <a:custGeom>
              <a:avLst/>
              <a:gdLst/>
              <a:ahLst/>
              <a:cxnLst/>
              <a:rect l="l" t="t" r="r" b="b"/>
              <a:pathLst>
                <a:path w="1295400" h="323850">
                  <a:moveTo>
                    <a:pt x="126235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262352" y="0"/>
                  </a:lnTo>
                  <a:lnTo>
                    <a:pt x="1294433" y="28187"/>
                  </a:lnTo>
                  <a:lnTo>
                    <a:pt x="1295399" y="33047"/>
                  </a:lnTo>
                  <a:lnTo>
                    <a:pt x="1295399" y="290802"/>
                  </a:lnTo>
                  <a:lnTo>
                    <a:pt x="1267212" y="322883"/>
                  </a:lnTo>
                  <a:lnTo>
                    <a:pt x="126235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382000" y="6896099"/>
              <a:ext cx="133349" cy="133349"/>
            </a:xfrm>
            <a:prstGeom prst="rect">
              <a:avLst/>
            </a:prstGeom>
          </p:spPr>
        </p:pic>
      </p:grpSp>
      <p:sp>
        <p:nvSpPr>
          <p:cNvPr id="96" name="object 9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-80"/>
              <a:t>Genspark</a:t>
            </a:r>
            <a:r>
              <a:rPr dirty="0" spc="-55"/>
              <a:t> </a:t>
            </a:r>
            <a:r>
              <a:rPr dirty="0" sz="1000" spc="-10">
                <a:latin typeface="MS PGothic"/>
                <a:cs typeface="MS PGothic"/>
              </a:rPr>
              <a:t>で</a:t>
            </a:r>
            <a:r>
              <a:rPr dirty="0" sz="1000" spc="-75">
                <a:latin typeface="SimSun"/>
                <a:cs typeface="SimSun"/>
              </a:rPr>
              <a:t>作成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97" name="object 9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90"/>
              </a:lnSpc>
            </a:pPr>
            <a:fld id="{81D60167-4931-47E6-BA6A-407CBD079E47}" type="slidenum">
              <a:rPr dirty="0" spc="-45"/>
              <a:t>10</a:t>
            </a:fld>
            <a:r>
              <a:rPr dirty="0" spc="-45"/>
              <a:t>/</a:t>
            </a:r>
            <a:r>
              <a:rPr dirty="0" spc="-45"/>
              <a:t>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3374" y="685799"/>
            <a:ext cx="9086850" cy="28575"/>
          </a:xfrm>
          <a:custGeom>
            <a:avLst/>
            <a:gdLst/>
            <a:ahLst/>
            <a:cxnLst/>
            <a:rect l="l" t="t" r="r" b="b"/>
            <a:pathLst>
              <a:path w="9086850" h="28575">
                <a:moveTo>
                  <a:pt x="9086849" y="28574"/>
                </a:moveTo>
                <a:lnTo>
                  <a:pt x="0" y="28574"/>
                </a:lnTo>
                <a:lnTo>
                  <a:pt x="0" y="0"/>
                </a:lnTo>
                <a:lnTo>
                  <a:pt x="9086849" y="0"/>
                </a:lnTo>
                <a:lnTo>
                  <a:pt x="9086849" y="28574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33374" y="6457949"/>
            <a:ext cx="9086850" cy="342900"/>
          </a:xfrm>
          <a:custGeom>
            <a:avLst/>
            <a:gdLst/>
            <a:ahLst/>
            <a:cxnLst/>
            <a:rect l="l" t="t" r="r" b="b"/>
            <a:pathLst>
              <a:path w="9086850" h="342900">
                <a:moveTo>
                  <a:pt x="9015651" y="342899"/>
                </a:moveTo>
                <a:lnTo>
                  <a:pt x="71196" y="342899"/>
                </a:lnTo>
                <a:lnTo>
                  <a:pt x="66241" y="342411"/>
                </a:lnTo>
                <a:lnTo>
                  <a:pt x="29705" y="327277"/>
                </a:lnTo>
                <a:lnTo>
                  <a:pt x="3885" y="291236"/>
                </a:lnTo>
                <a:lnTo>
                  <a:pt x="0" y="271703"/>
                </a:lnTo>
                <a:lnTo>
                  <a:pt x="0" y="2666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9015651" y="0"/>
                </a:lnTo>
                <a:lnTo>
                  <a:pt x="9057142" y="15621"/>
                </a:lnTo>
                <a:lnTo>
                  <a:pt x="9082962" y="51661"/>
                </a:lnTo>
                <a:lnTo>
                  <a:pt x="9086848" y="71196"/>
                </a:lnTo>
                <a:lnTo>
                  <a:pt x="9086848" y="271703"/>
                </a:lnTo>
                <a:lnTo>
                  <a:pt x="9071226" y="313193"/>
                </a:lnTo>
                <a:lnTo>
                  <a:pt x="9035186" y="339013"/>
                </a:lnTo>
                <a:lnTo>
                  <a:pt x="9020607" y="342411"/>
                </a:lnTo>
                <a:lnTo>
                  <a:pt x="9015651" y="342899"/>
                </a:lnTo>
                <a:close/>
              </a:path>
            </a:pathLst>
          </a:custGeom>
          <a:solidFill>
            <a:srgbClr val="F7F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3162299" y="329670"/>
            <a:ext cx="276225" cy="215265"/>
          </a:xfrm>
          <a:custGeom>
            <a:avLst/>
            <a:gdLst/>
            <a:ahLst/>
            <a:cxnLst/>
            <a:rect l="l" t="t" r="r" b="b"/>
            <a:pathLst>
              <a:path w="276225" h="215265">
                <a:moveTo>
                  <a:pt x="176477" y="214841"/>
                </a:moveTo>
                <a:lnTo>
                  <a:pt x="130439" y="214841"/>
                </a:lnTo>
                <a:lnTo>
                  <a:pt x="121481" y="213032"/>
                </a:lnTo>
                <a:lnTo>
                  <a:pt x="114164" y="208097"/>
                </a:lnTo>
                <a:lnTo>
                  <a:pt x="109230" y="200780"/>
                </a:lnTo>
                <a:lnTo>
                  <a:pt x="107420" y="191822"/>
                </a:lnTo>
                <a:lnTo>
                  <a:pt x="107420" y="144970"/>
                </a:lnTo>
                <a:lnTo>
                  <a:pt x="107468" y="144154"/>
                </a:lnTo>
                <a:lnTo>
                  <a:pt x="107564" y="143387"/>
                </a:lnTo>
                <a:lnTo>
                  <a:pt x="69056" y="92074"/>
                </a:lnTo>
                <a:lnTo>
                  <a:pt x="23018" y="92074"/>
                </a:lnTo>
                <a:lnTo>
                  <a:pt x="14060" y="90265"/>
                </a:lnTo>
                <a:lnTo>
                  <a:pt x="6743" y="85331"/>
                </a:lnTo>
                <a:lnTo>
                  <a:pt x="1809" y="78014"/>
                </a:lnTo>
                <a:lnTo>
                  <a:pt x="0" y="69056"/>
                </a:lnTo>
                <a:lnTo>
                  <a:pt x="0" y="23018"/>
                </a:lnTo>
                <a:lnTo>
                  <a:pt x="1809" y="14060"/>
                </a:lnTo>
                <a:lnTo>
                  <a:pt x="6743" y="6743"/>
                </a:lnTo>
                <a:lnTo>
                  <a:pt x="14060" y="1809"/>
                </a:lnTo>
                <a:lnTo>
                  <a:pt x="23018" y="0"/>
                </a:lnTo>
                <a:lnTo>
                  <a:pt x="69056" y="0"/>
                </a:lnTo>
                <a:lnTo>
                  <a:pt x="78014" y="1809"/>
                </a:lnTo>
                <a:lnTo>
                  <a:pt x="85331" y="6743"/>
                </a:lnTo>
                <a:lnTo>
                  <a:pt x="90265" y="14060"/>
                </a:lnTo>
                <a:lnTo>
                  <a:pt x="92074" y="23018"/>
                </a:lnTo>
                <a:lnTo>
                  <a:pt x="92074" y="30691"/>
                </a:lnTo>
                <a:lnTo>
                  <a:pt x="184149" y="30691"/>
                </a:lnTo>
                <a:lnTo>
                  <a:pt x="184149" y="23018"/>
                </a:lnTo>
                <a:lnTo>
                  <a:pt x="185959" y="14060"/>
                </a:lnTo>
                <a:lnTo>
                  <a:pt x="190893" y="6743"/>
                </a:lnTo>
                <a:lnTo>
                  <a:pt x="198210" y="1809"/>
                </a:lnTo>
                <a:lnTo>
                  <a:pt x="207168" y="0"/>
                </a:lnTo>
                <a:lnTo>
                  <a:pt x="253206" y="0"/>
                </a:lnTo>
                <a:lnTo>
                  <a:pt x="262164" y="1809"/>
                </a:lnTo>
                <a:lnTo>
                  <a:pt x="269481" y="6743"/>
                </a:lnTo>
                <a:lnTo>
                  <a:pt x="274415" y="14060"/>
                </a:lnTo>
                <a:lnTo>
                  <a:pt x="276224" y="23018"/>
                </a:lnTo>
                <a:lnTo>
                  <a:pt x="276224" y="69056"/>
                </a:lnTo>
                <a:lnTo>
                  <a:pt x="274415" y="78014"/>
                </a:lnTo>
                <a:lnTo>
                  <a:pt x="269481" y="85331"/>
                </a:lnTo>
                <a:lnTo>
                  <a:pt x="262164" y="90265"/>
                </a:lnTo>
                <a:lnTo>
                  <a:pt x="253206" y="92074"/>
                </a:lnTo>
                <a:lnTo>
                  <a:pt x="207168" y="92074"/>
                </a:lnTo>
                <a:lnTo>
                  <a:pt x="198210" y="90265"/>
                </a:lnTo>
                <a:lnTo>
                  <a:pt x="190893" y="85331"/>
                </a:lnTo>
                <a:lnTo>
                  <a:pt x="185959" y="78014"/>
                </a:lnTo>
                <a:lnTo>
                  <a:pt x="184149" y="69056"/>
                </a:lnTo>
                <a:lnTo>
                  <a:pt x="184149" y="61383"/>
                </a:lnTo>
                <a:lnTo>
                  <a:pt x="92074" y="61383"/>
                </a:lnTo>
                <a:lnTo>
                  <a:pt x="92074" y="69871"/>
                </a:lnTo>
                <a:lnTo>
                  <a:pt x="92027" y="70686"/>
                </a:lnTo>
                <a:lnTo>
                  <a:pt x="91931" y="71454"/>
                </a:lnTo>
                <a:lnTo>
                  <a:pt x="130439" y="122766"/>
                </a:lnTo>
                <a:lnTo>
                  <a:pt x="176477" y="122766"/>
                </a:lnTo>
                <a:lnTo>
                  <a:pt x="185435" y="124576"/>
                </a:lnTo>
                <a:lnTo>
                  <a:pt x="192752" y="129510"/>
                </a:lnTo>
                <a:lnTo>
                  <a:pt x="197686" y="136827"/>
                </a:lnTo>
                <a:lnTo>
                  <a:pt x="199495" y="145785"/>
                </a:lnTo>
                <a:lnTo>
                  <a:pt x="199495" y="191822"/>
                </a:lnTo>
                <a:lnTo>
                  <a:pt x="197686" y="200780"/>
                </a:lnTo>
                <a:lnTo>
                  <a:pt x="192752" y="208097"/>
                </a:lnTo>
                <a:lnTo>
                  <a:pt x="185435" y="213032"/>
                </a:lnTo>
                <a:lnTo>
                  <a:pt x="176477" y="214841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26404" y="220603"/>
            <a:ext cx="2978785" cy="38608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265"/>
              <a:t>特</a:t>
            </a:r>
            <a:r>
              <a:rPr dirty="0" spc="-265">
                <a:latin typeface="Microsoft JhengHei"/>
                <a:cs typeface="Microsoft JhengHei"/>
              </a:rPr>
              <a:t>徴</a:t>
            </a:r>
            <a:r>
              <a:rPr dirty="0" spc="-275"/>
              <a:t>空間可視化 </a:t>
            </a:r>
            <a:r>
              <a:rPr dirty="0" sz="2350" spc="-175">
                <a:latin typeface="Arial"/>
                <a:cs typeface="Arial"/>
              </a:rPr>
              <a:t>(Figure</a:t>
            </a:r>
            <a:r>
              <a:rPr dirty="0" sz="2350" spc="-185">
                <a:latin typeface="Arial"/>
                <a:cs typeface="Arial"/>
              </a:rPr>
              <a:t> </a:t>
            </a:r>
            <a:r>
              <a:rPr dirty="0" sz="2350" spc="-25">
                <a:latin typeface="Arial"/>
                <a:cs typeface="Arial"/>
              </a:rPr>
              <a:t>3)</a:t>
            </a:r>
            <a:endParaRPr sz="235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1749" y="6581774"/>
            <a:ext cx="95250" cy="9524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709366" y="6545929"/>
            <a:ext cx="80581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65">
                <a:solidFill>
                  <a:srgbClr val="666666"/>
                </a:solidFill>
                <a:latin typeface="Arial MT"/>
                <a:cs typeface="Arial MT"/>
              </a:rPr>
              <a:t>Fan</a:t>
            </a:r>
            <a:r>
              <a:rPr dirty="0" sz="900" spc="-55">
                <a:solidFill>
                  <a:srgbClr val="666666"/>
                </a:solidFill>
                <a:latin typeface="Arial MT"/>
                <a:cs typeface="Arial MT"/>
              </a:rPr>
              <a:t> ID </a:t>
            </a:r>
            <a:r>
              <a:rPr dirty="0" sz="900" spc="-50">
                <a:solidFill>
                  <a:srgbClr val="666666"/>
                </a:solidFill>
                <a:latin typeface="Arial MT"/>
                <a:cs typeface="Arial MT"/>
              </a:rPr>
              <a:t>00</a:t>
            </a:r>
            <a:r>
              <a:rPr dirty="0" sz="900" spc="-5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900" spc="-80">
                <a:solidFill>
                  <a:srgbClr val="666666"/>
                </a:solidFill>
                <a:latin typeface="SimSun"/>
                <a:cs typeface="SimSun"/>
              </a:rPr>
              <a:t>正常音</a:t>
            </a:r>
            <a:endParaRPr sz="900">
              <a:latin typeface="SimSun"/>
              <a:cs typeface="SimSu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899396" y="6545929"/>
            <a:ext cx="80581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65">
                <a:solidFill>
                  <a:srgbClr val="666666"/>
                </a:solidFill>
                <a:latin typeface="Arial MT"/>
                <a:cs typeface="Arial MT"/>
              </a:rPr>
              <a:t>Fan</a:t>
            </a:r>
            <a:r>
              <a:rPr dirty="0" sz="900" spc="-55">
                <a:solidFill>
                  <a:srgbClr val="666666"/>
                </a:solidFill>
                <a:latin typeface="Arial MT"/>
                <a:cs typeface="Arial MT"/>
              </a:rPr>
              <a:t> ID </a:t>
            </a:r>
            <a:r>
              <a:rPr dirty="0" sz="900" spc="-50">
                <a:solidFill>
                  <a:srgbClr val="666666"/>
                </a:solidFill>
                <a:latin typeface="Arial MT"/>
                <a:cs typeface="Arial MT"/>
              </a:rPr>
              <a:t>00</a:t>
            </a:r>
            <a:r>
              <a:rPr dirty="0" sz="900" spc="-5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900" spc="-80">
                <a:solidFill>
                  <a:srgbClr val="666666"/>
                </a:solidFill>
                <a:latin typeface="SimSun"/>
                <a:cs typeface="SimSun"/>
              </a:rPr>
              <a:t>異常音</a:t>
            </a:r>
            <a:endParaRPr sz="900">
              <a:latin typeface="SimSun"/>
              <a:cs typeface="SimSu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089425" y="6545929"/>
            <a:ext cx="861694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90">
                <a:solidFill>
                  <a:srgbClr val="666666"/>
                </a:solidFill>
                <a:latin typeface="SimSun"/>
                <a:cs typeface="SimSun"/>
              </a:rPr>
              <a:t>正常</a:t>
            </a:r>
            <a:r>
              <a:rPr dirty="0" sz="900" spc="70">
                <a:solidFill>
                  <a:srgbClr val="666666"/>
                </a:solidFill>
                <a:latin typeface="MS PGothic"/>
                <a:cs typeface="MS PGothic"/>
              </a:rPr>
              <a:t>クラスタ</a:t>
            </a:r>
            <a:r>
              <a:rPr dirty="0" sz="900" spc="-70">
                <a:solidFill>
                  <a:srgbClr val="666666"/>
                </a:solidFill>
                <a:latin typeface="SimSun"/>
                <a:cs typeface="SimSun"/>
              </a:rPr>
              <a:t>境界</a:t>
            </a:r>
            <a:endParaRPr sz="900">
              <a:latin typeface="SimSun"/>
              <a:cs typeface="SimSu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335116" y="6545929"/>
            <a:ext cx="861694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90">
                <a:solidFill>
                  <a:srgbClr val="666666"/>
                </a:solidFill>
                <a:latin typeface="SimSun"/>
                <a:cs typeface="SimSun"/>
              </a:rPr>
              <a:t>異常</a:t>
            </a:r>
            <a:r>
              <a:rPr dirty="0" sz="900" spc="70">
                <a:solidFill>
                  <a:srgbClr val="666666"/>
                </a:solidFill>
                <a:latin typeface="MS PGothic"/>
                <a:cs typeface="MS PGothic"/>
              </a:rPr>
              <a:t>クラスタ</a:t>
            </a:r>
            <a:r>
              <a:rPr dirty="0" sz="900" spc="-70">
                <a:solidFill>
                  <a:srgbClr val="666666"/>
                </a:solidFill>
                <a:latin typeface="SimSun"/>
                <a:cs typeface="SimSun"/>
              </a:rPr>
              <a:t>境界</a:t>
            </a:r>
            <a:endParaRPr sz="900">
              <a:latin typeface="SimSun"/>
              <a:cs typeface="SimSun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33374" y="885824"/>
            <a:ext cx="9086850" cy="666750"/>
            <a:chOff x="333374" y="885824"/>
            <a:chExt cx="9086850" cy="666750"/>
          </a:xfrm>
        </p:grpSpPr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4" y="885824"/>
              <a:ext cx="9086849" cy="66674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38311" y="1057275"/>
              <a:ext cx="171955" cy="13334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32324" y="885825"/>
              <a:ext cx="187900" cy="666749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3551287" y="922223"/>
            <a:ext cx="2651125" cy="51689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292735">
              <a:lnSpc>
                <a:spcPct val="100000"/>
              </a:lnSpc>
              <a:spcBef>
                <a:spcPts val="685"/>
              </a:spcBef>
            </a:pPr>
            <a:r>
              <a:rPr dirty="0" sz="1350" spc="-155" b="1">
                <a:solidFill>
                  <a:srgbClr val="FFFFFF"/>
                </a:solidFill>
                <a:latin typeface="Tahoma"/>
                <a:cs typeface="Tahoma"/>
              </a:rPr>
              <a:t>t-</a:t>
            </a:r>
            <a:r>
              <a:rPr dirty="0" sz="1350" spc="-125" b="1">
                <a:solidFill>
                  <a:srgbClr val="FFFFFF"/>
                </a:solidFill>
                <a:latin typeface="Tahoma"/>
                <a:cs typeface="Tahoma"/>
              </a:rPr>
              <a:t>SNE</a:t>
            </a:r>
            <a:r>
              <a:rPr dirty="0" sz="13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50" spc="-185" b="1">
                <a:solidFill>
                  <a:srgbClr val="FFFFFF"/>
                </a:solidFill>
                <a:latin typeface="Malgun Gothic"/>
                <a:cs typeface="Malgun Gothic"/>
              </a:rPr>
              <a:t>による特</a:t>
            </a:r>
            <a:r>
              <a:rPr dirty="0" sz="1350" spc="-170" b="1">
                <a:solidFill>
                  <a:srgbClr val="FFFFFF"/>
                </a:solidFill>
                <a:latin typeface="Microsoft JhengHei"/>
                <a:cs typeface="Microsoft JhengHei"/>
              </a:rPr>
              <a:t>徴</a:t>
            </a:r>
            <a:r>
              <a:rPr dirty="0" sz="1350" spc="-155" b="1">
                <a:solidFill>
                  <a:srgbClr val="FFFFFF"/>
                </a:solidFill>
                <a:latin typeface="Malgun Gothic"/>
                <a:cs typeface="Malgun Gothic"/>
              </a:rPr>
              <a:t>分布の比較分析</a:t>
            </a:r>
            <a:endParaRPr sz="1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000" spc="-100">
                <a:solidFill>
                  <a:srgbClr val="FFFFFF"/>
                </a:solidFill>
                <a:latin typeface="SimSun"/>
                <a:cs typeface="SimSun"/>
              </a:rPr>
              <a:t>提案手法</a:t>
            </a:r>
            <a:r>
              <a:rPr dirty="0" sz="1000" spc="-20">
                <a:solidFill>
                  <a:srgbClr val="FFFFFF"/>
                </a:solidFill>
                <a:latin typeface="MS PGothic"/>
                <a:cs typeface="MS PGothic"/>
              </a:rPr>
              <a:t>による</a:t>
            </a:r>
            <a:r>
              <a:rPr dirty="0" sz="1000" spc="-100">
                <a:solidFill>
                  <a:srgbClr val="FFFFFF"/>
                </a:solidFill>
                <a:latin typeface="SimSun"/>
                <a:cs typeface="SimSun"/>
              </a:rPr>
              <a:t>正常音</a:t>
            </a:r>
            <a:r>
              <a:rPr dirty="0" sz="1000" spc="615">
                <a:solidFill>
                  <a:srgbClr val="FFFFFF"/>
                </a:solidFill>
                <a:latin typeface="MS PGothic"/>
                <a:cs typeface="MS PGothic"/>
              </a:rPr>
              <a:t>‧</a:t>
            </a:r>
            <a:r>
              <a:rPr dirty="0" sz="1000" spc="-100">
                <a:solidFill>
                  <a:srgbClr val="FFFFFF"/>
                </a:solidFill>
                <a:latin typeface="SimSun"/>
                <a:cs typeface="SimSun"/>
              </a:rPr>
              <a:t>異常音</a:t>
            </a:r>
            <a:r>
              <a:rPr dirty="0" sz="1000" spc="-100">
                <a:solidFill>
                  <a:srgbClr val="FFFFFF"/>
                </a:solidFill>
                <a:latin typeface="MS PGothic"/>
                <a:cs typeface="MS PGothic"/>
              </a:rPr>
              <a:t>の</a:t>
            </a:r>
            <a:r>
              <a:rPr dirty="0" sz="1000" spc="-100">
                <a:solidFill>
                  <a:srgbClr val="FFFFFF"/>
                </a:solidFill>
                <a:latin typeface="SimSun"/>
                <a:cs typeface="SimSun"/>
              </a:rPr>
              <a:t>分離改善</a:t>
            </a:r>
            <a:r>
              <a:rPr dirty="0" sz="1000">
                <a:solidFill>
                  <a:srgbClr val="FFFFFF"/>
                </a:solidFill>
                <a:latin typeface="MS PGothic"/>
                <a:cs typeface="MS PGothic"/>
              </a:rPr>
              <a:t>を</a:t>
            </a:r>
            <a:r>
              <a:rPr dirty="0" sz="1000" spc="-85">
                <a:solidFill>
                  <a:srgbClr val="FFFFFF"/>
                </a:solidFill>
                <a:latin typeface="SimSun"/>
                <a:cs typeface="SimSun"/>
              </a:rPr>
              <a:t>可視化</a:t>
            </a:r>
            <a:endParaRPr sz="1000">
              <a:latin typeface="SimSun"/>
              <a:cs typeface="SimSun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31063" y="1560576"/>
            <a:ext cx="4831080" cy="4947285"/>
            <a:chOff x="131063" y="1560576"/>
            <a:chExt cx="4831080" cy="4947285"/>
          </a:xfrm>
        </p:grpSpPr>
        <p:sp>
          <p:nvSpPr>
            <p:cNvPr id="17" name="object 17" descr=""/>
            <p:cNvSpPr/>
            <p:nvPr/>
          </p:nvSpPr>
          <p:spPr>
            <a:xfrm>
              <a:off x="131063" y="1560576"/>
              <a:ext cx="4831080" cy="4947285"/>
            </a:xfrm>
            <a:custGeom>
              <a:avLst/>
              <a:gdLst/>
              <a:ahLst/>
              <a:cxnLst/>
              <a:rect l="l" t="t" r="r" b="b"/>
              <a:pathLst>
                <a:path w="4831080" h="4947284">
                  <a:moveTo>
                    <a:pt x="4831079" y="4946903"/>
                  </a:moveTo>
                  <a:lnTo>
                    <a:pt x="0" y="4946903"/>
                  </a:lnTo>
                  <a:lnTo>
                    <a:pt x="0" y="0"/>
                  </a:lnTo>
                  <a:lnTo>
                    <a:pt x="4831079" y="0"/>
                  </a:lnTo>
                  <a:lnTo>
                    <a:pt x="4831079" y="172973"/>
                  </a:lnTo>
                  <a:lnTo>
                    <a:pt x="316610" y="172973"/>
                  </a:lnTo>
                  <a:lnTo>
                    <a:pt x="306289" y="173472"/>
                  </a:lnTo>
                  <a:lnTo>
                    <a:pt x="267170" y="185359"/>
                  </a:lnTo>
                  <a:lnTo>
                    <a:pt x="235578" y="211312"/>
                  </a:lnTo>
                  <a:lnTo>
                    <a:pt x="216322" y="247379"/>
                  </a:lnTo>
                  <a:lnTo>
                    <a:pt x="211835" y="277748"/>
                  </a:lnTo>
                  <a:lnTo>
                    <a:pt x="211835" y="4592573"/>
                  </a:lnTo>
                  <a:lnTo>
                    <a:pt x="219811" y="4632668"/>
                  </a:lnTo>
                  <a:lnTo>
                    <a:pt x="242523" y="4666660"/>
                  </a:lnTo>
                  <a:lnTo>
                    <a:pt x="276515" y="4689372"/>
                  </a:lnTo>
                  <a:lnTo>
                    <a:pt x="316610" y="4697348"/>
                  </a:lnTo>
                  <a:lnTo>
                    <a:pt x="4831079" y="4697348"/>
                  </a:lnTo>
                  <a:lnTo>
                    <a:pt x="4831079" y="4946903"/>
                  </a:lnTo>
                  <a:close/>
                </a:path>
                <a:path w="4831080" h="4947284">
                  <a:moveTo>
                    <a:pt x="4831079" y="4697348"/>
                  </a:moveTo>
                  <a:lnTo>
                    <a:pt x="4517135" y="4697348"/>
                  </a:lnTo>
                  <a:lnTo>
                    <a:pt x="4527456" y="4696849"/>
                  </a:lnTo>
                  <a:lnTo>
                    <a:pt x="4537579" y="4695354"/>
                  </a:lnTo>
                  <a:lnTo>
                    <a:pt x="4575355" y="4679706"/>
                  </a:lnTo>
                  <a:lnTo>
                    <a:pt x="4604268" y="4650793"/>
                  </a:lnTo>
                  <a:lnTo>
                    <a:pt x="4619916" y="4613017"/>
                  </a:lnTo>
                  <a:lnTo>
                    <a:pt x="4621910" y="4592573"/>
                  </a:lnTo>
                  <a:lnTo>
                    <a:pt x="4621910" y="277748"/>
                  </a:lnTo>
                  <a:lnTo>
                    <a:pt x="4613934" y="237653"/>
                  </a:lnTo>
                  <a:lnTo>
                    <a:pt x="4591222" y="203661"/>
                  </a:lnTo>
                  <a:lnTo>
                    <a:pt x="4557230" y="180949"/>
                  </a:lnTo>
                  <a:lnTo>
                    <a:pt x="4517135" y="172973"/>
                  </a:lnTo>
                  <a:lnTo>
                    <a:pt x="4831079" y="172973"/>
                  </a:lnTo>
                  <a:lnTo>
                    <a:pt x="4831079" y="4697348"/>
                  </a:lnTo>
                  <a:close/>
                </a:path>
              </a:pathLst>
            </a:custGeom>
            <a:solidFill>
              <a:srgbClr val="3A6EA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47662" y="1738312"/>
              <a:ext cx="4400550" cy="4514850"/>
            </a:xfrm>
            <a:custGeom>
              <a:avLst/>
              <a:gdLst/>
              <a:ahLst/>
              <a:cxnLst/>
              <a:rect l="l" t="t" r="r" b="b"/>
              <a:pathLst>
                <a:path w="4400550" h="4514850">
                  <a:moveTo>
                    <a:pt x="4307103" y="4514849"/>
                  </a:moveTo>
                  <a:lnTo>
                    <a:pt x="93445" y="4514849"/>
                  </a:lnTo>
                  <a:lnTo>
                    <a:pt x="86941" y="4514208"/>
                  </a:lnTo>
                  <a:lnTo>
                    <a:pt x="49908" y="4501641"/>
                  </a:lnTo>
                  <a:lnTo>
                    <a:pt x="20503" y="4475860"/>
                  </a:lnTo>
                  <a:lnTo>
                    <a:pt x="3202" y="4440788"/>
                  </a:lnTo>
                  <a:lnTo>
                    <a:pt x="0" y="4421403"/>
                  </a:lnTo>
                  <a:lnTo>
                    <a:pt x="0" y="4414837"/>
                  </a:lnTo>
                  <a:lnTo>
                    <a:pt x="0" y="93445"/>
                  </a:lnTo>
                  <a:lnTo>
                    <a:pt x="10126" y="55672"/>
                  </a:lnTo>
                  <a:lnTo>
                    <a:pt x="33936" y="24649"/>
                  </a:lnTo>
                  <a:lnTo>
                    <a:pt x="67806" y="5099"/>
                  </a:lnTo>
                  <a:lnTo>
                    <a:pt x="93445" y="0"/>
                  </a:lnTo>
                  <a:lnTo>
                    <a:pt x="4307103" y="0"/>
                  </a:lnTo>
                  <a:lnTo>
                    <a:pt x="4344876" y="10126"/>
                  </a:lnTo>
                  <a:lnTo>
                    <a:pt x="4375899" y="33936"/>
                  </a:lnTo>
                  <a:lnTo>
                    <a:pt x="4395449" y="67806"/>
                  </a:lnTo>
                  <a:lnTo>
                    <a:pt x="4400549" y="93445"/>
                  </a:lnTo>
                  <a:lnTo>
                    <a:pt x="4400549" y="4421403"/>
                  </a:lnTo>
                  <a:lnTo>
                    <a:pt x="4390422" y="4459176"/>
                  </a:lnTo>
                  <a:lnTo>
                    <a:pt x="4366612" y="4490199"/>
                  </a:lnTo>
                  <a:lnTo>
                    <a:pt x="4332742" y="4509748"/>
                  </a:lnTo>
                  <a:lnTo>
                    <a:pt x="4313607" y="4514208"/>
                  </a:lnTo>
                  <a:lnTo>
                    <a:pt x="4307103" y="4514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47662" y="1738312"/>
              <a:ext cx="4400550" cy="4514850"/>
            </a:xfrm>
            <a:custGeom>
              <a:avLst/>
              <a:gdLst/>
              <a:ahLst/>
              <a:cxnLst/>
              <a:rect l="l" t="t" r="r" b="b"/>
              <a:pathLst>
                <a:path w="4400550" h="4514850">
                  <a:moveTo>
                    <a:pt x="0" y="4414837"/>
                  </a:moveTo>
                  <a:lnTo>
                    <a:pt x="0" y="100012"/>
                  </a:lnTo>
                  <a:lnTo>
                    <a:pt x="0" y="93445"/>
                  </a:lnTo>
                  <a:lnTo>
                    <a:pt x="640" y="86941"/>
                  </a:lnTo>
                  <a:lnTo>
                    <a:pt x="1921" y="80500"/>
                  </a:lnTo>
                  <a:lnTo>
                    <a:pt x="3202" y="74060"/>
                  </a:lnTo>
                  <a:lnTo>
                    <a:pt x="5099" y="67806"/>
                  </a:lnTo>
                  <a:lnTo>
                    <a:pt x="24649" y="33936"/>
                  </a:lnTo>
                  <a:lnTo>
                    <a:pt x="29292" y="29292"/>
                  </a:lnTo>
                  <a:lnTo>
                    <a:pt x="33936" y="24649"/>
                  </a:lnTo>
                  <a:lnTo>
                    <a:pt x="67806" y="5099"/>
                  </a:lnTo>
                  <a:lnTo>
                    <a:pt x="80501" y="1921"/>
                  </a:lnTo>
                  <a:lnTo>
                    <a:pt x="86941" y="640"/>
                  </a:lnTo>
                  <a:lnTo>
                    <a:pt x="93445" y="0"/>
                  </a:lnTo>
                  <a:lnTo>
                    <a:pt x="100012" y="0"/>
                  </a:lnTo>
                  <a:lnTo>
                    <a:pt x="4300537" y="0"/>
                  </a:lnTo>
                  <a:lnTo>
                    <a:pt x="4307103" y="0"/>
                  </a:lnTo>
                  <a:lnTo>
                    <a:pt x="4313607" y="640"/>
                  </a:lnTo>
                  <a:lnTo>
                    <a:pt x="4350640" y="13206"/>
                  </a:lnTo>
                  <a:lnTo>
                    <a:pt x="4356100" y="16855"/>
                  </a:lnTo>
                  <a:lnTo>
                    <a:pt x="4361560" y="20503"/>
                  </a:lnTo>
                  <a:lnTo>
                    <a:pt x="4387342" y="49908"/>
                  </a:lnTo>
                  <a:lnTo>
                    <a:pt x="4399908" y="86941"/>
                  </a:lnTo>
                  <a:lnTo>
                    <a:pt x="4400549" y="100012"/>
                  </a:lnTo>
                  <a:lnTo>
                    <a:pt x="4400549" y="4414837"/>
                  </a:lnTo>
                  <a:lnTo>
                    <a:pt x="4392936" y="4453109"/>
                  </a:lnTo>
                  <a:lnTo>
                    <a:pt x="4371256" y="4485556"/>
                  </a:lnTo>
                  <a:lnTo>
                    <a:pt x="4338809" y="4507235"/>
                  </a:lnTo>
                  <a:lnTo>
                    <a:pt x="4300537" y="4514849"/>
                  </a:lnTo>
                  <a:lnTo>
                    <a:pt x="100012" y="4514849"/>
                  </a:lnTo>
                  <a:lnTo>
                    <a:pt x="61739" y="4507235"/>
                  </a:lnTo>
                  <a:lnTo>
                    <a:pt x="55672" y="4504722"/>
                  </a:lnTo>
                  <a:lnTo>
                    <a:pt x="24649" y="4480912"/>
                  </a:lnTo>
                  <a:lnTo>
                    <a:pt x="16855" y="4470399"/>
                  </a:lnTo>
                  <a:lnTo>
                    <a:pt x="13206" y="4464939"/>
                  </a:lnTo>
                  <a:lnTo>
                    <a:pt x="1921" y="4434347"/>
                  </a:lnTo>
                  <a:lnTo>
                    <a:pt x="640" y="4427906"/>
                  </a:lnTo>
                  <a:lnTo>
                    <a:pt x="0" y="4421403"/>
                  </a:lnTo>
                  <a:lnTo>
                    <a:pt x="0" y="4414837"/>
                  </a:lnTo>
                  <a:close/>
                </a:path>
              </a:pathLst>
            </a:custGeom>
            <a:ln w="28574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4824" y="1895474"/>
              <a:ext cx="4086224" cy="35242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3874" y="5143499"/>
              <a:ext cx="4048124" cy="933449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514349" y="5133974"/>
              <a:ext cx="4067175" cy="952500"/>
            </a:xfrm>
            <a:custGeom>
              <a:avLst/>
              <a:gdLst/>
              <a:ahLst/>
              <a:cxnLst/>
              <a:rect l="l" t="t" r="r" b="b"/>
              <a:pathLst>
                <a:path w="4067175" h="952500">
                  <a:moveTo>
                    <a:pt x="0" y="88582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3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57961" y="426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4000499" y="0"/>
                  </a:lnTo>
                  <a:lnTo>
                    <a:pt x="4004877" y="0"/>
                  </a:lnTo>
                  <a:lnTo>
                    <a:pt x="4009213" y="426"/>
                  </a:lnTo>
                  <a:lnTo>
                    <a:pt x="4044549" y="16432"/>
                  </a:lnTo>
                  <a:lnTo>
                    <a:pt x="4055937" y="29631"/>
                  </a:lnTo>
                  <a:lnTo>
                    <a:pt x="4058369" y="33271"/>
                  </a:lnTo>
                  <a:lnTo>
                    <a:pt x="4060423" y="37114"/>
                  </a:lnTo>
                  <a:lnTo>
                    <a:pt x="4062098" y="41159"/>
                  </a:lnTo>
                  <a:lnTo>
                    <a:pt x="4063774" y="45203"/>
                  </a:lnTo>
                  <a:lnTo>
                    <a:pt x="4065039" y="49373"/>
                  </a:lnTo>
                  <a:lnTo>
                    <a:pt x="4065893" y="53667"/>
                  </a:lnTo>
                  <a:lnTo>
                    <a:pt x="4066747" y="57960"/>
                  </a:lnTo>
                  <a:lnTo>
                    <a:pt x="4067174" y="62296"/>
                  </a:lnTo>
                  <a:lnTo>
                    <a:pt x="4067174" y="66674"/>
                  </a:lnTo>
                  <a:lnTo>
                    <a:pt x="4067174" y="885824"/>
                  </a:lnTo>
                  <a:lnTo>
                    <a:pt x="4067174" y="890203"/>
                  </a:lnTo>
                  <a:lnTo>
                    <a:pt x="4066747" y="894538"/>
                  </a:lnTo>
                  <a:lnTo>
                    <a:pt x="4065893" y="898831"/>
                  </a:lnTo>
                  <a:lnTo>
                    <a:pt x="4065039" y="903124"/>
                  </a:lnTo>
                  <a:lnTo>
                    <a:pt x="4063774" y="907294"/>
                  </a:lnTo>
                  <a:lnTo>
                    <a:pt x="4062098" y="911339"/>
                  </a:lnTo>
                  <a:lnTo>
                    <a:pt x="4060423" y="915383"/>
                  </a:lnTo>
                  <a:lnTo>
                    <a:pt x="4033901" y="943694"/>
                  </a:lnTo>
                  <a:lnTo>
                    <a:pt x="4000499" y="952499"/>
                  </a:lnTo>
                  <a:lnTo>
                    <a:pt x="66675" y="952499"/>
                  </a:lnTo>
                  <a:lnTo>
                    <a:pt x="29632" y="941262"/>
                  </a:lnTo>
                  <a:lnTo>
                    <a:pt x="5075" y="911339"/>
                  </a:lnTo>
                  <a:lnTo>
                    <a:pt x="3399" y="907294"/>
                  </a:lnTo>
                  <a:lnTo>
                    <a:pt x="2135" y="903124"/>
                  </a:lnTo>
                  <a:lnTo>
                    <a:pt x="1281" y="898831"/>
                  </a:lnTo>
                  <a:lnTo>
                    <a:pt x="427" y="894538"/>
                  </a:lnTo>
                  <a:lnTo>
                    <a:pt x="0" y="890203"/>
                  </a:lnTo>
                  <a:lnTo>
                    <a:pt x="0" y="885824"/>
                  </a:lnTo>
                  <a:close/>
                </a:path>
              </a:pathLst>
            </a:custGeom>
            <a:ln w="19049">
              <a:solidFill>
                <a:srgbClr val="FFC1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83363" y="2011988"/>
              <a:ext cx="128922" cy="128922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1735642" y="1958516"/>
            <a:ext cx="1783714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95" b="1">
                <a:solidFill>
                  <a:srgbClr val="1875D1"/>
                </a:solidFill>
                <a:latin typeface="Arial"/>
                <a:cs typeface="Arial"/>
              </a:rPr>
              <a:t>STgram-</a:t>
            </a:r>
            <a:r>
              <a:rPr dirty="0" sz="1200" spc="-110" b="1">
                <a:solidFill>
                  <a:srgbClr val="1875D1"/>
                </a:solidFill>
                <a:latin typeface="Arial"/>
                <a:cs typeface="Arial"/>
              </a:rPr>
              <a:t>MFN</a:t>
            </a:r>
            <a:r>
              <a:rPr dirty="0" sz="1200" spc="-10" b="1">
                <a:solidFill>
                  <a:srgbClr val="1875D1"/>
                </a:solidFill>
                <a:latin typeface="Arial"/>
                <a:cs typeface="Arial"/>
              </a:rPr>
              <a:t> (</a:t>
            </a:r>
            <a:r>
              <a:rPr dirty="0" sz="1150" spc="-125" b="1">
                <a:solidFill>
                  <a:srgbClr val="1875D1"/>
                </a:solidFill>
                <a:latin typeface="Microsoft JhengHei"/>
                <a:cs typeface="Microsoft JhengHei"/>
              </a:rPr>
              <a:t>ベースライン</a:t>
            </a:r>
            <a:r>
              <a:rPr dirty="0" sz="1200" spc="-50" b="1">
                <a:solidFill>
                  <a:srgbClr val="1875D1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246957" y="5249290"/>
            <a:ext cx="59690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00" b="1">
                <a:solidFill>
                  <a:srgbClr val="856404"/>
                </a:solidFill>
                <a:latin typeface="Malgun Gothic"/>
                <a:cs typeface="Malgun Gothic"/>
              </a:rPr>
              <a:t>分離度評</a:t>
            </a:r>
            <a:r>
              <a:rPr dirty="0" sz="1000" spc="-50" b="1">
                <a:solidFill>
                  <a:srgbClr val="856404"/>
                </a:solidFill>
                <a:latin typeface="Microsoft JhengHei"/>
                <a:cs typeface="Microsoft JhengHei"/>
              </a:rPr>
              <a:t>価</a:t>
            </a:r>
            <a:endParaRPr sz="1000">
              <a:latin typeface="Microsoft JhengHei"/>
              <a:cs typeface="Microsoft JhengHei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638174" y="5505449"/>
            <a:ext cx="1866900" cy="457200"/>
            <a:chOff x="638174" y="5505449"/>
            <a:chExt cx="1866900" cy="457200"/>
          </a:xfrm>
        </p:grpSpPr>
        <p:sp>
          <p:nvSpPr>
            <p:cNvPr id="27" name="object 27" descr=""/>
            <p:cNvSpPr/>
            <p:nvPr/>
          </p:nvSpPr>
          <p:spPr>
            <a:xfrm>
              <a:off x="642937" y="5510212"/>
              <a:ext cx="1857375" cy="447675"/>
            </a:xfrm>
            <a:custGeom>
              <a:avLst/>
              <a:gdLst/>
              <a:ahLst/>
              <a:cxnLst/>
              <a:rect l="l" t="t" r="r" b="b"/>
              <a:pathLst>
                <a:path w="1857375" h="447675">
                  <a:moveTo>
                    <a:pt x="1808426" y="447674"/>
                  </a:moveTo>
                  <a:lnTo>
                    <a:pt x="48947" y="447674"/>
                  </a:lnTo>
                  <a:lnTo>
                    <a:pt x="45540" y="447338"/>
                  </a:lnTo>
                  <a:lnTo>
                    <a:pt x="10739" y="427251"/>
                  </a:lnTo>
                  <a:lnTo>
                    <a:pt x="0" y="398726"/>
                  </a:lnTo>
                  <a:lnTo>
                    <a:pt x="0" y="3952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808426" y="0"/>
                  </a:lnTo>
                  <a:lnTo>
                    <a:pt x="1844462" y="17775"/>
                  </a:lnTo>
                  <a:lnTo>
                    <a:pt x="1857374" y="48947"/>
                  </a:lnTo>
                  <a:lnTo>
                    <a:pt x="1857374" y="398726"/>
                  </a:lnTo>
                  <a:lnTo>
                    <a:pt x="1839598" y="434762"/>
                  </a:lnTo>
                  <a:lnTo>
                    <a:pt x="1811833" y="447338"/>
                  </a:lnTo>
                  <a:lnTo>
                    <a:pt x="1808426" y="447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42937" y="5510212"/>
              <a:ext cx="1857375" cy="447675"/>
            </a:xfrm>
            <a:custGeom>
              <a:avLst/>
              <a:gdLst/>
              <a:ahLst/>
              <a:cxnLst/>
              <a:rect l="l" t="t" r="r" b="b"/>
              <a:pathLst>
                <a:path w="1857375" h="447675">
                  <a:moveTo>
                    <a:pt x="0" y="3952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40"/>
                  </a:lnTo>
                  <a:lnTo>
                    <a:pt x="23282" y="8829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804987" y="0"/>
                  </a:lnTo>
                  <a:lnTo>
                    <a:pt x="1808426" y="0"/>
                  </a:lnTo>
                  <a:lnTo>
                    <a:pt x="1811833" y="335"/>
                  </a:lnTo>
                  <a:lnTo>
                    <a:pt x="1815207" y="1006"/>
                  </a:lnTo>
                  <a:lnTo>
                    <a:pt x="1818580" y="1677"/>
                  </a:lnTo>
                  <a:lnTo>
                    <a:pt x="1821856" y="2671"/>
                  </a:lnTo>
                  <a:lnTo>
                    <a:pt x="1825035" y="3987"/>
                  </a:lnTo>
                  <a:lnTo>
                    <a:pt x="1828213" y="5303"/>
                  </a:lnTo>
                  <a:lnTo>
                    <a:pt x="1831231" y="6917"/>
                  </a:lnTo>
                  <a:lnTo>
                    <a:pt x="1834091" y="8828"/>
                  </a:lnTo>
                  <a:lnTo>
                    <a:pt x="1836952" y="10739"/>
                  </a:lnTo>
                  <a:lnTo>
                    <a:pt x="1839598" y="12911"/>
                  </a:lnTo>
                  <a:lnTo>
                    <a:pt x="1842030" y="15343"/>
                  </a:lnTo>
                  <a:lnTo>
                    <a:pt x="1844462" y="17775"/>
                  </a:lnTo>
                  <a:lnTo>
                    <a:pt x="1846634" y="20421"/>
                  </a:lnTo>
                  <a:lnTo>
                    <a:pt x="1848545" y="23282"/>
                  </a:lnTo>
                  <a:lnTo>
                    <a:pt x="1850456" y="26142"/>
                  </a:lnTo>
                  <a:lnTo>
                    <a:pt x="1852070" y="29160"/>
                  </a:lnTo>
                  <a:lnTo>
                    <a:pt x="1853387" y="32339"/>
                  </a:lnTo>
                  <a:lnTo>
                    <a:pt x="1854703" y="35517"/>
                  </a:lnTo>
                  <a:lnTo>
                    <a:pt x="1855697" y="38793"/>
                  </a:lnTo>
                  <a:lnTo>
                    <a:pt x="1856367" y="42167"/>
                  </a:lnTo>
                  <a:lnTo>
                    <a:pt x="1857039" y="45540"/>
                  </a:lnTo>
                  <a:lnTo>
                    <a:pt x="1857374" y="48947"/>
                  </a:lnTo>
                  <a:lnTo>
                    <a:pt x="1857374" y="52387"/>
                  </a:lnTo>
                  <a:lnTo>
                    <a:pt x="1857374" y="395287"/>
                  </a:lnTo>
                  <a:lnTo>
                    <a:pt x="1853386" y="415333"/>
                  </a:lnTo>
                  <a:lnTo>
                    <a:pt x="1852070" y="418512"/>
                  </a:lnTo>
                  <a:lnTo>
                    <a:pt x="1834091" y="438845"/>
                  </a:lnTo>
                  <a:lnTo>
                    <a:pt x="1831231" y="440756"/>
                  </a:lnTo>
                  <a:lnTo>
                    <a:pt x="1828213" y="442370"/>
                  </a:lnTo>
                  <a:lnTo>
                    <a:pt x="1825035" y="443686"/>
                  </a:lnTo>
                  <a:lnTo>
                    <a:pt x="1821856" y="445003"/>
                  </a:lnTo>
                  <a:lnTo>
                    <a:pt x="1818580" y="445996"/>
                  </a:lnTo>
                  <a:lnTo>
                    <a:pt x="1815207" y="446667"/>
                  </a:lnTo>
                  <a:lnTo>
                    <a:pt x="1811833" y="447338"/>
                  </a:lnTo>
                  <a:lnTo>
                    <a:pt x="1808426" y="447674"/>
                  </a:lnTo>
                  <a:lnTo>
                    <a:pt x="1804987" y="447674"/>
                  </a:lnTo>
                  <a:lnTo>
                    <a:pt x="52387" y="447674"/>
                  </a:lnTo>
                  <a:lnTo>
                    <a:pt x="48947" y="447674"/>
                  </a:lnTo>
                  <a:lnTo>
                    <a:pt x="45540" y="447338"/>
                  </a:lnTo>
                  <a:lnTo>
                    <a:pt x="42167" y="446667"/>
                  </a:lnTo>
                  <a:lnTo>
                    <a:pt x="38793" y="445996"/>
                  </a:lnTo>
                  <a:lnTo>
                    <a:pt x="35517" y="445003"/>
                  </a:lnTo>
                  <a:lnTo>
                    <a:pt x="32339" y="443686"/>
                  </a:lnTo>
                  <a:lnTo>
                    <a:pt x="29161" y="442370"/>
                  </a:lnTo>
                  <a:lnTo>
                    <a:pt x="26142" y="440756"/>
                  </a:lnTo>
                  <a:lnTo>
                    <a:pt x="23282" y="438845"/>
                  </a:lnTo>
                  <a:lnTo>
                    <a:pt x="20422" y="436934"/>
                  </a:lnTo>
                  <a:lnTo>
                    <a:pt x="17776" y="434762"/>
                  </a:lnTo>
                  <a:lnTo>
                    <a:pt x="15343" y="432330"/>
                  </a:lnTo>
                  <a:lnTo>
                    <a:pt x="12911" y="429898"/>
                  </a:lnTo>
                  <a:lnTo>
                    <a:pt x="3987" y="415333"/>
                  </a:lnTo>
                  <a:lnTo>
                    <a:pt x="2671" y="412156"/>
                  </a:lnTo>
                  <a:lnTo>
                    <a:pt x="1677" y="408880"/>
                  </a:lnTo>
                  <a:lnTo>
                    <a:pt x="1006" y="405507"/>
                  </a:lnTo>
                  <a:lnTo>
                    <a:pt x="335" y="402133"/>
                  </a:lnTo>
                  <a:lnTo>
                    <a:pt x="0" y="398726"/>
                  </a:lnTo>
                  <a:lnTo>
                    <a:pt x="0" y="395287"/>
                  </a:lnTo>
                  <a:close/>
                </a:path>
              </a:pathLst>
            </a:custGeom>
            <a:ln w="9524">
              <a:solidFill>
                <a:srgbClr val="FFC1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1303684" y="5526329"/>
            <a:ext cx="538480" cy="37020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dirty="0" sz="750" spc="-80">
                <a:solidFill>
                  <a:srgbClr val="666666"/>
                </a:solidFill>
                <a:latin typeface="SimSun"/>
                <a:cs typeface="SimSun"/>
              </a:rPr>
              <a:t>クラスタ分離</a:t>
            </a:r>
            <a:endParaRPr sz="750">
              <a:latin typeface="SimSun"/>
              <a:cs typeface="SimSun"/>
            </a:endParaRPr>
          </a:p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dirty="0" sz="1000" spc="-50" b="1">
                <a:solidFill>
                  <a:srgbClr val="3A6EA5"/>
                </a:solidFill>
                <a:latin typeface="Malgun Gothic"/>
                <a:cs typeface="Malgun Gothic"/>
              </a:rPr>
              <a:t>低</a:t>
            </a:r>
            <a:endParaRPr sz="1000">
              <a:latin typeface="Malgun Gothic"/>
              <a:cs typeface="Malgun Gothic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2581274" y="5505449"/>
            <a:ext cx="1876425" cy="457200"/>
            <a:chOff x="2581274" y="5505449"/>
            <a:chExt cx="1876425" cy="457200"/>
          </a:xfrm>
        </p:grpSpPr>
        <p:sp>
          <p:nvSpPr>
            <p:cNvPr id="31" name="object 31" descr=""/>
            <p:cNvSpPr/>
            <p:nvPr/>
          </p:nvSpPr>
          <p:spPr>
            <a:xfrm>
              <a:off x="2586037" y="5510212"/>
              <a:ext cx="1866900" cy="447675"/>
            </a:xfrm>
            <a:custGeom>
              <a:avLst/>
              <a:gdLst/>
              <a:ahLst/>
              <a:cxnLst/>
              <a:rect l="l" t="t" r="r" b="b"/>
              <a:pathLst>
                <a:path w="1866900" h="447675">
                  <a:moveTo>
                    <a:pt x="1817951" y="447674"/>
                  </a:moveTo>
                  <a:lnTo>
                    <a:pt x="48947" y="447674"/>
                  </a:lnTo>
                  <a:lnTo>
                    <a:pt x="45540" y="447338"/>
                  </a:lnTo>
                  <a:lnTo>
                    <a:pt x="10739" y="427251"/>
                  </a:lnTo>
                  <a:lnTo>
                    <a:pt x="0" y="398726"/>
                  </a:lnTo>
                  <a:lnTo>
                    <a:pt x="0" y="3952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817951" y="0"/>
                  </a:lnTo>
                  <a:lnTo>
                    <a:pt x="1853987" y="17775"/>
                  </a:lnTo>
                  <a:lnTo>
                    <a:pt x="1866899" y="48947"/>
                  </a:lnTo>
                  <a:lnTo>
                    <a:pt x="1866899" y="398726"/>
                  </a:lnTo>
                  <a:lnTo>
                    <a:pt x="1849122" y="434762"/>
                  </a:lnTo>
                  <a:lnTo>
                    <a:pt x="1821358" y="447338"/>
                  </a:lnTo>
                  <a:lnTo>
                    <a:pt x="1817951" y="447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586037" y="5510212"/>
              <a:ext cx="1866900" cy="447675"/>
            </a:xfrm>
            <a:custGeom>
              <a:avLst/>
              <a:gdLst/>
              <a:ahLst/>
              <a:cxnLst/>
              <a:rect l="l" t="t" r="r" b="b"/>
              <a:pathLst>
                <a:path w="1866900" h="447675">
                  <a:moveTo>
                    <a:pt x="0" y="3952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0" y="35517"/>
                  </a:lnTo>
                  <a:lnTo>
                    <a:pt x="3987" y="32339"/>
                  </a:lnTo>
                  <a:lnTo>
                    <a:pt x="5303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40"/>
                  </a:lnTo>
                  <a:lnTo>
                    <a:pt x="23282" y="8829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6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814512" y="0"/>
                  </a:lnTo>
                  <a:lnTo>
                    <a:pt x="1817951" y="0"/>
                  </a:lnTo>
                  <a:lnTo>
                    <a:pt x="1821358" y="335"/>
                  </a:lnTo>
                  <a:lnTo>
                    <a:pt x="1851555" y="15343"/>
                  </a:lnTo>
                  <a:lnTo>
                    <a:pt x="1853987" y="17775"/>
                  </a:lnTo>
                  <a:lnTo>
                    <a:pt x="1856159" y="20421"/>
                  </a:lnTo>
                  <a:lnTo>
                    <a:pt x="1858070" y="23282"/>
                  </a:lnTo>
                  <a:lnTo>
                    <a:pt x="1859981" y="26142"/>
                  </a:lnTo>
                  <a:lnTo>
                    <a:pt x="1866899" y="52387"/>
                  </a:lnTo>
                  <a:lnTo>
                    <a:pt x="1866899" y="395287"/>
                  </a:lnTo>
                  <a:lnTo>
                    <a:pt x="1862911" y="415333"/>
                  </a:lnTo>
                  <a:lnTo>
                    <a:pt x="1861594" y="418512"/>
                  </a:lnTo>
                  <a:lnTo>
                    <a:pt x="1859981" y="421531"/>
                  </a:lnTo>
                  <a:lnTo>
                    <a:pt x="1858070" y="424391"/>
                  </a:lnTo>
                  <a:lnTo>
                    <a:pt x="1856159" y="427251"/>
                  </a:lnTo>
                  <a:lnTo>
                    <a:pt x="1834559" y="443686"/>
                  </a:lnTo>
                  <a:lnTo>
                    <a:pt x="1831381" y="445003"/>
                  </a:lnTo>
                  <a:lnTo>
                    <a:pt x="1828105" y="445996"/>
                  </a:lnTo>
                  <a:lnTo>
                    <a:pt x="1824732" y="446667"/>
                  </a:lnTo>
                  <a:lnTo>
                    <a:pt x="1821358" y="447338"/>
                  </a:lnTo>
                  <a:lnTo>
                    <a:pt x="1817951" y="447674"/>
                  </a:lnTo>
                  <a:lnTo>
                    <a:pt x="1814512" y="447674"/>
                  </a:lnTo>
                  <a:lnTo>
                    <a:pt x="52387" y="447674"/>
                  </a:lnTo>
                  <a:lnTo>
                    <a:pt x="48947" y="447674"/>
                  </a:lnTo>
                  <a:lnTo>
                    <a:pt x="45540" y="447338"/>
                  </a:lnTo>
                  <a:lnTo>
                    <a:pt x="42166" y="446667"/>
                  </a:lnTo>
                  <a:lnTo>
                    <a:pt x="38793" y="445996"/>
                  </a:lnTo>
                  <a:lnTo>
                    <a:pt x="35517" y="445003"/>
                  </a:lnTo>
                  <a:lnTo>
                    <a:pt x="32339" y="443686"/>
                  </a:lnTo>
                  <a:lnTo>
                    <a:pt x="29161" y="442370"/>
                  </a:lnTo>
                  <a:lnTo>
                    <a:pt x="15343" y="432330"/>
                  </a:lnTo>
                  <a:lnTo>
                    <a:pt x="12911" y="429898"/>
                  </a:lnTo>
                  <a:lnTo>
                    <a:pt x="3987" y="415333"/>
                  </a:lnTo>
                  <a:lnTo>
                    <a:pt x="2671" y="412156"/>
                  </a:lnTo>
                  <a:lnTo>
                    <a:pt x="1677" y="408880"/>
                  </a:lnTo>
                  <a:lnTo>
                    <a:pt x="1006" y="405507"/>
                  </a:lnTo>
                  <a:lnTo>
                    <a:pt x="335" y="402133"/>
                  </a:lnTo>
                  <a:lnTo>
                    <a:pt x="0" y="398726"/>
                  </a:lnTo>
                  <a:lnTo>
                    <a:pt x="0" y="395287"/>
                  </a:lnTo>
                  <a:close/>
                </a:path>
              </a:pathLst>
            </a:custGeom>
            <a:ln w="9524">
              <a:solidFill>
                <a:srgbClr val="FFC1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3376860" y="5526329"/>
            <a:ext cx="282575" cy="37020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dirty="0" sz="750" spc="-70">
                <a:solidFill>
                  <a:srgbClr val="666666"/>
                </a:solidFill>
                <a:latin typeface="SimSun"/>
                <a:cs typeface="SimSun"/>
              </a:rPr>
              <a:t>重複度</a:t>
            </a:r>
            <a:endParaRPr sz="750">
              <a:latin typeface="SimSun"/>
              <a:cs typeface="SimSun"/>
            </a:endParaRPr>
          </a:p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dirty="0" sz="1000" spc="-50" b="1">
                <a:solidFill>
                  <a:srgbClr val="3A6EA5"/>
                </a:solidFill>
                <a:latin typeface="Malgun Gothic"/>
                <a:cs typeface="Malgun Gothic"/>
              </a:rPr>
              <a:t>高</a:t>
            </a:r>
            <a:endParaRPr sz="1000">
              <a:latin typeface="Malgun Gothic"/>
              <a:cs typeface="Malgun Gothic"/>
            </a:endParaRPr>
          </a:p>
        </p:txBody>
      </p:sp>
      <p:pic>
        <p:nvPicPr>
          <p:cNvPr id="34" name="object 3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4824" y="2362199"/>
            <a:ext cx="4086224" cy="2666999"/>
          </a:xfrm>
          <a:prstGeom prst="rect">
            <a:avLst/>
          </a:prstGeom>
        </p:spPr>
      </p:pic>
      <p:sp>
        <p:nvSpPr>
          <p:cNvPr id="35" name="object 35" descr=""/>
          <p:cNvSpPr txBox="1"/>
          <p:nvPr/>
        </p:nvSpPr>
        <p:spPr>
          <a:xfrm>
            <a:off x="1781274" y="2911094"/>
            <a:ext cx="382270" cy="128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-20" b="1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dirty="0" sz="6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50" spc="-20" b="1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dirty="0" sz="6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50" spc="-55" b="1">
                <a:solidFill>
                  <a:srgbClr val="FFFFFF"/>
                </a:solidFill>
                <a:latin typeface="Malgun Gothic"/>
                <a:cs typeface="Malgun Gothic"/>
              </a:rPr>
              <a:t>正常</a:t>
            </a:r>
            <a:endParaRPr sz="650">
              <a:latin typeface="Malgun Gothic"/>
              <a:cs typeface="Malgun Gothic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781274" y="3835019"/>
            <a:ext cx="382270" cy="128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-20" b="1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dirty="0" sz="6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50" spc="-20" b="1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dirty="0" sz="6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50" spc="-55" b="1">
                <a:solidFill>
                  <a:srgbClr val="FFFFFF"/>
                </a:solidFill>
                <a:latin typeface="Malgun Gothic"/>
                <a:cs typeface="Malgun Gothic"/>
              </a:rPr>
              <a:t>異常</a:t>
            </a:r>
            <a:endParaRPr sz="650">
              <a:latin typeface="Malgun Gothic"/>
              <a:cs typeface="Malgun Gothic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4800600" y="1560576"/>
            <a:ext cx="4822190" cy="4947285"/>
            <a:chOff x="4800600" y="1560576"/>
            <a:chExt cx="4822190" cy="4947285"/>
          </a:xfrm>
        </p:grpSpPr>
        <p:sp>
          <p:nvSpPr>
            <p:cNvPr id="38" name="object 38" descr=""/>
            <p:cNvSpPr/>
            <p:nvPr/>
          </p:nvSpPr>
          <p:spPr>
            <a:xfrm>
              <a:off x="4800600" y="1560576"/>
              <a:ext cx="4822190" cy="4947285"/>
            </a:xfrm>
            <a:custGeom>
              <a:avLst/>
              <a:gdLst/>
              <a:ahLst/>
              <a:cxnLst/>
              <a:rect l="l" t="t" r="r" b="b"/>
              <a:pathLst>
                <a:path w="4822190" h="4947284">
                  <a:moveTo>
                    <a:pt x="4821935" y="4946903"/>
                  </a:moveTo>
                  <a:lnTo>
                    <a:pt x="0" y="4946903"/>
                  </a:lnTo>
                  <a:lnTo>
                    <a:pt x="0" y="0"/>
                  </a:lnTo>
                  <a:lnTo>
                    <a:pt x="4821935" y="0"/>
                  </a:lnTo>
                  <a:lnTo>
                    <a:pt x="4821935" y="172973"/>
                  </a:lnTo>
                  <a:lnTo>
                    <a:pt x="314324" y="172973"/>
                  </a:lnTo>
                  <a:lnTo>
                    <a:pt x="304003" y="173472"/>
                  </a:lnTo>
                  <a:lnTo>
                    <a:pt x="264883" y="185359"/>
                  </a:lnTo>
                  <a:lnTo>
                    <a:pt x="233291" y="211312"/>
                  </a:lnTo>
                  <a:lnTo>
                    <a:pt x="214035" y="247379"/>
                  </a:lnTo>
                  <a:lnTo>
                    <a:pt x="209549" y="277748"/>
                  </a:lnTo>
                  <a:lnTo>
                    <a:pt x="209549" y="4592573"/>
                  </a:lnTo>
                  <a:lnTo>
                    <a:pt x="217524" y="4632668"/>
                  </a:lnTo>
                  <a:lnTo>
                    <a:pt x="240237" y="4666660"/>
                  </a:lnTo>
                  <a:lnTo>
                    <a:pt x="274228" y="4689372"/>
                  </a:lnTo>
                  <a:lnTo>
                    <a:pt x="314324" y="4697348"/>
                  </a:lnTo>
                  <a:lnTo>
                    <a:pt x="4821935" y="4697348"/>
                  </a:lnTo>
                  <a:lnTo>
                    <a:pt x="4821935" y="4946903"/>
                  </a:lnTo>
                  <a:close/>
                </a:path>
                <a:path w="4822190" h="4947284">
                  <a:moveTo>
                    <a:pt x="4821935" y="4697348"/>
                  </a:moveTo>
                  <a:lnTo>
                    <a:pt x="4505324" y="4697348"/>
                  </a:lnTo>
                  <a:lnTo>
                    <a:pt x="4515645" y="4696849"/>
                  </a:lnTo>
                  <a:lnTo>
                    <a:pt x="4525768" y="4695354"/>
                  </a:lnTo>
                  <a:lnTo>
                    <a:pt x="4563545" y="4679706"/>
                  </a:lnTo>
                  <a:lnTo>
                    <a:pt x="4592458" y="4650793"/>
                  </a:lnTo>
                  <a:lnTo>
                    <a:pt x="4608105" y="4613017"/>
                  </a:lnTo>
                  <a:lnTo>
                    <a:pt x="4610099" y="4592573"/>
                  </a:lnTo>
                  <a:lnTo>
                    <a:pt x="4610099" y="277748"/>
                  </a:lnTo>
                  <a:lnTo>
                    <a:pt x="4602124" y="237653"/>
                  </a:lnTo>
                  <a:lnTo>
                    <a:pt x="4579411" y="203661"/>
                  </a:lnTo>
                  <a:lnTo>
                    <a:pt x="4545419" y="180949"/>
                  </a:lnTo>
                  <a:lnTo>
                    <a:pt x="4505324" y="172973"/>
                  </a:lnTo>
                  <a:lnTo>
                    <a:pt x="4821935" y="172973"/>
                  </a:lnTo>
                  <a:lnTo>
                    <a:pt x="4821935" y="4697348"/>
                  </a:lnTo>
                  <a:close/>
                </a:path>
              </a:pathLst>
            </a:custGeom>
            <a:solidFill>
              <a:srgbClr val="28A64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014912" y="1738312"/>
              <a:ext cx="4391025" cy="4514850"/>
            </a:xfrm>
            <a:custGeom>
              <a:avLst/>
              <a:gdLst/>
              <a:ahLst/>
              <a:cxnLst/>
              <a:rect l="l" t="t" r="r" b="b"/>
              <a:pathLst>
                <a:path w="4391025" h="4514850">
                  <a:moveTo>
                    <a:pt x="4297578" y="4514849"/>
                  </a:moveTo>
                  <a:lnTo>
                    <a:pt x="93446" y="4514849"/>
                  </a:lnTo>
                  <a:lnTo>
                    <a:pt x="86941" y="4514208"/>
                  </a:lnTo>
                  <a:lnTo>
                    <a:pt x="49908" y="4501641"/>
                  </a:lnTo>
                  <a:lnTo>
                    <a:pt x="20503" y="4475860"/>
                  </a:lnTo>
                  <a:lnTo>
                    <a:pt x="3202" y="4440788"/>
                  </a:lnTo>
                  <a:lnTo>
                    <a:pt x="0" y="4414837"/>
                  </a:lnTo>
                  <a:lnTo>
                    <a:pt x="0" y="93445"/>
                  </a:lnTo>
                  <a:lnTo>
                    <a:pt x="10126" y="55672"/>
                  </a:lnTo>
                  <a:lnTo>
                    <a:pt x="33936" y="24649"/>
                  </a:lnTo>
                  <a:lnTo>
                    <a:pt x="67805" y="5099"/>
                  </a:lnTo>
                  <a:lnTo>
                    <a:pt x="93446" y="0"/>
                  </a:lnTo>
                  <a:lnTo>
                    <a:pt x="4297578" y="0"/>
                  </a:lnTo>
                  <a:lnTo>
                    <a:pt x="4335350" y="10126"/>
                  </a:lnTo>
                  <a:lnTo>
                    <a:pt x="4366374" y="33936"/>
                  </a:lnTo>
                  <a:lnTo>
                    <a:pt x="4385923" y="67806"/>
                  </a:lnTo>
                  <a:lnTo>
                    <a:pt x="4391024" y="93445"/>
                  </a:lnTo>
                  <a:lnTo>
                    <a:pt x="4391024" y="4421403"/>
                  </a:lnTo>
                  <a:lnTo>
                    <a:pt x="4380897" y="4459176"/>
                  </a:lnTo>
                  <a:lnTo>
                    <a:pt x="4357087" y="4490199"/>
                  </a:lnTo>
                  <a:lnTo>
                    <a:pt x="4323217" y="4509748"/>
                  </a:lnTo>
                  <a:lnTo>
                    <a:pt x="4297578" y="4514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014912" y="1738312"/>
              <a:ext cx="4391025" cy="4514850"/>
            </a:xfrm>
            <a:custGeom>
              <a:avLst/>
              <a:gdLst/>
              <a:ahLst/>
              <a:cxnLst/>
              <a:rect l="l" t="t" r="r" b="b"/>
              <a:pathLst>
                <a:path w="4391025" h="4514850">
                  <a:moveTo>
                    <a:pt x="0" y="4414837"/>
                  </a:moveTo>
                  <a:lnTo>
                    <a:pt x="0" y="100012"/>
                  </a:lnTo>
                  <a:lnTo>
                    <a:pt x="0" y="93445"/>
                  </a:lnTo>
                  <a:lnTo>
                    <a:pt x="7612" y="61739"/>
                  </a:lnTo>
                  <a:lnTo>
                    <a:pt x="10126" y="55672"/>
                  </a:lnTo>
                  <a:lnTo>
                    <a:pt x="33936" y="24649"/>
                  </a:lnTo>
                  <a:lnTo>
                    <a:pt x="67805" y="5099"/>
                  </a:lnTo>
                  <a:lnTo>
                    <a:pt x="80500" y="1921"/>
                  </a:lnTo>
                  <a:lnTo>
                    <a:pt x="86941" y="640"/>
                  </a:lnTo>
                  <a:lnTo>
                    <a:pt x="93446" y="0"/>
                  </a:lnTo>
                  <a:lnTo>
                    <a:pt x="100012" y="0"/>
                  </a:lnTo>
                  <a:lnTo>
                    <a:pt x="4291012" y="0"/>
                  </a:lnTo>
                  <a:lnTo>
                    <a:pt x="4297578" y="0"/>
                  </a:lnTo>
                  <a:lnTo>
                    <a:pt x="4304082" y="640"/>
                  </a:lnTo>
                  <a:lnTo>
                    <a:pt x="4341114" y="13206"/>
                  </a:lnTo>
                  <a:lnTo>
                    <a:pt x="4370520" y="38988"/>
                  </a:lnTo>
                  <a:lnTo>
                    <a:pt x="4383409" y="61739"/>
                  </a:lnTo>
                  <a:lnTo>
                    <a:pt x="4385923" y="67806"/>
                  </a:lnTo>
                  <a:lnTo>
                    <a:pt x="4387821" y="74060"/>
                  </a:lnTo>
                  <a:lnTo>
                    <a:pt x="4389102" y="80500"/>
                  </a:lnTo>
                  <a:lnTo>
                    <a:pt x="4390383" y="86941"/>
                  </a:lnTo>
                  <a:lnTo>
                    <a:pt x="4391024" y="93445"/>
                  </a:lnTo>
                  <a:lnTo>
                    <a:pt x="4391024" y="100012"/>
                  </a:lnTo>
                  <a:lnTo>
                    <a:pt x="4391024" y="4414837"/>
                  </a:lnTo>
                  <a:lnTo>
                    <a:pt x="4391024" y="4421403"/>
                  </a:lnTo>
                  <a:lnTo>
                    <a:pt x="4390383" y="4427906"/>
                  </a:lnTo>
                  <a:lnTo>
                    <a:pt x="4389102" y="4434347"/>
                  </a:lnTo>
                  <a:lnTo>
                    <a:pt x="4387821" y="4440788"/>
                  </a:lnTo>
                  <a:lnTo>
                    <a:pt x="4370520" y="4475860"/>
                  </a:lnTo>
                  <a:lnTo>
                    <a:pt x="4341114" y="4501641"/>
                  </a:lnTo>
                  <a:lnTo>
                    <a:pt x="4304082" y="4514208"/>
                  </a:lnTo>
                  <a:lnTo>
                    <a:pt x="4291012" y="4514849"/>
                  </a:lnTo>
                  <a:lnTo>
                    <a:pt x="100012" y="4514849"/>
                  </a:lnTo>
                  <a:lnTo>
                    <a:pt x="61738" y="4507235"/>
                  </a:lnTo>
                  <a:lnTo>
                    <a:pt x="55671" y="4504722"/>
                  </a:lnTo>
                  <a:lnTo>
                    <a:pt x="24649" y="4480912"/>
                  </a:lnTo>
                  <a:lnTo>
                    <a:pt x="5099" y="4447042"/>
                  </a:lnTo>
                  <a:lnTo>
                    <a:pt x="0" y="4421403"/>
                  </a:lnTo>
                  <a:lnTo>
                    <a:pt x="0" y="4414837"/>
                  </a:lnTo>
                  <a:close/>
                </a:path>
              </a:pathLst>
            </a:custGeom>
            <a:ln w="28574">
              <a:solidFill>
                <a:srgbClr val="28A64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72074" y="1895474"/>
              <a:ext cx="4076699" cy="352424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91124" y="5143499"/>
              <a:ext cx="4038599" cy="933449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5181599" y="5133974"/>
              <a:ext cx="4057650" cy="952500"/>
            </a:xfrm>
            <a:custGeom>
              <a:avLst/>
              <a:gdLst/>
              <a:ahLst/>
              <a:cxnLst/>
              <a:rect l="l" t="t" r="r" b="b"/>
              <a:pathLst>
                <a:path w="4057650" h="952500">
                  <a:moveTo>
                    <a:pt x="0" y="88582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1"/>
                  </a:lnTo>
                  <a:lnTo>
                    <a:pt x="11237" y="29631"/>
                  </a:lnTo>
                  <a:lnTo>
                    <a:pt x="13668" y="25992"/>
                  </a:lnTo>
                  <a:lnTo>
                    <a:pt x="16433" y="22624"/>
                  </a:lnTo>
                  <a:lnTo>
                    <a:pt x="19529" y="19528"/>
                  </a:lnTo>
                  <a:lnTo>
                    <a:pt x="22624" y="16432"/>
                  </a:lnTo>
                  <a:lnTo>
                    <a:pt x="25993" y="13668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3990975" y="0"/>
                  </a:lnTo>
                  <a:lnTo>
                    <a:pt x="3995352" y="0"/>
                  </a:lnTo>
                  <a:lnTo>
                    <a:pt x="3999688" y="426"/>
                  </a:lnTo>
                  <a:lnTo>
                    <a:pt x="4035024" y="16432"/>
                  </a:lnTo>
                  <a:lnTo>
                    <a:pt x="4055513" y="49373"/>
                  </a:lnTo>
                  <a:lnTo>
                    <a:pt x="4057650" y="66674"/>
                  </a:lnTo>
                  <a:lnTo>
                    <a:pt x="4057650" y="885824"/>
                  </a:lnTo>
                  <a:lnTo>
                    <a:pt x="4046412" y="922866"/>
                  </a:lnTo>
                  <a:lnTo>
                    <a:pt x="4016489" y="947424"/>
                  </a:lnTo>
                  <a:lnTo>
                    <a:pt x="3990975" y="952499"/>
                  </a:lnTo>
                  <a:lnTo>
                    <a:pt x="66675" y="952499"/>
                  </a:lnTo>
                  <a:lnTo>
                    <a:pt x="29632" y="941262"/>
                  </a:lnTo>
                  <a:lnTo>
                    <a:pt x="5074" y="911339"/>
                  </a:lnTo>
                  <a:lnTo>
                    <a:pt x="0" y="890203"/>
                  </a:lnTo>
                  <a:lnTo>
                    <a:pt x="0" y="885824"/>
                  </a:lnTo>
                  <a:close/>
                </a:path>
              </a:pathLst>
            </a:custGeom>
            <a:ln w="19049">
              <a:solidFill>
                <a:srgbClr val="FFC1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77426" y="2009774"/>
              <a:ext cx="132495" cy="133349"/>
            </a:xfrm>
            <a:prstGeom prst="rect">
              <a:avLst/>
            </a:prstGeom>
          </p:spPr>
        </p:pic>
      </p:grpSp>
      <p:sp>
        <p:nvSpPr>
          <p:cNvPr id="45" name="object 45" descr=""/>
          <p:cNvSpPr txBox="1"/>
          <p:nvPr/>
        </p:nvSpPr>
        <p:spPr>
          <a:xfrm>
            <a:off x="6623455" y="1960689"/>
            <a:ext cx="133286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0" b="1">
                <a:solidFill>
                  <a:srgbClr val="2E7D32"/>
                </a:solidFill>
                <a:latin typeface="Arial"/>
                <a:cs typeface="Arial"/>
              </a:rPr>
              <a:t>ASD-</a:t>
            </a:r>
            <a:r>
              <a:rPr dirty="0" sz="1150" spc="-145" b="1">
                <a:solidFill>
                  <a:srgbClr val="2E7D32"/>
                </a:solidFill>
                <a:latin typeface="Arial"/>
                <a:cs typeface="Arial"/>
              </a:rPr>
              <a:t>AFPA</a:t>
            </a:r>
            <a:r>
              <a:rPr dirty="0" sz="1150" b="1">
                <a:solidFill>
                  <a:srgbClr val="2E7D32"/>
                </a:solidFill>
                <a:latin typeface="Arial"/>
                <a:cs typeface="Arial"/>
              </a:rPr>
              <a:t> (</a:t>
            </a:r>
            <a:r>
              <a:rPr dirty="0" sz="1150" spc="-110" b="1">
                <a:solidFill>
                  <a:srgbClr val="2E7D32"/>
                </a:solidFill>
                <a:latin typeface="Malgun Gothic"/>
                <a:cs typeface="Malgun Gothic"/>
              </a:rPr>
              <a:t>提案手法</a:t>
            </a:r>
            <a:r>
              <a:rPr dirty="0" sz="1150" spc="-50" b="1">
                <a:solidFill>
                  <a:srgbClr val="2E7D32"/>
                </a:solidFill>
                <a:latin typeface="Arial"/>
                <a:cs typeface="Arial"/>
              </a:rPr>
              <a:t>)</a:t>
            </a:r>
            <a:endParaRPr sz="1150">
              <a:latin typeface="Arial"/>
              <a:cs typeface="Arial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6909444" y="5249290"/>
            <a:ext cx="59690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00" b="1">
                <a:solidFill>
                  <a:srgbClr val="856404"/>
                </a:solidFill>
                <a:latin typeface="Malgun Gothic"/>
                <a:cs typeface="Malgun Gothic"/>
              </a:rPr>
              <a:t>分離度評</a:t>
            </a:r>
            <a:r>
              <a:rPr dirty="0" sz="1000" spc="-50" b="1">
                <a:solidFill>
                  <a:srgbClr val="856404"/>
                </a:solidFill>
                <a:latin typeface="Microsoft JhengHei"/>
                <a:cs typeface="Microsoft JhengHei"/>
              </a:rPr>
              <a:t>価</a:t>
            </a:r>
            <a:endParaRPr sz="1000">
              <a:latin typeface="Microsoft JhengHei"/>
              <a:cs typeface="Microsoft JhengHei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5305424" y="5505449"/>
            <a:ext cx="1866900" cy="457200"/>
            <a:chOff x="5305424" y="5505449"/>
            <a:chExt cx="1866900" cy="457200"/>
          </a:xfrm>
        </p:grpSpPr>
        <p:sp>
          <p:nvSpPr>
            <p:cNvPr id="48" name="object 48" descr=""/>
            <p:cNvSpPr/>
            <p:nvPr/>
          </p:nvSpPr>
          <p:spPr>
            <a:xfrm>
              <a:off x="5310187" y="5510212"/>
              <a:ext cx="1857375" cy="447675"/>
            </a:xfrm>
            <a:custGeom>
              <a:avLst/>
              <a:gdLst/>
              <a:ahLst/>
              <a:cxnLst/>
              <a:rect l="l" t="t" r="r" b="b"/>
              <a:pathLst>
                <a:path w="1857375" h="447675">
                  <a:moveTo>
                    <a:pt x="1808426" y="447674"/>
                  </a:moveTo>
                  <a:lnTo>
                    <a:pt x="48947" y="447674"/>
                  </a:lnTo>
                  <a:lnTo>
                    <a:pt x="45540" y="447338"/>
                  </a:lnTo>
                  <a:lnTo>
                    <a:pt x="10739" y="427251"/>
                  </a:lnTo>
                  <a:lnTo>
                    <a:pt x="0" y="398726"/>
                  </a:lnTo>
                  <a:lnTo>
                    <a:pt x="0" y="395287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7" y="0"/>
                  </a:lnTo>
                  <a:lnTo>
                    <a:pt x="1808426" y="0"/>
                  </a:lnTo>
                  <a:lnTo>
                    <a:pt x="1844462" y="17775"/>
                  </a:lnTo>
                  <a:lnTo>
                    <a:pt x="1857374" y="48947"/>
                  </a:lnTo>
                  <a:lnTo>
                    <a:pt x="1857374" y="398726"/>
                  </a:lnTo>
                  <a:lnTo>
                    <a:pt x="1839598" y="434762"/>
                  </a:lnTo>
                  <a:lnTo>
                    <a:pt x="1811833" y="447338"/>
                  </a:lnTo>
                  <a:lnTo>
                    <a:pt x="1808426" y="447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310187" y="5510212"/>
              <a:ext cx="1857375" cy="447675"/>
            </a:xfrm>
            <a:custGeom>
              <a:avLst/>
              <a:gdLst/>
              <a:ahLst/>
              <a:cxnLst/>
              <a:rect l="l" t="t" r="r" b="b"/>
              <a:pathLst>
                <a:path w="1857375" h="447675">
                  <a:moveTo>
                    <a:pt x="0" y="3952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6" y="38793"/>
                  </a:lnTo>
                  <a:lnTo>
                    <a:pt x="2670" y="35517"/>
                  </a:lnTo>
                  <a:lnTo>
                    <a:pt x="3986" y="32339"/>
                  </a:lnTo>
                  <a:lnTo>
                    <a:pt x="5303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20421" y="10740"/>
                  </a:lnTo>
                  <a:lnTo>
                    <a:pt x="23282" y="8829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2" y="1677"/>
                  </a:lnTo>
                  <a:lnTo>
                    <a:pt x="42166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804987" y="0"/>
                  </a:lnTo>
                  <a:lnTo>
                    <a:pt x="1808426" y="0"/>
                  </a:lnTo>
                  <a:lnTo>
                    <a:pt x="1811833" y="335"/>
                  </a:lnTo>
                  <a:lnTo>
                    <a:pt x="1834091" y="8828"/>
                  </a:lnTo>
                  <a:lnTo>
                    <a:pt x="1836952" y="10739"/>
                  </a:lnTo>
                  <a:lnTo>
                    <a:pt x="1839598" y="12911"/>
                  </a:lnTo>
                  <a:lnTo>
                    <a:pt x="1842031" y="15343"/>
                  </a:lnTo>
                  <a:lnTo>
                    <a:pt x="1844462" y="17775"/>
                  </a:lnTo>
                  <a:lnTo>
                    <a:pt x="1857374" y="48947"/>
                  </a:lnTo>
                  <a:lnTo>
                    <a:pt x="1857374" y="52387"/>
                  </a:lnTo>
                  <a:lnTo>
                    <a:pt x="1857374" y="395287"/>
                  </a:lnTo>
                  <a:lnTo>
                    <a:pt x="1857374" y="398726"/>
                  </a:lnTo>
                  <a:lnTo>
                    <a:pt x="1857039" y="402133"/>
                  </a:lnTo>
                  <a:lnTo>
                    <a:pt x="1836952" y="436934"/>
                  </a:lnTo>
                  <a:lnTo>
                    <a:pt x="1834091" y="438845"/>
                  </a:lnTo>
                  <a:lnTo>
                    <a:pt x="1831231" y="440756"/>
                  </a:lnTo>
                  <a:lnTo>
                    <a:pt x="1828212" y="442370"/>
                  </a:lnTo>
                  <a:lnTo>
                    <a:pt x="1825034" y="443686"/>
                  </a:lnTo>
                  <a:lnTo>
                    <a:pt x="1821856" y="445003"/>
                  </a:lnTo>
                  <a:lnTo>
                    <a:pt x="1818580" y="445996"/>
                  </a:lnTo>
                  <a:lnTo>
                    <a:pt x="1815207" y="446667"/>
                  </a:lnTo>
                  <a:lnTo>
                    <a:pt x="1811833" y="447338"/>
                  </a:lnTo>
                  <a:lnTo>
                    <a:pt x="1808426" y="447674"/>
                  </a:lnTo>
                  <a:lnTo>
                    <a:pt x="1804987" y="447674"/>
                  </a:lnTo>
                  <a:lnTo>
                    <a:pt x="52387" y="447674"/>
                  </a:lnTo>
                  <a:lnTo>
                    <a:pt x="48947" y="447674"/>
                  </a:lnTo>
                  <a:lnTo>
                    <a:pt x="45540" y="447338"/>
                  </a:lnTo>
                  <a:lnTo>
                    <a:pt x="42166" y="446667"/>
                  </a:lnTo>
                  <a:lnTo>
                    <a:pt x="38792" y="445996"/>
                  </a:lnTo>
                  <a:lnTo>
                    <a:pt x="35517" y="445003"/>
                  </a:lnTo>
                  <a:lnTo>
                    <a:pt x="32339" y="443686"/>
                  </a:lnTo>
                  <a:lnTo>
                    <a:pt x="29161" y="442370"/>
                  </a:lnTo>
                  <a:lnTo>
                    <a:pt x="26142" y="440756"/>
                  </a:lnTo>
                  <a:lnTo>
                    <a:pt x="23282" y="438845"/>
                  </a:lnTo>
                  <a:lnTo>
                    <a:pt x="20421" y="436934"/>
                  </a:lnTo>
                  <a:lnTo>
                    <a:pt x="17775" y="434762"/>
                  </a:lnTo>
                  <a:lnTo>
                    <a:pt x="15343" y="432330"/>
                  </a:lnTo>
                  <a:lnTo>
                    <a:pt x="12911" y="429898"/>
                  </a:lnTo>
                  <a:lnTo>
                    <a:pt x="3986" y="415333"/>
                  </a:lnTo>
                  <a:lnTo>
                    <a:pt x="2670" y="412156"/>
                  </a:lnTo>
                  <a:lnTo>
                    <a:pt x="1676" y="408880"/>
                  </a:lnTo>
                  <a:lnTo>
                    <a:pt x="1006" y="405507"/>
                  </a:lnTo>
                  <a:lnTo>
                    <a:pt x="335" y="402133"/>
                  </a:lnTo>
                  <a:lnTo>
                    <a:pt x="0" y="398726"/>
                  </a:lnTo>
                  <a:lnTo>
                    <a:pt x="0" y="395287"/>
                  </a:lnTo>
                  <a:close/>
                </a:path>
              </a:pathLst>
            </a:custGeom>
            <a:ln w="9524">
              <a:solidFill>
                <a:srgbClr val="FFC1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5966171" y="5526329"/>
            <a:ext cx="538480" cy="37020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dirty="0" sz="750" spc="-80">
                <a:solidFill>
                  <a:srgbClr val="666666"/>
                </a:solidFill>
                <a:latin typeface="SimSun"/>
                <a:cs typeface="SimSun"/>
              </a:rPr>
              <a:t>クラスタ分離</a:t>
            </a:r>
            <a:endParaRPr sz="750">
              <a:latin typeface="SimSun"/>
              <a:cs typeface="SimSun"/>
            </a:endParaRPr>
          </a:p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dirty="0" sz="1000" spc="-50" b="1">
                <a:solidFill>
                  <a:srgbClr val="3A6EA5"/>
                </a:solidFill>
                <a:latin typeface="Malgun Gothic"/>
                <a:cs typeface="Malgun Gothic"/>
              </a:rPr>
              <a:t>高</a:t>
            </a:r>
            <a:endParaRPr sz="1000">
              <a:latin typeface="Malgun Gothic"/>
              <a:cs typeface="Malgun Gothic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7248524" y="5505449"/>
            <a:ext cx="1866900" cy="457200"/>
            <a:chOff x="7248524" y="5505449"/>
            <a:chExt cx="1866900" cy="457200"/>
          </a:xfrm>
        </p:grpSpPr>
        <p:sp>
          <p:nvSpPr>
            <p:cNvPr id="52" name="object 52" descr=""/>
            <p:cNvSpPr/>
            <p:nvPr/>
          </p:nvSpPr>
          <p:spPr>
            <a:xfrm>
              <a:off x="7253286" y="5510212"/>
              <a:ext cx="1857375" cy="447675"/>
            </a:xfrm>
            <a:custGeom>
              <a:avLst/>
              <a:gdLst/>
              <a:ahLst/>
              <a:cxnLst/>
              <a:rect l="l" t="t" r="r" b="b"/>
              <a:pathLst>
                <a:path w="1857375" h="447675">
                  <a:moveTo>
                    <a:pt x="1808427" y="447674"/>
                  </a:moveTo>
                  <a:lnTo>
                    <a:pt x="48948" y="447674"/>
                  </a:lnTo>
                  <a:lnTo>
                    <a:pt x="45540" y="447338"/>
                  </a:lnTo>
                  <a:lnTo>
                    <a:pt x="10738" y="427251"/>
                  </a:lnTo>
                  <a:lnTo>
                    <a:pt x="0" y="398726"/>
                  </a:lnTo>
                  <a:lnTo>
                    <a:pt x="0" y="395287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8" y="0"/>
                  </a:lnTo>
                  <a:lnTo>
                    <a:pt x="1808427" y="0"/>
                  </a:lnTo>
                  <a:lnTo>
                    <a:pt x="1844463" y="17775"/>
                  </a:lnTo>
                  <a:lnTo>
                    <a:pt x="1857374" y="48947"/>
                  </a:lnTo>
                  <a:lnTo>
                    <a:pt x="1857374" y="398726"/>
                  </a:lnTo>
                  <a:lnTo>
                    <a:pt x="1839598" y="434762"/>
                  </a:lnTo>
                  <a:lnTo>
                    <a:pt x="1811834" y="447338"/>
                  </a:lnTo>
                  <a:lnTo>
                    <a:pt x="1808427" y="447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7253286" y="5510212"/>
              <a:ext cx="1857375" cy="447675"/>
            </a:xfrm>
            <a:custGeom>
              <a:avLst/>
              <a:gdLst/>
              <a:ahLst/>
              <a:cxnLst/>
              <a:rect l="l" t="t" r="r" b="b"/>
              <a:pathLst>
                <a:path w="1857375" h="447675">
                  <a:moveTo>
                    <a:pt x="0" y="3952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6" y="38793"/>
                  </a:lnTo>
                  <a:lnTo>
                    <a:pt x="2670" y="35517"/>
                  </a:lnTo>
                  <a:lnTo>
                    <a:pt x="3986" y="32339"/>
                  </a:lnTo>
                  <a:lnTo>
                    <a:pt x="5303" y="29160"/>
                  </a:lnTo>
                  <a:lnTo>
                    <a:pt x="6917" y="26142"/>
                  </a:lnTo>
                  <a:lnTo>
                    <a:pt x="8827" y="23282"/>
                  </a:lnTo>
                  <a:lnTo>
                    <a:pt x="10738" y="20421"/>
                  </a:lnTo>
                  <a:lnTo>
                    <a:pt x="12910" y="17775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20421" y="10740"/>
                  </a:lnTo>
                  <a:lnTo>
                    <a:pt x="23281" y="8829"/>
                  </a:lnTo>
                  <a:lnTo>
                    <a:pt x="26141" y="6917"/>
                  </a:lnTo>
                  <a:lnTo>
                    <a:pt x="29160" y="5303"/>
                  </a:lnTo>
                  <a:lnTo>
                    <a:pt x="32338" y="3987"/>
                  </a:lnTo>
                  <a:lnTo>
                    <a:pt x="35517" y="2671"/>
                  </a:lnTo>
                  <a:lnTo>
                    <a:pt x="38792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8" y="0"/>
                  </a:lnTo>
                  <a:lnTo>
                    <a:pt x="52388" y="0"/>
                  </a:lnTo>
                  <a:lnTo>
                    <a:pt x="1804987" y="0"/>
                  </a:lnTo>
                  <a:lnTo>
                    <a:pt x="1808427" y="0"/>
                  </a:lnTo>
                  <a:lnTo>
                    <a:pt x="1811834" y="335"/>
                  </a:lnTo>
                  <a:lnTo>
                    <a:pt x="1842031" y="15343"/>
                  </a:lnTo>
                  <a:lnTo>
                    <a:pt x="1844463" y="17775"/>
                  </a:lnTo>
                  <a:lnTo>
                    <a:pt x="1846635" y="20421"/>
                  </a:lnTo>
                  <a:lnTo>
                    <a:pt x="1848546" y="23282"/>
                  </a:lnTo>
                  <a:lnTo>
                    <a:pt x="1850457" y="26142"/>
                  </a:lnTo>
                  <a:lnTo>
                    <a:pt x="1857375" y="52387"/>
                  </a:lnTo>
                  <a:lnTo>
                    <a:pt x="1857375" y="395287"/>
                  </a:lnTo>
                  <a:lnTo>
                    <a:pt x="1853386" y="415333"/>
                  </a:lnTo>
                  <a:lnTo>
                    <a:pt x="1852070" y="418512"/>
                  </a:lnTo>
                  <a:lnTo>
                    <a:pt x="1850456" y="421531"/>
                  </a:lnTo>
                  <a:lnTo>
                    <a:pt x="1848545" y="424391"/>
                  </a:lnTo>
                  <a:lnTo>
                    <a:pt x="1846634" y="427251"/>
                  </a:lnTo>
                  <a:lnTo>
                    <a:pt x="1844463" y="429898"/>
                  </a:lnTo>
                  <a:lnTo>
                    <a:pt x="1842031" y="432330"/>
                  </a:lnTo>
                  <a:lnTo>
                    <a:pt x="1839598" y="434762"/>
                  </a:lnTo>
                  <a:lnTo>
                    <a:pt x="1825035" y="443686"/>
                  </a:lnTo>
                  <a:lnTo>
                    <a:pt x="1821856" y="445003"/>
                  </a:lnTo>
                  <a:lnTo>
                    <a:pt x="1818580" y="445996"/>
                  </a:lnTo>
                  <a:lnTo>
                    <a:pt x="1815207" y="446667"/>
                  </a:lnTo>
                  <a:lnTo>
                    <a:pt x="1811834" y="447338"/>
                  </a:lnTo>
                  <a:lnTo>
                    <a:pt x="1808427" y="447674"/>
                  </a:lnTo>
                  <a:lnTo>
                    <a:pt x="1804987" y="447674"/>
                  </a:lnTo>
                  <a:lnTo>
                    <a:pt x="52388" y="447674"/>
                  </a:lnTo>
                  <a:lnTo>
                    <a:pt x="48948" y="447674"/>
                  </a:lnTo>
                  <a:lnTo>
                    <a:pt x="45540" y="447338"/>
                  </a:lnTo>
                  <a:lnTo>
                    <a:pt x="42166" y="446667"/>
                  </a:lnTo>
                  <a:lnTo>
                    <a:pt x="38792" y="445996"/>
                  </a:lnTo>
                  <a:lnTo>
                    <a:pt x="35517" y="445003"/>
                  </a:lnTo>
                  <a:lnTo>
                    <a:pt x="32338" y="443686"/>
                  </a:lnTo>
                  <a:lnTo>
                    <a:pt x="29160" y="442370"/>
                  </a:lnTo>
                  <a:lnTo>
                    <a:pt x="15343" y="432330"/>
                  </a:lnTo>
                  <a:lnTo>
                    <a:pt x="12910" y="429898"/>
                  </a:lnTo>
                  <a:lnTo>
                    <a:pt x="10738" y="427251"/>
                  </a:lnTo>
                  <a:lnTo>
                    <a:pt x="8827" y="424391"/>
                  </a:lnTo>
                  <a:lnTo>
                    <a:pt x="6917" y="421531"/>
                  </a:lnTo>
                  <a:lnTo>
                    <a:pt x="5303" y="418512"/>
                  </a:lnTo>
                  <a:lnTo>
                    <a:pt x="3986" y="415333"/>
                  </a:lnTo>
                  <a:lnTo>
                    <a:pt x="2670" y="412156"/>
                  </a:lnTo>
                  <a:lnTo>
                    <a:pt x="1676" y="408880"/>
                  </a:lnTo>
                  <a:lnTo>
                    <a:pt x="1006" y="405507"/>
                  </a:lnTo>
                  <a:lnTo>
                    <a:pt x="335" y="402133"/>
                  </a:lnTo>
                  <a:lnTo>
                    <a:pt x="0" y="398726"/>
                  </a:lnTo>
                  <a:lnTo>
                    <a:pt x="0" y="395287"/>
                  </a:lnTo>
                  <a:close/>
                </a:path>
              </a:pathLst>
            </a:custGeom>
            <a:ln w="9524">
              <a:solidFill>
                <a:srgbClr val="FFC1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8039348" y="5526329"/>
            <a:ext cx="282575" cy="37020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dirty="0" sz="750" spc="-70">
                <a:solidFill>
                  <a:srgbClr val="666666"/>
                </a:solidFill>
                <a:latin typeface="SimSun"/>
                <a:cs typeface="SimSun"/>
              </a:rPr>
              <a:t>重複度</a:t>
            </a:r>
            <a:endParaRPr sz="750">
              <a:latin typeface="SimSun"/>
              <a:cs typeface="SimSun"/>
            </a:endParaRPr>
          </a:p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dirty="0" sz="1000" spc="-50" b="1">
                <a:solidFill>
                  <a:srgbClr val="3A6EA5"/>
                </a:solidFill>
                <a:latin typeface="Malgun Gothic"/>
                <a:cs typeface="Malgun Gothic"/>
              </a:rPr>
              <a:t>低</a:t>
            </a:r>
            <a:endParaRPr sz="1000">
              <a:latin typeface="Malgun Gothic"/>
              <a:cs typeface="Malgun Gothic"/>
            </a:endParaRPr>
          </a:p>
        </p:txBody>
      </p:sp>
      <p:pic>
        <p:nvPicPr>
          <p:cNvPr id="55" name="object 5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172073" y="2362199"/>
            <a:ext cx="4076700" cy="2666999"/>
          </a:xfrm>
          <a:prstGeom prst="rect">
            <a:avLst/>
          </a:prstGeom>
        </p:spPr>
      </p:pic>
      <p:sp>
        <p:nvSpPr>
          <p:cNvPr id="56" name="object 56" descr=""/>
          <p:cNvSpPr txBox="1"/>
          <p:nvPr/>
        </p:nvSpPr>
        <p:spPr>
          <a:xfrm>
            <a:off x="6039395" y="2653919"/>
            <a:ext cx="382270" cy="128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-20" b="1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dirty="0" sz="6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50" spc="-20" b="1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dirty="0" sz="6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50" spc="-55" b="1">
                <a:solidFill>
                  <a:srgbClr val="FFFFFF"/>
                </a:solidFill>
                <a:latin typeface="Malgun Gothic"/>
                <a:cs typeface="Malgun Gothic"/>
              </a:rPr>
              <a:t>正常</a:t>
            </a:r>
            <a:endParaRPr sz="650">
              <a:latin typeface="Malgun Gothic"/>
              <a:cs typeface="Malgun Gothic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7858968" y="3701669"/>
            <a:ext cx="382270" cy="128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-20" b="1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dirty="0" sz="6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50" spc="-20" b="1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dirty="0" sz="6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50" spc="-55" b="1">
                <a:solidFill>
                  <a:srgbClr val="FFFFFF"/>
                </a:solidFill>
                <a:latin typeface="Malgun Gothic"/>
                <a:cs typeface="Malgun Gothic"/>
              </a:rPr>
              <a:t>異常</a:t>
            </a:r>
            <a:endParaRPr sz="650">
              <a:latin typeface="Malgun Gothic"/>
              <a:cs typeface="Malgun Gothic"/>
            </a:endParaRPr>
          </a:p>
        </p:txBody>
      </p:sp>
      <p:sp>
        <p:nvSpPr>
          <p:cNvPr id="58" name="object 58" descr=""/>
          <p:cNvSpPr/>
          <p:nvPr/>
        </p:nvSpPr>
        <p:spPr>
          <a:xfrm>
            <a:off x="3743324" y="6572249"/>
            <a:ext cx="111760" cy="112395"/>
          </a:xfrm>
          <a:custGeom>
            <a:avLst/>
            <a:gdLst/>
            <a:ahLst/>
            <a:cxnLst/>
            <a:rect l="l" t="t" r="r" b="b"/>
            <a:pathLst>
              <a:path w="111760" h="112395">
                <a:moveTo>
                  <a:pt x="111621" y="111919"/>
                </a:moveTo>
                <a:lnTo>
                  <a:pt x="0" y="111919"/>
                </a:lnTo>
                <a:lnTo>
                  <a:pt x="0" y="106561"/>
                </a:lnTo>
                <a:lnTo>
                  <a:pt x="53280" y="0"/>
                </a:lnTo>
                <a:lnTo>
                  <a:pt x="55661" y="0"/>
                </a:lnTo>
                <a:lnTo>
                  <a:pt x="111621" y="111919"/>
                </a:lnTo>
                <a:close/>
              </a:path>
            </a:pathLst>
          </a:custGeom>
          <a:solidFill>
            <a:srgbClr val="DB34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4933949" y="6619874"/>
            <a:ext cx="114300" cy="19050"/>
          </a:xfrm>
          <a:custGeom>
            <a:avLst/>
            <a:gdLst/>
            <a:ahLst/>
            <a:cxnLst/>
            <a:rect l="l" t="t" r="r" b="b"/>
            <a:pathLst>
              <a:path w="114300" h="19050">
                <a:moveTo>
                  <a:pt x="1142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4299" y="0"/>
                </a:lnTo>
                <a:lnTo>
                  <a:pt x="114299" y="19049"/>
                </a:lnTo>
                <a:close/>
              </a:path>
            </a:pathLst>
          </a:custGeom>
          <a:solidFill>
            <a:srgbClr val="3A6EA5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6172199" y="6619874"/>
            <a:ext cx="114300" cy="19050"/>
          </a:xfrm>
          <a:custGeom>
            <a:avLst/>
            <a:gdLst/>
            <a:ahLst/>
            <a:cxnLst/>
            <a:rect l="l" t="t" r="r" b="b"/>
            <a:pathLst>
              <a:path w="114300" h="19050">
                <a:moveTo>
                  <a:pt x="1142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4299" y="0"/>
                </a:lnTo>
                <a:lnTo>
                  <a:pt x="114299" y="19049"/>
                </a:lnTo>
                <a:close/>
              </a:path>
            </a:pathLst>
          </a:custGeom>
          <a:solidFill>
            <a:srgbClr val="DB3445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1" name="object 61" descr=""/>
          <p:cNvGrpSpPr/>
          <p:nvPr/>
        </p:nvGrpSpPr>
        <p:grpSpPr>
          <a:xfrm>
            <a:off x="333374" y="6896099"/>
            <a:ext cx="9229725" cy="1914525"/>
            <a:chOff x="333374" y="6896099"/>
            <a:chExt cx="9229725" cy="1914525"/>
          </a:xfrm>
        </p:grpSpPr>
        <p:pic>
          <p:nvPicPr>
            <p:cNvPr id="62" name="object 6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1949" y="6972298"/>
              <a:ext cx="9029699" cy="1752599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3374" y="6896099"/>
              <a:ext cx="9229724" cy="1914525"/>
            </a:xfrm>
            <a:prstGeom prst="rect">
              <a:avLst/>
            </a:prstGeom>
          </p:spPr>
        </p:pic>
      </p:grpSp>
      <p:sp>
        <p:nvSpPr>
          <p:cNvPr id="64" name="object 64" descr=""/>
          <p:cNvSpPr txBox="1"/>
          <p:nvPr/>
        </p:nvSpPr>
        <p:spPr>
          <a:xfrm>
            <a:off x="4747269" y="7699330"/>
            <a:ext cx="259079" cy="2813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155" b="1">
                <a:solidFill>
                  <a:srgbClr val="3A6EA5"/>
                </a:solidFill>
                <a:latin typeface="Arial"/>
                <a:cs typeface="Arial"/>
              </a:rPr>
              <a:t>VS</a:t>
            </a:r>
            <a:endParaRPr sz="1650">
              <a:latin typeface="Arial"/>
              <a:cs typeface="Arial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8561734" y="8583040"/>
            <a:ext cx="899794" cy="213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z="1050" spc="-80">
                <a:solidFill>
                  <a:srgbClr val="FFFFFF"/>
                </a:solidFill>
                <a:latin typeface="Arial MT"/>
                <a:cs typeface="Arial MT"/>
              </a:rPr>
              <a:t>Genspark</a:t>
            </a:r>
            <a:r>
              <a:rPr dirty="0" sz="105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MS PGothic"/>
                <a:cs typeface="MS PGothic"/>
              </a:rPr>
              <a:t>で</a:t>
            </a:r>
            <a:r>
              <a:rPr dirty="0" sz="1000" spc="-75">
                <a:solidFill>
                  <a:srgbClr val="FFFFFF"/>
                </a:solidFill>
                <a:latin typeface="SimSun"/>
                <a:cs typeface="SimSun"/>
              </a:rPr>
              <a:t>作成</a:t>
            </a:r>
            <a:endParaRPr sz="1000">
              <a:latin typeface="SimSun"/>
              <a:cs typeface="SimSun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9131051" y="8649715"/>
            <a:ext cx="349885" cy="1466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90"/>
              </a:lnSpc>
            </a:pPr>
            <a:fld id="{81D60167-4931-47E6-BA6A-407CBD079E47}" type="slidenum">
              <a:rPr dirty="0" sz="1000" spc="-45">
                <a:solidFill>
                  <a:srgbClr val="666666"/>
                </a:solidFill>
                <a:latin typeface="Tahoma"/>
                <a:cs typeface="Tahoma"/>
              </a:rPr>
              <a:t>11</a:t>
            </a:fld>
            <a:r>
              <a:rPr dirty="0" sz="1000" spc="-45">
                <a:solidFill>
                  <a:srgbClr val="666666"/>
                </a:solidFill>
                <a:latin typeface="Tahoma"/>
                <a:cs typeface="Tahoma"/>
              </a:rPr>
              <a:t>/</a:t>
            </a:r>
            <a:r>
              <a:rPr dirty="0" sz="1000" spc="-45">
                <a:solidFill>
                  <a:srgbClr val="666666"/>
                </a:solidFill>
                <a:latin typeface="Tahoma"/>
                <a:cs typeface="Tahoma"/>
              </a:rPr>
              <a:t>13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654049" y="6921003"/>
            <a:ext cx="67500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 b="1">
                <a:solidFill>
                  <a:srgbClr val="FFFFFF"/>
                </a:solidFill>
                <a:latin typeface="Arial"/>
                <a:cs typeface="Arial"/>
              </a:rPr>
              <a:t>t-</a:t>
            </a:r>
            <a:r>
              <a:rPr dirty="0" sz="750" spc="-80" b="1">
                <a:solidFill>
                  <a:srgbClr val="FFFFFF"/>
                </a:solidFill>
                <a:latin typeface="Arial"/>
                <a:cs typeface="Arial"/>
              </a:rPr>
              <a:t>SNE</a:t>
            </a:r>
            <a:r>
              <a:rPr dirty="0" sz="75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50" spc="-80" b="1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750">
              <a:latin typeface="Arial"/>
              <a:cs typeface="Arial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1651644" y="7624008"/>
            <a:ext cx="1085850" cy="78486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dirty="0" sz="1150" spc="-125" b="1">
                <a:solidFill>
                  <a:srgbClr val="2E7D32"/>
                </a:solidFill>
                <a:latin typeface="Microsoft JhengHei"/>
                <a:cs typeface="Microsoft JhengHei"/>
              </a:rPr>
              <a:t>ベースライン</a:t>
            </a:r>
            <a:r>
              <a:rPr dirty="0" sz="1150" spc="-80" b="1">
                <a:solidFill>
                  <a:srgbClr val="2E7D32"/>
                </a:solidFill>
                <a:latin typeface="Malgun Gothic"/>
                <a:cs typeface="Malgun Gothic"/>
              </a:rPr>
              <a:t>課題</a:t>
            </a:r>
            <a:endParaRPr sz="1150">
              <a:latin typeface="Malgun Gothic"/>
              <a:cs typeface="Malgun Gothic"/>
            </a:endParaRPr>
          </a:p>
          <a:p>
            <a:pPr algn="ctr" marL="123189" marR="115570">
              <a:lnSpc>
                <a:spcPts val="1050"/>
              </a:lnSpc>
              <a:spcBef>
                <a:spcPts val="655"/>
              </a:spcBef>
            </a:pPr>
            <a:r>
              <a:rPr dirty="0" sz="900" spc="-90">
                <a:solidFill>
                  <a:srgbClr val="666666"/>
                </a:solidFill>
                <a:latin typeface="SimSun"/>
                <a:cs typeface="SimSun"/>
              </a:rPr>
              <a:t>正常音</a:t>
            </a:r>
            <a:r>
              <a:rPr dirty="0" sz="900" spc="130">
                <a:solidFill>
                  <a:srgbClr val="666666"/>
                </a:solidFill>
                <a:latin typeface="MS PGothic"/>
                <a:cs typeface="MS PGothic"/>
              </a:rPr>
              <a:t>と</a:t>
            </a:r>
            <a:r>
              <a:rPr dirty="0" sz="900" spc="-90">
                <a:solidFill>
                  <a:srgbClr val="666666"/>
                </a:solidFill>
                <a:latin typeface="SimSun"/>
                <a:cs typeface="SimSun"/>
              </a:rPr>
              <a:t>異常音</a:t>
            </a:r>
            <a:r>
              <a:rPr dirty="0" sz="900" spc="-70">
                <a:solidFill>
                  <a:srgbClr val="666666"/>
                </a:solidFill>
                <a:latin typeface="MS PGothic"/>
                <a:cs typeface="MS PGothic"/>
              </a:rPr>
              <a:t>が</a:t>
            </a:r>
            <a:r>
              <a:rPr dirty="0" sz="900" spc="-90" b="1">
                <a:solidFill>
                  <a:srgbClr val="3A6EA5"/>
                </a:solidFill>
                <a:latin typeface="Malgun Gothic"/>
                <a:cs typeface="Malgun Gothic"/>
              </a:rPr>
              <a:t>混在</a:t>
            </a:r>
            <a:r>
              <a:rPr dirty="0" sz="900" spc="595" b="1">
                <a:solidFill>
                  <a:srgbClr val="3A6EA5"/>
                </a:solidFill>
                <a:latin typeface="Microsoft JhengHei"/>
                <a:cs typeface="Microsoft JhengHei"/>
              </a:rPr>
              <a:t>‧</a:t>
            </a:r>
            <a:r>
              <a:rPr dirty="0" sz="900" spc="-70" b="1">
                <a:solidFill>
                  <a:srgbClr val="3A6EA5"/>
                </a:solidFill>
                <a:latin typeface="Malgun Gothic"/>
                <a:cs typeface="Malgun Gothic"/>
              </a:rPr>
              <a:t>重複</a:t>
            </a:r>
            <a:endParaRPr sz="9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 sz="900" spc="-90">
                <a:solidFill>
                  <a:srgbClr val="666666"/>
                </a:solidFill>
                <a:latin typeface="SimSun"/>
                <a:cs typeface="SimSun"/>
              </a:rPr>
              <a:t>識別困難</a:t>
            </a:r>
            <a:r>
              <a:rPr dirty="0" sz="900">
                <a:solidFill>
                  <a:srgbClr val="666666"/>
                </a:solidFill>
                <a:latin typeface="MS PGothic"/>
                <a:cs typeface="MS PGothic"/>
              </a:rPr>
              <a:t>な</a:t>
            </a:r>
            <a:r>
              <a:rPr dirty="0" sz="900" spc="-80">
                <a:solidFill>
                  <a:srgbClr val="666666"/>
                </a:solidFill>
                <a:latin typeface="SimSun"/>
                <a:cs typeface="SimSun"/>
              </a:rPr>
              <a:t>特徴空間</a:t>
            </a:r>
            <a:endParaRPr sz="900">
              <a:latin typeface="SimSun"/>
              <a:cs typeface="SimSun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7146081" y="7624008"/>
            <a:ext cx="825500" cy="78486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dirty="0" sz="1150" spc="-100" b="1">
                <a:solidFill>
                  <a:srgbClr val="2E7D32"/>
                </a:solidFill>
                <a:latin typeface="Malgun Gothic"/>
                <a:cs typeface="Malgun Gothic"/>
              </a:rPr>
              <a:t>提案手法改善</a:t>
            </a:r>
            <a:endParaRPr sz="1150">
              <a:latin typeface="Malgun Gothic"/>
              <a:cs typeface="Malgun Gothic"/>
            </a:endParaRPr>
          </a:p>
          <a:p>
            <a:pPr algn="ctr" marL="45720" marR="38100">
              <a:lnSpc>
                <a:spcPts val="1050"/>
              </a:lnSpc>
              <a:spcBef>
                <a:spcPts val="655"/>
              </a:spcBef>
            </a:pPr>
            <a:r>
              <a:rPr dirty="0" sz="900" spc="-90">
                <a:solidFill>
                  <a:srgbClr val="666666"/>
                </a:solidFill>
                <a:latin typeface="SimSun"/>
                <a:cs typeface="SimSun"/>
              </a:rPr>
              <a:t>正常</a:t>
            </a:r>
            <a:r>
              <a:rPr dirty="0" sz="900" spc="560">
                <a:solidFill>
                  <a:srgbClr val="666666"/>
                </a:solidFill>
                <a:latin typeface="MS PGothic"/>
                <a:cs typeface="MS PGothic"/>
              </a:rPr>
              <a:t>‧</a:t>
            </a:r>
            <a:r>
              <a:rPr dirty="0" sz="900" spc="-90">
                <a:solidFill>
                  <a:srgbClr val="666666"/>
                </a:solidFill>
                <a:latin typeface="SimSun"/>
                <a:cs typeface="SimSun"/>
              </a:rPr>
              <a:t>異常音</a:t>
            </a:r>
            <a:r>
              <a:rPr dirty="0" sz="900" spc="-75">
                <a:solidFill>
                  <a:srgbClr val="666666"/>
                </a:solidFill>
                <a:latin typeface="MS PGothic"/>
                <a:cs typeface="MS PGothic"/>
              </a:rPr>
              <a:t>の</a:t>
            </a:r>
            <a:r>
              <a:rPr dirty="0" sz="900" spc="-90" b="1">
                <a:solidFill>
                  <a:srgbClr val="3A6EA5"/>
                </a:solidFill>
                <a:latin typeface="Malgun Gothic"/>
                <a:cs typeface="Malgun Gothic"/>
              </a:rPr>
              <a:t>明確</a:t>
            </a:r>
            <a:r>
              <a:rPr dirty="0" sz="900" spc="-90" b="1">
                <a:solidFill>
                  <a:srgbClr val="3A6EA5"/>
                </a:solidFill>
                <a:latin typeface="Microsoft JhengHei"/>
                <a:cs typeface="Microsoft JhengHei"/>
              </a:rPr>
              <a:t>な</a:t>
            </a:r>
            <a:r>
              <a:rPr dirty="0" sz="900" spc="-70" b="1">
                <a:solidFill>
                  <a:srgbClr val="3A6EA5"/>
                </a:solidFill>
                <a:latin typeface="Malgun Gothic"/>
                <a:cs typeface="Malgun Gothic"/>
              </a:rPr>
              <a:t>分離</a:t>
            </a:r>
            <a:endParaRPr sz="9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 sz="900" spc="-85">
                <a:solidFill>
                  <a:srgbClr val="666666"/>
                </a:solidFill>
                <a:latin typeface="SimSun"/>
                <a:cs typeface="SimSun"/>
              </a:rPr>
              <a:t>識別力大幅向上</a:t>
            </a:r>
            <a:endParaRPr sz="9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3374" y="685799"/>
            <a:ext cx="9086850" cy="28575"/>
          </a:xfrm>
          <a:custGeom>
            <a:avLst/>
            <a:gdLst/>
            <a:ahLst/>
            <a:cxnLst/>
            <a:rect l="l" t="t" r="r" b="b"/>
            <a:pathLst>
              <a:path w="9086850" h="28575">
                <a:moveTo>
                  <a:pt x="9086849" y="28574"/>
                </a:moveTo>
                <a:lnTo>
                  <a:pt x="0" y="28574"/>
                </a:lnTo>
                <a:lnTo>
                  <a:pt x="0" y="0"/>
                </a:lnTo>
                <a:lnTo>
                  <a:pt x="9086849" y="0"/>
                </a:lnTo>
                <a:lnTo>
                  <a:pt x="9086849" y="28574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1665" y="314324"/>
            <a:ext cx="165884" cy="2413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4"/>
              <a:t>考察：</a:t>
            </a:r>
            <a:r>
              <a:rPr dirty="0" sz="2150" spc="-229">
                <a:latin typeface="Tahoma"/>
                <a:cs typeface="Tahoma"/>
              </a:rPr>
              <a:t>AFPA</a:t>
            </a:r>
            <a:r>
              <a:rPr dirty="0" spc="-315"/>
              <a:t>が性能向上をもたら す理由</a:t>
            </a:r>
            <a:endParaRPr sz="215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33374" y="885824"/>
            <a:ext cx="9086850" cy="666750"/>
            <a:chOff x="333374" y="885824"/>
            <a:chExt cx="9086850" cy="66675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4" y="885824"/>
              <a:ext cx="9086849" cy="66674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43701" y="1050250"/>
              <a:ext cx="187523" cy="14936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88274" y="885824"/>
              <a:ext cx="131949" cy="666749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3153833" y="932382"/>
            <a:ext cx="3670935" cy="50800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350" spc="-170" b="1">
                <a:solidFill>
                  <a:srgbClr val="FFFFFF"/>
                </a:solidFill>
                <a:latin typeface="Microsoft JhengHei"/>
                <a:cs typeface="Microsoft JhengHei"/>
              </a:rPr>
              <a:t>自</a:t>
            </a:r>
            <a:r>
              <a:rPr dirty="0" sz="1350" spc="-170" b="1">
                <a:solidFill>
                  <a:srgbClr val="FFFFFF"/>
                </a:solidFill>
                <a:latin typeface="Malgun Gothic"/>
                <a:cs typeface="Malgun Gothic"/>
              </a:rPr>
              <a:t>己</a:t>
            </a:r>
            <a:r>
              <a:rPr dirty="0" sz="1350" spc="-170" b="1">
                <a:solidFill>
                  <a:srgbClr val="FFFFFF"/>
                </a:solidFill>
                <a:latin typeface="Microsoft JhengHei"/>
                <a:cs typeface="Microsoft JhengHei"/>
              </a:rPr>
              <a:t>注</a:t>
            </a:r>
            <a:r>
              <a:rPr dirty="0" sz="1350" spc="-170" b="1">
                <a:solidFill>
                  <a:srgbClr val="FFFFFF"/>
                </a:solidFill>
                <a:latin typeface="Malgun Gothic"/>
                <a:cs typeface="Malgun Gothic"/>
              </a:rPr>
              <a:t>意機構</a:t>
            </a:r>
            <a:r>
              <a:rPr dirty="0" sz="1350" spc="-185" b="1">
                <a:solidFill>
                  <a:srgbClr val="FFFFFF"/>
                </a:solidFill>
                <a:latin typeface="Microsoft JhengHei"/>
                <a:cs typeface="Microsoft JhengHei"/>
              </a:rPr>
              <a:t>による</a:t>
            </a:r>
            <a:r>
              <a:rPr dirty="0" sz="1350" spc="-170" b="1">
                <a:solidFill>
                  <a:srgbClr val="FFFFFF"/>
                </a:solidFill>
                <a:latin typeface="Malgun Gothic"/>
                <a:cs typeface="Malgun Gothic"/>
              </a:rPr>
              <a:t>適</a:t>
            </a:r>
            <a:r>
              <a:rPr dirty="0" sz="1350" spc="-170" b="1">
                <a:solidFill>
                  <a:srgbClr val="FFFFFF"/>
                </a:solidFill>
                <a:latin typeface="Microsoft JhengHei"/>
                <a:cs typeface="Microsoft JhengHei"/>
              </a:rPr>
              <a:t>応</a:t>
            </a:r>
            <a:r>
              <a:rPr dirty="0" sz="1350" spc="-170" b="1">
                <a:solidFill>
                  <a:srgbClr val="FFFFFF"/>
                </a:solidFill>
                <a:latin typeface="Malgun Gothic"/>
                <a:cs typeface="Malgun Gothic"/>
              </a:rPr>
              <a:t>的</a:t>
            </a:r>
            <a:r>
              <a:rPr dirty="0" sz="1350" spc="-170" b="1">
                <a:solidFill>
                  <a:srgbClr val="FFFFFF"/>
                </a:solidFill>
                <a:latin typeface="Microsoft JhengHei"/>
                <a:cs typeface="Microsoft JhengHei"/>
              </a:rPr>
              <a:t>周</a:t>
            </a:r>
            <a:r>
              <a:rPr dirty="0" sz="1350" spc="-170" b="1">
                <a:solidFill>
                  <a:srgbClr val="FFFFFF"/>
                </a:solidFill>
                <a:latin typeface="Malgun Gothic"/>
                <a:cs typeface="Malgun Gothic"/>
              </a:rPr>
              <a:t>波</a:t>
            </a:r>
            <a:r>
              <a:rPr dirty="0" sz="1350" spc="-185" b="1">
                <a:solidFill>
                  <a:srgbClr val="FFFFFF"/>
                </a:solidFill>
                <a:latin typeface="Microsoft JhengHei"/>
                <a:cs typeface="Microsoft JhengHei"/>
              </a:rPr>
              <a:t>数パターン</a:t>
            </a:r>
            <a:r>
              <a:rPr dirty="0" sz="1350" spc="-170" b="1">
                <a:solidFill>
                  <a:srgbClr val="FFFFFF"/>
                </a:solidFill>
                <a:latin typeface="Malgun Gothic"/>
                <a:cs typeface="Malgun Gothic"/>
              </a:rPr>
              <a:t>分析</a:t>
            </a:r>
            <a:r>
              <a:rPr dirty="0" sz="1350" spc="-170" b="1">
                <a:solidFill>
                  <a:srgbClr val="FFFFFF"/>
                </a:solidFill>
                <a:latin typeface="Microsoft JhengHei"/>
                <a:cs typeface="Microsoft JhengHei"/>
              </a:rPr>
              <a:t>の効</a:t>
            </a:r>
            <a:r>
              <a:rPr dirty="0" sz="1350" spc="-50" b="1">
                <a:solidFill>
                  <a:srgbClr val="FFFFFF"/>
                </a:solidFill>
                <a:latin typeface="Malgun Gothic"/>
                <a:cs typeface="Malgun Gothic"/>
              </a:rPr>
              <a:t>果</a:t>
            </a:r>
            <a:endParaRPr sz="1350">
              <a:latin typeface="Malgun Gothic"/>
              <a:cs typeface="Malgun Gothic"/>
            </a:endParaRPr>
          </a:p>
          <a:p>
            <a:pPr marL="69850">
              <a:lnSpc>
                <a:spcPct val="100000"/>
              </a:lnSpc>
              <a:spcBef>
                <a:spcPts val="405"/>
              </a:spcBef>
            </a:pPr>
            <a:r>
              <a:rPr dirty="0" sz="1000" spc="-105">
                <a:solidFill>
                  <a:srgbClr val="FFFFFF"/>
                </a:solidFill>
                <a:latin typeface="SimSun"/>
                <a:cs typeface="SimSun"/>
              </a:rPr>
              <a:t>データ駆動による重要周波数自動選択と</a:t>
            </a:r>
            <a:r>
              <a:rPr dirty="0" sz="1050" spc="-165">
                <a:solidFill>
                  <a:srgbClr val="FFFFFF"/>
                </a:solidFill>
                <a:latin typeface="Arial MT"/>
                <a:cs typeface="Arial MT"/>
              </a:rPr>
              <a:t>SNR</a:t>
            </a:r>
            <a:r>
              <a:rPr dirty="0" sz="1000" spc="-100">
                <a:solidFill>
                  <a:srgbClr val="FFFFFF"/>
                </a:solidFill>
                <a:latin typeface="SimSun"/>
                <a:cs typeface="SimSun"/>
              </a:rPr>
              <a:t>改善への応用可能性</a:t>
            </a:r>
            <a:endParaRPr sz="1000">
              <a:latin typeface="SimSun"/>
              <a:cs typeface="SimSun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2879" y="1594104"/>
            <a:ext cx="6196583" cy="4376927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618480" y="1969734"/>
            <a:ext cx="115570" cy="229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50" b="1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20750" y="1979739"/>
            <a:ext cx="109220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 b="1">
                <a:solidFill>
                  <a:srgbClr val="3A6EA5"/>
                </a:solidFill>
                <a:latin typeface="Microsoft JhengHei"/>
                <a:cs typeface="Microsoft JhengHei"/>
              </a:rPr>
              <a:t>適応的</a:t>
            </a:r>
            <a:r>
              <a:rPr dirty="0" sz="1150" spc="-110" b="1">
                <a:solidFill>
                  <a:srgbClr val="3A6EA5"/>
                </a:solidFill>
                <a:latin typeface="Malgun Gothic"/>
                <a:cs typeface="Malgun Gothic"/>
              </a:rPr>
              <a:t>周波</a:t>
            </a:r>
            <a:r>
              <a:rPr dirty="0" sz="1150" spc="-90" b="1">
                <a:solidFill>
                  <a:srgbClr val="3A6EA5"/>
                </a:solidFill>
                <a:latin typeface="Microsoft JhengHei"/>
                <a:cs typeface="Microsoft JhengHei"/>
              </a:rPr>
              <a:t>数選択</a:t>
            </a:r>
            <a:endParaRPr sz="1150">
              <a:latin typeface="Microsoft JhengHei"/>
              <a:cs typeface="Microsoft JhengHe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16000" y="2326354"/>
            <a:ext cx="4946015" cy="3105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85"/>
              </a:spcBef>
            </a:pP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従来</a:t>
            </a:r>
            <a:r>
              <a:rPr dirty="0" sz="900" spc="-90">
                <a:solidFill>
                  <a:srgbClr val="444444"/>
                </a:solidFill>
                <a:latin typeface="MS PGothic"/>
                <a:cs typeface="MS PGothic"/>
              </a:rPr>
              <a:t>の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固定的</a:t>
            </a:r>
            <a:r>
              <a:rPr dirty="0" sz="900" spc="35">
                <a:solidFill>
                  <a:srgbClr val="444444"/>
                </a:solidFill>
                <a:latin typeface="MS PGothic"/>
                <a:cs typeface="MS PGothic"/>
              </a:rPr>
              <a:t>フィルタではなく 、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自己注意機構</a:t>
            </a:r>
            <a:r>
              <a:rPr dirty="0" sz="900" spc="35">
                <a:solidFill>
                  <a:srgbClr val="444444"/>
                </a:solidFill>
                <a:latin typeface="MS PGothic"/>
                <a:cs typeface="MS PGothic"/>
              </a:rPr>
              <a:t>により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機械</a:t>
            </a:r>
            <a:r>
              <a:rPr dirty="0" sz="900" spc="560">
                <a:solidFill>
                  <a:srgbClr val="444444"/>
                </a:solidFill>
                <a:latin typeface="MS PGothic"/>
                <a:cs typeface="MS PGothic"/>
              </a:rPr>
              <a:t>‧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状態</a:t>
            </a:r>
            <a:r>
              <a:rPr dirty="0" sz="900" spc="30">
                <a:solidFill>
                  <a:srgbClr val="444444"/>
                </a:solidFill>
                <a:latin typeface="MS PGothic"/>
                <a:cs typeface="MS PGothic"/>
              </a:rPr>
              <a:t>ごとに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最適</a:t>
            </a:r>
            <a:r>
              <a:rPr dirty="0" sz="900">
                <a:solidFill>
                  <a:srgbClr val="444444"/>
                </a:solidFill>
                <a:latin typeface="MS PGothic"/>
                <a:cs typeface="MS PGothic"/>
              </a:rPr>
              <a:t>な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周波数成分</a:t>
            </a:r>
            <a:r>
              <a:rPr dirty="0" sz="900">
                <a:solidFill>
                  <a:srgbClr val="444444"/>
                </a:solidFill>
                <a:latin typeface="MS PGothic"/>
                <a:cs typeface="MS PGothic"/>
              </a:rPr>
              <a:t>をデータ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駆動</a:t>
            </a:r>
            <a:r>
              <a:rPr dirty="0" sz="900" spc="-50">
                <a:solidFill>
                  <a:srgbClr val="444444"/>
                </a:solidFill>
                <a:latin typeface="MS PGothic"/>
                <a:cs typeface="MS PGothic"/>
              </a:rPr>
              <a:t>で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自動学習</a:t>
            </a:r>
            <a:r>
              <a:rPr dirty="0" sz="900" spc="215">
                <a:solidFill>
                  <a:srgbClr val="444444"/>
                </a:solidFill>
                <a:latin typeface="MS PGothic"/>
                <a:cs typeface="MS PGothic"/>
              </a:rPr>
              <a:t>。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専門知識</a:t>
            </a:r>
            <a:r>
              <a:rPr dirty="0" sz="900" spc="-35">
                <a:solidFill>
                  <a:srgbClr val="444444"/>
                </a:solidFill>
                <a:latin typeface="MS PGothic"/>
                <a:cs typeface="MS PGothic"/>
              </a:rPr>
              <a:t>に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依存</a:t>
            </a:r>
            <a:r>
              <a:rPr dirty="0" sz="900" spc="-5">
                <a:solidFill>
                  <a:srgbClr val="444444"/>
                </a:solidFill>
                <a:latin typeface="MS PGothic"/>
                <a:cs typeface="MS PGothic"/>
              </a:rPr>
              <a:t>せず、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汎用性</a:t>
            </a:r>
            <a:r>
              <a:rPr dirty="0" sz="900" spc="-90">
                <a:solidFill>
                  <a:srgbClr val="444444"/>
                </a:solidFill>
                <a:latin typeface="MS PGothic"/>
                <a:cs typeface="MS PGothic"/>
              </a:rPr>
              <a:t>の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高</a:t>
            </a:r>
            <a:r>
              <a:rPr dirty="0" sz="900" spc="-40">
                <a:solidFill>
                  <a:srgbClr val="444444"/>
                </a:solidFill>
                <a:latin typeface="MS PGothic"/>
                <a:cs typeface="MS PGothic"/>
              </a:rPr>
              <a:t>い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特徴抽出</a:t>
            </a:r>
            <a:r>
              <a:rPr dirty="0" sz="900">
                <a:solidFill>
                  <a:srgbClr val="444444"/>
                </a:solidFill>
                <a:latin typeface="MS PGothic"/>
                <a:cs typeface="MS PGothic"/>
              </a:rPr>
              <a:t>を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実現</a:t>
            </a:r>
            <a:r>
              <a:rPr dirty="0" sz="900" spc="165">
                <a:solidFill>
                  <a:srgbClr val="444444"/>
                </a:solidFill>
                <a:latin typeface="MS PGothic"/>
                <a:cs typeface="MS PGothic"/>
              </a:rPr>
              <a:t>。</a:t>
            </a:r>
            <a:endParaRPr sz="900">
              <a:latin typeface="MS PGothic"/>
              <a:cs typeface="MS PGothic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477541" y="2764872"/>
            <a:ext cx="210629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850" spc="-65">
                <a:solidFill>
                  <a:srgbClr val="3A6EA5"/>
                </a:solidFill>
                <a:latin typeface="Lucida Console"/>
                <a:cs typeface="Lucida Console"/>
              </a:rPr>
              <a:t>Attention(Q,K,V)</a:t>
            </a:r>
            <a:r>
              <a:rPr dirty="0" sz="850" spc="-40">
                <a:solidFill>
                  <a:srgbClr val="3A6EA5"/>
                </a:solidFill>
                <a:latin typeface="Lucida Console"/>
                <a:cs typeface="Lucida Console"/>
              </a:rPr>
              <a:t> </a:t>
            </a:r>
            <a:r>
              <a:rPr dirty="0" sz="750">
                <a:solidFill>
                  <a:srgbClr val="3A6EA5"/>
                </a:solidFill>
                <a:latin typeface="Courier New"/>
                <a:cs typeface="Courier New"/>
              </a:rPr>
              <a:t>=</a:t>
            </a:r>
            <a:r>
              <a:rPr dirty="0" sz="750" spc="25">
                <a:solidFill>
                  <a:srgbClr val="3A6EA5"/>
                </a:solidFill>
                <a:latin typeface="Courier New"/>
                <a:cs typeface="Courier New"/>
              </a:rPr>
              <a:t> </a:t>
            </a:r>
            <a:r>
              <a:rPr dirty="0" sz="850" spc="-50">
                <a:solidFill>
                  <a:srgbClr val="3A6EA5"/>
                </a:solidFill>
                <a:latin typeface="Lucida Console"/>
                <a:cs typeface="Lucida Console"/>
              </a:rPr>
              <a:t>softmax(QK</a:t>
            </a:r>
            <a:r>
              <a:rPr dirty="0" baseline="27777" sz="900" spc="-75">
                <a:solidFill>
                  <a:srgbClr val="3A6EA5"/>
                </a:solidFill>
                <a:latin typeface="Courier New"/>
                <a:cs typeface="Courier New"/>
              </a:rPr>
              <a:t>T</a:t>
            </a:r>
            <a:r>
              <a:rPr dirty="0" sz="850" spc="-50">
                <a:solidFill>
                  <a:srgbClr val="3A6EA5"/>
                </a:solidFill>
                <a:latin typeface="Lucida Console"/>
                <a:cs typeface="Lucida Console"/>
              </a:rPr>
              <a:t>/</a:t>
            </a:r>
            <a:r>
              <a:rPr dirty="0" sz="800" spc="-50">
                <a:solidFill>
                  <a:srgbClr val="3A6EA5"/>
                </a:solidFill>
                <a:latin typeface="Lucida Console"/>
                <a:cs typeface="Lucida Console"/>
              </a:rPr>
              <a:t>√</a:t>
            </a:r>
            <a:r>
              <a:rPr dirty="0" sz="850" spc="-50">
                <a:solidFill>
                  <a:srgbClr val="3A6EA5"/>
                </a:solidFill>
                <a:latin typeface="Lucida Console"/>
                <a:cs typeface="Lucida Console"/>
              </a:rPr>
              <a:t>d</a:t>
            </a:r>
            <a:r>
              <a:rPr dirty="0" baseline="-13888" sz="900" spc="-75">
                <a:solidFill>
                  <a:srgbClr val="3A6EA5"/>
                </a:solidFill>
                <a:latin typeface="Courier New"/>
                <a:cs typeface="Courier New"/>
              </a:rPr>
              <a:t>k</a:t>
            </a:r>
            <a:r>
              <a:rPr dirty="0" sz="850" spc="-50">
                <a:solidFill>
                  <a:srgbClr val="3A6EA5"/>
                </a:solidFill>
                <a:latin typeface="Lucida Console"/>
                <a:cs typeface="Lucida Console"/>
              </a:rPr>
              <a:t>)V</a:t>
            </a:r>
            <a:endParaRPr sz="850">
              <a:latin typeface="Lucida Console"/>
              <a:cs typeface="Lucida Consol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18480" y="3646133"/>
            <a:ext cx="115570" cy="229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50" b="1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20750" y="3646614"/>
            <a:ext cx="135509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 b="1">
                <a:solidFill>
                  <a:srgbClr val="3A6EA5"/>
                </a:solidFill>
                <a:latin typeface="Microsoft JhengHei"/>
                <a:cs typeface="Microsoft JhengHei"/>
              </a:rPr>
              <a:t>多</a:t>
            </a:r>
            <a:r>
              <a:rPr dirty="0" sz="1150" spc="-120" b="1">
                <a:solidFill>
                  <a:srgbClr val="3A6EA5"/>
                </a:solidFill>
                <a:latin typeface="Malgun Gothic"/>
                <a:cs typeface="Malgun Gothic"/>
              </a:rPr>
              <a:t>頭構造による</a:t>
            </a:r>
            <a:r>
              <a:rPr dirty="0" sz="1150" spc="-90" b="1">
                <a:solidFill>
                  <a:srgbClr val="3A6EA5"/>
                </a:solidFill>
                <a:latin typeface="Microsoft JhengHei"/>
                <a:cs typeface="Microsoft JhengHei"/>
              </a:rPr>
              <a:t>多様性</a:t>
            </a:r>
            <a:endParaRPr sz="1150">
              <a:latin typeface="Microsoft JhengHei"/>
              <a:cs typeface="Microsoft JhengHe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16000" y="4002753"/>
            <a:ext cx="4839335" cy="3105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85"/>
              </a:spcBef>
            </a:pP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複数</a:t>
            </a:r>
            <a:r>
              <a:rPr dirty="0" sz="900" spc="-90">
                <a:solidFill>
                  <a:srgbClr val="444444"/>
                </a:solidFill>
                <a:latin typeface="MS PGothic"/>
                <a:cs typeface="MS PGothic"/>
              </a:rPr>
              <a:t>の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注意</a:t>
            </a:r>
            <a:r>
              <a:rPr dirty="0" sz="900" spc="80">
                <a:solidFill>
                  <a:srgbClr val="444444"/>
                </a:solidFill>
                <a:latin typeface="MS PGothic"/>
                <a:cs typeface="MS PGothic"/>
              </a:rPr>
              <a:t>ヘッドにより、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異</a:t>
            </a:r>
            <a:r>
              <a:rPr dirty="0" sz="900">
                <a:solidFill>
                  <a:srgbClr val="444444"/>
                </a:solidFill>
                <a:latin typeface="MS PGothic"/>
                <a:cs typeface="MS PGothic"/>
              </a:rPr>
              <a:t>なる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周波数関係性</a:t>
            </a:r>
            <a:r>
              <a:rPr dirty="0" sz="900">
                <a:solidFill>
                  <a:srgbClr val="444444"/>
                </a:solidFill>
                <a:latin typeface="MS PGothic"/>
                <a:cs typeface="MS PGothic"/>
              </a:rPr>
              <a:t>を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並行学習</a:t>
            </a:r>
            <a:r>
              <a:rPr dirty="0" sz="900" spc="215">
                <a:solidFill>
                  <a:srgbClr val="444444"/>
                </a:solidFill>
                <a:latin typeface="MS PGothic"/>
                <a:cs typeface="MS PGothic"/>
              </a:rPr>
              <a:t>。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低周波</a:t>
            </a:r>
            <a:r>
              <a:rPr dirty="0" sz="900" spc="560">
                <a:solidFill>
                  <a:srgbClr val="444444"/>
                </a:solidFill>
                <a:latin typeface="MS PGothic"/>
                <a:cs typeface="MS PGothic"/>
              </a:rPr>
              <a:t>‧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中周波</a:t>
            </a:r>
            <a:r>
              <a:rPr dirty="0" sz="900" spc="560">
                <a:solidFill>
                  <a:srgbClr val="444444"/>
                </a:solidFill>
                <a:latin typeface="MS PGothic"/>
                <a:cs typeface="MS PGothic"/>
              </a:rPr>
              <a:t>‧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高周波</a:t>
            </a:r>
            <a:r>
              <a:rPr dirty="0" sz="900" spc="-90">
                <a:solidFill>
                  <a:srgbClr val="444444"/>
                </a:solidFill>
                <a:latin typeface="MS PGothic"/>
                <a:cs typeface="MS PGothic"/>
              </a:rPr>
              <a:t>の</a:t>
            </a:r>
            <a:r>
              <a:rPr dirty="0" sz="900" spc="-85">
                <a:solidFill>
                  <a:srgbClr val="444444"/>
                </a:solidFill>
                <a:latin typeface="SimSun"/>
                <a:cs typeface="SimSun"/>
              </a:rPr>
              <a:t>相補的特徴抽出</a:t>
            </a:r>
            <a:r>
              <a:rPr dirty="0" sz="900" spc="85">
                <a:solidFill>
                  <a:srgbClr val="444444"/>
                </a:solidFill>
                <a:latin typeface="MS PGothic"/>
                <a:cs typeface="MS PGothic"/>
              </a:rPr>
              <a:t>で、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単一視点</a:t>
            </a:r>
            <a:r>
              <a:rPr dirty="0" sz="900" spc="-45">
                <a:solidFill>
                  <a:srgbClr val="444444"/>
                </a:solidFill>
                <a:latin typeface="MS PGothic"/>
                <a:cs typeface="MS PGothic"/>
              </a:rPr>
              <a:t>では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見逃</a:t>
            </a:r>
            <a:r>
              <a:rPr dirty="0" sz="900" spc="10">
                <a:solidFill>
                  <a:srgbClr val="444444"/>
                </a:solidFill>
                <a:latin typeface="MS PGothic"/>
                <a:cs typeface="MS PGothic"/>
              </a:rPr>
              <a:t>される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異常</a:t>
            </a:r>
            <a:r>
              <a:rPr dirty="0" sz="900">
                <a:solidFill>
                  <a:srgbClr val="444444"/>
                </a:solidFill>
                <a:latin typeface="MS PGothic"/>
                <a:cs typeface="MS PGothic"/>
              </a:rPr>
              <a:t>パターンも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捕捉</a:t>
            </a:r>
            <a:r>
              <a:rPr dirty="0" sz="900" spc="165">
                <a:solidFill>
                  <a:srgbClr val="444444"/>
                </a:solidFill>
                <a:latin typeface="MS PGothic"/>
                <a:cs typeface="MS PGothic"/>
              </a:rPr>
              <a:t>。</a:t>
            </a:r>
            <a:endParaRPr sz="900">
              <a:latin typeface="MS PGothic"/>
              <a:cs typeface="MS PGothic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18480" y="4932008"/>
            <a:ext cx="115570" cy="229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50" b="1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20750" y="4932489"/>
            <a:ext cx="148844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 b="1">
                <a:solidFill>
                  <a:srgbClr val="3A6EA5"/>
                </a:solidFill>
                <a:latin typeface="Microsoft JhengHei"/>
                <a:cs typeface="Microsoft JhengHei"/>
              </a:rPr>
              <a:t>残</a:t>
            </a:r>
            <a:r>
              <a:rPr dirty="0" sz="1150" spc="-110" b="1">
                <a:solidFill>
                  <a:srgbClr val="3A6EA5"/>
                </a:solidFill>
                <a:latin typeface="Malgun Gothic"/>
                <a:cs typeface="Malgun Gothic"/>
              </a:rPr>
              <a:t>差接</a:t>
            </a:r>
            <a:r>
              <a:rPr dirty="0" sz="1150" spc="-110" b="1">
                <a:solidFill>
                  <a:srgbClr val="3A6EA5"/>
                </a:solidFill>
                <a:latin typeface="Microsoft JhengHei"/>
                <a:cs typeface="Microsoft JhengHei"/>
              </a:rPr>
              <a:t>続</a:t>
            </a:r>
            <a:r>
              <a:rPr dirty="0" sz="1150" spc="-125" b="1">
                <a:solidFill>
                  <a:srgbClr val="3A6EA5"/>
                </a:solidFill>
                <a:latin typeface="Malgun Gothic"/>
                <a:cs typeface="Malgun Gothic"/>
              </a:rPr>
              <a:t>による情報</a:t>
            </a:r>
            <a:r>
              <a:rPr dirty="0" sz="1150" spc="-80" b="1">
                <a:solidFill>
                  <a:srgbClr val="3A6EA5"/>
                </a:solidFill>
                <a:latin typeface="Microsoft JhengHei"/>
                <a:cs typeface="Microsoft JhengHei"/>
              </a:rPr>
              <a:t>保持</a:t>
            </a:r>
            <a:endParaRPr sz="1150">
              <a:latin typeface="Microsoft JhengHei"/>
              <a:cs typeface="Microsoft JhengHe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16000" y="5280998"/>
            <a:ext cx="4952365" cy="31813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65"/>
              </a:spcBef>
            </a:pP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残差接続</a:t>
            </a:r>
            <a:r>
              <a:rPr dirty="0" sz="900" spc="35">
                <a:solidFill>
                  <a:srgbClr val="444444"/>
                </a:solidFill>
                <a:latin typeface="MS PGothic"/>
                <a:cs typeface="MS PGothic"/>
              </a:rPr>
              <a:t>により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元</a:t>
            </a:r>
            <a:r>
              <a:rPr dirty="0" sz="900" spc="35">
                <a:solidFill>
                  <a:srgbClr val="444444"/>
                </a:solidFill>
                <a:latin typeface="MS PGothic"/>
                <a:cs typeface="MS PGothic"/>
              </a:rPr>
              <a:t>の </a:t>
            </a:r>
            <a:r>
              <a:rPr dirty="0" sz="1000" spc="-90">
                <a:solidFill>
                  <a:srgbClr val="444444"/>
                </a:solidFill>
                <a:latin typeface="Microsoft Sans Serif"/>
                <a:cs typeface="Microsoft Sans Serif"/>
              </a:rPr>
              <a:t>Log-</a:t>
            </a:r>
            <a:r>
              <a:rPr dirty="0" sz="1000" spc="-100">
                <a:solidFill>
                  <a:srgbClr val="444444"/>
                </a:solidFill>
                <a:latin typeface="Microsoft Sans Serif"/>
                <a:cs typeface="Microsoft Sans Serif"/>
              </a:rPr>
              <a:t>Mel</a:t>
            </a:r>
            <a:r>
              <a:rPr dirty="0" sz="1000" spc="15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情報</a:t>
            </a:r>
            <a:r>
              <a:rPr dirty="0" sz="900">
                <a:solidFill>
                  <a:srgbClr val="444444"/>
                </a:solidFill>
                <a:latin typeface="MS PGothic"/>
                <a:cs typeface="MS PGothic"/>
              </a:rPr>
              <a:t>を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保持</a:t>
            </a:r>
            <a:r>
              <a:rPr dirty="0" sz="900" spc="40">
                <a:solidFill>
                  <a:srgbClr val="444444"/>
                </a:solidFill>
                <a:latin typeface="MS PGothic"/>
                <a:cs typeface="MS PGothic"/>
              </a:rPr>
              <a:t>しつつ、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注意重</a:t>
            </a:r>
            <a:r>
              <a:rPr dirty="0" sz="900" spc="-45">
                <a:solidFill>
                  <a:srgbClr val="444444"/>
                </a:solidFill>
                <a:latin typeface="MS PGothic"/>
                <a:cs typeface="MS PGothic"/>
              </a:rPr>
              <a:t>みで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強調</a:t>
            </a:r>
            <a:r>
              <a:rPr dirty="0" sz="900" spc="10">
                <a:solidFill>
                  <a:srgbClr val="444444"/>
                </a:solidFill>
                <a:latin typeface="MS PGothic"/>
                <a:cs typeface="MS PGothic"/>
              </a:rPr>
              <a:t>された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情報</a:t>
            </a:r>
            <a:r>
              <a:rPr dirty="0" sz="900">
                <a:solidFill>
                  <a:srgbClr val="444444"/>
                </a:solidFill>
                <a:latin typeface="MS PGothic"/>
                <a:cs typeface="MS PGothic"/>
              </a:rPr>
              <a:t>を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追加</a:t>
            </a:r>
            <a:r>
              <a:rPr dirty="0" sz="900" spc="215">
                <a:solidFill>
                  <a:srgbClr val="444444"/>
                </a:solidFill>
                <a:latin typeface="MS PGothic"/>
                <a:cs typeface="MS PGothic"/>
              </a:rPr>
              <a:t>。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情報損失</a:t>
            </a:r>
            <a:r>
              <a:rPr dirty="0" sz="900">
                <a:solidFill>
                  <a:srgbClr val="444444"/>
                </a:solidFill>
                <a:latin typeface="MS PGothic"/>
                <a:cs typeface="MS PGothic"/>
              </a:rPr>
              <a:t>を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防</a:t>
            </a:r>
            <a:r>
              <a:rPr dirty="0" sz="900" spc="-20">
                <a:solidFill>
                  <a:srgbClr val="444444"/>
                </a:solidFill>
                <a:latin typeface="MS PGothic"/>
                <a:cs typeface="MS PGothic"/>
              </a:rPr>
              <a:t>ぎなが</a:t>
            </a:r>
            <a:r>
              <a:rPr dirty="0" sz="900" spc="-40">
                <a:solidFill>
                  <a:srgbClr val="444444"/>
                </a:solidFill>
                <a:latin typeface="MS PGothic"/>
                <a:cs typeface="MS PGothic"/>
              </a:rPr>
              <a:t>ら 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特徴表現力</a:t>
            </a:r>
            <a:r>
              <a:rPr dirty="0" sz="900">
                <a:solidFill>
                  <a:srgbClr val="444444"/>
                </a:solidFill>
                <a:latin typeface="MS PGothic"/>
                <a:cs typeface="MS PGothic"/>
              </a:rPr>
              <a:t>を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向上</a:t>
            </a:r>
            <a:r>
              <a:rPr dirty="0" sz="900" spc="165">
                <a:solidFill>
                  <a:srgbClr val="444444"/>
                </a:solidFill>
                <a:latin typeface="MS PGothic"/>
                <a:cs typeface="MS PGothic"/>
              </a:rPr>
              <a:t>。</a:t>
            </a:r>
            <a:endParaRPr sz="900">
              <a:latin typeface="MS PGothic"/>
              <a:cs typeface="MS PGothic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67473" y="1695449"/>
            <a:ext cx="2952750" cy="4152899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6791275" y="1720353"/>
            <a:ext cx="54673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60" b="1">
                <a:solidFill>
                  <a:srgbClr val="FFFFFF"/>
                </a:solidFill>
                <a:latin typeface="Arial"/>
                <a:cs typeface="Arial"/>
              </a:rPr>
              <a:t>MECHANISM</a:t>
            </a:r>
            <a:endParaRPr sz="75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707014" y="2054598"/>
            <a:ext cx="452120" cy="42481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 indent="34925">
              <a:lnSpc>
                <a:spcPct val="100000"/>
              </a:lnSpc>
              <a:spcBef>
                <a:spcPts val="370"/>
              </a:spcBef>
            </a:pPr>
            <a:r>
              <a:rPr dirty="0" sz="850" spc="-100" b="1">
                <a:solidFill>
                  <a:srgbClr val="3A6EA5"/>
                </a:solidFill>
                <a:latin typeface="Malgun Gothic"/>
                <a:cs typeface="Malgun Gothic"/>
              </a:rPr>
              <a:t>入力解析</a:t>
            </a:r>
            <a:endParaRPr sz="850">
              <a:latin typeface="Malgun Gothic"/>
              <a:cs typeface="Malgun Gothic"/>
            </a:endParaRPr>
          </a:p>
          <a:p>
            <a:pPr marL="40005" marR="5080" indent="-27940">
              <a:lnSpc>
                <a:spcPts val="750"/>
              </a:lnSpc>
              <a:spcBef>
                <a:spcPts val="355"/>
              </a:spcBef>
            </a:pPr>
            <a:r>
              <a:rPr dirty="0" sz="700" spc="-55">
                <a:solidFill>
                  <a:srgbClr val="666666"/>
                </a:solidFill>
                <a:latin typeface="Microsoft Sans Serif"/>
                <a:cs typeface="Microsoft Sans Serif"/>
              </a:rPr>
              <a:t>Log-</a:t>
            </a:r>
            <a:r>
              <a:rPr dirty="0" sz="700" spc="-60">
                <a:solidFill>
                  <a:srgbClr val="666666"/>
                </a:solidFill>
                <a:latin typeface="Microsoft Sans Serif"/>
                <a:cs typeface="Microsoft Sans Serif"/>
              </a:rPr>
              <a:t>Mel</a:t>
            </a:r>
            <a:r>
              <a:rPr dirty="0" sz="700" spc="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95">
                <a:solidFill>
                  <a:srgbClr val="666666"/>
                </a:solidFill>
                <a:latin typeface="MS PGothic"/>
                <a:cs typeface="MS PGothic"/>
              </a:rPr>
              <a:t>から</a:t>
            </a:r>
            <a:r>
              <a:rPr dirty="0" sz="650" spc="500">
                <a:solidFill>
                  <a:srgbClr val="666666"/>
                </a:solidFill>
                <a:latin typeface="MS PGothic"/>
                <a:cs typeface="MS PGothic"/>
              </a:rPr>
              <a:t> </a:t>
            </a:r>
            <a:r>
              <a:rPr dirty="0" sz="700" spc="-70">
                <a:solidFill>
                  <a:srgbClr val="666666"/>
                </a:solidFill>
                <a:latin typeface="Microsoft Sans Serif"/>
                <a:cs typeface="Microsoft Sans Serif"/>
              </a:rPr>
              <a:t>Q</a:t>
            </a:r>
            <a:r>
              <a:rPr dirty="0" sz="700" spc="-60">
                <a:solidFill>
                  <a:srgbClr val="666666"/>
                </a:solidFill>
                <a:latin typeface="Microsoft Sans Serif"/>
                <a:cs typeface="Microsoft Sans Serif"/>
              </a:rPr>
              <a:t>, K</a:t>
            </a:r>
            <a:r>
              <a:rPr dirty="0" sz="700" spc="-50">
                <a:solidFill>
                  <a:srgbClr val="666666"/>
                </a:solidFill>
                <a:latin typeface="Microsoft Sans Serif"/>
                <a:cs typeface="Microsoft Sans Serif"/>
              </a:rPr>
              <a:t>, </a:t>
            </a:r>
            <a:r>
              <a:rPr dirty="0" sz="700" spc="-130">
                <a:solidFill>
                  <a:srgbClr val="666666"/>
                </a:solidFill>
                <a:latin typeface="Microsoft Sans Serif"/>
                <a:cs typeface="Microsoft Sans Serif"/>
              </a:rPr>
              <a:t>V</a:t>
            </a:r>
            <a:r>
              <a:rPr dirty="0" sz="700" spc="-4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650" spc="-65">
                <a:solidFill>
                  <a:srgbClr val="666666"/>
                </a:solidFill>
                <a:latin typeface="SimSun"/>
                <a:cs typeface="SimSun"/>
              </a:rPr>
              <a:t>生成</a:t>
            </a:r>
            <a:endParaRPr sz="650">
              <a:latin typeface="SimSun"/>
              <a:cs typeface="SimSu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665938" y="2769314"/>
            <a:ext cx="558800" cy="432434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dirty="0" sz="850" spc="-100" b="1">
                <a:solidFill>
                  <a:srgbClr val="3A6EA5"/>
                </a:solidFill>
                <a:latin typeface="Malgun Gothic"/>
                <a:cs typeface="Malgun Gothic"/>
              </a:rPr>
              <a:t>注意計算</a:t>
            </a:r>
            <a:endParaRPr sz="850">
              <a:latin typeface="Malgun Gothic"/>
              <a:cs typeface="Malgun Gothic"/>
            </a:endParaRPr>
          </a:p>
          <a:p>
            <a:pPr algn="ctr" marL="12700" marR="5080">
              <a:lnSpc>
                <a:spcPts val="750"/>
              </a:lnSpc>
              <a:spcBef>
                <a:spcPts val="355"/>
              </a:spcBef>
            </a:pPr>
            <a:r>
              <a:rPr dirty="0" sz="650" spc="-65">
                <a:solidFill>
                  <a:srgbClr val="666666"/>
                </a:solidFill>
                <a:latin typeface="SimSun"/>
                <a:cs typeface="SimSun"/>
              </a:rPr>
              <a:t>周波数間関連度</a:t>
            </a:r>
            <a:r>
              <a:rPr dirty="0" sz="650" spc="25">
                <a:solidFill>
                  <a:srgbClr val="666666"/>
                </a:solidFill>
                <a:latin typeface="MS PGothic"/>
                <a:cs typeface="MS PGothic"/>
              </a:rPr>
              <a:t>スコア</a:t>
            </a:r>
            <a:r>
              <a:rPr dirty="0" sz="650" spc="-55">
                <a:solidFill>
                  <a:srgbClr val="666666"/>
                </a:solidFill>
                <a:latin typeface="SimSun"/>
                <a:cs typeface="SimSun"/>
              </a:rPr>
              <a:t>算出</a:t>
            </a:r>
            <a:endParaRPr sz="650">
              <a:latin typeface="SimSun"/>
              <a:cs typeface="SimSu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742138" y="3493213"/>
            <a:ext cx="406400" cy="432434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850" spc="-100" b="1">
                <a:solidFill>
                  <a:srgbClr val="3A6EA5"/>
                </a:solidFill>
                <a:latin typeface="Malgun Gothic"/>
                <a:cs typeface="Malgun Gothic"/>
              </a:rPr>
              <a:t>重み付け</a:t>
            </a:r>
            <a:endParaRPr sz="850">
              <a:latin typeface="Malgun Gothic"/>
              <a:cs typeface="Malgun Gothic"/>
            </a:endParaRPr>
          </a:p>
          <a:p>
            <a:pPr marL="12700" marR="5080">
              <a:lnSpc>
                <a:spcPts val="750"/>
              </a:lnSpc>
              <a:spcBef>
                <a:spcPts val="355"/>
              </a:spcBef>
            </a:pPr>
            <a:r>
              <a:rPr dirty="0" sz="650" spc="-60">
                <a:solidFill>
                  <a:srgbClr val="666666"/>
                </a:solidFill>
                <a:latin typeface="SimSun"/>
                <a:cs typeface="SimSun"/>
              </a:rPr>
              <a:t>重要成分</a:t>
            </a:r>
            <a:r>
              <a:rPr dirty="0" sz="650" spc="-50">
                <a:solidFill>
                  <a:srgbClr val="666666"/>
                </a:solidFill>
                <a:latin typeface="MS PGothic"/>
                <a:cs typeface="MS PGothic"/>
              </a:rPr>
              <a:t>を</a:t>
            </a:r>
            <a:r>
              <a:rPr dirty="0" sz="650" spc="-70">
                <a:solidFill>
                  <a:srgbClr val="666666"/>
                </a:solidFill>
                <a:latin typeface="SimSun"/>
                <a:cs typeface="SimSun"/>
              </a:rPr>
              <a:t>適応的強調</a:t>
            </a:r>
            <a:endParaRPr sz="650">
              <a:latin typeface="SimSun"/>
              <a:cs typeface="SimSu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742138" y="4226638"/>
            <a:ext cx="406400" cy="422909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850" spc="-110" b="1">
                <a:solidFill>
                  <a:srgbClr val="3A6EA5"/>
                </a:solidFill>
                <a:latin typeface="Malgun Gothic"/>
                <a:cs typeface="Malgun Gothic"/>
              </a:rPr>
              <a:t>特</a:t>
            </a:r>
            <a:r>
              <a:rPr dirty="0" sz="850" spc="-110" b="1">
                <a:solidFill>
                  <a:srgbClr val="3A6EA5"/>
                </a:solidFill>
                <a:latin typeface="Microsoft JhengHei"/>
                <a:cs typeface="Microsoft JhengHei"/>
              </a:rPr>
              <a:t>徴</a:t>
            </a:r>
            <a:r>
              <a:rPr dirty="0" sz="850" spc="-80" b="1">
                <a:solidFill>
                  <a:srgbClr val="3A6EA5"/>
                </a:solidFill>
                <a:latin typeface="Malgun Gothic"/>
                <a:cs typeface="Malgun Gothic"/>
              </a:rPr>
              <a:t>融合</a:t>
            </a:r>
            <a:endParaRPr sz="850">
              <a:latin typeface="Malgun Gothic"/>
              <a:cs typeface="Malgun Gothic"/>
            </a:endParaRPr>
          </a:p>
          <a:p>
            <a:pPr marL="12700" marR="5080">
              <a:lnSpc>
                <a:spcPts val="680"/>
              </a:lnSpc>
              <a:spcBef>
                <a:spcPts val="409"/>
              </a:spcBef>
            </a:pPr>
            <a:r>
              <a:rPr dirty="0" sz="650" spc="-60">
                <a:solidFill>
                  <a:srgbClr val="666666"/>
                </a:solidFill>
                <a:latin typeface="SimSun"/>
                <a:cs typeface="SimSun"/>
              </a:rPr>
              <a:t>時間情報</a:t>
            </a:r>
            <a:r>
              <a:rPr dirty="0" sz="650" spc="45">
                <a:solidFill>
                  <a:srgbClr val="666666"/>
                </a:solidFill>
                <a:latin typeface="MS PGothic"/>
                <a:cs typeface="MS PGothic"/>
              </a:rPr>
              <a:t>と</a:t>
            </a:r>
            <a:r>
              <a:rPr dirty="0" sz="650" spc="-60">
                <a:solidFill>
                  <a:srgbClr val="666666"/>
                </a:solidFill>
                <a:latin typeface="SimSun"/>
                <a:cs typeface="SimSun"/>
              </a:rPr>
              <a:t>結合</a:t>
            </a:r>
            <a:r>
              <a:rPr dirty="0" sz="650" spc="420">
                <a:solidFill>
                  <a:srgbClr val="666666"/>
                </a:solidFill>
                <a:latin typeface="MS PGothic"/>
                <a:cs typeface="MS PGothic"/>
              </a:rPr>
              <a:t>‧</a:t>
            </a:r>
            <a:r>
              <a:rPr dirty="0" sz="650" spc="-75">
                <a:solidFill>
                  <a:srgbClr val="666666"/>
                </a:solidFill>
                <a:latin typeface="SimSun"/>
                <a:cs typeface="SimSun"/>
              </a:rPr>
              <a:t>分類</a:t>
            </a:r>
            <a:endParaRPr sz="650">
              <a:latin typeface="SimSun"/>
              <a:cs typeface="SimSun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333374" y="5991224"/>
            <a:ext cx="9229725" cy="2619375"/>
            <a:chOff x="333374" y="5991224"/>
            <a:chExt cx="9229725" cy="2619375"/>
          </a:xfrm>
        </p:grpSpPr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1949" y="6067424"/>
              <a:ext cx="9029699" cy="2447924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3374" y="5991224"/>
              <a:ext cx="9229724" cy="2619375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2025054" y="6684984"/>
            <a:ext cx="1117600" cy="53911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dirty="0" sz="900" spc="-90" b="1">
                <a:solidFill>
                  <a:srgbClr val="DB3445"/>
                </a:solidFill>
                <a:latin typeface="Malgun Gothic"/>
                <a:cs typeface="Malgun Gothic"/>
              </a:rPr>
              <a:t>私の</a:t>
            </a:r>
            <a:r>
              <a:rPr dirty="0" sz="900" spc="-90" b="1">
                <a:solidFill>
                  <a:srgbClr val="DB3445"/>
                </a:solidFill>
                <a:latin typeface="Microsoft JhengHei"/>
                <a:cs typeface="Microsoft JhengHei"/>
              </a:rPr>
              <a:t>研</a:t>
            </a:r>
            <a:r>
              <a:rPr dirty="0" sz="900" spc="-80" b="1">
                <a:solidFill>
                  <a:srgbClr val="DB3445"/>
                </a:solidFill>
                <a:latin typeface="Malgun Gothic"/>
                <a:cs typeface="Malgun Gothic"/>
              </a:rPr>
              <a:t>究課題</a:t>
            </a:r>
            <a:endParaRPr sz="900">
              <a:latin typeface="Malgun Gothic"/>
              <a:cs typeface="Malgun Gothic"/>
            </a:endParaRPr>
          </a:p>
          <a:p>
            <a:pPr algn="ctr">
              <a:lnSpc>
                <a:spcPts val="865"/>
              </a:lnSpc>
              <a:spcBef>
                <a:spcPts val="195"/>
              </a:spcBef>
            </a:pPr>
            <a:r>
              <a:rPr dirty="0" sz="750" spc="-100">
                <a:solidFill>
                  <a:srgbClr val="666666"/>
                </a:solidFill>
                <a:latin typeface="Arial MT"/>
                <a:cs typeface="Arial MT"/>
              </a:rPr>
              <a:t>SNR</a:t>
            </a:r>
            <a:r>
              <a:rPr dirty="0" sz="750" spc="-75">
                <a:solidFill>
                  <a:srgbClr val="666666"/>
                </a:solidFill>
                <a:latin typeface="SimSun"/>
                <a:cs typeface="SimSun"/>
              </a:rPr>
              <a:t>低下環境</a:t>
            </a:r>
            <a:r>
              <a:rPr dirty="0" sz="750" spc="-50">
                <a:solidFill>
                  <a:srgbClr val="666666"/>
                </a:solidFill>
                <a:latin typeface="MS PGothic"/>
                <a:cs typeface="MS PGothic"/>
              </a:rPr>
              <a:t>で</a:t>
            </a:r>
            <a:endParaRPr sz="750">
              <a:latin typeface="MS PGothic"/>
              <a:cs typeface="MS PGothic"/>
            </a:endParaRPr>
          </a:p>
          <a:p>
            <a:pPr algn="ctr" marL="12700" marR="5080" indent="-635">
              <a:lnSpc>
                <a:spcPts val="830"/>
              </a:lnSpc>
              <a:spcBef>
                <a:spcPts val="50"/>
              </a:spcBef>
            </a:pPr>
            <a:r>
              <a:rPr dirty="0" sz="750" spc="-75">
                <a:solidFill>
                  <a:srgbClr val="666666"/>
                </a:solidFill>
                <a:latin typeface="SimSun"/>
                <a:cs typeface="SimSun"/>
              </a:rPr>
              <a:t>沸騰音特徴</a:t>
            </a:r>
            <a:r>
              <a:rPr dirty="0" sz="750" spc="-10">
                <a:solidFill>
                  <a:srgbClr val="666666"/>
                </a:solidFill>
                <a:latin typeface="MS PGothic"/>
                <a:cs typeface="MS PGothic"/>
              </a:rPr>
              <a:t>がノイズに</a:t>
            </a:r>
            <a:r>
              <a:rPr dirty="0" sz="750" spc="-65">
                <a:solidFill>
                  <a:srgbClr val="666666"/>
                </a:solidFill>
                <a:latin typeface="SimSun"/>
                <a:cs typeface="SimSun"/>
              </a:rPr>
              <a:t>埋没</a:t>
            </a:r>
            <a:r>
              <a:rPr dirty="0" sz="750" spc="-75">
                <a:solidFill>
                  <a:srgbClr val="666666"/>
                </a:solidFill>
                <a:latin typeface="SimSun"/>
                <a:cs typeface="SimSun"/>
              </a:rPr>
              <a:t>予測精度低下</a:t>
            </a:r>
            <a:r>
              <a:rPr dirty="0" sz="750" spc="-50">
                <a:solidFill>
                  <a:srgbClr val="666666"/>
                </a:solidFill>
                <a:latin typeface="SimSun"/>
                <a:cs typeface="SimSun"/>
              </a:rPr>
              <a:t>（</a:t>
            </a:r>
            <a:r>
              <a:rPr dirty="0" sz="750" spc="-50">
                <a:solidFill>
                  <a:srgbClr val="666666"/>
                </a:solidFill>
                <a:latin typeface="Arial MT"/>
                <a:cs typeface="Arial MT"/>
              </a:rPr>
              <a:t>-</a:t>
            </a:r>
            <a:r>
              <a:rPr dirty="0" sz="750" spc="-45">
                <a:solidFill>
                  <a:srgbClr val="666666"/>
                </a:solidFill>
                <a:latin typeface="Arial MT"/>
                <a:cs typeface="Arial MT"/>
              </a:rPr>
              <a:t>12dB</a:t>
            </a:r>
            <a:r>
              <a:rPr dirty="0" sz="750" spc="-75">
                <a:solidFill>
                  <a:srgbClr val="666666"/>
                </a:solidFill>
                <a:latin typeface="SimSun"/>
                <a:cs typeface="SimSun"/>
              </a:rPr>
              <a:t>以下</a:t>
            </a:r>
            <a:r>
              <a:rPr dirty="0" sz="750" spc="-90">
                <a:solidFill>
                  <a:srgbClr val="666666"/>
                </a:solidFill>
                <a:latin typeface="SimSun"/>
                <a:cs typeface="SimSun"/>
              </a:rPr>
              <a:t>）</a:t>
            </a:r>
            <a:endParaRPr sz="750">
              <a:latin typeface="SimSun"/>
              <a:cs typeface="SimSu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729809" y="6680565"/>
            <a:ext cx="880110" cy="54292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dirty="0" sz="900" spc="-90" b="1">
                <a:solidFill>
                  <a:srgbClr val="28A645"/>
                </a:solidFill>
                <a:latin typeface="Tahoma"/>
                <a:cs typeface="Tahoma"/>
              </a:rPr>
              <a:t>AFPA</a:t>
            </a:r>
            <a:r>
              <a:rPr dirty="0" sz="900" spc="-90" b="1">
                <a:solidFill>
                  <a:srgbClr val="28A645"/>
                </a:solidFill>
                <a:latin typeface="Microsoft JhengHei"/>
                <a:cs typeface="Microsoft JhengHei"/>
              </a:rPr>
              <a:t>応</a:t>
            </a:r>
            <a:r>
              <a:rPr dirty="0" sz="900" spc="-80" b="1">
                <a:solidFill>
                  <a:srgbClr val="28A645"/>
                </a:solidFill>
                <a:latin typeface="Malgun Gothic"/>
                <a:cs typeface="Malgun Gothic"/>
              </a:rPr>
              <a:t>用可能性</a:t>
            </a:r>
            <a:endParaRPr sz="900">
              <a:latin typeface="Malgun Gothic"/>
              <a:cs typeface="Malgun Gothic"/>
            </a:endParaRPr>
          </a:p>
          <a:p>
            <a:pPr algn="ctr" marL="12065" marR="5080">
              <a:lnSpc>
                <a:spcPts val="830"/>
              </a:lnSpc>
              <a:spcBef>
                <a:spcPts val="280"/>
              </a:spcBef>
            </a:pPr>
            <a:r>
              <a:rPr dirty="0" sz="750" spc="-75">
                <a:solidFill>
                  <a:srgbClr val="666666"/>
                </a:solidFill>
                <a:latin typeface="SimSun"/>
                <a:cs typeface="SimSun"/>
              </a:rPr>
              <a:t>自己注意機構</a:t>
            </a:r>
            <a:r>
              <a:rPr dirty="0" sz="750" spc="-30">
                <a:solidFill>
                  <a:srgbClr val="666666"/>
                </a:solidFill>
                <a:latin typeface="MS PGothic"/>
                <a:cs typeface="MS PGothic"/>
              </a:rPr>
              <a:t>による</a:t>
            </a:r>
            <a:r>
              <a:rPr dirty="0" sz="750" spc="135">
                <a:solidFill>
                  <a:srgbClr val="666666"/>
                </a:solidFill>
                <a:latin typeface="MS PGothic"/>
                <a:cs typeface="MS PGothic"/>
              </a:rPr>
              <a:t> </a:t>
            </a:r>
            <a:r>
              <a:rPr dirty="0" sz="750" spc="20">
                <a:solidFill>
                  <a:srgbClr val="666666"/>
                </a:solidFill>
                <a:latin typeface="MS PGothic"/>
                <a:cs typeface="MS PGothic"/>
              </a:rPr>
              <a:t>ノイズ</a:t>
            </a:r>
            <a:r>
              <a:rPr dirty="0" sz="750" spc="-75">
                <a:solidFill>
                  <a:srgbClr val="666666"/>
                </a:solidFill>
                <a:latin typeface="SimSun"/>
                <a:cs typeface="SimSun"/>
              </a:rPr>
              <a:t>中</a:t>
            </a:r>
            <a:r>
              <a:rPr dirty="0" sz="750" spc="-75">
                <a:solidFill>
                  <a:srgbClr val="666666"/>
                </a:solidFill>
                <a:latin typeface="MS PGothic"/>
                <a:cs typeface="MS PGothic"/>
              </a:rPr>
              <a:t>の</a:t>
            </a:r>
            <a:r>
              <a:rPr dirty="0" sz="750" spc="-80">
                <a:solidFill>
                  <a:srgbClr val="666666"/>
                </a:solidFill>
                <a:latin typeface="SimSun"/>
                <a:cs typeface="SimSun"/>
              </a:rPr>
              <a:t>重要周波数</a:t>
            </a:r>
            <a:r>
              <a:rPr dirty="0" sz="750" spc="-75">
                <a:solidFill>
                  <a:srgbClr val="666666"/>
                </a:solidFill>
                <a:latin typeface="SimSun"/>
                <a:cs typeface="SimSun"/>
              </a:rPr>
              <a:t>自動抽出</a:t>
            </a:r>
            <a:r>
              <a:rPr dirty="0" sz="750" spc="495">
                <a:solidFill>
                  <a:srgbClr val="666666"/>
                </a:solidFill>
                <a:latin typeface="MS PGothic"/>
                <a:cs typeface="MS PGothic"/>
              </a:rPr>
              <a:t>‧</a:t>
            </a:r>
            <a:r>
              <a:rPr dirty="0" sz="750" spc="-65">
                <a:solidFill>
                  <a:srgbClr val="666666"/>
                </a:solidFill>
                <a:latin typeface="SimSun"/>
                <a:cs typeface="SimSun"/>
              </a:rPr>
              <a:t>強調</a:t>
            </a:r>
            <a:endParaRPr sz="750">
              <a:latin typeface="SimSun"/>
              <a:cs typeface="SimSu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663700" y="7838995"/>
            <a:ext cx="558800" cy="40195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dirty="0" sz="850" spc="-110" b="1">
                <a:solidFill>
                  <a:srgbClr val="2E7D32"/>
                </a:solidFill>
                <a:latin typeface="Malgun Gothic"/>
                <a:cs typeface="Malgun Gothic"/>
              </a:rPr>
              <a:t>ノイズ耐性</a:t>
            </a:r>
            <a:endParaRPr sz="850">
              <a:latin typeface="Malgun Gothic"/>
              <a:cs typeface="Malgun Gothic"/>
            </a:endParaRPr>
          </a:p>
          <a:p>
            <a:pPr algn="ctr" marL="12700" marR="5080">
              <a:lnSpc>
                <a:spcPts val="680"/>
              </a:lnSpc>
              <a:spcBef>
                <a:spcPts val="335"/>
              </a:spcBef>
            </a:pPr>
            <a:r>
              <a:rPr dirty="0" sz="650" spc="-60">
                <a:solidFill>
                  <a:srgbClr val="666666"/>
                </a:solidFill>
                <a:latin typeface="SimSun"/>
                <a:cs typeface="SimSun"/>
              </a:rPr>
              <a:t>重要信号成分</a:t>
            </a:r>
            <a:r>
              <a:rPr dirty="0" sz="650" spc="-85">
                <a:solidFill>
                  <a:srgbClr val="666666"/>
                </a:solidFill>
                <a:latin typeface="MS PGothic"/>
                <a:cs typeface="MS PGothic"/>
              </a:rPr>
              <a:t>の</a:t>
            </a:r>
            <a:r>
              <a:rPr dirty="0" sz="650" spc="-60">
                <a:solidFill>
                  <a:srgbClr val="666666"/>
                </a:solidFill>
                <a:latin typeface="SimSun"/>
                <a:cs typeface="SimSun"/>
              </a:rPr>
              <a:t>選択的強調</a:t>
            </a:r>
            <a:endParaRPr sz="650">
              <a:latin typeface="SimSun"/>
              <a:cs typeface="SimSu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4560937" y="7847458"/>
            <a:ext cx="631825" cy="39306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dirty="0" sz="850" spc="-100" b="1">
                <a:solidFill>
                  <a:srgbClr val="2E7D32"/>
                </a:solidFill>
                <a:latin typeface="Malgun Gothic"/>
                <a:cs typeface="Malgun Gothic"/>
              </a:rPr>
              <a:t>自動最適化</a:t>
            </a:r>
            <a:endParaRPr sz="850">
              <a:latin typeface="Malgun Gothic"/>
              <a:cs typeface="Malgun Gothic"/>
            </a:endParaRPr>
          </a:p>
          <a:p>
            <a:pPr algn="ctr" marL="12700" marR="5080">
              <a:lnSpc>
                <a:spcPts val="680"/>
              </a:lnSpc>
              <a:spcBef>
                <a:spcPts val="340"/>
              </a:spcBef>
            </a:pPr>
            <a:r>
              <a:rPr dirty="0" sz="700" spc="-114">
                <a:solidFill>
                  <a:srgbClr val="666666"/>
                </a:solidFill>
                <a:latin typeface="Microsoft Sans Serif"/>
                <a:cs typeface="Microsoft Sans Serif"/>
              </a:rPr>
              <a:t>SNR</a:t>
            </a:r>
            <a:r>
              <a:rPr dirty="0" sz="650" spc="-60">
                <a:solidFill>
                  <a:srgbClr val="666666"/>
                </a:solidFill>
                <a:latin typeface="SimSun"/>
                <a:cs typeface="SimSun"/>
              </a:rPr>
              <a:t>条件</a:t>
            </a:r>
            <a:r>
              <a:rPr dirty="0" sz="650" spc="-20">
                <a:solidFill>
                  <a:srgbClr val="666666"/>
                </a:solidFill>
                <a:latin typeface="MS PGothic"/>
                <a:cs typeface="MS PGothic"/>
              </a:rPr>
              <a:t>に</a:t>
            </a:r>
            <a:r>
              <a:rPr dirty="0" sz="650" spc="-60">
                <a:solidFill>
                  <a:srgbClr val="666666"/>
                </a:solidFill>
                <a:latin typeface="SimSun"/>
                <a:cs typeface="SimSun"/>
              </a:rPr>
              <a:t>応</a:t>
            </a:r>
            <a:r>
              <a:rPr dirty="0" sz="650" spc="20">
                <a:solidFill>
                  <a:srgbClr val="666666"/>
                </a:solidFill>
                <a:latin typeface="MS PGothic"/>
                <a:cs typeface="MS PGothic"/>
              </a:rPr>
              <a:t>じた</a:t>
            </a:r>
            <a:r>
              <a:rPr dirty="0" sz="650" spc="-60">
                <a:solidFill>
                  <a:srgbClr val="666666"/>
                </a:solidFill>
                <a:latin typeface="SimSun"/>
                <a:cs typeface="SimSun"/>
              </a:rPr>
              <a:t>適応的処理</a:t>
            </a:r>
            <a:endParaRPr sz="650">
              <a:latin typeface="SimSun"/>
              <a:cs typeface="SimSu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532737" y="7847458"/>
            <a:ext cx="555625" cy="39306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86995">
              <a:lnSpc>
                <a:spcPct val="100000"/>
              </a:lnSpc>
              <a:spcBef>
                <a:spcPts val="280"/>
              </a:spcBef>
            </a:pPr>
            <a:r>
              <a:rPr dirty="0" sz="850" spc="-100" b="1">
                <a:solidFill>
                  <a:srgbClr val="2E7D32"/>
                </a:solidFill>
                <a:latin typeface="Malgun Gothic"/>
                <a:cs typeface="Malgun Gothic"/>
              </a:rPr>
              <a:t>精度向上</a:t>
            </a:r>
            <a:endParaRPr sz="850">
              <a:latin typeface="Malgun Gothic"/>
              <a:cs typeface="Malgun Gothic"/>
            </a:endParaRPr>
          </a:p>
          <a:p>
            <a:pPr marL="48895" marR="5080" indent="-36830">
              <a:lnSpc>
                <a:spcPts val="680"/>
              </a:lnSpc>
              <a:spcBef>
                <a:spcPts val="340"/>
              </a:spcBef>
            </a:pPr>
            <a:r>
              <a:rPr dirty="0" sz="650" spc="-60">
                <a:solidFill>
                  <a:srgbClr val="666666"/>
                </a:solidFill>
                <a:latin typeface="SimSun"/>
                <a:cs typeface="SimSun"/>
              </a:rPr>
              <a:t>低</a:t>
            </a:r>
            <a:r>
              <a:rPr dirty="0" sz="700" spc="-114">
                <a:solidFill>
                  <a:srgbClr val="666666"/>
                </a:solidFill>
                <a:latin typeface="Microsoft Sans Serif"/>
                <a:cs typeface="Microsoft Sans Serif"/>
              </a:rPr>
              <a:t>SNR</a:t>
            </a:r>
            <a:r>
              <a:rPr dirty="0" sz="650" spc="-60">
                <a:solidFill>
                  <a:srgbClr val="666666"/>
                </a:solidFill>
                <a:latin typeface="SimSun"/>
                <a:cs typeface="SimSun"/>
              </a:rPr>
              <a:t>環境</a:t>
            </a:r>
            <a:r>
              <a:rPr dirty="0" sz="650" spc="-30">
                <a:solidFill>
                  <a:srgbClr val="666666"/>
                </a:solidFill>
                <a:latin typeface="MS PGothic"/>
                <a:cs typeface="MS PGothic"/>
              </a:rPr>
              <a:t>での</a:t>
            </a:r>
            <a:r>
              <a:rPr dirty="0" sz="650" spc="25">
                <a:solidFill>
                  <a:srgbClr val="666666"/>
                </a:solidFill>
                <a:latin typeface="MS PGothic"/>
                <a:cs typeface="MS PGothic"/>
              </a:rPr>
              <a:t>ロバスト</a:t>
            </a:r>
            <a:r>
              <a:rPr dirty="0" sz="650" spc="-55">
                <a:solidFill>
                  <a:srgbClr val="666666"/>
                </a:solidFill>
                <a:latin typeface="SimSun"/>
                <a:cs typeface="SimSun"/>
              </a:rPr>
              <a:t>予測</a:t>
            </a:r>
            <a:endParaRPr sz="650">
              <a:latin typeface="SimSun"/>
              <a:cs typeface="SimSu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54049" y="6015005"/>
            <a:ext cx="716280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-80" b="1">
                <a:solidFill>
                  <a:srgbClr val="FFFFFF"/>
                </a:solidFill>
                <a:latin typeface="Arial"/>
                <a:cs typeface="Arial"/>
              </a:rPr>
              <a:t>SNR</a:t>
            </a:r>
            <a:r>
              <a:rPr dirty="0" sz="750" spc="-75" b="1">
                <a:solidFill>
                  <a:srgbClr val="FFFFFF"/>
                </a:solidFill>
                <a:latin typeface="Malgun Gothic"/>
                <a:cs typeface="Malgun Gothic"/>
              </a:rPr>
              <a:t>改善への</a:t>
            </a:r>
            <a:r>
              <a:rPr dirty="0" sz="750" spc="-75" b="1">
                <a:solidFill>
                  <a:srgbClr val="FFFFFF"/>
                </a:solidFill>
                <a:latin typeface="Microsoft JhengHei"/>
                <a:cs typeface="Microsoft JhengHei"/>
              </a:rPr>
              <a:t>応</a:t>
            </a:r>
            <a:r>
              <a:rPr dirty="0" sz="750" spc="-50" b="1">
                <a:solidFill>
                  <a:srgbClr val="FFFFFF"/>
                </a:solidFill>
                <a:latin typeface="Malgun Gothic"/>
                <a:cs typeface="Malgun Gothic"/>
              </a:rPr>
              <a:t>用</a:t>
            </a:r>
            <a:endParaRPr sz="750">
              <a:latin typeface="Malgun Gothic"/>
              <a:cs typeface="Malgun Gothic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8536334" y="8348881"/>
            <a:ext cx="969644" cy="187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050" spc="-80">
                <a:solidFill>
                  <a:srgbClr val="FFFFFF"/>
                </a:solidFill>
                <a:latin typeface="Arial MT"/>
                <a:cs typeface="Arial MT"/>
              </a:rPr>
              <a:t>Genspark</a:t>
            </a:r>
            <a:r>
              <a:rPr dirty="0" sz="10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505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dirty="0" baseline="-25000" sz="1500" spc="-225">
                <a:solidFill>
                  <a:srgbClr val="666666"/>
                </a:solidFill>
                <a:latin typeface="Tahoma"/>
                <a:cs typeface="Tahoma"/>
              </a:rPr>
              <a:t>1</a:t>
            </a:r>
            <a:r>
              <a:rPr dirty="0" sz="1000" spc="-905">
                <a:solidFill>
                  <a:srgbClr val="FFFFFF"/>
                </a:solidFill>
                <a:latin typeface="SimSun"/>
                <a:cs typeface="SimSun"/>
              </a:rPr>
              <a:t>作</a:t>
            </a:r>
            <a:r>
              <a:rPr dirty="0" baseline="-25000" sz="1500" spc="-112">
                <a:solidFill>
                  <a:srgbClr val="666666"/>
                </a:solidFill>
                <a:latin typeface="Tahoma"/>
                <a:cs typeface="Tahoma"/>
              </a:rPr>
              <a:t>2/</a:t>
            </a:r>
            <a:r>
              <a:rPr dirty="0" sz="1000" spc="-950">
                <a:solidFill>
                  <a:srgbClr val="FFFFFF"/>
                </a:solidFill>
                <a:latin typeface="SimSun"/>
                <a:cs typeface="SimSun"/>
              </a:rPr>
              <a:t>成</a:t>
            </a:r>
            <a:r>
              <a:rPr dirty="0" baseline="-25000" sz="1500" spc="-37">
                <a:solidFill>
                  <a:srgbClr val="666666"/>
                </a:solidFill>
                <a:latin typeface="Tahoma"/>
                <a:cs typeface="Tahoma"/>
              </a:rPr>
              <a:t>13</a:t>
            </a:r>
            <a:endParaRPr baseline="-25000"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3374" y="733425"/>
            <a:ext cx="9086850" cy="38100"/>
          </a:xfrm>
          <a:custGeom>
            <a:avLst/>
            <a:gdLst/>
            <a:ahLst/>
            <a:cxnLst/>
            <a:rect l="l" t="t" r="r" b="b"/>
            <a:pathLst>
              <a:path w="9086850" h="38100">
                <a:moveTo>
                  <a:pt x="9086849" y="38099"/>
                </a:moveTo>
                <a:lnTo>
                  <a:pt x="0" y="38099"/>
                </a:lnTo>
                <a:lnTo>
                  <a:pt x="0" y="0"/>
                </a:lnTo>
                <a:lnTo>
                  <a:pt x="9086849" y="0"/>
                </a:lnTo>
                <a:lnTo>
                  <a:pt x="9086849" y="38099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590925" y="323850"/>
            <a:ext cx="233679" cy="266700"/>
          </a:xfrm>
          <a:custGeom>
            <a:avLst/>
            <a:gdLst/>
            <a:ahLst/>
            <a:cxnLst/>
            <a:rect l="l" t="t" r="r" b="b"/>
            <a:pathLst>
              <a:path w="233679" h="266700">
                <a:moveTo>
                  <a:pt x="25888" y="266700"/>
                </a:moveTo>
                <a:lnTo>
                  <a:pt x="7448" y="266700"/>
                </a:lnTo>
                <a:lnTo>
                  <a:pt x="0" y="259251"/>
                </a:lnTo>
                <a:lnTo>
                  <a:pt x="0" y="7448"/>
                </a:lnTo>
                <a:lnTo>
                  <a:pt x="7448" y="0"/>
                </a:lnTo>
                <a:lnTo>
                  <a:pt x="25888" y="0"/>
                </a:lnTo>
                <a:lnTo>
                  <a:pt x="33337" y="7448"/>
                </a:lnTo>
                <a:lnTo>
                  <a:pt x="33337" y="25003"/>
                </a:lnTo>
                <a:lnTo>
                  <a:pt x="135156" y="25003"/>
                </a:lnTo>
                <a:lnTo>
                  <a:pt x="147157" y="29352"/>
                </a:lnTo>
                <a:lnTo>
                  <a:pt x="166713" y="31618"/>
                </a:lnTo>
                <a:lnTo>
                  <a:pt x="232616" y="31618"/>
                </a:lnTo>
                <a:lnTo>
                  <a:pt x="233362" y="34431"/>
                </a:lnTo>
                <a:lnTo>
                  <a:pt x="233362" y="47766"/>
                </a:lnTo>
                <a:lnTo>
                  <a:pt x="100012" y="47766"/>
                </a:lnTo>
                <a:lnTo>
                  <a:pt x="100012" y="51048"/>
                </a:lnTo>
                <a:lnTo>
                  <a:pt x="66675" y="51048"/>
                </a:lnTo>
                <a:lnTo>
                  <a:pt x="33337" y="59382"/>
                </a:lnTo>
                <a:lnTo>
                  <a:pt x="33337" y="97460"/>
                </a:lnTo>
                <a:lnTo>
                  <a:pt x="66675" y="97460"/>
                </a:lnTo>
                <a:lnTo>
                  <a:pt x="66675" y="124338"/>
                </a:lnTo>
                <a:lnTo>
                  <a:pt x="33337" y="131578"/>
                </a:lnTo>
                <a:lnTo>
                  <a:pt x="33337" y="165645"/>
                </a:lnTo>
                <a:lnTo>
                  <a:pt x="166686" y="165645"/>
                </a:lnTo>
                <a:lnTo>
                  <a:pt x="166687" y="174813"/>
                </a:lnTo>
                <a:lnTo>
                  <a:pt x="165150" y="174813"/>
                </a:lnTo>
                <a:lnTo>
                  <a:pt x="173269" y="175088"/>
                </a:lnTo>
                <a:lnTo>
                  <a:pt x="233362" y="175088"/>
                </a:lnTo>
                <a:lnTo>
                  <a:pt x="233362" y="187054"/>
                </a:lnTo>
                <a:lnTo>
                  <a:pt x="231929" y="189126"/>
                </a:lnTo>
                <a:lnTo>
                  <a:pt x="83079" y="189126"/>
                </a:lnTo>
                <a:lnTo>
                  <a:pt x="66831" y="191690"/>
                </a:lnTo>
                <a:lnTo>
                  <a:pt x="33337" y="200025"/>
                </a:lnTo>
                <a:lnTo>
                  <a:pt x="33337" y="259251"/>
                </a:lnTo>
                <a:lnTo>
                  <a:pt x="25888" y="266700"/>
                </a:lnTo>
                <a:close/>
              </a:path>
              <a:path w="233679" h="266700">
                <a:moveTo>
                  <a:pt x="135156" y="25003"/>
                </a:moveTo>
                <a:lnTo>
                  <a:pt x="33337" y="25003"/>
                </a:lnTo>
                <a:lnTo>
                  <a:pt x="69279" y="16043"/>
                </a:lnTo>
                <a:lnTo>
                  <a:pt x="84311" y="13684"/>
                </a:lnTo>
                <a:lnTo>
                  <a:pt x="99406" y="14005"/>
                </a:lnTo>
                <a:lnTo>
                  <a:pt x="114219" y="16973"/>
                </a:lnTo>
                <a:lnTo>
                  <a:pt x="128401" y="22554"/>
                </a:lnTo>
                <a:lnTo>
                  <a:pt x="135156" y="25003"/>
                </a:lnTo>
                <a:close/>
              </a:path>
              <a:path w="233679" h="266700">
                <a:moveTo>
                  <a:pt x="232616" y="31618"/>
                </a:moveTo>
                <a:lnTo>
                  <a:pt x="166713" y="31618"/>
                </a:lnTo>
                <a:lnTo>
                  <a:pt x="186270" y="29352"/>
                </a:lnTo>
                <a:lnTo>
                  <a:pt x="205025" y="22554"/>
                </a:lnTo>
                <a:lnTo>
                  <a:pt x="210026" y="20054"/>
                </a:lnTo>
                <a:lnTo>
                  <a:pt x="218199" y="18330"/>
                </a:lnTo>
                <a:lnTo>
                  <a:pt x="225718" y="20718"/>
                </a:lnTo>
                <a:lnTo>
                  <a:pt x="231225" y="26368"/>
                </a:lnTo>
                <a:lnTo>
                  <a:pt x="232616" y="31618"/>
                </a:lnTo>
                <a:close/>
              </a:path>
              <a:path w="233679" h="266700">
                <a:moveTo>
                  <a:pt x="233362" y="101783"/>
                </a:moveTo>
                <a:lnTo>
                  <a:pt x="173927" y="101783"/>
                </a:lnTo>
                <a:lnTo>
                  <a:pt x="181272" y="101314"/>
                </a:lnTo>
                <a:lnTo>
                  <a:pt x="200025" y="96991"/>
                </a:lnTo>
                <a:lnTo>
                  <a:pt x="200025" y="60111"/>
                </a:lnTo>
                <a:lnTo>
                  <a:pt x="133171" y="60111"/>
                </a:lnTo>
                <a:lnTo>
                  <a:pt x="126578" y="58184"/>
                </a:lnTo>
                <a:lnTo>
                  <a:pt x="119910" y="55579"/>
                </a:lnTo>
                <a:lnTo>
                  <a:pt x="109180" y="50214"/>
                </a:lnTo>
                <a:lnTo>
                  <a:pt x="104648" y="48704"/>
                </a:lnTo>
                <a:lnTo>
                  <a:pt x="100012" y="47766"/>
                </a:lnTo>
                <a:lnTo>
                  <a:pt x="233362" y="47766"/>
                </a:lnTo>
                <a:lnTo>
                  <a:pt x="233362" y="101783"/>
                </a:lnTo>
                <a:close/>
              </a:path>
              <a:path w="233679" h="266700">
                <a:moveTo>
                  <a:pt x="66675" y="90219"/>
                </a:moveTo>
                <a:lnTo>
                  <a:pt x="66675" y="51048"/>
                </a:lnTo>
                <a:lnTo>
                  <a:pt x="100012" y="51048"/>
                </a:lnTo>
                <a:lnTo>
                  <a:pt x="100012" y="85271"/>
                </a:lnTo>
                <a:lnTo>
                  <a:pt x="93240" y="85271"/>
                </a:lnTo>
                <a:lnTo>
                  <a:pt x="86469" y="85896"/>
                </a:lnTo>
                <a:lnTo>
                  <a:pt x="66675" y="90219"/>
                </a:lnTo>
                <a:close/>
              </a:path>
              <a:path w="233679" h="266700">
                <a:moveTo>
                  <a:pt x="166687" y="101054"/>
                </a:moveTo>
                <a:lnTo>
                  <a:pt x="162624" y="100637"/>
                </a:lnTo>
                <a:lnTo>
                  <a:pt x="158561" y="99856"/>
                </a:lnTo>
                <a:lnTo>
                  <a:pt x="133349" y="92459"/>
                </a:lnTo>
                <a:lnTo>
                  <a:pt x="133349" y="60111"/>
                </a:lnTo>
                <a:lnTo>
                  <a:pt x="200025" y="60111"/>
                </a:lnTo>
                <a:lnTo>
                  <a:pt x="191805" y="62192"/>
                </a:lnTo>
                <a:lnTo>
                  <a:pt x="183492" y="63673"/>
                </a:lnTo>
                <a:lnTo>
                  <a:pt x="175112" y="64558"/>
                </a:lnTo>
                <a:lnTo>
                  <a:pt x="166687" y="64851"/>
                </a:lnTo>
                <a:lnTo>
                  <a:pt x="166687" y="101054"/>
                </a:lnTo>
                <a:close/>
              </a:path>
              <a:path w="233679" h="266700">
                <a:moveTo>
                  <a:pt x="100012" y="85479"/>
                </a:moveTo>
                <a:lnTo>
                  <a:pt x="93240" y="85271"/>
                </a:lnTo>
                <a:lnTo>
                  <a:pt x="100012" y="85271"/>
                </a:lnTo>
                <a:lnTo>
                  <a:pt x="100012" y="85479"/>
                </a:lnTo>
                <a:close/>
              </a:path>
              <a:path w="233679" h="266700">
                <a:moveTo>
                  <a:pt x="133350" y="127203"/>
                </a:moveTo>
                <a:lnTo>
                  <a:pt x="107825" y="119702"/>
                </a:lnTo>
                <a:lnTo>
                  <a:pt x="103919" y="119025"/>
                </a:lnTo>
                <a:lnTo>
                  <a:pt x="100012" y="118816"/>
                </a:lnTo>
                <a:lnTo>
                  <a:pt x="100012" y="85479"/>
                </a:lnTo>
                <a:lnTo>
                  <a:pt x="98241" y="85479"/>
                </a:lnTo>
                <a:lnTo>
                  <a:pt x="107096" y="85739"/>
                </a:lnTo>
                <a:lnTo>
                  <a:pt x="114180" y="86885"/>
                </a:lnTo>
                <a:lnTo>
                  <a:pt x="133350" y="92459"/>
                </a:lnTo>
                <a:lnTo>
                  <a:pt x="133350" y="127203"/>
                </a:lnTo>
                <a:close/>
              </a:path>
              <a:path w="233679" h="266700">
                <a:moveTo>
                  <a:pt x="66675" y="97460"/>
                </a:moveTo>
                <a:lnTo>
                  <a:pt x="33337" y="97460"/>
                </a:lnTo>
                <a:lnTo>
                  <a:pt x="66675" y="90219"/>
                </a:lnTo>
                <a:lnTo>
                  <a:pt x="66675" y="97460"/>
                </a:lnTo>
                <a:close/>
              </a:path>
              <a:path w="233679" h="266700">
                <a:moveTo>
                  <a:pt x="174037" y="134708"/>
                </a:moveTo>
                <a:lnTo>
                  <a:pt x="163308" y="134398"/>
                </a:lnTo>
                <a:lnTo>
                  <a:pt x="166689" y="134398"/>
                </a:lnTo>
                <a:lnTo>
                  <a:pt x="166687" y="101054"/>
                </a:lnTo>
                <a:lnTo>
                  <a:pt x="173927" y="101783"/>
                </a:lnTo>
                <a:lnTo>
                  <a:pt x="233362" y="101783"/>
                </a:lnTo>
                <a:lnTo>
                  <a:pt x="233362" y="131214"/>
                </a:lnTo>
                <a:lnTo>
                  <a:pt x="200025" y="131214"/>
                </a:lnTo>
                <a:lnTo>
                  <a:pt x="195909" y="132151"/>
                </a:lnTo>
                <a:lnTo>
                  <a:pt x="188677" y="133551"/>
                </a:lnTo>
                <a:lnTo>
                  <a:pt x="181376" y="134398"/>
                </a:lnTo>
                <a:lnTo>
                  <a:pt x="174037" y="134708"/>
                </a:lnTo>
                <a:close/>
              </a:path>
              <a:path w="233679" h="266700">
                <a:moveTo>
                  <a:pt x="166686" y="165645"/>
                </a:moveTo>
                <a:lnTo>
                  <a:pt x="33337" y="165645"/>
                </a:lnTo>
                <a:lnTo>
                  <a:pt x="61413" y="158613"/>
                </a:lnTo>
                <a:lnTo>
                  <a:pt x="64018" y="158040"/>
                </a:lnTo>
                <a:lnTo>
                  <a:pt x="66675" y="157571"/>
                </a:lnTo>
                <a:lnTo>
                  <a:pt x="66675" y="124338"/>
                </a:lnTo>
                <a:lnTo>
                  <a:pt x="91261" y="119025"/>
                </a:lnTo>
                <a:lnTo>
                  <a:pt x="95636" y="118660"/>
                </a:lnTo>
                <a:lnTo>
                  <a:pt x="98918" y="118816"/>
                </a:lnTo>
                <a:lnTo>
                  <a:pt x="100012" y="118816"/>
                </a:lnTo>
                <a:lnTo>
                  <a:pt x="100012" y="156009"/>
                </a:lnTo>
                <a:lnTo>
                  <a:pt x="108495" y="157034"/>
                </a:lnTo>
                <a:lnTo>
                  <a:pt x="116827" y="158613"/>
                </a:lnTo>
                <a:lnTo>
                  <a:pt x="125188" y="160785"/>
                </a:lnTo>
                <a:lnTo>
                  <a:pt x="133350" y="163510"/>
                </a:lnTo>
                <a:lnTo>
                  <a:pt x="166686" y="163510"/>
                </a:lnTo>
                <a:lnTo>
                  <a:pt x="166686" y="165645"/>
                </a:lnTo>
                <a:close/>
              </a:path>
              <a:path w="233679" h="266700">
                <a:moveTo>
                  <a:pt x="166686" y="163510"/>
                </a:moveTo>
                <a:lnTo>
                  <a:pt x="133350" y="163510"/>
                </a:lnTo>
                <a:lnTo>
                  <a:pt x="133350" y="127203"/>
                </a:lnTo>
                <a:lnTo>
                  <a:pt x="152206" y="132777"/>
                </a:lnTo>
                <a:lnTo>
                  <a:pt x="159394" y="134027"/>
                </a:lnTo>
                <a:lnTo>
                  <a:pt x="164590" y="134398"/>
                </a:lnTo>
                <a:lnTo>
                  <a:pt x="166683" y="134398"/>
                </a:lnTo>
                <a:lnTo>
                  <a:pt x="166686" y="163510"/>
                </a:lnTo>
                <a:close/>
              </a:path>
              <a:path w="233679" h="266700">
                <a:moveTo>
                  <a:pt x="233362" y="175088"/>
                </a:moveTo>
                <a:lnTo>
                  <a:pt x="173269" y="175088"/>
                </a:lnTo>
                <a:lnTo>
                  <a:pt x="179846" y="174579"/>
                </a:lnTo>
                <a:lnTo>
                  <a:pt x="186355" y="173327"/>
                </a:lnTo>
                <a:lnTo>
                  <a:pt x="192732" y="171323"/>
                </a:lnTo>
                <a:lnTo>
                  <a:pt x="200025" y="168614"/>
                </a:lnTo>
                <a:lnTo>
                  <a:pt x="200025" y="131214"/>
                </a:lnTo>
                <a:lnTo>
                  <a:pt x="233362" y="131214"/>
                </a:lnTo>
                <a:lnTo>
                  <a:pt x="233362" y="175088"/>
                </a:lnTo>
                <a:close/>
              </a:path>
              <a:path w="233679" h="266700">
                <a:moveTo>
                  <a:pt x="167136" y="208274"/>
                </a:moveTo>
                <a:lnTo>
                  <a:pt x="148481" y="205374"/>
                </a:lnTo>
                <a:lnTo>
                  <a:pt x="130641" y="198670"/>
                </a:lnTo>
                <a:lnTo>
                  <a:pt x="115360" y="192650"/>
                </a:lnTo>
                <a:lnTo>
                  <a:pt x="99380" y="189457"/>
                </a:lnTo>
                <a:lnTo>
                  <a:pt x="83079" y="189126"/>
                </a:lnTo>
                <a:lnTo>
                  <a:pt x="231929" y="189126"/>
                </a:lnTo>
                <a:lnTo>
                  <a:pt x="229039" y="193305"/>
                </a:lnTo>
                <a:lnTo>
                  <a:pt x="204452" y="202525"/>
                </a:lnTo>
                <a:lnTo>
                  <a:pt x="185997" y="207336"/>
                </a:lnTo>
                <a:lnTo>
                  <a:pt x="167136" y="208274"/>
                </a:lnTo>
                <a:close/>
              </a:path>
            </a:pathLst>
          </a:custGeom>
          <a:solidFill>
            <a:srgbClr val="3A6E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15598" y="238379"/>
            <a:ext cx="2159635" cy="38735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50" spc="-270"/>
              <a:t>結論と今後の展望</a:t>
            </a:r>
            <a:endParaRPr sz="2350"/>
          </a:p>
        </p:txBody>
      </p:sp>
      <p:grpSp>
        <p:nvGrpSpPr>
          <p:cNvPr id="5" name="object 5" descr=""/>
          <p:cNvGrpSpPr/>
          <p:nvPr/>
        </p:nvGrpSpPr>
        <p:grpSpPr>
          <a:xfrm>
            <a:off x="333374" y="962024"/>
            <a:ext cx="9086850" cy="781050"/>
            <a:chOff x="333374" y="962024"/>
            <a:chExt cx="9086850" cy="78105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374" y="962024"/>
              <a:ext cx="9086849" cy="78104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1799" y="1152524"/>
              <a:ext cx="190500" cy="16933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7491" y="962024"/>
              <a:ext cx="972733" cy="781049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3066256" y="1002975"/>
            <a:ext cx="3732529" cy="59055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132715">
              <a:lnSpc>
                <a:spcPct val="100000"/>
              </a:lnSpc>
              <a:spcBef>
                <a:spcPts val="875"/>
              </a:spcBef>
            </a:pPr>
            <a:r>
              <a:rPr dirty="0" sz="1500" spc="-150" b="1">
                <a:solidFill>
                  <a:srgbClr val="FFFFFF"/>
                </a:solidFill>
                <a:latin typeface="Microsoft JhengHei"/>
                <a:cs typeface="Microsoft JhengHei"/>
              </a:rPr>
              <a:t>自</a:t>
            </a:r>
            <a:r>
              <a:rPr dirty="0" sz="1500" spc="-150" b="1">
                <a:solidFill>
                  <a:srgbClr val="FFFFFF"/>
                </a:solidFill>
                <a:latin typeface="Malgun Gothic"/>
                <a:cs typeface="Malgun Gothic"/>
              </a:rPr>
              <a:t>己注意機構</a:t>
            </a:r>
            <a:r>
              <a:rPr dirty="0" sz="1500" spc="-170" b="1">
                <a:solidFill>
                  <a:srgbClr val="FFFFFF"/>
                </a:solidFill>
                <a:latin typeface="Microsoft JhengHei"/>
                <a:cs typeface="Microsoft JhengHei"/>
              </a:rPr>
              <a:t>による</a:t>
            </a:r>
            <a:r>
              <a:rPr dirty="0" sz="1500" spc="-150" b="1">
                <a:solidFill>
                  <a:srgbClr val="FFFFFF"/>
                </a:solidFill>
                <a:latin typeface="Malgun Gothic"/>
                <a:cs typeface="Malgun Gothic"/>
              </a:rPr>
              <a:t>周波</a:t>
            </a:r>
            <a:r>
              <a:rPr dirty="0" sz="1500" spc="-170" b="1">
                <a:solidFill>
                  <a:srgbClr val="FFFFFF"/>
                </a:solidFill>
                <a:latin typeface="Microsoft JhengHei"/>
                <a:cs typeface="Microsoft JhengHei"/>
              </a:rPr>
              <a:t>数パターン</a:t>
            </a:r>
            <a:r>
              <a:rPr dirty="0" sz="1500" spc="-150" b="1">
                <a:solidFill>
                  <a:srgbClr val="FFFFFF"/>
                </a:solidFill>
                <a:latin typeface="Malgun Gothic"/>
                <a:cs typeface="Malgun Gothic"/>
              </a:rPr>
              <a:t>解析</a:t>
            </a:r>
            <a:r>
              <a:rPr dirty="0" sz="1500" spc="-150" b="1">
                <a:solidFill>
                  <a:srgbClr val="FFFFFF"/>
                </a:solidFill>
                <a:latin typeface="Microsoft JhengHei"/>
                <a:cs typeface="Microsoft JhengHei"/>
              </a:rPr>
              <a:t>の</a:t>
            </a:r>
            <a:r>
              <a:rPr dirty="0" sz="1500" spc="-125" b="1">
                <a:solidFill>
                  <a:srgbClr val="FFFFFF"/>
                </a:solidFill>
                <a:latin typeface="Malgun Gothic"/>
                <a:cs typeface="Malgun Gothic"/>
              </a:rPr>
              <a:t>成果</a:t>
            </a:r>
            <a:endParaRPr sz="15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050" spc="-85">
                <a:solidFill>
                  <a:srgbClr val="FFFFFF"/>
                </a:solidFill>
                <a:latin typeface="Arial MT"/>
                <a:cs typeface="Arial MT"/>
              </a:rPr>
              <a:t>ASD-</a:t>
            </a:r>
            <a:r>
              <a:rPr dirty="0" sz="1050" spc="-105">
                <a:solidFill>
                  <a:srgbClr val="FFFFFF"/>
                </a:solidFill>
                <a:latin typeface="Arial MT"/>
                <a:cs typeface="Arial MT"/>
              </a:rPr>
              <a:t>AFPA</a:t>
            </a:r>
            <a:r>
              <a:rPr dirty="0" sz="1050" spc="20">
                <a:solidFill>
                  <a:srgbClr val="FFFFFF"/>
                </a:solidFill>
                <a:latin typeface="Arial MT"/>
                <a:cs typeface="Arial MT"/>
              </a:rPr>
              <a:t>: </a:t>
            </a:r>
            <a:r>
              <a:rPr dirty="0" sz="1100" spc="-140">
                <a:solidFill>
                  <a:srgbClr val="FFFFFF"/>
                </a:solidFill>
                <a:latin typeface="SimSun"/>
                <a:cs typeface="SimSun"/>
              </a:rPr>
              <a:t>異常音検知性能向上と</a:t>
            </a:r>
            <a:r>
              <a:rPr dirty="0" sz="1050" spc="-120">
                <a:solidFill>
                  <a:srgbClr val="FFFFFF"/>
                </a:solidFill>
                <a:latin typeface="Arial MT"/>
                <a:cs typeface="Arial MT"/>
              </a:rPr>
              <a:t>SNR</a:t>
            </a:r>
            <a:r>
              <a:rPr dirty="0" sz="1100" spc="-135">
                <a:solidFill>
                  <a:srgbClr val="FFFFFF"/>
                </a:solidFill>
                <a:latin typeface="SimSun"/>
                <a:cs typeface="SimSun"/>
              </a:rPr>
              <a:t>改善技術への新たな可能性</a:t>
            </a:r>
            <a:endParaRPr sz="1100">
              <a:latin typeface="SimSun"/>
              <a:cs typeface="SimSun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33374" y="1914524"/>
            <a:ext cx="5867400" cy="5048250"/>
            <a:chOff x="333374" y="1914524"/>
            <a:chExt cx="5867400" cy="5048250"/>
          </a:xfrm>
        </p:grpSpPr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1949" y="2009774"/>
              <a:ext cx="5810249" cy="4924424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47662" y="1995487"/>
              <a:ext cx="5838825" cy="4953000"/>
            </a:xfrm>
            <a:custGeom>
              <a:avLst/>
              <a:gdLst/>
              <a:ahLst/>
              <a:cxnLst/>
              <a:rect l="l" t="t" r="r" b="b"/>
              <a:pathLst>
                <a:path w="5838825" h="4953000">
                  <a:moveTo>
                    <a:pt x="0" y="4824412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1"/>
                  </a:lnTo>
                  <a:lnTo>
                    <a:pt x="2470" y="103500"/>
                  </a:lnTo>
                  <a:lnTo>
                    <a:pt x="4117" y="95219"/>
                  </a:lnTo>
                  <a:lnTo>
                    <a:pt x="6557" y="87179"/>
                  </a:lnTo>
                  <a:lnTo>
                    <a:pt x="9788" y="79378"/>
                  </a:lnTo>
                  <a:lnTo>
                    <a:pt x="13019" y="71578"/>
                  </a:lnTo>
                  <a:lnTo>
                    <a:pt x="16980" y="64168"/>
                  </a:lnTo>
                  <a:lnTo>
                    <a:pt x="21670" y="57147"/>
                  </a:lnTo>
                  <a:lnTo>
                    <a:pt x="26361" y="50127"/>
                  </a:lnTo>
                  <a:lnTo>
                    <a:pt x="31692" y="43632"/>
                  </a:lnTo>
                  <a:lnTo>
                    <a:pt x="37662" y="37662"/>
                  </a:lnTo>
                  <a:lnTo>
                    <a:pt x="43632" y="31691"/>
                  </a:lnTo>
                  <a:lnTo>
                    <a:pt x="50127" y="26361"/>
                  </a:lnTo>
                  <a:lnTo>
                    <a:pt x="57148" y="21670"/>
                  </a:lnTo>
                  <a:lnTo>
                    <a:pt x="64168" y="16979"/>
                  </a:lnTo>
                  <a:lnTo>
                    <a:pt x="103501" y="2470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5710237" y="0"/>
                  </a:lnTo>
                  <a:lnTo>
                    <a:pt x="5718680" y="0"/>
                  </a:lnTo>
                  <a:lnTo>
                    <a:pt x="5727041" y="823"/>
                  </a:lnTo>
                  <a:lnTo>
                    <a:pt x="5767245" y="13018"/>
                  </a:lnTo>
                  <a:lnTo>
                    <a:pt x="5781675" y="21670"/>
                  </a:lnTo>
                  <a:lnTo>
                    <a:pt x="5788695" y="26361"/>
                  </a:lnTo>
                  <a:lnTo>
                    <a:pt x="5817152" y="57147"/>
                  </a:lnTo>
                  <a:lnTo>
                    <a:pt x="5829035" y="79379"/>
                  </a:lnTo>
                  <a:lnTo>
                    <a:pt x="5832266" y="87179"/>
                  </a:lnTo>
                  <a:lnTo>
                    <a:pt x="5834706" y="95220"/>
                  </a:lnTo>
                  <a:lnTo>
                    <a:pt x="5836353" y="103501"/>
                  </a:lnTo>
                  <a:lnTo>
                    <a:pt x="5838000" y="111782"/>
                  </a:lnTo>
                  <a:lnTo>
                    <a:pt x="5838824" y="120144"/>
                  </a:lnTo>
                  <a:lnTo>
                    <a:pt x="5838824" y="128587"/>
                  </a:lnTo>
                  <a:lnTo>
                    <a:pt x="5838824" y="4824412"/>
                  </a:lnTo>
                  <a:lnTo>
                    <a:pt x="5838824" y="4832855"/>
                  </a:lnTo>
                  <a:lnTo>
                    <a:pt x="5838000" y="4841216"/>
                  </a:lnTo>
                  <a:lnTo>
                    <a:pt x="5836353" y="4849497"/>
                  </a:lnTo>
                  <a:lnTo>
                    <a:pt x="5834706" y="4857778"/>
                  </a:lnTo>
                  <a:lnTo>
                    <a:pt x="5832266" y="4865818"/>
                  </a:lnTo>
                  <a:lnTo>
                    <a:pt x="5829035" y="4873619"/>
                  </a:lnTo>
                  <a:lnTo>
                    <a:pt x="5825805" y="4881420"/>
                  </a:lnTo>
                  <a:lnTo>
                    <a:pt x="5821843" y="4888830"/>
                  </a:lnTo>
                  <a:lnTo>
                    <a:pt x="5817152" y="4895850"/>
                  </a:lnTo>
                  <a:lnTo>
                    <a:pt x="5812461" y="4902871"/>
                  </a:lnTo>
                  <a:lnTo>
                    <a:pt x="5781675" y="4931328"/>
                  </a:lnTo>
                  <a:lnTo>
                    <a:pt x="5759445" y="4943211"/>
                  </a:lnTo>
                  <a:lnTo>
                    <a:pt x="5751644" y="4946443"/>
                  </a:lnTo>
                  <a:lnTo>
                    <a:pt x="5743603" y="4948881"/>
                  </a:lnTo>
                  <a:lnTo>
                    <a:pt x="5735322" y="4950528"/>
                  </a:lnTo>
                  <a:lnTo>
                    <a:pt x="5727041" y="4952175"/>
                  </a:lnTo>
                  <a:lnTo>
                    <a:pt x="5718680" y="4952999"/>
                  </a:lnTo>
                  <a:lnTo>
                    <a:pt x="5710237" y="4952999"/>
                  </a:lnTo>
                  <a:lnTo>
                    <a:pt x="128587" y="4952999"/>
                  </a:lnTo>
                  <a:lnTo>
                    <a:pt x="120144" y="4952999"/>
                  </a:lnTo>
                  <a:lnTo>
                    <a:pt x="111782" y="4952175"/>
                  </a:lnTo>
                  <a:lnTo>
                    <a:pt x="103501" y="4950528"/>
                  </a:lnTo>
                  <a:lnTo>
                    <a:pt x="95220" y="4948881"/>
                  </a:lnTo>
                  <a:lnTo>
                    <a:pt x="87179" y="4946443"/>
                  </a:lnTo>
                  <a:lnTo>
                    <a:pt x="79379" y="4943211"/>
                  </a:lnTo>
                  <a:lnTo>
                    <a:pt x="71578" y="4939980"/>
                  </a:lnTo>
                  <a:lnTo>
                    <a:pt x="64168" y="4936019"/>
                  </a:lnTo>
                  <a:lnTo>
                    <a:pt x="57148" y="4931328"/>
                  </a:lnTo>
                  <a:lnTo>
                    <a:pt x="50127" y="4926637"/>
                  </a:lnTo>
                  <a:lnTo>
                    <a:pt x="21670" y="4895850"/>
                  </a:lnTo>
                  <a:lnTo>
                    <a:pt x="16980" y="4888830"/>
                  </a:lnTo>
                  <a:lnTo>
                    <a:pt x="2470" y="4849497"/>
                  </a:lnTo>
                  <a:lnTo>
                    <a:pt x="0" y="4832855"/>
                  </a:lnTo>
                  <a:lnTo>
                    <a:pt x="0" y="4824412"/>
                  </a:lnTo>
                  <a:close/>
                </a:path>
              </a:pathLst>
            </a:custGeom>
            <a:ln w="28574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00074" y="1914524"/>
              <a:ext cx="704850" cy="266700"/>
            </a:xfrm>
            <a:custGeom>
              <a:avLst/>
              <a:gdLst/>
              <a:ahLst/>
              <a:cxnLst/>
              <a:rect l="l" t="t" r="r" b="b"/>
              <a:pathLst>
                <a:path w="704850" h="266700">
                  <a:moveTo>
                    <a:pt x="598054" y="266699"/>
                  </a:moveTo>
                  <a:lnTo>
                    <a:pt x="106794" y="266699"/>
                  </a:lnTo>
                  <a:lnTo>
                    <a:pt x="99361" y="265967"/>
                  </a:lnTo>
                  <a:lnTo>
                    <a:pt x="57038" y="251606"/>
                  </a:lnTo>
                  <a:lnTo>
                    <a:pt x="23432" y="222141"/>
                  </a:lnTo>
                  <a:lnTo>
                    <a:pt x="3660" y="182059"/>
                  </a:lnTo>
                  <a:lnTo>
                    <a:pt x="0" y="159904"/>
                  </a:lnTo>
                  <a:lnTo>
                    <a:pt x="0" y="1523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598054" y="0"/>
                  </a:lnTo>
                  <a:lnTo>
                    <a:pt x="641224" y="11572"/>
                  </a:lnTo>
                  <a:lnTo>
                    <a:pt x="676679" y="38784"/>
                  </a:lnTo>
                  <a:lnTo>
                    <a:pt x="699021" y="77492"/>
                  </a:lnTo>
                  <a:lnTo>
                    <a:pt x="704849" y="106794"/>
                  </a:lnTo>
                  <a:lnTo>
                    <a:pt x="704849" y="159904"/>
                  </a:lnTo>
                  <a:lnTo>
                    <a:pt x="693277" y="203074"/>
                  </a:lnTo>
                  <a:lnTo>
                    <a:pt x="666065" y="238528"/>
                  </a:lnTo>
                  <a:lnTo>
                    <a:pt x="627356" y="260871"/>
                  </a:lnTo>
                  <a:lnTo>
                    <a:pt x="605487" y="265967"/>
                  </a:lnTo>
                  <a:lnTo>
                    <a:pt x="598054" y="266699"/>
                  </a:lnTo>
                  <a:close/>
                </a:path>
              </a:pathLst>
            </a:custGeom>
            <a:solidFill>
              <a:srgbClr val="3A6E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730249" y="1964404"/>
            <a:ext cx="44450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90" b="1">
                <a:solidFill>
                  <a:srgbClr val="FFFFFF"/>
                </a:solidFill>
                <a:latin typeface="Malgun Gothic"/>
                <a:cs typeface="Malgun Gothic"/>
              </a:rPr>
              <a:t>主要貢</a:t>
            </a:r>
            <a:r>
              <a:rPr dirty="0" sz="900" spc="-60" b="1">
                <a:solidFill>
                  <a:srgbClr val="FFFFFF"/>
                </a:solidFill>
                <a:latin typeface="Microsoft JhengHei"/>
                <a:cs typeface="Microsoft JhengHei"/>
              </a:rPr>
              <a:t>献</a:t>
            </a:r>
            <a:endParaRPr sz="900">
              <a:latin typeface="Microsoft JhengHei"/>
              <a:cs typeface="Microsoft JhengHe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00074" y="2247899"/>
            <a:ext cx="5334000" cy="1019175"/>
            <a:chOff x="600074" y="2247899"/>
            <a:chExt cx="5334000" cy="1019175"/>
          </a:xfrm>
        </p:grpSpPr>
        <p:sp>
          <p:nvSpPr>
            <p:cNvPr id="16" name="object 16" descr=""/>
            <p:cNvSpPr/>
            <p:nvPr/>
          </p:nvSpPr>
          <p:spPr>
            <a:xfrm>
              <a:off x="609599" y="2257424"/>
              <a:ext cx="5314950" cy="1000125"/>
            </a:xfrm>
            <a:custGeom>
              <a:avLst/>
              <a:gdLst/>
              <a:ahLst/>
              <a:cxnLst/>
              <a:rect l="l" t="t" r="r" b="b"/>
              <a:pathLst>
                <a:path w="5314950" h="1000125">
                  <a:moveTo>
                    <a:pt x="5234852" y="1000124"/>
                  </a:moveTo>
                  <a:lnTo>
                    <a:pt x="80096" y="1000124"/>
                  </a:lnTo>
                  <a:lnTo>
                    <a:pt x="74521" y="999575"/>
                  </a:lnTo>
                  <a:lnTo>
                    <a:pt x="33418" y="982550"/>
                  </a:lnTo>
                  <a:lnTo>
                    <a:pt x="8679" y="952405"/>
                  </a:lnTo>
                  <a:lnTo>
                    <a:pt x="0" y="920028"/>
                  </a:lnTo>
                  <a:lnTo>
                    <a:pt x="0" y="914399"/>
                  </a:lnTo>
                  <a:lnTo>
                    <a:pt x="0" y="80096"/>
                  </a:lnTo>
                  <a:lnTo>
                    <a:pt x="11320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5234852" y="0"/>
                  </a:lnTo>
                  <a:lnTo>
                    <a:pt x="5272169" y="11319"/>
                  </a:lnTo>
                  <a:lnTo>
                    <a:pt x="5303629" y="42778"/>
                  </a:lnTo>
                  <a:lnTo>
                    <a:pt x="5314949" y="80096"/>
                  </a:lnTo>
                  <a:lnTo>
                    <a:pt x="5314949" y="920028"/>
                  </a:lnTo>
                  <a:lnTo>
                    <a:pt x="5303629" y="957345"/>
                  </a:lnTo>
                  <a:lnTo>
                    <a:pt x="5272169" y="988804"/>
                  </a:lnTo>
                  <a:lnTo>
                    <a:pt x="5240427" y="999575"/>
                  </a:lnTo>
                  <a:lnTo>
                    <a:pt x="5234852" y="1000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09599" y="2257424"/>
              <a:ext cx="5314950" cy="1000125"/>
            </a:xfrm>
            <a:custGeom>
              <a:avLst/>
              <a:gdLst/>
              <a:ahLst/>
              <a:cxnLst/>
              <a:rect l="l" t="t" r="r" b="b"/>
              <a:pathLst>
                <a:path w="5314950" h="1000125">
                  <a:moveTo>
                    <a:pt x="0" y="914399"/>
                  </a:moveTo>
                  <a:lnTo>
                    <a:pt x="0" y="85724"/>
                  </a:lnTo>
                  <a:lnTo>
                    <a:pt x="0" y="80096"/>
                  </a:lnTo>
                  <a:lnTo>
                    <a:pt x="548" y="74521"/>
                  </a:lnTo>
                  <a:lnTo>
                    <a:pt x="1647" y="69000"/>
                  </a:lnTo>
                  <a:lnTo>
                    <a:pt x="2745" y="63479"/>
                  </a:lnTo>
                  <a:lnTo>
                    <a:pt x="4371" y="58119"/>
                  </a:lnTo>
                  <a:lnTo>
                    <a:pt x="25108" y="25108"/>
                  </a:lnTo>
                  <a:lnTo>
                    <a:pt x="29088" y="21127"/>
                  </a:lnTo>
                  <a:lnTo>
                    <a:pt x="52919" y="6525"/>
                  </a:lnTo>
                  <a:lnTo>
                    <a:pt x="58119" y="4371"/>
                  </a:lnTo>
                  <a:lnTo>
                    <a:pt x="63480" y="2745"/>
                  </a:lnTo>
                  <a:lnTo>
                    <a:pt x="69000" y="1646"/>
                  </a:lnTo>
                  <a:lnTo>
                    <a:pt x="74521" y="548"/>
                  </a:lnTo>
                  <a:lnTo>
                    <a:pt x="80096" y="0"/>
                  </a:lnTo>
                  <a:lnTo>
                    <a:pt x="85725" y="0"/>
                  </a:lnTo>
                  <a:lnTo>
                    <a:pt x="5229224" y="0"/>
                  </a:lnTo>
                  <a:lnTo>
                    <a:pt x="5234852" y="0"/>
                  </a:lnTo>
                  <a:lnTo>
                    <a:pt x="5240427" y="548"/>
                  </a:lnTo>
                  <a:lnTo>
                    <a:pt x="5276850" y="14446"/>
                  </a:lnTo>
                  <a:lnTo>
                    <a:pt x="5289841" y="25108"/>
                  </a:lnTo>
                  <a:lnTo>
                    <a:pt x="5293821" y="29088"/>
                  </a:lnTo>
                  <a:lnTo>
                    <a:pt x="5308423" y="52918"/>
                  </a:lnTo>
                  <a:lnTo>
                    <a:pt x="5310577" y="58119"/>
                  </a:lnTo>
                  <a:lnTo>
                    <a:pt x="5314949" y="85724"/>
                  </a:lnTo>
                  <a:lnTo>
                    <a:pt x="5314949" y="914399"/>
                  </a:lnTo>
                  <a:lnTo>
                    <a:pt x="5306269" y="952405"/>
                  </a:lnTo>
                  <a:lnTo>
                    <a:pt x="5289841" y="975016"/>
                  </a:lnTo>
                  <a:lnTo>
                    <a:pt x="5285860" y="978996"/>
                  </a:lnTo>
                  <a:lnTo>
                    <a:pt x="5281530" y="982550"/>
                  </a:lnTo>
                  <a:lnTo>
                    <a:pt x="5276850" y="985677"/>
                  </a:lnTo>
                  <a:lnTo>
                    <a:pt x="5272169" y="988804"/>
                  </a:lnTo>
                  <a:lnTo>
                    <a:pt x="5234852" y="1000124"/>
                  </a:lnTo>
                  <a:lnTo>
                    <a:pt x="5229224" y="1000124"/>
                  </a:lnTo>
                  <a:lnTo>
                    <a:pt x="85725" y="1000124"/>
                  </a:lnTo>
                  <a:lnTo>
                    <a:pt x="80096" y="1000124"/>
                  </a:lnTo>
                  <a:lnTo>
                    <a:pt x="74521" y="999575"/>
                  </a:lnTo>
                  <a:lnTo>
                    <a:pt x="38098" y="985677"/>
                  </a:lnTo>
                  <a:lnTo>
                    <a:pt x="33418" y="982550"/>
                  </a:lnTo>
                  <a:lnTo>
                    <a:pt x="29088" y="978996"/>
                  </a:lnTo>
                  <a:lnTo>
                    <a:pt x="25108" y="975016"/>
                  </a:lnTo>
                  <a:lnTo>
                    <a:pt x="21128" y="971035"/>
                  </a:lnTo>
                  <a:lnTo>
                    <a:pt x="17574" y="966706"/>
                  </a:lnTo>
                  <a:lnTo>
                    <a:pt x="14447" y="962025"/>
                  </a:lnTo>
                  <a:lnTo>
                    <a:pt x="11320" y="957345"/>
                  </a:lnTo>
                  <a:lnTo>
                    <a:pt x="0" y="920028"/>
                  </a:lnTo>
                  <a:lnTo>
                    <a:pt x="0" y="914399"/>
                  </a:lnTo>
                  <a:close/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1999" y="2409824"/>
              <a:ext cx="333374" cy="333374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870892" y="2475039"/>
            <a:ext cx="1811655" cy="2063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  <a:tabLst>
                <a:tab pos="338455" algn="l"/>
              </a:tabLst>
            </a:pPr>
            <a:r>
              <a:rPr dirty="0" sz="1350" spc="-50" b="1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35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baseline="2415" sz="1725" spc="-165" b="1">
                <a:solidFill>
                  <a:srgbClr val="3A6EA5"/>
                </a:solidFill>
                <a:latin typeface="Microsoft JhengHei"/>
                <a:cs typeface="Microsoft JhengHei"/>
              </a:rPr>
              <a:t>自</a:t>
            </a:r>
            <a:r>
              <a:rPr dirty="0" baseline="2415" sz="1725" spc="-165" b="1">
                <a:solidFill>
                  <a:srgbClr val="3A6EA5"/>
                </a:solidFill>
                <a:latin typeface="Malgun Gothic"/>
                <a:cs typeface="Malgun Gothic"/>
              </a:rPr>
              <a:t>動周波</a:t>
            </a:r>
            <a:r>
              <a:rPr dirty="0" baseline="2415" sz="1725" spc="-187" b="1">
                <a:solidFill>
                  <a:srgbClr val="3A6EA5"/>
                </a:solidFill>
                <a:latin typeface="Microsoft JhengHei"/>
                <a:cs typeface="Microsoft JhengHei"/>
              </a:rPr>
              <a:t>数パターン学</a:t>
            </a:r>
            <a:r>
              <a:rPr dirty="0" baseline="2415" sz="1725" spc="-75" b="1">
                <a:solidFill>
                  <a:srgbClr val="3A6EA5"/>
                </a:solidFill>
                <a:latin typeface="Malgun Gothic"/>
                <a:cs typeface="Malgun Gothic"/>
              </a:rPr>
              <a:t>習</a:t>
            </a:r>
            <a:endParaRPr baseline="2415" sz="1725">
              <a:latin typeface="Malgun Gothic"/>
              <a:cs typeface="Malgun Gothic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196974" y="2794973"/>
            <a:ext cx="2640330" cy="31813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65"/>
              </a:spcBef>
            </a:pPr>
            <a:r>
              <a:rPr dirty="0" sz="1000" spc="-50">
                <a:solidFill>
                  <a:srgbClr val="444444"/>
                </a:solidFill>
                <a:latin typeface="Microsoft Sans Serif"/>
                <a:cs typeface="Microsoft Sans Serif"/>
              </a:rPr>
              <a:t>Multi-</a:t>
            </a:r>
            <a:r>
              <a:rPr dirty="0" sz="1000" spc="-110">
                <a:solidFill>
                  <a:srgbClr val="444444"/>
                </a:solidFill>
                <a:latin typeface="Microsoft Sans Serif"/>
                <a:cs typeface="Microsoft Sans Serif"/>
              </a:rPr>
              <a:t>Head</a:t>
            </a:r>
            <a:r>
              <a:rPr dirty="0" sz="1000" spc="-80">
                <a:solidFill>
                  <a:srgbClr val="444444"/>
                </a:solidFill>
                <a:latin typeface="Microsoft Sans Serif"/>
                <a:cs typeface="Microsoft Sans Serif"/>
              </a:rPr>
              <a:t> Self-</a:t>
            </a:r>
            <a:r>
              <a:rPr dirty="0" sz="1000" spc="-55">
                <a:solidFill>
                  <a:srgbClr val="444444"/>
                </a:solidFill>
                <a:latin typeface="Microsoft Sans Serif"/>
                <a:cs typeface="Microsoft Sans Serif"/>
              </a:rPr>
              <a:t>Attention </a:t>
            </a:r>
            <a:r>
              <a:rPr dirty="0" sz="900" spc="65">
                <a:solidFill>
                  <a:srgbClr val="444444"/>
                </a:solidFill>
                <a:latin typeface="MS PGothic"/>
                <a:cs typeface="MS PGothic"/>
              </a:rPr>
              <a:t>により、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専門知識</a:t>
            </a:r>
            <a:r>
              <a:rPr dirty="0" sz="900" spc="-35">
                <a:solidFill>
                  <a:srgbClr val="444444"/>
                </a:solidFill>
                <a:latin typeface="MS PGothic"/>
                <a:cs typeface="MS PGothic"/>
              </a:rPr>
              <a:t>に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依存</a:t>
            </a:r>
            <a:r>
              <a:rPr dirty="0" sz="900" spc="-70">
                <a:solidFill>
                  <a:srgbClr val="444444"/>
                </a:solidFill>
                <a:latin typeface="MS PGothic"/>
                <a:cs typeface="MS PGothic"/>
              </a:rPr>
              <a:t>せず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機械種別</a:t>
            </a:r>
            <a:r>
              <a:rPr dirty="0" sz="900" spc="560">
                <a:solidFill>
                  <a:srgbClr val="444444"/>
                </a:solidFill>
                <a:latin typeface="MS PGothic"/>
                <a:cs typeface="MS PGothic"/>
              </a:rPr>
              <a:t>‧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状態</a:t>
            </a:r>
            <a:r>
              <a:rPr dirty="0" sz="900" spc="-35">
                <a:solidFill>
                  <a:srgbClr val="444444"/>
                </a:solidFill>
                <a:latin typeface="MS PGothic"/>
                <a:cs typeface="MS PGothic"/>
              </a:rPr>
              <a:t>に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応</a:t>
            </a:r>
            <a:r>
              <a:rPr dirty="0" sz="900" spc="60">
                <a:solidFill>
                  <a:srgbClr val="444444"/>
                </a:solidFill>
                <a:latin typeface="MS PGothic"/>
                <a:cs typeface="MS PGothic"/>
              </a:rPr>
              <a:t>じた</a:t>
            </a:r>
            <a:r>
              <a:rPr dirty="0" sz="900" spc="-90" b="1">
                <a:solidFill>
                  <a:srgbClr val="444444"/>
                </a:solidFill>
                <a:latin typeface="Malgun Gothic"/>
                <a:cs typeface="Malgun Gothic"/>
              </a:rPr>
              <a:t>最適周波</a:t>
            </a:r>
            <a:r>
              <a:rPr dirty="0" sz="900" spc="-90" b="1">
                <a:solidFill>
                  <a:srgbClr val="444444"/>
                </a:solidFill>
                <a:latin typeface="Microsoft JhengHei"/>
                <a:cs typeface="Microsoft JhengHei"/>
              </a:rPr>
              <a:t>数成</a:t>
            </a:r>
            <a:r>
              <a:rPr dirty="0" sz="900" spc="-90" b="1">
                <a:solidFill>
                  <a:srgbClr val="444444"/>
                </a:solidFill>
                <a:latin typeface="Malgun Gothic"/>
                <a:cs typeface="Malgun Gothic"/>
              </a:rPr>
              <a:t>分を</a:t>
            </a:r>
            <a:r>
              <a:rPr dirty="0" sz="900" spc="-90" b="1">
                <a:solidFill>
                  <a:srgbClr val="444444"/>
                </a:solidFill>
                <a:latin typeface="Microsoft JhengHei"/>
                <a:cs typeface="Microsoft JhengHei"/>
              </a:rPr>
              <a:t>自</a:t>
            </a:r>
            <a:r>
              <a:rPr dirty="0" sz="900" spc="-80" b="1">
                <a:solidFill>
                  <a:srgbClr val="444444"/>
                </a:solidFill>
                <a:latin typeface="Malgun Gothic"/>
                <a:cs typeface="Malgun Gothic"/>
              </a:rPr>
              <a:t>動抽出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5543549" y="2314575"/>
            <a:ext cx="323850" cy="171450"/>
          </a:xfrm>
          <a:custGeom>
            <a:avLst/>
            <a:gdLst/>
            <a:ahLst/>
            <a:cxnLst/>
            <a:rect l="l" t="t" r="r" b="b"/>
            <a:pathLst>
              <a:path w="323850" h="171450">
                <a:moveTo>
                  <a:pt x="243753" y="171449"/>
                </a:moveTo>
                <a:lnTo>
                  <a:pt x="80096" y="171449"/>
                </a:lnTo>
                <a:lnTo>
                  <a:pt x="74521" y="170900"/>
                </a:lnTo>
                <a:lnTo>
                  <a:pt x="33418" y="153875"/>
                </a:lnTo>
                <a:lnTo>
                  <a:pt x="8679" y="123730"/>
                </a:lnTo>
                <a:lnTo>
                  <a:pt x="0" y="91353"/>
                </a:lnTo>
                <a:lnTo>
                  <a:pt x="0" y="85724"/>
                </a:lnTo>
                <a:lnTo>
                  <a:pt x="0" y="80096"/>
                </a:lnTo>
                <a:lnTo>
                  <a:pt x="11320" y="42778"/>
                </a:lnTo>
                <a:lnTo>
                  <a:pt x="42778" y="11320"/>
                </a:lnTo>
                <a:lnTo>
                  <a:pt x="80096" y="0"/>
                </a:lnTo>
                <a:lnTo>
                  <a:pt x="243753" y="0"/>
                </a:lnTo>
                <a:lnTo>
                  <a:pt x="281071" y="11320"/>
                </a:lnTo>
                <a:lnTo>
                  <a:pt x="312529" y="42778"/>
                </a:lnTo>
                <a:lnTo>
                  <a:pt x="323849" y="80096"/>
                </a:lnTo>
                <a:lnTo>
                  <a:pt x="323849" y="91353"/>
                </a:lnTo>
                <a:lnTo>
                  <a:pt x="312529" y="128671"/>
                </a:lnTo>
                <a:lnTo>
                  <a:pt x="281071" y="160129"/>
                </a:lnTo>
                <a:lnTo>
                  <a:pt x="249328" y="170900"/>
                </a:lnTo>
                <a:lnTo>
                  <a:pt x="243753" y="171449"/>
                </a:lnTo>
                <a:close/>
              </a:path>
            </a:pathLst>
          </a:custGeom>
          <a:solidFill>
            <a:srgbClr val="28A6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5604817" y="2331067"/>
            <a:ext cx="199390" cy="1276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45" b="1">
                <a:solidFill>
                  <a:srgbClr val="FFFFFF"/>
                </a:solidFill>
                <a:latin typeface="Arial"/>
                <a:cs typeface="Arial"/>
              </a:rPr>
              <a:t>NEW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600074" y="3381374"/>
            <a:ext cx="5334000" cy="1028700"/>
            <a:chOff x="600074" y="3381374"/>
            <a:chExt cx="5334000" cy="1028700"/>
          </a:xfrm>
        </p:grpSpPr>
        <p:sp>
          <p:nvSpPr>
            <p:cNvPr id="24" name="object 24" descr=""/>
            <p:cNvSpPr/>
            <p:nvPr/>
          </p:nvSpPr>
          <p:spPr>
            <a:xfrm>
              <a:off x="609599" y="3390899"/>
              <a:ext cx="5314950" cy="1009650"/>
            </a:xfrm>
            <a:custGeom>
              <a:avLst/>
              <a:gdLst/>
              <a:ahLst/>
              <a:cxnLst/>
              <a:rect l="l" t="t" r="r" b="b"/>
              <a:pathLst>
                <a:path w="5314950" h="1009650">
                  <a:moveTo>
                    <a:pt x="5234852" y="1009649"/>
                  </a:moveTo>
                  <a:lnTo>
                    <a:pt x="80096" y="1009649"/>
                  </a:lnTo>
                  <a:lnTo>
                    <a:pt x="74521" y="1009100"/>
                  </a:lnTo>
                  <a:lnTo>
                    <a:pt x="33418" y="992075"/>
                  </a:lnTo>
                  <a:lnTo>
                    <a:pt x="8679" y="961930"/>
                  </a:lnTo>
                  <a:lnTo>
                    <a:pt x="0" y="929553"/>
                  </a:lnTo>
                  <a:lnTo>
                    <a:pt x="0" y="923924"/>
                  </a:lnTo>
                  <a:lnTo>
                    <a:pt x="0" y="80096"/>
                  </a:lnTo>
                  <a:lnTo>
                    <a:pt x="11320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5234852" y="0"/>
                  </a:lnTo>
                  <a:lnTo>
                    <a:pt x="5272169" y="11319"/>
                  </a:lnTo>
                  <a:lnTo>
                    <a:pt x="5303629" y="42778"/>
                  </a:lnTo>
                  <a:lnTo>
                    <a:pt x="5314949" y="80096"/>
                  </a:lnTo>
                  <a:lnTo>
                    <a:pt x="5314949" y="929553"/>
                  </a:lnTo>
                  <a:lnTo>
                    <a:pt x="5303629" y="966870"/>
                  </a:lnTo>
                  <a:lnTo>
                    <a:pt x="5272169" y="998329"/>
                  </a:lnTo>
                  <a:lnTo>
                    <a:pt x="5240427" y="1009100"/>
                  </a:lnTo>
                  <a:lnTo>
                    <a:pt x="5234852" y="1009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09599" y="3390899"/>
              <a:ext cx="5314950" cy="1009650"/>
            </a:xfrm>
            <a:custGeom>
              <a:avLst/>
              <a:gdLst/>
              <a:ahLst/>
              <a:cxnLst/>
              <a:rect l="l" t="t" r="r" b="b"/>
              <a:pathLst>
                <a:path w="5314950" h="1009650">
                  <a:moveTo>
                    <a:pt x="0" y="923924"/>
                  </a:moveTo>
                  <a:lnTo>
                    <a:pt x="0" y="85724"/>
                  </a:lnTo>
                  <a:lnTo>
                    <a:pt x="0" y="80096"/>
                  </a:lnTo>
                  <a:lnTo>
                    <a:pt x="548" y="74521"/>
                  </a:lnTo>
                  <a:lnTo>
                    <a:pt x="1647" y="69000"/>
                  </a:lnTo>
                  <a:lnTo>
                    <a:pt x="2745" y="63479"/>
                  </a:lnTo>
                  <a:lnTo>
                    <a:pt x="4371" y="58119"/>
                  </a:lnTo>
                  <a:lnTo>
                    <a:pt x="25108" y="25107"/>
                  </a:lnTo>
                  <a:lnTo>
                    <a:pt x="29088" y="21127"/>
                  </a:lnTo>
                  <a:lnTo>
                    <a:pt x="52919" y="6525"/>
                  </a:lnTo>
                  <a:lnTo>
                    <a:pt x="58119" y="4370"/>
                  </a:lnTo>
                  <a:lnTo>
                    <a:pt x="63480" y="2744"/>
                  </a:lnTo>
                  <a:lnTo>
                    <a:pt x="69000" y="1646"/>
                  </a:lnTo>
                  <a:lnTo>
                    <a:pt x="74521" y="549"/>
                  </a:lnTo>
                  <a:lnTo>
                    <a:pt x="80096" y="0"/>
                  </a:lnTo>
                  <a:lnTo>
                    <a:pt x="85725" y="0"/>
                  </a:lnTo>
                  <a:lnTo>
                    <a:pt x="5229224" y="0"/>
                  </a:lnTo>
                  <a:lnTo>
                    <a:pt x="5234852" y="0"/>
                  </a:lnTo>
                  <a:lnTo>
                    <a:pt x="5240427" y="549"/>
                  </a:lnTo>
                  <a:lnTo>
                    <a:pt x="5245948" y="1646"/>
                  </a:lnTo>
                  <a:lnTo>
                    <a:pt x="5251468" y="2744"/>
                  </a:lnTo>
                  <a:lnTo>
                    <a:pt x="5256828" y="4370"/>
                  </a:lnTo>
                  <a:lnTo>
                    <a:pt x="5262029" y="6525"/>
                  </a:lnTo>
                  <a:lnTo>
                    <a:pt x="5267229" y="8679"/>
                  </a:lnTo>
                  <a:lnTo>
                    <a:pt x="5289841" y="25107"/>
                  </a:lnTo>
                  <a:lnTo>
                    <a:pt x="5293821" y="29088"/>
                  </a:lnTo>
                  <a:lnTo>
                    <a:pt x="5308423" y="52918"/>
                  </a:lnTo>
                  <a:lnTo>
                    <a:pt x="5310577" y="58119"/>
                  </a:lnTo>
                  <a:lnTo>
                    <a:pt x="5314949" y="85724"/>
                  </a:lnTo>
                  <a:lnTo>
                    <a:pt x="5314949" y="923924"/>
                  </a:lnTo>
                  <a:lnTo>
                    <a:pt x="5308423" y="956730"/>
                  </a:lnTo>
                  <a:lnTo>
                    <a:pt x="5306269" y="961930"/>
                  </a:lnTo>
                  <a:lnTo>
                    <a:pt x="5303629" y="966870"/>
                  </a:lnTo>
                  <a:lnTo>
                    <a:pt x="5300502" y="971550"/>
                  </a:lnTo>
                  <a:lnTo>
                    <a:pt x="5297375" y="976231"/>
                  </a:lnTo>
                  <a:lnTo>
                    <a:pt x="5267229" y="1000969"/>
                  </a:lnTo>
                  <a:lnTo>
                    <a:pt x="5234852" y="1009649"/>
                  </a:lnTo>
                  <a:lnTo>
                    <a:pt x="5229224" y="1009649"/>
                  </a:lnTo>
                  <a:lnTo>
                    <a:pt x="85725" y="1009649"/>
                  </a:lnTo>
                  <a:lnTo>
                    <a:pt x="80096" y="1009649"/>
                  </a:lnTo>
                  <a:lnTo>
                    <a:pt x="74521" y="1009100"/>
                  </a:lnTo>
                  <a:lnTo>
                    <a:pt x="69000" y="1008002"/>
                  </a:lnTo>
                  <a:lnTo>
                    <a:pt x="63480" y="1006904"/>
                  </a:lnTo>
                  <a:lnTo>
                    <a:pt x="58119" y="1005278"/>
                  </a:lnTo>
                  <a:lnTo>
                    <a:pt x="52919" y="1003123"/>
                  </a:lnTo>
                  <a:lnTo>
                    <a:pt x="47719" y="1000969"/>
                  </a:lnTo>
                  <a:lnTo>
                    <a:pt x="42778" y="998329"/>
                  </a:lnTo>
                  <a:lnTo>
                    <a:pt x="38098" y="995201"/>
                  </a:lnTo>
                  <a:lnTo>
                    <a:pt x="33418" y="992075"/>
                  </a:lnTo>
                  <a:lnTo>
                    <a:pt x="14447" y="971550"/>
                  </a:lnTo>
                  <a:lnTo>
                    <a:pt x="11320" y="966870"/>
                  </a:lnTo>
                  <a:lnTo>
                    <a:pt x="0" y="929553"/>
                  </a:lnTo>
                  <a:lnTo>
                    <a:pt x="0" y="923924"/>
                  </a:lnTo>
                  <a:close/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1999" y="3543299"/>
              <a:ext cx="333374" cy="333374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870892" y="3598509"/>
            <a:ext cx="115570" cy="229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50" b="1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196974" y="3598989"/>
            <a:ext cx="82550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 b="1">
                <a:solidFill>
                  <a:srgbClr val="3A6EA5"/>
                </a:solidFill>
                <a:latin typeface="Microsoft JhengHei"/>
                <a:cs typeface="Microsoft JhengHei"/>
              </a:rPr>
              <a:t>性能</a:t>
            </a:r>
            <a:r>
              <a:rPr dirty="0" sz="1150" spc="-100" b="1">
                <a:solidFill>
                  <a:srgbClr val="3A6EA5"/>
                </a:solidFill>
                <a:latin typeface="Malgun Gothic"/>
                <a:cs typeface="Malgun Gothic"/>
              </a:rPr>
              <a:t>大幅向上</a:t>
            </a:r>
            <a:endParaRPr sz="1150">
              <a:latin typeface="Malgun Gothic"/>
              <a:cs typeface="Malgun Gothic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1685912" y="4076699"/>
            <a:ext cx="1428750" cy="190500"/>
          </a:xfrm>
          <a:custGeom>
            <a:avLst/>
            <a:gdLst/>
            <a:ahLst/>
            <a:cxnLst/>
            <a:rect l="l" t="t" r="r" b="b"/>
            <a:pathLst>
              <a:path w="1428750" h="190500">
                <a:moveTo>
                  <a:pt x="495300" y="33058"/>
                </a:moveTo>
                <a:lnTo>
                  <a:pt x="467118" y="977"/>
                </a:lnTo>
                <a:lnTo>
                  <a:pt x="462254" y="0"/>
                </a:lnTo>
                <a:lnTo>
                  <a:pt x="33058" y="0"/>
                </a:lnTo>
                <a:lnTo>
                  <a:pt x="977" y="28194"/>
                </a:lnTo>
                <a:lnTo>
                  <a:pt x="0" y="33058"/>
                </a:lnTo>
                <a:lnTo>
                  <a:pt x="0" y="152400"/>
                </a:lnTo>
                <a:lnTo>
                  <a:pt x="0" y="157454"/>
                </a:lnTo>
                <a:lnTo>
                  <a:pt x="28194" y="189534"/>
                </a:lnTo>
                <a:lnTo>
                  <a:pt x="33058" y="190500"/>
                </a:lnTo>
                <a:lnTo>
                  <a:pt x="462254" y="190500"/>
                </a:lnTo>
                <a:lnTo>
                  <a:pt x="494334" y="162318"/>
                </a:lnTo>
                <a:lnTo>
                  <a:pt x="495300" y="157454"/>
                </a:lnTo>
                <a:lnTo>
                  <a:pt x="495300" y="33058"/>
                </a:lnTo>
                <a:close/>
              </a:path>
              <a:path w="1428750" h="190500">
                <a:moveTo>
                  <a:pt x="1428750" y="33058"/>
                </a:moveTo>
                <a:lnTo>
                  <a:pt x="1400568" y="977"/>
                </a:lnTo>
                <a:lnTo>
                  <a:pt x="1395704" y="0"/>
                </a:lnTo>
                <a:lnTo>
                  <a:pt x="966508" y="0"/>
                </a:lnTo>
                <a:lnTo>
                  <a:pt x="934427" y="28194"/>
                </a:lnTo>
                <a:lnTo>
                  <a:pt x="933450" y="33058"/>
                </a:lnTo>
                <a:lnTo>
                  <a:pt x="933450" y="152400"/>
                </a:lnTo>
                <a:lnTo>
                  <a:pt x="933450" y="157454"/>
                </a:lnTo>
                <a:lnTo>
                  <a:pt x="961644" y="189534"/>
                </a:lnTo>
                <a:lnTo>
                  <a:pt x="966508" y="190500"/>
                </a:lnTo>
                <a:lnTo>
                  <a:pt x="1395704" y="190500"/>
                </a:lnTo>
                <a:lnTo>
                  <a:pt x="1427784" y="162318"/>
                </a:lnTo>
                <a:lnTo>
                  <a:pt x="1428750" y="157454"/>
                </a:lnTo>
                <a:lnTo>
                  <a:pt x="1428750" y="33058"/>
                </a:lnTo>
                <a:close/>
              </a:path>
            </a:pathLst>
          </a:custGeom>
          <a:solidFill>
            <a:srgbClr val="28A645">
              <a:alpha val="101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1196974" y="3928448"/>
            <a:ext cx="2185670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" spc="-185">
                <a:solidFill>
                  <a:srgbClr val="444444"/>
                </a:solidFill>
                <a:latin typeface="Microsoft Sans Serif"/>
                <a:cs typeface="Microsoft Sans Serif"/>
              </a:rPr>
              <a:t>DCASE</a:t>
            </a:r>
            <a:r>
              <a:rPr dirty="0" sz="1000" spc="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10">
                <a:solidFill>
                  <a:srgbClr val="444444"/>
                </a:solidFill>
                <a:latin typeface="Microsoft Sans Serif"/>
                <a:cs typeface="Microsoft Sans Serif"/>
              </a:rPr>
              <a:t>2020</a:t>
            </a:r>
            <a:r>
              <a:rPr dirty="0" sz="1000" spc="1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全</a:t>
            </a:r>
            <a:r>
              <a:rPr dirty="0" sz="1000" spc="-110">
                <a:solidFill>
                  <a:srgbClr val="444444"/>
                </a:solidFill>
                <a:latin typeface="Microsoft Sans Serif"/>
                <a:cs typeface="Microsoft Sans Serif"/>
              </a:rPr>
              <a:t>6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機種</a:t>
            </a:r>
            <a:r>
              <a:rPr dirty="0" sz="900">
                <a:solidFill>
                  <a:srgbClr val="444444"/>
                </a:solidFill>
                <a:latin typeface="MS PGothic"/>
                <a:cs typeface="MS PGothic"/>
              </a:rPr>
              <a:t>で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性能向上</a:t>
            </a:r>
            <a:r>
              <a:rPr dirty="0" sz="900">
                <a:solidFill>
                  <a:srgbClr val="444444"/>
                </a:solidFill>
                <a:latin typeface="MS PGothic"/>
                <a:cs typeface="MS PGothic"/>
              </a:rPr>
              <a:t>を</a:t>
            </a:r>
            <a:r>
              <a:rPr dirty="0" sz="900" spc="-70">
                <a:solidFill>
                  <a:srgbClr val="444444"/>
                </a:solidFill>
                <a:latin typeface="SimSun"/>
                <a:cs typeface="SimSun"/>
              </a:rPr>
              <a:t>実証</a:t>
            </a:r>
            <a:endParaRPr sz="9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dirty="0" sz="900" spc="-150">
                <a:solidFill>
                  <a:srgbClr val="444444"/>
                </a:solidFill>
                <a:latin typeface="SimSun"/>
                <a:cs typeface="SimSun"/>
              </a:rPr>
              <a:t>平均 </a:t>
            </a:r>
            <a:r>
              <a:rPr dirty="0" sz="1000" spc="-90">
                <a:solidFill>
                  <a:srgbClr val="444444"/>
                </a:solidFill>
                <a:latin typeface="Microsoft Sans Serif"/>
                <a:cs typeface="Microsoft Sans Serif"/>
              </a:rPr>
              <a:t>AUC</a:t>
            </a:r>
            <a:r>
              <a:rPr dirty="0" sz="1000" spc="31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900" b="1">
                <a:solidFill>
                  <a:srgbClr val="28A645"/>
                </a:solidFill>
                <a:latin typeface="Arial"/>
                <a:cs typeface="Arial"/>
              </a:rPr>
              <a:t>+1.55</a:t>
            </a:r>
            <a:r>
              <a:rPr dirty="0" sz="900" spc="114" b="1">
                <a:solidFill>
                  <a:srgbClr val="28A645"/>
                </a:solidFill>
                <a:latin typeface="Arial"/>
                <a:cs typeface="Arial"/>
              </a:rPr>
              <a:t>% </a:t>
            </a:r>
            <a:r>
              <a:rPr dirty="0" sz="900" spc="215">
                <a:solidFill>
                  <a:srgbClr val="444444"/>
                </a:solidFill>
                <a:latin typeface="MS PGothic"/>
                <a:cs typeface="MS PGothic"/>
              </a:rPr>
              <a:t>、</a:t>
            </a:r>
            <a:r>
              <a:rPr dirty="0" sz="1000" spc="-85">
                <a:solidFill>
                  <a:srgbClr val="444444"/>
                </a:solidFill>
                <a:latin typeface="Microsoft Sans Serif"/>
                <a:cs typeface="Microsoft Sans Serif"/>
              </a:rPr>
              <a:t>pAUC</a:t>
            </a:r>
            <a:r>
              <a:rPr dirty="0" sz="1000" spc="35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900" b="1">
                <a:solidFill>
                  <a:srgbClr val="28A645"/>
                </a:solidFill>
                <a:latin typeface="Arial"/>
                <a:cs typeface="Arial"/>
              </a:rPr>
              <a:t>+1.61</a:t>
            </a:r>
            <a:r>
              <a:rPr dirty="0" sz="900" spc="185" b="1">
                <a:solidFill>
                  <a:srgbClr val="28A645"/>
                </a:solidFill>
                <a:latin typeface="Arial"/>
                <a:cs typeface="Arial"/>
              </a:rPr>
              <a:t>% </a:t>
            </a:r>
            <a:r>
              <a:rPr dirty="0" sz="900" spc="-70">
                <a:solidFill>
                  <a:srgbClr val="444444"/>
                </a:solidFill>
                <a:latin typeface="SimSun"/>
                <a:cs typeface="SimSun"/>
              </a:rPr>
              <a:t>改善</a:t>
            </a:r>
            <a:endParaRPr sz="900">
              <a:latin typeface="SimSun"/>
              <a:cs typeface="SimSun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5438774" y="3448050"/>
            <a:ext cx="428625" cy="171450"/>
          </a:xfrm>
          <a:custGeom>
            <a:avLst/>
            <a:gdLst/>
            <a:ahLst/>
            <a:cxnLst/>
            <a:rect l="l" t="t" r="r" b="b"/>
            <a:pathLst>
              <a:path w="428625" h="171450">
                <a:moveTo>
                  <a:pt x="348528" y="171449"/>
                </a:moveTo>
                <a:lnTo>
                  <a:pt x="80096" y="171449"/>
                </a:lnTo>
                <a:lnTo>
                  <a:pt x="74521" y="170900"/>
                </a:lnTo>
                <a:lnTo>
                  <a:pt x="33418" y="153875"/>
                </a:lnTo>
                <a:lnTo>
                  <a:pt x="8679" y="123730"/>
                </a:lnTo>
                <a:lnTo>
                  <a:pt x="0" y="91353"/>
                </a:lnTo>
                <a:lnTo>
                  <a:pt x="0" y="85724"/>
                </a:lnTo>
                <a:lnTo>
                  <a:pt x="0" y="80096"/>
                </a:lnTo>
                <a:lnTo>
                  <a:pt x="11320" y="42778"/>
                </a:lnTo>
                <a:lnTo>
                  <a:pt x="42778" y="11320"/>
                </a:lnTo>
                <a:lnTo>
                  <a:pt x="80096" y="0"/>
                </a:lnTo>
                <a:lnTo>
                  <a:pt x="348528" y="0"/>
                </a:lnTo>
                <a:lnTo>
                  <a:pt x="385846" y="11320"/>
                </a:lnTo>
                <a:lnTo>
                  <a:pt x="417304" y="42778"/>
                </a:lnTo>
                <a:lnTo>
                  <a:pt x="428624" y="80096"/>
                </a:lnTo>
                <a:lnTo>
                  <a:pt x="428624" y="91353"/>
                </a:lnTo>
                <a:lnTo>
                  <a:pt x="417304" y="128671"/>
                </a:lnTo>
                <a:lnTo>
                  <a:pt x="385846" y="160129"/>
                </a:lnTo>
                <a:lnTo>
                  <a:pt x="354103" y="170900"/>
                </a:lnTo>
                <a:lnTo>
                  <a:pt x="348528" y="171449"/>
                </a:lnTo>
                <a:close/>
              </a:path>
            </a:pathLst>
          </a:custGeom>
          <a:solidFill>
            <a:srgbClr val="28A6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5500488" y="3464542"/>
            <a:ext cx="303530" cy="1276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10" b="1">
                <a:solidFill>
                  <a:srgbClr val="FFFFFF"/>
                </a:solidFill>
                <a:latin typeface="Arial"/>
                <a:cs typeface="Arial"/>
              </a:rPr>
              <a:t>+1.55%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600074" y="4524374"/>
            <a:ext cx="5334000" cy="1028700"/>
            <a:chOff x="600074" y="4524374"/>
            <a:chExt cx="5334000" cy="1028700"/>
          </a:xfrm>
        </p:grpSpPr>
        <p:sp>
          <p:nvSpPr>
            <p:cNvPr id="34" name="object 34" descr=""/>
            <p:cNvSpPr/>
            <p:nvPr/>
          </p:nvSpPr>
          <p:spPr>
            <a:xfrm>
              <a:off x="609599" y="4533899"/>
              <a:ext cx="5314950" cy="1009650"/>
            </a:xfrm>
            <a:custGeom>
              <a:avLst/>
              <a:gdLst/>
              <a:ahLst/>
              <a:cxnLst/>
              <a:rect l="l" t="t" r="r" b="b"/>
              <a:pathLst>
                <a:path w="5314950" h="1009650">
                  <a:moveTo>
                    <a:pt x="5234852" y="1009649"/>
                  </a:moveTo>
                  <a:lnTo>
                    <a:pt x="80096" y="1009649"/>
                  </a:lnTo>
                  <a:lnTo>
                    <a:pt x="74521" y="1009100"/>
                  </a:lnTo>
                  <a:lnTo>
                    <a:pt x="33418" y="992074"/>
                  </a:lnTo>
                  <a:lnTo>
                    <a:pt x="8679" y="961930"/>
                  </a:lnTo>
                  <a:lnTo>
                    <a:pt x="0" y="929553"/>
                  </a:lnTo>
                  <a:lnTo>
                    <a:pt x="0" y="923924"/>
                  </a:lnTo>
                  <a:lnTo>
                    <a:pt x="0" y="80096"/>
                  </a:lnTo>
                  <a:lnTo>
                    <a:pt x="11320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5234852" y="0"/>
                  </a:lnTo>
                  <a:lnTo>
                    <a:pt x="5272169" y="11319"/>
                  </a:lnTo>
                  <a:lnTo>
                    <a:pt x="5303629" y="42778"/>
                  </a:lnTo>
                  <a:lnTo>
                    <a:pt x="5314949" y="80096"/>
                  </a:lnTo>
                  <a:lnTo>
                    <a:pt x="5314949" y="929553"/>
                  </a:lnTo>
                  <a:lnTo>
                    <a:pt x="5303629" y="966870"/>
                  </a:lnTo>
                  <a:lnTo>
                    <a:pt x="5272169" y="998329"/>
                  </a:lnTo>
                  <a:lnTo>
                    <a:pt x="5240427" y="1009100"/>
                  </a:lnTo>
                  <a:lnTo>
                    <a:pt x="5234852" y="1009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09599" y="4533899"/>
              <a:ext cx="5314950" cy="1009650"/>
            </a:xfrm>
            <a:custGeom>
              <a:avLst/>
              <a:gdLst/>
              <a:ahLst/>
              <a:cxnLst/>
              <a:rect l="l" t="t" r="r" b="b"/>
              <a:pathLst>
                <a:path w="5314950" h="1009650">
                  <a:moveTo>
                    <a:pt x="0" y="923924"/>
                  </a:moveTo>
                  <a:lnTo>
                    <a:pt x="0" y="85724"/>
                  </a:lnTo>
                  <a:lnTo>
                    <a:pt x="0" y="80096"/>
                  </a:lnTo>
                  <a:lnTo>
                    <a:pt x="548" y="74521"/>
                  </a:lnTo>
                  <a:lnTo>
                    <a:pt x="1647" y="69000"/>
                  </a:lnTo>
                  <a:lnTo>
                    <a:pt x="2745" y="63479"/>
                  </a:lnTo>
                  <a:lnTo>
                    <a:pt x="4371" y="58119"/>
                  </a:lnTo>
                  <a:lnTo>
                    <a:pt x="6525" y="52918"/>
                  </a:lnTo>
                  <a:lnTo>
                    <a:pt x="8679" y="47718"/>
                  </a:lnTo>
                  <a:lnTo>
                    <a:pt x="11320" y="42778"/>
                  </a:lnTo>
                  <a:lnTo>
                    <a:pt x="14447" y="38098"/>
                  </a:lnTo>
                  <a:lnTo>
                    <a:pt x="17574" y="33417"/>
                  </a:lnTo>
                  <a:lnTo>
                    <a:pt x="21128" y="29088"/>
                  </a:lnTo>
                  <a:lnTo>
                    <a:pt x="25108" y="25108"/>
                  </a:lnTo>
                  <a:lnTo>
                    <a:pt x="29088" y="21127"/>
                  </a:lnTo>
                  <a:lnTo>
                    <a:pt x="33418" y="17574"/>
                  </a:lnTo>
                  <a:lnTo>
                    <a:pt x="69000" y="1647"/>
                  </a:lnTo>
                  <a:lnTo>
                    <a:pt x="74521" y="549"/>
                  </a:lnTo>
                  <a:lnTo>
                    <a:pt x="80096" y="0"/>
                  </a:lnTo>
                  <a:lnTo>
                    <a:pt x="85725" y="0"/>
                  </a:lnTo>
                  <a:lnTo>
                    <a:pt x="5229224" y="0"/>
                  </a:lnTo>
                  <a:lnTo>
                    <a:pt x="5234852" y="0"/>
                  </a:lnTo>
                  <a:lnTo>
                    <a:pt x="5240427" y="549"/>
                  </a:lnTo>
                  <a:lnTo>
                    <a:pt x="5276850" y="14447"/>
                  </a:lnTo>
                  <a:lnTo>
                    <a:pt x="5289841" y="25108"/>
                  </a:lnTo>
                  <a:lnTo>
                    <a:pt x="5293821" y="29088"/>
                  </a:lnTo>
                  <a:lnTo>
                    <a:pt x="5297375" y="33417"/>
                  </a:lnTo>
                  <a:lnTo>
                    <a:pt x="5300502" y="38098"/>
                  </a:lnTo>
                  <a:lnTo>
                    <a:pt x="5303629" y="42778"/>
                  </a:lnTo>
                  <a:lnTo>
                    <a:pt x="5306269" y="47718"/>
                  </a:lnTo>
                  <a:lnTo>
                    <a:pt x="5308423" y="52918"/>
                  </a:lnTo>
                  <a:lnTo>
                    <a:pt x="5310577" y="58119"/>
                  </a:lnTo>
                  <a:lnTo>
                    <a:pt x="5314949" y="85724"/>
                  </a:lnTo>
                  <a:lnTo>
                    <a:pt x="5314949" y="923924"/>
                  </a:lnTo>
                  <a:lnTo>
                    <a:pt x="5314949" y="929553"/>
                  </a:lnTo>
                  <a:lnTo>
                    <a:pt x="5314400" y="935128"/>
                  </a:lnTo>
                  <a:lnTo>
                    <a:pt x="5313302" y="940648"/>
                  </a:lnTo>
                  <a:lnTo>
                    <a:pt x="5312203" y="946168"/>
                  </a:lnTo>
                  <a:lnTo>
                    <a:pt x="5310577" y="951529"/>
                  </a:lnTo>
                  <a:lnTo>
                    <a:pt x="5308423" y="956729"/>
                  </a:lnTo>
                  <a:lnTo>
                    <a:pt x="5306269" y="961930"/>
                  </a:lnTo>
                  <a:lnTo>
                    <a:pt x="5289841" y="984540"/>
                  </a:lnTo>
                  <a:lnTo>
                    <a:pt x="5285860" y="988520"/>
                  </a:lnTo>
                  <a:lnTo>
                    <a:pt x="5281530" y="992074"/>
                  </a:lnTo>
                  <a:lnTo>
                    <a:pt x="5276850" y="995201"/>
                  </a:lnTo>
                  <a:lnTo>
                    <a:pt x="5272169" y="998329"/>
                  </a:lnTo>
                  <a:lnTo>
                    <a:pt x="5234852" y="1009649"/>
                  </a:lnTo>
                  <a:lnTo>
                    <a:pt x="5229224" y="1009649"/>
                  </a:lnTo>
                  <a:lnTo>
                    <a:pt x="85725" y="1009649"/>
                  </a:lnTo>
                  <a:lnTo>
                    <a:pt x="80096" y="1009649"/>
                  </a:lnTo>
                  <a:lnTo>
                    <a:pt x="74521" y="1009100"/>
                  </a:lnTo>
                  <a:lnTo>
                    <a:pt x="69000" y="1008002"/>
                  </a:lnTo>
                  <a:lnTo>
                    <a:pt x="63480" y="1006904"/>
                  </a:lnTo>
                  <a:lnTo>
                    <a:pt x="58119" y="1005278"/>
                  </a:lnTo>
                  <a:lnTo>
                    <a:pt x="52919" y="1003124"/>
                  </a:lnTo>
                  <a:lnTo>
                    <a:pt x="47719" y="1000970"/>
                  </a:lnTo>
                  <a:lnTo>
                    <a:pt x="42778" y="998329"/>
                  </a:lnTo>
                  <a:lnTo>
                    <a:pt x="38098" y="995201"/>
                  </a:lnTo>
                  <a:lnTo>
                    <a:pt x="33418" y="992074"/>
                  </a:lnTo>
                  <a:lnTo>
                    <a:pt x="29088" y="988520"/>
                  </a:lnTo>
                  <a:lnTo>
                    <a:pt x="25108" y="984540"/>
                  </a:lnTo>
                  <a:lnTo>
                    <a:pt x="21128" y="980560"/>
                  </a:lnTo>
                  <a:lnTo>
                    <a:pt x="17574" y="976231"/>
                  </a:lnTo>
                  <a:lnTo>
                    <a:pt x="14447" y="971550"/>
                  </a:lnTo>
                  <a:lnTo>
                    <a:pt x="11320" y="966870"/>
                  </a:lnTo>
                  <a:lnTo>
                    <a:pt x="8679" y="961930"/>
                  </a:lnTo>
                  <a:lnTo>
                    <a:pt x="6525" y="956729"/>
                  </a:lnTo>
                  <a:lnTo>
                    <a:pt x="4371" y="951529"/>
                  </a:lnTo>
                  <a:lnTo>
                    <a:pt x="2745" y="946168"/>
                  </a:lnTo>
                  <a:lnTo>
                    <a:pt x="1647" y="940648"/>
                  </a:lnTo>
                  <a:lnTo>
                    <a:pt x="549" y="935128"/>
                  </a:lnTo>
                  <a:lnTo>
                    <a:pt x="0" y="929553"/>
                  </a:lnTo>
                  <a:lnTo>
                    <a:pt x="0" y="923924"/>
                  </a:lnTo>
                  <a:close/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1999" y="4686299"/>
              <a:ext cx="333374" cy="333374"/>
            </a:xfrm>
            <a:prstGeom prst="rect">
              <a:avLst/>
            </a:prstGeom>
          </p:spPr>
        </p:pic>
      </p:grpSp>
      <p:sp>
        <p:nvSpPr>
          <p:cNvPr id="37" name="object 37" descr=""/>
          <p:cNvSpPr txBox="1"/>
          <p:nvPr/>
        </p:nvSpPr>
        <p:spPr>
          <a:xfrm>
            <a:off x="870892" y="4741509"/>
            <a:ext cx="115570" cy="229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50" b="1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196974" y="4741989"/>
            <a:ext cx="9588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 b="1">
                <a:solidFill>
                  <a:srgbClr val="3A6EA5"/>
                </a:solidFill>
                <a:latin typeface="Malgun Gothic"/>
                <a:cs typeface="Malgun Gothic"/>
              </a:rPr>
              <a:t>解</a:t>
            </a:r>
            <a:r>
              <a:rPr dirty="0" sz="1150" spc="-110" b="1">
                <a:solidFill>
                  <a:srgbClr val="3A6EA5"/>
                </a:solidFill>
                <a:latin typeface="Microsoft JhengHei"/>
                <a:cs typeface="Microsoft JhengHei"/>
              </a:rPr>
              <a:t>釈可能性</a:t>
            </a:r>
            <a:r>
              <a:rPr dirty="0" sz="1150" spc="-80" b="1">
                <a:solidFill>
                  <a:srgbClr val="3A6EA5"/>
                </a:solidFill>
                <a:latin typeface="Malgun Gothic"/>
                <a:cs typeface="Malgun Gothic"/>
              </a:rPr>
              <a:t>向上</a:t>
            </a:r>
            <a:endParaRPr sz="1150">
              <a:latin typeface="Malgun Gothic"/>
              <a:cs typeface="Malgun Gothic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196974" y="5079079"/>
            <a:ext cx="2852420" cy="3105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85"/>
              </a:spcBef>
            </a:pPr>
            <a:r>
              <a:rPr dirty="0" sz="900" spc="35">
                <a:solidFill>
                  <a:srgbClr val="444444"/>
                </a:solidFill>
                <a:latin typeface="MS PGothic"/>
                <a:cs typeface="MS PGothic"/>
              </a:rPr>
              <a:t>アテンションマップにより</a:t>
            </a:r>
            <a:r>
              <a:rPr dirty="0" sz="900" spc="-90" b="1">
                <a:solidFill>
                  <a:srgbClr val="444444"/>
                </a:solidFill>
                <a:latin typeface="Microsoft JhengHei"/>
                <a:cs typeface="Microsoft JhengHei"/>
              </a:rPr>
              <a:t>学</a:t>
            </a:r>
            <a:r>
              <a:rPr dirty="0" sz="900" spc="-90" b="1">
                <a:solidFill>
                  <a:srgbClr val="444444"/>
                </a:solidFill>
                <a:latin typeface="Malgun Gothic"/>
                <a:cs typeface="Malgun Gothic"/>
              </a:rPr>
              <a:t>習された周波</a:t>
            </a:r>
            <a:r>
              <a:rPr dirty="0" sz="900" spc="-90" b="1">
                <a:solidFill>
                  <a:srgbClr val="444444"/>
                </a:solidFill>
                <a:latin typeface="Microsoft JhengHei"/>
                <a:cs typeface="Microsoft JhengHei"/>
              </a:rPr>
              <a:t>数</a:t>
            </a:r>
            <a:r>
              <a:rPr dirty="0" sz="900" spc="-90" b="1">
                <a:solidFill>
                  <a:srgbClr val="444444"/>
                </a:solidFill>
                <a:latin typeface="Malgun Gothic"/>
                <a:cs typeface="Malgun Gothic"/>
              </a:rPr>
              <a:t>重</a:t>
            </a:r>
            <a:r>
              <a:rPr dirty="0" sz="900" spc="-90" b="1">
                <a:solidFill>
                  <a:srgbClr val="444444"/>
                </a:solidFill>
                <a:latin typeface="Microsoft JhengHei"/>
                <a:cs typeface="Microsoft JhengHei"/>
              </a:rPr>
              <a:t>要度</a:t>
            </a:r>
            <a:r>
              <a:rPr dirty="0" sz="900" spc="-90" b="1">
                <a:solidFill>
                  <a:srgbClr val="444444"/>
                </a:solidFill>
                <a:latin typeface="Malgun Gothic"/>
                <a:cs typeface="Malgun Gothic"/>
              </a:rPr>
              <a:t>を</a:t>
            </a:r>
            <a:r>
              <a:rPr dirty="0" sz="900" spc="-90" b="1">
                <a:solidFill>
                  <a:srgbClr val="444444"/>
                </a:solidFill>
                <a:latin typeface="Microsoft JhengHei"/>
                <a:cs typeface="Microsoft JhengHei"/>
              </a:rPr>
              <a:t>可</a:t>
            </a:r>
            <a:r>
              <a:rPr dirty="0" sz="900" spc="-70" b="1">
                <a:solidFill>
                  <a:srgbClr val="444444"/>
                </a:solidFill>
                <a:latin typeface="Malgun Gothic"/>
                <a:cs typeface="Malgun Gothic"/>
              </a:rPr>
              <a:t>視化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特徴空間</a:t>
            </a:r>
            <a:r>
              <a:rPr dirty="0" sz="900" spc="-45">
                <a:solidFill>
                  <a:srgbClr val="444444"/>
                </a:solidFill>
                <a:latin typeface="MS PGothic"/>
                <a:cs typeface="MS PGothic"/>
              </a:rPr>
              <a:t>での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正常</a:t>
            </a:r>
            <a:r>
              <a:rPr dirty="0" sz="900" spc="560">
                <a:solidFill>
                  <a:srgbClr val="444444"/>
                </a:solidFill>
                <a:latin typeface="MS PGothic"/>
                <a:cs typeface="MS PGothic"/>
              </a:rPr>
              <a:t>‧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異常音分離改善</a:t>
            </a:r>
            <a:r>
              <a:rPr dirty="0" sz="900">
                <a:solidFill>
                  <a:srgbClr val="444444"/>
                </a:solidFill>
                <a:latin typeface="MS PGothic"/>
                <a:cs typeface="MS PGothic"/>
              </a:rPr>
              <a:t>を</a:t>
            </a:r>
            <a:r>
              <a:rPr dirty="0" sz="900" spc="-70">
                <a:solidFill>
                  <a:srgbClr val="444444"/>
                </a:solidFill>
                <a:latin typeface="SimSun"/>
                <a:cs typeface="SimSun"/>
              </a:rPr>
              <a:t>実証</a:t>
            </a:r>
            <a:endParaRPr sz="900">
              <a:latin typeface="SimSun"/>
              <a:cs typeface="SimSun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5448299" y="4591050"/>
            <a:ext cx="419100" cy="171450"/>
          </a:xfrm>
          <a:custGeom>
            <a:avLst/>
            <a:gdLst/>
            <a:ahLst/>
            <a:cxnLst/>
            <a:rect l="l" t="t" r="r" b="b"/>
            <a:pathLst>
              <a:path w="419100" h="171450">
                <a:moveTo>
                  <a:pt x="339003" y="171449"/>
                </a:moveTo>
                <a:lnTo>
                  <a:pt x="80096" y="171449"/>
                </a:lnTo>
                <a:lnTo>
                  <a:pt x="74521" y="170900"/>
                </a:lnTo>
                <a:lnTo>
                  <a:pt x="33418" y="153875"/>
                </a:lnTo>
                <a:lnTo>
                  <a:pt x="8679" y="123730"/>
                </a:lnTo>
                <a:lnTo>
                  <a:pt x="0" y="91353"/>
                </a:lnTo>
                <a:lnTo>
                  <a:pt x="0" y="85724"/>
                </a:lnTo>
                <a:lnTo>
                  <a:pt x="0" y="80096"/>
                </a:lnTo>
                <a:lnTo>
                  <a:pt x="11320" y="42778"/>
                </a:lnTo>
                <a:lnTo>
                  <a:pt x="42778" y="11320"/>
                </a:lnTo>
                <a:lnTo>
                  <a:pt x="80096" y="0"/>
                </a:lnTo>
                <a:lnTo>
                  <a:pt x="339003" y="0"/>
                </a:lnTo>
                <a:lnTo>
                  <a:pt x="376321" y="11320"/>
                </a:lnTo>
                <a:lnTo>
                  <a:pt x="407779" y="42778"/>
                </a:lnTo>
                <a:lnTo>
                  <a:pt x="419099" y="80096"/>
                </a:lnTo>
                <a:lnTo>
                  <a:pt x="419099" y="91353"/>
                </a:lnTo>
                <a:lnTo>
                  <a:pt x="407779" y="128671"/>
                </a:lnTo>
                <a:lnTo>
                  <a:pt x="376321" y="160129"/>
                </a:lnTo>
                <a:lnTo>
                  <a:pt x="344578" y="170900"/>
                </a:lnTo>
                <a:lnTo>
                  <a:pt x="339003" y="171449"/>
                </a:lnTo>
                <a:close/>
              </a:path>
            </a:pathLst>
          </a:custGeom>
          <a:solidFill>
            <a:srgbClr val="28A6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5510311" y="4607542"/>
            <a:ext cx="294005" cy="1276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45" b="1">
                <a:solidFill>
                  <a:srgbClr val="FFFFFF"/>
                </a:solidFill>
                <a:latin typeface="Arial"/>
                <a:cs typeface="Arial"/>
              </a:rPr>
              <a:t>VISUAL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600074" y="5667374"/>
            <a:ext cx="5334000" cy="1028700"/>
            <a:chOff x="600074" y="5667374"/>
            <a:chExt cx="5334000" cy="1028700"/>
          </a:xfrm>
        </p:grpSpPr>
        <p:sp>
          <p:nvSpPr>
            <p:cNvPr id="43" name="object 43" descr=""/>
            <p:cNvSpPr/>
            <p:nvPr/>
          </p:nvSpPr>
          <p:spPr>
            <a:xfrm>
              <a:off x="609599" y="5676899"/>
              <a:ext cx="5314950" cy="1009650"/>
            </a:xfrm>
            <a:custGeom>
              <a:avLst/>
              <a:gdLst/>
              <a:ahLst/>
              <a:cxnLst/>
              <a:rect l="l" t="t" r="r" b="b"/>
              <a:pathLst>
                <a:path w="5314950" h="1009650">
                  <a:moveTo>
                    <a:pt x="5234852" y="1009649"/>
                  </a:moveTo>
                  <a:lnTo>
                    <a:pt x="80096" y="1009649"/>
                  </a:lnTo>
                  <a:lnTo>
                    <a:pt x="74521" y="1009100"/>
                  </a:lnTo>
                  <a:lnTo>
                    <a:pt x="33418" y="992074"/>
                  </a:lnTo>
                  <a:lnTo>
                    <a:pt x="8679" y="961929"/>
                  </a:lnTo>
                  <a:lnTo>
                    <a:pt x="0" y="929553"/>
                  </a:lnTo>
                  <a:lnTo>
                    <a:pt x="0" y="923924"/>
                  </a:lnTo>
                  <a:lnTo>
                    <a:pt x="0" y="80095"/>
                  </a:lnTo>
                  <a:lnTo>
                    <a:pt x="11320" y="42778"/>
                  </a:lnTo>
                  <a:lnTo>
                    <a:pt x="42778" y="11320"/>
                  </a:lnTo>
                  <a:lnTo>
                    <a:pt x="80096" y="0"/>
                  </a:lnTo>
                  <a:lnTo>
                    <a:pt x="5234852" y="0"/>
                  </a:lnTo>
                  <a:lnTo>
                    <a:pt x="5272169" y="11319"/>
                  </a:lnTo>
                  <a:lnTo>
                    <a:pt x="5303629" y="42778"/>
                  </a:lnTo>
                  <a:lnTo>
                    <a:pt x="5314949" y="80095"/>
                  </a:lnTo>
                  <a:lnTo>
                    <a:pt x="5314949" y="929553"/>
                  </a:lnTo>
                  <a:lnTo>
                    <a:pt x="5303629" y="966869"/>
                  </a:lnTo>
                  <a:lnTo>
                    <a:pt x="5272169" y="998328"/>
                  </a:lnTo>
                  <a:lnTo>
                    <a:pt x="5240427" y="1009100"/>
                  </a:lnTo>
                  <a:lnTo>
                    <a:pt x="5234852" y="1009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09599" y="5676899"/>
              <a:ext cx="5314950" cy="1009650"/>
            </a:xfrm>
            <a:custGeom>
              <a:avLst/>
              <a:gdLst/>
              <a:ahLst/>
              <a:cxnLst/>
              <a:rect l="l" t="t" r="r" b="b"/>
              <a:pathLst>
                <a:path w="5314950" h="1009650">
                  <a:moveTo>
                    <a:pt x="0" y="923924"/>
                  </a:moveTo>
                  <a:lnTo>
                    <a:pt x="0" y="85724"/>
                  </a:lnTo>
                  <a:lnTo>
                    <a:pt x="0" y="80095"/>
                  </a:lnTo>
                  <a:lnTo>
                    <a:pt x="548" y="74520"/>
                  </a:lnTo>
                  <a:lnTo>
                    <a:pt x="1647" y="69000"/>
                  </a:lnTo>
                  <a:lnTo>
                    <a:pt x="2745" y="63479"/>
                  </a:lnTo>
                  <a:lnTo>
                    <a:pt x="4371" y="58119"/>
                  </a:lnTo>
                  <a:lnTo>
                    <a:pt x="6525" y="52918"/>
                  </a:lnTo>
                  <a:lnTo>
                    <a:pt x="8679" y="47718"/>
                  </a:lnTo>
                  <a:lnTo>
                    <a:pt x="11320" y="42778"/>
                  </a:lnTo>
                  <a:lnTo>
                    <a:pt x="14447" y="38098"/>
                  </a:lnTo>
                  <a:lnTo>
                    <a:pt x="17574" y="33418"/>
                  </a:lnTo>
                  <a:lnTo>
                    <a:pt x="21128" y="29088"/>
                  </a:lnTo>
                  <a:lnTo>
                    <a:pt x="25108" y="25108"/>
                  </a:lnTo>
                  <a:lnTo>
                    <a:pt x="29088" y="21128"/>
                  </a:lnTo>
                  <a:lnTo>
                    <a:pt x="63480" y="2745"/>
                  </a:lnTo>
                  <a:lnTo>
                    <a:pt x="80096" y="0"/>
                  </a:lnTo>
                  <a:lnTo>
                    <a:pt x="85725" y="0"/>
                  </a:lnTo>
                  <a:lnTo>
                    <a:pt x="5229224" y="0"/>
                  </a:lnTo>
                  <a:lnTo>
                    <a:pt x="5234852" y="0"/>
                  </a:lnTo>
                  <a:lnTo>
                    <a:pt x="5240427" y="548"/>
                  </a:lnTo>
                  <a:lnTo>
                    <a:pt x="5276850" y="14446"/>
                  </a:lnTo>
                  <a:lnTo>
                    <a:pt x="5289841" y="25108"/>
                  </a:lnTo>
                  <a:lnTo>
                    <a:pt x="5293821" y="29088"/>
                  </a:lnTo>
                  <a:lnTo>
                    <a:pt x="5308423" y="52918"/>
                  </a:lnTo>
                  <a:lnTo>
                    <a:pt x="5310577" y="58119"/>
                  </a:lnTo>
                  <a:lnTo>
                    <a:pt x="5312203" y="63479"/>
                  </a:lnTo>
                  <a:lnTo>
                    <a:pt x="5313302" y="69000"/>
                  </a:lnTo>
                  <a:lnTo>
                    <a:pt x="5314400" y="74520"/>
                  </a:lnTo>
                  <a:lnTo>
                    <a:pt x="5314949" y="80095"/>
                  </a:lnTo>
                  <a:lnTo>
                    <a:pt x="5314949" y="85724"/>
                  </a:lnTo>
                  <a:lnTo>
                    <a:pt x="5314949" y="923924"/>
                  </a:lnTo>
                  <a:lnTo>
                    <a:pt x="5308423" y="956729"/>
                  </a:lnTo>
                  <a:lnTo>
                    <a:pt x="5306269" y="961929"/>
                  </a:lnTo>
                  <a:lnTo>
                    <a:pt x="5281530" y="992074"/>
                  </a:lnTo>
                  <a:lnTo>
                    <a:pt x="5276850" y="995201"/>
                  </a:lnTo>
                  <a:lnTo>
                    <a:pt x="5272169" y="998328"/>
                  </a:lnTo>
                  <a:lnTo>
                    <a:pt x="5234852" y="1009649"/>
                  </a:lnTo>
                  <a:lnTo>
                    <a:pt x="5229224" y="1009649"/>
                  </a:lnTo>
                  <a:lnTo>
                    <a:pt x="85725" y="1009649"/>
                  </a:lnTo>
                  <a:lnTo>
                    <a:pt x="47719" y="1000969"/>
                  </a:lnTo>
                  <a:lnTo>
                    <a:pt x="38098" y="995201"/>
                  </a:lnTo>
                  <a:lnTo>
                    <a:pt x="33418" y="992074"/>
                  </a:lnTo>
                  <a:lnTo>
                    <a:pt x="8679" y="961929"/>
                  </a:lnTo>
                  <a:lnTo>
                    <a:pt x="0" y="929553"/>
                  </a:lnTo>
                  <a:lnTo>
                    <a:pt x="0" y="923924"/>
                  </a:lnTo>
                  <a:close/>
                </a:path>
              </a:pathLst>
            </a:custGeom>
            <a:ln w="19049">
              <a:solidFill>
                <a:srgbClr val="3A6EA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1999" y="5829299"/>
              <a:ext cx="333374" cy="333374"/>
            </a:xfrm>
            <a:prstGeom prst="rect">
              <a:avLst/>
            </a:prstGeom>
          </p:spPr>
        </p:pic>
      </p:grpSp>
      <p:sp>
        <p:nvSpPr>
          <p:cNvPr id="46" name="object 46" descr=""/>
          <p:cNvSpPr txBox="1"/>
          <p:nvPr/>
        </p:nvSpPr>
        <p:spPr>
          <a:xfrm>
            <a:off x="870892" y="5874983"/>
            <a:ext cx="115570" cy="229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50" b="1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196974" y="5884989"/>
            <a:ext cx="135509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 b="1">
                <a:solidFill>
                  <a:srgbClr val="3A6EA5"/>
                </a:solidFill>
                <a:latin typeface="Malgun Gothic"/>
                <a:cs typeface="Malgun Gothic"/>
              </a:rPr>
              <a:t>汎用</a:t>
            </a:r>
            <a:r>
              <a:rPr dirty="0" sz="1150" spc="-114" b="1">
                <a:solidFill>
                  <a:srgbClr val="3A6EA5"/>
                </a:solidFill>
                <a:latin typeface="Microsoft JhengHei"/>
                <a:cs typeface="Microsoft JhengHei"/>
              </a:rPr>
              <a:t>的フレームワーク</a:t>
            </a:r>
            <a:endParaRPr sz="1150">
              <a:latin typeface="Microsoft JhengHei"/>
              <a:cs typeface="Microsoft JhengHe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196974" y="6214448"/>
            <a:ext cx="2341880" cy="31813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65"/>
              </a:spcBef>
            </a:pPr>
            <a:r>
              <a:rPr dirty="0" sz="1000" spc="-110">
                <a:solidFill>
                  <a:srgbClr val="444444"/>
                </a:solidFill>
                <a:latin typeface="Microsoft Sans Serif"/>
                <a:cs typeface="Microsoft Sans Serif"/>
              </a:rPr>
              <a:t>STgram-</a:t>
            </a:r>
            <a:r>
              <a:rPr dirty="0" sz="1000" spc="-160">
                <a:solidFill>
                  <a:srgbClr val="444444"/>
                </a:solidFill>
                <a:latin typeface="Microsoft Sans Serif"/>
                <a:cs typeface="Microsoft Sans Serif"/>
              </a:rPr>
              <a:t>MFN</a:t>
            </a:r>
            <a:r>
              <a:rPr dirty="0" sz="1000" spc="-4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60">
                <a:solidFill>
                  <a:srgbClr val="444444"/>
                </a:solidFill>
                <a:latin typeface="MS PGothic"/>
                <a:cs typeface="MS PGothic"/>
              </a:rPr>
              <a:t>ベースの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既存手法</a:t>
            </a:r>
            <a:r>
              <a:rPr dirty="0" sz="900" spc="-35">
                <a:solidFill>
                  <a:srgbClr val="444444"/>
                </a:solidFill>
                <a:latin typeface="MS PGothic"/>
                <a:cs typeface="MS PGothic"/>
              </a:rPr>
              <a:t>に</a:t>
            </a:r>
            <a:r>
              <a:rPr dirty="0" sz="900" spc="-90" b="1">
                <a:solidFill>
                  <a:srgbClr val="444444"/>
                </a:solidFill>
                <a:latin typeface="Malgun Gothic"/>
                <a:cs typeface="Malgun Gothic"/>
              </a:rPr>
              <a:t>容易に統合</a:t>
            </a:r>
            <a:r>
              <a:rPr dirty="0" sz="900" spc="-70" b="1">
                <a:solidFill>
                  <a:srgbClr val="444444"/>
                </a:solidFill>
                <a:latin typeface="Microsoft JhengHei"/>
                <a:cs typeface="Microsoft JhengHei"/>
              </a:rPr>
              <a:t>可能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多様</a:t>
            </a:r>
            <a:r>
              <a:rPr dirty="0" sz="900">
                <a:solidFill>
                  <a:srgbClr val="444444"/>
                </a:solidFill>
                <a:latin typeface="MS PGothic"/>
                <a:cs typeface="MS PGothic"/>
              </a:rPr>
              <a:t>な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機械音</a:t>
            </a:r>
            <a:r>
              <a:rPr dirty="0" sz="900" spc="560">
                <a:solidFill>
                  <a:srgbClr val="444444"/>
                </a:solidFill>
                <a:latin typeface="MS PGothic"/>
                <a:cs typeface="MS PGothic"/>
              </a:rPr>
              <a:t>‧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環境条件</a:t>
            </a:r>
            <a:r>
              <a:rPr dirty="0" sz="900" spc="-90">
                <a:solidFill>
                  <a:srgbClr val="444444"/>
                </a:solidFill>
                <a:latin typeface="MS PGothic"/>
                <a:cs typeface="MS PGothic"/>
              </a:rPr>
              <a:t>への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適応性</a:t>
            </a:r>
            <a:r>
              <a:rPr dirty="0" sz="900">
                <a:solidFill>
                  <a:srgbClr val="444444"/>
                </a:solidFill>
                <a:latin typeface="MS PGothic"/>
                <a:cs typeface="MS PGothic"/>
              </a:rPr>
              <a:t>を</a:t>
            </a:r>
            <a:r>
              <a:rPr dirty="0" sz="900" spc="-70">
                <a:solidFill>
                  <a:srgbClr val="444444"/>
                </a:solidFill>
                <a:latin typeface="SimSun"/>
                <a:cs typeface="SimSun"/>
              </a:rPr>
              <a:t>確認</a:t>
            </a:r>
            <a:endParaRPr sz="900">
              <a:latin typeface="SimSun"/>
              <a:cs typeface="SimSun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5400674" y="5734049"/>
            <a:ext cx="466725" cy="171450"/>
          </a:xfrm>
          <a:custGeom>
            <a:avLst/>
            <a:gdLst/>
            <a:ahLst/>
            <a:cxnLst/>
            <a:rect l="l" t="t" r="r" b="b"/>
            <a:pathLst>
              <a:path w="466725" h="171450">
                <a:moveTo>
                  <a:pt x="386628" y="171449"/>
                </a:moveTo>
                <a:lnTo>
                  <a:pt x="80096" y="171449"/>
                </a:lnTo>
                <a:lnTo>
                  <a:pt x="74521" y="170900"/>
                </a:lnTo>
                <a:lnTo>
                  <a:pt x="33418" y="153875"/>
                </a:lnTo>
                <a:lnTo>
                  <a:pt x="8679" y="123730"/>
                </a:lnTo>
                <a:lnTo>
                  <a:pt x="0" y="91353"/>
                </a:lnTo>
                <a:lnTo>
                  <a:pt x="0" y="85724"/>
                </a:lnTo>
                <a:lnTo>
                  <a:pt x="0" y="80096"/>
                </a:lnTo>
                <a:lnTo>
                  <a:pt x="11320" y="42778"/>
                </a:lnTo>
                <a:lnTo>
                  <a:pt x="42778" y="11320"/>
                </a:lnTo>
                <a:lnTo>
                  <a:pt x="80096" y="0"/>
                </a:lnTo>
                <a:lnTo>
                  <a:pt x="386628" y="0"/>
                </a:lnTo>
                <a:lnTo>
                  <a:pt x="423946" y="11320"/>
                </a:lnTo>
                <a:lnTo>
                  <a:pt x="455404" y="42778"/>
                </a:lnTo>
                <a:lnTo>
                  <a:pt x="466724" y="80096"/>
                </a:lnTo>
                <a:lnTo>
                  <a:pt x="466724" y="91353"/>
                </a:lnTo>
                <a:lnTo>
                  <a:pt x="455404" y="128671"/>
                </a:lnTo>
                <a:lnTo>
                  <a:pt x="423946" y="160129"/>
                </a:lnTo>
                <a:lnTo>
                  <a:pt x="392203" y="170900"/>
                </a:lnTo>
                <a:lnTo>
                  <a:pt x="386628" y="171449"/>
                </a:lnTo>
                <a:close/>
              </a:path>
            </a:pathLst>
          </a:custGeom>
          <a:solidFill>
            <a:srgbClr val="28A6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5467151" y="5750541"/>
            <a:ext cx="337185" cy="1276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50" b="1">
                <a:solidFill>
                  <a:srgbClr val="FFFFFF"/>
                </a:solidFill>
                <a:latin typeface="Arial"/>
                <a:cs typeface="Arial"/>
              </a:rPr>
              <a:t>ROBUST</a:t>
            </a:r>
            <a:endParaRPr sz="650">
              <a:latin typeface="Arial"/>
              <a:cs typeface="Arial"/>
            </a:endParaRPr>
          </a:p>
        </p:txBody>
      </p:sp>
      <p:pic>
        <p:nvPicPr>
          <p:cNvPr id="51" name="object 5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86524" y="1914524"/>
            <a:ext cx="2933699" cy="5048249"/>
          </a:xfrm>
          <a:prstGeom prst="rect">
            <a:avLst/>
          </a:prstGeom>
        </p:spPr>
      </p:pic>
      <p:sp>
        <p:nvSpPr>
          <p:cNvPr id="52" name="object 52" descr=""/>
          <p:cNvSpPr txBox="1"/>
          <p:nvPr/>
        </p:nvSpPr>
        <p:spPr>
          <a:xfrm>
            <a:off x="7407275" y="3017964"/>
            <a:ext cx="109220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10" b="1">
                <a:solidFill>
                  <a:srgbClr val="2E7D32"/>
                </a:solidFill>
                <a:latin typeface="Malgun Gothic"/>
                <a:cs typeface="Malgun Gothic"/>
              </a:rPr>
              <a:t>私の</a:t>
            </a:r>
            <a:r>
              <a:rPr dirty="0" sz="1150" spc="-110" b="1">
                <a:solidFill>
                  <a:srgbClr val="2E7D32"/>
                </a:solidFill>
                <a:latin typeface="Microsoft JhengHei"/>
                <a:cs typeface="Microsoft JhengHei"/>
              </a:rPr>
              <a:t>研</a:t>
            </a:r>
            <a:r>
              <a:rPr dirty="0" sz="1150" spc="-110" b="1">
                <a:solidFill>
                  <a:srgbClr val="2E7D32"/>
                </a:solidFill>
                <a:latin typeface="Malgun Gothic"/>
                <a:cs typeface="Malgun Gothic"/>
              </a:rPr>
              <a:t>究への</a:t>
            </a:r>
            <a:r>
              <a:rPr dirty="0" sz="1150" spc="-110" b="1">
                <a:solidFill>
                  <a:srgbClr val="2E7D32"/>
                </a:solidFill>
                <a:latin typeface="Microsoft JhengHei"/>
                <a:cs typeface="Microsoft JhengHei"/>
              </a:rPr>
              <a:t>応</a:t>
            </a:r>
            <a:r>
              <a:rPr dirty="0" sz="1150" spc="-50" b="1">
                <a:solidFill>
                  <a:srgbClr val="2E7D32"/>
                </a:solidFill>
                <a:latin typeface="Malgun Gothic"/>
                <a:cs typeface="Malgun Gothic"/>
              </a:rPr>
              <a:t>用</a:t>
            </a:r>
            <a:endParaRPr sz="1150">
              <a:latin typeface="Malgun Gothic"/>
              <a:cs typeface="Malgun Gothic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7151885" y="3299798"/>
            <a:ext cx="1603375" cy="31813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54610">
              <a:lnSpc>
                <a:spcPct val="102099"/>
              </a:lnSpc>
              <a:spcBef>
                <a:spcPts val="65"/>
              </a:spcBef>
            </a:pPr>
            <a:r>
              <a:rPr dirty="0" sz="1000" spc="-160">
                <a:solidFill>
                  <a:srgbClr val="444444"/>
                </a:solidFill>
                <a:latin typeface="Microsoft Sans Serif"/>
                <a:cs typeface="Microsoft Sans Serif"/>
              </a:rPr>
              <a:t>CNN</a:t>
            </a:r>
            <a:r>
              <a:rPr dirty="0" sz="900" spc="-40">
                <a:solidFill>
                  <a:srgbClr val="444444"/>
                </a:solidFill>
                <a:latin typeface="MS PGothic"/>
                <a:cs typeface="MS PGothic"/>
              </a:rPr>
              <a:t>アンサンブル</a:t>
            </a:r>
            <a:r>
              <a:rPr dirty="0" sz="900" spc="-90">
                <a:solidFill>
                  <a:srgbClr val="444444"/>
                </a:solidFill>
                <a:latin typeface="SimSun"/>
                <a:cs typeface="SimSun"/>
              </a:rPr>
              <a:t>沸騰検知</a:t>
            </a:r>
            <a:r>
              <a:rPr dirty="0" sz="900" spc="-25">
                <a:solidFill>
                  <a:srgbClr val="444444"/>
                </a:solidFill>
                <a:latin typeface="MS PGothic"/>
                <a:cs typeface="MS PGothic"/>
              </a:rPr>
              <a:t>での</a:t>
            </a:r>
            <a:r>
              <a:rPr dirty="0" sz="900" spc="-50">
                <a:solidFill>
                  <a:srgbClr val="444444"/>
                </a:solidFill>
                <a:latin typeface="MS PGothic"/>
                <a:cs typeface="MS PGothic"/>
              </a:rPr>
              <a:t> </a:t>
            </a:r>
            <a:r>
              <a:rPr dirty="0" sz="900" spc="-80" b="1">
                <a:solidFill>
                  <a:srgbClr val="444444"/>
                </a:solidFill>
                <a:latin typeface="Arial"/>
                <a:cs typeface="Arial"/>
              </a:rPr>
              <a:t>SNR</a:t>
            </a:r>
            <a:r>
              <a:rPr dirty="0" sz="900" spc="-90" b="1">
                <a:solidFill>
                  <a:srgbClr val="444444"/>
                </a:solidFill>
                <a:latin typeface="Malgun Gothic"/>
                <a:cs typeface="Malgun Gothic"/>
              </a:rPr>
              <a:t>低</a:t>
            </a:r>
            <a:r>
              <a:rPr dirty="0" sz="900" spc="-90" b="1">
                <a:solidFill>
                  <a:srgbClr val="444444"/>
                </a:solidFill>
                <a:latin typeface="Microsoft JhengHei"/>
                <a:cs typeface="Microsoft JhengHei"/>
              </a:rPr>
              <a:t>下</a:t>
            </a:r>
            <a:r>
              <a:rPr dirty="0" sz="900" spc="-90" b="1">
                <a:solidFill>
                  <a:srgbClr val="444444"/>
                </a:solidFill>
                <a:latin typeface="Malgun Gothic"/>
                <a:cs typeface="Malgun Gothic"/>
              </a:rPr>
              <a:t>問題解決</a:t>
            </a:r>
            <a:r>
              <a:rPr dirty="0" sz="900" spc="-90">
                <a:solidFill>
                  <a:srgbClr val="444444"/>
                </a:solidFill>
                <a:latin typeface="MS PGothic"/>
                <a:cs typeface="MS PGothic"/>
              </a:rPr>
              <a:t>への</a:t>
            </a:r>
            <a:r>
              <a:rPr dirty="0" sz="900" spc="-85">
                <a:solidFill>
                  <a:srgbClr val="444444"/>
                </a:solidFill>
                <a:latin typeface="SimSun"/>
                <a:cs typeface="SimSun"/>
              </a:rPr>
              <a:t>適用可能性</a:t>
            </a:r>
            <a:endParaRPr sz="900">
              <a:latin typeface="SimSun"/>
              <a:cs typeface="SimSun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6921500" y="3880167"/>
            <a:ext cx="164211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20">
                <a:solidFill>
                  <a:srgbClr val="666666"/>
                </a:solidFill>
                <a:latin typeface="SimSun"/>
                <a:cs typeface="SimSun"/>
              </a:rPr>
              <a:t>ノイズ環境下での重要周波数自動選択</a:t>
            </a:r>
            <a:endParaRPr sz="850">
              <a:latin typeface="SimSun"/>
              <a:cs typeface="SimSun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6921500" y="4076825"/>
            <a:ext cx="1424940" cy="158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spc="-35">
                <a:solidFill>
                  <a:srgbClr val="666666"/>
                </a:solidFill>
                <a:latin typeface="Arial MT"/>
                <a:cs typeface="Arial MT"/>
              </a:rPr>
              <a:t>-</a:t>
            </a:r>
            <a:r>
              <a:rPr dirty="0" sz="850" spc="-55">
                <a:solidFill>
                  <a:srgbClr val="666666"/>
                </a:solidFill>
                <a:latin typeface="Arial MT"/>
                <a:cs typeface="Arial MT"/>
              </a:rPr>
              <a:t>12dB</a:t>
            </a:r>
            <a:r>
              <a:rPr dirty="0" sz="850" spc="-110">
                <a:solidFill>
                  <a:srgbClr val="666666"/>
                </a:solidFill>
                <a:latin typeface="SimSun"/>
                <a:cs typeface="SimSun"/>
              </a:rPr>
              <a:t>以下</a:t>
            </a:r>
            <a:r>
              <a:rPr dirty="0" sz="850" spc="-114">
                <a:solidFill>
                  <a:srgbClr val="666666"/>
                </a:solidFill>
                <a:latin typeface="Arial MT"/>
                <a:cs typeface="Arial MT"/>
              </a:rPr>
              <a:t>SNR</a:t>
            </a:r>
            <a:r>
              <a:rPr dirty="0" sz="850" spc="-105">
                <a:solidFill>
                  <a:srgbClr val="666666"/>
                </a:solidFill>
                <a:latin typeface="SimSun"/>
                <a:cs typeface="SimSun"/>
              </a:rPr>
              <a:t>での予測精度改善</a:t>
            </a:r>
            <a:endParaRPr sz="850">
              <a:latin typeface="SimSun"/>
              <a:cs typeface="SimSun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6921500" y="4209351"/>
            <a:ext cx="1168400" cy="425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3495">
              <a:lnSpc>
                <a:spcPct val="154400"/>
              </a:lnSpc>
              <a:spcBef>
                <a:spcPts val="100"/>
              </a:spcBef>
            </a:pPr>
            <a:r>
              <a:rPr dirty="0" sz="850" spc="-105">
                <a:solidFill>
                  <a:srgbClr val="666666"/>
                </a:solidFill>
                <a:latin typeface="SimSun"/>
                <a:cs typeface="SimSun"/>
              </a:rPr>
              <a:t>沸騰音特徴の適応的強調</a:t>
            </a:r>
            <a:r>
              <a:rPr dirty="0" sz="850" spc="-114">
                <a:solidFill>
                  <a:srgbClr val="666666"/>
                </a:solidFill>
                <a:latin typeface="SimSun"/>
                <a:cs typeface="SimSun"/>
              </a:rPr>
              <a:t>熱流束予測モデルの最適化</a:t>
            </a:r>
            <a:endParaRPr sz="850">
              <a:latin typeface="SimSun"/>
              <a:cs typeface="SimSun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6921500" y="4680267"/>
            <a:ext cx="145161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14">
                <a:solidFill>
                  <a:srgbClr val="666666"/>
                </a:solidFill>
                <a:latin typeface="SimSun"/>
                <a:cs typeface="SimSun"/>
              </a:rPr>
              <a:t>ロバストな音響識別システム構築</a:t>
            </a:r>
            <a:endParaRPr sz="850">
              <a:latin typeface="SimSun"/>
              <a:cs typeface="SimSun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6835775" y="1964404"/>
            <a:ext cx="66040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80" b="1">
                <a:solidFill>
                  <a:srgbClr val="FFFFFF"/>
                </a:solidFill>
                <a:latin typeface="Arial"/>
                <a:cs typeface="Arial"/>
              </a:rPr>
              <a:t>SNR</a:t>
            </a:r>
            <a:r>
              <a:rPr dirty="0" sz="900" spc="-90" b="1">
                <a:solidFill>
                  <a:srgbClr val="FFFFFF"/>
                </a:solidFill>
                <a:latin typeface="Malgun Gothic"/>
                <a:cs typeface="Malgun Gothic"/>
              </a:rPr>
              <a:t>改善</a:t>
            </a:r>
            <a:r>
              <a:rPr dirty="0" sz="900" spc="-90" b="1">
                <a:solidFill>
                  <a:srgbClr val="FFFFFF"/>
                </a:solidFill>
                <a:latin typeface="Microsoft JhengHei"/>
                <a:cs typeface="Microsoft JhengHei"/>
              </a:rPr>
              <a:t>応</a:t>
            </a:r>
            <a:r>
              <a:rPr dirty="0" sz="900" spc="-50" b="1">
                <a:solidFill>
                  <a:srgbClr val="FFFFFF"/>
                </a:solidFill>
                <a:latin typeface="Malgun Gothic"/>
                <a:cs typeface="Malgun Gothic"/>
              </a:rPr>
              <a:t>用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333374" y="7143749"/>
            <a:ext cx="5305425" cy="2238375"/>
            <a:chOff x="333374" y="7143749"/>
            <a:chExt cx="5305425" cy="2238375"/>
          </a:xfrm>
        </p:grpSpPr>
        <p:sp>
          <p:nvSpPr>
            <p:cNvPr id="60" name="object 60" descr=""/>
            <p:cNvSpPr/>
            <p:nvPr/>
          </p:nvSpPr>
          <p:spPr>
            <a:xfrm>
              <a:off x="342899" y="7210424"/>
              <a:ext cx="5286375" cy="2162175"/>
            </a:xfrm>
            <a:custGeom>
              <a:avLst/>
              <a:gdLst/>
              <a:ahLst/>
              <a:cxnLst/>
              <a:rect l="l" t="t" r="r" b="b"/>
              <a:pathLst>
                <a:path w="5286375" h="2162175">
                  <a:moveTo>
                    <a:pt x="5188478" y="2162174"/>
                  </a:moveTo>
                  <a:lnTo>
                    <a:pt x="97895" y="2162174"/>
                  </a:lnTo>
                  <a:lnTo>
                    <a:pt x="91081" y="2161503"/>
                  </a:lnTo>
                  <a:lnTo>
                    <a:pt x="52285" y="2148337"/>
                  </a:lnTo>
                  <a:lnTo>
                    <a:pt x="21479" y="2121329"/>
                  </a:lnTo>
                  <a:lnTo>
                    <a:pt x="3355" y="2084587"/>
                  </a:lnTo>
                  <a:lnTo>
                    <a:pt x="0" y="2064279"/>
                  </a:lnTo>
                  <a:lnTo>
                    <a:pt x="0" y="2057399"/>
                  </a:lnTo>
                  <a:lnTo>
                    <a:pt x="0" y="97895"/>
                  </a:lnTo>
                  <a:lnTo>
                    <a:pt x="10608" y="58322"/>
                  </a:lnTo>
                  <a:lnTo>
                    <a:pt x="35552" y="25822"/>
                  </a:lnTo>
                  <a:lnTo>
                    <a:pt x="71035" y="5342"/>
                  </a:lnTo>
                  <a:lnTo>
                    <a:pt x="97895" y="0"/>
                  </a:lnTo>
                  <a:lnTo>
                    <a:pt x="5188478" y="0"/>
                  </a:lnTo>
                  <a:lnTo>
                    <a:pt x="5228050" y="10607"/>
                  </a:lnTo>
                  <a:lnTo>
                    <a:pt x="5260550" y="35551"/>
                  </a:lnTo>
                  <a:lnTo>
                    <a:pt x="5281031" y="71034"/>
                  </a:lnTo>
                  <a:lnTo>
                    <a:pt x="5286374" y="97895"/>
                  </a:lnTo>
                  <a:lnTo>
                    <a:pt x="5286374" y="2064279"/>
                  </a:lnTo>
                  <a:lnTo>
                    <a:pt x="5275765" y="2103850"/>
                  </a:lnTo>
                  <a:lnTo>
                    <a:pt x="5250821" y="2136350"/>
                  </a:lnTo>
                  <a:lnTo>
                    <a:pt x="5215338" y="2156830"/>
                  </a:lnTo>
                  <a:lnTo>
                    <a:pt x="5195291" y="2161503"/>
                  </a:lnTo>
                  <a:lnTo>
                    <a:pt x="5188478" y="2162174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342899" y="7210424"/>
              <a:ext cx="5286375" cy="2162175"/>
            </a:xfrm>
            <a:custGeom>
              <a:avLst/>
              <a:gdLst/>
              <a:ahLst/>
              <a:cxnLst/>
              <a:rect l="l" t="t" r="r" b="b"/>
              <a:pathLst>
                <a:path w="5286375" h="2162175">
                  <a:moveTo>
                    <a:pt x="0" y="2057399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2013" y="84333"/>
                  </a:lnTo>
                  <a:lnTo>
                    <a:pt x="3355" y="77585"/>
                  </a:lnTo>
                  <a:lnTo>
                    <a:pt x="5342" y="71034"/>
                  </a:lnTo>
                  <a:lnTo>
                    <a:pt x="25823" y="35551"/>
                  </a:lnTo>
                  <a:lnTo>
                    <a:pt x="46565" y="17657"/>
                  </a:lnTo>
                  <a:lnTo>
                    <a:pt x="52285" y="13834"/>
                  </a:lnTo>
                  <a:lnTo>
                    <a:pt x="91081" y="670"/>
                  </a:lnTo>
                  <a:lnTo>
                    <a:pt x="97895" y="0"/>
                  </a:lnTo>
                  <a:lnTo>
                    <a:pt x="104775" y="0"/>
                  </a:lnTo>
                  <a:lnTo>
                    <a:pt x="5181599" y="0"/>
                  </a:lnTo>
                  <a:lnTo>
                    <a:pt x="5188478" y="0"/>
                  </a:lnTo>
                  <a:lnTo>
                    <a:pt x="5195291" y="670"/>
                  </a:lnTo>
                  <a:lnTo>
                    <a:pt x="5234088" y="13834"/>
                  </a:lnTo>
                  <a:lnTo>
                    <a:pt x="5239808" y="17657"/>
                  </a:lnTo>
                  <a:lnTo>
                    <a:pt x="5245528" y="21478"/>
                  </a:lnTo>
                  <a:lnTo>
                    <a:pt x="5272537" y="52284"/>
                  </a:lnTo>
                  <a:lnTo>
                    <a:pt x="5285703" y="91081"/>
                  </a:lnTo>
                  <a:lnTo>
                    <a:pt x="5286374" y="104774"/>
                  </a:lnTo>
                  <a:lnTo>
                    <a:pt x="5286374" y="2057399"/>
                  </a:lnTo>
                  <a:lnTo>
                    <a:pt x="5286374" y="2064279"/>
                  </a:lnTo>
                  <a:lnTo>
                    <a:pt x="5285703" y="2071092"/>
                  </a:lnTo>
                  <a:lnTo>
                    <a:pt x="5284360" y="2077839"/>
                  </a:lnTo>
                  <a:lnTo>
                    <a:pt x="5283018" y="2084587"/>
                  </a:lnTo>
                  <a:lnTo>
                    <a:pt x="5264893" y="2121328"/>
                  </a:lnTo>
                  <a:lnTo>
                    <a:pt x="5234088" y="2148337"/>
                  </a:lnTo>
                  <a:lnTo>
                    <a:pt x="5195291" y="2161503"/>
                  </a:lnTo>
                  <a:lnTo>
                    <a:pt x="5181599" y="2162174"/>
                  </a:lnTo>
                  <a:lnTo>
                    <a:pt x="104775" y="2162174"/>
                  </a:lnTo>
                  <a:lnTo>
                    <a:pt x="97895" y="2162174"/>
                  </a:lnTo>
                  <a:lnTo>
                    <a:pt x="91081" y="2161503"/>
                  </a:lnTo>
                  <a:lnTo>
                    <a:pt x="84334" y="2160160"/>
                  </a:lnTo>
                  <a:lnTo>
                    <a:pt x="77586" y="2158818"/>
                  </a:lnTo>
                  <a:lnTo>
                    <a:pt x="46565" y="2144515"/>
                  </a:lnTo>
                  <a:lnTo>
                    <a:pt x="40844" y="2140694"/>
                  </a:lnTo>
                  <a:lnTo>
                    <a:pt x="13835" y="2109888"/>
                  </a:lnTo>
                  <a:lnTo>
                    <a:pt x="7975" y="2097494"/>
                  </a:lnTo>
                  <a:lnTo>
                    <a:pt x="5342" y="2091138"/>
                  </a:lnTo>
                  <a:lnTo>
                    <a:pt x="3355" y="2084587"/>
                  </a:lnTo>
                  <a:lnTo>
                    <a:pt x="2013" y="2077839"/>
                  </a:lnTo>
                  <a:lnTo>
                    <a:pt x="671" y="2071092"/>
                  </a:lnTo>
                  <a:lnTo>
                    <a:pt x="0" y="2064279"/>
                  </a:lnTo>
                  <a:lnTo>
                    <a:pt x="0" y="2057399"/>
                  </a:lnTo>
                  <a:close/>
                </a:path>
              </a:pathLst>
            </a:custGeom>
            <a:ln w="19049">
              <a:solidFill>
                <a:srgbClr val="6B747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542924" y="7143749"/>
              <a:ext cx="609600" cy="219075"/>
            </a:xfrm>
            <a:custGeom>
              <a:avLst/>
              <a:gdLst/>
              <a:ahLst/>
              <a:cxnLst/>
              <a:rect l="l" t="t" r="r" b="b"/>
              <a:pathLst>
                <a:path w="609600" h="219075">
                  <a:moveTo>
                    <a:pt x="538403" y="219074"/>
                  </a:moveTo>
                  <a:lnTo>
                    <a:pt x="71196" y="219074"/>
                  </a:lnTo>
                  <a:lnTo>
                    <a:pt x="66241" y="218586"/>
                  </a:lnTo>
                  <a:lnTo>
                    <a:pt x="29705" y="203452"/>
                  </a:lnTo>
                  <a:lnTo>
                    <a:pt x="3885" y="167412"/>
                  </a:lnTo>
                  <a:lnTo>
                    <a:pt x="0" y="147878"/>
                  </a:lnTo>
                  <a:lnTo>
                    <a:pt x="0" y="14287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38403" y="0"/>
                  </a:lnTo>
                  <a:lnTo>
                    <a:pt x="579894" y="15620"/>
                  </a:lnTo>
                  <a:lnTo>
                    <a:pt x="605714" y="51661"/>
                  </a:lnTo>
                  <a:lnTo>
                    <a:pt x="609599" y="71196"/>
                  </a:lnTo>
                  <a:lnTo>
                    <a:pt x="609599" y="147878"/>
                  </a:lnTo>
                  <a:lnTo>
                    <a:pt x="593978" y="189369"/>
                  </a:lnTo>
                  <a:lnTo>
                    <a:pt x="557937" y="215188"/>
                  </a:lnTo>
                  <a:lnTo>
                    <a:pt x="543358" y="218586"/>
                  </a:lnTo>
                  <a:lnTo>
                    <a:pt x="538403" y="219074"/>
                  </a:lnTo>
                  <a:close/>
                </a:path>
              </a:pathLst>
            </a:custGeom>
            <a:solidFill>
              <a:srgbClr val="6B747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644524" y="7175817"/>
            <a:ext cx="40640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10" b="1">
                <a:solidFill>
                  <a:srgbClr val="FFFFFF"/>
                </a:solidFill>
                <a:latin typeface="Microsoft JhengHei"/>
                <a:cs typeface="Microsoft JhengHei"/>
              </a:rPr>
              <a:t>参考</a:t>
            </a:r>
            <a:r>
              <a:rPr dirty="0" sz="850" spc="-110" b="1">
                <a:solidFill>
                  <a:srgbClr val="FFFFFF"/>
                </a:solidFill>
                <a:latin typeface="Malgun Gothic"/>
                <a:cs typeface="Malgun Gothic"/>
              </a:rPr>
              <a:t>文</a:t>
            </a:r>
            <a:r>
              <a:rPr dirty="0" sz="850" spc="-50" b="1">
                <a:solidFill>
                  <a:srgbClr val="FFFFFF"/>
                </a:solidFill>
                <a:latin typeface="Microsoft JhengHei"/>
                <a:cs typeface="Microsoft JhengHei"/>
              </a:rPr>
              <a:t>献</a:t>
            </a:r>
            <a:endParaRPr sz="850">
              <a:latin typeface="Microsoft JhengHei"/>
              <a:cs typeface="Microsoft JhengHei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492125" y="7380362"/>
            <a:ext cx="4893310" cy="73977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93040" marR="103505" indent="-142875">
              <a:lnSpc>
                <a:spcPts val="830"/>
              </a:lnSpc>
              <a:spcBef>
                <a:spcPts val="245"/>
              </a:spcBef>
            </a:pPr>
            <a:r>
              <a:rPr dirty="0" baseline="4273" sz="975" spc="120">
                <a:solidFill>
                  <a:srgbClr val="3A6EA5"/>
                </a:solidFill>
                <a:latin typeface="Lucida Sans Unicode"/>
                <a:cs typeface="Lucida Sans Unicode"/>
              </a:rPr>
              <a:t>▶</a:t>
            </a:r>
            <a:r>
              <a:rPr dirty="0" baseline="4273" sz="975" spc="660">
                <a:solidFill>
                  <a:srgbClr val="3A6EA5"/>
                </a:solidFill>
                <a:latin typeface="Lucida Sans Unicode"/>
                <a:cs typeface="Lucida Sans Unicode"/>
              </a:rPr>
              <a:t> </a:t>
            </a:r>
            <a:r>
              <a:rPr dirty="0" sz="750" spc="-30" b="1">
                <a:solidFill>
                  <a:srgbClr val="444444"/>
                </a:solidFill>
                <a:latin typeface="Cambria"/>
                <a:cs typeface="Cambria"/>
              </a:rPr>
              <a:t>[1]</a:t>
            </a:r>
            <a:r>
              <a:rPr dirty="0" sz="750" spc="25" b="1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800" spc="-60">
                <a:solidFill>
                  <a:srgbClr val="444444"/>
                </a:solidFill>
                <a:latin typeface="Microsoft Sans Serif"/>
                <a:cs typeface="Microsoft Sans Serif"/>
              </a:rPr>
              <a:t>Zhang,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60">
                <a:solidFill>
                  <a:srgbClr val="444444"/>
                </a:solidFill>
                <a:latin typeface="Microsoft Sans Serif"/>
                <a:cs typeface="Microsoft Sans Serif"/>
              </a:rPr>
              <a:t>H.,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30">
                <a:solidFill>
                  <a:srgbClr val="444444"/>
                </a:solidFill>
                <a:latin typeface="Microsoft Sans Serif"/>
                <a:cs typeface="Microsoft Sans Serif"/>
              </a:rPr>
              <a:t>et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40">
                <a:solidFill>
                  <a:srgbClr val="444444"/>
                </a:solidFill>
                <a:latin typeface="Microsoft Sans Serif"/>
                <a:cs typeface="Microsoft Sans Serif"/>
              </a:rPr>
              <a:t>al.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50">
                <a:solidFill>
                  <a:srgbClr val="444444"/>
                </a:solidFill>
                <a:latin typeface="Microsoft Sans Serif"/>
                <a:cs typeface="Microsoft Sans Serif"/>
              </a:rPr>
              <a:t>"Anomalous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65">
                <a:solidFill>
                  <a:srgbClr val="444444"/>
                </a:solidFill>
                <a:latin typeface="Microsoft Sans Serif"/>
                <a:cs typeface="Microsoft Sans Serif"/>
              </a:rPr>
              <a:t>Sound</a:t>
            </a:r>
            <a:r>
              <a:rPr dirty="0" sz="800" spc="-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50">
                <a:solidFill>
                  <a:srgbClr val="444444"/>
                </a:solidFill>
                <a:latin typeface="Microsoft Sans Serif"/>
                <a:cs typeface="Microsoft Sans Serif"/>
              </a:rPr>
              <a:t>Detection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65">
                <a:solidFill>
                  <a:srgbClr val="444444"/>
                </a:solidFill>
                <a:latin typeface="Microsoft Sans Serif"/>
                <a:cs typeface="Microsoft Sans Serif"/>
              </a:rPr>
              <a:t>Using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60">
                <a:solidFill>
                  <a:srgbClr val="444444"/>
                </a:solidFill>
                <a:latin typeface="Microsoft Sans Serif"/>
                <a:cs typeface="Microsoft Sans Serif"/>
              </a:rPr>
              <a:t>Self-</a:t>
            </a:r>
            <a:r>
              <a:rPr dirty="0" sz="800" spc="-35">
                <a:solidFill>
                  <a:srgbClr val="444444"/>
                </a:solidFill>
                <a:latin typeface="Microsoft Sans Serif"/>
                <a:cs typeface="Microsoft Sans Serif"/>
              </a:rPr>
              <a:t>Attention-</a:t>
            </a:r>
            <a:r>
              <a:rPr dirty="0" sz="800" spc="-80">
                <a:solidFill>
                  <a:srgbClr val="444444"/>
                </a:solidFill>
                <a:latin typeface="Microsoft Sans Serif"/>
                <a:cs typeface="Microsoft Sans Serif"/>
              </a:rPr>
              <a:t>Based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65">
                <a:solidFill>
                  <a:srgbClr val="444444"/>
                </a:solidFill>
                <a:latin typeface="Microsoft Sans Serif"/>
                <a:cs typeface="Microsoft Sans Serif"/>
              </a:rPr>
              <a:t>Frequency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50">
                <a:solidFill>
                  <a:srgbClr val="444444"/>
                </a:solidFill>
                <a:latin typeface="Microsoft Sans Serif"/>
                <a:cs typeface="Microsoft Sans Serif"/>
              </a:rPr>
              <a:t>Pattern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65">
                <a:solidFill>
                  <a:srgbClr val="444444"/>
                </a:solidFill>
                <a:latin typeface="Microsoft Sans Serif"/>
                <a:cs typeface="Microsoft Sans Serif"/>
              </a:rPr>
              <a:t>Analysis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30">
                <a:solidFill>
                  <a:srgbClr val="444444"/>
                </a:solidFill>
                <a:latin typeface="Microsoft Sans Serif"/>
                <a:cs typeface="Microsoft Sans Serif"/>
              </a:rPr>
              <a:t>of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70">
                <a:solidFill>
                  <a:srgbClr val="444444"/>
                </a:solidFill>
                <a:latin typeface="Microsoft Sans Serif"/>
                <a:cs typeface="Microsoft Sans Serif"/>
              </a:rPr>
              <a:t>Machine</a:t>
            </a:r>
            <a:r>
              <a:rPr dirty="0" sz="800" spc="50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55">
                <a:solidFill>
                  <a:srgbClr val="444444"/>
                </a:solidFill>
                <a:latin typeface="Microsoft Sans Serif"/>
                <a:cs typeface="Microsoft Sans Serif"/>
              </a:rPr>
              <a:t>Sounds."</a:t>
            </a:r>
            <a:r>
              <a:rPr dirty="0" sz="800" spc="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25">
                <a:solidFill>
                  <a:srgbClr val="444444"/>
                </a:solidFill>
                <a:latin typeface="Microsoft Sans Serif"/>
                <a:cs typeface="Microsoft Sans Serif"/>
              </a:rPr>
              <a:t>INTERSPEECH</a:t>
            </a:r>
            <a:r>
              <a:rPr dirty="0" sz="800" spc="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444444"/>
                </a:solidFill>
                <a:latin typeface="Microsoft Sans Serif"/>
                <a:cs typeface="Microsoft Sans Serif"/>
              </a:rPr>
              <a:t>2023.</a:t>
            </a:r>
            <a:endParaRPr sz="800">
              <a:latin typeface="Microsoft Sans Serif"/>
              <a:cs typeface="Microsoft Sans Serif"/>
            </a:endParaRPr>
          </a:p>
          <a:p>
            <a:pPr marL="193040" marR="72390" indent="-142875">
              <a:lnSpc>
                <a:spcPts val="900"/>
              </a:lnSpc>
              <a:spcBef>
                <a:spcPts val="610"/>
              </a:spcBef>
            </a:pPr>
            <a:r>
              <a:rPr dirty="0" baseline="4273" sz="975" spc="120">
                <a:solidFill>
                  <a:srgbClr val="3A6EA5"/>
                </a:solidFill>
                <a:latin typeface="Lucida Sans Unicode"/>
                <a:cs typeface="Lucida Sans Unicode"/>
              </a:rPr>
              <a:t>▶</a:t>
            </a:r>
            <a:r>
              <a:rPr dirty="0" baseline="4273" sz="975" spc="644">
                <a:solidFill>
                  <a:srgbClr val="3A6EA5"/>
                </a:solidFill>
                <a:latin typeface="Lucida Sans Unicode"/>
                <a:cs typeface="Lucida Sans Unicode"/>
              </a:rPr>
              <a:t> </a:t>
            </a:r>
            <a:r>
              <a:rPr dirty="0" sz="750" spc="-30" b="1">
                <a:solidFill>
                  <a:srgbClr val="444444"/>
                </a:solidFill>
                <a:latin typeface="Cambria"/>
                <a:cs typeface="Cambria"/>
              </a:rPr>
              <a:t>[2]</a:t>
            </a:r>
            <a:r>
              <a:rPr dirty="0" sz="750" spc="20" b="1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800" spc="-75">
                <a:solidFill>
                  <a:srgbClr val="444444"/>
                </a:solidFill>
                <a:latin typeface="Microsoft Sans Serif"/>
                <a:cs typeface="Microsoft Sans Serif"/>
              </a:rPr>
              <a:t>Guan,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45">
                <a:solidFill>
                  <a:srgbClr val="444444"/>
                </a:solidFill>
                <a:latin typeface="Microsoft Sans Serif"/>
                <a:cs typeface="Microsoft Sans Serif"/>
              </a:rPr>
              <a:t>J.,</a:t>
            </a:r>
            <a:r>
              <a:rPr dirty="0" sz="800" spc="-30">
                <a:solidFill>
                  <a:srgbClr val="444444"/>
                </a:solidFill>
                <a:latin typeface="Microsoft Sans Serif"/>
                <a:cs typeface="Microsoft Sans Serif"/>
              </a:rPr>
              <a:t> et </a:t>
            </a:r>
            <a:r>
              <a:rPr dirty="0" sz="800" spc="-40">
                <a:solidFill>
                  <a:srgbClr val="444444"/>
                </a:solidFill>
                <a:latin typeface="Microsoft Sans Serif"/>
                <a:cs typeface="Microsoft Sans Serif"/>
              </a:rPr>
              <a:t>al.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70">
                <a:solidFill>
                  <a:srgbClr val="444444"/>
                </a:solidFill>
                <a:latin typeface="Microsoft Sans Serif"/>
                <a:cs typeface="Microsoft Sans Serif"/>
              </a:rPr>
              <a:t>"STgram-</a:t>
            </a:r>
            <a:r>
              <a:rPr dirty="0" sz="800" spc="-100">
                <a:solidFill>
                  <a:srgbClr val="444444"/>
                </a:solidFill>
                <a:latin typeface="Microsoft Sans Serif"/>
                <a:cs typeface="Microsoft Sans Serif"/>
              </a:rPr>
              <a:t>MFN:</a:t>
            </a:r>
            <a:r>
              <a:rPr dirty="0" sz="800" spc="-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65">
                <a:solidFill>
                  <a:srgbClr val="444444"/>
                </a:solidFill>
                <a:latin typeface="Microsoft Sans Serif"/>
                <a:cs typeface="Microsoft Sans Serif"/>
              </a:rPr>
              <a:t>Machine</a:t>
            </a:r>
            <a:r>
              <a:rPr dirty="0" sz="800" spc="-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55">
                <a:solidFill>
                  <a:srgbClr val="444444"/>
                </a:solidFill>
                <a:latin typeface="Microsoft Sans Serif"/>
                <a:cs typeface="Microsoft Sans Serif"/>
              </a:rPr>
              <a:t>sound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40">
                <a:solidFill>
                  <a:srgbClr val="444444"/>
                </a:solidFill>
                <a:latin typeface="Microsoft Sans Serif"/>
                <a:cs typeface="Microsoft Sans Serif"/>
              </a:rPr>
              <a:t>classification</a:t>
            </a:r>
            <a:r>
              <a:rPr dirty="0" sz="800" spc="-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55">
                <a:solidFill>
                  <a:srgbClr val="444444"/>
                </a:solidFill>
                <a:latin typeface="Microsoft Sans Serif"/>
                <a:cs typeface="Microsoft Sans Serif"/>
              </a:rPr>
              <a:t>using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45">
                <a:solidFill>
                  <a:srgbClr val="444444"/>
                </a:solidFill>
                <a:latin typeface="Microsoft Sans Serif"/>
                <a:cs typeface="Microsoft Sans Serif"/>
              </a:rPr>
              <a:t>spectral-</a:t>
            </a:r>
            <a:r>
              <a:rPr dirty="0" sz="800" spc="-40">
                <a:solidFill>
                  <a:srgbClr val="444444"/>
                </a:solidFill>
                <a:latin typeface="Microsoft Sans Serif"/>
                <a:cs typeface="Microsoft Sans Serif"/>
              </a:rPr>
              <a:t>temporal</a:t>
            </a:r>
            <a:r>
              <a:rPr dirty="0" sz="800" spc="-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50">
                <a:solidFill>
                  <a:srgbClr val="444444"/>
                </a:solidFill>
                <a:latin typeface="Microsoft Sans Serif"/>
                <a:cs typeface="Microsoft Sans Serif"/>
              </a:rPr>
              <a:t>features</a:t>
            </a:r>
            <a:r>
              <a:rPr dirty="0" sz="800" spc="-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45">
                <a:solidFill>
                  <a:srgbClr val="444444"/>
                </a:solidFill>
                <a:latin typeface="Microsoft Sans Serif"/>
                <a:cs typeface="Microsoft Sans Serif"/>
              </a:rPr>
              <a:t>and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55">
                <a:solidFill>
                  <a:srgbClr val="444444"/>
                </a:solidFill>
                <a:latin typeface="Microsoft Sans Serif"/>
                <a:cs typeface="Microsoft Sans Serif"/>
              </a:rPr>
              <a:t>mobileFaceNet."</a:t>
            </a:r>
            <a:r>
              <a:rPr dirty="0" sz="800" spc="50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50">
                <a:solidFill>
                  <a:srgbClr val="444444"/>
                </a:solidFill>
                <a:latin typeface="Microsoft Sans Serif"/>
                <a:cs typeface="Microsoft Sans Serif"/>
              </a:rPr>
              <a:t>Applied</a:t>
            </a:r>
            <a:r>
              <a:rPr dirty="0" sz="800" spc="-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60">
                <a:solidFill>
                  <a:srgbClr val="444444"/>
                </a:solidFill>
                <a:latin typeface="Microsoft Sans Serif"/>
                <a:cs typeface="Microsoft Sans Serif"/>
              </a:rPr>
              <a:t>Acoustics,</a:t>
            </a:r>
            <a:r>
              <a:rPr dirty="0" sz="80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444444"/>
                </a:solidFill>
                <a:latin typeface="Microsoft Sans Serif"/>
                <a:cs typeface="Microsoft Sans Serif"/>
              </a:rPr>
              <a:t>2021.</a:t>
            </a:r>
            <a:endParaRPr sz="800"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  <a:spcBef>
                <a:spcPts val="445"/>
              </a:spcBef>
            </a:pPr>
            <a:r>
              <a:rPr dirty="0" baseline="4273" sz="975" spc="120">
                <a:solidFill>
                  <a:srgbClr val="3A6EA5"/>
                </a:solidFill>
                <a:latin typeface="Lucida Sans Unicode"/>
                <a:cs typeface="Lucida Sans Unicode"/>
              </a:rPr>
              <a:t>▶</a:t>
            </a:r>
            <a:r>
              <a:rPr dirty="0" baseline="4273" sz="975" spc="637">
                <a:solidFill>
                  <a:srgbClr val="3A6EA5"/>
                </a:solidFill>
                <a:latin typeface="Lucida Sans Unicode"/>
                <a:cs typeface="Lucida Sans Unicode"/>
              </a:rPr>
              <a:t> </a:t>
            </a:r>
            <a:r>
              <a:rPr dirty="0" sz="750" spc="-30" b="1">
                <a:solidFill>
                  <a:srgbClr val="444444"/>
                </a:solidFill>
                <a:latin typeface="Cambria"/>
                <a:cs typeface="Cambria"/>
              </a:rPr>
              <a:t>[3]</a:t>
            </a:r>
            <a:r>
              <a:rPr dirty="0" sz="750" spc="20" b="1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800" spc="-145">
                <a:solidFill>
                  <a:srgbClr val="444444"/>
                </a:solidFill>
                <a:latin typeface="Microsoft Sans Serif"/>
                <a:cs typeface="Microsoft Sans Serif"/>
              </a:rPr>
              <a:t>DCASE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85">
                <a:solidFill>
                  <a:srgbClr val="444444"/>
                </a:solidFill>
                <a:latin typeface="Microsoft Sans Serif"/>
                <a:cs typeface="Microsoft Sans Serif"/>
              </a:rPr>
              <a:t>2020</a:t>
            </a:r>
            <a:r>
              <a:rPr dirty="0" sz="800" spc="-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65">
                <a:solidFill>
                  <a:srgbClr val="444444"/>
                </a:solidFill>
                <a:latin typeface="Microsoft Sans Serif"/>
                <a:cs typeface="Microsoft Sans Serif"/>
              </a:rPr>
              <a:t>Challenge</a:t>
            </a:r>
            <a:r>
              <a:rPr dirty="0" sz="800" spc="-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90">
                <a:solidFill>
                  <a:srgbClr val="444444"/>
                </a:solidFill>
                <a:latin typeface="Microsoft Sans Serif"/>
                <a:cs typeface="Microsoft Sans Serif"/>
              </a:rPr>
              <a:t>Task</a:t>
            </a:r>
            <a:r>
              <a:rPr dirty="0" sz="800" spc="-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60">
                <a:solidFill>
                  <a:srgbClr val="444444"/>
                </a:solidFill>
                <a:latin typeface="Microsoft Sans Serif"/>
                <a:cs typeface="Microsoft Sans Serif"/>
              </a:rPr>
              <a:t>2.</a:t>
            </a:r>
            <a:r>
              <a:rPr dirty="0" sz="800" spc="-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50">
                <a:solidFill>
                  <a:srgbClr val="444444"/>
                </a:solidFill>
                <a:latin typeface="Microsoft Sans Serif"/>
                <a:cs typeface="Microsoft Sans Serif"/>
              </a:rPr>
              <a:t>"Unsupervised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50">
                <a:solidFill>
                  <a:srgbClr val="444444"/>
                </a:solidFill>
                <a:latin typeface="Microsoft Sans Serif"/>
                <a:cs typeface="Microsoft Sans Serif"/>
              </a:rPr>
              <a:t>Detection</a:t>
            </a:r>
            <a:r>
              <a:rPr dirty="0" sz="800" spc="-30">
                <a:solidFill>
                  <a:srgbClr val="444444"/>
                </a:solidFill>
                <a:latin typeface="Microsoft Sans Serif"/>
                <a:cs typeface="Microsoft Sans Serif"/>
              </a:rPr>
              <a:t> of </a:t>
            </a:r>
            <a:r>
              <a:rPr dirty="0" sz="800" spc="-60">
                <a:solidFill>
                  <a:srgbClr val="444444"/>
                </a:solidFill>
                <a:latin typeface="Microsoft Sans Serif"/>
                <a:cs typeface="Microsoft Sans Serif"/>
              </a:rPr>
              <a:t>Anomalous</a:t>
            </a:r>
            <a:r>
              <a:rPr dirty="0" sz="800" spc="-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70">
                <a:solidFill>
                  <a:srgbClr val="444444"/>
                </a:solidFill>
                <a:latin typeface="Microsoft Sans Serif"/>
                <a:cs typeface="Microsoft Sans Serif"/>
              </a:rPr>
              <a:t>Sounds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 for</a:t>
            </a:r>
            <a:r>
              <a:rPr dirty="0" sz="800" spc="-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65">
                <a:solidFill>
                  <a:srgbClr val="444444"/>
                </a:solidFill>
                <a:latin typeface="Microsoft Sans Serif"/>
                <a:cs typeface="Microsoft Sans Serif"/>
              </a:rPr>
              <a:t>Machine</a:t>
            </a:r>
            <a:r>
              <a:rPr dirty="0" sz="800" spc="-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40">
                <a:solidFill>
                  <a:srgbClr val="444444"/>
                </a:solidFill>
                <a:latin typeface="Microsoft Sans Serif"/>
                <a:cs typeface="Microsoft Sans Serif"/>
              </a:rPr>
              <a:t>Condition</a:t>
            </a:r>
            <a:r>
              <a:rPr dirty="0" sz="800" spc="-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444444"/>
                </a:solidFill>
                <a:latin typeface="Microsoft Sans Serif"/>
                <a:cs typeface="Microsoft Sans Serif"/>
              </a:rPr>
              <a:t>Monitoring."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504825" y="8161411"/>
            <a:ext cx="2573655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4273" sz="975" spc="120">
                <a:solidFill>
                  <a:srgbClr val="3A6EA5"/>
                </a:solidFill>
                <a:latin typeface="Lucida Sans Unicode"/>
                <a:cs typeface="Lucida Sans Unicode"/>
              </a:rPr>
              <a:t>▶</a:t>
            </a:r>
            <a:r>
              <a:rPr dirty="0" baseline="4273" sz="975" spc="569">
                <a:solidFill>
                  <a:srgbClr val="3A6EA5"/>
                </a:solidFill>
                <a:latin typeface="Lucida Sans Unicode"/>
                <a:cs typeface="Lucida Sans Unicode"/>
              </a:rPr>
              <a:t> </a:t>
            </a:r>
            <a:r>
              <a:rPr dirty="0" sz="750" spc="-30" b="1">
                <a:solidFill>
                  <a:srgbClr val="444444"/>
                </a:solidFill>
                <a:latin typeface="Cambria"/>
                <a:cs typeface="Cambria"/>
              </a:rPr>
              <a:t>[4]</a:t>
            </a:r>
            <a:r>
              <a:rPr dirty="0" sz="750" spc="10" b="1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800" spc="-70">
                <a:solidFill>
                  <a:srgbClr val="444444"/>
                </a:solidFill>
                <a:latin typeface="Microsoft Sans Serif"/>
                <a:cs typeface="Microsoft Sans Serif"/>
              </a:rPr>
              <a:t>Vaswani,</a:t>
            </a:r>
            <a:r>
              <a:rPr dirty="0" sz="800" spc="-4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70">
                <a:solidFill>
                  <a:srgbClr val="444444"/>
                </a:solidFill>
                <a:latin typeface="Microsoft Sans Serif"/>
                <a:cs typeface="Microsoft Sans Serif"/>
              </a:rPr>
              <a:t>A.,</a:t>
            </a:r>
            <a:r>
              <a:rPr dirty="0" sz="800" spc="-4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30">
                <a:solidFill>
                  <a:srgbClr val="444444"/>
                </a:solidFill>
                <a:latin typeface="Microsoft Sans Serif"/>
                <a:cs typeface="Microsoft Sans Serif"/>
              </a:rPr>
              <a:t>et</a:t>
            </a:r>
            <a:r>
              <a:rPr dirty="0" sz="800" spc="-4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40">
                <a:solidFill>
                  <a:srgbClr val="444444"/>
                </a:solidFill>
                <a:latin typeface="Microsoft Sans Serif"/>
                <a:cs typeface="Microsoft Sans Serif"/>
              </a:rPr>
              <a:t>al. </a:t>
            </a:r>
            <a:r>
              <a:rPr dirty="0" sz="800" spc="-30">
                <a:solidFill>
                  <a:srgbClr val="444444"/>
                </a:solidFill>
                <a:latin typeface="Microsoft Sans Serif"/>
                <a:cs typeface="Microsoft Sans Serif"/>
              </a:rPr>
              <a:t>"Attention</a:t>
            </a:r>
            <a:r>
              <a:rPr dirty="0" sz="800" spc="-4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50">
                <a:solidFill>
                  <a:srgbClr val="444444"/>
                </a:solidFill>
                <a:latin typeface="Microsoft Sans Serif"/>
                <a:cs typeface="Microsoft Sans Serif"/>
              </a:rPr>
              <a:t>is</a:t>
            </a:r>
            <a:r>
              <a:rPr dirty="0" sz="800" spc="-4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45">
                <a:solidFill>
                  <a:srgbClr val="444444"/>
                </a:solidFill>
                <a:latin typeface="Microsoft Sans Serif"/>
                <a:cs typeface="Microsoft Sans Serif"/>
              </a:rPr>
              <a:t>All </a:t>
            </a:r>
            <a:r>
              <a:rPr dirty="0" sz="800" spc="-105">
                <a:solidFill>
                  <a:srgbClr val="444444"/>
                </a:solidFill>
                <a:latin typeface="Microsoft Sans Serif"/>
                <a:cs typeface="Microsoft Sans Serif"/>
              </a:rPr>
              <a:t>You</a:t>
            </a:r>
            <a:r>
              <a:rPr dirty="0" sz="800" spc="-4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50">
                <a:solidFill>
                  <a:srgbClr val="444444"/>
                </a:solidFill>
                <a:latin typeface="Microsoft Sans Serif"/>
                <a:cs typeface="Microsoft Sans Serif"/>
              </a:rPr>
              <a:t>Need."</a:t>
            </a:r>
            <a:r>
              <a:rPr dirty="0" sz="800" spc="-4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5">
                <a:solidFill>
                  <a:srgbClr val="444444"/>
                </a:solidFill>
                <a:latin typeface="Microsoft Sans Serif"/>
                <a:cs typeface="Microsoft Sans Serif"/>
              </a:rPr>
              <a:t>NIPS</a:t>
            </a:r>
            <a:r>
              <a:rPr dirty="0" sz="800" spc="-4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25">
                <a:solidFill>
                  <a:srgbClr val="444444"/>
                </a:solidFill>
                <a:latin typeface="Microsoft Sans Serif"/>
                <a:cs typeface="Microsoft Sans Serif"/>
              </a:rPr>
              <a:t>2017.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504825" y="8351911"/>
            <a:ext cx="3649345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4273" sz="975" spc="300">
                <a:solidFill>
                  <a:srgbClr val="3A6EA5"/>
                </a:solidFill>
                <a:latin typeface="Lucida Sans Unicode"/>
                <a:cs typeface="Lucida Sans Unicode"/>
              </a:rPr>
              <a:t>▶ </a:t>
            </a:r>
            <a:r>
              <a:rPr dirty="0" sz="750" spc="-30" b="1">
                <a:solidFill>
                  <a:srgbClr val="444444"/>
                </a:solidFill>
                <a:latin typeface="Cambria"/>
                <a:cs typeface="Cambria"/>
              </a:rPr>
              <a:t>[5</a:t>
            </a:r>
            <a:r>
              <a:rPr dirty="0" sz="750" spc="-20" b="1">
                <a:solidFill>
                  <a:srgbClr val="444444"/>
                </a:solidFill>
                <a:latin typeface="Cambria"/>
                <a:cs typeface="Cambria"/>
              </a:rPr>
              <a:t>] </a:t>
            </a:r>
            <a:r>
              <a:rPr dirty="0" sz="750" spc="-75">
                <a:solidFill>
                  <a:srgbClr val="444444"/>
                </a:solidFill>
                <a:latin typeface="SimSun"/>
                <a:cs typeface="SimSun"/>
              </a:rPr>
              <a:t>私の卒業研究</a:t>
            </a:r>
            <a:r>
              <a:rPr dirty="0" sz="800" spc="-65">
                <a:solidFill>
                  <a:srgbClr val="444444"/>
                </a:solidFill>
                <a:latin typeface="Microsoft Sans Serif"/>
                <a:cs typeface="Microsoft Sans Serif"/>
              </a:rPr>
              <a:t>: "</a:t>
            </a:r>
            <a:r>
              <a:rPr dirty="0" sz="800" spc="-85">
                <a:solidFill>
                  <a:srgbClr val="444444"/>
                </a:solidFill>
                <a:latin typeface="Microsoft Sans Serif"/>
                <a:cs typeface="Microsoft Sans Serif"/>
              </a:rPr>
              <a:t>CNN</a:t>
            </a:r>
            <a:r>
              <a:rPr dirty="0" sz="750" spc="-114">
                <a:solidFill>
                  <a:srgbClr val="444444"/>
                </a:solidFill>
                <a:latin typeface="SimSun"/>
                <a:cs typeface="SimSun"/>
              </a:rPr>
              <a:t>アンサンブル学習に基づく 音響識別によるプール沸騰の発生検知</a:t>
            </a:r>
            <a:r>
              <a:rPr dirty="0" sz="800" spc="-50">
                <a:solidFill>
                  <a:srgbClr val="444444"/>
                </a:solidFill>
                <a:latin typeface="Microsoft Sans Serif"/>
                <a:cs typeface="Microsoft Sans Serif"/>
              </a:rPr>
              <a:t>"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67" name="object 67" descr=""/>
          <p:cNvGrpSpPr/>
          <p:nvPr/>
        </p:nvGrpSpPr>
        <p:grpSpPr>
          <a:xfrm>
            <a:off x="5876924" y="7200899"/>
            <a:ext cx="3543300" cy="2181225"/>
            <a:chOff x="5876924" y="7200899"/>
            <a:chExt cx="3543300" cy="2181225"/>
          </a:xfrm>
        </p:grpSpPr>
        <p:pic>
          <p:nvPicPr>
            <p:cNvPr id="68" name="object 6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05499" y="7229474"/>
              <a:ext cx="3486149" cy="2124074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5891212" y="7215186"/>
              <a:ext cx="3514725" cy="2152650"/>
            </a:xfrm>
            <a:custGeom>
              <a:avLst/>
              <a:gdLst/>
              <a:ahLst/>
              <a:cxnLst/>
              <a:rect l="l" t="t" r="r" b="b"/>
              <a:pathLst>
                <a:path w="3514725" h="2152650">
                  <a:moveTo>
                    <a:pt x="0" y="2024062"/>
                  </a:moveTo>
                  <a:lnTo>
                    <a:pt x="0" y="128587"/>
                  </a:lnTo>
                  <a:lnTo>
                    <a:pt x="0" y="120143"/>
                  </a:lnTo>
                  <a:lnTo>
                    <a:pt x="823" y="111781"/>
                  </a:lnTo>
                  <a:lnTo>
                    <a:pt x="2470" y="103500"/>
                  </a:lnTo>
                  <a:lnTo>
                    <a:pt x="4117" y="95219"/>
                  </a:lnTo>
                  <a:lnTo>
                    <a:pt x="6556" y="87178"/>
                  </a:lnTo>
                  <a:lnTo>
                    <a:pt x="9787" y="79378"/>
                  </a:lnTo>
                  <a:lnTo>
                    <a:pt x="13018" y="71577"/>
                  </a:lnTo>
                  <a:lnTo>
                    <a:pt x="16979" y="64167"/>
                  </a:lnTo>
                  <a:lnTo>
                    <a:pt x="21670" y="57147"/>
                  </a:lnTo>
                  <a:lnTo>
                    <a:pt x="26361" y="50127"/>
                  </a:lnTo>
                  <a:lnTo>
                    <a:pt x="31691" y="43631"/>
                  </a:lnTo>
                  <a:lnTo>
                    <a:pt x="37662" y="37661"/>
                  </a:lnTo>
                  <a:lnTo>
                    <a:pt x="43632" y="31691"/>
                  </a:lnTo>
                  <a:lnTo>
                    <a:pt x="50127" y="26361"/>
                  </a:lnTo>
                  <a:lnTo>
                    <a:pt x="57147" y="21670"/>
                  </a:lnTo>
                  <a:lnTo>
                    <a:pt x="64166" y="16979"/>
                  </a:lnTo>
                  <a:lnTo>
                    <a:pt x="71577" y="13017"/>
                  </a:lnTo>
                  <a:lnTo>
                    <a:pt x="79378" y="9787"/>
                  </a:lnTo>
                  <a:lnTo>
                    <a:pt x="87178" y="6556"/>
                  </a:lnTo>
                  <a:lnTo>
                    <a:pt x="95219" y="4117"/>
                  </a:lnTo>
                  <a:lnTo>
                    <a:pt x="103500" y="2470"/>
                  </a:lnTo>
                  <a:lnTo>
                    <a:pt x="111781" y="823"/>
                  </a:lnTo>
                  <a:lnTo>
                    <a:pt x="120143" y="0"/>
                  </a:lnTo>
                  <a:lnTo>
                    <a:pt x="128587" y="0"/>
                  </a:lnTo>
                  <a:lnTo>
                    <a:pt x="3386137" y="0"/>
                  </a:lnTo>
                  <a:lnTo>
                    <a:pt x="3394579" y="0"/>
                  </a:lnTo>
                  <a:lnTo>
                    <a:pt x="3402941" y="823"/>
                  </a:lnTo>
                  <a:lnTo>
                    <a:pt x="3411222" y="2470"/>
                  </a:lnTo>
                  <a:lnTo>
                    <a:pt x="3419503" y="4117"/>
                  </a:lnTo>
                  <a:lnTo>
                    <a:pt x="3427544" y="6556"/>
                  </a:lnTo>
                  <a:lnTo>
                    <a:pt x="3435344" y="9787"/>
                  </a:lnTo>
                  <a:lnTo>
                    <a:pt x="3443145" y="13017"/>
                  </a:lnTo>
                  <a:lnTo>
                    <a:pt x="3450555" y="16979"/>
                  </a:lnTo>
                  <a:lnTo>
                    <a:pt x="3457575" y="21670"/>
                  </a:lnTo>
                  <a:lnTo>
                    <a:pt x="3464595" y="26361"/>
                  </a:lnTo>
                  <a:lnTo>
                    <a:pt x="3493053" y="57147"/>
                  </a:lnTo>
                  <a:lnTo>
                    <a:pt x="3504935" y="79378"/>
                  </a:lnTo>
                  <a:lnTo>
                    <a:pt x="3508166" y="87178"/>
                  </a:lnTo>
                  <a:lnTo>
                    <a:pt x="3510606" y="95219"/>
                  </a:lnTo>
                  <a:lnTo>
                    <a:pt x="3512253" y="103500"/>
                  </a:lnTo>
                  <a:lnTo>
                    <a:pt x="3513900" y="111781"/>
                  </a:lnTo>
                  <a:lnTo>
                    <a:pt x="3514724" y="120143"/>
                  </a:lnTo>
                  <a:lnTo>
                    <a:pt x="3514724" y="128587"/>
                  </a:lnTo>
                  <a:lnTo>
                    <a:pt x="3514724" y="2024062"/>
                  </a:lnTo>
                  <a:lnTo>
                    <a:pt x="3514724" y="2032505"/>
                  </a:lnTo>
                  <a:lnTo>
                    <a:pt x="3513900" y="2040867"/>
                  </a:lnTo>
                  <a:lnTo>
                    <a:pt x="3512252" y="2049147"/>
                  </a:lnTo>
                  <a:lnTo>
                    <a:pt x="3510605" y="2057428"/>
                  </a:lnTo>
                  <a:lnTo>
                    <a:pt x="3508166" y="2065469"/>
                  </a:lnTo>
                  <a:lnTo>
                    <a:pt x="3504935" y="2073269"/>
                  </a:lnTo>
                  <a:lnTo>
                    <a:pt x="3501704" y="2081070"/>
                  </a:lnTo>
                  <a:lnTo>
                    <a:pt x="3477061" y="2114986"/>
                  </a:lnTo>
                  <a:lnTo>
                    <a:pt x="3457575" y="2130977"/>
                  </a:lnTo>
                  <a:lnTo>
                    <a:pt x="3450555" y="2135668"/>
                  </a:lnTo>
                  <a:lnTo>
                    <a:pt x="3443145" y="2139629"/>
                  </a:lnTo>
                  <a:lnTo>
                    <a:pt x="3435344" y="2142860"/>
                  </a:lnTo>
                  <a:lnTo>
                    <a:pt x="3427544" y="2146091"/>
                  </a:lnTo>
                  <a:lnTo>
                    <a:pt x="3386137" y="2152649"/>
                  </a:lnTo>
                  <a:lnTo>
                    <a:pt x="128587" y="2152649"/>
                  </a:lnTo>
                  <a:lnTo>
                    <a:pt x="87178" y="2146091"/>
                  </a:lnTo>
                  <a:lnTo>
                    <a:pt x="57147" y="2130977"/>
                  </a:lnTo>
                  <a:lnTo>
                    <a:pt x="50127" y="2126286"/>
                  </a:lnTo>
                  <a:lnTo>
                    <a:pt x="43632" y="2120956"/>
                  </a:lnTo>
                  <a:lnTo>
                    <a:pt x="37662" y="2114986"/>
                  </a:lnTo>
                  <a:lnTo>
                    <a:pt x="31691" y="2109016"/>
                  </a:lnTo>
                  <a:lnTo>
                    <a:pt x="26361" y="2102520"/>
                  </a:lnTo>
                  <a:lnTo>
                    <a:pt x="21670" y="2095500"/>
                  </a:lnTo>
                  <a:lnTo>
                    <a:pt x="16979" y="2088480"/>
                  </a:lnTo>
                  <a:lnTo>
                    <a:pt x="2470" y="2049148"/>
                  </a:lnTo>
                  <a:lnTo>
                    <a:pt x="0" y="2032505"/>
                  </a:lnTo>
                  <a:lnTo>
                    <a:pt x="0" y="2024062"/>
                  </a:lnTo>
                  <a:close/>
                </a:path>
              </a:pathLst>
            </a:custGeom>
            <a:ln w="28574">
              <a:solidFill>
                <a:srgbClr val="FFC1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6153149" y="8753474"/>
              <a:ext cx="2990850" cy="352425"/>
            </a:xfrm>
            <a:custGeom>
              <a:avLst/>
              <a:gdLst/>
              <a:ahLst/>
              <a:cxnLst/>
              <a:rect l="l" t="t" r="r" b="b"/>
              <a:pathLst>
                <a:path w="2990850" h="352425">
                  <a:moveTo>
                    <a:pt x="2928552" y="352424"/>
                  </a:moveTo>
                  <a:lnTo>
                    <a:pt x="62296" y="352424"/>
                  </a:lnTo>
                  <a:lnTo>
                    <a:pt x="57960" y="351997"/>
                  </a:lnTo>
                  <a:lnTo>
                    <a:pt x="22624" y="335991"/>
                  </a:lnTo>
                  <a:lnTo>
                    <a:pt x="2134" y="303050"/>
                  </a:lnTo>
                  <a:lnTo>
                    <a:pt x="0" y="290127"/>
                  </a:lnTo>
                  <a:lnTo>
                    <a:pt x="0" y="285749"/>
                  </a:lnTo>
                  <a:lnTo>
                    <a:pt x="0" y="62296"/>
                  </a:lnTo>
                  <a:lnTo>
                    <a:pt x="13668" y="25990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2928552" y="0"/>
                  </a:lnTo>
                  <a:lnTo>
                    <a:pt x="2964856" y="13668"/>
                  </a:lnTo>
                  <a:lnTo>
                    <a:pt x="2987448" y="45202"/>
                  </a:lnTo>
                  <a:lnTo>
                    <a:pt x="2990849" y="62296"/>
                  </a:lnTo>
                  <a:lnTo>
                    <a:pt x="2990849" y="290127"/>
                  </a:lnTo>
                  <a:lnTo>
                    <a:pt x="2977179" y="326431"/>
                  </a:lnTo>
                  <a:lnTo>
                    <a:pt x="2945644" y="349023"/>
                  </a:lnTo>
                  <a:lnTo>
                    <a:pt x="2932888" y="351997"/>
                  </a:lnTo>
                  <a:lnTo>
                    <a:pt x="2928552" y="352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6153149" y="8753474"/>
              <a:ext cx="2990850" cy="352425"/>
            </a:xfrm>
            <a:custGeom>
              <a:avLst/>
              <a:gdLst/>
              <a:ahLst/>
              <a:cxnLst/>
              <a:rect l="l" t="t" r="r" b="b"/>
              <a:pathLst>
                <a:path w="2990850" h="352425">
                  <a:moveTo>
                    <a:pt x="0" y="285749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0" y="53666"/>
                  </a:lnTo>
                  <a:lnTo>
                    <a:pt x="2134" y="49371"/>
                  </a:lnTo>
                  <a:lnTo>
                    <a:pt x="3399" y="45202"/>
                  </a:lnTo>
                  <a:lnTo>
                    <a:pt x="19528" y="19527"/>
                  </a:lnTo>
                  <a:lnTo>
                    <a:pt x="22624" y="16432"/>
                  </a:lnTo>
                  <a:lnTo>
                    <a:pt x="41159" y="5074"/>
                  </a:lnTo>
                  <a:lnTo>
                    <a:pt x="45203" y="3399"/>
                  </a:lnTo>
                  <a:lnTo>
                    <a:pt x="49372" y="2134"/>
                  </a:lnTo>
                  <a:lnTo>
                    <a:pt x="53667" y="1280"/>
                  </a:lnTo>
                  <a:lnTo>
                    <a:pt x="57960" y="426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2924174" y="0"/>
                  </a:lnTo>
                  <a:lnTo>
                    <a:pt x="2928552" y="0"/>
                  </a:lnTo>
                  <a:lnTo>
                    <a:pt x="2932888" y="427"/>
                  </a:lnTo>
                  <a:lnTo>
                    <a:pt x="2937182" y="1281"/>
                  </a:lnTo>
                  <a:lnTo>
                    <a:pt x="2941475" y="2135"/>
                  </a:lnTo>
                  <a:lnTo>
                    <a:pt x="2945644" y="3399"/>
                  </a:lnTo>
                  <a:lnTo>
                    <a:pt x="2949689" y="5075"/>
                  </a:lnTo>
                  <a:lnTo>
                    <a:pt x="2953733" y="6750"/>
                  </a:lnTo>
                  <a:lnTo>
                    <a:pt x="2982043" y="33271"/>
                  </a:lnTo>
                  <a:lnTo>
                    <a:pt x="2990849" y="66674"/>
                  </a:lnTo>
                  <a:lnTo>
                    <a:pt x="2990849" y="285749"/>
                  </a:lnTo>
                  <a:lnTo>
                    <a:pt x="2979612" y="322791"/>
                  </a:lnTo>
                  <a:lnTo>
                    <a:pt x="2961216" y="341187"/>
                  </a:lnTo>
                  <a:lnTo>
                    <a:pt x="2957576" y="343619"/>
                  </a:lnTo>
                  <a:lnTo>
                    <a:pt x="2924174" y="352424"/>
                  </a:lnTo>
                  <a:lnTo>
                    <a:pt x="66674" y="352424"/>
                  </a:lnTo>
                  <a:lnTo>
                    <a:pt x="62296" y="352424"/>
                  </a:lnTo>
                  <a:lnTo>
                    <a:pt x="57960" y="351997"/>
                  </a:lnTo>
                  <a:lnTo>
                    <a:pt x="53667" y="351143"/>
                  </a:lnTo>
                  <a:lnTo>
                    <a:pt x="49372" y="350289"/>
                  </a:lnTo>
                  <a:lnTo>
                    <a:pt x="16432" y="329800"/>
                  </a:lnTo>
                  <a:lnTo>
                    <a:pt x="426" y="294463"/>
                  </a:lnTo>
                  <a:lnTo>
                    <a:pt x="0" y="290127"/>
                  </a:lnTo>
                  <a:lnTo>
                    <a:pt x="0" y="285749"/>
                  </a:lnTo>
                  <a:close/>
                </a:path>
              </a:pathLst>
            </a:custGeom>
            <a:ln w="19049">
              <a:solidFill>
                <a:srgbClr val="FFC1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6570860" y="8149463"/>
            <a:ext cx="21590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 b="1">
                <a:solidFill>
                  <a:srgbClr val="856404"/>
                </a:solidFill>
                <a:latin typeface="Malgun Gothic"/>
                <a:cs typeface="Malgun Gothic"/>
              </a:rPr>
              <a:t>ご</a:t>
            </a:r>
            <a:r>
              <a:rPr dirty="0" sz="1350" spc="-170" b="1">
                <a:solidFill>
                  <a:srgbClr val="856404"/>
                </a:solidFill>
                <a:latin typeface="Microsoft JhengHei"/>
                <a:cs typeface="Microsoft JhengHei"/>
              </a:rPr>
              <a:t>清聴</a:t>
            </a:r>
            <a:r>
              <a:rPr dirty="0" sz="1350" spc="-160" b="1">
                <a:solidFill>
                  <a:srgbClr val="856404"/>
                </a:solidFill>
                <a:latin typeface="Malgun Gothic"/>
                <a:cs typeface="Malgun Gothic"/>
              </a:rPr>
              <a:t>ありがとうございました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73" name="object 73" descr=""/>
          <p:cNvGrpSpPr/>
          <p:nvPr/>
        </p:nvGrpSpPr>
        <p:grpSpPr>
          <a:xfrm>
            <a:off x="6905625" y="7134225"/>
            <a:ext cx="1095375" cy="1836420"/>
            <a:chOff x="6905625" y="7134225"/>
            <a:chExt cx="1095375" cy="1836420"/>
          </a:xfrm>
        </p:grpSpPr>
        <p:pic>
          <p:nvPicPr>
            <p:cNvPr id="74" name="object 7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05625" y="8898731"/>
              <a:ext cx="95249" cy="71437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7296149" y="7134225"/>
              <a:ext cx="704850" cy="266700"/>
            </a:xfrm>
            <a:custGeom>
              <a:avLst/>
              <a:gdLst/>
              <a:ahLst/>
              <a:cxnLst/>
              <a:rect l="l" t="t" r="r" b="b"/>
              <a:pathLst>
                <a:path w="704850" h="266700">
                  <a:moveTo>
                    <a:pt x="598054" y="266699"/>
                  </a:moveTo>
                  <a:lnTo>
                    <a:pt x="106794" y="266699"/>
                  </a:lnTo>
                  <a:lnTo>
                    <a:pt x="99362" y="265967"/>
                  </a:lnTo>
                  <a:lnTo>
                    <a:pt x="57038" y="251606"/>
                  </a:lnTo>
                  <a:lnTo>
                    <a:pt x="23432" y="222141"/>
                  </a:lnTo>
                  <a:lnTo>
                    <a:pt x="3660" y="182059"/>
                  </a:lnTo>
                  <a:lnTo>
                    <a:pt x="0" y="159905"/>
                  </a:lnTo>
                  <a:lnTo>
                    <a:pt x="0" y="1523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3" y="5828"/>
                  </a:lnTo>
                  <a:lnTo>
                    <a:pt x="106794" y="0"/>
                  </a:lnTo>
                  <a:lnTo>
                    <a:pt x="598054" y="0"/>
                  </a:lnTo>
                  <a:lnTo>
                    <a:pt x="641224" y="11572"/>
                  </a:lnTo>
                  <a:lnTo>
                    <a:pt x="676678" y="38784"/>
                  </a:lnTo>
                  <a:lnTo>
                    <a:pt x="699021" y="77493"/>
                  </a:lnTo>
                  <a:lnTo>
                    <a:pt x="704849" y="106794"/>
                  </a:lnTo>
                  <a:lnTo>
                    <a:pt x="704849" y="159905"/>
                  </a:lnTo>
                  <a:lnTo>
                    <a:pt x="693277" y="203074"/>
                  </a:lnTo>
                  <a:lnTo>
                    <a:pt x="666065" y="238529"/>
                  </a:lnTo>
                  <a:lnTo>
                    <a:pt x="627356" y="260871"/>
                  </a:lnTo>
                  <a:lnTo>
                    <a:pt x="605487" y="265967"/>
                  </a:lnTo>
                  <a:lnTo>
                    <a:pt x="598054" y="266699"/>
                  </a:lnTo>
                  <a:close/>
                </a:path>
              </a:pathLst>
            </a:custGeom>
            <a:solidFill>
              <a:srgbClr val="FFC10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 descr=""/>
          <p:cNvSpPr txBox="1"/>
          <p:nvPr/>
        </p:nvSpPr>
        <p:spPr>
          <a:xfrm>
            <a:off x="7428110" y="7184104"/>
            <a:ext cx="44450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90" b="1">
                <a:solidFill>
                  <a:srgbClr val="856404"/>
                </a:solidFill>
                <a:latin typeface="Malgun Gothic"/>
                <a:cs typeface="Malgun Gothic"/>
              </a:rPr>
              <a:t>質疑</a:t>
            </a:r>
            <a:r>
              <a:rPr dirty="0" sz="900" spc="-90" b="1">
                <a:solidFill>
                  <a:srgbClr val="856404"/>
                </a:solidFill>
                <a:latin typeface="Microsoft JhengHei"/>
                <a:cs typeface="Microsoft JhengHei"/>
              </a:rPr>
              <a:t>応</a:t>
            </a:r>
            <a:r>
              <a:rPr dirty="0" sz="900" spc="-60" b="1">
                <a:solidFill>
                  <a:srgbClr val="856404"/>
                </a:solidFill>
                <a:latin typeface="Malgun Gothic"/>
                <a:cs typeface="Malgun Gothic"/>
              </a:rPr>
              <a:t>答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6857648" y="7579515"/>
            <a:ext cx="2705735" cy="1850389"/>
            <a:chOff x="6857648" y="7579515"/>
            <a:chExt cx="2705735" cy="1850389"/>
          </a:xfrm>
        </p:grpSpPr>
        <p:sp>
          <p:nvSpPr>
            <p:cNvPr id="78" name="object 78" descr=""/>
            <p:cNvSpPr/>
            <p:nvPr/>
          </p:nvSpPr>
          <p:spPr>
            <a:xfrm>
              <a:off x="7406108" y="7579515"/>
              <a:ext cx="485140" cy="386715"/>
            </a:xfrm>
            <a:custGeom>
              <a:avLst/>
              <a:gdLst/>
              <a:ahLst/>
              <a:cxnLst/>
              <a:rect l="l" t="t" r="r" b="b"/>
              <a:pathLst>
                <a:path w="485140" h="386715">
                  <a:moveTo>
                    <a:pt x="13128" y="265580"/>
                  </a:moveTo>
                  <a:lnTo>
                    <a:pt x="7922" y="265580"/>
                  </a:lnTo>
                  <a:lnTo>
                    <a:pt x="3319" y="262110"/>
                  </a:lnTo>
                  <a:lnTo>
                    <a:pt x="0" y="252301"/>
                  </a:lnTo>
                  <a:lnTo>
                    <a:pt x="1810" y="246869"/>
                  </a:lnTo>
                  <a:lnTo>
                    <a:pt x="6262" y="243549"/>
                  </a:lnTo>
                  <a:lnTo>
                    <a:pt x="7695" y="242417"/>
                  </a:lnTo>
                  <a:lnTo>
                    <a:pt x="10185" y="240229"/>
                  </a:lnTo>
                  <a:lnTo>
                    <a:pt x="12901" y="237739"/>
                  </a:lnTo>
                  <a:lnTo>
                    <a:pt x="16598" y="234118"/>
                  </a:lnTo>
                  <a:lnTo>
                    <a:pt x="20220" y="229440"/>
                  </a:lnTo>
                  <a:lnTo>
                    <a:pt x="24370" y="224159"/>
                  </a:lnTo>
                  <a:lnTo>
                    <a:pt x="28293" y="217896"/>
                  </a:lnTo>
                  <a:lnTo>
                    <a:pt x="30934" y="210804"/>
                  </a:lnTo>
                  <a:lnTo>
                    <a:pt x="18340" y="193447"/>
                  </a:lnTo>
                  <a:lnTo>
                    <a:pt x="8950" y="174485"/>
                  </a:lnTo>
                  <a:lnTo>
                    <a:pt x="3082" y="154178"/>
                  </a:lnTo>
                  <a:lnTo>
                    <a:pt x="1096" y="133217"/>
                  </a:lnTo>
                  <a:lnTo>
                    <a:pt x="1067" y="132730"/>
                  </a:lnTo>
                  <a:lnTo>
                    <a:pt x="9055" y="90818"/>
                  </a:lnTo>
                  <a:lnTo>
                    <a:pt x="31330" y="54366"/>
                  </a:lnTo>
                  <a:lnTo>
                    <a:pt x="65299" y="25621"/>
                  </a:lnTo>
                  <a:lnTo>
                    <a:pt x="108379" y="6769"/>
                  </a:lnTo>
                  <a:lnTo>
                    <a:pt x="157990" y="0"/>
                  </a:lnTo>
                  <a:lnTo>
                    <a:pt x="207600" y="6769"/>
                  </a:lnTo>
                  <a:lnTo>
                    <a:pt x="250681" y="25621"/>
                  </a:lnTo>
                  <a:lnTo>
                    <a:pt x="284650" y="54366"/>
                  </a:lnTo>
                  <a:lnTo>
                    <a:pt x="306925" y="90818"/>
                  </a:lnTo>
                  <a:lnTo>
                    <a:pt x="314912" y="132730"/>
                  </a:lnTo>
                  <a:lnTo>
                    <a:pt x="314842" y="133217"/>
                  </a:lnTo>
                  <a:lnTo>
                    <a:pt x="306978" y="174485"/>
                  </a:lnTo>
                  <a:lnTo>
                    <a:pt x="306925" y="174761"/>
                  </a:lnTo>
                  <a:lnTo>
                    <a:pt x="284650" y="211213"/>
                  </a:lnTo>
                  <a:lnTo>
                    <a:pt x="250681" y="239959"/>
                  </a:lnTo>
                  <a:lnTo>
                    <a:pt x="233338" y="247548"/>
                  </a:lnTo>
                  <a:lnTo>
                    <a:pt x="79070" y="247548"/>
                  </a:lnTo>
                  <a:lnTo>
                    <a:pt x="73411" y="250566"/>
                  </a:lnTo>
                  <a:lnTo>
                    <a:pt x="25446" y="264839"/>
                  </a:lnTo>
                  <a:lnTo>
                    <a:pt x="13128" y="265580"/>
                  </a:lnTo>
                  <a:close/>
                </a:path>
                <a:path w="485140" h="386715">
                  <a:moveTo>
                    <a:pt x="326996" y="386299"/>
                  </a:moveTo>
                  <a:lnTo>
                    <a:pt x="275508" y="378985"/>
                  </a:lnTo>
                  <a:lnTo>
                    <a:pt x="231185" y="358684"/>
                  </a:lnTo>
                  <a:lnTo>
                    <a:pt x="196949" y="327859"/>
                  </a:lnTo>
                  <a:lnTo>
                    <a:pt x="175720" y="288969"/>
                  </a:lnTo>
                  <a:lnTo>
                    <a:pt x="226722" y="277935"/>
                  </a:lnTo>
                  <a:lnTo>
                    <a:pt x="271484" y="255104"/>
                  </a:lnTo>
                  <a:lnTo>
                    <a:pt x="307080" y="222173"/>
                  </a:lnTo>
                  <a:lnTo>
                    <a:pt x="330583" y="180837"/>
                  </a:lnTo>
                  <a:lnTo>
                    <a:pt x="338992" y="133217"/>
                  </a:lnTo>
                  <a:lnTo>
                    <a:pt x="338992" y="128791"/>
                  </a:lnTo>
                  <a:lnTo>
                    <a:pt x="338841" y="124868"/>
                  </a:lnTo>
                  <a:lnTo>
                    <a:pt x="338539" y="121020"/>
                  </a:lnTo>
                  <a:lnTo>
                    <a:pt x="384855" y="129981"/>
                  </a:lnTo>
                  <a:lnTo>
                    <a:pt x="424794" y="149616"/>
                  </a:lnTo>
                  <a:lnTo>
                    <a:pt x="456106" y="178010"/>
                  </a:lnTo>
                  <a:lnTo>
                    <a:pt x="476542" y="213254"/>
                  </a:lnTo>
                  <a:lnTo>
                    <a:pt x="483854" y="253433"/>
                  </a:lnTo>
                  <a:lnTo>
                    <a:pt x="481828" y="274864"/>
                  </a:lnTo>
                  <a:lnTo>
                    <a:pt x="475960" y="295184"/>
                  </a:lnTo>
                  <a:lnTo>
                    <a:pt x="466571" y="314133"/>
                  </a:lnTo>
                  <a:lnTo>
                    <a:pt x="453977" y="331447"/>
                  </a:lnTo>
                  <a:lnTo>
                    <a:pt x="456617" y="338464"/>
                  </a:lnTo>
                  <a:lnTo>
                    <a:pt x="460541" y="344802"/>
                  </a:lnTo>
                  <a:lnTo>
                    <a:pt x="464690" y="350083"/>
                  </a:lnTo>
                  <a:lnTo>
                    <a:pt x="468312" y="354761"/>
                  </a:lnTo>
                  <a:lnTo>
                    <a:pt x="472009" y="358383"/>
                  </a:lnTo>
                  <a:lnTo>
                    <a:pt x="474725" y="360872"/>
                  </a:lnTo>
                  <a:lnTo>
                    <a:pt x="476083" y="362155"/>
                  </a:lnTo>
                  <a:lnTo>
                    <a:pt x="478347" y="363966"/>
                  </a:lnTo>
                  <a:lnTo>
                    <a:pt x="478648" y="364117"/>
                  </a:lnTo>
                  <a:lnTo>
                    <a:pt x="478950" y="364418"/>
                  </a:lnTo>
                  <a:lnTo>
                    <a:pt x="483175" y="367512"/>
                  </a:lnTo>
                  <a:lnTo>
                    <a:pt x="483416" y="368266"/>
                  </a:lnTo>
                  <a:lnTo>
                    <a:pt x="405991" y="368266"/>
                  </a:lnTo>
                  <a:lnTo>
                    <a:pt x="387897" y="375922"/>
                  </a:lnTo>
                  <a:lnTo>
                    <a:pt x="368587" y="381583"/>
                  </a:lnTo>
                  <a:lnTo>
                    <a:pt x="348230" y="385094"/>
                  </a:lnTo>
                  <a:lnTo>
                    <a:pt x="326996" y="386299"/>
                  </a:lnTo>
                  <a:close/>
                </a:path>
                <a:path w="485140" h="386715">
                  <a:moveTo>
                    <a:pt x="157990" y="265580"/>
                  </a:moveTo>
                  <a:lnTo>
                    <a:pt x="136757" y="264375"/>
                  </a:lnTo>
                  <a:lnTo>
                    <a:pt x="116408" y="260865"/>
                  </a:lnTo>
                  <a:lnTo>
                    <a:pt x="96886" y="255104"/>
                  </a:lnTo>
                  <a:lnTo>
                    <a:pt x="79070" y="247548"/>
                  </a:lnTo>
                  <a:lnTo>
                    <a:pt x="233338" y="247548"/>
                  </a:lnTo>
                  <a:lnTo>
                    <a:pt x="207600" y="258810"/>
                  </a:lnTo>
                  <a:lnTo>
                    <a:pt x="157990" y="265580"/>
                  </a:lnTo>
                  <a:close/>
                </a:path>
                <a:path w="485140" h="386715">
                  <a:moveTo>
                    <a:pt x="477064" y="386299"/>
                  </a:moveTo>
                  <a:lnTo>
                    <a:pt x="471858" y="386299"/>
                  </a:lnTo>
                  <a:lnTo>
                    <a:pt x="459540" y="385557"/>
                  </a:lnTo>
                  <a:lnTo>
                    <a:pt x="418063" y="374227"/>
                  </a:lnTo>
                  <a:lnTo>
                    <a:pt x="405991" y="368266"/>
                  </a:lnTo>
                  <a:lnTo>
                    <a:pt x="483416" y="368266"/>
                  </a:lnTo>
                  <a:lnTo>
                    <a:pt x="484911" y="372944"/>
                  </a:lnTo>
                  <a:lnTo>
                    <a:pt x="481742" y="382903"/>
                  </a:lnTo>
                  <a:lnTo>
                    <a:pt x="477064" y="386299"/>
                  </a:lnTo>
                  <a:close/>
                </a:path>
              </a:pathLst>
            </a:custGeom>
            <a:solidFill>
              <a:srgbClr val="856404">
                <a:alpha val="8277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57648" y="9242885"/>
              <a:ext cx="95953" cy="95953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86188" y="8578140"/>
              <a:ext cx="96023" cy="96023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115252" y="8911714"/>
              <a:ext cx="95345" cy="95345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8267699" y="9105899"/>
              <a:ext cx="1295400" cy="323850"/>
            </a:xfrm>
            <a:custGeom>
              <a:avLst/>
              <a:gdLst/>
              <a:ahLst/>
              <a:cxnLst/>
              <a:rect l="l" t="t" r="r" b="b"/>
              <a:pathLst>
                <a:path w="1295400" h="323850">
                  <a:moveTo>
                    <a:pt x="126235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262352" y="0"/>
                  </a:lnTo>
                  <a:lnTo>
                    <a:pt x="1294433" y="28187"/>
                  </a:lnTo>
                  <a:lnTo>
                    <a:pt x="1295399" y="33047"/>
                  </a:lnTo>
                  <a:lnTo>
                    <a:pt x="1295399" y="290802"/>
                  </a:lnTo>
                  <a:lnTo>
                    <a:pt x="1267212" y="322883"/>
                  </a:lnTo>
                  <a:lnTo>
                    <a:pt x="126235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81999" y="9201149"/>
              <a:ext cx="133349" cy="133349"/>
            </a:xfrm>
            <a:prstGeom prst="rect">
              <a:avLst/>
            </a:prstGeom>
          </p:spPr>
        </p:pic>
      </p:grpSp>
      <p:sp>
        <p:nvSpPr>
          <p:cNvPr id="84" name="object 84" descr=""/>
          <p:cNvSpPr txBox="1"/>
          <p:nvPr/>
        </p:nvSpPr>
        <p:spPr>
          <a:xfrm>
            <a:off x="6882010" y="8449690"/>
            <a:ext cx="2637155" cy="9086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sz="1000" spc="-100">
                <a:solidFill>
                  <a:srgbClr val="666666"/>
                </a:solidFill>
                <a:latin typeface="SimSun"/>
                <a:cs typeface="SimSun"/>
              </a:rPr>
              <a:t>質問</a:t>
            </a:r>
            <a:r>
              <a:rPr dirty="0" sz="1000" spc="615">
                <a:solidFill>
                  <a:srgbClr val="666666"/>
                </a:solidFill>
                <a:latin typeface="MS PGothic"/>
                <a:cs typeface="MS PGothic"/>
              </a:rPr>
              <a:t>‧</a:t>
            </a:r>
            <a:r>
              <a:rPr dirty="0" sz="1000" spc="-100">
                <a:solidFill>
                  <a:srgbClr val="666666"/>
                </a:solidFill>
                <a:latin typeface="SimSun"/>
                <a:cs typeface="SimSun"/>
              </a:rPr>
              <a:t>議論</a:t>
            </a:r>
            <a:r>
              <a:rPr dirty="0" sz="1000">
                <a:solidFill>
                  <a:srgbClr val="666666"/>
                </a:solidFill>
                <a:latin typeface="MS PGothic"/>
                <a:cs typeface="MS PGothic"/>
              </a:rPr>
              <a:t>を</a:t>
            </a:r>
            <a:r>
              <a:rPr dirty="0" sz="1000" spc="-100">
                <a:solidFill>
                  <a:srgbClr val="666666"/>
                </a:solidFill>
                <a:latin typeface="SimSun"/>
                <a:cs typeface="SimSun"/>
              </a:rPr>
              <a:t>歓迎</a:t>
            </a:r>
            <a:r>
              <a:rPr dirty="0" sz="1000" spc="-5">
                <a:solidFill>
                  <a:srgbClr val="666666"/>
                </a:solidFill>
                <a:latin typeface="MS PGothic"/>
                <a:cs typeface="MS PGothic"/>
              </a:rPr>
              <a:t>いたします</a:t>
            </a:r>
            <a:endParaRPr sz="1000">
              <a:latin typeface="MS PGothic"/>
              <a:cs typeface="MS PGothic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900">
              <a:latin typeface="MS PGothic"/>
              <a:cs typeface="MS PGothic"/>
            </a:endParaRPr>
          </a:p>
          <a:p>
            <a:pPr marL="183515">
              <a:lnSpc>
                <a:spcPct val="100000"/>
              </a:lnSpc>
            </a:pPr>
            <a:r>
              <a:rPr dirty="0" sz="850" spc="-110">
                <a:solidFill>
                  <a:srgbClr val="444444"/>
                </a:solidFill>
                <a:latin typeface="SimSun"/>
                <a:cs typeface="SimSun"/>
              </a:rPr>
              <a:t>論文紹介</a:t>
            </a:r>
            <a:r>
              <a:rPr dirty="0" sz="850" spc="500">
                <a:solidFill>
                  <a:srgbClr val="444444"/>
                </a:solidFill>
                <a:latin typeface="MS PGothic"/>
                <a:cs typeface="MS PGothic"/>
              </a:rPr>
              <a:t>‧</a:t>
            </a:r>
            <a:r>
              <a:rPr dirty="0" sz="850" spc="-110">
                <a:solidFill>
                  <a:srgbClr val="444444"/>
                </a:solidFill>
                <a:latin typeface="SimSun"/>
                <a:cs typeface="SimSun"/>
              </a:rPr>
              <a:t>研究</a:t>
            </a:r>
            <a:r>
              <a:rPr dirty="0" sz="850" spc="-55">
                <a:solidFill>
                  <a:srgbClr val="444444"/>
                </a:solidFill>
                <a:latin typeface="MS PGothic"/>
                <a:cs typeface="MS PGothic"/>
              </a:rPr>
              <a:t>に</a:t>
            </a:r>
            <a:r>
              <a:rPr dirty="0" sz="850" spc="-110">
                <a:solidFill>
                  <a:srgbClr val="444444"/>
                </a:solidFill>
                <a:latin typeface="SimSun"/>
                <a:cs typeface="SimSun"/>
              </a:rPr>
              <a:t>関</a:t>
            </a:r>
            <a:r>
              <a:rPr dirty="0" sz="850" spc="-40">
                <a:solidFill>
                  <a:srgbClr val="444444"/>
                </a:solidFill>
                <a:latin typeface="MS PGothic"/>
                <a:cs typeface="MS PGothic"/>
              </a:rPr>
              <a:t>するご</a:t>
            </a:r>
            <a:r>
              <a:rPr dirty="0" sz="850" spc="-80">
                <a:solidFill>
                  <a:srgbClr val="444444"/>
                </a:solidFill>
                <a:latin typeface="SimSun"/>
                <a:cs typeface="SimSun"/>
              </a:rPr>
              <a:t>質問</a:t>
            </a:r>
            <a:endParaRPr sz="8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750">
              <a:latin typeface="SimSun"/>
              <a:cs typeface="SimSun"/>
            </a:endParaRPr>
          </a:p>
          <a:p>
            <a:pPr marL="1692275">
              <a:lnSpc>
                <a:spcPct val="100000"/>
              </a:lnSpc>
            </a:pPr>
            <a:r>
              <a:rPr dirty="0" sz="1050" spc="-80">
                <a:solidFill>
                  <a:srgbClr val="FFFFFF"/>
                </a:solidFill>
                <a:latin typeface="Arial MT"/>
                <a:cs typeface="Arial MT"/>
              </a:rPr>
              <a:t>Genspark </a:t>
            </a:r>
            <a:r>
              <a:rPr dirty="0" baseline="-24154" sz="1725" spc="-967" b="1">
                <a:solidFill>
                  <a:srgbClr val="666666"/>
                </a:solidFill>
                <a:latin typeface="Trebuchet MS"/>
                <a:cs typeface="Trebuchet MS"/>
              </a:rPr>
              <a:t>1</a:t>
            </a:r>
            <a:r>
              <a:rPr dirty="0" sz="1000" spc="-415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dirty="0" baseline="-24154" sz="1725" spc="-540" b="1">
                <a:solidFill>
                  <a:srgbClr val="666666"/>
                </a:solidFill>
                <a:latin typeface="Trebuchet MS"/>
                <a:cs typeface="Trebuchet MS"/>
              </a:rPr>
              <a:t>3</a:t>
            </a:r>
            <a:r>
              <a:rPr dirty="0" sz="1000" spc="-700">
                <a:solidFill>
                  <a:srgbClr val="FFFFFF"/>
                </a:solidFill>
                <a:latin typeface="SimSun"/>
                <a:cs typeface="SimSun"/>
              </a:rPr>
              <a:t>作</a:t>
            </a:r>
            <a:r>
              <a:rPr dirty="0" baseline="-24154" sz="1725" spc="-405" b="1">
                <a:solidFill>
                  <a:srgbClr val="666666"/>
                </a:solidFill>
                <a:latin typeface="Trebuchet MS"/>
                <a:cs typeface="Trebuchet MS"/>
              </a:rPr>
              <a:t>/1</a:t>
            </a:r>
            <a:r>
              <a:rPr dirty="0" sz="1000" spc="-570">
                <a:solidFill>
                  <a:srgbClr val="FFFFFF"/>
                </a:solidFill>
                <a:latin typeface="SimSun"/>
                <a:cs typeface="SimSun"/>
              </a:rPr>
              <a:t>成</a:t>
            </a:r>
            <a:r>
              <a:rPr dirty="0" baseline="-24154" sz="1725" spc="-75" b="1">
                <a:solidFill>
                  <a:srgbClr val="666666"/>
                </a:solidFill>
                <a:latin typeface="Trebuchet MS"/>
                <a:cs typeface="Trebuchet MS"/>
              </a:rPr>
              <a:t>3</a:t>
            </a:r>
            <a:endParaRPr baseline="-24154" sz="1725">
              <a:latin typeface="Trebuchet MS"/>
              <a:cs typeface="Trebuchet MS"/>
            </a:endParaRPr>
          </a:p>
        </p:txBody>
      </p:sp>
      <p:grpSp>
        <p:nvGrpSpPr>
          <p:cNvPr id="85" name="object 85" descr=""/>
          <p:cNvGrpSpPr/>
          <p:nvPr/>
        </p:nvGrpSpPr>
        <p:grpSpPr>
          <a:xfrm>
            <a:off x="561955" y="5052254"/>
            <a:ext cx="2172335" cy="1621155"/>
            <a:chOff x="561955" y="5052254"/>
            <a:chExt cx="2172335" cy="1621155"/>
          </a:xfrm>
        </p:grpSpPr>
        <p:pic>
          <p:nvPicPr>
            <p:cNvPr id="86" name="object 8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85621" y="5052254"/>
              <a:ext cx="96005" cy="96005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76292" y="6577320"/>
              <a:ext cx="95665" cy="95665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90235" y="5569828"/>
              <a:ext cx="96027" cy="96027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638319" y="5944771"/>
              <a:ext cx="95461" cy="95461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61955" y="6523487"/>
              <a:ext cx="95289" cy="95289"/>
            </a:xfrm>
            <a:prstGeom prst="rect">
              <a:avLst/>
            </a:prstGeom>
          </p:spPr>
        </p:pic>
      </p:grpSp>
      <p:grpSp>
        <p:nvGrpSpPr>
          <p:cNvPr id="91" name="object 91" descr=""/>
          <p:cNvGrpSpPr/>
          <p:nvPr/>
        </p:nvGrpSpPr>
        <p:grpSpPr>
          <a:xfrm>
            <a:off x="6362392" y="5217449"/>
            <a:ext cx="982344" cy="1577340"/>
            <a:chOff x="6362392" y="5217449"/>
            <a:chExt cx="982344" cy="1577340"/>
          </a:xfrm>
        </p:grpSpPr>
        <p:pic>
          <p:nvPicPr>
            <p:cNvPr id="92" name="object 9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638512" y="6698304"/>
              <a:ext cx="96074" cy="96074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248112" y="6140626"/>
              <a:ext cx="96074" cy="96074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62392" y="5217449"/>
              <a:ext cx="95864" cy="95864"/>
            </a:xfrm>
            <a:prstGeom prst="rect">
              <a:avLst/>
            </a:prstGeom>
          </p:spPr>
        </p:pic>
      </p:grpSp>
      <p:grpSp>
        <p:nvGrpSpPr>
          <p:cNvPr id="95" name="object 95" descr=""/>
          <p:cNvGrpSpPr/>
          <p:nvPr/>
        </p:nvGrpSpPr>
        <p:grpSpPr>
          <a:xfrm>
            <a:off x="285449" y="7815966"/>
            <a:ext cx="334010" cy="1304925"/>
            <a:chOff x="285449" y="7815966"/>
            <a:chExt cx="334010" cy="1304925"/>
          </a:xfrm>
        </p:grpSpPr>
        <p:pic>
          <p:nvPicPr>
            <p:cNvPr id="96" name="object 9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3561" y="9024610"/>
              <a:ext cx="95876" cy="95876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85449" y="7815966"/>
              <a:ext cx="95850" cy="95850"/>
            </a:xfrm>
            <a:prstGeom prst="rect">
              <a:avLst/>
            </a:prstGeom>
          </p:spPr>
        </p:pic>
      </p:grpSp>
      <p:pic>
        <p:nvPicPr>
          <p:cNvPr id="98" name="object 98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9619873" y="8658628"/>
            <a:ext cx="96002" cy="960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2025-05-22T20:51:19Z</dcterms:created>
  <dcterms:modified xsi:type="dcterms:W3CDTF">2025-05-22T20:51:19Z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2025-05-22T00:00:00Z</vt:filetime>
  </property>
  <property fmtid="{D5CDD505-2E9C-101B-9397-08002B2CF9AE}" pid="3" name="Producer">
    <vt:lpwstr>pypdf</vt:lpwstr>
  </property>
  <property fmtid="{D5CDD505-2E9C-101B-9397-08002B2CF9AE}" pid="4" name="LastSaved">
    <vt:filetime>2025-05-22T00:00:00Z</vt:filetime>
  </property>
</Properties>
</file>