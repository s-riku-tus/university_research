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1"/>
  </p:notesMasterIdLst>
  <p:sldIdLst>
    <p:sldId id="399" r:id="rId2"/>
    <p:sldId id="501" r:id="rId3"/>
    <p:sldId id="494" r:id="rId4"/>
    <p:sldId id="511" r:id="rId5"/>
    <p:sldId id="512" r:id="rId6"/>
    <p:sldId id="509" r:id="rId7"/>
    <p:sldId id="513" r:id="rId8"/>
    <p:sldId id="503" r:id="rId9"/>
    <p:sldId id="508" r:id="rId10"/>
  </p:sldIdLst>
  <p:sldSz cx="18288000" cy="10287000"/>
  <p:notesSz cx="6858000" cy="9144000"/>
  <p:embeddedFontLst>
    <p:embeddedFont>
      <p:font typeface="Source Han Sans JP" panose="020B0600070205080204" charset="-128"/>
      <p:regular r:id="rId12"/>
    </p:embeddedFont>
    <p:embeddedFont>
      <p:font typeface="Source Han Sans JP Bold" panose="020B0600070205080204" charset="-128"/>
      <p:regular r:id="rId13"/>
    </p:embeddedFont>
    <p:embeddedFont>
      <p:font typeface="Source Han Sans JP Medium" panose="020B0600070205080204" charset="-128"/>
      <p:regular r:id="rId14"/>
    </p:embeddedFont>
    <p:embeddedFont>
      <p:font typeface="Century Gothic Paneuropean" panose="020B0600070205080204" charset="0"/>
      <p:regular r:id="rId15"/>
    </p:embeddedFont>
    <p:embeddedFont>
      <p:font typeface="游ゴシック" panose="020B0400000000000000" pitchFamily="50" charset="-128"/>
      <p:regular r:id="rId16"/>
      <p:bold r:id="rId17"/>
    </p:embeddedFont>
    <p:embeddedFont>
      <p:font typeface="游ゴシック" panose="020B0400000000000000" pitchFamily="50" charset="-128"/>
      <p:regular r:id="rId16"/>
      <p:bold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4DFD7D12-A81E-460B-B0A9-1B2C599831E7}">
          <p14:sldIdLst>
            <p14:sldId id="399"/>
            <p14:sldId id="501"/>
            <p14:sldId id="494"/>
            <p14:sldId id="511"/>
            <p14:sldId id="512"/>
            <p14:sldId id="509"/>
            <p14:sldId id="513"/>
            <p14:sldId id="503"/>
            <p14:sldId id="5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74696" autoAdjust="0"/>
  </p:normalViewPr>
  <p:slideViewPr>
    <p:cSldViewPr>
      <p:cViewPr varScale="1">
        <p:scale>
          <a:sx n="50" d="100"/>
          <a:sy n="50" d="100"/>
        </p:scale>
        <p:origin x="300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microsoft.com/office/2015/10/relationships/revisionInfo" Target="revisionInfo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最良単体</c:v>
          </c:tx>
          <c:spPr>
            <a:ln w="38100">
              <a:solidFill>
                <a:srgbClr val="2F6F73"/>
              </a:solidFill>
            </a:ln>
          </c:spPr>
          <c:marker>
            <c:symbol val="circle"/>
            <c:size val="9"/>
          </c:marker>
          <c:dLbls>
            <c:numFmt formatCode="0.000" sourceLinked="0"/>
            <c:spPr>
              <a:noFill/>
              <a:ln>
                <a:noFill/>
              </a:ln>
              <a:effectLst/>
            </c:spPr>
            <c:dLblPos val="t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順方向 AlexNet</c:v>
              </c:pt>
              <c:pt idx="1">
                <c:v>逆方向 RF</c:v>
              </c:pt>
            </c:strLit>
          </c:cat>
          <c:val>
            <c:numLit>
              <c:formatCode>0.000</c:formatCode>
              <c:ptCount val="2"/>
              <c:pt idx="0">
                <c:v>0.90600000000000003</c:v>
              </c:pt>
              <c:pt idx="1">
                <c:v>0.90700000000000003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0-E3FB-419C-B077-615CAAEB7CCE}"/>
            </c:ext>
          </c:extLst>
        </c:ser>
        <c:ser>
          <c:idx val="1"/>
          <c:order val="1"/>
          <c:tx>
            <c:v>統合</c:v>
          </c:tx>
          <c:spPr>
            <a:ln w="38100">
              <a:solidFill>
                <a:srgbClr val="F39A43"/>
              </a:solidFill>
            </a:ln>
          </c:spPr>
          <c:marker>
            <c:symbol val="diamond"/>
            <c:size val="9"/>
          </c:marker>
          <c:dLbls>
            <c:numFmt formatCode="0.000" sourceLinked="0"/>
            <c:spPr>
              <a:noFill/>
              <a:ln>
                <a:noFill/>
              </a:ln>
              <a:effectLst/>
            </c:spPr>
            <c:dLblPos val="b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順方向 AlexNet</c:v>
              </c:pt>
              <c:pt idx="1">
                <c:v>逆方向 RF</c:v>
              </c:pt>
            </c:strLit>
          </c:cat>
          <c:val>
            <c:numLit>
              <c:formatCode>0.000</c:formatCode>
              <c:ptCount val="2"/>
              <c:pt idx="0">
                <c:v>0.90400000000000003</c:v>
              </c:pt>
              <c:pt idx="1">
                <c:v>0.89500000000000002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1-E3FB-419C-B077-615CAAEB7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10001"/>
        <c:axId val="510002"/>
      </c:lineChart>
      <c:catAx>
        <c:axId val="51000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510002"/>
        <c:crosses val="autoZero"/>
        <c:auto val="1"/>
        <c:lblAlgn val="ctr"/>
        <c:lblOffset val="100"/>
        <c:noMultiLvlLbl val="1"/>
      </c:catAx>
      <c:valAx>
        <c:axId val="510002"/>
        <c:scaling>
          <c:orientation val="minMax"/>
          <c:max val="0.92"/>
          <c:min val="0.8"/>
        </c:scaling>
        <c:delete val="0"/>
        <c:axPos val="l"/>
        <c:majorGridlines/>
        <c:numFmt formatCode="0.00" sourceLinked="0"/>
        <c:majorTickMark val="cross"/>
        <c:minorTickMark val="cross"/>
        <c:tickLblPos val="nextTo"/>
        <c:crossAx val="510001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RF</c:v>
          </c:tx>
          <c:spPr>
            <a:solidFill>
              <a:srgbClr val="2F6F7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ONB前</c:v>
              </c:pt>
              <c:pt idx="1">
                <c:v>ONB以降</c:v>
              </c:pt>
            </c:strLit>
          </c:cat>
          <c:val>
            <c:numLit>
              <c:formatCode>0</c:formatCode>
              <c:ptCount val="2"/>
              <c:pt idx="0">
                <c:v>98</c:v>
              </c:pt>
              <c:pt idx="1">
                <c:v>69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E5F-40F3-A156-45270384114E}"/>
            </c:ext>
          </c:extLst>
        </c:ser>
        <c:ser>
          <c:idx val="1"/>
          <c:order val="1"/>
          <c:tx>
            <c:v>統合</c:v>
          </c:tx>
          <c:spPr>
            <a:solidFill>
              <a:srgbClr val="F39A4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ONB前</c:v>
              </c:pt>
              <c:pt idx="1">
                <c:v>ONB以降</c:v>
              </c:pt>
            </c:strLit>
          </c:cat>
          <c:val>
            <c:numLit>
              <c:formatCode>0</c:formatCode>
              <c:ptCount val="2"/>
              <c:pt idx="0">
                <c:v>124</c:v>
              </c:pt>
              <c:pt idx="1">
                <c:v>50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E5F-40F3-A156-4527038411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710001"/>
        <c:axId val="710002"/>
      </c:barChart>
      <c:catAx>
        <c:axId val="71000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710002"/>
        <c:crosses val="autoZero"/>
        <c:auto val="1"/>
        <c:lblAlgn val="ctr"/>
        <c:lblOffset val="100"/>
        <c:noMultiLvlLbl val="1"/>
      </c:catAx>
      <c:valAx>
        <c:axId val="710002"/>
        <c:scaling>
          <c:orientation val="minMax"/>
          <c:max val="140"/>
          <c:min val="0"/>
        </c:scaling>
        <c:delete val="0"/>
        <c:axPos val="l"/>
        <c:majorGridlines/>
        <c:numFmt formatCode="0" sourceLinked="0"/>
        <c:majorTickMark val="cross"/>
        <c:minorTickMark val="cross"/>
        <c:tickLblPos val="nextTo"/>
        <c:crossAx val="710001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狙いを定め直した方が良い気がしている．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手法の採用を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A9E9-AE27-1E01-9835-EF48D367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534F1C-5D18-FC8A-8DEF-C46AB3E0D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770C4D-86E6-D25C-9111-77341F57D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60FBB3-999D-3E47-4628-00199393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839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9844-7479-4761-8AC7-853C4B31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66FFAA-7C12-7D95-5E85-103771BD8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AD4A18C-3D01-1769-0E06-C86D1BB8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8A47E-C6C9-18D1-0F1C-B25EF8996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25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45E4-B9B9-554E-8899-3266B7DE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C0710D-C792-2F16-2B79-8917D339D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99D4327-A3A0-2B20-4891-5D0CE596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4A3B95-7E6A-318B-2CAB-533FB426E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158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【年間計画に対する到達度（①〜④）】</a:t>
            </a:r>
          </a:p>
          <a:p>
            <a:r>
              <a:rPr lang="ja-JP" altLang="en-US" dirty="0"/>
              <a:t>① RF単体の確立：入力・回帰・ONBしきい値評価・結果保存まで完了。→ 完了扱い。</a:t>
            </a:r>
          </a:p>
          <a:p>
            <a:r>
              <a:rPr lang="ja-JP" altLang="en-US" dirty="0"/>
              <a:t>② 各モデルへの説明性付与：手法決定・実装・代表条件での出力まで完了。目視確認、信頼性、物理的妥当性の評価が残る。→ 進行中。</a:t>
            </a:r>
          </a:p>
          <a:p>
            <a:r>
              <a:rPr lang="ja-JP" altLang="en-US" dirty="0"/>
              <a:t>③ 3モデルアンサンブルの確立：パラメータ再調整、各モデルの安定化、3モデル・複数統合方法の同条件評価まで実施。アンサンブルの有効性と最終方式の判断が残る。→ 実装基盤は完了。</a:t>
            </a:r>
          </a:p>
          <a:p>
            <a:r>
              <a:rPr lang="ja-JP" altLang="en-US" dirty="0"/>
              <a:t>④ 沸騰開始点へのアプローチ：ONB近傍誤差としきい値検知指標を導入。データ設計・入力表現・検知遅れ・一般化検証が残る。→ 着手段階。</a:t>
            </a:r>
          </a:p>
          <a:p>
            <a:r>
              <a:rPr lang="ja-JP" altLang="en-US" dirty="0"/>
              <a:t>※「実装が完了したこと」と「研究上の検証・解釈が完了したこと」は分けて説明する。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0481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424222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CNN</a:t>
            </a: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496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292B2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2026年9月18日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538384"/>
            <a:ext cx="13854732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66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研究進捗</a:t>
            </a:r>
            <a:endParaRPr lang="en-US" sz="66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842676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CC8-D48C-2743-BDF1-ECD66C65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CEE746A5-2EA0-7091-CE1B-4CA2830713A6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70958775-508E-6262-548A-C76F63D77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1BA4E38-AE3E-68EF-51D9-A344EE59086C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0152DED0-19F6-05C3-C9FF-989B1429AF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BA6EA534-61D8-686C-86C9-B0FDB6111F9F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CECFB917-CF11-0A3B-8B44-C670007A018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91A2E58B-D56D-16D3-4661-BA3BBA74542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1378A26-691B-21D8-F51A-2BCE6659850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B26AAB03-99EC-2423-EABE-926D29D0C8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9867762-ABD7-CC40-7E63-B819E3C692C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7C70FADF-E307-0A92-9A76-AA2A20A2C00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1692D9C-3C53-381D-F3A1-3F5EFE102A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2F474822-BEB2-EBEC-7A2F-017173F3CC9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8FB6128-7B40-96C8-A76A-6673F6DB3B7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20FB272E-47CE-4D63-AC8D-B52F20BC8A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86641A16-74EF-B03F-FD0C-9EDF72B6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2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8255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  <a:cs typeface="Source Han Sans JP Medium"/>
                <a:sym typeface="Source Han Sans JP Medium"/>
              </a:rPr>
              <a:t>今回の発表内容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  <a:cs typeface="Source Han Sans JP Medium"/>
              <a:sym typeface="Source Han Sans JP Medium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7244F5-E118-40AC-BF88-DDF28BFD2529}"/>
              </a:ext>
            </a:extLst>
          </p:cNvPr>
          <p:cNvSpPr txBox="1"/>
          <p:nvPr/>
        </p:nvSpPr>
        <p:spPr>
          <a:xfrm>
            <a:off x="3708400" y="4076700"/>
            <a:ext cx="1143000" cy="3456428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ja-JP" sz="4400" dirty="0">
                <a:solidFill>
                  <a:srgbClr val="202020"/>
                </a:solidFill>
                <a:latin typeface="Yu Gothic"/>
                <a:ea typeface="Yu Gothic"/>
              </a:rPr>
              <a:t>01
02
03
04</a:t>
            </a:r>
            <a:endParaRPr lang="ja-JP" altLang="en-US" sz="4400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089934-D289-4A29-82F5-A8B268DA4E80}"/>
              </a:ext>
            </a:extLst>
          </p:cNvPr>
          <p:cNvSpPr txBox="1"/>
          <p:nvPr/>
        </p:nvSpPr>
        <p:spPr>
          <a:xfrm>
            <a:off x="5105400" y="4076700"/>
            <a:ext cx="10795000" cy="292229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学習・評価設計と音響選別
回帰・</a:t>
            </a:r>
            <a:r>
              <a:rPr lang="en-US" altLang="ja-JP" sz="4400" b="1" dirty="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判定と統合の原因
説明性と後期の研究計画
修士論文の構成と相談</a:t>
            </a:r>
          </a:p>
        </p:txBody>
      </p:sp>
    </p:spTree>
    <p:extLst>
      <p:ext uri="{BB962C8B-B14F-4D97-AF65-F5344CB8AC3E}">
        <p14:creationId xmlns:p14="http://schemas.microsoft.com/office/powerpoint/2010/main" val="3263072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7095-AF12-5A0D-09C9-F7ABC48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E002949A-21AB-4877-874F-7A7E555B18CB}"/>
              </a:ext>
            </a:extLst>
          </p:cNvPr>
          <p:cNvSpPr/>
          <p:nvPr/>
        </p:nvSpPr>
        <p:spPr>
          <a:xfrm>
            <a:off x="9842500" y="6314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A83EEA3F-4E85-42F6-BE0C-43B09856B411}"/>
              </a:ext>
            </a:extLst>
          </p:cNvPr>
          <p:cNvSpPr/>
          <p:nvPr/>
        </p:nvSpPr>
        <p:spPr>
          <a:xfrm>
            <a:off x="3810000" y="6314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1F0C9C85-1AAF-4DD7-8C7E-DC43D129C5AC}"/>
              </a:ext>
            </a:extLst>
          </p:cNvPr>
          <p:cNvSpPr/>
          <p:nvPr/>
        </p:nvSpPr>
        <p:spPr>
          <a:xfrm>
            <a:off x="9842500" y="3393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BEC4BD55-04D1-4B26-8178-40231C7D7E8F}"/>
              </a:ext>
            </a:extLst>
          </p:cNvPr>
          <p:cNvSpPr/>
          <p:nvPr/>
        </p:nvSpPr>
        <p:spPr>
          <a:xfrm>
            <a:off x="3810000" y="3393219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100212A4-2D93-E42D-F43F-3D865B11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3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E5E0B2F-F763-22C1-3700-7F4CFDF2210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B8EB6B3-4219-0C79-A21E-5392593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EC8B33A-3850-6CCC-9DBD-D99CE1297D12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822B7CD-3D84-25E4-FAE7-A724B03037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26FB7247-73F4-FC6B-704A-F91C1DE1A0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6386CD71-55CF-7637-1C85-71D30F14EE9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BA8360CB-CB3C-63BA-89C3-98C8234ABC0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BDD11FB-9DE8-4416-596D-5D975399CC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DC3491A-DFDB-3889-4EAC-A1D3F71F1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1372A997-48C4-BE0C-4790-A7FE9E9737A0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C8AFE3BE-6429-7349-B897-8EA584E834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860339D-880B-7B5E-A3B7-53BD6268E8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4EBF17AC-C77C-794D-1B8F-86F1A3CF92A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47837EC-ADEA-A18E-B40C-355AC095EB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63760B9E-661E-BA99-9078-A8547168F8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05B0307B-5FEB-41EC-FEC9-58D8111E678E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1.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学習・評価設計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978FB1D-66A1-4BFD-BB58-30FB1D86690C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 dirty="0">
                <a:solidFill>
                  <a:srgbClr val="222222"/>
                </a:solidFill>
                <a:latin typeface="Yu Gothic"/>
                <a:ea typeface="Yu Gothic"/>
              </a:rPr>
              <a:t>学習・推論時のデータを別日の実験で得た音響データとした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ADDCCC-4070-4E7B-9350-7E4DB6EDC0E6}"/>
              </a:ext>
            </a:extLst>
          </p:cNvPr>
          <p:cNvSpPr txBox="1"/>
          <p:nvPr/>
        </p:nvSpPr>
        <p:spPr>
          <a:xfrm>
            <a:off x="2667000" y="274839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3200" b="1" dirty="0">
                <a:solidFill>
                  <a:srgbClr val="2F6F73"/>
                </a:solidFill>
                <a:latin typeface="Yu Gothic"/>
                <a:ea typeface="Yu Gothic"/>
              </a:rPr>
              <a:t>例</a:t>
            </a:r>
            <a:r>
              <a:rPr lang="en-US" altLang="ja-JP" sz="3200" b="1" dirty="0">
                <a:solidFill>
                  <a:srgbClr val="2F6F73"/>
                </a:solidFill>
                <a:latin typeface="Yu Gothic"/>
                <a:ea typeface="Yu Gothic"/>
              </a:rPr>
              <a:t>1</a:t>
            </a:r>
            <a:endParaRPr lang="ja-JP" altLang="en-US" sz="3200" b="1" dirty="0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B85E026-F217-4ED1-B920-747F46A6FFE0}"/>
              </a:ext>
            </a:extLst>
          </p:cNvPr>
          <p:cNvSpPr txBox="1"/>
          <p:nvPr/>
        </p:nvSpPr>
        <p:spPr>
          <a:xfrm>
            <a:off x="4724400" y="3869469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学習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554BF9F-6BBE-46B1-9FF1-4844CAD3867B}"/>
              </a:ext>
            </a:extLst>
          </p:cNvPr>
          <p:cNvSpPr txBox="1"/>
          <p:nvPr/>
        </p:nvSpPr>
        <p:spPr>
          <a:xfrm>
            <a:off x="8763000" y="4028219"/>
            <a:ext cx="825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500" b="1">
                <a:solidFill>
                  <a:srgbClr val="2F6F73"/>
                </a:solidFill>
                <a:latin typeface="Yu Gothic"/>
                <a:ea typeface="Yu Gothic"/>
              </a:rPr>
              <a:t>→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64B79B6-5FC4-46EE-9E2B-D4A74F663C63}"/>
              </a:ext>
            </a:extLst>
          </p:cNvPr>
          <p:cNvSpPr txBox="1"/>
          <p:nvPr/>
        </p:nvSpPr>
        <p:spPr>
          <a:xfrm>
            <a:off x="8763000" y="6949219"/>
            <a:ext cx="825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500" b="1">
                <a:solidFill>
                  <a:srgbClr val="2F6F73"/>
                </a:solidFill>
                <a:latin typeface="Yu Gothic"/>
                <a:ea typeface="Yu Gothic"/>
              </a:rPr>
              <a:t>→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B513F548-7679-4308-83A6-E037F34F4783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B181B652-914B-1355-C997-1350A2852BEB}"/>
              </a:ext>
            </a:extLst>
          </p:cNvPr>
          <p:cNvSpPr txBox="1"/>
          <p:nvPr/>
        </p:nvSpPr>
        <p:spPr>
          <a:xfrm>
            <a:off x="10883900" y="3844069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6/18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評価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E4BB1692-E962-3277-44C7-14D5961A690A}"/>
              </a:ext>
            </a:extLst>
          </p:cNvPr>
          <p:cNvSpPr txBox="1"/>
          <p:nvPr/>
        </p:nvSpPr>
        <p:spPr>
          <a:xfrm>
            <a:off x="4476750" y="6777769"/>
            <a:ext cx="35560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6/11, 18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学習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81DB839E-B7EE-2147-536F-D34B40808EFF}"/>
              </a:ext>
            </a:extLst>
          </p:cNvPr>
          <p:cNvSpPr txBox="1"/>
          <p:nvPr/>
        </p:nvSpPr>
        <p:spPr>
          <a:xfrm>
            <a:off x="10883900" y="6777769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評価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A0C81755-4436-7350-BC2C-DFE90EDB0F20}"/>
              </a:ext>
            </a:extLst>
          </p:cNvPr>
          <p:cNvSpPr txBox="1"/>
          <p:nvPr/>
        </p:nvSpPr>
        <p:spPr>
          <a:xfrm>
            <a:off x="2667000" y="5730019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3200" b="1" dirty="0">
                <a:solidFill>
                  <a:srgbClr val="2F6F73"/>
                </a:solidFill>
                <a:latin typeface="Yu Gothic"/>
                <a:ea typeface="Yu Gothic"/>
              </a:rPr>
              <a:t>例</a:t>
            </a:r>
            <a:r>
              <a:rPr lang="en-US" altLang="ja-JP" sz="3200" b="1" dirty="0">
                <a:solidFill>
                  <a:srgbClr val="2F6F73"/>
                </a:solidFill>
                <a:latin typeface="Yu Gothic"/>
                <a:ea typeface="Yu Gothic"/>
              </a:rPr>
              <a:t>2</a:t>
            </a:r>
            <a:endParaRPr lang="ja-JP" altLang="en-US" sz="3200" b="1" dirty="0">
              <a:solidFill>
                <a:srgbClr val="2F6F73"/>
              </a:solidFill>
              <a:latin typeface="Yu Gothic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833220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C04D-3962-402F-F1FD-D7A567A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E619D498-DBD6-0784-0BDB-ED7BA8D54BC7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52960E3F-5A9B-2825-2223-1B867FC98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2DD7D1B6-C3C8-7C54-FA18-205D1B151753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1871A78-2B56-BE29-D884-226FCEE2A36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745395BE-D6A1-43E4-B0BF-5B24F56161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8A46ADEE-0A86-5B5C-61AF-D5EBA9F2EA67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B2FBAFE-310E-329B-9ED4-4BDBC6EE535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E3602D07-EE1F-3072-3249-36421FD853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4AE11EC1-B660-7D09-AAE8-D7555BB4EA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2CF558ED-826B-41F1-048D-CDB7AFF7A30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480EDD19-B6D3-EA2D-EF05-CBF220D03EFA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EF577D8E-7E41-D347-EC63-F426994FD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54FD14E3-7606-F032-10D0-C1A62A277B00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00618396-4050-1DE8-F136-8B6BCA1B7780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23C6D6F7-39FF-28E5-B432-9C9C2CB021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D8693FEA-9388-F51A-A629-471D6184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4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3803B00A-CF69-AFAA-44F0-30E03BC53203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1.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音響選別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DA16AE-B149-4034-9E2F-689479321540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 dirty="0">
                <a:solidFill>
                  <a:srgbClr val="222222"/>
                </a:solidFill>
                <a:latin typeface="Yu Gothic"/>
                <a:ea typeface="Yu Gothic"/>
              </a:rPr>
              <a:t>直後からそれ以降である閾値を超えたもののみ沸騰データとした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F22E292A-381C-AB26-BDC0-659009DEC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467100"/>
            <a:ext cx="6134100" cy="61341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7CE22C5B-5AA9-C2B3-0F74-610F4BE290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7230" y="3467100"/>
            <a:ext cx="6134101" cy="6134101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F2E4B92-37E1-7728-5C05-1491C61A7C2C}"/>
              </a:ext>
            </a:extLst>
          </p:cNvPr>
          <p:cNvSpPr txBox="1"/>
          <p:nvPr/>
        </p:nvSpPr>
        <p:spPr>
          <a:xfrm>
            <a:off x="3242919" y="2552638"/>
            <a:ext cx="391988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沸騰データ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0D5BE68-13FE-90BB-8842-9738C0C64C6D}"/>
              </a:ext>
            </a:extLst>
          </p:cNvPr>
          <p:cNvSpPr txBox="1"/>
          <p:nvPr/>
        </p:nvSpPr>
        <p:spPr>
          <a:xfrm>
            <a:off x="11619943" y="2552638"/>
            <a:ext cx="3919887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未沸騰データ</a:t>
            </a:r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1AF97035-4D99-BA25-AF7B-C1348DF8A0D7}"/>
              </a:ext>
            </a:extLst>
          </p:cNvPr>
          <p:cNvCxnSpPr/>
          <p:nvPr/>
        </p:nvCxnSpPr>
        <p:spPr>
          <a:xfrm>
            <a:off x="13130689" y="6134100"/>
            <a:ext cx="281940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0B72ADD5-987B-A7A0-1C4A-996977EB5195}"/>
              </a:ext>
            </a:extLst>
          </p:cNvPr>
          <p:cNvCxnSpPr/>
          <p:nvPr/>
        </p:nvCxnSpPr>
        <p:spPr>
          <a:xfrm>
            <a:off x="4712937" y="8953500"/>
            <a:ext cx="281940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6" name="グループ化 895">
            <a:extLst>
              <a:ext uri="{FF2B5EF4-FFF2-40B4-BE49-F238E27FC236}">
                <a16:creationId xmlns:a16="http://schemas.microsoft.com/office/drawing/2014/main" id="{6B1355A5-0A3C-17B4-0C29-7B8C20838DA7}"/>
              </a:ext>
            </a:extLst>
          </p:cNvPr>
          <p:cNvGrpSpPr/>
          <p:nvPr/>
        </p:nvGrpSpPr>
        <p:grpSpPr>
          <a:xfrm>
            <a:off x="6438899" y="5626131"/>
            <a:ext cx="4572000" cy="1168338"/>
            <a:chOff x="14856229" y="1384300"/>
            <a:chExt cx="4572000" cy="1168338"/>
          </a:xfrm>
        </p:grpSpPr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B5B5855F-C5FF-82B2-C002-36E0662EB174}"/>
                </a:ext>
              </a:extLst>
            </p:cNvPr>
            <p:cNvSpPr/>
            <p:nvPr/>
          </p:nvSpPr>
          <p:spPr>
            <a:xfrm>
              <a:off x="14856229" y="1384300"/>
              <a:ext cx="4572000" cy="1168338"/>
            </a:xfrm>
            <a:prstGeom prst="roundRect">
              <a:avLst/>
            </a:prstGeom>
            <a:solidFill>
              <a:srgbClr val="EAF2F2">
                <a:alpha val="93725"/>
              </a:srgbClr>
            </a:solidFill>
            <a:ln w="31750" cap="flat" cmpd="sng" algn="ctr">
              <a:solidFill>
                <a:srgbClr val="68A8A8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25E6EDEE-14C6-8A14-3656-AB3F1907674B}"/>
                </a:ext>
              </a:extLst>
            </p:cNvPr>
            <p:cNvSpPr txBox="1"/>
            <p:nvPr/>
          </p:nvSpPr>
          <p:spPr>
            <a:xfrm>
              <a:off x="15201899" y="1511300"/>
              <a:ext cx="3919887" cy="10033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ctr" anchorCtr="0">
              <a:noAutofit/>
            </a:bodyPr>
            <a:lstStyle/>
            <a:p>
              <a:pPr algn="l"/>
              <a:r>
                <a:rPr lang="ja-JP" altLang="en-US" sz="4000" b="1" dirty="0">
                  <a:solidFill>
                    <a:srgbClr val="FF0000"/>
                  </a:solidFill>
                  <a:latin typeface="Yu Gothic"/>
                  <a:ea typeface="Yu Gothic"/>
                </a:rPr>
                <a:t>閾値：</a:t>
              </a:r>
              <a:r>
                <a:rPr lang="en-US" altLang="ja-JP" sz="4000" b="1" dirty="0">
                  <a:solidFill>
                    <a:srgbClr val="FF0000"/>
                  </a:solidFill>
                  <a:latin typeface="Yu Gothic"/>
                  <a:ea typeface="Yu Gothic"/>
                </a:rPr>
                <a:t>1×10^-9</a:t>
              </a:r>
              <a:endParaRPr lang="ja-JP" altLang="en-US" sz="4000" b="1" dirty="0">
                <a:solidFill>
                  <a:srgbClr val="FF0000"/>
                </a:solidFill>
                <a:latin typeface="Yu Gothic"/>
                <a:ea typeface="Yu Gothic"/>
              </a:endParaRPr>
            </a:p>
          </p:txBody>
        </p:sp>
      </p:grp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06CD1A6-F35E-F318-9B3A-89727EB2B79E}"/>
              </a:ext>
            </a:extLst>
          </p:cNvPr>
          <p:cNvSpPr txBox="1"/>
          <p:nvPr/>
        </p:nvSpPr>
        <p:spPr>
          <a:xfrm>
            <a:off x="942031" y="3055945"/>
            <a:ext cx="170566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×10^-8</a:t>
            </a:r>
            <a:endParaRPr lang="ja-JP" altLang="en-US" sz="3200" b="1" dirty="0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831A7DF-0C00-4926-1730-BE2F23A0AA15}"/>
              </a:ext>
            </a:extLst>
          </p:cNvPr>
          <p:cNvSpPr txBox="1"/>
          <p:nvPr/>
        </p:nvSpPr>
        <p:spPr>
          <a:xfrm>
            <a:off x="9372600" y="3080048"/>
            <a:ext cx="170566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×10^-9</a:t>
            </a:r>
            <a:endParaRPr lang="ja-JP" altLang="en-US" sz="3200" b="1" dirty="0">
              <a:solidFill>
                <a:srgbClr val="222222"/>
              </a:solidFill>
              <a:latin typeface="Yu Gothic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123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0CA99C03-A56B-48F7-984C-B49FA6149384}"/>
              </a:ext>
            </a:extLst>
          </p:cNvPr>
          <p:cNvSpPr/>
          <p:nvPr/>
        </p:nvSpPr>
        <p:spPr>
          <a:xfrm>
            <a:off x="13208000" y="6731000"/>
            <a:ext cx="3619500" cy="1524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4CC4D70F-36BF-479C-8EE4-2FCB78FF266D}"/>
              </a:ext>
            </a:extLst>
          </p:cNvPr>
          <p:cNvSpPr/>
          <p:nvPr/>
        </p:nvSpPr>
        <p:spPr>
          <a:xfrm>
            <a:off x="13208000" y="3111500"/>
            <a:ext cx="3619500" cy="317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5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回帰性能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8325A24-96F0-461C-8155-F33D533A1AF5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統合は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MAE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最小だが、全域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R²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では最良単体に届かない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143830-C4CE-48FC-A0C1-4F32FA788ED6}"/>
              </a:ext>
            </a:extLst>
          </p:cNvPr>
          <p:cNvSpPr txBox="1"/>
          <p:nvPr/>
        </p:nvSpPr>
        <p:spPr>
          <a:xfrm>
            <a:off x="1841500" y="27940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別日評価の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R²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（縦軸 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0.80–0.92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D9F3BBE-E828-4A90-8F0E-9ABB41A47E04}"/>
              </a:ext>
            </a:extLst>
          </p:cNvPr>
          <p:cNvSpPr txBox="1"/>
          <p:nvPr/>
        </p:nvSpPr>
        <p:spPr>
          <a:xfrm>
            <a:off x="13525500" y="3365500"/>
            <a:ext cx="2984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14F52"/>
                </a:solidFill>
                <a:latin typeface="Yu Gothic"/>
                <a:ea typeface="Yu Gothic"/>
              </a:rPr>
              <a:t>順方向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12DC5DC-0AAA-42AE-B4A8-4B90AC68F498}"/>
              </a:ext>
            </a:extLst>
          </p:cNvPr>
          <p:cNvSpPr txBox="1"/>
          <p:nvPr/>
        </p:nvSpPr>
        <p:spPr>
          <a:xfrm>
            <a:off x="13525500" y="3810000"/>
            <a:ext cx="2984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200" b="1">
                <a:solidFill>
                  <a:srgbClr val="214F52"/>
                </a:solidFill>
                <a:latin typeface="Yu Gothic"/>
                <a:ea typeface="Yu Gothic"/>
              </a:rPr>
              <a:t>AlexNet</a:t>
            </a:r>
            <a:r>
              <a:rPr lang="ja-JP" altLang="en-US" sz="2200" b="1">
                <a:solidFill>
                  <a:srgbClr val="214F52"/>
                </a:solidFill>
                <a:latin typeface="Yu Gothic"/>
                <a:ea typeface="Yu Gothic"/>
              </a:rPr>
              <a:t>　</a:t>
            </a:r>
            <a:r>
              <a:rPr lang="en-US" altLang="ja-JP" sz="2200" b="1">
                <a:solidFill>
                  <a:srgbClr val="214F52"/>
                </a:solidFill>
                <a:latin typeface="Yu Gothic"/>
                <a:ea typeface="Yu Gothic"/>
              </a:rPr>
              <a:t>0.906
</a:t>
            </a:r>
            <a:r>
              <a:rPr lang="ja-JP" altLang="en-US" sz="2200" b="1">
                <a:solidFill>
                  <a:srgbClr val="214F52"/>
                </a:solidFill>
                <a:latin typeface="Yu Gothic"/>
                <a:ea typeface="Yu Gothic"/>
              </a:rPr>
              <a:t>統合　　 </a:t>
            </a:r>
            <a:r>
              <a:rPr lang="en-US" altLang="ja-JP" sz="2200" b="1">
                <a:solidFill>
                  <a:srgbClr val="214F52"/>
                </a:solidFill>
                <a:latin typeface="Yu Gothic"/>
                <a:ea typeface="Yu Gothic"/>
              </a:rPr>
              <a:t>0.904</a:t>
            </a:r>
            <a:endParaRPr lang="ja-JP" altLang="en-US" sz="2200" b="1">
              <a:solidFill>
                <a:srgbClr val="214F52"/>
              </a:solidFill>
              <a:latin typeface="Yu Gothic"/>
              <a:ea typeface="Yu Gothic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CA2B812-3BCB-4845-9F06-B4954281A12D}"/>
              </a:ext>
            </a:extLst>
          </p:cNvPr>
          <p:cNvSpPr/>
          <p:nvPr/>
        </p:nvSpPr>
        <p:spPr>
          <a:xfrm>
            <a:off x="13525500" y="4762500"/>
            <a:ext cx="2984500" cy="12700"/>
          </a:xfrm>
          <a:prstGeom prst="rect">
            <a:avLst/>
          </a:prstGeom>
          <a:solidFill>
            <a:srgbClr val="6FA6A8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5D87433-C979-4C90-B767-22B28E5C2DF0}"/>
              </a:ext>
            </a:extLst>
          </p:cNvPr>
          <p:cNvSpPr txBox="1"/>
          <p:nvPr/>
        </p:nvSpPr>
        <p:spPr>
          <a:xfrm>
            <a:off x="13525500" y="4889500"/>
            <a:ext cx="2984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14F52"/>
                </a:solidFill>
                <a:latin typeface="Yu Gothic"/>
                <a:ea typeface="Yu Gothic"/>
              </a:rPr>
              <a:t>逆方向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99D9669-E439-4972-9DC4-A3CA24E0934C}"/>
              </a:ext>
            </a:extLst>
          </p:cNvPr>
          <p:cNvSpPr txBox="1"/>
          <p:nvPr/>
        </p:nvSpPr>
        <p:spPr>
          <a:xfrm>
            <a:off x="13525500" y="5334000"/>
            <a:ext cx="29845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zh-TW" sz="2200" b="1">
                <a:solidFill>
                  <a:srgbClr val="214F52"/>
                </a:solidFill>
                <a:latin typeface="Yu Gothic"/>
                <a:ea typeface="Yu Gothic"/>
              </a:rPr>
              <a:t>RF</a:t>
            </a:r>
            <a:r>
              <a:rPr lang="zh-TW" altLang="en-US" sz="2200" b="1">
                <a:solidFill>
                  <a:srgbClr val="214F52"/>
                </a:solidFill>
                <a:latin typeface="Yu Gothic"/>
                <a:ea typeface="Yu Gothic"/>
              </a:rPr>
              <a:t>　　　 </a:t>
            </a:r>
            <a:r>
              <a:rPr lang="en-US" altLang="zh-TW" sz="2200" b="1">
                <a:solidFill>
                  <a:srgbClr val="214F52"/>
                </a:solidFill>
                <a:latin typeface="Yu Gothic"/>
                <a:ea typeface="Yu Gothic"/>
              </a:rPr>
              <a:t>0.907
</a:t>
            </a:r>
            <a:r>
              <a:rPr lang="zh-TW" altLang="en-US" sz="2200" b="1">
                <a:solidFill>
                  <a:srgbClr val="214F52"/>
                </a:solidFill>
                <a:latin typeface="Yu Gothic"/>
                <a:ea typeface="Yu Gothic"/>
              </a:rPr>
              <a:t>統合　　 </a:t>
            </a:r>
            <a:r>
              <a:rPr lang="en-US" altLang="zh-TW" sz="2200" b="1">
                <a:solidFill>
                  <a:srgbClr val="214F52"/>
                </a:solidFill>
                <a:latin typeface="Yu Gothic"/>
                <a:ea typeface="Yu Gothic"/>
              </a:rPr>
              <a:t>0.895</a:t>
            </a:r>
            <a:endParaRPr lang="ja-JP" altLang="en-US" sz="2200" b="1">
              <a:solidFill>
                <a:srgbClr val="214F52"/>
              </a:solidFill>
              <a:latin typeface="Yu Gothic"/>
              <a:ea typeface="Yu Gothic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41408DC-622E-4541-9FFF-501766CD1E92}"/>
              </a:ext>
            </a:extLst>
          </p:cNvPr>
          <p:cNvSpPr txBox="1"/>
          <p:nvPr/>
        </p:nvSpPr>
        <p:spPr>
          <a:xfrm>
            <a:off x="13525500" y="6985000"/>
            <a:ext cx="29845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100" b="1">
                <a:solidFill>
                  <a:srgbClr val="2F6F73"/>
                </a:solidFill>
                <a:latin typeface="Yu Gothic"/>
                <a:ea typeface="Yu Gothic"/>
              </a:rPr>
              <a:t>MAE</a:t>
            </a:r>
            <a:r>
              <a:rPr lang="ja-JP" altLang="en-US" sz="2100" b="1">
                <a:solidFill>
                  <a:srgbClr val="2F6F73"/>
                </a:solidFill>
                <a:latin typeface="Yu Gothic"/>
                <a:ea typeface="Yu Gothic"/>
              </a:rPr>
              <a:t>は両方向で
統合が最小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3C02F7D-F036-47C6-A267-78E287170B9A}"/>
              </a:ext>
            </a:extLst>
          </p:cNvPr>
          <p:cNvSpPr txBox="1"/>
          <p:nvPr/>
        </p:nvSpPr>
        <p:spPr>
          <a:xfrm>
            <a:off x="1841500" y="8636000"/>
            <a:ext cx="1079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全域</a:t>
            </a:r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R²</a:t>
            </a:r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の差は小さいが、方向によって最良単体が変わる。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51CD9FB-35A1-4737-A72D-26883C882210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  <p:graphicFrame>
        <p:nvGraphicFramePr>
          <p:cNvPr id="901" name="R2 chart"/>
          <p:cNvGraphicFramePr/>
          <p:nvPr/>
        </p:nvGraphicFramePr>
        <p:xfrm>
          <a:off x="1841500" y="3429000"/>
          <a:ext cx="10795000" cy="469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04459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3BB7A3F-300A-47AB-81B5-A0C6C3A0396C}"/>
              </a:ext>
            </a:extLst>
          </p:cNvPr>
          <p:cNvSpPr/>
          <p:nvPr/>
        </p:nvSpPr>
        <p:spPr>
          <a:xfrm>
            <a:off x="1841500" y="8255000"/>
            <a:ext cx="14986000" cy="889000"/>
          </a:xfrm>
          <a:prstGeom prst="roundRect">
            <a:avLst/>
          </a:prstGeom>
          <a:solidFill>
            <a:srgbClr val="D4E7E7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32B0E319-5067-45C3-9DFA-9CE27F48F9F4}"/>
              </a:ext>
            </a:extLst>
          </p:cNvPr>
          <p:cNvSpPr/>
          <p:nvPr/>
        </p:nvSpPr>
        <p:spPr>
          <a:xfrm>
            <a:off x="9334500" y="2984500"/>
            <a:ext cx="7493000" cy="4953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28253CE-6330-4F26-BD95-DB1814E6FC49}"/>
              </a:ext>
            </a:extLst>
          </p:cNvPr>
          <p:cNvSpPr/>
          <p:nvPr/>
        </p:nvSpPr>
        <p:spPr>
          <a:xfrm>
            <a:off x="1841500" y="2984500"/>
            <a:ext cx="7048500" cy="4953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6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判定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AFB5F3-ECB0-47B3-A448-CA543805CB04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ROC-AUC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と、実際の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閾値での判定を分けて読む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4830D6-67D7-4CC7-861F-678DF9686405}"/>
              </a:ext>
            </a:extLst>
          </p:cNvPr>
          <p:cNvSpPr txBox="1"/>
          <p:nvPr/>
        </p:nvSpPr>
        <p:spPr>
          <a:xfrm>
            <a:off x="2222500" y="3238500"/>
            <a:ext cx="2540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順方向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B788694-3307-4A7B-9AD9-A2F954AB8595}"/>
              </a:ext>
            </a:extLst>
          </p:cNvPr>
          <p:cNvSpPr txBox="1"/>
          <p:nvPr/>
        </p:nvSpPr>
        <p:spPr>
          <a:xfrm>
            <a:off x="2222500" y="3873500"/>
            <a:ext cx="457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22222"/>
                </a:solidFill>
                <a:latin typeface="Yu Gothic"/>
                <a:ea typeface="Yu Gothic"/>
              </a:rPr>
              <a:t>連続予測 </a:t>
            </a:r>
            <a:r>
              <a:rPr lang="en-US" altLang="ja-JP" sz="1900" b="1">
                <a:solidFill>
                  <a:srgbClr val="222222"/>
                </a:solidFill>
                <a:latin typeface="Yu Gothic"/>
                <a:ea typeface="Yu Gothic"/>
              </a:rPr>
              <a:t>ROC-AUC</a:t>
            </a:r>
            <a:endParaRPr lang="ja-JP" altLang="en-US" sz="1900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64FFF69-A34D-4C38-A1A8-BC87BFA48911}"/>
              </a:ext>
            </a:extLst>
          </p:cNvPr>
          <p:cNvSpPr txBox="1"/>
          <p:nvPr/>
        </p:nvSpPr>
        <p:spPr>
          <a:xfrm>
            <a:off x="2222500" y="4381500"/>
            <a:ext cx="584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100" b="1">
                <a:solidFill>
                  <a:srgbClr val="2F6F73"/>
                </a:solidFill>
                <a:latin typeface="Yu Gothic"/>
                <a:ea typeface="Yu Gothic"/>
              </a:rPr>
              <a:t>統合  </a:t>
            </a:r>
            <a:r>
              <a:rPr lang="en-US" altLang="ja-JP" sz="3100" b="1">
                <a:solidFill>
                  <a:srgbClr val="2F6F73"/>
                </a:solidFill>
                <a:latin typeface="Yu Gothic"/>
                <a:ea typeface="Yu Gothic"/>
              </a:rPr>
              <a:t>0.962</a:t>
            </a:r>
            <a:endParaRPr lang="ja-JP" altLang="en-US" sz="3100" b="1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06F3484-5968-45CC-91EC-7E2A82C1016B}"/>
              </a:ext>
            </a:extLst>
          </p:cNvPr>
          <p:cNvSpPr txBox="1"/>
          <p:nvPr/>
        </p:nvSpPr>
        <p:spPr>
          <a:xfrm>
            <a:off x="2222500" y="5270500"/>
            <a:ext cx="4064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222222"/>
                </a:solidFill>
                <a:latin typeface="Yu Gothic"/>
                <a:ea typeface="Yu Gothic"/>
              </a:rPr>
              <a:t>4</a:t>
            </a:r>
            <a:r>
              <a:rPr lang="ja-JP" altLang="en-US">
                <a:solidFill>
                  <a:srgbClr val="222222"/>
                </a:solidFill>
                <a:latin typeface="Yu Gothic"/>
                <a:ea typeface="Yu Gothic"/>
              </a:rPr>
              <a:t>モデル中で最高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73990A9-0312-4823-8AB5-265C451A3022}"/>
              </a:ext>
            </a:extLst>
          </p:cNvPr>
          <p:cNvSpPr/>
          <p:nvPr/>
        </p:nvSpPr>
        <p:spPr>
          <a:xfrm>
            <a:off x="2222500" y="6032500"/>
            <a:ext cx="6159500" cy="12700"/>
          </a:xfrm>
          <a:prstGeom prst="rect">
            <a:avLst/>
          </a:prstGeom>
          <a:solidFill>
            <a:srgbClr val="B8C1C1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8E1CA39-E381-4C95-9204-2156E7E96833}"/>
              </a:ext>
            </a:extLst>
          </p:cNvPr>
          <p:cNvSpPr txBox="1"/>
          <p:nvPr/>
        </p:nvSpPr>
        <p:spPr>
          <a:xfrm>
            <a:off x="2222500" y="6350000"/>
            <a:ext cx="6159500" cy="114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444444"/>
                </a:solidFill>
                <a:latin typeface="Yu Gothic"/>
                <a:ea typeface="Yu Gothic"/>
              </a:rPr>
              <a:t>AUC</a:t>
            </a:r>
            <a:r>
              <a:rPr lang="ja-JP" altLang="en-US">
                <a:solidFill>
                  <a:srgbClr val="444444"/>
                </a:solidFill>
                <a:latin typeface="Yu Gothic"/>
                <a:ea typeface="Yu Gothic"/>
              </a:rPr>
              <a:t>は連続値の順位性能。実験日の</a:t>
            </a:r>
            <a:r>
              <a:rPr lang="en-US" altLang="ja-JP">
                <a:solidFill>
                  <a:srgbClr val="444444"/>
                </a:solidFill>
                <a:latin typeface="Yu Gothic"/>
                <a:ea typeface="Yu Gothic"/>
              </a:rPr>
              <a:t>ONB</a:t>
            </a:r>
            <a:r>
              <a:rPr lang="ja-JP" altLang="en-US">
                <a:solidFill>
                  <a:srgbClr val="444444"/>
                </a:solidFill>
                <a:latin typeface="Yu Gothic"/>
                <a:ea typeface="Yu Gothic"/>
              </a:rPr>
              <a:t>閾値で二値化した判定とは分けて評価する。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30166CC-E375-4937-96C4-E8ED1EB980F1}"/>
              </a:ext>
            </a:extLst>
          </p:cNvPr>
          <p:cNvSpPr txBox="1"/>
          <p:nvPr/>
        </p:nvSpPr>
        <p:spPr>
          <a:xfrm>
            <a:off x="9715500" y="3238500"/>
            <a:ext cx="2540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逆方向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9CEC78C-12B7-4C0D-A40C-33A008019C86}"/>
              </a:ext>
            </a:extLst>
          </p:cNvPr>
          <p:cNvSpPr txBox="1"/>
          <p:nvPr/>
        </p:nvSpPr>
        <p:spPr>
          <a:xfrm>
            <a:off x="9715500" y="3873500"/>
            <a:ext cx="457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22222"/>
                </a:solidFill>
                <a:latin typeface="Yu Gothic"/>
                <a:ea typeface="Yu Gothic"/>
              </a:rPr>
              <a:t>連続予測 </a:t>
            </a:r>
            <a:r>
              <a:rPr lang="en-US" altLang="ja-JP" sz="1900" b="1">
                <a:solidFill>
                  <a:srgbClr val="222222"/>
                </a:solidFill>
                <a:latin typeface="Yu Gothic"/>
                <a:ea typeface="Yu Gothic"/>
              </a:rPr>
              <a:t>ROC-AUC</a:t>
            </a:r>
            <a:endParaRPr lang="ja-JP" altLang="en-US" sz="1900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B7FA498-8310-407A-954D-FC847E6D0C85}"/>
              </a:ext>
            </a:extLst>
          </p:cNvPr>
          <p:cNvSpPr txBox="1"/>
          <p:nvPr/>
        </p:nvSpPr>
        <p:spPr>
          <a:xfrm>
            <a:off x="9715500" y="4381500"/>
            <a:ext cx="6350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000" b="1">
                <a:solidFill>
                  <a:srgbClr val="2F6F73"/>
                </a:solidFill>
                <a:latin typeface="Yu Gothic"/>
                <a:ea typeface="Yu Gothic"/>
              </a:rPr>
              <a:t>Conformer  0.918</a:t>
            </a:r>
            <a:endParaRPr lang="ja-JP" altLang="en-US" sz="3000" b="1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47599A-70A2-49BD-BDD5-B7E959482C6E}"/>
              </a:ext>
            </a:extLst>
          </p:cNvPr>
          <p:cNvSpPr txBox="1"/>
          <p:nvPr/>
        </p:nvSpPr>
        <p:spPr>
          <a:xfrm>
            <a:off x="9715500" y="5270500"/>
            <a:ext cx="5334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ただし適合率 </a:t>
            </a:r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70.8%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3916ABE-C633-4051-A1A4-2DBA2ABE10FE}"/>
              </a:ext>
            </a:extLst>
          </p:cNvPr>
          <p:cNvSpPr/>
          <p:nvPr/>
        </p:nvSpPr>
        <p:spPr>
          <a:xfrm>
            <a:off x="9715500" y="6032500"/>
            <a:ext cx="6604000" cy="12700"/>
          </a:xfrm>
          <a:prstGeom prst="rect">
            <a:avLst/>
          </a:prstGeom>
          <a:solidFill>
            <a:srgbClr val="B8C1C1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0A12BB4-A33C-4189-8C22-7CFDAE3C086F}"/>
              </a:ext>
            </a:extLst>
          </p:cNvPr>
          <p:cNvSpPr txBox="1"/>
          <p:nvPr/>
        </p:nvSpPr>
        <p:spPr>
          <a:xfrm>
            <a:off x="9715500" y="6350000"/>
            <a:ext cx="6604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A14A3A"/>
                </a:solidFill>
                <a:latin typeface="Yu Gothic"/>
                <a:ea typeface="Yu Gothic"/>
              </a:rPr>
              <a:t>実験日の</a:t>
            </a:r>
            <a:r>
              <a:rPr lang="en-US" altLang="ja-JP" sz="1900" b="1">
                <a:solidFill>
                  <a:srgbClr val="A14A3A"/>
                </a:solidFill>
                <a:latin typeface="Yu Gothic"/>
                <a:ea typeface="Yu Gothic"/>
              </a:rPr>
              <a:t>ONB</a:t>
            </a:r>
            <a:r>
              <a:rPr lang="ja-JP" altLang="en-US" sz="1900" b="1">
                <a:solidFill>
                  <a:srgbClr val="A14A3A"/>
                </a:solidFill>
                <a:latin typeface="Yu Gothic"/>
                <a:ea typeface="Yu Gothic"/>
              </a:rPr>
              <a:t>閾値での判定点
偽陽性率 約</a:t>
            </a:r>
            <a:r>
              <a:rPr lang="en-US" altLang="ja-JP" sz="1900" b="1">
                <a:solidFill>
                  <a:srgbClr val="A14A3A"/>
                </a:solidFill>
                <a:latin typeface="Yu Gothic"/>
                <a:ea typeface="Yu Gothic"/>
              </a:rPr>
              <a:t>60% </a:t>
            </a:r>
            <a:r>
              <a:rPr lang="ja-JP" altLang="en-US" sz="1900" b="1">
                <a:solidFill>
                  <a:srgbClr val="A14A3A"/>
                </a:solidFill>
                <a:latin typeface="Yu Gothic"/>
                <a:ea typeface="Yu Gothic"/>
              </a:rPr>
              <a:t>／ 再現率 </a:t>
            </a:r>
            <a:r>
              <a:rPr lang="en-US" altLang="ja-JP" sz="1900" b="1">
                <a:solidFill>
                  <a:srgbClr val="A14A3A"/>
                </a:solidFill>
                <a:latin typeface="Yu Gothic"/>
                <a:ea typeface="Yu Gothic"/>
              </a:rPr>
              <a:t>92.7%</a:t>
            </a:r>
            <a:endParaRPr lang="ja-JP" altLang="en-US" sz="1900" b="1">
              <a:solidFill>
                <a:srgbClr val="A14A3A"/>
              </a:solidFill>
              <a:latin typeface="Yu Gothic"/>
              <a:ea typeface="Yu Gothic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98A8BFF-F371-48CF-B1FE-483B06038678}"/>
              </a:ext>
            </a:extLst>
          </p:cNvPr>
          <p:cNvSpPr txBox="1"/>
          <p:nvPr/>
        </p:nvSpPr>
        <p:spPr>
          <a:xfrm>
            <a:off x="2222500" y="8420100"/>
            <a:ext cx="14224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000" b="1">
                <a:solidFill>
                  <a:srgbClr val="214F52"/>
                </a:solidFill>
                <a:latin typeface="Yu Gothic"/>
                <a:ea typeface="Yu Gothic"/>
              </a:rPr>
              <a:t>AUC</a:t>
            </a:r>
            <a:r>
              <a:rPr lang="ja-JP" altLang="en-US" sz="2000" b="1">
                <a:solidFill>
                  <a:srgbClr val="214F52"/>
                </a:solidFill>
                <a:latin typeface="Yu Gothic"/>
                <a:ea typeface="Yu Gothic"/>
              </a:rPr>
              <a:t>が高くても、採用する閾値では誤検知が増える場合がある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E22C9DA-0BE2-414D-AA8E-05C71EF8208B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</p:spTree>
    <p:extLst>
      <p:ext uri="{BB962C8B-B14F-4D97-AF65-F5344CB8AC3E}">
        <p14:creationId xmlns:p14="http://schemas.microsoft.com/office/powerpoint/2010/main" val="1714129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B88D8018-5875-42A3-8F7D-4CCFAC5C7ED6}"/>
              </a:ext>
            </a:extLst>
          </p:cNvPr>
          <p:cNvSpPr/>
          <p:nvPr/>
        </p:nvSpPr>
        <p:spPr>
          <a:xfrm>
            <a:off x="13144500" y="7175500"/>
            <a:ext cx="3746500" cy="1333500"/>
          </a:xfrm>
          <a:prstGeom prst="roundRect">
            <a:avLst/>
          </a:prstGeom>
          <a:solidFill>
            <a:srgbClr val="D4E7E7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054BC8E-629E-4225-A194-A8830757D511}"/>
              </a:ext>
            </a:extLst>
          </p:cNvPr>
          <p:cNvSpPr/>
          <p:nvPr/>
        </p:nvSpPr>
        <p:spPr>
          <a:xfrm>
            <a:off x="13144500" y="5524500"/>
            <a:ext cx="3746500" cy="13335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E1D3FD1-2FD9-42EC-8CE1-EE5C2FA55D58}"/>
              </a:ext>
            </a:extLst>
          </p:cNvPr>
          <p:cNvSpPr/>
          <p:nvPr/>
        </p:nvSpPr>
        <p:spPr>
          <a:xfrm>
            <a:off x="13144500" y="2984500"/>
            <a:ext cx="3746500" cy="2286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7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統合の原因分析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83E6D8-4D06-4307-AB93-614BA33A019E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以降の改善より、</a:t>
            </a:r>
            <a:r>
              <a:rPr lang="en-US" altLang="ja-JP" sz="3200" b="1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前の誤差増加が大きかった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830C849-88F4-4B64-BF9E-81F08331E1FE}"/>
              </a:ext>
            </a:extLst>
          </p:cNvPr>
          <p:cNvSpPr txBox="1"/>
          <p:nvPr/>
        </p:nvSpPr>
        <p:spPr>
          <a:xfrm>
            <a:off x="1841500" y="2794000"/>
            <a:ext cx="825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逆方向 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RMSE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（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kW/m²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AECCC9-9DAF-4A42-BDFD-AF47135F4B2C}"/>
              </a:ext>
            </a:extLst>
          </p:cNvPr>
          <p:cNvSpPr txBox="1"/>
          <p:nvPr/>
        </p:nvSpPr>
        <p:spPr>
          <a:xfrm>
            <a:off x="13462000" y="3175000"/>
            <a:ext cx="3111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b="1">
                <a:solidFill>
                  <a:srgbClr val="2F6F73"/>
                </a:solidFill>
                <a:latin typeface="Yu Gothic"/>
                <a:ea typeface="Yu Gothic"/>
              </a:rPr>
              <a:t>逆方向の重み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02700F5-D40E-46E5-9406-DC6705A3876E}"/>
              </a:ext>
            </a:extLst>
          </p:cNvPr>
          <p:cNvSpPr txBox="1"/>
          <p:nvPr/>
        </p:nvSpPr>
        <p:spPr>
          <a:xfrm>
            <a:off x="13462000" y="3683000"/>
            <a:ext cx="31115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fr-FR" altLang="ja-JP" sz="2000" b="1">
                <a:solidFill>
                  <a:srgbClr val="222222"/>
                </a:solidFill>
                <a:latin typeface="Yu Gothic"/>
                <a:ea typeface="Yu Gothic"/>
              </a:rPr>
              <a:t>RF 0.15
Conformer 0.59
AlexNet 0.26</a:t>
            </a:r>
            <a:endParaRPr lang="ja-JP" altLang="en-US" sz="2000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6327F78-43AA-438C-99DD-8A1D24BAF9E4}"/>
              </a:ext>
            </a:extLst>
          </p:cNvPr>
          <p:cNvSpPr txBox="1"/>
          <p:nvPr/>
        </p:nvSpPr>
        <p:spPr>
          <a:xfrm>
            <a:off x="13462000" y="5740400"/>
            <a:ext cx="31115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2F6F73"/>
                </a:solidFill>
                <a:latin typeface="Yu Gothic"/>
                <a:ea typeface="Yu Gothic"/>
              </a:rPr>
              <a:t>内部</a:t>
            </a:r>
            <a:r>
              <a:rPr lang="en-US" altLang="ja-JP" sz="1900" b="1">
                <a:solidFill>
                  <a:srgbClr val="2F6F73"/>
                </a:solidFill>
                <a:latin typeface="Yu Gothic"/>
                <a:ea typeface="Yu Gothic"/>
              </a:rPr>
              <a:t>holdout
4 WAV</a:t>
            </a:r>
            <a:endParaRPr lang="ja-JP" altLang="en-US" sz="1900" b="1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6D9003E-1D7C-483A-BCAF-7ECDF86DFA24}"/>
              </a:ext>
            </a:extLst>
          </p:cNvPr>
          <p:cNvSpPr txBox="1"/>
          <p:nvPr/>
        </p:nvSpPr>
        <p:spPr>
          <a:xfrm>
            <a:off x="13462000" y="7366000"/>
            <a:ext cx="3111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000" b="1">
                <a:solidFill>
                  <a:srgbClr val="214F52"/>
                </a:solidFill>
                <a:latin typeface="Yu Gothic"/>
                <a:ea typeface="Yu Gothic"/>
              </a:rPr>
              <a:t>等重み平均
</a:t>
            </a:r>
            <a:r>
              <a:rPr lang="en-US" altLang="ja-JP" sz="2000" b="1">
                <a:solidFill>
                  <a:srgbClr val="214F52"/>
                </a:solidFill>
                <a:latin typeface="Yu Gothic"/>
                <a:ea typeface="Yu Gothic"/>
              </a:rPr>
              <a:t>R² 0.895 → 0.912</a:t>
            </a:r>
            <a:endParaRPr lang="ja-JP" altLang="en-US" sz="2000" b="1">
              <a:solidFill>
                <a:srgbClr val="214F52"/>
              </a:solidFill>
              <a:latin typeface="Yu Gothic"/>
              <a:ea typeface="Yu Gothic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3A56D8A-7D7B-40AC-8EA8-35A5C221B25B}"/>
              </a:ext>
            </a:extLst>
          </p:cNvPr>
          <p:cNvSpPr txBox="1"/>
          <p:nvPr/>
        </p:nvSpPr>
        <p:spPr>
          <a:xfrm>
            <a:off x="1841500" y="8636000"/>
            <a:ext cx="1054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222222"/>
                </a:solidFill>
                <a:latin typeface="Yu Gothic"/>
                <a:ea typeface="Yu Gothic"/>
              </a:rPr>
              <a:t>同じ単体予測でも重みの決め方で全域性能が変わるため、選別効果と重み転移を分けて検証する。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8C30393-83F4-4BBB-B408-A7F1507CC9E1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  <p:graphicFrame>
        <p:nvGraphicFramePr>
          <p:cNvPr id="901" name="RMSE chart"/>
          <p:cNvGraphicFramePr/>
          <p:nvPr/>
        </p:nvGraphicFramePr>
        <p:xfrm>
          <a:off x="1841500" y="3429000"/>
          <a:ext cx="10541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71296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6B7A-BBA2-7F7C-7C94-C50C16F8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1ACD562F-7F3A-4892-8DF7-CD4E713C82B6}"/>
              </a:ext>
            </a:extLst>
          </p:cNvPr>
          <p:cNvSpPr/>
          <p:nvPr/>
        </p:nvSpPr>
        <p:spPr>
          <a:xfrm>
            <a:off x="1841500" y="7747000"/>
            <a:ext cx="15049500" cy="5715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D53115BB-4676-8FEF-7373-A118571B75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DC50DE46-9569-2CF9-EEFD-5E4269CF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32F39ADD-556E-FD1C-8606-2D1BF514D63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B3E2A75-09AC-578E-12EB-B6B0417CA1E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B65B272C-A5D5-4CB5-BC19-E30EA1D49C2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DF2F1FC0-E61B-F7F2-CC05-9284F1F874A9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9F44B98-80E0-A756-8887-6397FCA0767C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2E8A69AF-5FB0-9637-3552-65D6D00010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E6D22F2B-0227-2669-DB06-9260C7E4EC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DD791D53-6622-F6E6-468E-FA0E40BA8BD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8A6FCA-2782-60E6-8ED8-8BBCA1B74E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1C0DB6D5-1F47-662F-F20C-5C60496C1C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BA5A87E2-7EB4-701B-D4E9-29108DE56E26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A2A54EDF-CE99-D170-6E87-5E37252FA44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40A00CD3-1C19-635B-A208-D902D53841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01D2D754-48E3-D797-3CDA-7E4DF46DD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8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972BE9D2-9DD4-C399-B2ED-10498EC98BFD}"/>
              </a:ext>
            </a:extLst>
          </p:cNvPr>
          <p:cNvSpPr txBox="1"/>
          <p:nvPr/>
        </p:nvSpPr>
        <p:spPr>
          <a:xfrm>
            <a:off x="1806795" y="305043"/>
            <a:ext cx="10160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>
                <a:solidFill>
                  <a:srgbClr val="202020"/>
                </a:solidFill>
                <a:latin typeface="Yu Gothic"/>
                <a:ea typeface="Yu Gothic"/>
              </a:rPr>
              <a:t>説明性</a:t>
            </a:r>
            <a:endParaRPr lang="ja-JP" altLang="en-US" sz="3000" b="1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03F18AA-4911-423E-A3F4-5D9D577937E8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>
                <a:solidFill>
                  <a:srgbClr val="222222"/>
                </a:solidFill>
                <a:latin typeface="Yu Gothic"/>
                <a:ea typeface="Yu Gothic"/>
              </a:rPr>
              <a:t>モデルごとに影響の大きい帯域が異なる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3BAB8CA-6DE6-4B36-AC15-0F187D182E16}"/>
              </a:ext>
            </a:extLst>
          </p:cNvPr>
          <p:cNvSpPr txBox="1"/>
          <p:nvPr/>
        </p:nvSpPr>
        <p:spPr>
          <a:xfrm>
            <a:off x="1841500" y="2794000"/>
            <a:ext cx="1079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全テスト秒を用いた帯域マスク（</a:t>
            </a:r>
            <a:r>
              <a:rPr lang="en-US" altLang="ja-JP" sz="2200" b="1">
                <a:solidFill>
                  <a:srgbClr val="2F6F73"/>
                </a:solidFill>
                <a:latin typeface="Yu Gothic"/>
                <a:ea typeface="Yu Gothic"/>
              </a:rPr>
              <a:t>0–22 kHz</a:t>
            </a:r>
            <a:r>
              <a:rPr lang="ja-JP" altLang="en-US" sz="2200" b="1">
                <a:solidFill>
                  <a:srgbClr val="2F6F73"/>
                </a:solidFill>
                <a:latin typeface="Yu Gothic"/>
                <a:ea typeface="Yu Gothic"/>
              </a:rPr>
              <a:t>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33F420-78A5-46C7-BBCE-3A69DA811AAB}"/>
              </a:ext>
            </a:extLst>
          </p:cNvPr>
          <p:cNvSpPr txBox="1"/>
          <p:nvPr/>
        </p:nvSpPr>
        <p:spPr>
          <a:xfrm>
            <a:off x="1841500" y="3810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RF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7FA128E-A803-4837-9511-A2C2980B19EB}"/>
              </a:ext>
            </a:extLst>
          </p:cNvPr>
          <p:cNvSpPr/>
          <p:nvPr/>
        </p:nvSpPr>
        <p:spPr>
          <a:xfrm>
            <a:off x="3175000" y="3873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4E9A3CE-0D2E-4952-ADBB-F68A39020B34}"/>
              </a:ext>
            </a:extLst>
          </p:cNvPr>
          <p:cNvSpPr/>
          <p:nvPr/>
        </p:nvSpPr>
        <p:spPr>
          <a:xfrm>
            <a:off x="4248727" y="3873500"/>
            <a:ext cx="1610590" cy="444500"/>
          </a:xfrm>
          <a:prstGeom prst="rect">
            <a:avLst/>
          </a:prstGeom>
          <a:solidFill>
            <a:srgbClr val="5FA7A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332AAA-C71B-4B69-B895-CC1F59CBED76}"/>
              </a:ext>
            </a:extLst>
          </p:cNvPr>
          <p:cNvSpPr txBox="1"/>
          <p:nvPr/>
        </p:nvSpPr>
        <p:spPr>
          <a:xfrm>
            <a:off x="15176500" y="3810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5FA7A5"/>
                </a:solidFill>
                <a:latin typeface="Yu Gothic"/>
                <a:ea typeface="Yu Gothic"/>
              </a:rPr>
              <a:t>2–5 kHz</a:t>
            </a:r>
            <a:endParaRPr lang="ja-JP" altLang="en-US" sz="1900" b="1">
              <a:solidFill>
                <a:srgbClr val="5FA7A5"/>
              </a:solidFill>
              <a:latin typeface="Yu Gothic"/>
              <a:ea typeface="Yu Gothic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B1D5A6A-F99E-4595-ABDD-45CC367935AD}"/>
              </a:ext>
            </a:extLst>
          </p:cNvPr>
          <p:cNvSpPr txBox="1"/>
          <p:nvPr/>
        </p:nvSpPr>
        <p:spPr>
          <a:xfrm>
            <a:off x="1841500" y="5334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Conformer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F5FBFE-1851-4ABD-B156-6CAAD4A02ED6}"/>
              </a:ext>
            </a:extLst>
          </p:cNvPr>
          <p:cNvSpPr/>
          <p:nvPr/>
        </p:nvSpPr>
        <p:spPr>
          <a:xfrm>
            <a:off x="3175000" y="5397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BD56B2-09A4-4107-8243-B12D9F7E95CB}"/>
              </a:ext>
            </a:extLst>
          </p:cNvPr>
          <p:cNvSpPr/>
          <p:nvPr/>
        </p:nvSpPr>
        <p:spPr>
          <a:xfrm>
            <a:off x="11227954" y="5397500"/>
            <a:ext cx="3758045" cy="444500"/>
          </a:xfrm>
          <a:prstGeom prst="rect">
            <a:avLst/>
          </a:prstGeom>
          <a:solidFill>
            <a:srgbClr val="F39A43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1A2392F-5F10-43B0-8DC2-77E47BA6B34A}"/>
              </a:ext>
            </a:extLst>
          </p:cNvPr>
          <p:cNvSpPr txBox="1"/>
          <p:nvPr/>
        </p:nvSpPr>
        <p:spPr>
          <a:xfrm>
            <a:off x="15176500" y="5334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F39A43"/>
                </a:solidFill>
                <a:latin typeface="Yu Gothic"/>
                <a:ea typeface="Yu Gothic"/>
              </a:rPr>
              <a:t>15–22 kHz</a:t>
            </a:r>
            <a:endParaRPr lang="ja-JP" altLang="en-US" sz="1900" b="1">
              <a:solidFill>
                <a:srgbClr val="F39A43"/>
              </a:solidFill>
              <a:latin typeface="Yu Gothic"/>
              <a:ea typeface="Yu Gothic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9F886E5-322E-46BC-856A-E315E4A7A3DA}"/>
              </a:ext>
            </a:extLst>
          </p:cNvPr>
          <p:cNvSpPr txBox="1"/>
          <p:nvPr/>
        </p:nvSpPr>
        <p:spPr>
          <a:xfrm>
            <a:off x="1841500" y="6858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AlexNet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EDC8161-4868-4E1C-9D4D-EAADED2262B1}"/>
              </a:ext>
            </a:extLst>
          </p:cNvPr>
          <p:cNvSpPr/>
          <p:nvPr/>
        </p:nvSpPr>
        <p:spPr>
          <a:xfrm>
            <a:off x="3175000" y="6921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29C0316-F10A-49A7-B19C-3185A3A67D9B}"/>
              </a:ext>
            </a:extLst>
          </p:cNvPr>
          <p:cNvSpPr/>
          <p:nvPr/>
        </p:nvSpPr>
        <p:spPr>
          <a:xfrm>
            <a:off x="3711863" y="6921500"/>
            <a:ext cx="536863" cy="444500"/>
          </a:xfrm>
          <a:prstGeom prst="rect">
            <a:avLst/>
          </a:prstGeom>
          <a:solidFill>
            <a:srgbClr val="6D7FB3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BF3D6B2-42AA-4705-B890-B9AA472FA6F6}"/>
              </a:ext>
            </a:extLst>
          </p:cNvPr>
          <p:cNvSpPr txBox="1"/>
          <p:nvPr/>
        </p:nvSpPr>
        <p:spPr>
          <a:xfrm>
            <a:off x="15176500" y="6858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6D7FB3"/>
                </a:solidFill>
                <a:latin typeface="Yu Gothic"/>
                <a:ea typeface="Yu Gothic"/>
              </a:rPr>
              <a:t>1–2 kHz</a:t>
            </a:r>
            <a:endParaRPr lang="ja-JP" altLang="en-US" sz="1900" b="1">
              <a:solidFill>
                <a:srgbClr val="6D7FB3"/>
              </a:solidFill>
              <a:latin typeface="Yu Gothic"/>
              <a:ea typeface="Yu Gothic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D19A73A-1A38-49E0-BB22-5302F62EBDA1}"/>
              </a:ext>
            </a:extLst>
          </p:cNvPr>
          <p:cNvSpPr/>
          <p:nvPr/>
        </p:nvSpPr>
        <p:spPr>
          <a:xfrm>
            <a:off x="317500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24F8509-84B5-460E-ADBD-309B88FB30CE}"/>
              </a:ext>
            </a:extLst>
          </p:cNvPr>
          <p:cNvSpPr txBox="1"/>
          <p:nvPr/>
        </p:nvSpPr>
        <p:spPr>
          <a:xfrm>
            <a:off x="298450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22DCB6C-AB0C-4767-8D60-860F6462378C}"/>
              </a:ext>
            </a:extLst>
          </p:cNvPr>
          <p:cNvSpPr/>
          <p:nvPr/>
        </p:nvSpPr>
        <p:spPr>
          <a:xfrm>
            <a:off x="4248727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3D1D90E-584F-4940-BC5A-61C2CAA9D610}"/>
              </a:ext>
            </a:extLst>
          </p:cNvPr>
          <p:cNvSpPr txBox="1"/>
          <p:nvPr/>
        </p:nvSpPr>
        <p:spPr>
          <a:xfrm>
            <a:off x="4058227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16A883A-545D-4598-B9C2-18686166A09E}"/>
              </a:ext>
            </a:extLst>
          </p:cNvPr>
          <p:cNvSpPr/>
          <p:nvPr/>
        </p:nvSpPr>
        <p:spPr>
          <a:xfrm>
            <a:off x="5322454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5240B9E-BD4A-4F83-977A-58466DAE8E2A}"/>
              </a:ext>
            </a:extLst>
          </p:cNvPr>
          <p:cNvSpPr txBox="1"/>
          <p:nvPr/>
        </p:nvSpPr>
        <p:spPr>
          <a:xfrm>
            <a:off x="5131954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4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98C6A33-9694-46C7-9100-15BE7474CEA3}"/>
              </a:ext>
            </a:extLst>
          </p:cNvPr>
          <p:cNvSpPr/>
          <p:nvPr/>
        </p:nvSpPr>
        <p:spPr>
          <a:xfrm>
            <a:off x="6396181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02C43E4B-1F2F-42DA-BFB0-65F82E96C9F1}"/>
              </a:ext>
            </a:extLst>
          </p:cNvPr>
          <p:cNvSpPr txBox="1"/>
          <p:nvPr/>
        </p:nvSpPr>
        <p:spPr>
          <a:xfrm>
            <a:off x="6205681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6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8A69CBDE-8397-44AC-B4C9-1247857156BA}"/>
              </a:ext>
            </a:extLst>
          </p:cNvPr>
          <p:cNvSpPr/>
          <p:nvPr/>
        </p:nvSpPr>
        <p:spPr>
          <a:xfrm>
            <a:off x="7469909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1EE2B4-C9A7-43D3-916E-97183F2E58FB}"/>
              </a:ext>
            </a:extLst>
          </p:cNvPr>
          <p:cNvSpPr txBox="1"/>
          <p:nvPr/>
        </p:nvSpPr>
        <p:spPr>
          <a:xfrm>
            <a:off x="7279409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8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24FA7531-3C8A-4B8D-B076-E389429FF864}"/>
              </a:ext>
            </a:extLst>
          </p:cNvPr>
          <p:cNvSpPr/>
          <p:nvPr/>
        </p:nvSpPr>
        <p:spPr>
          <a:xfrm>
            <a:off x="8543636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7CF21AF-0813-4AE5-BF66-AA992753CC27}"/>
              </a:ext>
            </a:extLst>
          </p:cNvPr>
          <p:cNvSpPr txBox="1"/>
          <p:nvPr/>
        </p:nvSpPr>
        <p:spPr>
          <a:xfrm>
            <a:off x="8353136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27781D9-00B2-4ED9-88FF-0E81695726D5}"/>
              </a:ext>
            </a:extLst>
          </p:cNvPr>
          <p:cNvSpPr/>
          <p:nvPr/>
        </p:nvSpPr>
        <p:spPr>
          <a:xfrm>
            <a:off x="9617363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71C68C4-3A06-4A5B-948C-D533DB7375CE}"/>
              </a:ext>
            </a:extLst>
          </p:cNvPr>
          <p:cNvSpPr txBox="1"/>
          <p:nvPr/>
        </p:nvSpPr>
        <p:spPr>
          <a:xfrm>
            <a:off x="9426863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9F396BF-3B9B-439D-8C1E-B281F2A28EA8}"/>
              </a:ext>
            </a:extLst>
          </p:cNvPr>
          <p:cNvSpPr/>
          <p:nvPr/>
        </p:nvSpPr>
        <p:spPr>
          <a:xfrm>
            <a:off x="1069109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E8B17BF-1680-4779-A570-14537794C968}"/>
              </a:ext>
            </a:extLst>
          </p:cNvPr>
          <p:cNvSpPr txBox="1"/>
          <p:nvPr/>
        </p:nvSpPr>
        <p:spPr>
          <a:xfrm>
            <a:off x="1050059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14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6CC593E-41EB-46FE-94F7-D062601326D5}"/>
              </a:ext>
            </a:extLst>
          </p:cNvPr>
          <p:cNvSpPr/>
          <p:nvPr/>
        </p:nvSpPr>
        <p:spPr>
          <a:xfrm>
            <a:off x="11764818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CD1C6AC-6181-45EB-B41E-02E7BF59782F}"/>
              </a:ext>
            </a:extLst>
          </p:cNvPr>
          <p:cNvSpPr txBox="1"/>
          <p:nvPr/>
        </p:nvSpPr>
        <p:spPr>
          <a:xfrm>
            <a:off x="11574318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16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69B53F5E-DFE4-49A5-99D5-3C0F03AFEE71}"/>
              </a:ext>
            </a:extLst>
          </p:cNvPr>
          <p:cNvSpPr/>
          <p:nvPr/>
        </p:nvSpPr>
        <p:spPr>
          <a:xfrm>
            <a:off x="12838545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8164344-B46A-47F4-AEFD-175DBBDD72F4}"/>
              </a:ext>
            </a:extLst>
          </p:cNvPr>
          <p:cNvSpPr txBox="1"/>
          <p:nvPr/>
        </p:nvSpPr>
        <p:spPr>
          <a:xfrm>
            <a:off x="12648045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EA177B8F-A827-41A0-B7A6-B68F46C6B4F4}"/>
              </a:ext>
            </a:extLst>
          </p:cNvPr>
          <p:cNvSpPr/>
          <p:nvPr/>
        </p:nvSpPr>
        <p:spPr>
          <a:xfrm>
            <a:off x="13912272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43D9339-DFB7-43E3-84C2-1434104EA77A}"/>
              </a:ext>
            </a:extLst>
          </p:cNvPr>
          <p:cNvSpPr txBox="1"/>
          <p:nvPr/>
        </p:nvSpPr>
        <p:spPr>
          <a:xfrm>
            <a:off x="13721772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47902A-ECB7-44B3-9B2F-578DAED9378D}"/>
              </a:ext>
            </a:extLst>
          </p:cNvPr>
          <p:cNvSpPr/>
          <p:nvPr/>
        </p:nvSpPr>
        <p:spPr>
          <a:xfrm>
            <a:off x="1498600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02DEA57D-C70C-4C17-ACEB-96793B69C280}"/>
              </a:ext>
            </a:extLst>
          </p:cNvPr>
          <p:cNvSpPr txBox="1"/>
          <p:nvPr/>
        </p:nvSpPr>
        <p:spPr>
          <a:xfrm>
            <a:off x="1479550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13DAF806-CB35-4DFF-8D2C-7905582D45D3}"/>
              </a:ext>
            </a:extLst>
          </p:cNvPr>
          <p:cNvSpPr txBox="1"/>
          <p:nvPr/>
        </p:nvSpPr>
        <p:spPr>
          <a:xfrm>
            <a:off x="7112000" y="89535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400">
                <a:solidFill>
                  <a:srgbClr val="555555"/>
                </a:solidFill>
                <a:latin typeface="Yu Gothic"/>
                <a:ea typeface="Yu Gothic"/>
              </a:rPr>
              <a:t>周波数 </a:t>
            </a:r>
            <a:r>
              <a:rPr lang="en-US" altLang="ja-JP" sz="1400">
                <a:solidFill>
                  <a:srgbClr val="555555"/>
                </a:solidFill>
                <a:latin typeface="Yu Gothic"/>
                <a:ea typeface="Yu Gothic"/>
              </a:rPr>
              <a:t>[kHz]</a:t>
            </a:r>
            <a:endParaRPr lang="ja-JP" altLang="en-US" sz="14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1234521-F293-4327-A053-5862F08CC0A0}"/>
              </a:ext>
            </a:extLst>
          </p:cNvPr>
          <p:cNvSpPr txBox="1"/>
          <p:nvPr/>
        </p:nvSpPr>
        <p:spPr>
          <a:xfrm>
            <a:off x="2159000" y="7835900"/>
            <a:ext cx="144145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b="1">
                <a:solidFill>
                  <a:srgbClr val="333333"/>
                </a:solidFill>
                <a:latin typeface="Yu Gothic"/>
                <a:ea typeface="Yu Gothic"/>
              </a:rPr>
              <a:t>両方向で同じ傾向。ただし、特徴利用と統合失敗の因果関係は未検証。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7D90339F-49E0-4D34-AB12-0BE3498C7439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 kHz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、無雑音、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200 epochs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、評価は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秒単位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1080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秒＝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 WAV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／方向、各方向</a:t>
            </a:r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</a:t>
            </a:r>
            <a:r>
              <a:rPr lang="ja-JP" altLang="en-US" sz="1100">
                <a:solidFill>
                  <a:srgbClr val="555555"/>
                </a:solidFill>
                <a:latin typeface="Yu Gothic"/>
                <a:ea typeface="Yu Gothic"/>
              </a:rPr>
              <a:t>評価日</a:t>
            </a:r>
          </a:p>
        </p:txBody>
      </p:sp>
    </p:spTree>
    <p:extLst>
      <p:ext uri="{BB962C8B-B14F-4D97-AF65-F5344CB8AC3E}">
        <p14:creationId xmlns:p14="http://schemas.microsoft.com/office/powerpoint/2010/main" val="3598907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D478F2-93FB-7553-E103-A6B3839A5A0D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D11835D-57AA-BE86-BCDE-68226B60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B78E05A-DEF5-2D6B-B55B-DB82EC5920C4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EE9B645-6430-60ED-1258-90350A0DD8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フローチャート: 論理積ゲート 13">
              <a:extLst>
                <a:ext uri="{FF2B5EF4-FFF2-40B4-BE49-F238E27FC236}">
                  <a16:creationId xmlns:a16="http://schemas.microsoft.com/office/drawing/2014/main" id="{7D062015-C78C-B7BE-0F9C-81E88D230C46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Group 3">
            <a:extLst>
              <a:ext uri="{FF2B5EF4-FFF2-40B4-BE49-F238E27FC236}">
                <a16:creationId xmlns:a16="http://schemas.microsoft.com/office/drawing/2014/main" id="{60F8FF6D-0F13-7307-815B-B6A9447179C4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16" name="Group 4">
              <a:extLst>
                <a:ext uri="{FF2B5EF4-FFF2-40B4-BE49-F238E27FC236}">
                  <a16:creationId xmlns:a16="http://schemas.microsoft.com/office/drawing/2014/main" id="{41D664AF-D53E-642F-86FD-B1A855E2DB9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9CA5124-E45E-0CB1-1810-EE57DA2A98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0A1028B-7828-4E23-A025-A2A2D2431A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7" name="Group 7">
              <a:extLst>
                <a:ext uri="{FF2B5EF4-FFF2-40B4-BE49-F238E27FC236}">
                  <a16:creationId xmlns:a16="http://schemas.microsoft.com/office/drawing/2014/main" id="{C17D89E3-8887-6561-DC46-CE8A5DF780C6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1" name="Freeform 8">
                <a:extLst>
                  <a:ext uri="{FF2B5EF4-FFF2-40B4-BE49-F238E27FC236}">
                    <a16:creationId xmlns:a16="http://schemas.microsoft.com/office/drawing/2014/main" id="{5489C4AE-4A0B-0D6B-1EBE-B87B0D43218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2" name="TextBox 9">
                <a:extLst>
                  <a:ext uri="{FF2B5EF4-FFF2-40B4-BE49-F238E27FC236}">
                    <a16:creationId xmlns:a16="http://schemas.microsoft.com/office/drawing/2014/main" id="{6322874F-AD47-9232-CAC5-BCBEFE78F5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8" name="Group 10">
              <a:extLst>
                <a:ext uri="{FF2B5EF4-FFF2-40B4-BE49-F238E27FC236}">
                  <a16:creationId xmlns:a16="http://schemas.microsoft.com/office/drawing/2014/main" id="{A393E3CE-4414-5AEF-237E-CCB155796221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9" name="Freeform 11">
                <a:extLst>
                  <a:ext uri="{FF2B5EF4-FFF2-40B4-BE49-F238E27FC236}">
                    <a16:creationId xmlns:a16="http://schemas.microsoft.com/office/drawing/2014/main" id="{340D6A49-4FDE-F2E2-098C-1B68ABAF61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" name="TextBox 12">
                <a:extLst>
                  <a:ext uri="{FF2B5EF4-FFF2-40B4-BE49-F238E27FC236}">
                    <a16:creationId xmlns:a16="http://schemas.microsoft.com/office/drawing/2014/main" id="{D07D97A3-99DD-DF89-C8F5-40F48C6E3F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5" name="スライド番号プレースホルダー 28">
            <a:extLst>
              <a:ext uri="{FF2B5EF4-FFF2-40B4-BE49-F238E27FC236}">
                <a16:creationId xmlns:a16="http://schemas.microsoft.com/office/drawing/2014/main" id="{99EC6C07-FABB-D71C-DE41-019BC555F7B8}"/>
              </a:ext>
            </a:extLst>
          </p:cNvPr>
          <p:cNvSpPr txBox="1">
            <a:spLocks/>
          </p:cNvSpPr>
          <p:nvPr/>
        </p:nvSpPr>
        <p:spPr>
          <a:xfrm>
            <a:off x="270494" y="9748987"/>
            <a:ext cx="599456" cy="462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9</a:t>
            </a:r>
            <a:endParaRPr lang="en-US" sz="2400" dirty="0"/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4C6E962-1682-6D74-EA96-1F07AA9F6988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後期の研究計画</a:t>
            </a:r>
          </a:p>
        </p:txBody>
      </p:sp>
      <p:graphicFrame>
        <p:nvGraphicFramePr>
          <p:cNvPr id="7" name="GanttTable">
            <a:extLst>
              <a:ext uri="{FF2B5EF4-FFF2-40B4-BE49-F238E27FC236}">
                <a16:creationId xmlns:a16="http://schemas.microsoft.com/office/drawing/2014/main" id="{E9F5895E-877D-483B-9260-909FCBF394A2}"/>
              </a:ext>
            </a:extLst>
          </p:cNvPr>
          <p:cNvGraphicFramePr>
            <a:graphicFrameLocks noGrp="1"/>
          </p:cNvGraphicFramePr>
          <p:nvPr/>
        </p:nvGraphicFramePr>
        <p:xfrm>
          <a:off x="1371600" y="1943100"/>
          <a:ext cx="16116440" cy="7797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3360">
                  <a:extLst>
                    <a:ext uri="{9D8B030D-6E8A-4147-A177-3AD203B41FA5}">
                      <a16:colId xmlns:a16="http://schemas.microsoft.com/office/drawing/2014/main" val="2225326839"/>
                    </a:ext>
                  </a:extLst>
                </a:gridCol>
                <a:gridCol w="4993080">
                  <a:extLst>
                    <a:ext uri="{9D8B030D-6E8A-4147-A177-3AD203B41FA5}">
                      <a16:colId xmlns:a16="http://schemas.microsoft.com/office/drawing/2014/main" val="3156811629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223752097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259402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456276626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034407947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9601853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3625863737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大項目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9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10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11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12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2</a:t>
                      </a:r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23936"/>
                  </a:ext>
                </a:extLst>
              </a:tr>
              <a:tr h="524230">
                <a:tc rowSpan="2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① 評価設計・学習データの確定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実験別に学習</a:t>
                      </a:r>
                      <a:r>
                        <a:rPr lang="en-US" altLang="ja-JP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/</a:t>
                      </a:r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テストデータを分割の実装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7349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沸騰後のデータで閾値を設定・スクリーニング実装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5566"/>
                  </a:ext>
                </a:extLst>
              </a:tr>
              <a:tr h="524230">
                <a:tc rowSpan="4">
                  <a:txBody>
                    <a:bodyPr/>
                    <a:lstStyle/>
                    <a:p>
                      <a:pPr algn="l"/>
                      <a:r>
                        <a:rPr sz="2400" dirty="0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② </a:t>
                      </a:r>
                      <a:r>
                        <a:rPr sz="2400" dirty="0" err="1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アンサンブル手法の確立</a:t>
                      </a:r>
                      <a:endParaRPr sz="2400" dirty="0">
                        <a:latin typeface="Source Han Sans JP Bold" panose="020B0600070205080204" charset="-128"/>
                        <a:ea typeface="Source Han Sans JP Bold" panose="020B0600070205080204" charset="-128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上記実装でアンサンブル検証（全条件でやりたい）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3574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単体モデルを下回る条件・要因を調査・整理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837035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必要に応じて新たなアンサンブル手法を調査・実装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26250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複数手法の比較でアンサンブル方法を確定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835225"/>
                  </a:ext>
                </a:extLst>
              </a:tr>
              <a:tr h="524230">
                <a:tc rowSpan="4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③ 説明性を用いた要因分析・検証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説明性指標で特徴利用を可視化・比較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107438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説明性と各モデルの性能・重みの関係を分析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96305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時間・周波数特徴と性能の関係などを考察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732367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示唆に基づく追加検証（あれば）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035604"/>
                  </a:ext>
                </a:extLst>
              </a:tr>
              <a:tr h="524230">
                <a:tc rowSpan="3">
                  <a:txBody>
                    <a:bodyPr/>
                    <a:lstStyle/>
                    <a:p>
                      <a:pPr algn="l"/>
                      <a:r>
                        <a:rPr sz="2400" dirty="0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④ </a:t>
                      </a:r>
                      <a:r>
                        <a:rPr sz="2400" dirty="0" err="1"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修論執筆・発表準備</a:t>
                      </a:r>
                      <a:endParaRPr sz="2400" dirty="0">
                        <a:latin typeface="Source Han Sans JP Bold" panose="020B0600070205080204" charset="-128"/>
                        <a:ea typeface="Source Han Sans JP Bold" panose="020B0600070205080204" charset="-128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背景・実験方法（など書ける範囲から進める）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013195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結果・考察・結論の整理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233786"/>
                  </a:ext>
                </a:extLst>
              </a:tr>
              <a:tr h="52423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論文執筆完了・発表資料作成・発表練習など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35946"/>
                  </a:ext>
                </a:extLst>
              </a:tr>
            </a:tbl>
          </a:graphicData>
        </a:graphic>
      </p:graphicFrame>
      <p:sp>
        <p:nvSpPr>
          <p:cNvPr id="29" name="Arrow_r5">
            <a:extLst>
              <a:ext uri="{FF2B5EF4-FFF2-40B4-BE49-F238E27FC236}">
                <a16:creationId xmlns:a16="http://schemas.microsoft.com/office/drawing/2014/main" id="{569D38A7-5B10-4193-87C0-B3C6E0995665}"/>
              </a:ext>
            </a:extLst>
          </p:cNvPr>
          <p:cNvSpPr/>
          <p:nvPr/>
        </p:nvSpPr>
        <p:spPr>
          <a:xfrm>
            <a:off x="10634240" y="3259296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1" name="Arrow_r7">
            <a:extLst>
              <a:ext uri="{FF2B5EF4-FFF2-40B4-BE49-F238E27FC236}">
                <a16:creationId xmlns:a16="http://schemas.microsoft.com/office/drawing/2014/main" id="{CE4696B6-F452-44D2-8FB3-71D2647B5531}"/>
              </a:ext>
            </a:extLst>
          </p:cNvPr>
          <p:cNvSpPr/>
          <p:nvPr/>
        </p:nvSpPr>
        <p:spPr>
          <a:xfrm>
            <a:off x="11426840" y="3863022"/>
            <a:ext cx="477600" cy="40781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Arrow_r8">
            <a:extLst>
              <a:ext uri="{FF2B5EF4-FFF2-40B4-BE49-F238E27FC236}">
                <a16:creationId xmlns:a16="http://schemas.microsoft.com/office/drawing/2014/main" id="{B61D8F6C-A200-4120-B4CE-C8218F090801}"/>
              </a:ext>
            </a:extLst>
          </p:cNvPr>
          <p:cNvSpPr/>
          <p:nvPr/>
        </p:nvSpPr>
        <p:spPr>
          <a:xfrm>
            <a:off x="11426840" y="453166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3" name="Arrow_r9">
            <a:extLst>
              <a:ext uri="{FF2B5EF4-FFF2-40B4-BE49-F238E27FC236}">
                <a16:creationId xmlns:a16="http://schemas.microsoft.com/office/drawing/2014/main" id="{46D98C71-2375-4675-973C-71970E2CF804}"/>
              </a:ext>
            </a:extLst>
          </p:cNvPr>
          <p:cNvSpPr/>
          <p:nvPr/>
        </p:nvSpPr>
        <p:spPr>
          <a:xfrm>
            <a:off x="12219440" y="5055889"/>
            <a:ext cx="782400" cy="320001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Arrow_r10">
            <a:extLst>
              <a:ext uri="{FF2B5EF4-FFF2-40B4-BE49-F238E27FC236}">
                <a16:creationId xmlns:a16="http://schemas.microsoft.com/office/drawing/2014/main" id="{70ABB943-D9AF-46F6-8C32-86BDEA71AB55}"/>
              </a:ext>
            </a:extLst>
          </p:cNvPr>
          <p:cNvSpPr/>
          <p:nvPr/>
        </p:nvSpPr>
        <p:spPr>
          <a:xfrm>
            <a:off x="12789109" y="5567961"/>
            <a:ext cx="477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5" name="Arrow_r11">
            <a:extLst>
              <a:ext uri="{FF2B5EF4-FFF2-40B4-BE49-F238E27FC236}">
                <a16:creationId xmlns:a16="http://schemas.microsoft.com/office/drawing/2014/main" id="{60F3019B-4096-4C5D-B4A3-B8BE8B6E6B57}"/>
              </a:ext>
            </a:extLst>
          </p:cNvPr>
          <p:cNvSpPr/>
          <p:nvPr/>
        </p:nvSpPr>
        <p:spPr>
          <a:xfrm>
            <a:off x="11426840" y="6069313"/>
            <a:ext cx="1107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Arrow_r12">
            <a:extLst>
              <a:ext uri="{FF2B5EF4-FFF2-40B4-BE49-F238E27FC236}">
                <a16:creationId xmlns:a16="http://schemas.microsoft.com/office/drawing/2014/main" id="{D57190CC-F617-4CCA-BE83-5B453C0B39C4}"/>
              </a:ext>
            </a:extLst>
          </p:cNvPr>
          <p:cNvSpPr/>
          <p:nvPr/>
        </p:nvSpPr>
        <p:spPr>
          <a:xfrm>
            <a:off x="12184951" y="671830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7" name="Arrow_r13">
            <a:extLst>
              <a:ext uri="{FF2B5EF4-FFF2-40B4-BE49-F238E27FC236}">
                <a16:creationId xmlns:a16="http://schemas.microsoft.com/office/drawing/2014/main" id="{E3FB46B8-AAB7-48D5-B48F-9573C29F5A7A}"/>
              </a:ext>
            </a:extLst>
          </p:cNvPr>
          <p:cNvSpPr/>
          <p:nvPr/>
        </p:nvSpPr>
        <p:spPr>
          <a:xfrm>
            <a:off x="12613223" y="725170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Arrow_r14">
            <a:extLst>
              <a:ext uri="{FF2B5EF4-FFF2-40B4-BE49-F238E27FC236}">
                <a16:creationId xmlns:a16="http://schemas.microsoft.com/office/drawing/2014/main" id="{0749BADC-D141-47F7-ABA2-DF5C119F855C}"/>
              </a:ext>
            </a:extLst>
          </p:cNvPr>
          <p:cNvSpPr/>
          <p:nvPr/>
        </p:nvSpPr>
        <p:spPr>
          <a:xfrm>
            <a:off x="13001840" y="7734300"/>
            <a:ext cx="1196583" cy="3384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9" name="Arrow_r15">
            <a:extLst>
              <a:ext uri="{FF2B5EF4-FFF2-40B4-BE49-F238E27FC236}">
                <a16:creationId xmlns:a16="http://schemas.microsoft.com/office/drawing/2014/main" id="{CAB2B8DC-087F-4474-B759-422C39A7203B}"/>
              </a:ext>
            </a:extLst>
          </p:cNvPr>
          <p:cNvSpPr/>
          <p:nvPr/>
        </p:nvSpPr>
        <p:spPr>
          <a:xfrm>
            <a:off x="11264240" y="8242298"/>
            <a:ext cx="2375560" cy="3302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1" name="Arrow_r17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5240000" y="9182100"/>
            <a:ext cx="1447800" cy="38499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5" name="Arrow_r18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3792200" y="8767498"/>
            <a:ext cx="914400" cy="338402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" name="Arrow_r5">
            <a:extLst>
              <a:ext uri="{FF2B5EF4-FFF2-40B4-BE49-F238E27FC236}">
                <a16:creationId xmlns:a16="http://schemas.microsoft.com/office/drawing/2014/main" id="{4CA895A4-E09E-55E8-917E-4AD58F95619A}"/>
              </a:ext>
            </a:extLst>
          </p:cNvPr>
          <p:cNvSpPr/>
          <p:nvPr/>
        </p:nvSpPr>
        <p:spPr>
          <a:xfrm>
            <a:off x="10634240" y="2655570"/>
            <a:ext cx="792600" cy="330200"/>
          </a:xfrm>
          <a:prstGeom prst="homePlate">
            <a:avLst/>
          </a:prstGeom>
          <a:solidFill>
            <a:srgbClr val="F99C4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8483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1E0504D-397B-4E0E-9870-3BF79C012794}">
  <we:reference id="wa200010215" version="2.0.0.1" store="ja-JP" storeType="OMEX"/>
  <we:alternateReferences>
    <we:reference id="WA200010215" version="2.0.0.1" store="WA200010215" storeType="OMEX"/>
  </we:alternateReferences>
  <we:properties>
    <we:property name="bps.codex_control.document_id" value="&quot;923187e9-0861-413e-9a76-03a2dc2aca9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26777</TotalTime>
  <Words>987</Words>
  <Application>Microsoft Office PowerPoint</Application>
  <PresentationFormat>ユーザー設定</PresentationFormat>
  <Paragraphs>146</Paragraphs>
  <Slides>9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9" baseType="lpstr">
      <vt:lpstr>ＭＳ Ｐゴシック</vt:lpstr>
      <vt:lpstr>Century Gothic Paneuropean</vt:lpstr>
      <vt:lpstr>Source Han Sans JP Bold</vt:lpstr>
      <vt:lpstr>游ゴシック</vt:lpstr>
      <vt:lpstr>Source Han Sans JP Medium</vt:lpstr>
      <vt:lpstr>Arial</vt:lpstr>
      <vt:lpstr>Source Han Sans JP</vt:lpstr>
      <vt:lpstr>Calibri</vt:lpstr>
      <vt:lpstr>游ゴシック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グリーン ホワイト シンプル 業務改善 提案書 ビジネス グラフ 表 プレゼンテーション</dc:title>
  <dc:creator>shiba</dc:creator>
  <cp:lastModifiedBy>陸 柴崎</cp:lastModifiedBy>
  <cp:revision>195</cp:revision>
  <dcterms:created xsi:type="dcterms:W3CDTF">2006-08-16T00:00:00Z</dcterms:created>
  <dcterms:modified xsi:type="dcterms:W3CDTF">2026-09-17T07:16:44Z</dcterms:modified>
  <dc:identifier>DAGKJCfN4aw</dc:identifier>
</cp:coreProperties>
</file>