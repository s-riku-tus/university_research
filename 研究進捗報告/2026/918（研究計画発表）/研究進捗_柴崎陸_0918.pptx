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0"/>
  </p:notesMasterIdLst>
  <p:sldIdLst>
    <p:sldId id="399" r:id="rId2"/>
    <p:sldId id="501" r:id="rId3"/>
    <p:sldId id="494" r:id="rId4"/>
    <p:sldId id="495" r:id="rId5"/>
    <p:sldId id="500" r:id="rId6"/>
    <p:sldId id="503" r:id="rId7"/>
    <p:sldId id="508" r:id="rId8"/>
    <p:sldId id="497" r:id="rId9"/>
  </p:sldIdLst>
  <p:sldSz cx="18288000" cy="10287000"/>
  <p:notesSz cx="6858000" cy="9144000"/>
  <p:embeddedFontLst>
    <p:embeddedFont>
      <p:font typeface="Source Han Sans JP" panose="020B0600070205080204" charset="-128"/>
      <p:regular r:id="rId11"/>
    </p:embeddedFont>
    <p:embeddedFont>
      <p:font typeface="Source Han Sans JP Bold" panose="020B0600070205080204" charset="-128"/>
      <p:regular r:id="rId12"/>
    </p:embeddedFont>
    <p:embeddedFont>
      <p:font typeface="Source Han Sans JP Medium" panose="020B0600070205080204" charset="-128"/>
      <p:regular r:id="rId13"/>
    </p:embeddedFont>
    <p:embeddedFont>
      <p:font typeface="Century Gothic Paneuropean" panose="020B0600070205080204" charset="0"/>
      <p:regular r:id="rId14"/>
    </p:embeddedFont>
    <p:embeddedFont>
      <p:font typeface="游ゴシック" panose="020B0400000000000000" pitchFamily="50" charset="-128"/>
      <p:regular r:id="rId15"/>
      <p:bold r:id="rId16"/>
    </p:embeddedFont>
    <p:embeddedFont>
      <p:font typeface="游ゴシック" panose="020B0400000000000000" pitchFamily="50" charset="-128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399"/>
            <p14:sldId id="501"/>
            <p14:sldId id="494"/>
            <p14:sldId id="495"/>
            <p14:sldId id="500"/>
            <p14:sldId id="503"/>
            <p14:sldId id="508"/>
            <p14:sldId id="49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74696" autoAdjust="0"/>
  </p:normalViewPr>
  <p:slideViewPr>
    <p:cSldViewPr>
      <p:cViewPr varScale="1">
        <p:scale>
          <a:sx n="39" d="100"/>
          <a:sy n="39" d="100"/>
        </p:scale>
        <p:origin x="52" y="3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45E4-B9B9-554E-8899-3266B7DE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C0710D-C792-2F16-2B79-8917D339D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99D4327-A3A0-2B20-4891-5D0CE596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4A3B95-7E6A-318B-2CAB-533FB426E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158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424222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496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292B2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2026年9月18日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538384"/>
            <a:ext cx="13854732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66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研究進捗</a:t>
            </a:r>
            <a:endParaRPr lang="en-US" sz="66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842676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8255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  <a:cs typeface="Source Han Sans JP Medium"/>
                <a:sym typeface="Source Han Sans JP Medium"/>
              </a:rPr>
              <a:t>今回の発表内容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  <a:cs typeface="Source Han Sans JP Medium"/>
              <a:sym typeface="Source Han Sans JP Medium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7244F5-E118-40AC-BF88-DDF28BFD2529}"/>
              </a:ext>
            </a:extLst>
          </p:cNvPr>
          <p:cNvSpPr txBox="1"/>
          <p:nvPr/>
        </p:nvSpPr>
        <p:spPr>
          <a:xfrm>
            <a:off x="3708400" y="4076700"/>
            <a:ext cx="1143000" cy="3456428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4400" dirty="0">
                <a:solidFill>
                  <a:srgbClr val="202020"/>
                </a:solidFill>
                <a:latin typeface="Yu Gothic"/>
                <a:ea typeface="Yu Gothic"/>
              </a:rPr>
              <a:t>01
02
03
04</a:t>
            </a:r>
            <a:endParaRPr lang="ja-JP" altLang="en-US" sz="4400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089934-D289-4A29-82F5-A8B268DA4E80}"/>
              </a:ext>
            </a:extLst>
          </p:cNvPr>
          <p:cNvSpPr txBox="1"/>
          <p:nvPr/>
        </p:nvSpPr>
        <p:spPr>
          <a:xfrm>
            <a:off x="5105400" y="4076700"/>
            <a:ext cx="10795000" cy="292229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評価設計と学習データ選別
初期性能と説明性の確認
後期の研究計画
修士論文の構成案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3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評価設計・学習データの見直し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628F828-BB35-4F74-8380-BF885D498823}"/>
              </a:ext>
            </a:extLst>
          </p:cNvPr>
          <p:cNvSpPr txBox="1"/>
          <p:nvPr/>
        </p:nvSpPr>
        <p:spPr>
          <a:xfrm>
            <a:off x="1587500" y="1841500"/>
            <a:ext cx="15367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700" b="1">
                <a:solidFill>
                  <a:srgbClr val="202020"/>
                </a:solidFill>
                <a:latin typeface="Yu Gothic"/>
                <a:ea typeface="Yu Gothic"/>
              </a:rPr>
              <a:t>同一実験内の評価から，別日データで一般化性能を測る設計へ変更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F446570-F484-428C-BE6B-D25E44168BEA}"/>
              </a:ext>
            </a:extLst>
          </p:cNvPr>
          <p:cNvSpPr/>
          <p:nvPr/>
        </p:nvSpPr>
        <p:spPr>
          <a:xfrm>
            <a:off x="1587500" y="2730500"/>
            <a:ext cx="15367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BB0BE7A-B4EE-496A-A2E3-A0E79AA72071}"/>
              </a:ext>
            </a:extLst>
          </p:cNvPr>
          <p:cNvSpPr txBox="1"/>
          <p:nvPr/>
        </p:nvSpPr>
        <p:spPr>
          <a:xfrm>
            <a:off x="1778000" y="3238500"/>
            <a:ext cx="5715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従来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47CB72E-F8BC-4A44-BA62-A2BD5390B3FE}"/>
              </a:ext>
            </a:extLst>
          </p:cNvPr>
          <p:cNvSpPr txBox="1"/>
          <p:nvPr/>
        </p:nvSpPr>
        <p:spPr>
          <a:xfrm>
            <a:off x="1778000" y="4000500"/>
            <a:ext cx="6350000" cy="2159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>
                <a:solidFill>
                  <a:srgbClr val="202020"/>
                </a:solidFill>
                <a:latin typeface="Yu Gothic"/>
                <a:ea typeface="Yu Gothic"/>
              </a:rPr>
              <a:t>● 同一実験内で学習・評価
● </a:t>
            </a:r>
            <a:r>
              <a:rPr lang="en-US" altLang="ja-JP" sz="250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2500">
                <a:solidFill>
                  <a:srgbClr val="202020"/>
                </a:solidFill>
                <a:latin typeface="Yu Gothic"/>
                <a:ea typeface="Yu Gothic"/>
              </a:rPr>
              <a:t>以上の全</a:t>
            </a:r>
            <a:r>
              <a:rPr lang="en-US" altLang="ja-JP" sz="2500">
                <a:solidFill>
                  <a:srgbClr val="202020"/>
                </a:solidFill>
                <a:latin typeface="Yu Gothic"/>
                <a:ea typeface="Yu Gothic"/>
              </a:rPr>
              <a:t>1</a:t>
            </a:r>
            <a:r>
              <a:rPr lang="ja-JP" altLang="en-US" sz="2500">
                <a:solidFill>
                  <a:srgbClr val="202020"/>
                </a:solidFill>
                <a:latin typeface="Yu Gothic"/>
                <a:ea typeface="Yu Gothic"/>
              </a:rPr>
              <a:t>秒区間を学習
● 音響的に弱い区間も混在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7C8FEAA-F67C-4C86-9EF9-FEC1E9CE00C8}"/>
              </a:ext>
            </a:extLst>
          </p:cNvPr>
          <p:cNvSpPr txBox="1"/>
          <p:nvPr/>
        </p:nvSpPr>
        <p:spPr>
          <a:xfrm>
            <a:off x="8636000" y="4254500"/>
            <a:ext cx="889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3200" b="1">
                <a:solidFill>
                  <a:srgbClr val="202020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A0D0304-FBFA-4767-9601-B14143F12B02}"/>
              </a:ext>
            </a:extLst>
          </p:cNvPr>
          <p:cNvSpPr txBox="1"/>
          <p:nvPr/>
        </p:nvSpPr>
        <p:spPr>
          <a:xfrm>
            <a:off x="10160000" y="3238500"/>
            <a:ext cx="5715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変更後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EA8523C0-B81E-42E0-8D7E-0672F70A0C34}"/>
              </a:ext>
            </a:extLst>
          </p:cNvPr>
          <p:cNvSpPr txBox="1"/>
          <p:nvPr/>
        </p:nvSpPr>
        <p:spPr>
          <a:xfrm>
            <a:off x="10160000" y="4000500"/>
            <a:ext cx="6794500" cy="2159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>
                <a:solidFill>
                  <a:srgbClr val="202020"/>
                </a:solidFill>
                <a:latin typeface="Yu Gothic"/>
                <a:ea typeface="Yu Gothic"/>
              </a:rPr>
              <a:t>● 実験日単位で学習／テストを分離
● 学習区間のみスペクトルで選別
● テストは選別せず全区間を評価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3BF545F1-2914-4451-A177-3A6D856A6E39}"/>
              </a:ext>
            </a:extLst>
          </p:cNvPr>
          <p:cNvSpPr/>
          <p:nvPr/>
        </p:nvSpPr>
        <p:spPr>
          <a:xfrm>
            <a:off x="1587500" y="6540500"/>
            <a:ext cx="15367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EB03646-00C4-45D7-A028-99CE1ACACB44}"/>
              </a:ext>
            </a:extLst>
          </p:cNvPr>
          <p:cNvSpPr txBox="1"/>
          <p:nvPr/>
        </p:nvSpPr>
        <p:spPr>
          <a:xfrm>
            <a:off x="1841500" y="7175500"/>
            <a:ext cx="14859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400" b="1">
                <a:solidFill>
                  <a:srgbClr val="202020"/>
                </a:solidFill>
                <a:latin typeface="Yu Gothic"/>
                <a:ea typeface="Yu Gothic"/>
              </a:rPr>
              <a:t>学習日データ　→　内部検証・選別　→　</a:t>
            </a:r>
            <a:r>
              <a:rPr lang="en-US" altLang="ja-JP" sz="2400" b="1">
                <a:solidFill>
                  <a:srgbClr val="202020"/>
                </a:solidFill>
                <a:latin typeface="Yu Gothic"/>
                <a:ea typeface="Yu Gothic"/>
              </a:rPr>
              <a:t>3</a:t>
            </a:r>
            <a:r>
              <a:rPr lang="ja-JP" altLang="en-US" sz="2400" b="1">
                <a:solidFill>
                  <a:srgbClr val="202020"/>
                </a:solidFill>
                <a:latin typeface="Yu Gothic"/>
                <a:ea typeface="Yu Gothic"/>
              </a:rPr>
              <a:t>モデル学習　→　重み決定　→　別日テスト</a:t>
            </a: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4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音響区間のスクリーニング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6F7925F-4F01-449F-AEB5-08DC283EFA75}"/>
              </a:ext>
            </a:extLst>
          </p:cNvPr>
          <p:cNvSpPr txBox="1"/>
          <p:nvPr/>
        </p:nvSpPr>
        <p:spPr>
          <a:xfrm>
            <a:off x="1587500" y="1841500"/>
            <a:ext cx="15367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700" b="1">
                <a:solidFill>
                  <a:srgbClr val="202020"/>
                </a:solidFill>
                <a:latin typeface="Yu Gothic"/>
                <a:ea typeface="Yu Gothic"/>
              </a:rPr>
              <a:t>同じ熱流束でも異なる音響強度を考慮し，学習に使う</a:t>
            </a:r>
            <a:r>
              <a:rPr lang="en-US" altLang="ja-JP" sz="2700" b="1">
                <a:solidFill>
                  <a:srgbClr val="202020"/>
                </a:solidFill>
                <a:latin typeface="Yu Gothic"/>
                <a:ea typeface="Yu Gothic"/>
              </a:rPr>
              <a:t>1</a:t>
            </a:r>
            <a:r>
              <a:rPr lang="ja-JP" altLang="en-US" sz="2700" b="1">
                <a:solidFill>
                  <a:srgbClr val="202020"/>
                </a:solidFill>
                <a:latin typeface="Yu Gothic"/>
                <a:ea typeface="Yu Gothic"/>
              </a:rPr>
              <a:t>秒区間を選ぶ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D7ECC00-0054-407F-BC5B-96036263C464}"/>
              </a:ext>
            </a:extLst>
          </p:cNvPr>
          <p:cNvSpPr/>
          <p:nvPr/>
        </p:nvSpPr>
        <p:spPr>
          <a:xfrm>
            <a:off x="1587500" y="2730500"/>
            <a:ext cx="15367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384EAE4-2DBA-4C13-82E3-B30612969282}"/>
              </a:ext>
            </a:extLst>
          </p:cNvPr>
          <p:cNvSpPr txBox="1"/>
          <p:nvPr/>
        </p:nvSpPr>
        <p:spPr>
          <a:xfrm>
            <a:off x="1841500" y="3175000"/>
            <a:ext cx="698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800">
                <a:solidFill>
                  <a:srgbClr val="202020"/>
                </a:solidFill>
                <a:latin typeface="Yu Gothic"/>
                <a:ea typeface="Yu Gothic"/>
              </a:rPr>
              <a:t>1</a:t>
            </a:r>
            <a:endParaRPr lang="ja-JP" altLang="en-US" sz="280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836A150-22AC-413F-B1A5-F86E8411AC4C}"/>
              </a:ext>
            </a:extLst>
          </p:cNvPr>
          <p:cNvSpPr txBox="1"/>
          <p:nvPr/>
        </p:nvSpPr>
        <p:spPr>
          <a:xfrm>
            <a:off x="2794000" y="3175000"/>
            <a:ext cx="5461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対象区間を限定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B29C2A9-A8FF-44C4-AE93-27827E226CA4}"/>
              </a:ext>
            </a:extLst>
          </p:cNvPr>
          <p:cNvSpPr txBox="1"/>
          <p:nvPr/>
        </p:nvSpPr>
        <p:spPr>
          <a:xfrm>
            <a:off x="2794000" y="3746500"/>
            <a:ext cx="6096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10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2100">
                <a:solidFill>
                  <a:srgbClr val="202020"/>
                </a:solidFill>
                <a:latin typeface="Yu Gothic"/>
                <a:ea typeface="Yu Gothic"/>
              </a:rPr>
              <a:t>以上の学習データのみを対象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82F131-0C7E-46F9-ACEF-C48DA78F600D}"/>
              </a:ext>
            </a:extLst>
          </p:cNvPr>
          <p:cNvSpPr txBox="1"/>
          <p:nvPr/>
        </p:nvSpPr>
        <p:spPr>
          <a:xfrm>
            <a:off x="1841500" y="4508500"/>
            <a:ext cx="698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800">
                <a:solidFill>
                  <a:srgbClr val="202020"/>
                </a:solidFill>
                <a:latin typeface="Yu Gothic"/>
                <a:ea typeface="Yu Gothic"/>
              </a:rPr>
              <a:t>2</a:t>
            </a:r>
            <a:endParaRPr lang="ja-JP" altLang="en-US" sz="280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CE6F1FF-A1E0-4C92-A4E0-983181E75F12}"/>
              </a:ext>
            </a:extLst>
          </p:cNvPr>
          <p:cNvSpPr txBox="1"/>
          <p:nvPr/>
        </p:nvSpPr>
        <p:spPr>
          <a:xfrm>
            <a:off x="2794000" y="4508500"/>
            <a:ext cx="5461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代表帯域を確認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14D155B-59E9-437B-A845-64CD5A7191AB}"/>
              </a:ext>
            </a:extLst>
          </p:cNvPr>
          <p:cNvSpPr txBox="1"/>
          <p:nvPr/>
        </p:nvSpPr>
        <p:spPr>
          <a:xfrm>
            <a:off x="2794000" y="50800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100">
                <a:solidFill>
                  <a:srgbClr val="202020"/>
                </a:solidFill>
                <a:latin typeface="Yu Gothic"/>
                <a:ea typeface="Yu Gothic"/>
              </a:rPr>
              <a:t>2.1–2.5 kHz</a:t>
            </a:r>
            <a:r>
              <a:rPr lang="ja-JP" altLang="en-US" sz="2100">
                <a:solidFill>
                  <a:srgbClr val="202020"/>
                </a:solidFill>
                <a:latin typeface="Yu Gothic"/>
                <a:ea typeface="Yu Gothic"/>
              </a:rPr>
              <a:t>付近のピーク高さを算出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12B4E42-4490-4B55-BE73-F7E24E7E46C2}"/>
              </a:ext>
            </a:extLst>
          </p:cNvPr>
          <p:cNvSpPr txBox="1"/>
          <p:nvPr/>
        </p:nvSpPr>
        <p:spPr>
          <a:xfrm>
            <a:off x="1841500" y="5842000"/>
            <a:ext cx="698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800">
                <a:solidFill>
                  <a:srgbClr val="202020"/>
                </a:solidFill>
                <a:latin typeface="Yu Gothic"/>
                <a:ea typeface="Yu Gothic"/>
              </a:rPr>
              <a:t>3</a:t>
            </a:r>
            <a:endParaRPr lang="ja-JP" altLang="en-US" sz="280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8005A4E-3B22-4097-A4C5-C17C84916764}"/>
              </a:ext>
            </a:extLst>
          </p:cNvPr>
          <p:cNvSpPr txBox="1"/>
          <p:nvPr/>
        </p:nvSpPr>
        <p:spPr>
          <a:xfrm>
            <a:off x="2794000" y="5842000"/>
            <a:ext cx="5461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閾値で選別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C3051C1-DE6A-4673-B2D6-DCE948BAE25F}"/>
              </a:ext>
            </a:extLst>
          </p:cNvPr>
          <p:cNvSpPr txBox="1"/>
          <p:nvPr/>
        </p:nvSpPr>
        <p:spPr>
          <a:xfrm>
            <a:off x="2794000" y="64135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100">
                <a:solidFill>
                  <a:srgbClr val="202020"/>
                </a:solidFill>
                <a:latin typeface="Yu Gothic"/>
                <a:ea typeface="Yu Gothic"/>
              </a:rPr>
              <a:t>閾値以上の区間だけを学習に使用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1DC01EA-4EE7-446C-98EB-A332B79B7F2A}"/>
              </a:ext>
            </a:extLst>
          </p:cNvPr>
          <p:cNvSpPr txBox="1"/>
          <p:nvPr/>
        </p:nvSpPr>
        <p:spPr>
          <a:xfrm>
            <a:off x="1841500" y="7175500"/>
            <a:ext cx="698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800">
                <a:solidFill>
                  <a:srgbClr val="202020"/>
                </a:solidFill>
                <a:latin typeface="Yu Gothic"/>
                <a:ea typeface="Yu Gothic"/>
              </a:rPr>
              <a:t>4</a:t>
            </a:r>
            <a:endParaRPr lang="ja-JP" altLang="en-US" sz="280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F8990A3-56FA-4332-BC44-9C407BDD7B5C}"/>
              </a:ext>
            </a:extLst>
          </p:cNvPr>
          <p:cNvSpPr txBox="1"/>
          <p:nvPr/>
        </p:nvSpPr>
        <p:spPr>
          <a:xfrm>
            <a:off x="2794000" y="7175500"/>
            <a:ext cx="5461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別日データで評価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C7AAB62-437E-4BC5-8061-70D67E632C9D}"/>
              </a:ext>
            </a:extLst>
          </p:cNvPr>
          <p:cNvSpPr txBox="1"/>
          <p:nvPr/>
        </p:nvSpPr>
        <p:spPr>
          <a:xfrm>
            <a:off x="2794000" y="77470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100">
                <a:solidFill>
                  <a:srgbClr val="202020"/>
                </a:solidFill>
                <a:latin typeface="Yu Gothic"/>
                <a:ea typeface="Yu Gothic"/>
              </a:rPr>
              <a:t>テスト側は選別せず全区間を評価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CA134CB-CC8D-47AA-9337-D3490B2A735B}"/>
              </a:ext>
            </a:extLst>
          </p:cNvPr>
          <p:cNvSpPr txBox="1"/>
          <p:nvPr/>
        </p:nvSpPr>
        <p:spPr>
          <a:xfrm>
            <a:off x="10033000" y="33020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研究上の注意点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8017152-9B1C-44AF-AC08-8958336816FC}"/>
              </a:ext>
            </a:extLst>
          </p:cNvPr>
          <p:cNvSpPr txBox="1"/>
          <p:nvPr/>
        </p:nvSpPr>
        <p:spPr>
          <a:xfrm>
            <a:off x="10033000" y="4064000"/>
            <a:ext cx="6350000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「誤ラベル除去」ではなく，音響的に強い区間へ学習データを絞った場合の効果を検証する。
熱流束ラベル自体は変更しない。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67C0AEA-51D7-4AF5-A935-89C2FCD84867}"/>
              </a:ext>
            </a:extLst>
          </p:cNvPr>
          <p:cNvSpPr/>
          <p:nvPr/>
        </p:nvSpPr>
        <p:spPr>
          <a:xfrm>
            <a:off x="10033000" y="7175500"/>
            <a:ext cx="6350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31D9F9BD-5EC3-4B28-83EE-829E73330F57}"/>
              </a:ext>
            </a:extLst>
          </p:cNvPr>
          <p:cNvSpPr txBox="1"/>
          <p:nvPr/>
        </p:nvSpPr>
        <p:spPr>
          <a:xfrm>
            <a:off x="10033000" y="7493000"/>
            <a:ext cx="6350000" cy="10795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200" b="1">
                <a:solidFill>
                  <a:srgbClr val="202020"/>
                </a:solidFill>
                <a:latin typeface="Yu Gothic"/>
                <a:ea typeface="Yu Gothic"/>
              </a:rPr>
              <a:t>比較条件
選別あり／なし </a:t>
            </a:r>
            <a:r>
              <a:rPr lang="en-US" altLang="ja-JP" sz="2200" b="1">
                <a:solidFill>
                  <a:srgbClr val="202020"/>
                </a:solidFill>
                <a:latin typeface="Yu Gothic"/>
                <a:ea typeface="Yu Gothic"/>
              </a:rPr>
              <a:t>× </a:t>
            </a:r>
            <a:r>
              <a:rPr lang="ja-JP" altLang="en-US" sz="2200" b="1">
                <a:solidFill>
                  <a:srgbClr val="202020"/>
                </a:solidFill>
                <a:latin typeface="Yu Gothic"/>
                <a:ea typeface="Yu Gothic"/>
              </a:rPr>
              <a:t>同一の別日テスト</a:t>
            </a:r>
          </a:p>
        </p:txBody>
      </p:sp>
    </p:spTree>
    <p:extLst>
      <p:ext uri="{BB962C8B-B14F-4D97-AF65-F5344CB8AC3E}">
        <p14:creationId xmlns:p14="http://schemas.microsoft.com/office/powerpoint/2010/main" val="1888738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5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評価方法変更後の性能確認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3724D8C-3E99-4F0E-A1CA-98523F6C8195}"/>
              </a:ext>
            </a:extLst>
          </p:cNvPr>
          <p:cNvSpPr txBox="1"/>
          <p:nvPr/>
        </p:nvSpPr>
        <p:spPr>
          <a:xfrm>
            <a:off x="1587500" y="1841500"/>
            <a:ext cx="15367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700" b="1">
                <a:solidFill>
                  <a:srgbClr val="202020"/>
                </a:solidFill>
                <a:latin typeface="Yu Gothic"/>
                <a:ea typeface="Yu Gothic"/>
              </a:rPr>
              <a:t>R²</a:t>
            </a:r>
            <a:r>
              <a:rPr lang="ja-JP" altLang="en-US" sz="2700" b="1">
                <a:solidFill>
                  <a:srgbClr val="202020"/>
                </a:solidFill>
                <a:latin typeface="Yu Gothic"/>
                <a:ea typeface="Yu Gothic"/>
              </a:rPr>
              <a:t>と</a:t>
            </a:r>
            <a:r>
              <a:rPr lang="en-US" altLang="ja-JP" sz="2700" b="1">
                <a:solidFill>
                  <a:srgbClr val="202020"/>
                </a:solidFill>
                <a:latin typeface="Yu Gothic"/>
                <a:ea typeface="Yu Gothic"/>
              </a:rPr>
              <a:t>AUC</a:t>
            </a:r>
            <a:r>
              <a:rPr lang="ja-JP" altLang="en-US" sz="2700" b="1">
                <a:solidFill>
                  <a:srgbClr val="202020"/>
                </a:solidFill>
                <a:latin typeface="Yu Gothic"/>
                <a:ea typeface="Yu Gothic"/>
              </a:rPr>
              <a:t>を同一条件で比較し，最良単体に対する統合効果を見る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804541-8F57-41FD-AFB9-4045AC9BE81F}"/>
              </a:ext>
            </a:extLst>
          </p:cNvPr>
          <p:cNvSpPr/>
          <p:nvPr/>
        </p:nvSpPr>
        <p:spPr>
          <a:xfrm>
            <a:off x="1587500" y="2730500"/>
            <a:ext cx="15367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ED69E57-014E-4547-8BA5-F04123732F69}"/>
              </a:ext>
            </a:extLst>
          </p:cNvPr>
          <p:cNvSpPr txBox="1"/>
          <p:nvPr/>
        </p:nvSpPr>
        <p:spPr>
          <a:xfrm>
            <a:off x="1778000" y="32385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500" b="1">
                <a:solidFill>
                  <a:srgbClr val="202020"/>
                </a:solidFill>
                <a:latin typeface="Yu Gothic"/>
                <a:ea typeface="Yu Gothic"/>
              </a:rPr>
              <a:t>決定係数 </a:t>
            </a:r>
            <a:r>
              <a:rPr lang="en-US" altLang="ja-JP" sz="2500" b="1">
                <a:solidFill>
                  <a:srgbClr val="202020"/>
                </a:solidFill>
                <a:latin typeface="Yu Gothic"/>
                <a:ea typeface="Yu Gothic"/>
              </a:rPr>
              <a:t>R²</a:t>
            </a:r>
            <a:endParaRPr lang="ja-JP" altLang="en-US" sz="2500" b="1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955CDE4-B735-45DB-A43D-8255628EAC76}"/>
              </a:ext>
            </a:extLst>
          </p:cNvPr>
          <p:cNvSpPr txBox="1"/>
          <p:nvPr/>
        </p:nvSpPr>
        <p:spPr>
          <a:xfrm>
            <a:off x="1778000" y="4000500"/>
            <a:ext cx="6794500" cy="3429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対象：熱流束回帰
比較：</a:t>
            </a:r>
            <a:r>
              <a:rPr lang="en-US" altLang="ja-JP" sz="2300">
                <a:solidFill>
                  <a:srgbClr val="202020"/>
                </a:solidFill>
                <a:latin typeface="Yu Gothic"/>
                <a:ea typeface="Yu Gothic"/>
              </a:rPr>
              <a:t>RF / Conformer / AlexNet / Ensemble
● </a:t>
            </a:r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別日データでの回帰性能
● 最良単体との差
● 選別あり／なしの変化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FF838F0-4C85-4283-8595-F5E7367E4B9B}"/>
              </a:ext>
            </a:extLst>
          </p:cNvPr>
          <p:cNvSpPr txBox="1"/>
          <p:nvPr/>
        </p:nvSpPr>
        <p:spPr>
          <a:xfrm>
            <a:off x="9906000" y="32385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500" b="1">
                <a:solidFill>
                  <a:srgbClr val="202020"/>
                </a:solidFill>
                <a:latin typeface="Yu Gothic"/>
                <a:ea typeface="Yu Gothic"/>
              </a:rPr>
              <a:t>AUC</a:t>
            </a:r>
            <a:endParaRPr lang="ja-JP" altLang="en-US" sz="2500" b="1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39C4332-06C0-45E1-A4A3-BA47E7090484}"/>
              </a:ext>
            </a:extLst>
          </p:cNvPr>
          <p:cNvSpPr txBox="1"/>
          <p:nvPr/>
        </p:nvSpPr>
        <p:spPr>
          <a:xfrm>
            <a:off x="9906000" y="4000500"/>
            <a:ext cx="7048500" cy="34290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対象：予測熱流束を用いた</a:t>
            </a:r>
            <a:r>
              <a:rPr lang="en-US" altLang="ja-JP" sz="230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判定
比較：</a:t>
            </a:r>
            <a:r>
              <a:rPr lang="en-US" altLang="ja-JP" sz="2300">
                <a:solidFill>
                  <a:srgbClr val="202020"/>
                </a:solidFill>
                <a:latin typeface="Yu Gothic"/>
                <a:ea typeface="Yu Gothic"/>
              </a:rPr>
              <a:t>RF / Conformer / AlexNet / Ensemble
● R²</a:t>
            </a:r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改善が</a:t>
            </a:r>
            <a:r>
              <a:rPr lang="en-US" altLang="ja-JP" sz="2300">
                <a:solidFill>
                  <a:srgbClr val="202020"/>
                </a:solidFill>
                <a:latin typeface="Yu Gothic"/>
                <a:ea typeface="Yu Gothic"/>
              </a:rPr>
              <a:t>AUC</a:t>
            </a:r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改善につながるか
● </a:t>
            </a:r>
            <a:r>
              <a:rPr lang="en-US" altLang="ja-JP" sz="230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2300">
                <a:solidFill>
                  <a:srgbClr val="202020"/>
                </a:solidFill>
                <a:latin typeface="Yu Gothic"/>
                <a:ea typeface="Yu Gothic"/>
              </a:rPr>
              <a:t>近傍での見逃し
● 統合による安定性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F87EA4A-84B2-4D28-A9B1-8CF8E9607156}"/>
              </a:ext>
            </a:extLst>
          </p:cNvPr>
          <p:cNvSpPr/>
          <p:nvPr/>
        </p:nvSpPr>
        <p:spPr>
          <a:xfrm>
            <a:off x="1587500" y="7747000"/>
            <a:ext cx="15367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48331A9-809B-4850-A46D-4FA639B4E385}"/>
              </a:ext>
            </a:extLst>
          </p:cNvPr>
          <p:cNvSpPr txBox="1"/>
          <p:nvPr/>
        </p:nvSpPr>
        <p:spPr>
          <a:xfrm>
            <a:off x="1778000" y="8001000"/>
            <a:ext cx="15113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100" b="1">
                <a:solidFill>
                  <a:srgbClr val="202020"/>
                </a:solidFill>
                <a:latin typeface="Yu Gothic"/>
                <a:ea typeface="Yu Gothic"/>
              </a:rPr>
              <a:t>現在：十分な学習条件で再計算中。確定後は</a:t>
            </a:r>
            <a:r>
              <a:rPr lang="en-US" altLang="ja-JP" sz="2100" b="1">
                <a:solidFill>
                  <a:srgbClr val="202020"/>
                </a:solidFill>
                <a:latin typeface="Yu Gothic"/>
                <a:ea typeface="Yu Gothic"/>
              </a:rPr>
              <a:t>2</a:t>
            </a:r>
            <a:r>
              <a:rPr lang="ja-JP" altLang="en-US" sz="2100" b="1">
                <a:solidFill>
                  <a:srgbClr val="202020"/>
                </a:solidFill>
                <a:latin typeface="Yu Gothic"/>
                <a:ea typeface="Yu Gothic"/>
              </a:rPr>
              <a:t>グラフを並べて提示する。</a:t>
            </a:r>
          </a:p>
        </p:txBody>
      </p:sp>
    </p:spTree>
    <p:extLst>
      <p:ext uri="{BB962C8B-B14F-4D97-AF65-F5344CB8AC3E}">
        <p14:creationId xmlns:p14="http://schemas.microsoft.com/office/powerpoint/2010/main" val="3036723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6B7A-BBA2-7F7C-7C94-C50C16F8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D53115BB-4676-8FEF-7373-A118571B75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DC50DE46-9569-2CF9-EEFD-5E4269CF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32F39ADD-556E-FD1C-8606-2D1BF514D63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B3E2A75-09AC-578E-12EB-B6B0417CA1E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B65B272C-A5D5-4CB5-BC19-E30EA1D49C2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DF2F1FC0-E61B-F7F2-CC05-9284F1F874A9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9F44B98-80E0-A756-8887-6397FCA0767C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2E8A69AF-5FB0-9637-3552-65D6D00010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E6D22F2B-0227-2669-DB06-9260C7E4EC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DD791D53-6622-F6E6-468E-FA0E40BA8BD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8A6FCA-2782-60E6-8ED8-8BBCA1B74E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1C0DB6D5-1F47-662F-F20C-5C60496C1C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BA5A87E2-7EB4-701B-D4E9-29108DE56E26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A2A54EDF-CE99-D170-6E87-5E37252FA44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40A00CD3-1C19-635B-A208-D902D53841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01D2D754-48E3-D797-3CDA-7E4DF46D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972BE9D2-9DD4-C399-B2ED-10498EC98BFD}"/>
              </a:ext>
            </a:extLst>
          </p:cNvPr>
          <p:cNvSpPr txBox="1"/>
          <p:nvPr/>
        </p:nvSpPr>
        <p:spPr>
          <a:xfrm>
            <a:off x="1806795" y="305043"/>
            <a:ext cx="10160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説明性手法の実装と代表例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84B5C79-B617-A08C-C850-FB3B12893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343" y="2692400"/>
            <a:ext cx="7335056" cy="60325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40CD639-9E01-0B6D-9FF8-899476656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3" y="2692400"/>
            <a:ext cx="7464574" cy="60325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4F5453-5D79-4A51-9671-CFDD30B14183}"/>
              </a:ext>
            </a:extLst>
          </p:cNvPr>
          <p:cNvSpPr txBox="1"/>
          <p:nvPr/>
        </p:nvSpPr>
        <p:spPr>
          <a:xfrm>
            <a:off x="3175000" y="1905000"/>
            <a:ext cx="4191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ja-JP" altLang="en-US" sz="2200" b="1" dirty="0">
                <a:solidFill>
                  <a:srgbClr val="202020"/>
                </a:solidFill>
                <a:latin typeface="Yu Gothic"/>
                <a:ea typeface="Yu Gothic"/>
              </a:rPr>
              <a:t>入力スペクトログラム（例）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9AA167B-0932-41A4-9A96-C8EACB220BFC}"/>
              </a:ext>
            </a:extLst>
          </p:cNvPr>
          <p:cNvSpPr txBox="1"/>
          <p:nvPr/>
        </p:nvSpPr>
        <p:spPr>
          <a:xfrm>
            <a:off x="10795000" y="1905000"/>
            <a:ext cx="5664200" cy="61595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 fontScale="92500"/>
          </a:bodyPr>
          <a:lstStyle/>
          <a:p>
            <a:pPr algn="l"/>
            <a:r>
              <a:rPr lang="en-US" altLang="ja-JP" sz="2200" b="1" dirty="0">
                <a:solidFill>
                  <a:srgbClr val="202020"/>
                </a:solidFill>
                <a:latin typeface="Yu Gothic"/>
                <a:ea typeface="Yu Gothic"/>
              </a:rPr>
              <a:t>Integrated Gradients </a:t>
            </a:r>
            <a:r>
              <a:rPr lang="ja-JP" altLang="en-US" sz="2200" b="1" dirty="0">
                <a:solidFill>
                  <a:srgbClr val="202020"/>
                </a:solidFill>
                <a:latin typeface="Yu Gothic"/>
                <a:ea typeface="Yu Gothic"/>
              </a:rPr>
              <a:t>による重要領域（例）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9934109-BEAC-421A-816B-AB9F9D1DDB14}"/>
              </a:ext>
            </a:extLst>
          </p:cNvPr>
          <p:cNvSpPr/>
          <p:nvPr/>
        </p:nvSpPr>
        <p:spPr>
          <a:xfrm>
            <a:off x="1397000" y="8763000"/>
            <a:ext cx="15621000" cy="19050"/>
          </a:xfrm>
          <a:prstGeom prst="rect">
            <a:avLst/>
          </a:prstGeom>
          <a:solidFill>
            <a:srgbClr val="B5B5B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60B7E0-E31A-4044-8B5E-DAFCA2867884}"/>
              </a:ext>
            </a:extLst>
          </p:cNvPr>
          <p:cNvSpPr txBox="1"/>
          <p:nvPr/>
        </p:nvSpPr>
        <p:spPr>
          <a:xfrm>
            <a:off x="1587500" y="8953500"/>
            <a:ext cx="15240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ja-JP" sz="2000" b="1">
                <a:solidFill>
                  <a:srgbClr val="202020"/>
                </a:solidFill>
                <a:latin typeface="Yu Gothic"/>
                <a:ea typeface="Yu Gothic"/>
              </a:rPr>
              <a:t>3</a:t>
            </a:r>
            <a:r>
              <a:rPr lang="ja-JP" altLang="en-US" sz="2000" b="1">
                <a:solidFill>
                  <a:srgbClr val="202020"/>
                </a:solidFill>
                <a:latin typeface="Yu Gothic"/>
                <a:ea typeface="Yu Gothic"/>
              </a:rPr>
              <a:t>モデルで出力可能。今後は改善条件・残差・帯域マスクと対応させて要因を分析する。</a:t>
            </a:r>
          </a:p>
        </p:txBody>
      </p:sp>
    </p:spTree>
    <p:extLst>
      <p:ext uri="{BB962C8B-B14F-4D97-AF65-F5344CB8AC3E}">
        <p14:creationId xmlns:p14="http://schemas.microsoft.com/office/powerpoint/2010/main" val="3598907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B380CD6-6546-7D10-A42A-9E7F5014A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z="2400" smtClean="0"/>
              <a:pPr/>
              <a:t>7</a:t>
            </a:fld>
            <a:endParaRPr lang="en-US" sz="2400" dirty="0"/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4C6E962-1682-6D74-EA96-1F07AA9F6988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後期の研究計画</a:t>
            </a:r>
          </a:p>
        </p:txBody>
      </p:sp>
      <p:graphicFrame>
        <p:nvGraphicFramePr>
          <p:cNvPr id="7" name="GanttTable">
            <a:extLst>
              <a:ext uri="{FF2B5EF4-FFF2-40B4-BE49-F238E27FC236}">
                <a16:creationId xmlns:a16="http://schemas.microsoft.com/office/drawing/2014/main" id="{E9F5895E-877D-483B-9260-909FCBF394A2}"/>
              </a:ext>
            </a:extLst>
          </p:cNvPr>
          <p:cNvGraphicFramePr>
            <a:graphicFrameLocks noGrp="1"/>
          </p:cNvGraphicFramePr>
          <p:nvPr/>
        </p:nvGraphicFramePr>
        <p:xfrm>
          <a:off x="1371600" y="1943100"/>
          <a:ext cx="16116440" cy="7797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3360">
                  <a:extLst>
                    <a:ext uri="{9D8B030D-6E8A-4147-A177-3AD203B41FA5}">
                      <a16:colId xmlns:a16="http://schemas.microsoft.com/office/drawing/2014/main" val="2225326839"/>
                    </a:ext>
                  </a:extLst>
                </a:gridCol>
                <a:gridCol w="4993080">
                  <a:extLst>
                    <a:ext uri="{9D8B030D-6E8A-4147-A177-3AD203B41FA5}">
                      <a16:colId xmlns:a16="http://schemas.microsoft.com/office/drawing/2014/main" val="3156811629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2375209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59402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456276626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03440794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9601853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62586373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大項目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9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10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11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12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2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23936"/>
                  </a:ext>
                </a:extLst>
              </a:tr>
              <a:tr h="524230">
                <a:tc rowSpan="2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① 評価設計・学習データの確定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実験別に学習</a:t>
                      </a:r>
                      <a:r>
                        <a:rPr lang="en-US" altLang="ja-JP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/</a:t>
                      </a:r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テストデータを分割の実装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7349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沸騰後のデータで閾値を設定・スクリーニング実装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5566"/>
                  </a:ext>
                </a:extLst>
              </a:tr>
              <a:tr h="524230">
                <a:tc rowSpan="4">
                  <a:txBody>
                    <a:bodyPr/>
                    <a:lstStyle/>
                    <a:p>
                      <a:pPr algn="l"/>
                      <a:r>
                        <a:rPr sz="2400" dirty="0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② </a:t>
                      </a:r>
                      <a:r>
                        <a:rPr sz="2400" dirty="0" err="1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アンサンブル手法の確立</a:t>
                      </a:r>
                      <a:endParaRPr sz="2400" dirty="0">
                        <a:latin typeface="Source Han Sans JP Bold" panose="020B0600070205080204" charset="-128"/>
                        <a:ea typeface="Source Han Sans JP Bold" panose="020B0600070205080204" charset="-128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上記実装でアンサンブル検証（全条件でやりたい）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3574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単体モデルを下回る条件・要因を調査・整理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837035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必要に応じて新たなアンサンブル手法を調査・実装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6250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複数手法の比較でアンサンブル方法を確定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835225"/>
                  </a:ext>
                </a:extLst>
              </a:tr>
              <a:tr h="524230">
                <a:tc rowSpan="4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③ 説明性を用いた要因分析・検証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説明性指標で特徴利用を可視化・比較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107438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説明性と各モデルの性能・重みの関係を分析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96305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時間・周波数特徴と性能の関係などを考察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73236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示唆に基づく追加検証（あれば）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35604"/>
                  </a:ext>
                </a:extLst>
              </a:tr>
              <a:tr h="524230">
                <a:tc rowSpan="3">
                  <a:txBody>
                    <a:bodyPr/>
                    <a:lstStyle/>
                    <a:p>
                      <a:pPr algn="l"/>
                      <a:r>
                        <a:rPr sz="2400" dirty="0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④ </a:t>
                      </a:r>
                      <a:r>
                        <a:rPr sz="2400" dirty="0" err="1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修論執筆・発表準備</a:t>
                      </a:r>
                      <a:endParaRPr sz="2400" dirty="0">
                        <a:latin typeface="Source Han Sans JP Bold" panose="020B0600070205080204" charset="-128"/>
                        <a:ea typeface="Source Han Sans JP Bold" panose="020B0600070205080204" charset="-128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背景・実験方法（など書ける範囲から進める）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13195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結果・考察・結論の整理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233786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論文執筆完了・発表資料作成・発表練習など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35946"/>
                  </a:ext>
                </a:extLst>
              </a:tr>
            </a:tbl>
          </a:graphicData>
        </a:graphic>
      </p:graphicFrame>
      <p:sp>
        <p:nvSpPr>
          <p:cNvPr id="29" name="Arrow_r5">
            <a:extLst>
              <a:ext uri="{FF2B5EF4-FFF2-40B4-BE49-F238E27FC236}">
                <a16:creationId xmlns:a16="http://schemas.microsoft.com/office/drawing/2014/main" id="{569D38A7-5B10-4193-87C0-B3C6E0995665}"/>
              </a:ext>
            </a:extLst>
          </p:cNvPr>
          <p:cNvSpPr/>
          <p:nvPr/>
        </p:nvSpPr>
        <p:spPr>
          <a:xfrm>
            <a:off x="10634240" y="3259296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1" name="Arrow_r7">
            <a:extLst>
              <a:ext uri="{FF2B5EF4-FFF2-40B4-BE49-F238E27FC236}">
                <a16:creationId xmlns:a16="http://schemas.microsoft.com/office/drawing/2014/main" id="{CE4696B6-F452-44D2-8FB3-71D2647B5531}"/>
              </a:ext>
            </a:extLst>
          </p:cNvPr>
          <p:cNvSpPr/>
          <p:nvPr/>
        </p:nvSpPr>
        <p:spPr>
          <a:xfrm>
            <a:off x="11426840" y="3863022"/>
            <a:ext cx="477600" cy="40781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Arrow_r8">
            <a:extLst>
              <a:ext uri="{FF2B5EF4-FFF2-40B4-BE49-F238E27FC236}">
                <a16:creationId xmlns:a16="http://schemas.microsoft.com/office/drawing/2014/main" id="{B61D8F6C-A200-4120-B4CE-C8218F090801}"/>
              </a:ext>
            </a:extLst>
          </p:cNvPr>
          <p:cNvSpPr/>
          <p:nvPr/>
        </p:nvSpPr>
        <p:spPr>
          <a:xfrm>
            <a:off x="11426840" y="453166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3" name="Arrow_r9">
            <a:extLst>
              <a:ext uri="{FF2B5EF4-FFF2-40B4-BE49-F238E27FC236}">
                <a16:creationId xmlns:a16="http://schemas.microsoft.com/office/drawing/2014/main" id="{46D98C71-2375-4675-973C-71970E2CF804}"/>
              </a:ext>
            </a:extLst>
          </p:cNvPr>
          <p:cNvSpPr/>
          <p:nvPr/>
        </p:nvSpPr>
        <p:spPr>
          <a:xfrm>
            <a:off x="12219440" y="5055889"/>
            <a:ext cx="782400" cy="320001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Arrow_r10">
            <a:extLst>
              <a:ext uri="{FF2B5EF4-FFF2-40B4-BE49-F238E27FC236}">
                <a16:creationId xmlns:a16="http://schemas.microsoft.com/office/drawing/2014/main" id="{70ABB943-D9AF-46F6-8C32-86BDEA71AB55}"/>
              </a:ext>
            </a:extLst>
          </p:cNvPr>
          <p:cNvSpPr/>
          <p:nvPr/>
        </p:nvSpPr>
        <p:spPr>
          <a:xfrm>
            <a:off x="12789109" y="5567961"/>
            <a:ext cx="477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5" name="Arrow_r11">
            <a:extLst>
              <a:ext uri="{FF2B5EF4-FFF2-40B4-BE49-F238E27FC236}">
                <a16:creationId xmlns:a16="http://schemas.microsoft.com/office/drawing/2014/main" id="{60F3019B-4096-4C5D-B4A3-B8BE8B6E6B57}"/>
              </a:ext>
            </a:extLst>
          </p:cNvPr>
          <p:cNvSpPr/>
          <p:nvPr/>
        </p:nvSpPr>
        <p:spPr>
          <a:xfrm>
            <a:off x="11426840" y="6069313"/>
            <a:ext cx="1107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Arrow_r12">
            <a:extLst>
              <a:ext uri="{FF2B5EF4-FFF2-40B4-BE49-F238E27FC236}">
                <a16:creationId xmlns:a16="http://schemas.microsoft.com/office/drawing/2014/main" id="{D57190CC-F617-4CCA-BE83-5B453C0B39C4}"/>
              </a:ext>
            </a:extLst>
          </p:cNvPr>
          <p:cNvSpPr/>
          <p:nvPr/>
        </p:nvSpPr>
        <p:spPr>
          <a:xfrm>
            <a:off x="12184951" y="671830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7" name="Arrow_r13">
            <a:extLst>
              <a:ext uri="{FF2B5EF4-FFF2-40B4-BE49-F238E27FC236}">
                <a16:creationId xmlns:a16="http://schemas.microsoft.com/office/drawing/2014/main" id="{E3FB46B8-AAB7-48D5-B48F-9573C29F5A7A}"/>
              </a:ext>
            </a:extLst>
          </p:cNvPr>
          <p:cNvSpPr/>
          <p:nvPr/>
        </p:nvSpPr>
        <p:spPr>
          <a:xfrm>
            <a:off x="12613223" y="725170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Arrow_r14">
            <a:extLst>
              <a:ext uri="{FF2B5EF4-FFF2-40B4-BE49-F238E27FC236}">
                <a16:creationId xmlns:a16="http://schemas.microsoft.com/office/drawing/2014/main" id="{0749BADC-D141-47F7-ABA2-DF5C119F855C}"/>
              </a:ext>
            </a:extLst>
          </p:cNvPr>
          <p:cNvSpPr/>
          <p:nvPr/>
        </p:nvSpPr>
        <p:spPr>
          <a:xfrm>
            <a:off x="13001840" y="7734300"/>
            <a:ext cx="1196583" cy="3384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Arrow_r15">
            <a:extLst>
              <a:ext uri="{FF2B5EF4-FFF2-40B4-BE49-F238E27FC236}">
                <a16:creationId xmlns:a16="http://schemas.microsoft.com/office/drawing/2014/main" id="{CAB2B8DC-087F-4474-B759-422C39A7203B}"/>
              </a:ext>
            </a:extLst>
          </p:cNvPr>
          <p:cNvSpPr/>
          <p:nvPr/>
        </p:nvSpPr>
        <p:spPr>
          <a:xfrm>
            <a:off x="11264240" y="8242298"/>
            <a:ext cx="2375560" cy="3302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1" name="Arrow_r17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5240000" y="9182100"/>
            <a:ext cx="1447800" cy="38499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5" name="Arrow_r18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3792200" y="8767498"/>
            <a:ext cx="914400" cy="3384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" name="Arrow_r5">
            <a:extLst>
              <a:ext uri="{FF2B5EF4-FFF2-40B4-BE49-F238E27FC236}">
                <a16:creationId xmlns:a16="http://schemas.microsoft.com/office/drawing/2014/main" id="{4CA895A4-E09E-55E8-917E-4AD58F95619A}"/>
              </a:ext>
            </a:extLst>
          </p:cNvPr>
          <p:cNvSpPr/>
          <p:nvPr/>
        </p:nvSpPr>
        <p:spPr>
          <a:xfrm>
            <a:off x="10634240" y="265557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483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434D-2DE3-DE53-DA57-3218695A6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7D3FFEB6-1BF8-B383-B19B-1FE1F9AD10E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A9A52D06-11C2-FB38-6088-E43EB1EDC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8827E916-F2F2-8AD2-167E-C728D6EF985E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7CC4C3B4-EF25-1DFB-8895-4512A523954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46534A75-EE5C-0570-42B1-D4708A5D311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4859911D-24E5-DAC7-219E-E1B8B0FC5A9E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B4CFF76-B5E0-2D22-1278-0A45CF422EA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EED31BD-5D24-2AB1-AA6F-BCFB0245C47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5F2A5654-E21C-567F-4DAA-FFED561C46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AC65F757-7AD3-8C06-5A53-665ADC3E8D9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52938506-2071-EFB1-967A-2339DB77D8D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AE1C156-4EC9-E052-F65C-D2906606F0F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086CABE0-83DB-7A80-3B0A-9818082BDE4E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9FBF0D1-1E4B-B008-9B0C-8AA2743C8DE1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65C311FB-AACB-DAC1-B7EC-F08C05A0BA7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33A168E0-8DE6-964F-F7C5-CFEF2067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96A0BF60-34DE-4303-576F-7F09CC423BFD}"/>
              </a:ext>
            </a:extLst>
          </p:cNvPr>
          <p:cNvSpPr txBox="1"/>
          <p:nvPr/>
        </p:nvSpPr>
        <p:spPr>
          <a:xfrm>
            <a:off x="1806795" y="305043"/>
            <a:ext cx="8890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zh-TW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修士論文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の</a:t>
            </a:r>
            <a:r>
              <a:rPr lang="zh-TW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目次案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0484C1-7A59-4873-8F28-E05B7BD787B8}"/>
              </a:ext>
            </a:extLst>
          </p:cNvPr>
          <p:cNvSpPr txBox="1"/>
          <p:nvPr/>
        </p:nvSpPr>
        <p:spPr>
          <a:xfrm>
            <a:off x="2514600" y="1848232"/>
            <a:ext cx="13258799" cy="7832774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 fontScale="92500" lnSpcReduction="20000"/>
          </a:bodyPr>
          <a:lstStyle/>
          <a:p>
            <a:pPr algn="l"/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1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緒論
　研究背景・従来研究・学部研究の成果と課題・研究目的
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2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プール沸騰実験および音響データ
　実験条件・熱流束／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・音響信号・前処理
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3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熱流束推定手法および評価方法
　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3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モデル・分割／選別・アンサンブル・説明性・評価指標</a:t>
            </a:r>
            <a:endParaRPr lang="en-US" altLang="ja-JP" sz="3200" b="1" dirty="0">
              <a:solidFill>
                <a:srgbClr val="202020"/>
              </a:solidFill>
              <a:latin typeface="Yu Gothic"/>
              <a:ea typeface="Yu Gothic"/>
            </a:endParaRPr>
          </a:p>
          <a:p>
            <a:pPr algn="l"/>
            <a:endParaRPr lang="en-US" altLang="ja-JP" sz="3200" b="1" dirty="0">
              <a:solidFill>
                <a:srgbClr val="202020"/>
              </a:solidFill>
              <a:latin typeface="Yu Gothic"/>
              <a:ea typeface="Yu Gothic"/>
            </a:endParaRPr>
          </a:p>
          <a:p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4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評価設計および学習データ選別の検討
　別日評価・選別効果・評価条件の確定
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5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アンサンブル手法の検討およびノイズ耐性評価
　単体比較・統合手法・ノイズ下での成立条件
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6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説明性に基づくアンサンブル効果の要因分析
　特徴利用・誤差補完・性能との関係・追加検証
第</a:t>
            </a:r>
            <a:r>
              <a:rPr lang="en-US" altLang="ja-JP" sz="3200" b="1" dirty="0">
                <a:solidFill>
                  <a:srgbClr val="202020"/>
                </a:solidFill>
                <a:latin typeface="Yu Gothic"/>
                <a:ea typeface="Yu Gothic"/>
              </a:rPr>
              <a:t>7</a:t>
            </a:r>
            <a:r>
              <a:rPr lang="ja-JP" altLang="en-US" sz="3200" b="1" dirty="0">
                <a:solidFill>
                  <a:srgbClr val="202020"/>
                </a:solidFill>
                <a:latin typeface="Yu Gothic"/>
                <a:ea typeface="Yu Gothic"/>
              </a:rPr>
              <a:t>章　結論
　成果・適用範囲・限界・今後の課題</a:t>
            </a:r>
          </a:p>
          <a:p>
            <a:pPr algn="l"/>
            <a:endParaRPr lang="ja-JP" altLang="en-US" sz="22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20994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1E0504D-397B-4E0E-9870-3BF79C012794}">
  <we:reference id="wa200010215" version="2.0.0.1" store="ja-JP" storeType="OMEX"/>
  <we:alternateReferences>
    <we:reference id="WA200010215" version="2.0.0.1" store="WA200010215" storeType="OMEX"/>
  </we:alternateReferences>
  <we:properties>
    <we:property name="bps.codex_control.document_id" value="&quot;923187e9-0861-413e-9a76-03a2dc2aca9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26705</TotalTime>
  <Words>1040</Words>
  <Application>Microsoft Office PowerPoint</Application>
  <PresentationFormat>ユーザー設定</PresentationFormat>
  <Paragraphs>108</Paragraphs>
  <Slides>8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8" baseType="lpstr">
      <vt:lpstr>游ゴシック</vt:lpstr>
      <vt:lpstr>Arial</vt:lpstr>
      <vt:lpstr>Source Han Sans JP Bold</vt:lpstr>
      <vt:lpstr>Source Han Sans JP Medium</vt:lpstr>
      <vt:lpstr>游ゴシック</vt:lpstr>
      <vt:lpstr>Calibri</vt:lpstr>
      <vt:lpstr>Source Han Sans JP</vt:lpstr>
      <vt:lpstr>Century Gothic Paneuropean</vt:lpstr>
      <vt:lpstr>ＭＳ Ｐゴシック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175</cp:revision>
  <dcterms:created xsi:type="dcterms:W3CDTF">2006-08-16T00:00:00Z</dcterms:created>
  <dcterms:modified xsi:type="dcterms:W3CDTF">2026-09-17T05:43:07Z</dcterms:modified>
  <dc:identifier>DAGKJCfN4aw</dc:identifier>
</cp:coreProperties>
</file>