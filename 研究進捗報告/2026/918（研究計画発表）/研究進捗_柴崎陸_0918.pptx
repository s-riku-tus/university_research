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2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48" r:id="rId1"/>
  </p:sldMasterIdLst>
  <p:notesMasterIdLst>
    <p:notesMasterId r:id="rId11"/>
  </p:notesMasterIdLst>
  <p:sldIdLst>
    <p:sldId id="399" r:id="rId2"/>
    <p:sldId id="501" r:id="rId3"/>
    <p:sldId id="494" r:id="rId4"/>
    <p:sldId id="511" r:id="rId5"/>
    <p:sldId id="512" r:id="rId6"/>
    <p:sldId id="509" r:id="rId7"/>
    <p:sldId id="513" r:id="rId8"/>
    <p:sldId id="503" r:id="rId9"/>
    <p:sldId id="508" r:id="rId10"/>
  </p:sldIdLst>
  <p:sldSz cx="18288000" cy="10287000"/>
  <p:notesSz cx="6858000" cy="9144000"/>
  <p:embeddedFontLst>
    <p:embeddedFont>
      <p:font typeface="Source Han Sans JP" panose="020B0600070205080204" charset="-128"/>
      <p:regular r:id="rId12"/>
    </p:embeddedFont>
    <p:embeddedFont>
      <p:font typeface="Source Han Sans JP Bold" panose="020B0600070205080204" charset="-128"/>
      <p:regular r:id="rId13"/>
    </p:embeddedFont>
    <p:embeddedFont>
      <p:font typeface="Source Han Sans JP Medium" panose="020B0600070205080204" charset="-128"/>
      <p:regular r:id="rId14"/>
    </p:embeddedFont>
    <p:embeddedFont>
      <p:font typeface="Century Gothic Paneuropean" panose="020B0600070205080204" charset="0"/>
      <p:regular r:id="rId15"/>
    </p:embeddedFont>
    <p:embeddedFont>
      <p:font typeface="游ゴシック" panose="020B0400000000000000" pitchFamily="50" charset="-128"/>
      <p:regular r:id="rId16"/>
      <p:bold r:id="rId17"/>
    </p:embeddedFont>
    <p:embeddedFont>
      <p:font typeface="游ゴシック" panose="020B0400000000000000" pitchFamily="50" charset="-128"/>
      <p:regular r:id="rId16"/>
      <p:bold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タイトルなしのセクション" id="{4DFD7D12-A81E-460B-B0A9-1B2C599831E7}">
          <p14:sldIdLst>
            <p14:sldId id="399"/>
            <p14:sldId id="501"/>
            <p14:sldId id="494"/>
            <p14:sldId id="511"/>
            <p14:sldId id="512"/>
            <p14:sldId id="509"/>
            <p14:sldId id="513"/>
            <p14:sldId id="503"/>
            <p14:sldId id="50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F1F1"/>
    <a:srgbClr val="BED8D7"/>
    <a:srgbClr val="B3D1D0"/>
    <a:srgbClr val="91BDBC"/>
    <a:srgbClr val="61A3A1"/>
    <a:srgbClr val="95C1C0"/>
    <a:srgbClr val="FFFFFF"/>
    <a:srgbClr val="849A9A"/>
    <a:srgbClr val="AACECD"/>
    <a:srgbClr val="ABCD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F1DD41C-0630-45D5-9049-54DFDE666A7F}" v="83" dt="2026-05-22T00:42:41.88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 autoAdjust="0"/>
    <p:restoredTop sz="74696" autoAdjust="0"/>
  </p:normalViewPr>
  <p:slideViewPr>
    <p:cSldViewPr>
      <p:cViewPr varScale="1">
        <p:scale>
          <a:sx n="50" d="100"/>
          <a:sy n="50" d="100"/>
        </p:scale>
        <p:origin x="300" y="2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5370"/>
    </p:cViewPr>
  </p:sorterViewPr>
  <p:notesViewPr>
    <p:cSldViewPr>
      <p:cViewPr varScale="1">
        <p:scale>
          <a:sx n="56" d="100"/>
          <a:sy n="56" d="100"/>
        </p:scale>
        <p:origin x="2588" y="5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microsoft.com/office/2015/10/relationships/revisionInfo" Target="revisionInfo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ja-JP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v>最良単体</c:v>
          </c:tx>
          <c:spPr>
            <a:ln w="38100">
              <a:solidFill>
                <a:srgbClr val="2F6F73"/>
              </a:solidFill>
            </a:ln>
          </c:spPr>
          <c:marker>
            <c:symbol val="circle"/>
            <c:size val="9"/>
          </c:marker>
          <c:dLbls>
            <c:numFmt formatCode="0.000" sourceLinked="0"/>
            <c:spPr>
              <a:noFill/>
              <a:ln>
                <a:noFill/>
              </a:ln>
              <a:effectLst/>
            </c:spPr>
            <c:dLblPos val="t"/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2"/>
              <c:pt idx="0">
                <c:v>順方向 AlexNet</c:v>
              </c:pt>
              <c:pt idx="1">
                <c:v>逆方向 RF</c:v>
              </c:pt>
            </c:strLit>
          </c:cat>
          <c:val>
            <c:numLit>
              <c:formatCode>0.000</c:formatCode>
              <c:ptCount val="2"/>
              <c:pt idx="0">
                <c:v>0.90600000000000003</c:v>
              </c:pt>
              <c:pt idx="1">
                <c:v>0.90700000000000003</c:v>
              </c:pt>
            </c:numLit>
          </c:val>
          <c:smooth val="1"/>
          <c:extLst>
            <c:ext xmlns:c16="http://schemas.microsoft.com/office/drawing/2014/chart" uri="{C3380CC4-5D6E-409C-BE32-E72D297353CC}">
              <c16:uniqueId val="{00000000-E3FB-419C-B077-615CAAEB7CCE}"/>
            </c:ext>
          </c:extLst>
        </c:ser>
        <c:ser>
          <c:idx val="1"/>
          <c:order val="1"/>
          <c:tx>
            <c:v>統合</c:v>
          </c:tx>
          <c:spPr>
            <a:ln w="38100">
              <a:solidFill>
                <a:srgbClr val="F39A43"/>
              </a:solidFill>
            </a:ln>
          </c:spPr>
          <c:marker>
            <c:symbol val="diamond"/>
            <c:size val="9"/>
          </c:marker>
          <c:dLbls>
            <c:numFmt formatCode="0.000" sourceLinked="0"/>
            <c:spPr>
              <a:noFill/>
              <a:ln>
                <a:noFill/>
              </a:ln>
              <a:effectLst/>
            </c:spPr>
            <c:dLblPos val="b"/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2"/>
              <c:pt idx="0">
                <c:v>順方向 AlexNet</c:v>
              </c:pt>
              <c:pt idx="1">
                <c:v>逆方向 RF</c:v>
              </c:pt>
            </c:strLit>
          </c:cat>
          <c:val>
            <c:numLit>
              <c:formatCode>0.000</c:formatCode>
              <c:ptCount val="2"/>
              <c:pt idx="0">
                <c:v>0.90400000000000003</c:v>
              </c:pt>
              <c:pt idx="1">
                <c:v>0.89500000000000002</c:v>
              </c:pt>
            </c:numLit>
          </c:val>
          <c:smooth val="1"/>
          <c:extLst>
            <c:ext xmlns:c16="http://schemas.microsoft.com/office/drawing/2014/chart" uri="{C3380CC4-5D6E-409C-BE32-E72D297353CC}">
              <c16:uniqueId val="{00000001-E3FB-419C-B077-615CAAEB7CC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510001"/>
        <c:axId val="510002"/>
      </c:lineChart>
      <c:catAx>
        <c:axId val="510001"/>
        <c:scaling>
          <c:orientation val="minMax"/>
        </c:scaling>
        <c:delete val="0"/>
        <c:axPos val="b"/>
        <c:numFmt formatCode="General" sourceLinked="0"/>
        <c:majorTickMark val="cross"/>
        <c:minorTickMark val="cross"/>
        <c:tickLblPos val="nextTo"/>
        <c:crossAx val="510002"/>
        <c:crosses val="autoZero"/>
        <c:auto val="1"/>
        <c:lblAlgn val="ctr"/>
        <c:lblOffset val="100"/>
        <c:noMultiLvlLbl val="1"/>
      </c:catAx>
      <c:valAx>
        <c:axId val="510002"/>
        <c:scaling>
          <c:orientation val="minMax"/>
          <c:max val="0.92"/>
          <c:min val="0.8"/>
        </c:scaling>
        <c:delete val="0"/>
        <c:axPos val="l"/>
        <c:majorGridlines/>
        <c:numFmt formatCode="0.00" sourceLinked="0"/>
        <c:majorTickMark val="cross"/>
        <c:minorTickMark val="cross"/>
        <c:tickLblPos val="nextTo"/>
        <c:crossAx val="510001"/>
        <c:crosses val="autoZero"/>
        <c:crossBetween val="between"/>
      </c:valAx>
    </c:plotArea>
    <c:legend>
      <c:legendPos val="b"/>
      <c:overlay val="0"/>
    </c:legend>
    <c:plotVisOnly val="1"/>
    <c:dispBlanksAs val="zero"/>
    <c:showDLblsOverMax val="1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ja-JP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RF</c:v>
          </c:tx>
          <c:spPr>
            <a:solidFill>
              <a:srgbClr val="2F6F73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dLblPos val="outEnd"/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2"/>
              <c:pt idx="0">
                <c:v>ONB前</c:v>
              </c:pt>
              <c:pt idx="1">
                <c:v>ONB以降</c:v>
              </c:pt>
            </c:strLit>
          </c:cat>
          <c:val>
            <c:numLit>
              <c:formatCode>0</c:formatCode>
              <c:ptCount val="2"/>
              <c:pt idx="0">
                <c:v>98</c:v>
              </c:pt>
              <c:pt idx="1">
                <c:v>69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7E5F-40F3-A156-45270384114E}"/>
            </c:ext>
          </c:extLst>
        </c:ser>
        <c:ser>
          <c:idx val="1"/>
          <c:order val="1"/>
          <c:tx>
            <c:v>統合</c:v>
          </c:tx>
          <c:spPr>
            <a:solidFill>
              <a:srgbClr val="F39A43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dLblPos val="outEnd"/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2"/>
              <c:pt idx="0">
                <c:v>ONB前</c:v>
              </c:pt>
              <c:pt idx="1">
                <c:v>ONB以降</c:v>
              </c:pt>
            </c:strLit>
          </c:cat>
          <c:val>
            <c:numLit>
              <c:formatCode>0</c:formatCode>
              <c:ptCount val="2"/>
              <c:pt idx="0">
                <c:v>124</c:v>
              </c:pt>
              <c:pt idx="1">
                <c:v>50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7E5F-40F3-A156-45270384114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90"/>
        <c:axId val="710001"/>
        <c:axId val="710002"/>
      </c:barChart>
      <c:catAx>
        <c:axId val="710001"/>
        <c:scaling>
          <c:orientation val="minMax"/>
        </c:scaling>
        <c:delete val="0"/>
        <c:axPos val="b"/>
        <c:numFmt formatCode="General" sourceLinked="0"/>
        <c:majorTickMark val="cross"/>
        <c:minorTickMark val="cross"/>
        <c:tickLblPos val="nextTo"/>
        <c:crossAx val="710002"/>
        <c:crosses val="autoZero"/>
        <c:auto val="1"/>
        <c:lblAlgn val="ctr"/>
        <c:lblOffset val="100"/>
        <c:noMultiLvlLbl val="1"/>
      </c:catAx>
      <c:valAx>
        <c:axId val="710002"/>
        <c:scaling>
          <c:orientation val="minMax"/>
          <c:max val="140"/>
          <c:min val="0"/>
        </c:scaling>
        <c:delete val="0"/>
        <c:axPos val="l"/>
        <c:majorGridlines/>
        <c:numFmt formatCode="0" sourceLinked="0"/>
        <c:majorTickMark val="cross"/>
        <c:minorTickMark val="cross"/>
        <c:tickLblPos val="nextTo"/>
        <c:crossAx val="710001"/>
        <c:crosses val="autoZero"/>
        <c:crossBetween val="between"/>
      </c:valAx>
    </c:plotArea>
    <c:legend>
      <c:legendPos val="b"/>
      <c:overlay val="0"/>
    </c:legend>
    <c:plotVisOnly val="1"/>
    <c:dispBlanksAs val="zero"/>
    <c:showDLblsOverMax val="1"/>
  </c:chart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BFC281-721B-4934-9CCF-260B5135F409}" type="datetimeFigureOut">
              <a:rPr kumimoji="1" lang="ja-JP" altLang="en-US" smtClean="0"/>
              <a:t>2026/9/17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558F7A-9C9F-42E9-83A4-0C372CE578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92747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狙いを定め直した方が良い気がしている．</a:t>
            </a:r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ja-JP" altLang="en-US"/>
              <a:t>手法の採用を</a:t>
            </a:r>
            <a:endParaRPr kumimoji="1" lang="en-US" altLang="ja-JP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558F7A-9C9F-42E9-83A4-0C372CE5784D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299960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1A9E9-AE27-1E01-9835-EF48D367B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4B534F1C-5D18-FC8A-8DEF-C46AB3E0D9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2770C4D-86E6-D25C-9111-77341F57D5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温度が高くなりすぎて破損しちゃうよ．</a:t>
            </a:r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en-US" altLang="ja-JP" dirty="0"/>
              <a:t>AI</a:t>
            </a:r>
            <a:r>
              <a:rPr kumimoji="1" lang="ja-JP" altLang="en-US" dirty="0"/>
              <a:t>の必要性を答えらえるようになりたいよね</a:t>
            </a:r>
            <a:endParaRPr kumimoji="1" lang="en-US" altLang="ja-JP" dirty="0"/>
          </a:p>
          <a:p>
            <a:endParaRPr kumimoji="1" lang="en-US" altLang="ja-JP" dirty="0"/>
          </a:p>
          <a:p>
            <a:endParaRPr kumimoji="1" lang="en-US" altLang="ja-JP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E60FBB3-999D-3E47-4628-001993935F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558F7A-9C9F-42E9-83A4-0C372CE5784D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828398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19844-7479-4761-8AC7-853C4B311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D066FFAA-7C12-7D95-5E85-103771BD85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6AD4A18C-3D01-1769-0E06-C86D1BB87F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D58A47E-C6C9-18D1-0F1C-B25EF89967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558F7A-9C9F-42E9-83A4-0C372CE5784D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052582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6FA046-5D5B-2321-1581-D4060B329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5C42F3A-8E35-6B59-A565-89F1D1267E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D1B32A0E-F09F-1AA3-CA80-C5B4AFB3E0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5104843-6162-F930-9485-6E27445AF6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558F7A-9C9F-42E9-83A4-0C372CE5784D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419629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6FA046-5D5B-2321-1581-D4060B329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5C42F3A-8E35-6B59-A565-89F1D1267E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D1B32A0E-F09F-1AA3-CA80-C5B4AFB3E0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5104843-6162-F930-9485-6E27445AF6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558F7A-9C9F-42E9-83A4-0C372CE5784D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419629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6FA046-5D5B-2321-1581-D4060B329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5C42F3A-8E35-6B59-A565-89F1D1267E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D1B32A0E-F09F-1AA3-CA80-C5B4AFB3E0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5104843-6162-F930-9485-6E27445AF6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558F7A-9C9F-42E9-83A4-0C372CE5784D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419629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545E4-B9B9-554E-8899-3266B7DEC4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D9C0710D-C792-2F16-2B79-8917D339DE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99D4327-A3A0-2B20-4891-5D0CE59697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24A3B95-7E6A-318B-2CAB-533FB426EF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558F7A-9C9F-42E9-83A4-0C372CE5784D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0915876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【年間計画に対する到達度（①〜④）】</a:t>
            </a:r>
          </a:p>
          <a:p>
            <a:r>
              <a:rPr lang="ja-JP" altLang="en-US" dirty="0"/>
              <a:t>① RF単体の確立：入力・回帰・ONBしきい値評価・結果保存まで完了。→ 完了扱い。</a:t>
            </a:r>
          </a:p>
          <a:p>
            <a:r>
              <a:rPr lang="ja-JP" altLang="en-US" dirty="0"/>
              <a:t>② 各モデルへの説明性付与：手法決定・実装・代表条件での出力まで完了。目視確認、信頼性、物理的妥当性の評価が残る。→ 進行中。</a:t>
            </a:r>
          </a:p>
          <a:p>
            <a:r>
              <a:rPr lang="ja-JP" altLang="en-US" dirty="0"/>
              <a:t>③ 3モデルアンサンブルの確立：パラメータ再調整、各モデルの安定化、3モデル・複数統合方法の同条件評価まで実施。アンサンブルの有効性と最終方式の判断が残る。→ 実装基盤は完了。</a:t>
            </a:r>
          </a:p>
          <a:p>
            <a:r>
              <a:rPr lang="ja-JP" altLang="en-US" dirty="0"/>
              <a:t>④ 沸騰開始点へのアプローチ：ONB近傍誤差としきい値検知指標を導入。データ設計・入力表現・検知遅れ・一般化検証が残る。→ 着手段階。</a:t>
            </a:r>
          </a:p>
          <a:p>
            <a:r>
              <a:rPr lang="ja-JP" altLang="en-US" dirty="0"/>
              <a:t>※「実装が完了したこと」と「研究上の検証・解釈が完了したこと」は分けて説明する。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558F7A-9C9F-42E9-83A4-0C372CE5784D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204810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835141-B1DA-4BCF-9AAA-97947E23424F}" type="datetime1">
              <a:rPr lang="en-US" altLang="ja-JP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348189-7185-406F-AF7C-BED606B3670B}" type="datetime1">
              <a:rPr lang="en-US" altLang="ja-JP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101697-F5F8-4170-8723-96F9EA86E2DC}" type="datetime1">
              <a:rPr lang="en-US" altLang="ja-JP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9CCBFD-D654-4967-8B61-A3494FDAD3C3}" type="datetime1">
              <a:rPr lang="en-US" altLang="ja-JP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BF7437-43BB-4691-A20F-B3DC80928B9C}" type="datetime1">
              <a:rPr lang="en-US" altLang="ja-JP" smtClean="0"/>
              <a:t>9/17/2026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CDB0C1-09DA-4824-A9FE-04B648356115}" type="datetime1">
              <a:rPr lang="en-US" altLang="ja-JP" smtClean="0"/>
              <a:t>9/17/2026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F59CF7-FBD3-43A8-86EA-1BFF241249A7}" type="datetime1">
              <a:rPr lang="en-US" altLang="ja-JP" smtClean="0"/>
              <a:t>9/17/2026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228600" y="9715500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2D3CE7-97B2-48B0-AAAA-F59DB167F20C}" type="datetime1">
              <a:rPr lang="en-US" altLang="ja-JP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42D9E0-6A31-47E1-86F8-E8D32905AA5C}" type="datetime1">
              <a:rPr lang="en-US" altLang="ja-JP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458458-117C-445C-93D2-58146BCC020C}" type="datetime1">
              <a:rPr lang="en-US" altLang="ja-JP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68477-63A2-4B58-B832-4FD9CBB3DB7F}" type="datetime1">
              <a:rPr lang="en-US" altLang="ja-JP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446D91-97FF-446E-BDC2-075A4D5370E6}" type="datetime1">
              <a:rPr lang="en-US" altLang="ja-JP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43800" y="6361199"/>
            <a:ext cx="62009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0">
                <a:solidFill>
                  <a:schemeClr val="bg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885825" y="495300"/>
            <a:ext cx="16516350" cy="142875"/>
            <a:chOff x="0" y="0"/>
            <a:chExt cx="22021800" cy="190500"/>
          </a:xfrm>
        </p:grpSpPr>
        <p:grpSp>
          <p:nvGrpSpPr>
            <p:cNvPr id="4" name="Group 4"/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7" name="Group 7"/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10" name="Group 10"/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17" name="TextBox 17"/>
          <p:cNvSpPr txBox="1"/>
          <p:nvPr/>
        </p:nvSpPr>
        <p:spPr>
          <a:xfrm>
            <a:off x="2226627" y="4242220"/>
            <a:ext cx="13854732" cy="12311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altLang="ja-JP" sz="4000" dirty="0">
                <a:solidFill>
                  <a:srgbClr val="292B2B"/>
                </a:solidFill>
                <a:latin typeface="Source Han Sans JP Bold"/>
                <a:ea typeface="Source Han Sans JP Bold"/>
                <a:cs typeface="Source Han Sans JP Bold"/>
                <a:sym typeface="Source Han Sans JP Bold"/>
              </a:rPr>
              <a:t>CNN</a:t>
            </a:r>
            <a:r>
              <a:rPr lang="ja-JP" altLang="en-US" sz="4000" dirty="0">
                <a:solidFill>
                  <a:srgbClr val="292B2B"/>
                </a:solidFill>
                <a:latin typeface="Source Han Sans JP Bold"/>
                <a:ea typeface="Source Han Sans JP Bold"/>
                <a:cs typeface="Source Han Sans JP Bold"/>
                <a:sym typeface="Source Han Sans JP Bold"/>
              </a:rPr>
              <a:t>アンサンブル学習に基づく音響識別による</a:t>
            </a:r>
            <a:endParaRPr lang="en-US" altLang="ja-JP" sz="4000" dirty="0">
              <a:solidFill>
                <a:srgbClr val="292B2B"/>
              </a:solidFill>
              <a:latin typeface="Source Han Sans JP Bold"/>
              <a:ea typeface="Source Han Sans JP Bold"/>
              <a:cs typeface="Source Han Sans JP Bold"/>
              <a:sym typeface="Source Han Sans JP Bold"/>
            </a:endParaRPr>
          </a:p>
          <a:p>
            <a:pPr algn="ctr">
              <a:spcBef>
                <a:spcPct val="0"/>
              </a:spcBef>
            </a:pPr>
            <a:r>
              <a:rPr lang="ja-JP" altLang="en-US" sz="4000" dirty="0">
                <a:solidFill>
                  <a:srgbClr val="292B2B"/>
                </a:solidFill>
                <a:latin typeface="Source Han Sans JP Bold"/>
                <a:ea typeface="Source Han Sans JP Bold"/>
                <a:cs typeface="Source Han Sans JP Bold"/>
                <a:sym typeface="Source Han Sans JP Bold"/>
              </a:rPr>
              <a:t>プール沸騰の発生検知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885825" y="7729472"/>
            <a:ext cx="16306800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ja-JP" altLang="en-US" sz="4000" dirty="0"/>
              <a:t>植木研究室　　</a:t>
            </a:r>
            <a:r>
              <a:rPr lang="ja-JP" altLang="en-US" sz="4000" dirty="0">
                <a:solidFill>
                  <a:srgbClr val="292B2B"/>
                </a:solidFill>
                <a:latin typeface="+mj-ea"/>
                <a:ea typeface="+mj-ea"/>
                <a:cs typeface="Source Han Sans JP"/>
                <a:sym typeface="Source Han Sans JP"/>
              </a:rPr>
              <a:t>柴崎陸</a:t>
            </a:r>
            <a:endParaRPr lang="en-US" sz="4000" dirty="0">
              <a:solidFill>
                <a:srgbClr val="292B2B"/>
              </a:solidFill>
              <a:latin typeface="+mj-ea"/>
              <a:ea typeface="+mj-ea"/>
              <a:cs typeface="Source Han Sans JP"/>
              <a:sym typeface="Source Han Sans JP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6111044" y="6792441"/>
            <a:ext cx="5785681" cy="4962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 dirty="0">
                <a:solidFill>
                  <a:srgbClr val="292B2B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2026年9月18日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885825" y="9645596"/>
            <a:ext cx="16516350" cy="142875"/>
            <a:chOff x="0" y="0"/>
            <a:chExt cx="22021800" cy="190500"/>
          </a:xfrm>
        </p:grpSpPr>
        <p:grpSp>
          <p:nvGrpSpPr>
            <p:cNvPr id="22" name="Group 22"/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 dirty="0"/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28" name="Group 28"/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9D73F52F-7EA5-9483-9209-847FF8564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13" name="TextBox 17">
            <a:extLst>
              <a:ext uri="{FF2B5EF4-FFF2-40B4-BE49-F238E27FC236}">
                <a16:creationId xmlns:a16="http://schemas.microsoft.com/office/drawing/2014/main" id="{B2D46370-B0AA-E6EF-7D69-27BC452AE345}"/>
              </a:ext>
            </a:extLst>
          </p:cNvPr>
          <p:cNvSpPr txBox="1"/>
          <p:nvPr/>
        </p:nvSpPr>
        <p:spPr>
          <a:xfrm>
            <a:off x="2111859" y="2538384"/>
            <a:ext cx="13854732" cy="10156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ja-JP" altLang="en-US" sz="6600" dirty="0">
                <a:solidFill>
                  <a:srgbClr val="292B2B"/>
                </a:solidFill>
                <a:latin typeface="Source Han Sans JP Bold"/>
                <a:ea typeface="Source Han Sans JP Bold"/>
                <a:cs typeface="Source Han Sans JP Bold"/>
                <a:sym typeface="Source Han Sans JP Bold"/>
              </a:rPr>
              <a:t>研究進捗</a:t>
            </a:r>
            <a:endParaRPr lang="en-US" sz="6600" dirty="0">
              <a:solidFill>
                <a:srgbClr val="292B2B"/>
              </a:solidFill>
              <a:latin typeface="Source Han Sans JP Bold"/>
              <a:ea typeface="Source Han Sans JP Bold"/>
              <a:cs typeface="Source Han Sans JP Bold"/>
              <a:sym typeface="Source Han Sans JP Bold"/>
            </a:endParaRPr>
          </a:p>
        </p:txBody>
      </p:sp>
    </p:spTree>
    <p:extLst>
      <p:ext uri="{BB962C8B-B14F-4D97-AF65-F5344CB8AC3E}">
        <p14:creationId xmlns:p14="http://schemas.microsoft.com/office/powerpoint/2010/main" val="8426765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78CC8-D48C-2743-BDF1-ECD66C65E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グループ化 47">
            <a:extLst>
              <a:ext uri="{FF2B5EF4-FFF2-40B4-BE49-F238E27FC236}">
                <a16:creationId xmlns:a16="http://schemas.microsoft.com/office/drawing/2014/main" id="{CEE746A5-2EA0-7091-CE1B-4CA2830713A6}"/>
              </a:ext>
            </a:extLst>
          </p:cNvPr>
          <p:cNvGrpSpPr/>
          <p:nvPr/>
        </p:nvGrpSpPr>
        <p:grpSpPr>
          <a:xfrm>
            <a:off x="270494" y="246431"/>
            <a:ext cx="698205" cy="10040568"/>
            <a:chOff x="270494" y="246431"/>
            <a:chExt cx="698205" cy="10040568"/>
          </a:xfrm>
        </p:grpSpPr>
        <p:pic>
          <p:nvPicPr>
            <p:cNvPr id="49" name="図 48">
              <a:extLst>
                <a:ext uri="{FF2B5EF4-FFF2-40B4-BE49-F238E27FC236}">
                  <a16:creationId xmlns:a16="http://schemas.microsoft.com/office/drawing/2014/main" id="{70958775-508E-6262-548A-C76F63D7746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5400000">
              <a:off x="271822" y="245103"/>
              <a:ext cx="695550" cy="698205"/>
            </a:xfrm>
            <a:prstGeom prst="rect">
              <a:avLst/>
            </a:prstGeom>
          </p:spPr>
        </p:pic>
        <p:sp>
          <p:nvSpPr>
            <p:cNvPr id="50" name="テキスト ボックス 49">
              <a:extLst>
                <a:ext uri="{FF2B5EF4-FFF2-40B4-BE49-F238E27FC236}">
                  <a16:creationId xmlns:a16="http://schemas.microsoft.com/office/drawing/2014/main" id="{41BA4E38-AE3E-68EF-51D9-A344EE59086C}"/>
                </a:ext>
              </a:extLst>
            </p:cNvPr>
            <p:cNvSpPr txBox="1"/>
            <p:nvPr/>
          </p:nvSpPr>
          <p:spPr>
            <a:xfrm>
              <a:off x="434931" y="1036119"/>
              <a:ext cx="369332" cy="2258787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kumimoji="1" lang="en-US" altLang="ja-JP" sz="1200" dirty="0">
                  <a:latin typeface="Source Han Sans JP" panose="020B0600070205080204" charset="-128"/>
                  <a:ea typeface="Source Han Sans JP" panose="020B0600070205080204" charset="-128"/>
                </a:rPr>
                <a:t>Tokyo University of Science</a:t>
              </a:r>
              <a:endParaRPr kumimoji="1" lang="ja-JP" altLang="en-US" sz="1200" dirty="0">
                <a:latin typeface="Source Han Sans JP" panose="020B0600070205080204" charset="-128"/>
                <a:ea typeface="Source Han Sans JP" panose="020B0600070205080204" charset="-128"/>
              </a:endParaRPr>
            </a:p>
          </p:txBody>
        </p:sp>
        <p:cxnSp>
          <p:nvCxnSpPr>
            <p:cNvPr id="51" name="直線コネクタ 50">
              <a:extLst>
                <a:ext uri="{FF2B5EF4-FFF2-40B4-BE49-F238E27FC236}">
                  <a16:creationId xmlns:a16="http://schemas.microsoft.com/office/drawing/2014/main" id="{0152DED0-19F6-05C3-C9FF-989B1429AF02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" y="3314700"/>
              <a:ext cx="0" cy="6067497"/>
            </a:xfrm>
            <a:prstGeom prst="line">
              <a:avLst/>
            </a:prstGeom>
            <a:ln>
              <a:solidFill>
                <a:srgbClr val="64A4A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フローチャート: 論理積ゲート 51">
              <a:extLst>
                <a:ext uri="{FF2B5EF4-FFF2-40B4-BE49-F238E27FC236}">
                  <a16:creationId xmlns:a16="http://schemas.microsoft.com/office/drawing/2014/main" id="{BA6EA534-61D8-686C-86C9-B0FDB6111F9F}"/>
                </a:ext>
              </a:extLst>
            </p:cNvPr>
            <p:cNvSpPr/>
            <p:nvPr/>
          </p:nvSpPr>
          <p:spPr>
            <a:xfrm rot="16200000">
              <a:off x="141940" y="9634201"/>
              <a:ext cx="924597" cy="381000"/>
            </a:xfrm>
            <a:prstGeom prst="flowChartDelay">
              <a:avLst/>
            </a:prstGeom>
            <a:solidFill>
              <a:srgbClr val="64A4A3"/>
            </a:solidFill>
            <a:ln>
              <a:solidFill>
                <a:srgbClr val="64A4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53" name="Group 3">
            <a:extLst>
              <a:ext uri="{FF2B5EF4-FFF2-40B4-BE49-F238E27FC236}">
                <a16:creationId xmlns:a16="http://schemas.microsoft.com/office/drawing/2014/main" id="{CECFB917-CF11-0A3B-8B44-C670007A018C}"/>
              </a:ext>
            </a:extLst>
          </p:cNvPr>
          <p:cNvGrpSpPr/>
          <p:nvPr/>
        </p:nvGrpSpPr>
        <p:grpSpPr>
          <a:xfrm>
            <a:off x="1371600" y="1069258"/>
            <a:ext cx="16064988" cy="125708"/>
            <a:chOff x="0" y="0"/>
            <a:chExt cx="22021800" cy="190500"/>
          </a:xfrm>
        </p:grpSpPr>
        <p:grpSp>
          <p:nvGrpSpPr>
            <p:cNvPr id="54" name="Group 4">
              <a:extLst>
                <a:ext uri="{FF2B5EF4-FFF2-40B4-BE49-F238E27FC236}">
                  <a16:creationId xmlns:a16="http://schemas.microsoft.com/office/drawing/2014/main" id="{91A2E58B-D56D-16D3-4661-BA3BBA74542D}"/>
                </a:ext>
              </a:extLst>
            </p:cNvPr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61" name="Freeform 5">
                <a:extLst>
                  <a:ext uri="{FF2B5EF4-FFF2-40B4-BE49-F238E27FC236}">
                    <a16:creationId xmlns:a16="http://schemas.microsoft.com/office/drawing/2014/main" id="{31378A26-691B-21D8-F51A-2BCE66598507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2" name="TextBox 6">
                <a:extLst>
                  <a:ext uri="{FF2B5EF4-FFF2-40B4-BE49-F238E27FC236}">
                    <a16:creationId xmlns:a16="http://schemas.microsoft.com/office/drawing/2014/main" id="{B26AAB03-99EC-2423-EABE-926D29D0C8F6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55" name="Group 7">
              <a:extLst>
                <a:ext uri="{FF2B5EF4-FFF2-40B4-BE49-F238E27FC236}">
                  <a16:creationId xmlns:a16="http://schemas.microsoft.com/office/drawing/2014/main" id="{29867762-ABD7-CC40-7E63-B819E3C692C8}"/>
                </a:ext>
              </a:extLst>
            </p:cNvPr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59" name="Freeform 8">
                <a:extLst>
                  <a:ext uri="{FF2B5EF4-FFF2-40B4-BE49-F238E27FC236}">
                    <a16:creationId xmlns:a16="http://schemas.microsoft.com/office/drawing/2014/main" id="{7C70FADF-E307-0A92-9A76-AA2A20A2C00D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0" name="TextBox 9">
                <a:extLst>
                  <a:ext uri="{FF2B5EF4-FFF2-40B4-BE49-F238E27FC236}">
                    <a16:creationId xmlns:a16="http://schemas.microsoft.com/office/drawing/2014/main" id="{11692D9C-3C53-381D-F3A1-3F5EFE102AA0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56" name="Group 10">
              <a:extLst>
                <a:ext uri="{FF2B5EF4-FFF2-40B4-BE49-F238E27FC236}">
                  <a16:creationId xmlns:a16="http://schemas.microsoft.com/office/drawing/2014/main" id="{2F474822-BEB2-EBEC-7A2F-017173F3CC92}"/>
                </a:ext>
              </a:extLst>
            </p:cNvPr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57" name="Freeform 11">
                <a:extLst>
                  <a:ext uri="{FF2B5EF4-FFF2-40B4-BE49-F238E27FC236}">
                    <a16:creationId xmlns:a16="http://schemas.microsoft.com/office/drawing/2014/main" id="{98FB6128-7B40-96C8-A76A-6673F6DB3B79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58" name="TextBox 12">
                <a:extLst>
                  <a:ext uri="{FF2B5EF4-FFF2-40B4-BE49-F238E27FC236}">
                    <a16:creationId xmlns:a16="http://schemas.microsoft.com/office/drawing/2014/main" id="{20FB272E-47CE-4D63-AC8D-B52F20BC8A7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512" name="スライド番号プレースホルダー 28">
            <a:extLst>
              <a:ext uri="{FF2B5EF4-FFF2-40B4-BE49-F238E27FC236}">
                <a16:creationId xmlns:a16="http://schemas.microsoft.com/office/drawing/2014/main" id="{86641A16-74EF-B03F-FD0C-9EDF72B6C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23863" y="9825038"/>
            <a:ext cx="392112" cy="420687"/>
          </a:xfrm>
        </p:spPr>
        <p:txBody>
          <a:bodyPr/>
          <a:lstStyle/>
          <a:p>
            <a:fld id="{B6F15528-21DE-4FAA-801E-634DDDAF4B2B}" type="slidenum">
              <a:rPr lang="en-US" sz="2400" smtClean="0">
                <a:solidFill>
                  <a:schemeClr val="bg1"/>
                </a:solidFill>
              </a:rPr>
              <a:pPr/>
              <a:t>2</a:t>
            </a:fld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513" name="TextBox 24">
            <a:extLst>
              <a:ext uri="{FF2B5EF4-FFF2-40B4-BE49-F238E27FC236}">
                <a16:creationId xmlns:a16="http://schemas.microsoft.com/office/drawing/2014/main" id="{482A15FD-BC4A-9198-CEDF-1767C02D8C29}"/>
              </a:ext>
            </a:extLst>
          </p:cNvPr>
          <p:cNvSpPr txBox="1"/>
          <p:nvPr/>
        </p:nvSpPr>
        <p:spPr>
          <a:xfrm>
            <a:off x="1806795" y="305043"/>
            <a:ext cx="8255000" cy="700576"/>
          </a:xfrm>
          <a:prstGeom prst="rect">
            <a:avLst/>
          </a:prstGeom>
        </p:spPr>
        <p:txBody>
          <a:bodyPr wrap="square" lIns="0" tIns="0" rIns="0" bIns="0" rtlCol="0" anchor="t">
            <a:normAutofit/>
          </a:bodyPr>
          <a:lstStyle/>
          <a:p>
            <a:pPr algn="l">
              <a:lnSpc>
                <a:spcPts val="5880"/>
              </a:lnSpc>
              <a:spcBef>
                <a:spcPct val="0"/>
              </a:spcBef>
            </a:pPr>
            <a:r>
              <a:rPr lang="ja-JP" altLang="en-US" sz="3000" b="1">
                <a:solidFill>
                  <a:srgbClr val="202020"/>
                </a:solidFill>
                <a:latin typeface="Yu Gothic"/>
                <a:ea typeface="Yu Gothic"/>
                <a:cs typeface="Source Han Sans JP Medium"/>
                <a:sym typeface="Source Han Sans JP Medium"/>
              </a:rPr>
              <a:t>今回の発表内容</a:t>
            </a:r>
            <a:endParaRPr lang="ja-JP" altLang="en-US" sz="3000" b="1" dirty="0">
              <a:solidFill>
                <a:srgbClr val="202020"/>
              </a:solidFill>
              <a:latin typeface="Yu Gothic"/>
              <a:ea typeface="Yu Gothic"/>
              <a:cs typeface="Source Han Sans JP Medium"/>
              <a:sym typeface="Source Han Sans JP Medium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47244F5-E118-40AC-BF88-DDF28BFD2529}"/>
              </a:ext>
            </a:extLst>
          </p:cNvPr>
          <p:cNvSpPr txBox="1"/>
          <p:nvPr/>
        </p:nvSpPr>
        <p:spPr>
          <a:xfrm>
            <a:off x="3708400" y="4457700"/>
            <a:ext cx="1143000" cy="2209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altLang="ja-JP" sz="4400" dirty="0">
                <a:solidFill>
                  <a:srgbClr val="202020"/>
                </a:solidFill>
                <a:latin typeface="Yu Gothic"/>
                <a:ea typeface="Yu Gothic"/>
              </a:rPr>
              <a:t>01
02
03</a:t>
            </a:r>
            <a:endParaRPr lang="ja-JP" altLang="en-US" sz="4400" dirty="0">
              <a:solidFill>
                <a:srgbClr val="202020"/>
              </a:solidFill>
              <a:latin typeface="Yu Gothic"/>
              <a:ea typeface="Yu Gothic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F089934-D289-4A29-82F5-A8B268DA4E80}"/>
              </a:ext>
            </a:extLst>
          </p:cNvPr>
          <p:cNvSpPr txBox="1"/>
          <p:nvPr/>
        </p:nvSpPr>
        <p:spPr>
          <a:xfrm>
            <a:off x="5105400" y="4457700"/>
            <a:ext cx="10795000" cy="228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ja-JP" altLang="en-US" sz="4400" b="1" dirty="0">
                <a:solidFill>
                  <a:srgbClr val="202020"/>
                </a:solidFill>
                <a:latin typeface="Yu Gothic"/>
                <a:ea typeface="Yu Gothic"/>
              </a:rPr>
              <a:t>学習・評価設計と音響選別
回帰・</a:t>
            </a:r>
            <a:r>
              <a:rPr lang="en-US" altLang="ja-JP" sz="4400" b="1" dirty="0">
                <a:solidFill>
                  <a:srgbClr val="202020"/>
                </a:solidFill>
                <a:latin typeface="Yu Gothic"/>
                <a:ea typeface="Yu Gothic"/>
              </a:rPr>
              <a:t>ONB</a:t>
            </a:r>
            <a:r>
              <a:rPr lang="ja-JP" altLang="en-US" sz="4400" b="1" dirty="0">
                <a:solidFill>
                  <a:srgbClr val="202020"/>
                </a:solidFill>
                <a:latin typeface="Yu Gothic"/>
                <a:ea typeface="Yu Gothic"/>
              </a:rPr>
              <a:t>判定と統合の原因
説明性と後期の研究計画</a:t>
            </a:r>
          </a:p>
        </p:txBody>
      </p:sp>
    </p:spTree>
    <p:extLst>
      <p:ext uri="{BB962C8B-B14F-4D97-AF65-F5344CB8AC3E}">
        <p14:creationId xmlns:p14="http://schemas.microsoft.com/office/powerpoint/2010/main" val="32630727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97095-AF12-5A0D-09C9-F7ABC48E7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四角形: 角を丸くする 54">
            <a:extLst>
              <a:ext uri="{FF2B5EF4-FFF2-40B4-BE49-F238E27FC236}">
                <a16:creationId xmlns:a16="http://schemas.microsoft.com/office/drawing/2014/main" id="{E002949A-21AB-4877-874F-7A7E555B18CB}"/>
              </a:ext>
            </a:extLst>
          </p:cNvPr>
          <p:cNvSpPr/>
          <p:nvPr/>
        </p:nvSpPr>
        <p:spPr>
          <a:xfrm>
            <a:off x="9842500" y="6314219"/>
            <a:ext cx="4572000" cy="1905000"/>
          </a:xfrm>
          <a:prstGeom prst="roundRect">
            <a:avLst/>
          </a:prstGeom>
          <a:solidFill>
            <a:srgbClr val="EAF2F2">
              <a:alpha val="93725"/>
            </a:srgbClr>
          </a:solidFill>
          <a:ln w="31750" cap="flat" cmpd="sng" algn="ctr">
            <a:solidFill>
              <a:srgbClr val="68A8A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54" name="四角形: 角を丸くする 53">
            <a:extLst>
              <a:ext uri="{FF2B5EF4-FFF2-40B4-BE49-F238E27FC236}">
                <a16:creationId xmlns:a16="http://schemas.microsoft.com/office/drawing/2014/main" id="{A83EEA3F-4E85-42F6-BE0C-43B09856B411}"/>
              </a:ext>
            </a:extLst>
          </p:cNvPr>
          <p:cNvSpPr/>
          <p:nvPr/>
        </p:nvSpPr>
        <p:spPr>
          <a:xfrm>
            <a:off x="3810000" y="6314219"/>
            <a:ext cx="4572000" cy="1905000"/>
          </a:xfrm>
          <a:prstGeom prst="roundRect">
            <a:avLst/>
          </a:prstGeom>
          <a:solidFill>
            <a:srgbClr val="EAF2F2">
              <a:alpha val="93725"/>
            </a:srgbClr>
          </a:solidFill>
          <a:ln w="31750" cap="flat" cmpd="sng" algn="ctr">
            <a:solidFill>
              <a:srgbClr val="68A8A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53" name="四角形: 角を丸くする 52">
            <a:extLst>
              <a:ext uri="{FF2B5EF4-FFF2-40B4-BE49-F238E27FC236}">
                <a16:creationId xmlns:a16="http://schemas.microsoft.com/office/drawing/2014/main" id="{1F0C9C85-1AAF-4DD7-8C7E-DC43D129C5AC}"/>
              </a:ext>
            </a:extLst>
          </p:cNvPr>
          <p:cNvSpPr/>
          <p:nvPr/>
        </p:nvSpPr>
        <p:spPr>
          <a:xfrm>
            <a:off x="9842500" y="3393219"/>
            <a:ext cx="4572000" cy="1905000"/>
          </a:xfrm>
          <a:prstGeom prst="roundRect">
            <a:avLst/>
          </a:prstGeom>
          <a:solidFill>
            <a:srgbClr val="EAF2F2">
              <a:alpha val="93725"/>
            </a:srgbClr>
          </a:solidFill>
          <a:ln w="31750" cap="flat" cmpd="sng" algn="ctr">
            <a:solidFill>
              <a:srgbClr val="68A8A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52" name="四角形: 角を丸くする 51">
            <a:extLst>
              <a:ext uri="{FF2B5EF4-FFF2-40B4-BE49-F238E27FC236}">
                <a16:creationId xmlns:a16="http://schemas.microsoft.com/office/drawing/2014/main" id="{BEC4BD55-04D1-4B26-8178-40231C7D7E8F}"/>
              </a:ext>
            </a:extLst>
          </p:cNvPr>
          <p:cNvSpPr/>
          <p:nvPr/>
        </p:nvSpPr>
        <p:spPr>
          <a:xfrm>
            <a:off x="3810000" y="3393219"/>
            <a:ext cx="4572000" cy="1905000"/>
          </a:xfrm>
          <a:prstGeom prst="roundRect">
            <a:avLst/>
          </a:prstGeom>
          <a:solidFill>
            <a:srgbClr val="EAF2F2">
              <a:alpha val="93725"/>
            </a:srgbClr>
          </a:solidFill>
          <a:ln w="31750" cap="flat" cmpd="sng" algn="ctr">
            <a:solidFill>
              <a:srgbClr val="68A8A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29" name="スライド番号プレースホルダー 28">
            <a:extLst>
              <a:ext uri="{FF2B5EF4-FFF2-40B4-BE49-F238E27FC236}">
                <a16:creationId xmlns:a16="http://schemas.microsoft.com/office/drawing/2014/main" id="{100212A4-2D93-E42D-F43F-3D865B11C6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024509" y="342900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z="4800" smtClean="0"/>
              <a:pPr/>
              <a:t>3</a:t>
            </a:fld>
            <a:endParaRPr lang="en-US" sz="4800" dirty="0"/>
          </a:p>
        </p:txBody>
      </p: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CE5E0B2F-F763-22C1-3700-7F4CFDF22105}"/>
              </a:ext>
            </a:extLst>
          </p:cNvPr>
          <p:cNvGrpSpPr/>
          <p:nvPr/>
        </p:nvGrpSpPr>
        <p:grpSpPr>
          <a:xfrm>
            <a:off x="270494" y="246431"/>
            <a:ext cx="698205" cy="10040568"/>
            <a:chOff x="270494" y="246431"/>
            <a:chExt cx="698205" cy="10040568"/>
          </a:xfrm>
        </p:grpSpPr>
        <p:pic>
          <p:nvPicPr>
            <p:cNvPr id="28" name="図 27">
              <a:extLst>
                <a:ext uri="{FF2B5EF4-FFF2-40B4-BE49-F238E27FC236}">
                  <a16:creationId xmlns:a16="http://schemas.microsoft.com/office/drawing/2014/main" id="{1B8EB6B3-4219-0C79-A21E-5392593559F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5400000">
              <a:off x="271822" y="245103"/>
              <a:ext cx="695550" cy="698205"/>
            </a:xfrm>
            <a:prstGeom prst="rect">
              <a:avLst/>
            </a:prstGeom>
          </p:spPr>
        </p:pic>
        <p:sp>
          <p:nvSpPr>
            <p:cNvPr id="30" name="テキスト ボックス 29">
              <a:extLst>
                <a:ext uri="{FF2B5EF4-FFF2-40B4-BE49-F238E27FC236}">
                  <a16:creationId xmlns:a16="http://schemas.microsoft.com/office/drawing/2014/main" id="{FEC8B33A-3850-6CCC-9DBD-D99CE1297D12}"/>
                </a:ext>
              </a:extLst>
            </p:cNvPr>
            <p:cNvSpPr txBox="1"/>
            <p:nvPr/>
          </p:nvSpPr>
          <p:spPr>
            <a:xfrm>
              <a:off x="434931" y="1036119"/>
              <a:ext cx="369332" cy="2258787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kumimoji="1" lang="en-US" altLang="ja-JP" sz="1200" dirty="0">
                  <a:latin typeface="Source Han Sans JP" panose="020B0600070205080204" charset="-128"/>
                  <a:ea typeface="Source Han Sans JP" panose="020B0600070205080204" charset="-128"/>
                </a:rPr>
                <a:t>Tokyo University of Science</a:t>
              </a:r>
              <a:endParaRPr kumimoji="1" lang="ja-JP" altLang="en-US" sz="1200" dirty="0">
                <a:latin typeface="Source Han Sans JP" panose="020B0600070205080204" charset="-128"/>
                <a:ea typeface="Source Han Sans JP" panose="020B0600070205080204" charset="-128"/>
              </a:endParaRPr>
            </a:p>
          </p:txBody>
        </p:sp>
        <p:cxnSp>
          <p:nvCxnSpPr>
            <p:cNvPr id="31" name="直線コネクタ 30">
              <a:extLst>
                <a:ext uri="{FF2B5EF4-FFF2-40B4-BE49-F238E27FC236}">
                  <a16:creationId xmlns:a16="http://schemas.microsoft.com/office/drawing/2014/main" id="{1822B7CD-3D84-25E4-FAE7-A724B030373F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" y="3314700"/>
              <a:ext cx="0" cy="6067497"/>
            </a:xfrm>
            <a:prstGeom prst="line">
              <a:avLst/>
            </a:prstGeom>
            <a:ln>
              <a:solidFill>
                <a:srgbClr val="64A4A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フローチャート: 論理積ゲート 31">
              <a:extLst>
                <a:ext uri="{FF2B5EF4-FFF2-40B4-BE49-F238E27FC236}">
                  <a16:creationId xmlns:a16="http://schemas.microsoft.com/office/drawing/2014/main" id="{26FB7247-73F4-FC6B-704A-F91C1DE1A043}"/>
                </a:ext>
              </a:extLst>
            </p:cNvPr>
            <p:cNvSpPr/>
            <p:nvPr/>
          </p:nvSpPr>
          <p:spPr>
            <a:xfrm rot="16200000">
              <a:off x="141940" y="9634201"/>
              <a:ext cx="924597" cy="381000"/>
            </a:xfrm>
            <a:prstGeom prst="flowChartDelay">
              <a:avLst/>
            </a:prstGeom>
            <a:solidFill>
              <a:srgbClr val="64A4A3"/>
            </a:solidFill>
            <a:ln>
              <a:solidFill>
                <a:srgbClr val="64A4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33" name="Group 3">
            <a:extLst>
              <a:ext uri="{FF2B5EF4-FFF2-40B4-BE49-F238E27FC236}">
                <a16:creationId xmlns:a16="http://schemas.microsoft.com/office/drawing/2014/main" id="{6386CD71-55CF-7637-1C85-71D30F14EE9C}"/>
              </a:ext>
            </a:extLst>
          </p:cNvPr>
          <p:cNvGrpSpPr/>
          <p:nvPr/>
        </p:nvGrpSpPr>
        <p:grpSpPr>
          <a:xfrm>
            <a:off x="1371600" y="1069258"/>
            <a:ext cx="16064988" cy="125708"/>
            <a:chOff x="0" y="0"/>
            <a:chExt cx="22021800" cy="190500"/>
          </a:xfrm>
        </p:grpSpPr>
        <p:grpSp>
          <p:nvGrpSpPr>
            <p:cNvPr id="34" name="Group 4">
              <a:extLst>
                <a:ext uri="{FF2B5EF4-FFF2-40B4-BE49-F238E27FC236}">
                  <a16:creationId xmlns:a16="http://schemas.microsoft.com/office/drawing/2014/main" id="{BA8360CB-CB3C-63BA-89C3-98C8234ABC08}"/>
                </a:ext>
              </a:extLst>
            </p:cNvPr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41" name="Freeform 5">
                <a:extLst>
                  <a:ext uri="{FF2B5EF4-FFF2-40B4-BE49-F238E27FC236}">
                    <a16:creationId xmlns:a16="http://schemas.microsoft.com/office/drawing/2014/main" id="{ABDD11FB-9DE8-4416-596D-5D975399CCAF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42" name="TextBox 6">
                <a:extLst>
                  <a:ext uri="{FF2B5EF4-FFF2-40B4-BE49-F238E27FC236}">
                    <a16:creationId xmlns:a16="http://schemas.microsoft.com/office/drawing/2014/main" id="{1DC3491A-DFDB-3889-4EAC-A1D3F71F14A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35" name="Group 7">
              <a:extLst>
                <a:ext uri="{FF2B5EF4-FFF2-40B4-BE49-F238E27FC236}">
                  <a16:creationId xmlns:a16="http://schemas.microsoft.com/office/drawing/2014/main" id="{1372A997-48C4-BE0C-4790-A7FE9E9737A0}"/>
                </a:ext>
              </a:extLst>
            </p:cNvPr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39" name="Freeform 8">
                <a:extLst>
                  <a:ext uri="{FF2B5EF4-FFF2-40B4-BE49-F238E27FC236}">
                    <a16:creationId xmlns:a16="http://schemas.microsoft.com/office/drawing/2014/main" id="{C8AFE3BE-6429-7349-B897-8EA584E83474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40" name="TextBox 9">
                <a:extLst>
                  <a:ext uri="{FF2B5EF4-FFF2-40B4-BE49-F238E27FC236}">
                    <a16:creationId xmlns:a16="http://schemas.microsoft.com/office/drawing/2014/main" id="{7860339D-880B-7B5E-A3B7-53BD6268E88E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36" name="Group 10">
              <a:extLst>
                <a:ext uri="{FF2B5EF4-FFF2-40B4-BE49-F238E27FC236}">
                  <a16:creationId xmlns:a16="http://schemas.microsoft.com/office/drawing/2014/main" id="{4EBF17AC-C77C-794D-1B8F-86F1A3CF92AA}"/>
                </a:ext>
              </a:extLst>
            </p:cNvPr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37" name="Freeform 11">
                <a:extLst>
                  <a:ext uri="{FF2B5EF4-FFF2-40B4-BE49-F238E27FC236}">
                    <a16:creationId xmlns:a16="http://schemas.microsoft.com/office/drawing/2014/main" id="{E47837EC-ADEA-A18E-B40C-355AC095EBC2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38" name="TextBox 12">
                <a:extLst>
                  <a:ext uri="{FF2B5EF4-FFF2-40B4-BE49-F238E27FC236}">
                    <a16:creationId xmlns:a16="http://schemas.microsoft.com/office/drawing/2014/main" id="{63760B9E-661E-BA99-9078-A8547168F8A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43" name="TextBox 24">
            <a:extLst>
              <a:ext uri="{FF2B5EF4-FFF2-40B4-BE49-F238E27FC236}">
                <a16:creationId xmlns:a16="http://schemas.microsoft.com/office/drawing/2014/main" id="{05B0307B-5FEB-41EC-FEC9-58D8111E678E}"/>
              </a:ext>
            </a:extLst>
          </p:cNvPr>
          <p:cNvSpPr txBox="1"/>
          <p:nvPr/>
        </p:nvSpPr>
        <p:spPr>
          <a:xfrm>
            <a:off x="1806795" y="305043"/>
            <a:ext cx="9652000" cy="700576"/>
          </a:xfrm>
          <a:prstGeom prst="rect">
            <a:avLst/>
          </a:prstGeom>
        </p:spPr>
        <p:txBody>
          <a:bodyPr wrap="square" lIns="0" tIns="0" rIns="0" bIns="0" rtlCol="0" anchor="t">
            <a:normAutofit/>
          </a:bodyPr>
          <a:lstStyle/>
          <a:p>
            <a:pPr algn="l">
              <a:lnSpc>
                <a:spcPts val="5880"/>
              </a:lnSpc>
              <a:spcBef>
                <a:spcPct val="0"/>
              </a:spcBef>
            </a:pPr>
            <a:r>
              <a:rPr lang="en-US" altLang="ja-JP" sz="3000" b="1" dirty="0">
                <a:solidFill>
                  <a:srgbClr val="202020"/>
                </a:solidFill>
                <a:latin typeface="Yu Gothic"/>
                <a:ea typeface="Yu Gothic"/>
              </a:rPr>
              <a:t>1. </a:t>
            </a:r>
            <a:r>
              <a:rPr lang="ja-JP" altLang="en-US" sz="3000" b="1" dirty="0">
                <a:solidFill>
                  <a:srgbClr val="202020"/>
                </a:solidFill>
                <a:latin typeface="Yu Gothic"/>
                <a:ea typeface="Yu Gothic"/>
              </a:rPr>
              <a:t>学習・評価設計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978FB1D-66A1-4BFD-BB58-30FB1D86690C}"/>
              </a:ext>
            </a:extLst>
          </p:cNvPr>
          <p:cNvSpPr txBox="1"/>
          <p:nvPr/>
        </p:nvSpPr>
        <p:spPr>
          <a:xfrm>
            <a:off x="1587500" y="1422400"/>
            <a:ext cx="15367000" cy="914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ja-JP" altLang="en-US" sz="3200" b="1" dirty="0">
                <a:solidFill>
                  <a:srgbClr val="222222"/>
                </a:solidFill>
                <a:latin typeface="Yu Gothic"/>
                <a:ea typeface="Yu Gothic"/>
              </a:rPr>
              <a:t>学習・推論時のデータを別日の実験で得た音響データとした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7ADDCCC-4070-4E7B-9350-7E4DB6EDC0E6}"/>
              </a:ext>
            </a:extLst>
          </p:cNvPr>
          <p:cNvSpPr txBox="1"/>
          <p:nvPr/>
        </p:nvSpPr>
        <p:spPr>
          <a:xfrm>
            <a:off x="2667000" y="2748390"/>
            <a:ext cx="22860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ja-JP" altLang="en-US" sz="3200" b="1" dirty="0">
                <a:solidFill>
                  <a:srgbClr val="2F6F73"/>
                </a:solidFill>
                <a:latin typeface="Yu Gothic"/>
                <a:ea typeface="Yu Gothic"/>
              </a:rPr>
              <a:t>例</a:t>
            </a:r>
            <a:r>
              <a:rPr lang="en-US" altLang="ja-JP" sz="3200" b="1" dirty="0">
                <a:solidFill>
                  <a:srgbClr val="2F6F73"/>
                </a:solidFill>
                <a:latin typeface="Yu Gothic"/>
                <a:ea typeface="Yu Gothic"/>
              </a:rPr>
              <a:t>1</a:t>
            </a:r>
            <a:endParaRPr lang="ja-JP" altLang="en-US" sz="3200" b="1" dirty="0">
              <a:solidFill>
                <a:srgbClr val="2F6F73"/>
              </a:solidFill>
              <a:latin typeface="Yu Gothic"/>
              <a:ea typeface="Yu Gothic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0B85E026-F217-4ED1-B920-747F46A6FFE0}"/>
              </a:ext>
            </a:extLst>
          </p:cNvPr>
          <p:cNvSpPr txBox="1"/>
          <p:nvPr/>
        </p:nvSpPr>
        <p:spPr>
          <a:xfrm>
            <a:off x="4724400" y="3869469"/>
            <a:ext cx="2743200" cy="1003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altLang="ja-JP" sz="4000" b="1" dirty="0">
                <a:solidFill>
                  <a:srgbClr val="222222"/>
                </a:solidFill>
                <a:latin typeface="Yu Gothic"/>
                <a:ea typeface="Yu Gothic"/>
              </a:rPr>
              <a:t>6/11 </a:t>
            </a:r>
            <a:r>
              <a:rPr lang="ja-JP" altLang="en-US" sz="4000" b="1" dirty="0">
                <a:solidFill>
                  <a:srgbClr val="222222"/>
                </a:solidFill>
                <a:latin typeface="Yu Gothic"/>
                <a:ea typeface="Yu Gothic"/>
              </a:rPr>
              <a:t>学習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554BF9F-6BBE-46B1-9FF1-4844CAD3867B}"/>
              </a:ext>
            </a:extLst>
          </p:cNvPr>
          <p:cNvSpPr txBox="1"/>
          <p:nvPr/>
        </p:nvSpPr>
        <p:spPr>
          <a:xfrm>
            <a:off x="8763000" y="4028219"/>
            <a:ext cx="8255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ja-JP" altLang="en-US" sz="2500" b="1">
                <a:solidFill>
                  <a:srgbClr val="2F6F73"/>
                </a:solidFill>
                <a:latin typeface="Yu Gothic"/>
                <a:ea typeface="Yu Gothic"/>
              </a:rPr>
              <a:t>→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F64B79B6-5FC4-46EE-9E2B-D4A74F663C63}"/>
              </a:ext>
            </a:extLst>
          </p:cNvPr>
          <p:cNvSpPr txBox="1"/>
          <p:nvPr/>
        </p:nvSpPr>
        <p:spPr>
          <a:xfrm>
            <a:off x="8763000" y="6949219"/>
            <a:ext cx="8255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ja-JP" altLang="en-US" sz="2500" b="1">
                <a:solidFill>
                  <a:srgbClr val="2F6F73"/>
                </a:solidFill>
                <a:latin typeface="Yu Gothic"/>
                <a:ea typeface="Yu Gothic"/>
              </a:rPr>
              <a:t>→</a:t>
            </a: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B513F548-7679-4308-83A6-E037F34F4783}"/>
              </a:ext>
            </a:extLst>
          </p:cNvPr>
          <p:cNvSpPr txBox="1"/>
          <p:nvPr/>
        </p:nvSpPr>
        <p:spPr>
          <a:xfrm>
            <a:off x="1587500" y="9525000"/>
            <a:ext cx="15367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22 kHz</a:t>
            </a:r>
            <a:r>
              <a:rPr lang="ja-JP" altLang="en-US" sz="1100">
                <a:solidFill>
                  <a:srgbClr val="555555"/>
                </a:solidFill>
                <a:latin typeface="Yu Gothic"/>
                <a:ea typeface="Yu Gothic"/>
              </a:rPr>
              <a:t>、無雑音、</a:t>
            </a:r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200 epochs</a:t>
            </a:r>
            <a:r>
              <a:rPr lang="ja-JP" altLang="en-US" sz="1100">
                <a:solidFill>
                  <a:srgbClr val="555555"/>
                </a:solidFill>
                <a:latin typeface="Yu Gothic"/>
                <a:ea typeface="Yu Gothic"/>
              </a:rPr>
              <a:t>、評価は</a:t>
            </a:r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1</a:t>
            </a:r>
            <a:r>
              <a:rPr lang="ja-JP" altLang="en-US" sz="1100">
                <a:solidFill>
                  <a:srgbClr val="555555"/>
                </a:solidFill>
                <a:latin typeface="Yu Gothic"/>
                <a:ea typeface="Yu Gothic"/>
              </a:rPr>
              <a:t>秒単位</a:t>
            </a:r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1080</a:t>
            </a:r>
            <a:r>
              <a:rPr lang="ja-JP" altLang="en-US" sz="1100">
                <a:solidFill>
                  <a:srgbClr val="555555"/>
                </a:solidFill>
                <a:latin typeface="Yu Gothic"/>
                <a:ea typeface="Yu Gothic"/>
              </a:rPr>
              <a:t>秒＝</a:t>
            </a:r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18 WAV</a:t>
            </a:r>
            <a:r>
              <a:rPr lang="ja-JP" altLang="en-US" sz="1100">
                <a:solidFill>
                  <a:srgbClr val="555555"/>
                </a:solidFill>
                <a:latin typeface="Yu Gothic"/>
                <a:ea typeface="Yu Gothic"/>
              </a:rPr>
              <a:t>／方向、各方向</a:t>
            </a:r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1</a:t>
            </a:r>
            <a:r>
              <a:rPr lang="ja-JP" altLang="en-US" sz="1100">
                <a:solidFill>
                  <a:srgbClr val="555555"/>
                </a:solidFill>
                <a:latin typeface="Yu Gothic"/>
                <a:ea typeface="Yu Gothic"/>
              </a:rPr>
              <a:t>評価日</a:t>
            </a:r>
          </a:p>
        </p:txBody>
      </p:sp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B181B652-914B-1355-C997-1350A2852BEB}"/>
              </a:ext>
            </a:extLst>
          </p:cNvPr>
          <p:cNvSpPr txBox="1"/>
          <p:nvPr/>
        </p:nvSpPr>
        <p:spPr>
          <a:xfrm>
            <a:off x="10883900" y="3844069"/>
            <a:ext cx="2743200" cy="1003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altLang="ja-JP" sz="4000" b="1" dirty="0">
                <a:solidFill>
                  <a:srgbClr val="222222"/>
                </a:solidFill>
                <a:latin typeface="Yu Gothic"/>
                <a:ea typeface="Yu Gothic"/>
              </a:rPr>
              <a:t>6/18 </a:t>
            </a:r>
            <a:r>
              <a:rPr lang="ja-JP" altLang="en-US" sz="4000" b="1" dirty="0">
                <a:solidFill>
                  <a:srgbClr val="222222"/>
                </a:solidFill>
                <a:latin typeface="Yu Gothic"/>
                <a:ea typeface="Yu Gothic"/>
              </a:rPr>
              <a:t>評価</a:t>
            </a:r>
          </a:p>
        </p:txBody>
      </p:sp>
      <p:sp>
        <p:nvSpPr>
          <p:cNvPr id="60" name="テキスト ボックス 59">
            <a:extLst>
              <a:ext uri="{FF2B5EF4-FFF2-40B4-BE49-F238E27FC236}">
                <a16:creationId xmlns:a16="http://schemas.microsoft.com/office/drawing/2014/main" id="{E4BB1692-E962-3277-44C7-14D5961A690A}"/>
              </a:ext>
            </a:extLst>
          </p:cNvPr>
          <p:cNvSpPr txBox="1"/>
          <p:nvPr/>
        </p:nvSpPr>
        <p:spPr>
          <a:xfrm>
            <a:off x="4476750" y="6777769"/>
            <a:ext cx="3556000" cy="1003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altLang="ja-JP" sz="4000" b="1" dirty="0">
                <a:solidFill>
                  <a:srgbClr val="222222"/>
                </a:solidFill>
                <a:latin typeface="Yu Gothic"/>
                <a:ea typeface="Yu Gothic"/>
              </a:rPr>
              <a:t>6/11, 18 </a:t>
            </a:r>
            <a:r>
              <a:rPr lang="ja-JP" altLang="en-US" sz="4000" b="1" dirty="0">
                <a:solidFill>
                  <a:srgbClr val="222222"/>
                </a:solidFill>
                <a:latin typeface="Yu Gothic"/>
                <a:ea typeface="Yu Gothic"/>
              </a:rPr>
              <a:t>学習</a:t>
            </a:r>
          </a:p>
        </p:txBody>
      </p:sp>
      <p:sp>
        <p:nvSpPr>
          <p:cNvPr id="62" name="テキスト ボックス 61">
            <a:extLst>
              <a:ext uri="{FF2B5EF4-FFF2-40B4-BE49-F238E27FC236}">
                <a16:creationId xmlns:a16="http://schemas.microsoft.com/office/drawing/2014/main" id="{81DB839E-B7EE-2147-536F-D34B40808EFF}"/>
              </a:ext>
            </a:extLst>
          </p:cNvPr>
          <p:cNvSpPr txBox="1"/>
          <p:nvPr/>
        </p:nvSpPr>
        <p:spPr>
          <a:xfrm>
            <a:off x="10883900" y="6777769"/>
            <a:ext cx="2743200" cy="1003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altLang="ja-JP" sz="4000" b="1" dirty="0">
                <a:solidFill>
                  <a:srgbClr val="222222"/>
                </a:solidFill>
                <a:latin typeface="Yu Gothic"/>
                <a:ea typeface="Yu Gothic"/>
              </a:rPr>
              <a:t>6/11 </a:t>
            </a:r>
            <a:r>
              <a:rPr lang="ja-JP" altLang="en-US" sz="4000" b="1" dirty="0">
                <a:solidFill>
                  <a:srgbClr val="222222"/>
                </a:solidFill>
                <a:latin typeface="Yu Gothic"/>
                <a:ea typeface="Yu Gothic"/>
              </a:rPr>
              <a:t>評価</a:t>
            </a:r>
          </a:p>
        </p:txBody>
      </p:sp>
      <p:sp>
        <p:nvSpPr>
          <p:cNvPr id="64" name="テキスト ボックス 63">
            <a:extLst>
              <a:ext uri="{FF2B5EF4-FFF2-40B4-BE49-F238E27FC236}">
                <a16:creationId xmlns:a16="http://schemas.microsoft.com/office/drawing/2014/main" id="{A0C81755-4436-7350-BC2C-DFE90EDB0F20}"/>
              </a:ext>
            </a:extLst>
          </p:cNvPr>
          <p:cNvSpPr txBox="1"/>
          <p:nvPr/>
        </p:nvSpPr>
        <p:spPr>
          <a:xfrm>
            <a:off x="2667000" y="5730019"/>
            <a:ext cx="22860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ja-JP" altLang="en-US" sz="3200" b="1" dirty="0">
                <a:solidFill>
                  <a:srgbClr val="2F6F73"/>
                </a:solidFill>
                <a:latin typeface="Yu Gothic"/>
                <a:ea typeface="Yu Gothic"/>
              </a:rPr>
              <a:t>例</a:t>
            </a:r>
            <a:r>
              <a:rPr lang="en-US" altLang="ja-JP" sz="3200" b="1" dirty="0">
                <a:solidFill>
                  <a:srgbClr val="2F6F73"/>
                </a:solidFill>
                <a:latin typeface="Yu Gothic"/>
                <a:ea typeface="Yu Gothic"/>
              </a:rPr>
              <a:t>2</a:t>
            </a:r>
            <a:endParaRPr lang="ja-JP" altLang="en-US" sz="3200" b="1" dirty="0">
              <a:solidFill>
                <a:srgbClr val="2F6F73"/>
              </a:solidFill>
              <a:latin typeface="Yu Gothic"/>
              <a:ea typeface="Yu Gothic"/>
            </a:endParaRPr>
          </a:p>
        </p:txBody>
      </p:sp>
    </p:spTree>
    <p:extLst>
      <p:ext uri="{BB962C8B-B14F-4D97-AF65-F5344CB8AC3E}">
        <p14:creationId xmlns:p14="http://schemas.microsoft.com/office/powerpoint/2010/main" val="18332209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11C04D-3962-402F-F1FD-D7A567A5E3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グループ化 56">
            <a:extLst>
              <a:ext uri="{FF2B5EF4-FFF2-40B4-BE49-F238E27FC236}">
                <a16:creationId xmlns:a16="http://schemas.microsoft.com/office/drawing/2014/main" id="{E619D498-DBD6-0784-0BDB-ED7BA8D54BC7}"/>
              </a:ext>
            </a:extLst>
          </p:cNvPr>
          <p:cNvGrpSpPr/>
          <p:nvPr/>
        </p:nvGrpSpPr>
        <p:grpSpPr>
          <a:xfrm>
            <a:off x="270494" y="246431"/>
            <a:ext cx="698205" cy="10040568"/>
            <a:chOff x="270494" y="246431"/>
            <a:chExt cx="698205" cy="10040568"/>
          </a:xfrm>
        </p:grpSpPr>
        <p:pic>
          <p:nvPicPr>
            <p:cNvPr id="58" name="図 57">
              <a:extLst>
                <a:ext uri="{FF2B5EF4-FFF2-40B4-BE49-F238E27FC236}">
                  <a16:creationId xmlns:a16="http://schemas.microsoft.com/office/drawing/2014/main" id="{52960E3F-5A9B-2825-2223-1B867FC9814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5400000">
              <a:off x="271822" y="245103"/>
              <a:ext cx="695550" cy="698205"/>
            </a:xfrm>
            <a:prstGeom prst="rect">
              <a:avLst/>
            </a:prstGeom>
          </p:spPr>
        </p:pic>
        <p:sp>
          <p:nvSpPr>
            <p:cNvPr id="59" name="テキスト ボックス 58">
              <a:extLst>
                <a:ext uri="{FF2B5EF4-FFF2-40B4-BE49-F238E27FC236}">
                  <a16:creationId xmlns:a16="http://schemas.microsoft.com/office/drawing/2014/main" id="{2DD7D1B6-C3C8-7C54-FA18-205D1B151753}"/>
                </a:ext>
              </a:extLst>
            </p:cNvPr>
            <p:cNvSpPr txBox="1"/>
            <p:nvPr/>
          </p:nvSpPr>
          <p:spPr>
            <a:xfrm>
              <a:off x="434931" y="1036119"/>
              <a:ext cx="369332" cy="2258787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kumimoji="1" lang="en-US" altLang="ja-JP" sz="1200" dirty="0">
                  <a:latin typeface="Source Han Sans JP" panose="020B0600070205080204" charset="-128"/>
                  <a:ea typeface="Source Han Sans JP" panose="020B0600070205080204" charset="-128"/>
                </a:rPr>
                <a:t>Tokyo University of Science</a:t>
              </a:r>
              <a:endParaRPr kumimoji="1" lang="ja-JP" altLang="en-US" sz="1200" dirty="0">
                <a:latin typeface="Source Han Sans JP" panose="020B0600070205080204" charset="-128"/>
                <a:ea typeface="Source Han Sans JP" panose="020B0600070205080204" charset="-128"/>
              </a:endParaRPr>
            </a:p>
          </p:txBody>
        </p:sp>
        <p:cxnSp>
          <p:nvCxnSpPr>
            <p:cNvPr id="60" name="直線コネクタ 59">
              <a:extLst>
                <a:ext uri="{FF2B5EF4-FFF2-40B4-BE49-F238E27FC236}">
                  <a16:creationId xmlns:a16="http://schemas.microsoft.com/office/drawing/2014/main" id="{31871A78-2B56-BE29-D884-226FCEE2A36B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" y="3314700"/>
              <a:ext cx="0" cy="6067497"/>
            </a:xfrm>
            <a:prstGeom prst="line">
              <a:avLst/>
            </a:prstGeom>
            <a:ln>
              <a:solidFill>
                <a:srgbClr val="64A4A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フローチャート: 論理積ゲート 60">
              <a:extLst>
                <a:ext uri="{FF2B5EF4-FFF2-40B4-BE49-F238E27FC236}">
                  <a16:creationId xmlns:a16="http://schemas.microsoft.com/office/drawing/2014/main" id="{745395BE-D6A1-43E4-B0BF-5B24F5616143}"/>
                </a:ext>
              </a:extLst>
            </p:cNvPr>
            <p:cNvSpPr/>
            <p:nvPr/>
          </p:nvSpPr>
          <p:spPr>
            <a:xfrm rot="16200000">
              <a:off x="141940" y="9634201"/>
              <a:ext cx="924597" cy="381000"/>
            </a:xfrm>
            <a:prstGeom prst="flowChartDelay">
              <a:avLst/>
            </a:prstGeom>
            <a:solidFill>
              <a:srgbClr val="64A4A3"/>
            </a:solidFill>
            <a:ln>
              <a:solidFill>
                <a:srgbClr val="64A4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62" name="Group 3">
            <a:extLst>
              <a:ext uri="{FF2B5EF4-FFF2-40B4-BE49-F238E27FC236}">
                <a16:creationId xmlns:a16="http://schemas.microsoft.com/office/drawing/2014/main" id="{8A46ADEE-0A86-5B5C-61AF-D5EBA9F2EA67}"/>
              </a:ext>
            </a:extLst>
          </p:cNvPr>
          <p:cNvGrpSpPr/>
          <p:nvPr/>
        </p:nvGrpSpPr>
        <p:grpSpPr>
          <a:xfrm>
            <a:off x="1371600" y="1069258"/>
            <a:ext cx="16064988" cy="125708"/>
            <a:chOff x="0" y="0"/>
            <a:chExt cx="22021800" cy="190500"/>
          </a:xfrm>
        </p:grpSpPr>
        <p:grpSp>
          <p:nvGrpSpPr>
            <p:cNvPr id="63" name="Group 4">
              <a:extLst>
                <a:ext uri="{FF2B5EF4-FFF2-40B4-BE49-F238E27FC236}">
                  <a16:creationId xmlns:a16="http://schemas.microsoft.com/office/drawing/2014/main" id="{CB2FBAFE-310E-329B-9ED4-4BDBC6EE535D}"/>
                </a:ext>
              </a:extLst>
            </p:cNvPr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70" name="Freeform 5">
                <a:extLst>
                  <a:ext uri="{FF2B5EF4-FFF2-40B4-BE49-F238E27FC236}">
                    <a16:creationId xmlns:a16="http://schemas.microsoft.com/office/drawing/2014/main" id="{E3602D07-EE1F-3072-3249-36421FD853C2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71" name="TextBox 6">
                <a:extLst>
                  <a:ext uri="{FF2B5EF4-FFF2-40B4-BE49-F238E27FC236}">
                    <a16:creationId xmlns:a16="http://schemas.microsoft.com/office/drawing/2014/main" id="{4AE11EC1-B660-7D09-AAE8-D7555BB4EA9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64" name="Group 7">
              <a:extLst>
                <a:ext uri="{FF2B5EF4-FFF2-40B4-BE49-F238E27FC236}">
                  <a16:creationId xmlns:a16="http://schemas.microsoft.com/office/drawing/2014/main" id="{2CF558ED-826B-41F1-048D-CDB7AFF7A30D}"/>
                </a:ext>
              </a:extLst>
            </p:cNvPr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68" name="Freeform 8">
                <a:extLst>
                  <a:ext uri="{FF2B5EF4-FFF2-40B4-BE49-F238E27FC236}">
                    <a16:creationId xmlns:a16="http://schemas.microsoft.com/office/drawing/2014/main" id="{480EDD19-B6D3-EA2D-EF05-CBF220D03EFA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9" name="TextBox 9">
                <a:extLst>
                  <a:ext uri="{FF2B5EF4-FFF2-40B4-BE49-F238E27FC236}">
                    <a16:creationId xmlns:a16="http://schemas.microsoft.com/office/drawing/2014/main" id="{EF577D8E-7E41-D347-EC63-F426994FD731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65" name="Group 10">
              <a:extLst>
                <a:ext uri="{FF2B5EF4-FFF2-40B4-BE49-F238E27FC236}">
                  <a16:creationId xmlns:a16="http://schemas.microsoft.com/office/drawing/2014/main" id="{54FD14E3-7606-F032-10D0-C1A62A277B00}"/>
                </a:ext>
              </a:extLst>
            </p:cNvPr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66" name="Freeform 11">
                <a:extLst>
                  <a:ext uri="{FF2B5EF4-FFF2-40B4-BE49-F238E27FC236}">
                    <a16:creationId xmlns:a16="http://schemas.microsoft.com/office/drawing/2014/main" id="{00618396-4050-1DE8-F136-8B6BCA1B7780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7" name="TextBox 12">
                <a:extLst>
                  <a:ext uri="{FF2B5EF4-FFF2-40B4-BE49-F238E27FC236}">
                    <a16:creationId xmlns:a16="http://schemas.microsoft.com/office/drawing/2014/main" id="{23C6D6F7-39FF-28E5-B432-9C9C2CB0215E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72" name="スライド番号プレースホルダー 28">
            <a:extLst>
              <a:ext uri="{FF2B5EF4-FFF2-40B4-BE49-F238E27FC236}">
                <a16:creationId xmlns:a16="http://schemas.microsoft.com/office/drawing/2014/main" id="{D8693FEA-9388-F51A-A629-471D6184CD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70494" y="9748987"/>
            <a:ext cx="599456" cy="462299"/>
          </a:xfrm>
        </p:spPr>
        <p:txBody>
          <a:bodyPr/>
          <a:lstStyle/>
          <a:p>
            <a:fld id="{B6F15528-21DE-4FAA-801E-634DDDAF4B2B}" type="slidenum">
              <a:rPr lang="en-US" sz="2400" smtClean="0">
                <a:solidFill>
                  <a:schemeClr val="bg1"/>
                </a:solidFill>
              </a:rPr>
              <a:pPr/>
              <a:t>4</a:t>
            </a:fld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73" name="TextBox 24">
            <a:extLst>
              <a:ext uri="{FF2B5EF4-FFF2-40B4-BE49-F238E27FC236}">
                <a16:creationId xmlns:a16="http://schemas.microsoft.com/office/drawing/2014/main" id="{3803B00A-CF69-AFAA-44F0-30E03BC53203}"/>
              </a:ext>
            </a:extLst>
          </p:cNvPr>
          <p:cNvSpPr txBox="1"/>
          <p:nvPr/>
        </p:nvSpPr>
        <p:spPr>
          <a:xfrm>
            <a:off x="1806795" y="305043"/>
            <a:ext cx="9652000" cy="700576"/>
          </a:xfrm>
          <a:prstGeom prst="rect">
            <a:avLst/>
          </a:prstGeom>
        </p:spPr>
        <p:txBody>
          <a:bodyPr wrap="square" lIns="0" tIns="0" rIns="0" bIns="0" rtlCol="0" anchor="t">
            <a:normAutofit/>
          </a:bodyPr>
          <a:lstStyle/>
          <a:p>
            <a:pPr algn="l">
              <a:lnSpc>
                <a:spcPts val="5880"/>
              </a:lnSpc>
              <a:spcBef>
                <a:spcPct val="0"/>
              </a:spcBef>
            </a:pPr>
            <a:r>
              <a:rPr lang="en-US" altLang="ja-JP" sz="3000" b="1" dirty="0">
                <a:solidFill>
                  <a:srgbClr val="202020"/>
                </a:solidFill>
                <a:latin typeface="Yu Gothic"/>
                <a:ea typeface="Yu Gothic"/>
              </a:rPr>
              <a:t>1. </a:t>
            </a:r>
            <a:r>
              <a:rPr lang="ja-JP" altLang="en-US" sz="3000" b="1" dirty="0">
                <a:solidFill>
                  <a:srgbClr val="202020"/>
                </a:solidFill>
                <a:latin typeface="Yu Gothic"/>
                <a:ea typeface="Yu Gothic"/>
              </a:rPr>
              <a:t>音響選別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8DA16AE-B149-4034-9E2F-689479321540}"/>
              </a:ext>
            </a:extLst>
          </p:cNvPr>
          <p:cNvSpPr txBox="1"/>
          <p:nvPr/>
        </p:nvSpPr>
        <p:spPr>
          <a:xfrm>
            <a:off x="1587500" y="1422400"/>
            <a:ext cx="15367000" cy="914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sz="3200" b="1" dirty="0">
                <a:solidFill>
                  <a:srgbClr val="222222"/>
                </a:solidFill>
                <a:latin typeface="Yu Gothic"/>
                <a:ea typeface="Yu Gothic"/>
              </a:rPr>
              <a:t>ONB</a:t>
            </a:r>
            <a:r>
              <a:rPr lang="ja-JP" altLang="en-US" sz="3200" b="1" dirty="0">
                <a:solidFill>
                  <a:srgbClr val="222222"/>
                </a:solidFill>
                <a:latin typeface="Yu Gothic"/>
                <a:ea typeface="Yu Gothic"/>
              </a:rPr>
              <a:t>直後からそれ以降である閾値を超えたもののみ沸騰データとした</a:t>
            </a:r>
          </a:p>
        </p:txBody>
      </p:sp>
      <p:pic>
        <p:nvPicPr>
          <p:cNvPr id="17" name="図 16">
            <a:extLst>
              <a:ext uri="{FF2B5EF4-FFF2-40B4-BE49-F238E27FC236}">
                <a16:creationId xmlns:a16="http://schemas.microsoft.com/office/drawing/2014/main" id="{F22E292A-381C-AB26-BDC0-659009DECC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0200" y="3467100"/>
            <a:ext cx="6134100" cy="6134100"/>
          </a:xfrm>
          <a:prstGeom prst="rect">
            <a:avLst/>
          </a:prstGeom>
        </p:spPr>
      </p:pic>
      <p:pic>
        <p:nvPicPr>
          <p:cNvPr id="19" name="図 18">
            <a:extLst>
              <a:ext uri="{FF2B5EF4-FFF2-40B4-BE49-F238E27FC236}">
                <a16:creationId xmlns:a16="http://schemas.microsoft.com/office/drawing/2014/main" id="{7CE22C5B-5AA9-C2B3-0F74-610F4BE290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77230" y="3467100"/>
            <a:ext cx="6134101" cy="6134101"/>
          </a:xfrm>
          <a:prstGeom prst="rect">
            <a:avLst/>
          </a:prstGeom>
        </p:spPr>
      </p:pic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1F2E4B92-37E1-7728-5C05-1491C61A7C2C}"/>
              </a:ext>
            </a:extLst>
          </p:cNvPr>
          <p:cNvSpPr txBox="1"/>
          <p:nvPr/>
        </p:nvSpPr>
        <p:spPr>
          <a:xfrm>
            <a:off x="3242919" y="2552638"/>
            <a:ext cx="3919881" cy="1003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ja-JP" altLang="en-US" sz="4000" b="1" dirty="0">
                <a:solidFill>
                  <a:srgbClr val="222222"/>
                </a:solidFill>
                <a:latin typeface="Yu Gothic"/>
                <a:ea typeface="Yu Gothic"/>
              </a:rPr>
              <a:t>沸騰データ</a:t>
            </a:r>
          </a:p>
        </p:txBody>
      </p:sp>
      <p:sp>
        <p:nvSpPr>
          <p:cNvPr id="43" name="テキスト ボックス 42">
            <a:extLst>
              <a:ext uri="{FF2B5EF4-FFF2-40B4-BE49-F238E27FC236}">
                <a16:creationId xmlns:a16="http://schemas.microsoft.com/office/drawing/2014/main" id="{70D5BE68-13FE-90BB-8842-9738C0C64C6D}"/>
              </a:ext>
            </a:extLst>
          </p:cNvPr>
          <p:cNvSpPr txBox="1"/>
          <p:nvPr/>
        </p:nvSpPr>
        <p:spPr>
          <a:xfrm>
            <a:off x="11619943" y="2552638"/>
            <a:ext cx="3919887" cy="1003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ja-JP" altLang="en-US" sz="4000" b="1" dirty="0">
                <a:solidFill>
                  <a:srgbClr val="222222"/>
                </a:solidFill>
                <a:latin typeface="Yu Gothic"/>
                <a:ea typeface="Yu Gothic"/>
              </a:rPr>
              <a:t>未沸騰データ</a:t>
            </a:r>
          </a:p>
        </p:txBody>
      </p:sp>
      <p:cxnSp>
        <p:nvCxnSpPr>
          <p:cNvPr id="45" name="直線コネクタ 44">
            <a:extLst>
              <a:ext uri="{FF2B5EF4-FFF2-40B4-BE49-F238E27FC236}">
                <a16:creationId xmlns:a16="http://schemas.microsoft.com/office/drawing/2014/main" id="{1AF97035-4D99-BA25-AF7B-C1348DF8A0D7}"/>
              </a:ext>
            </a:extLst>
          </p:cNvPr>
          <p:cNvCxnSpPr/>
          <p:nvPr/>
        </p:nvCxnSpPr>
        <p:spPr>
          <a:xfrm>
            <a:off x="13130689" y="6134100"/>
            <a:ext cx="2819400" cy="0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線コネクタ 45">
            <a:extLst>
              <a:ext uri="{FF2B5EF4-FFF2-40B4-BE49-F238E27FC236}">
                <a16:creationId xmlns:a16="http://schemas.microsoft.com/office/drawing/2014/main" id="{0B72ADD5-987B-A7A0-1C4A-996977EB5195}"/>
              </a:ext>
            </a:extLst>
          </p:cNvPr>
          <p:cNvCxnSpPr/>
          <p:nvPr/>
        </p:nvCxnSpPr>
        <p:spPr>
          <a:xfrm>
            <a:off x="4712937" y="8953500"/>
            <a:ext cx="2819400" cy="0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96" name="グループ化 895">
            <a:extLst>
              <a:ext uri="{FF2B5EF4-FFF2-40B4-BE49-F238E27FC236}">
                <a16:creationId xmlns:a16="http://schemas.microsoft.com/office/drawing/2014/main" id="{6B1355A5-0A3C-17B4-0C29-7B8C20838DA7}"/>
              </a:ext>
            </a:extLst>
          </p:cNvPr>
          <p:cNvGrpSpPr/>
          <p:nvPr/>
        </p:nvGrpSpPr>
        <p:grpSpPr>
          <a:xfrm>
            <a:off x="6438899" y="5626131"/>
            <a:ext cx="4572000" cy="1168338"/>
            <a:chOff x="14856229" y="1384300"/>
            <a:chExt cx="4572000" cy="1168338"/>
          </a:xfrm>
        </p:grpSpPr>
        <p:sp>
          <p:nvSpPr>
            <p:cNvPr id="56" name="四角形: 角を丸くする 55">
              <a:extLst>
                <a:ext uri="{FF2B5EF4-FFF2-40B4-BE49-F238E27FC236}">
                  <a16:creationId xmlns:a16="http://schemas.microsoft.com/office/drawing/2014/main" id="{B5B5855F-C5FF-82B2-C002-36E0662EB174}"/>
                </a:ext>
              </a:extLst>
            </p:cNvPr>
            <p:cNvSpPr/>
            <p:nvPr/>
          </p:nvSpPr>
          <p:spPr>
            <a:xfrm>
              <a:off x="14856229" y="1384300"/>
              <a:ext cx="4572000" cy="1168338"/>
            </a:xfrm>
            <a:prstGeom prst="roundRect">
              <a:avLst/>
            </a:prstGeom>
            <a:solidFill>
              <a:srgbClr val="EAF2F2">
                <a:alpha val="93725"/>
              </a:srgbClr>
            </a:solidFill>
            <a:ln w="31750" cap="flat" cmpd="sng" algn="ctr">
              <a:solidFill>
                <a:srgbClr val="68A8A8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ctr"/>
              <a:endParaRPr kumimoji="1" lang="ja-JP" altLang="en-US"/>
            </a:p>
          </p:txBody>
        </p:sp>
        <p:sp>
          <p:nvSpPr>
            <p:cNvPr id="50" name="テキスト ボックス 49">
              <a:extLst>
                <a:ext uri="{FF2B5EF4-FFF2-40B4-BE49-F238E27FC236}">
                  <a16:creationId xmlns:a16="http://schemas.microsoft.com/office/drawing/2014/main" id="{25E6EDEE-14C6-8A14-3656-AB3F1907674B}"/>
                </a:ext>
              </a:extLst>
            </p:cNvPr>
            <p:cNvSpPr txBox="1"/>
            <p:nvPr/>
          </p:nvSpPr>
          <p:spPr>
            <a:xfrm>
              <a:off x="15201899" y="1511300"/>
              <a:ext cx="3919887" cy="10033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ctr" anchorCtr="0">
              <a:noAutofit/>
            </a:bodyPr>
            <a:lstStyle/>
            <a:p>
              <a:pPr algn="l"/>
              <a:r>
                <a:rPr lang="ja-JP" altLang="en-US" sz="4000" b="1" dirty="0">
                  <a:solidFill>
                    <a:srgbClr val="FF0000"/>
                  </a:solidFill>
                  <a:latin typeface="Yu Gothic"/>
                  <a:ea typeface="Yu Gothic"/>
                </a:rPr>
                <a:t>閾値：</a:t>
              </a:r>
              <a:r>
                <a:rPr lang="en-US" altLang="ja-JP" sz="4000" b="1" dirty="0">
                  <a:solidFill>
                    <a:srgbClr val="FF0000"/>
                  </a:solidFill>
                  <a:latin typeface="Yu Gothic"/>
                  <a:ea typeface="Yu Gothic"/>
                </a:rPr>
                <a:t>1×10^-9</a:t>
              </a:r>
              <a:endParaRPr lang="ja-JP" altLang="en-US" sz="4000" b="1" dirty="0">
                <a:solidFill>
                  <a:srgbClr val="FF0000"/>
                </a:solidFill>
                <a:latin typeface="Yu Gothic"/>
                <a:ea typeface="Yu Gothic"/>
              </a:endParaRPr>
            </a:p>
          </p:txBody>
        </p:sp>
      </p:grp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006CD1A6-F35E-F318-9B3A-89727EB2B79E}"/>
              </a:ext>
            </a:extLst>
          </p:cNvPr>
          <p:cNvSpPr txBox="1"/>
          <p:nvPr/>
        </p:nvSpPr>
        <p:spPr>
          <a:xfrm>
            <a:off x="942031" y="3055945"/>
            <a:ext cx="1705661" cy="1003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altLang="ja-JP" sz="3200" b="1" dirty="0">
                <a:solidFill>
                  <a:srgbClr val="222222"/>
                </a:solidFill>
                <a:latin typeface="Yu Gothic"/>
                <a:ea typeface="Yu Gothic"/>
              </a:rPr>
              <a:t>×10^-8</a:t>
            </a:r>
            <a:endParaRPr lang="ja-JP" altLang="en-US" sz="3200" b="1" dirty="0">
              <a:solidFill>
                <a:srgbClr val="222222"/>
              </a:solidFill>
              <a:latin typeface="Yu Gothic"/>
              <a:ea typeface="Yu Gothic"/>
            </a:endParaRPr>
          </a:p>
        </p:txBody>
      </p: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A831A7DF-0C00-4926-1730-BE2F23A0AA15}"/>
              </a:ext>
            </a:extLst>
          </p:cNvPr>
          <p:cNvSpPr txBox="1"/>
          <p:nvPr/>
        </p:nvSpPr>
        <p:spPr>
          <a:xfrm>
            <a:off x="9372600" y="3080048"/>
            <a:ext cx="1705661" cy="1003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altLang="ja-JP" sz="3200" b="1" dirty="0">
                <a:solidFill>
                  <a:srgbClr val="222222"/>
                </a:solidFill>
                <a:latin typeface="Yu Gothic"/>
                <a:ea typeface="Yu Gothic"/>
              </a:rPr>
              <a:t>×10^-9</a:t>
            </a:r>
            <a:endParaRPr lang="ja-JP" altLang="en-US" sz="3200" b="1" dirty="0">
              <a:solidFill>
                <a:srgbClr val="222222"/>
              </a:solidFill>
              <a:latin typeface="Yu Gothic"/>
              <a:ea typeface="Yu Gothic"/>
            </a:endParaRPr>
          </a:p>
        </p:txBody>
      </p:sp>
    </p:spTree>
    <p:extLst>
      <p:ext uri="{BB962C8B-B14F-4D97-AF65-F5344CB8AC3E}">
        <p14:creationId xmlns:p14="http://schemas.microsoft.com/office/powerpoint/2010/main" val="24123925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882ED-91FB-1FFD-EED9-E2CCF1CB38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0CA99C03-A56B-48F7-984C-B49FA6149384}"/>
              </a:ext>
            </a:extLst>
          </p:cNvPr>
          <p:cNvSpPr/>
          <p:nvPr/>
        </p:nvSpPr>
        <p:spPr>
          <a:xfrm>
            <a:off x="13208000" y="6731000"/>
            <a:ext cx="3619500" cy="1524000"/>
          </a:xfrm>
          <a:prstGeom prst="roundRect">
            <a:avLst/>
          </a:prstGeom>
          <a:solidFill>
            <a:srgbClr val="EAF2F2">
              <a:alpha val="93725"/>
            </a:srgbClr>
          </a:solidFill>
          <a:ln w="31750" cap="flat" cmpd="sng" algn="ctr">
            <a:solidFill>
              <a:srgbClr val="68A8A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4CC4D70F-36BF-479C-8EE4-2FCB78FF266D}"/>
              </a:ext>
            </a:extLst>
          </p:cNvPr>
          <p:cNvSpPr/>
          <p:nvPr/>
        </p:nvSpPr>
        <p:spPr>
          <a:xfrm>
            <a:off x="13208000" y="3111500"/>
            <a:ext cx="3619500" cy="3175000"/>
          </a:xfrm>
          <a:prstGeom prst="roundRect">
            <a:avLst/>
          </a:prstGeom>
          <a:solidFill>
            <a:srgbClr val="EAF2F2">
              <a:alpha val="93725"/>
            </a:srgbClr>
          </a:solidFill>
          <a:ln w="31750" cap="flat" cmpd="sng" algn="ctr">
            <a:solidFill>
              <a:srgbClr val="68A8A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grpSp>
        <p:nvGrpSpPr>
          <p:cNvPr id="57" name="グループ化 56">
            <a:extLst>
              <a:ext uri="{FF2B5EF4-FFF2-40B4-BE49-F238E27FC236}">
                <a16:creationId xmlns:a16="http://schemas.microsoft.com/office/drawing/2014/main" id="{75BFE32B-F018-C4E4-FAB7-80C0D2CDC22E}"/>
              </a:ext>
            </a:extLst>
          </p:cNvPr>
          <p:cNvGrpSpPr/>
          <p:nvPr/>
        </p:nvGrpSpPr>
        <p:grpSpPr>
          <a:xfrm>
            <a:off x="270494" y="246431"/>
            <a:ext cx="698205" cy="10040568"/>
            <a:chOff x="270494" y="246431"/>
            <a:chExt cx="698205" cy="10040568"/>
          </a:xfrm>
        </p:grpSpPr>
        <p:pic>
          <p:nvPicPr>
            <p:cNvPr id="58" name="図 57">
              <a:extLst>
                <a:ext uri="{FF2B5EF4-FFF2-40B4-BE49-F238E27FC236}">
                  <a16:creationId xmlns:a16="http://schemas.microsoft.com/office/drawing/2014/main" id="{1226A433-2043-B47F-E0E8-72C7A0748C7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5400000">
              <a:off x="271822" y="245103"/>
              <a:ext cx="695550" cy="698205"/>
            </a:xfrm>
            <a:prstGeom prst="rect">
              <a:avLst/>
            </a:prstGeom>
          </p:spPr>
        </p:pic>
        <p:sp>
          <p:nvSpPr>
            <p:cNvPr id="59" name="テキスト ボックス 58">
              <a:extLst>
                <a:ext uri="{FF2B5EF4-FFF2-40B4-BE49-F238E27FC236}">
                  <a16:creationId xmlns:a16="http://schemas.microsoft.com/office/drawing/2014/main" id="{F53AD6DF-8ABC-58C4-0BDA-981F712C6600}"/>
                </a:ext>
              </a:extLst>
            </p:cNvPr>
            <p:cNvSpPr txBox="1"/>
            <p:nvPr/>
          </p:nvSpPr>
          <p:spPr>
            <a:xfrm>
              <a:off x="434931" y="1036119"/>
              <a:ext cx="369332" cy="2258787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kumimoji="1" lang="en-US" altLang="ja-JP" sz="1200" dirty="0">
                  <a:latin typeface="Source Han Sans JP" panose="020B0600070205080204" charset="-128"/>
                  <a:ea typeface="Source Han Sans JP" panose="020B0600070205080204" charset="-128"/>
                </a:rPr>
                <a:t>Tokyo University of Science</a:t>
              </a:r>
              <a:endParaRPr kumimoji="1" lang="ja-JP" altLang="en-US" sz="1200" dirty="0">
                <a:latin typeface="Source Han Sans JP" panose="020B0600070205080204" charset="-128"/>
                <a:ea typeface="Source Han Sans JP" panose="020B0600070205080204" charset="-128"/>
              </a:endParaRPr>
            </a:p>
          </p:txBody>
        </p:sp>
        <p:cxnSp>
          <p:nvCxnSpPr>
            <p:cNvPr id="60" name="直線コネクタ 59">
              <a:extLst>
                <a:ext uri="{FF2B5EF4-FFF2-40B4-BE49-F238E27FC236}">
                  <a16:creationId xmlns:a16="http://schemas.microsoft.com/office/drawing/2014/main" id="{583BFE6C-617D-A3DC-D51E-18A6133895AB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" y="3314700"/>
              <a:ext cx="0" cy="6067497"/>
            </a:xfrm>
            <a:prstGeom prst="line">
              <a:avLst/>
            </a:prstGeom>
            <a:ln>
              <a:solidFill>
                <a:srgbClr val="64A4A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フローチャート: 論理積ゲート 60">
              <a:extLst>
                <a:ext uri="{FF2B5EF4-FFF2-40B4-BE49-F238E27FC236}">
                  <a16:creationId xmlns:a16="http://schemas.microsoft.com/office/drawing/2014/main" id="{63EE0EEB-3C48-D4D2-9411-176CDF6BB0D2}"/>
                </a:ext>
              </a:extLst>
            </p:cNvPr>
            <p:cNvSpPr/>
            <p:nvPr/>
          </p:nvSpPr>
          <p:spPr>
            <a:xfrm rot="16200000">
              <a:off x="141940" y="9634201"/>
              <a:ext cx="924597" cy="381000"/>
            </a:xfrm>
            <a:prstGeom prst="flowChartDelay">
              <a:avLst/>
            </a:prstGeom>
            <a:solidFill>
              <a:srgbClr val="64A4A3"/>
            </a:solidFill>
            <a:ln>
              <a:solidFill>
                <a:srgbClr val="64A4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62" name="Group 3">
            <a:extLst>
              <a:ext uri="{FF2B5EF4-FFF2-40B4-BE49-F238E27FC236}">
                <a16:creationId xmlns:a16="http://schemas.microsoft.com/office/drawing/2014/main" id="{66CE81F5-9908-5CB9-4AC3-1FCBE2FF3FAA}"/>
              </a:ext>
            </a:extLst>
          </p:cNvPr>
          <p:cNvGrpSpPr/>
          <p:nvPr/>
        </p:nvGrpSpPr>
        <p:grpSpPr>
          <a:xfrm>
            <a:off x="1371600" y="1069258"/>
            <a:ext cx="16064988" cy="125708"/>
            <a:chOff x="0" y="0"/>
            <a:chExt cx="22021800" cy="190500"/>
          </a:xfrm>
        </p:grpSpPr>
        <p:grpSp>
          <p:nvGrpSpPr>
            <p:cNvPr id="63" name="Group 4">
              <a:extLst>
                <a:ext uri="{FF2B5EF4-FFF2-40B4-BE49-F238E27FC236}">
                  <a16:creationId xmlns:a16="http://schemas.microsoft.com/office/drawing/2014/main" id="{F18484CA-1C82-F32C-E492-71BB690B31BD}"/>
                </a:ext>
              </a:extLst>
            </p:cNvPr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70" name="Freeform 5">
                <a:extLst>
                  <a:ext uri="{FF2B5EF4-FFF2-40B4-BE49-F238E27FC236}">
                    <a16:creationId xmlns:a16="http://schemas.microsoft.com/office/drawing/2014/main" id="{99894FA7-D161-F806-1A5F-52AABFBB0842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71" name="TextBox 6">
                <a:extLst>
                  <a:ext uri="{FF2B5EF4-FFF2-40B4-BE49-F238E27FC236}">
                    <a16:creationId xmlns:a16="http://schemas.microsoft.com/office/drawing/2014/main" id="{72556C4C-3473-3018-70C4-085FA6F987B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64" name="Group 7">
              <a:extLst>
                <a:ext uri="{FF2B5EF4-FFF2-40B4-BE49-F238E27FC236}">
                  <a16:creationId xmlns:a16="http://schemas.microsoft.com/office/drawing/2014/main" id="{F7A34761-E638-B2A2-9E72-32563CB39D5B}"/>
                </a:ext>
              </a:extLst>
            </p:cNvPr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68" name="Freeform 8">
                <a:extLst>
                  <a:ext uri="{FF2B5EF4-FFF2-40B4-BE49-F238E27FC236}">
                    <a16:creationId xmlns:a16="http://schemas.microsoft.com/office/drawing/2014/main" id="{66779A7D-5ECB-D310-B556-EC0E21709BC4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9" name="TextBox 9">
                <a:extLst>
                  <a:ext uri="{FF2B5EF4-FFF2-40B4-BE49-F238E27FC236}">
                    <a16:creationId xmlns:a16="http://schemas.microsoft.com/office/drawing/2014/main" id="{96F89EAF-9FB5-76B1-24F0-8313C0D5D3B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65" name="Group 10">
              <a:extLst>
                <a:ext uri="{FF2B5EF4-FFF2-40B4-BE49-F238E27FC236}">
                  <a16:creationId xmlns:a16="http://schemas.microsoft.com/office/drawing/2014/main" id="{0F7B6D61-78D9-D77B-900A-F293F294C432}"/>
                </a:ext>
              </a:extLst>
            </p:cNvPr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66" name="Freeform 11">
                <a:extLst>
                  <a:ext uri="{FF2B5EF4-FFF2-40B4-BE49-F238E27FC236}">
                    <a16:creationId xmlns:a16="http://schemas.microsoft.com/office/drawing/2014/main" id="{3CE663F6-1B9A-DFEE-C6F5-CE676E3CD077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7" name="TextBox 12">
                <a:extLst>
                  <a:ext uri="{FF2B5EF4-FFF2-40B4-BE49-F238E27FC236}">
                    <a16:creationId xmlns:a16="http://schemas.microsoft.com/office/drawing/2014/main" id="{509D1305-F68D-3300-CC15-A5584E7FBBA7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72" name="スライド番号プレースホルダー 28">
            <a:extLst>
              <a:ext uri="{FF2B5EF4-FFF2-40B4-BE49-F238E27FC236}">
                <a16:creationId xmlns:a16="http://schemas.microsoft.com/office/drawing/2014/main" id="{47B74506-C052-E656-B19A-11FB4A1174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70494" y="9748987"/>
            <a:ext cx="599456" cy="462299"/>
          </a:xfrm>
        </p:spPr>
        <p:txBody>
          <a:bodyPr/>
          <a:lstStyle/>
          <a:p>
            <a:fld id="{B6F15528-21DE-4FAA-801E-634DDDAF4B2B}" type="slidenum">
              <a:rPr lang="en-US" sz="2400" smtClean="0">
                <a:solidFill>
                  <a:schemeClr val="bg1"/>
                </a:solidFill>
              </a:rPr>
              <a:pPr/>
              <a:t>5</a:t>
            </a:fld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73" name="TextBox 24">
            <a:extLst>
              <a:ext uri="{FF2B5EF4-FFF2-40B4-BE49-F238E27FC236}">
                <a16:creationId xmlns:a16="http://schemas.microsoft.com/office/drawing/2014/main" id="{446B9C47-DB87-1000-32F5-EA27475F3627}"/>
              </a:ext>
            </a:extLst>
          </p:cNvPr>
          <p:cNvSpPr txBox="1"/>
          <p:nvPr/>
        </p:nvSpPr>
        <p:spPr>
          <a:xfrm>
            <a:off x="1806795" y="305043"/>
            <a:ext cx="9652000" cy="700576"/>
          </a:xfrm>
          <a:prstGeom prst="rect">
            <a:avLst/>
          </a:prstGeom>
        </p:spPr>
        <p:txBody>
          <a:bodyPr wrap="square" lIns="0" tIns="0" rIns="0" bIns="0" rtlCol="0" anchor="t">
            <a:normAutofit/>
          </a:bodyPr>
          <a:lstStyle/>
          <a:p>
            <a:pPr algn="l">
              <a:lnSpc>
                <a:spcPts val="5880"/>
              </a:lnSpc>
              <a:spcBef>
                <a:spcPct val="0"/>
              </a:spcBef>
            </a:pPr>
            <a:r>
              <a:rPr lang="ja-JP" altLang="en-US" sz="3000" b="1" dirty="0">
                <a:solidFill>
                  <a:srgbClr val="202020"/>
                </a:solidFill>
                <a:latin typeface="Yu Gothic"/>
                <a:ea typeface="Yu Gothic"/>
              </a:rPr>
              <a:t>回帰性能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8325A24-96F0-461C-8155-F33D533A1AF5}"/>
              </a:ext>
            </a:extLst>
          </p:cNvPr>
          <p:cNvSpPr txBox="1"/>
          <p:nvPr/>
        </p:nvSpPr>
        <p:spPr>
          <a:xfrm>
            <a:off x="1587500" y="1422400"/>
            <a:ext cx="15367000" cy="914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ja-JP" altLang="en-US" sz="3200" b="1">
                <a:solidFill>
                  <a:srgbClr val="222222"/>
                </a:solidFill>
                <a:latin typeface="Yu Gothic"/>
                <a:ea typeface="Yu Gothic"/>
              </a:rPr>
              <a:t>統合は</a:t>
            </a:r>
            <a:r>
              <a:rPr lang="en-US" altLang="ja-JP" sz="3200" b="1">
                <a:solidFill>
                  <a:srgbClr val="222222"/>
                </a:solidFill>
                <a:latin typeface="Yu Gothic"/>
                <a:ea typeface="Yu Gothic"/>
              </a:rPr>
              <a:t>MAE</a:t>
            </a:r>
            <a:r>
              <a:rPr lang="ja-JP" altLang="en-US" sz="3200" b="1">
                <a:solidFill>
                  <a:srgbClr val="222222"/>
                </a:solidFill>
                <a:latin typeface="Yu Gothic"/>
                <a:ea typeface="Yu Gothic"/>
              </a:rPr>
              <a:t>最小だが、全域</a:t>
            </a:r>
            <a:r>
              <a:rPr lang="en-US" altLang="ja-JP" sz="3200" b="1">
                <a:solidFill>
                  <a:srgbClr val="222222"/>
                </a:solidFill>
                <a:latin typeface="Yu Gothic"/>
                <a:ea typeface="Yu Gothic"/>
              </a:rPr>
              <a:t>R²</a:t>
            </a:r>
            <a:r>
              <a:rPr lang="ja-JP" altLang="en-US" sz="3200" b="1">
                <a:solidFill>
                  <a:srgbClr val="222222"/>
                </a:solidFill>
                <a:latin typeface="Yu Gothic"/>
                <a:ea typeface="Yu Gothic"/>
              </a:rPr>
              <a:t>では最良単体に届かない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C143830-C4CE-48FC-A0C1-4F32FA788ED6}"/>
              </a:ext>
            </a:extLst>
          </p:cNvPr>
          <p:cNvSpPr txBox="1"/>
          <p:nvPr/>
        </p:nvSpPr>
        <p:spPr>
          <a:xfrm>
            <a:off x="1841500" y="2794000"/>
            <a:ext cx="8890000" cy="482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ja-JP" altLang="en-US" sz="2200" b="1">
                <a:solidFill>
                  <a:srgbClr val="2F6F73"/>
                </a:solidFill>
                <a:latin typeface="Yu Gothic"/>
                <a:ea typeface="Yu Gothic"/>
              </a:rPr>
              <a:t>別日評価の</a:t>
            </a:r>
            <a:r>
              <a:rPr lang="en-US" altLang="ja-JP" sz="2200" b="1">
                <a:solidFill>
                  <a:srgbClr val="2F6F73"/>
                </a:solidFill>
                <a:latin typeface="Yu Gothic"/>
                <a:ea typeface="Yu Gothic"/>
              </a:rPr>
              <a:t>R²</a:t>
            </a:r>
            <a:r>
              <a:rPr lang="ja-JP" altLang="en-US" sz="2200" b="1">
                <a:solidFill>
                  <a:srgbClr val="2F6F73"/>
                </a:solidFill>
                <a:latin typeface="Yu Gothic"/>
                <a:ea typeface="Yu Gothic"/>
              </a:rPr>
              <a:t>（縦軸 </a:t>
            </a:r>
            <a:r>
              <a:rPr lang="en-US" altLang="ja-JP" sz="2200" b="1">
                <a:solidFill>
                  <a:srgbClr val="2F6F73"/>
                </a:solidFill>
                <a:latin typeface="Yu Gothic"/>
                <a:ea typeface="Yu Gothic"/>
              </a:rPr>
              <a:t>0.80–0.92</a:t>
            </a:r>
            <a:r>
              <a:rPr lang="ja-JP" altLang="en-US" sz="2200" b="1">
                <a:solidFill>
                  <a:srgbClr val="2F6F73"/>
                </a:solidFill>
                <a:latin typeface="Yu Gothic"/>
                <a:ea typeface="Yu Gothic"/>
              </a:rPr>
              <a:t>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D9F3BBE-E828-4A90-8F0E-9ABB41A47E04}"/>
              </a:ext>
            </a:extLst>
          </p:cNvPr>
          <p:cNvSpPr txBox="1"/>
          <p:nvPr/>
        </p:nvSpPr>
        <p:spPr>
          <a:xfrm>
            <a:off x="13525500" y="3365500"/>
            <a:ext cx="29845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ja-JP" altLang="en-US" sz="1900" b="1">
                <a:solidFill>
                  <a:srgbClr val="214F52"/>
                </a:solidFill>
                <a:latin typeface="Yu Gothic"/>
                <a:ea typeface="Yu Gothic"/>
              </a:rPr>
              <a:t>順方向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012DC5DC-0AAA-42AE-B4A8-4B90AC68F498}"/>
              </a:ext>
            </a:extLst>
          </p:cNvPr>
          <p:cNvSpPr txBox="1"/>
          <p:nvPr/>
        </p:nvSpPr>
        <p:spPr>
          <a:xfrm>
            <a:off x="13525500" y="3810000"/>
            <a:ext cx="2984500" cy="889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sz="2200" b="1">
                <a:solidFill>
                  <a:srgbClr val="214F52"/>
                </a:solidFill>
                <a:latin typeface="Yu Gothic"/>
                <a:ea typeface="Yu Gothic"/>
              </a:rPr>
              <a:t>AlexNet</a:t>
            </a:r>
            <a:r>
              <a:rPr lang="ja-JP" altLang="en-US" sz="2200" b="1">
                <a:solidFill>
                  <a:srgbClr val="214F52"/>
                </a:solidFill>
                <a:latin typeface="Yu Gothic"/>
                <a:ea typeface="Yu Gothic"/>
              </a:rPr>
              <a:t>　</a:t>
            </a:r>
            <a:r>
              <a:rPr lang="en-US" altLang="ja-JP" sz="2200" b="1">
                <a:solidFill>
                  <a:srgbClr val="214F52"/>
                </a:solidFill>
                <a:latin typeface="Yu Gothic"/>
                <a:ea typeface="Yu Gothic"/>
              </a:rPr>
              <a:t>0.906
</a:t>
            </a:r>
            <a:r>
              <a:rPr lang="ja-JP" altLang="en-US" sz="2200" b="1">
                <a:solidFill>
                  <a:srgbClr val="214F52"/>
                </a:solidFill>
                <a:latin typeface="Yu Gothic"/>
                <a:ea typeface="Yu Gothic"/>
              </a:rPr>
              <a:t>統合　　 </a:t>
            </a:r>
            <a:r>
              <a:rPr lang="en-US" altLang="ja-JP" sz="2200" b="1">
                <a:solidFill>
                  <a:srgbClr val="214F52"/>
                </a:solidFill>
                <a:latin typeface="Yu Gothic"/>
                <a:ea typeface="Yu Gothic"/>
              </a:rPr>
              <a:t>0.904</a:t>
            </a:r>
            <a:endParaRPr lang="ja-JP" altLang="en-US" sz="2200" b="1">
              <a:solidFill>
                <a:srgbClr val="214F52"/>
              </a:solidFill>
              <a:latin typeface="Yu Gothic"/>
              <a:ea typeface="Yu Gothic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1CA2B812-3BCB-4845-9F06-B4954281A12D}"/>
              </a:ext>
            </a:extLst>
          </p:cNvPr>
          <p:cNvSpPr/>
          <p:nvPr/>
        </p:nvSpPr>
        <p:spPr>
          <a:xfrm>
            <a:off x="13525500" y="4762500"/>
            <a:ext cx="2984500" cy="12700"/>
          </a:xfrm>
          <a:prstGeom prst="rect">
            <a:avLst/>
          </a:prstGeom>
          <a:solidFill>
            <a:srgbClr val="6FA6A8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5D87433-C979-4C90-B767-22B28E5C2DF0}"/>
              </a:ext>
            </a:extLst>
          </p:cNvPr>
          <p:cNvSpPr txBox="1"/>
          <p:nvPr/>
        </p:nvSpPr>
        <p:spPr>
          <a:xfrm>
            <a:off x="13525500" y="4889500"/>
            <a:ext cx="29845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ja-JP" altLang="en-US" sz="1900" b="1">
                <a:solidFill>
                  <a:srgbClr val="214F52"/>
                </a:solidFill>
                <a:latin typeface="Yu Gothic"/>
                <a:ea typeface="Yu Gothic"/>
              </a:rPr>
              <a:t>逆方向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799D9669-E439-4972-9DC4-A3CA24E0934C}"/>
              </a:ext>
            </a:extLst>
          </p:cNvPr>
          <p:cNvSpPr txBox="1"/>
          <p:nvPr/>
        </p:nvSpPr>
        <p:spPr>
          <a:xfrm>
            <a:off x="13525500" y="5334000"/>
            <a:ext cx="29845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zh-TW" sz="2200" b="1">
                <a:solidFill>
                  <a:srgbClr val="214F52"/>
                </a:solidFill>
                <a:latin typeface="Yu Gothic"/>
                <a:ea typeface="Yu Gothic"/>
              </a:rPr>
              <a:t>RF</a:t>
            </a:r>
            <a:r>
              <a:rPr lang="zh-TW" altLang="en-US" sz="2200" b="1">
                <a:solidFill>
                  <a:srgbClr val="214F52"/>
                </a:solidFill>
                <a:latin typeface="Yu Gothic"/>
                <a:ea typeface="Yu Gothic"/>
              </a:rPr>
              <a:t>　　　 </a:t>
            </a:r>
            <a:r>
              <a:rPr lang="en-US" altLang="zh-TW" sz="2200" b="1">
                <a:solidFill>
                  <a:srgbClr val="214F52"/>
                </a:solidFill>
                <a:latin typeface="Yu Gothic"/>
                <a:ea typeface="Yu Gothic"/>
              </a:rPr>
              <a:t>0.907
</a:t>
            </a:r>
            <a:r>
              <a:rPr lang="zh-TW" altLang="en-US" sz="2200" b="1">
                <a:solidFill>
                  <a:srgbClr val="214F52"/>
                </a:solidFill>
                <a:latin typeface="Yu Gothic"/>
                <a:ea typeface="Yu Gothic"/>
              </a:rPr>
              <a:t>統合　　 </a:t>
            </a:r>
            <a:r>
              <a:rPr lang="en-US" altLang="zh-TW" sz="2200" b="1">
                <a:solidFill>
                  <a:srgbClr val="214F52"/>
                </a:solidFill>
                <a:latin typeface="Yu Gothic"/>
                <a:ea typeface="Yu Gothic"/>
              </a:rPr>
              <a:t>0.895</a:t>
            </a:r>
            <a:endParaRPr lang="ja-JP" altLang="en-US" sz="2200" b="1">
              <a:solidFill>
                <a:srgbClr val="214F52"/>
              </a:solidFill>
              <a:latin typeface="Yu Gothic"/>
              <a:ea typeface="Yu Gothic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441408DC-622E-4541-9FFF-501766CD1E92}"/>
              </a:ext>
            </a:extLst>
          </p:cNvPr>
          <p:cNvSpPr txBox="1"/>
          <p:nvPr/>
        </p:nvSpPr>
        <p:spPr>
          <a:xfrm>
            <a:off x="13525500" y="6985000"/>
            <a:ext cx="2984500" cy="952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sz="2100" b="1">
                <a:solidFill>
                  <a:srgbClr val="2F6F73"/>
                </a:solidFill>
                <a:latin typeface="Yu Gothic"/>
                <a:ea typeface="Yu Gothic"/>
              </a:rPr>
              <a:t>MAE</a:t>
            </a:r>
            <a:r>
              <a:rPr lang="ja-JP" altLang="en-US" sz="2100" b="1">
                <a:solidFill>
                  <a:srgbClr val="2F6F73"/>
                </a:solidFill>
                <a:latin typeface="Yu Gothic"/>
                <a:ea typeface="Yu Gothic"/>
              </a:rPr>
              <a:t>は両方向で
統合が最小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43C02F7D-F036-47C6-A267-78E287170B9A}"/>
              </a:ext>
            </a:extLst>
          </p:cNvPr>
          <p:cNvSpPr txBox="1"/>
          <p:nvPr/>
        </p:nvSpPr>
        <p:spPr>
          <a:xfrm>
            <a:off x="1841500" y="8636000"/>
            <a:ext cx="10795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ja-JP" altLang="en-US" b="1">
                <a:solidFill>
                  <a:srgbClr val="222222"/>
                </a:solidFill>
                <a:latin typeface="Yu Gothic"/>
                <a:ea typeface="Yu Gothic"/>
              </a:rPr>
              <a:t>全域</a:t>
            </a:r>
            <a:r>
              <a:rPr lang="en-US" altLang="ja-JP" b="1">
                <a:solidFill>
                  <a:srgbClr val="222222"/>
                </a:solidFill>
                <a:latin typeface="Yu Gothic"/>
                <a:ea typeface="Yu Gothic"/>
              </a:rPr>
              <a:t>R²</a:t>
            </a:r>
            <a:r>
              <a:rPr lang="ja-JP" altLang="en-US" b="1">
                <a:solidFill>
                  <a:srgbClr val="222222"/>
                </a:solidFill>
                <a:latin typeface="Yu Gothic"/>
                <a:ea typeface="Yu Gothic"/>
              </a:rPr>
              <a:t>の差は小さいが、方向によって最良単体が変わる。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551CD9FB-35A1-4737-A72D-26883C882210}"/>
              </a:ext>
            </a:extLst>
          </p:cNvPr>
          <p:cNvSpPr txBox="1"/>
          <p:nvPr/>
        </p:nvSpPr>
        <p:spPr>
          <a:xfrm>
            <a:off x="1587500" y="9525000"/>
            <a:ext cx="15367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22 kHz</a:t>
            </a:r>
            <a:r>
              <a:rPr lang="ja-JP" altLang="en-US" sz="1100">
                <a:solidFill>
                  <a:srgbClr val="555555"/>
                </a:solidFill>
                <a:latin typeface="Yu Gothic"/>
                <a:ea typeface="Yu Gothic"/>
              </a:rPr>
              <a:t>、無雑音、</a:t>
            </a:r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200 epochs</a:t>
            </a:r>
            <a:r>
              <a:rPr lang="ja-JP" altLang="en-US" sz="1100">
                <a:solidFill>
                  <a:srgbClr val="555555"/>
                </a:solidFill>
                <a:latin typeface="Yu Gothic"/>
                <a:ea typeface="Yu Gothic"/>
              </a:rPr>
              <a:t>、評価は</a:t>
            </a:r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1</a:t>
            </a:r>
            <a:r>
              <a:rPr lang="ja-JP" altLang="en-US" sz="1100">
                <a:solidFill>
                  <a:srgbClr val="555555"/>
                </a:solidFill>
                <a:latin typeface="Yu Gothic"/>
                <a:ea typeface="Yu Gothic"/>
              </a:rPr>
              <a:t>秒単位</a:t>
            </a:r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1080</a:t>
            </a:r>
            <a:r>
              <a:rPr lang="ja-JP" altLang="en-US" sz="1100">
                <a:solidFill>
                  <a:srgbClr val="555555"/>
                </a:solidFill>
                <a:latin typeface="Yu Gothic"/>
                <a:ea typeface="Yu Gothic"/>
              </a:rPr>
              <a:t>秒＝</a:t>
            </a:r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18 WAV</a:t>
            </a:r>
            <a:r>
              <a:rPr lang="ja-JP" altLang="en-US" sz="1100">
                <a:solidFill>
                  <a:srgbClr val="555555"/>
                </a:solidFill>
                <a:latin typeface="Yu Gothic"/>
                <a:ea typeface="Yu Gothic"/>
              </a:rPr>
              <a:t>／方向、各方向</a:t>
            </a:r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1</a:t>
            </a:r>
            <a:r>
              <a:rPr lang="ja-JP" altLang="en-US" sz="1100">
                <a:solidFill>
                  <a:srgbClr val="555555"/>
                </a:solidFill>
                <a:latin typeface="Yu Gothic"/>
                <a:ea typeface="Yu Gothic"/>
              </a:rPr>
              <a:t>評価日</a:t>
            </a:r>
          </a:p>
        </p:txBody>
      </p:sp>
      <p:graphicFrame>
        <p:nvGraphicFramePr>
          <p:cNvPr id="901" name="R2 chart"/>
          <p:cNvGraphicFramePr/>
          <p:nvPr/>
        </p:nvGraphicFramePr>
        <p:xfrm>
          <a:off x="1841500" y="3429000"/>
          <a:ext cx="10795000" cy="4699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2044599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882ED-91FB-1FFD-EED9-E2CCF1CB38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B3BB7A3F-300A-47AB-81B5-A0C6C3A0396C}"/>
              </a:ext>
            </a:extLst>
          </p:cNvPr>
          <p:cNvSpPr/>
          <p:nvPr/>
        </p:nvSpPr>
        <p:spPr>
          <a:xfrm>
            <a:off x="1841500" y="8255000"/>
            <a:ext cx="14986000" cy="889000"/>
          </a:xfrm>
          <a:prstGeom prst="roundRect">
            <a:avLst/>
          </a:prstGeom>
          <a:solidFill>
            <a:srgbClr val="D4E7E7">
              <a:alpha val="93725"/>
            </a:srgbClr>
          </a:solidFill>
          <a:ln w="31750" cap="flat" cmpd="sng" algn="ctr">
            <a:solidFill>
              <a:srgbClr val="68A8A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30" name="四角形: 角を丸くする 29">
            <a:extLst>
              <a:ext uri="{FF2B5EF4-FFF2-40B4-BE49-F238E27FC236}">
                <a16:creationId xmlns:a16="http://schemas.microsoft.com/office/drawing/2014/main" id="{32B0E319-5067-45C3-9DFA-9CE27F48F9F4}"/>
              </a:ext>
            </a:extLst>
          </p:cNvPr>
          <p:cNvSpPr/>
          <p:nvPr/>
        </p:nvSpPr>
        <p:spPr>
          <a:xfrm>
            <a:off x="9334500" y="2984500"/>
            <a:ext cx="7493000" cy="4953000"/>
          </a:xfrm>
          <a:prstGeom prst="roundRect">
            <a:avLst/>
          </a:prstGeom>
          <a:solidFill>
            <a:srgbClr val="EAF2F2">
              <a:alpha val="93725"/>
            </a:srgbClr>
          </a:solidFill>
          <a:ln w="31750" cap="flat" cmpd="sng" algn="ctr">
            <a:solidFill>
              <a:srgbClr val="68A8A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628253CE-6330-4F26-BD95-DB1814E6FC49}"/>
              </a:ext>
            </a:extLst>
          </p:cNvPr>
          <p:cNvSpPr/>
          <p:nvPr/>
        </p:nvSpPr>
        <p:spPr>
          <a:xfrm>
            <a:off x="1841500" y="2984500"/>
            <a:ext cx="7048500" cy="4953000"/>
          </a:xfrm>
          <a:prstGeom prst="roundRect">
            <a:avLst/>
          </a:prstGeom>
          <a:solidFill>
            <a:srgbClr val="EAF2F2">
              <a:alpha val="93725"/>
            </a:srgbClr>
          </a:solidFill>
          <a:ln w="31750" cap="flat" cmpd="sng" algn="ctr">
            <a:solidFill>
              <a:srgbClr val="68A8A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grpSp>
        <p:nvGrpSpPr>
          <p:cNvPr id="57" name="グループ化 56">
            <a:extLst>
              <a:ext uri="{FF2B5EF4-FFF2-40B4-BE49-F238E27FC236}">
                <a16:creationId xmlns:a16="http://schemas.microsoft.com/office/drawing/2014/main" id="{75BFE32B-F018-C4E4-FAB7-80C0D2CDC22E}"/>
              </a:ext>
            </a:extLst>
          </p:cNvPr>
          <p:cNvGrpSpPr/>
          <p:nvPr/>
        </p:nvGrpSpPr>
        <p:grpSpPr>
          <a:xfrm>
            <a:off x="270494" y="246431"/>
            <a:ext cx="698205" cy="10040568"/>
            <a:chOff x="270494" y="246431"/>
            <a:chExt cx="698205" cy="10040568"/>
          </a:xfrm>
        </p:grpSpPr>
        <p:pic>
          <p:nvPicPr>
            <p:cNvPr id="58" name="図 57">
              <a:extLst>
                <a:ext uri="{FF2B5EF4-FFF2-40B4-BE49-F238E27FC236}">
                  <a16:creationId xmlns:a16="http://schemas.microsoft.com/office/drawing/2014/main" id="{1226A433-2043-B47F-E0E8-72C7A0748C7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5400000">
              <a:off x="271822" y="245103"/>
              <a:ext cx="695550" cy="698205"/>
            </a:xfrm>
            <a:prstGeom prst="rect">
              <a:avLst/>
            </a:prstGeom>
          </p:spPr>
        </p:pic>
        <p:sp>
          <p:nvSpPr>
            <p:cNvPr id="59" name="テキスト ボックス 58">
              <a:extLst>
                <a:ext uri="{FF2B5EF4-FFF2-40B4-BE49-F238E27FC236}">
                  <a16:creationId xmlns:a16="http://schemas.microsoft.com/office/drawing/2014/main" id="{F53AD6DF-8ABC-58C4-0BDA-981F712C6600}"/>
                </a:ext>
              </a:extLst>
            </p:cNvPr>
            <p:cNvSpPr txBox="1"/>
            <p:nvPr/>
          </p:nvSpPr>
          <p:spPr>
            <a:xfrm>
              <a:off x="434931" y="1036119"/>
              <a:ext cx="369332" cy="2258787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kumimoji="1" lang="en-US" altLang="ja-JP" sz="1200" dirty="0">
                  <a:latin typeface="Source Han Sans JP" panose="020B0600070205080204" charset="-128"/>
                  <a:ea typeface="Source Han Sans JP" panose="020B0600070205080204" charset="-128"/>
                </a:rPr>
                <a:t>Tokyo University of Science</a:t>
              </a:r>
              <a:endParaRPr kumimoji="1" lang="ja-JP" altLang="en-US" sz="1200" dirty="0">
                <a:latin typeface="Source Han Sans JP" panose="020B0600070205080204" charset="-128"/>
                <a:ea typeface="Source Han Sans JP" panose="020B0600070205080204" charset="-128"/>
              </a:endParaRPr>
            </a:p>
          </p:txBody>
        </p:sp>
        <p:cxnSp>
          <p:nvCxnSpPr>
            <p:cNvPr id="60" name="直線コネクタ 59">
              <a:extLst>
                <a:ext uri="{FF2B5EF4-FFF2-40B4-BE49-F238E27FC236}">
                  <a16:creationId xmlns:a16="http://schemas.microsoft.com/office/drawing/2014/main" id="{583BFE6C-617D-A3DC-D51E-18A6133895AB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" y="3314700"/>
              <a:ext cx="0" cy="6067497"/>
            </a:xfrm>
            <a:prstGeom prst="line">
              <a:avLst/>
            </a:prstGeom>
            <a:ln>
              <a:solidFill>
                <a:srgbClr val="64A4A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フローチャート: 論理積ゲート 60">
              <a:extLst>
                <a:ext uri="{FF2B5EF4-FFF2-40B4-BE49-F238E27FC236}">
                  <a16:creationId xmlns:a16="http://schemas.microsoft.com/office/drawing/2014/main" id="{63EE0EEB-3C48-D4D2-9411-176CDF6BB0D2}"/>
                </a:ext>
              </a:extLst>
            </p:cNvPr>
            <p:cNvSpPr/>
            <p:nvPr/>
          </p:nvSpPr>
          <p:spPr>
            <a:xfrm rot="16200000">
              <a:off x="141940" y="9634201"/>
              <a:ext cx="924597" cy="381000"/>
            </a:xfrm>
            <a:prstGeom prst="flowChartDelay">
              <a:avLst/>
            </a:prstGeom>
            <a:solidFill>
              <a:srgbClr val="64A4A3"/>
            </a:solidFill>
            <a:ln>
              <a:solidFill>
                <a:srgbClr val="64A4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62" name="Group 3">
            <a:extLst>
              <a:ext uri="{FF2B5EF4-FFF2-40B4-BE49-F238E27FC236}">
                <a16:creationId xmlns:a16="http://schemas.microsoft.com/office/drawing/2014/main" id="{66CE81F5-9908-5CB9-4AC3-1FCBE2FF3FAA}"/>
              </a:ext>
            </a:extLst>
          </p:cNvPr>
          <p:cNvGrpSpPr/>
          <p:nvPr/>
        </p:nvGrpSpPr>
        <p:grpSpPr>
          <a:xfrm>
            <a:off x="1371600" y="1069258"/>
            <a:ext cx="16064988" cy="125708"/>
            <a:chOff x="0" y="0"/>
            <a:chExt cx="22021800" cy="190500"/>
          </a:xfrm>
        </p:grpSpPr>
        <p:grpSp>
          <p:nvGrpSpPr>
            <p:cNvPr id="63" name="Group 4">
              <a:extLst>
                <a:ext uri="{FF2B5EF4-FFF2-40B4-BE49-F238E27FC236}">
                  <a16:creationId xmlns:a16="http://schemas.microsoft.com/office/drawing/2014/main" id="{F18484CA-1C82-F32C-E492-71BB690B31BD}"/>
                </a:ext>
              </a:extLst>
            </p:cNvPr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70" name="Freeform 5">
                <a:extLst>
                  <a:ext uri="{FF2B5EF4-FFF2-40B4-BE49-F238E27FC236}">
                    <a16:creationId xmlns:a16="http://schemas.microsoft.com/office/drawing/2014/main" id="{99894FA7-D161-F806-1A5F-52AABFBB0842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71" name="TextBox 6">
                <a:extLst>
                  <a:ext uri="{FF2B5EF4-FFF2-40B4-BE49-F238E27FC236}">
                    <a16:creationId xmlns:a16="http://schemas.microsoft.com/office/drawing/2014/main" id="{72556C4C-3473-3018-70C4-085FA6F987B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64" name="Group 7">
              <a:extLst>
                <a:ext uri="{FF2B5EF4-FFF2-40B4-BE49-F238E27FC236}">
                  <a16:creationId xmlns:a16="http://schemas.microsoft.com/office/drawing/2014/main" id="{F7A34761-E638-B2A2-9E72-32563CB39D5B}"/>
                </a:ext>
              </a:extLst>
            </p:cNvPr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68" name="Freeform 8">
                <a:extLst>
                  <a:ext uri="{FF2B5EF4-FFF2-40B4-BE49-F238E27FC236}">
                    <a16:creationId xmlns:a16="http://schemas.microsoft.com/office/drawing/2014/main" id="{66779A7D-5ECB-D310-B556-EC0E21709BC4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9" name="TextBox 9">
                <a:extLst>
                  <a:ext uri="{FF2B5EF4-FFF2-40B4-BE49-F238E27FC236}">
                    <a16:creationId xmlns:a16="http://schemas.microsoft.com/office/drawing/2014/main" id="{96F89EAF-9FB5-76B1-24F0-8313C0D5D3B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65" name="Group 10">
              <a:extLst>
                <a:ext uri="{FF2B5EF4-FFF2-40B4-BE49-F238E27FC236}">
                  <a16:creationId xmlns:a16="http://schemas.microsoft.com/office/drawing/2014/main" id="{0F7B6D61-78D9-D77B-900A-F293F294C432}"/>
                </a:ext>
              </a:extLst>
            </p:cNvPr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66" name="Freeform 11">
                <a:extLst>
                  <a:ext uri="{FF2B5EF4-FFF2-40B4-BE49-F238E27FC236}">
                    <a16:creationId xmlns:a16="http://schemas.microsoft.com/office/drawing/2014/main" id="{3CE663F6-1B9A-DFEE-C6F5-CE676E3CD077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7" name="TextBox 12">
                <a:extLst>
                  <a:ext uri="{FF2B5EF4-FFF2-40B4-BE49-F238E27FC236}">
                    <a16:creationId xmlns:a16="http://schemas.microsoft.com/office/drawing/2014/main" id="{509D1305-F68D-3300-CC15-A5584E7FBBA7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72" name="スライド番号プレースホルダー 28">
            <a:extLst>
              <a:ext uri="{FF2B5EF4-FFF2-40B4-BE49-F238E27FC236}">
                <a16:creationId xmlns:a16="http://schemas.microsoft.com/office/drawing/2014/main" id="{47B74506-C052-E656-B19A-11FB4A1174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70494" y="9748987"/>
            <a:ext cx="599456" cy="462299"/>
          </a:xfrm>
        </p:spPr>
        <p:txBody>
          <a:bodyPr/>
          <a:lstStyle/>
          <a:p>
            <a:fld id="{B6F15528-21DE-4FAA-801E-634DDDAF4B2B}" type="slidenum">
              <a:rPr lang="en-US" sz="2400" smtClean="0">
                <a:solidFill>
                  <a:schemeClr val="bg1"/>
                </a:solidFill>
              </a:rPr>
              <a:pPr/>
              <a:t>6</a:t>
            </a:fld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73" name="TextBox 24">
            <a:extLst>
              <a:ext uri="{FF2B5EF4-FFF2-40B4-BE49-F238E27FC236}">
                <a16:creationId xmlns:a16="http://schemas.microsoft.com/office/drawing/2014/main" id="{446B9C47-DB87-1000-32F5-EA27475F3627}"/>
              </a:ext>
            </a:extLst>
          </p:cNvPr>
          <p:cNvSpPr txBox="1"/>
          <p:nvPr/>
        </p:nvSpPr>
        <p:spPr>
          <a:xfrm>
            <a:off x="1806795" y="305043"/>
            <a:ext cx="9652000" cy="700576"/>
          </a:xfrm>
          <a:prstGeom prst="rect">
            <a:avLst/>
          </a:prstGeom>
        </p:spPr>
        <p:txBody>
          <a:bodyPr wrap="square" lIns="0" tIns="0" rIns="0" bIns="0" rtlCol="0" anchor="t">
            <a:normAutofit/>
          </a:bodyPr>
          <a:lstStyle/>
          <a:p>
            <a:pPr algn="l">
              <a:lnSpc>
                <a:spcPts val="5880"/>
              </a:lnSpc>
              <a:spcBef>
                <a:spcPct val="0"/>
              </a:spcBef>
            </a:pPr>
            <a:r>
              <a:rPr lang="en-US" altLang="ja-JP" sz="3000" b="1">
                <a:solidFill>
                  <a:srgbClr val="202020"/>
                </a:solidFill>
                <a:latin typeface="Yu Gothic"/>
                <a:ea typeface="Yu Gothic"/>
              </a:rPr>
              <a:t>ONB</a:t>
            </a:r>
            <a:r>
              <a:rPr lang="ja-JP" altLang="en-US" sz="3000" b="1">
                <a:solidFill>
                  <a:srgbClr val="202020"/>
                </a:solidFill>
                <a:latin typeface="Yu Gothic"/>
                <a:ea typeface="Yu Gothic"/>
              </a:rPr>
              <a:t>判定</a:t>
            </a:r>
            <a:endParaRPr lang="ja-JP" altLang="en-US" sz="3000" b="1" dirty="0">
              <a:solidFill>
                <a:srgbClr val="202020"/>
              </a:solidFill>
              <a:latin typeface="Yu Gothic"/>
              <a:ea typeface="Yu Gothic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EAFB5F3-ECB0-47B3-A448-CA543805CB04}"/>
              </a:ext>
            </a:extLst>
          </p:cNvPr>
          <p:cNvSpPr txBox="1"/>
          <p:nvPr/>
        </p:nvSpPr>
        <p:spPr>
          <a:xfrm>
            <a:off x="1587500" y="1422400"/>
            <a:ext cx="15367000" cy="914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sz="3200" b="1">
                <a:solidFill>
                  <a:srgbClr val="222222"/>
                </a:solidFill>
                <a:latin typeface="Yu Gothic"/>
                <a:ea typeface="Yu Gothic"/>
              </a:rPr>
              <a:t>ROC-AUC</a:t>
            </a:r>
            <a:r>
              <a:rPr lang="ja-JP" altLang="en-US" sz="3200" b="1">
                <a:solidFill>
                  <a:srgbClr val="222222"/>
                </a:solidFill>
                <a:latin typeface="Yu Gothic"/>
                <a:ea typeface="Yu Gothic"/>
              </a:rPr>
              <a:t>と、実際の</a:t>
            </a:r>
            <a:r>
              <a:rPr lang="en-US" altLang="ja-JP" sz="3200" b="1">
                <a:solidFill>
                  <a:srgbClr val="222222"/>
                </a:solidFill>
                <a:latin typeface="Yu Gothic"/>
                <a:ea typeface="Yu Gothic"/>
              </a:rPr>
              <a:t>ONB</a:t>
            </a:r>
            <a:r>
              <a:rPr lang="ja-JP" altLang="en-US" sz="3200" b="1">
                <a:solidFill>
                  <a:srgbClr val="222222"/>
                </a:solidFill>
                <a:latin typeface="Yu Gothic"/>
                <a:ea typeface="Yu Gothic"/>
              </a:rPr>
              <a:t>閾値での判定を分けて読む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E4830D6-67D7-4CC7-861F-678DF9686405}"/>
              </a:ext>
            </a:extLst>
          </p:cNvPr>
          <p:cNvSpPr txBox="1"/>
          <p:nvPr/>
        </p:nvSpPr>
        <p:spPr>
          <a:xfrm>
            <a:off x="2222500" y="3238500"/>
            <a:ext cx="25400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ja-JP" altLang="en-US" sz="2200" b="1">
                <a:solidFill>
                  <a:srgbClr val="2F6F73"/>
                </a:solidFill>
                <a:latin typeface="Yu Gothic"/>
                <a:ea typeface="Yu Gothic"/>
              </a:rPr>
              <a:t>順方向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0B788694-3307-4A7B-9AD9-A2F954AB8595}"/>
              </a:ext>
            </a:extLst>
          </p:cNvPr>
          <p:cNvSpPr txBox="1"/>
          <p:nvPr/>
        </p:nvSpPr>
        <p:spPr>
          <a:xfrm>
            <a:off x="2222500" y="3873500"/>
            <a:ext cx="4572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ja-JP" altLang="en-US" sz="1900" b="1">
                <a:solidFill>
                  <a:srgbClr val="222222"/>
                </a:solidFill>
                <a:latin typeface="Yu Gothic"/>
                <a:ea typeface="Yu Gothic"/>
              </a:rPr>
              <a:t>連続予測 </a:t>
            </a:r>
            <a:r>
              <a:rPr lang="en-US" altLang="ja-JP" sz="1900" b="1">
                <a:solidFill>
                  <a:srgbClr val="222222"/>
                </a:solidFill>
                <a:latin typeface="Yu Gothic"/>
                <a:ea typeface="Yu Gothic"/>
              </a:rPr>
              <a:t>ROC-AUC</a:t>
            </a:r>
            <a:endParaRPr lang="ja-JP" altLang="en-US" sz="1900" b="1">
              <a:solidFill>
                <a:srgbClr val="222222"/>
              </a:solidFill>
              <a:latin typeface="Yu Gothic"/>
              <a:ea typeface="Yu Gothic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64FFF69-A34D-4C38-A1A8-BC87BFA48911}"/>
              </a:ext>
            </a:extLst>
          </p:cNvPr>
          <p:cNvSpPr txBox="1"/>
          <p:nvPr/>
        </p:nvSpPr>
        <p:spPr>
          <a:xfrm>
            <a:off x="2222500" y="4381500"/>
            <a:ext cx="5842000" cy="825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ja-JP" altLang="en-US" sz="3100" b="1">
                <a:solidFill>
                  <a:srgbClr val="2F6F73"/>
                </a:solidFill>
                <a:latin typeface="Yu Gothic"/>
                <a:ea typeface="Yu Gothic"/>
              </a:rPr>
              <a:t>統合  </a:t>
            </a:r>
            <a:r>
              <a:rPr lang="en-US" altLang="ja-JP" sz="3100" b="1">
                <a:solidFill>
                  <a:srgbClr val="2F6F73"/>
                </a:solidFill>
                <a:latin typeface="Yu Gothic"/>
                <a:ea typeface="Yu Gothic"/>
              </a:rPr>
              <a:t>0.962</a:t>
            </a:r>
            <a:endParaRPr lang="ja-JP" altLang="en-US" sz="3100" b="1">
              <a:solidFill>
                <a:srgbClr val="2F6F73"/>
              </a:solidFill>
              <a:latin typeface="Yu Gothic"/>
              <a:ea typeface="Yu Gothic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B06F3484-5968-45CC-91EC-7E2A82C1016B}"/>
              </a:ext>
            </a:extLst>
          </p:cNvPr>
          <p:cNvSpPr txBox="1"/>
          <p:nvPr/>
        </p:nvSpPr>
        <p:spPr>
          <a:xfrm>
            <a:off x="2222500" y="5270500"/>
            <a:ext cx="4064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>
                <a:solidFill>
                  <a:srgbClr val="222222"/>
                </a:solidFill>
                <a:latin typeface="Yu Gothic"/>
                <a:ea typeface="Yu Gothic"/>
              </a:rPr>
              <a:t>4</a:t>
            </a:r>
            <a:r>
              <a:rPr lang="ja-JP" altLang="en-US">
                <a:solidFill>
                  <a:srgbClr val="222222"/>
                </a:solidFill>
                <a:latin typeface="Yu Gothic"/>
                <a:ea typeface="Yu Gothic"/>
              </a:rPr>
              <a:t>モデル中で最高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673990A9-0312-4823-8AB5-265C451A3022}"/>
              </a:ext>
            </a:extLst>
          </p:cNvPr>
          <p:cNvSpPr/>
          <p:nvPr/>
        </p:nvSpPr>
        <p:spPr>
          <a:xfrm>
            <a:off x="2222500" y="6032500"/>
            <a:ext cx="6159500" cy="12700"/>
          </a:xfrm>
          <a:prstGeom prst="rect">
            <a:avLst/>
          </a:prstGeom>
          <a:solidFill>
            <a:srgbClr val="B8C1C1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08E1CA39-E381-4C95-9204-2156E7E96833}"/>
              </a:ext>
            </a:extLst>
          </p:cNvPr>
          <p:cNvSpPr txBox="1"/>
          <p:nvPr/>
        </p:nvSpPr>
        <p:spPr>
          <a:xfrm>
            <a:off x="2222500" y="6350000"/>
            <a:ext cx="6159500" cy="1143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>
                <a:solidFill>
                  <a:srgbClr val="444444"/>
                </a:solidFill>
                <a:latin typeface="Yu Gothic"/>
                <a:ea typeface="Yu Gothic"/>
              </a:rPr>
              <a:t>AUC</a:t>
            </a:r>
            <a:r>
              <a:rPr lang="ja-JP" altLang="en-US">
                <a:solidFill>
                  <a:srgbClr val="444444"/>
                </a:solidFill>
                <a:latin typeface="Yu Gothic"/>
                <a:ea typeface="Yu Gothic"/>
              </a:rPr>
              <a:t>は連続値の順位性能。実験日の</a:t>
            </a:r>
            <a:r>
              <a:rPr lang="en-US" altLang="ja-JP">
                <a:solidFill>
                  <a:srgbClr val="444444"/>
                </a:solidFill>
                <a:latin typeface="Yu Gothic"/>
                <a:ea typeface="Yu Gothic"/>
              </a:rPr>
              <a:t>ONB</a:t>
            </a:r>
            <a:r>
              <a:rPr lang="ja-JP" altLang="en-US">
                <a:solidFill>
                  <a:srgbClr val="444444"/>
                </a:solidFill>
                <a:latin typeface="Yu Gothic"/>
                <a:ea typeface="Yu Gothic"/>
              </a:rPr>
              <a:t>閾値で二値化した判定とは分けて評価する。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630166CC-E375-4937-96C4-E8ED1EB980F1}"/>
              </a:ext>
            </a:extLst>
          </p:cNvPr>
          <p:cNvSpPr txBox="1"/>
          <p:nvPr/>
        </p:nvSpPr>
        <p:spPr>
          <a:xfrm>
            <a:off x="9715500" y="3238500"/>
            <a:ext cx="25400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ja-JP" altLang="en-US" sz="2200" b="1">
                <a:solidFill>
                  <a:srgbClr val="2F6F73"/>
                </a:solidFill>
                <a:latin typeface="Yu Gothic"/>
                <a:ea typeface="Yu Gothic"/>
              </a:rPr>
              <a:t>逆方向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B9CEC78C-12B7-4C0D-A40C-33A008019C86}"/>
              </a:ext>
            </a:extLst>
          </p:cNvPr>
          <p:cNvSpPr txBox="1"/>
          <p:nvPr/>
        </p:nvSpPr>
        <p:spPr>
          <a:xfrm>
            <a:off x="9715500" y="3873500"/>
            <a:ext cx="4572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ja-JP" altLang="en-US" sz="1900" b="1">
                <a:solidFill>
                  <a:srgbClr val="222222"/>
                </a:solidFill>
                <a:latin typeface="Yu Gothic"/>
                <a:ea typeface="Yu Gothic"/>
              </a:rPr>
              <a:t>連続予測 </a:t>
            </a:r>
            <a:r>
              <a:rPr lang="en-US" altLang="ja-JP" sz="1900" b="1">
                <a:solidFill>
                  <a:srgbClr val="222222"/>
                </a:solidFill>
                <a:latin typeface="Yu Gothic"/>
                <a:ea typeface="Yu Gothic"/>
              </a:rPr>
              <a:t>ROC-AUC</a:t>
            </a:r>
            <a:endParaRPr lang="ja-JP" altLang="en-US" sz="1900" b="1">
              <a:solidFill>
                <a:srgbClr val="222222"/>
              </a:solidFill>
              <a:latin typeface="Yu Gothic"/>
              <a:ea typeface="Yu Gothic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7B7FA498-8310-407A-954D-FC847E6D0C85}"/>
              </a:ext>
            </a:extLst>
          </p:cNvPr>
          <p:cNvSpPr txBox="1"/>
          <p:nvPr/>
        </p:nvSpPr>
        <p:spPr>
          <a:xfrm>
            <a:off x="9715500" y="4381500"/>
            <a:ext cx="6350000" cy="825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sz="3000" b="1">
                <a:solidFill>
                  <a:srgbClr val="2F6F73"/>
                </a:solidFill>
                <a:latin typeface="Yu Gothic"/>
                <a:ea typeface="Yu Gothic"/>
              </a:rPr>
              <a:t>Conformer  0.918</a:t>
            </a:r>
            <a:endParaRPr lang="ja-JP" altLang="en-US" sz="3000" b="1">
              <a:solidFill>
                <a:srgbClr val="2F6F73"/>
              </a:solidFill>
              <a:latin typeface="Yu Gothic"/>
              <a:ea typeface="Yu Gothic"/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A347599A-70A2-49BD-BDD5-B7E959482C6E}"/>
              </a:ext>
            </a:extLst>
          </p:cNvPr>
          <p:cNvSpPr txBox="1"/>
          <p:nvPr/>
        </p:nvSpPr>
        <p:spPr>
          <a:xfrm>
            <a:off x="9715500" y="5270500"/>
            <a:ext cx="5334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ja-JP" altLang="en-US" b="1">
                <a:solidFill>
                  <a:srgbClr val="222222"/>
                </a:solidFill>
                <a:latin typeface="Yu Gothic"/>
                <a:ea typeface="Yu Gothic"/>
              </a:rPr>
              <a:t>ただし適合率 </a:t>
            </a:r>
            <a:r>
              <a:rPr lang="en-US" altLang="ja-JP" b="1">
                <a:solidFill>
                  <a:srgbClr val="222222"/>
                </a:solidFill>
                <a:latin typeface="Yu Gothic"/>
                <a:ea typeface="Yu Gothic"/>
              </a:rPr>
              <a:t>70.8%</a:t>
            </a:r>
            <a:endParaRPr lang="ja-JP" altLang="en-US" b="1">
              <a:solidFill>
                <a:srgbClr val="222222"/>
              </a:solidFill>
              <a:latin typeface="Yu Gothic"/>
              <a:ea typeface="Yu Gothic"/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03916ABE-C633-4051-A1A4-2DBA2ABE10FE}"/>
              </a:ext>
            </a:extLst>
          </p:cNvPr>
          <p:cNvSpPr/>
          <p:nvPr/>
        </p:nvSpPr>
        <p:spPr>
          <a:xfrm>
            <a:off x="9715500" y="6032500"/>
            <a:ext cx="6604000" cy="12700"/>
          </a:xfrm>
          <a:prstGeom prst="rect">
            <a:avLst/>
          </a:prstGeom>
          <a:solidFill>
            <a:srgbClr val="B8C1C1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30A12BB4-A33C-4189-8C22-7CFDAE3C086F}"/>
              </a:ext>
            </a:extLst>
          </p:cNvPr>
          <p:cNvSpPr txBox="1"/>
          <p:nvPr/>
        </p:nvSpPr>
        <p:spPr>
          <a:xfrm>
            <a:off x="9715500" y="6350000"/>
            <a:ext cx="6604000" cy="1016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ja-JP" altLang="en-US" sz="1900" b="1">
                <a:solidFill>
                  <a:srgbClr val="A14A3A"/>
                </a:solidFill>
                <a:latin typeface="Yu Gothic"/>
                <a:ea typeface="Yu Gothic"/>
              </a:rPr>
              <a:t>実験日の</a:t>
            </a:r>
            <a:r>
              <a:rPr lang="en-US" altLang="ja-JP" sz="1900" b="1">
                <a:solidFill>
                  <a:srgbClr val="A14A3A"/>
                </a:solidFill>
                <a:latin typeface="Yu Gothic"/>
                <a:ea typeface="Yu Gothic"/>
              </a:rPr>
              <a:t>ONB</a:t>
            </a:r>
            <a:r>
              <a:rPr lang="ja-JP" altLang="en-US" sz="1900" b="1">
                <a:solidFill>
                  <a:srgbClr val="A14A3A"/>
                </a:solidFill>
                <a:latin typeface="Yu Gothic"/>
                <a:ea typeface="Yu Gothic"/>
              </a:rPr>
              <a:t>閾値での判定点
偽陽性率 約</a:t>
            </a:r>
            <a:r>
              <a:rPr lang="en-US" altLang="ja-JP" sz="1900" b="1">
                <a:solidFill>
                  <a:srgbClr val="A14A3A"/>
                </a:solidFill>
                <a:latin typeface="Yu Gothic"/>
                <a:ea typeface="Yu Gothic"/>
              </a:rPr>
              <a:t>60% </a:t>
            </a:r>
            <a:r>
              <a:rPr lang="ja-JP" altLang="en-US" sz="1900" b="1">
                <a:solidFill>
                  <a:srgbClr val="A14A3A"/>
                </a:solidFill>
                <a:latin typeface="Yu Gothic"/>
                <a:ea typeface="Yu Gothic"/>
              </a:rPr>
              <a:t>／ 再現率 </a:t>
            </a:r>
            <a:r>
              <a:rPr lang="en-US" altLang="ja-JP" sz="1900" b="1">
                <a:solidFill>
                  <a:srgbClr val="A14A3A"/>
                </a:solidFill>
                <a:latin typeface="Yu Gothic"/>
                <a:ea typeface="Yu Gothic"/>
              </a:rPr>
              <a:t>92.7%</a:t>
            </a:r>
            <a:endParaRPr lang="ja-JP" altLang="en-US" sz="1900" b="1">
              <a:solidFill>
                <a:srgbClr val="A14A3A"/>
              </a:solidFill>
              <a:latin typeface="Yu Gothic"/>
              <a:ea typeface="Yu Gothic"/>
            </a:endParaRP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798A8BFF-F371-48CF-B1FE-483B06038678}"/>
              </a:ext>
            </a:extLst>
          </p:cNvPr>
          <p:cNvSpPr txBox="1"/>
          <p:nvPr/>
        </p:nvSpPr>
        <p:spPr>
          <a:xfrm>
            <a:off x="2222500" y="8420100"/>
            <a:ext cx="14224000" cy="558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sz="2000" b="1">
                <a:solidFill>
                  <a:srgbClr val="214F52"/>
                </a:solidFill>
                <a:latin typeface="Yu Gothic"/>
                <a:ea typeface="Yu Gothic"/>
              </a:rPr>
              <a:t>AUC</a:t>
            </a:r>
            <a:r>
              <a:rPr lang="ja-JP" altLang="en-US" sz="2000" b="1">
                <a:solidFill>
                  <a:srgbClr val="214F52"/>
                </a:solidFill>
                <a:latin typeface="Yu Gothic"/>
                <a:ea typeface="Yu Gothic"/>
              </a:rPr>
              <a:t>が高くても、採用する閾値では誤検知が増える場合がある</a:t>
            </a: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3E22C9DA-0BE2-414D-AA8E-05C71EF8208B}"/>
              </a:ext>
            </a:extLst>
          </p:cNvPr>
          <p:cNvSpPr txBox="1"/>
          <p:nvPr/>
        </p:nvSpPr>
        <p:spPr>
          <a:xfrm>
            <a:off x="1587500" y="9525000"/>
            <a:ext cx="15367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22 kHz</a:t>
            </a:r>
            <a:r>
              <a:rPr lang="ja-JP" altLang="en-US" sz="1100">
                <a:solidFill>
                  <a:srgbClr val="555555"/>
                </a:solidFill>
                <a:latin typeface="Yu Gothic"/>
                <a:ea typeface="Yu Gothic"/>
              </a:rPr>
              <a:t>、無雑音、</a:t>
            </a:r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200 epochs</a:t>
            </a:r>
            <a:r>
              <a:rPr lang="ja-JP" altLang="en-US" sz="1100">
                <a:solidFill>
                  <a:srgbClr val="555555"/>
                </a:solidFill>
                <a:latin typeface="Yu Gothic"/>
                <a:ea typeface="Yu Gothic"/>
              </a:rPr>
              <a:t>、評価は</a:t>
            </a:r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1</a:t>
            </a:r>
            <a:r>
              <a:rPr lang="ja-JP" altLang="en-US" sz="1100">
                <a:solidFill>
                  <a:srgbClr val="555555"/>
                </a:solidFill>
                <a:latin typeface="Yu Gothic"/>
                <a:ea typeface="Yu Gothic"/>
              </a:rPr>
              <a:t>秒単位</a:t>
            </a:r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1080</a:t>
            </a:r>
            <a:r>
              <a:rPr lang="ja-JP" altLang="en-US" sz="1100">
                <a:solidFill>
                  <a:srgbClr val="555555"/>
                </a:solidFill>
                <a:latin typeface="Yu Gothic"/>
                <a:ea typeface="Yu Gothic"/>
              </a:rPr>
              <a:t>秒＝</a:t>
            </a:r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18 WAV</a:t>
            </a:r>
            <a:r>
              <a:rPr lang="ja-JP" altLang="en-US" sz="1100">
                <a:solidFill>
                  <a:srgbClr val="555555"/>
                </a:solidFill>
                <a:latin typeface="Yu Gothic"/>
                <a:ea typeface="Yu Gothic"/>
              </a:rPr>
              <a:t>／方向、各方向</a:t>
            </a:r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1</a:t>
            </a:r>
            <a:r>
              <a:rPr lang="ja-JP" altLang="en-US" sz="1100">
                <a:solidFill>
                  <a:srgbClr val="555555"/>
                </a:solidFill>
                <a:latin typeface="Yu Gothic"/>
                <a:ea typeface="Yu Gothic"/>
              </a:rPr>
              <a:t>評価日</a:t>
            </a:r>
          </a:p>
        </p:txBody>
      </p:sp>
    </p:spTree>
    <p:extLst>
      <p:ext uri="{BB962C8B-B14F-4D97-AF65-F5344CB8AC3E}">
        <p14:creationId xmlns:p14="http://schemas.microsoft.com/office/powerpoint/2010/main" val="17141296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882ED-91FB-1FFD-EED9-E2CCF1CB38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B88D8018-5875-42A3-8F7D-4CCFAC5C7ED6}"/>
              </a:ext>
            </a:extLst>
          </p:cNvPr>
          <p:cNvSpPr/>
          <p:nvPr/>
        </p:nvSpPr>
        <p:spPr>
          <a:xfrm>
            <a:off x="13144500" y="7175500"/>
            <a:ext cx="3746500" cy="1333500"/>
          </a:xfrm>
          <a:prstGeom prst="roundRect">
            <a:avLst/>
          </a:prstGeom>
          <a:solidFill>
            <a:srgbClr val="D4E7E7">
              <a:alpha val="93725"/>
            </a:srgbClr>
          </a:solidFill>
          <a:ln w="31750" cap="flat" cmpd="sng" algn="ctr">
            <a:solidFill>
              <a:srgbClr val="68A8A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B054BC8E-629E-4225-A194-A8830757D511}"/>
              </a:ext>
            </a:extLst>
          </p:cNvPr>
          <p:cNvSpPr/>
          <p:nvPr/>
        </p:nvSpPr>
        <p:spPr>
          <a:xfrm>
            <a:off x="13144500" y="5524500"/>
            <a:ext cx="3746500" cy="1333500"/>
          </a:xfrm>
          <a:prstGeom prst="roundRect">
            <a:avLst/>
          </a:prstGeom>
          <a:solidFill>
            <a:srgbClr val="EAF2F2">
              <a:alpha val="93725"/>
            </a:srgbClr>
          </a:solidFill>
          <a:ln w="31750" cap="flat" cmpd="sng" algn="ctr">
            <a:solidFill>
              <a:srgbClr val="68A8A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22" name="四角形: 角を丸くする 21">
            <a:extLst>
              <a:ext uri="{FF2B5EF4-FFF2-40B4-BE49-F238E27FC236}">
                <a16:creationId xmlns:a16="http://schemas.microsoft.com/office/drawing/2014/main" id="{6E1D3FD1-2FD9-42EC-8CE1-EE5C2FA55D58}"/>
              </a:ext>
            </a:extLst>
          </p:cNvPr>
          <p:cNvSpPr/>
          <p:nvPr/>
        </p:nvSpPr>
        <p:spPr>
          <a:xfrm>
            <a:off x="13144500" y="2984500"/>
            <a:ext cx="3746500" cy="2286000"/>
          </a:xfrm>
          <a:prstGeom prst="roundRect">
            <a:avLst/>
          </a:prstGeom>
          <a:solidFill>
            <a:srgbClr val="EAF2F2">
              <a:alpha val="93725"/>
            </a:srgbClr>
          </a:solidFill>
          <a:ln w="31750" cap="flat" cmpd="sng" algn="ctr">
            <a:solidFill>
              <a:srgbClr val="68A8A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grpSp>
        <p:nvGrpSpPr>
          <p:cNvPr id="57" name="グループ化 56">
            <a:extLst>
              <a:ext uri="{FF2B5EF4-FFF2-40B4-BE49-F238E27FC236}">
                <a16:creationId xmlns:a16="http://schemas.microsoft.com/office/drawing/2014/main" id="{75BFE32B-F018-C4E4-FAB7-80C0D2CDC22E}"/>
              </a:ext>
            </a:extLst>
          </p:cNvPr>
          <p:cNvGrpSpPr/>
          <p:nvPr/>
        </p:nvGrpSpPr>
        <p:grpSpPr>
          <a:xfrm>
            <a:off x="270494" y="246431"/>
            <a:ext cx="698205" cy="10040568"/>
            <a:chOff x="270494" y="246431"/>
            <a:chExt cx="698205" cy="10040568"/>
          </a:xfrm>
        </p:grpSpPr>
        <p:pic>
          <p:nvPicPr>
            <p:cNvPr id="58" name="図 57">
              <a:extLst>
                <a:ext uri="{FF2B5EF4-FFF2-40B4-BE49-F238E27FC236}">
                  <a16:creationId xmlns:a16="http://schemas.microsoft.com/office/drawing/2014/main" id="{1226A433-2043-B47F-E0E8-72C7A0748C7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5400000">
              <a:off x="271822" y="245103"/>
              <a:ext cx="695550" cy="698205"/>
            </a:xfrm>
            <a:prstGeom prst="rect">
              <a:avLst/>
            </a:prstGeom>
          </p:spPr>
        </p:pic>
        <p:sp>
          <p:nvSpPr>
            <p:cNvPr id="59" name="テキスト ボックス 58">
              <a:extLst>
                <a:ext uri="{FF2B5EF4-FFF2-40B4-BE49-F238E27FC236}">
                  <a16:creationId xmlns:a16="http://schemas.microsoft.com/office/drawing/2014/main" id="{F53AD6DF-8ABC-58C4-0BDA-981F712C6600}"/>
                </a:ext>
              </a:extLst>
            </p:cNvPr>
            <p:cNvSpPr txBox="1"/>
            <p:nvPr/>
          </p:nvSpPr>
          <p:spPr>
            <a:xfrm>
              <a:off x="434931" y="1036119"/>
              <a:ext cx="369332" cy="2258787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kumimoji="1" lang="en-US" altLang="ja-JP" sz="1200" dirty="0">
                  <a:latin typeface="Source Han Sans JP" panose="020B0600070205080204" charset="-128"/>
                  <a:ea typeface="Source Han Sans JP" panose="020B0600070205080204" charset="-128"/>
                </a:rPr>
                <a:t>Tokyo University of Science</a:t>
              </a:r>
              <a:endParaRPr kumimoji="1" lang="ja-JP" altLang="en-US" sz="1200" dirty="0">
                <a:latin typeface="Source Han Sans JP" panose="020B0600070205080204" charset="-128"/>
                <a:ea typeface="Source Han Sans JP" panose="020B0600070205080204" charset="-128"/>
              </a:endParaRPr>
            </a:p>
          </p:txBody>
        </p:sp>
        <p:cxnSp>
          <p:nvCxnSpPr>
            <p:cNvPr id="60" name="直線コネクタ 59">
              <a:extLst>
                <a:ext uri="{FF2B5EF4-FFF2-40B4-BE49-F238E27FC236}">
                  <a16:creationId xmlns:a16="http://schemas.microsoft.com/office/drawing/2014/main" id="{583BFE6C-617D-A3DC-D51E-18A6133895AB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" y="3314700"/>
              <a:ext cx="0" cy="6067497"/>
            </a:xfrm>
            <a:prstGeom prst="line">
              <a:avLst/>
            </a:prstGeom>
            <a:ln>
              <a:solidFill>
                <a:srgbClr val="64A4A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フローチャート: 論理積ゲート 60">
              <a:extLst>
                <a:ext uri="{FF2B5EF4-FFF2-40B4-BE49-F238E27FC236}">
                  <a16:creationId xmlns:a16="http://schemas.microsoft.com/office/drawing/2014/main" id="{63EE0EEB-3C48-D4D2-9411-176CDF6BB0D2}"/>
                </a:ext>
              </a:extLst>
            </p:cNvPr>
            <p:cNvSpPr/>
            <p:nvPr/>
          </p:nvSpPr>
          <p:spPr>
            <a:xfrm rot="16200000">
              <a:off x="141940" y="9634201"/>
              <a:ext cx="924597" cy="381000"/>
            </a:xfrm>
            <a:prstGeom prst="flowChartDelay">
              <a:avLst/>
            </a:prstGeom>
            <a:solidFill>
              <a:srgbClr val="64A4A3"/>
            </a:solidFill>
            <a:ln>
              <a:solidFill>
                <a:srgbClr val="64A4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62" name="Group 3">
            <a:extLst>
              <a:ext uri="{FF2B5EF4-FFF2-40B4-BE49-F238E27FC236}">
                <a16:creationId xmlns:a16="http://schemas.microsoft.com/office/drawing/2014/main" id="{66CE81F5-9908-5CB9-4AC3-1FCBE2FF3FAA}"/>
              </a:ext>
            </a:extLst>
          </p:cNvPr>
          <p:cNvGrpSpPr/>
          <p:nvPr/>
        </p:nvGrpSpPr>
        <p:grpSpPr>
          <a:xfrm>
            <a:off x="1371600" y="1069258"/>
            <a:ext cx="16064988" cy="125708"/>
            <a:chOff x="0" y="0"/>
            <a:chExt cx="22021800" cy="190500"/>
          </a:xfrm>
        </p:grpSpPr>
        <p:grpSp>
          <p:nvGrpSpPr>
            <p:cNvPr id="63" name="Group 4">
              <a:extLst>
                <a:ext uri="{FF2B5EF4-FFF2-40B4-BE49-F238E27FC236}">
                  <a16:creationId xmlns:a16="http://schemas.microsoft.com/office/drawing/2014/main" id="{F18484CA-1C82-F32C-E492-71BB690B31BD}"/>
                </a:ext>
              </a:extLst>
            </p:cNvPr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70" name="Freeform 5">
                <a:extLst>
                  <a:ext uri="{FF2B5EF4-FFF2-40B4-BE49-F238E27FC236}">
                    <a16:creationId xmlns:a16="http://schemas.microsoft.com/office/drawing/2014/main" id="{99894FA7-D161-F806-1A5F-52AABFBB0842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71" name="TextBox 6">
                <a:extLst>
                  <a:ext uri="{FF2B5EF4-FFF2-40B4-BE49-F238E27FC236}">
                    <a16:creationId xmlns:a16="http://schemas.microsoft.com/office/drawing/2014/main" id="{72556C4C-3473-3018-70C4-085FA6F987B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64" name="Group 7">
              <a:extLst>
                <a:ext uri="{FF2B5EF4-FFF2-40B4-BE49-F238E27FC236}">
                  <a16:creationId xmlns:a16="http://schemas.microsoft.com/office/drawing/2014/main" id="{F7A34761-E638-B2A2-9E72-32563CB39D5B}"/>
                </a:ext>
              </a:extLst>
            </p:cNvPr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68" name="Freeform 8">
                <a:extLst>
                  <a:ext uri="{FF2B5EF4-FFF2-40B4-BE49-F238E27FC236}">
                    <a16:creationId xmlns:a16="http://schemas.microsoft.com/office/drawing/2014/main" id="{66779A7D-5ECB-D310-B556-EC0E21709BC4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9" name="TextBox 9">
                <a:extLst>
                  <a:ext uri="{FF2B5EF4-FFF2-40B4-BE49-F238E27FC236}">
                    <a16:creationId xmlns:a16="http://schemas.microsoft.com/office/drawing/2014/main" id="{96F89EAF-9FB5-76B1-24F0-8313C0D5D3B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65" name="Group 10">
              <a:extLst>
                <a:ext uri="{FF2B5EF4-FFF2-40B4-BE49-F238E27FC236}">
                  <a16:creationId xmlns:a16="http://schemas.microsoft.com/office/drawing/2014/main" id="{0F7B6D61-78D9-D77B-900A-F293F294C432}"/>
                </a:ext>
              </a:extLst>
            </p:cNvPr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66" name="Freeform 11">
                <a:extLst>
                  <a:ext uri="{FF2B5EF4-FFF2-40B4-BE49-F238E27FC236}">
                    <a16:creationId xmlns:a16="http://schemas.microsoft.com/office/drawing/2014/main" id="{3CE663F6-1B9A-DFEE-C6F5-CE676E3CD077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7" name="TextBox 12">
                <a:extLst>
                  <a:ext uri="{FF2B5EF4-FFF2-40B4-BE49-F238E27FC236}">
                    <a16:creationId xmlns:a16="http://schemas.microsoft.com/office/drawing/2014/main" id="{509D1305-F68D-3300-CC15-A5584E7FBBA7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72" name="スライド番号プレースホルダー 28">
            <a:extLst>
              <a:ext uri="{FF2B5EF4-FFF2-40B4-BE49-F238E27FC236}">
                <a16:creationId xmlns:a16="http://schemas.microsoft.com/office/drawing/2014/main" id="{47B74506-C052-E656-B19A-11FB4A1174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70494" y="9748987"/>
            <a:ext cx="599456" cy="462299"/>
          </a:xfrm>
        </p:spPr>
        <p:txBody>
          <a:bodyPr/>
          <a:lstStyle/>
          <a:p>
            <a:fld id="{B6F15528-21DE-4FAA-801E-634DDDAF4B2B}" type="slidenum">
              <a:rPr lang="en-US" sz="2400" smtClean="0">
                <a:solidFill>
                  <a:schemeClr val="bg1"/>
                </a:solidFill>
              </a:rPr>
              <a:pPr/>
              <a:t>7</a:t>
            </a:fld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73" name="TextBox 24">
            <a:extLst>
              <a:ext uri="{FF2B5EF4-FFF2-40B4-BE49-F238E27FC236}">
                <a16:creationId xmlns:a16="http://schemas.microsoft.com/office/drawing/2014/main" id="{446B9C47-DB87-1000-32F5-EA27475F3627}"/>
              </a:ext>
            </a:extLst>
          </p:cNvPr>
          <p:cNvSpPr txBox="1"/>
          <p:nvPr/>
        </p:nvSpPr>
        <p:spPr>
          <a:xfrm>
            <a:off x="1806795" y="305043"/>
            <a:ext cx="9652000" cy="700576"/>
          </a:xfrm>
          <a:prstGeom prst="rect">
            <a:avLst/>
          </a:prstGeom>
        </p:spPr>
        <p:txBody>
          <a:bodyPr wrap="square" lIns="0" tIns="0" rIns="0" bIns="0" rtlCol="0" anchor="t">
            <a:normAutofit/>
          </a:bodyPr>
          <a:lstStyle/>
          <a:p>
            <a:pPr algn="l">
              <a:lnSpc>
                <a:spcPts val="5880"/>
              </a:lnSpc>
              <a:spcBef>
                <a:spcPct val="0"/>
              </a:spcBef>
            </a:pPr>
            <a:r>
              <a:rPr lang="ja-JP" altLang="en-US" sz="3000" b="1">
                <a:solidFill>
                  <a:srgbClr val="202020"/>
                </a:solidFill>
                <a:latin typeface="Yu Gothic"/>
                <a:ea typeface="Yu Gothic"/>
              </a:rPr>
              <a:t>統合の原因分析</a:t>
            </a:r>
            <a:endParaRPr lang="ja-JP" altLang="en-US" sz="3000" b="1" dirty="0">
              <a:solidFill>
                <a:srgbClr val="202020"/>
              </a:solidFill>
              <a:latin typeface="Yu Gothic"/>
              <a:ea typeface="Yu Gothic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E83E6D8-4D06-4307-AB93-614BA33A019E}"/>
              </a:ext>
            </a:extLst>
          </p:cNvPr>
          <p:cNvSpPr txBox="1"/>
          <p:nvPr/>
        </p:nvSpPr>
        <p:spPr>
          <a:xfrm>
            <a:off x="1587500" y="1422400"/>
            <a:ext cx="15367000" cy="914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sz="3200" b="1">
                <a:solidFill>
                  <a:srgbClr val="222222"/>
                </a:solidFill>
                <a:latin typeface="Yu Gothic"/>
                <a:ea typeface="Yu Gothic"/>
              </a:rPr>
              <a:t>ONB</a:t>
            </a:r>
            <a:r>
              <a:rPr lang="ja-JP" altLang="en-US" sz="3200" b="1">
                <a:solidFill>
                  <a:srgbClr val="222222"/>
                </a:solidFill>
                <a:latin typeface="Yu Gothic"/>
                <a:ea typeface="Yu Gothic"/>
              </a:rPr>
              <a:t>以降の改善より、</a:t>
            </a:r>
            <a:r>
              <a:rPr lang="en-US" altLang="ja-JP" sz="3200" b="1">
                <a:solidFill>
                  <a:srgbClr val="222222"/>
                </a:solidFill>
                <a:latin typeface="Yu Gothic"/>
                <a:ea typeface="Yu Gothic"/>
              </a:rPr>
              <a:t>ONB</a:t>
            </a:r>
            <a:r>
              <a:rPr lang="ja-JP" altLang="en-US" sz="3200" b="1">
                <a:solidFill>
                  <a:srgbClr val="222222"/>
                </a:solidFill>
                <a:latin typeface="Yu Gothic"/>
                <a:ea typeface="Yu Gothic"/>
              </a:rPr>
              <a:t>前の誤差増加が大きかった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830C849-88F4-4B64-BF9E-81F08331E1FE}"/>
              </a:ext>
            </a:extLst>
          </p:cNvPr>
          <p:cNvSpPr txBox="1"/>
          <p:nvPr/>
        </p:nvSpPr>
        <p:spPr>
          <a:xfrm>
            <a:off x="1841500" y="2794000"/>
            <a:ext cx="8255000" cy="482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ja-JP" altLang="en-US" sz="2200" b="1">
                <a:solidFill>
                  <a:srgbClr val="2F6F73"/>
                </a:solidFill>
                <a:latin typeface="Yu Gothic"/>
                <a:ea typeface="Yu Gothic"/>
              </a:rPr>
              <a:t>逆方向 </a:t>
            </a:r>
            <a:r>
              <a:rPr lang="en-US" altLang="ja-JP" sz="2200" b="1">
                <a:solidFill>
                  <a:srgbClr val="2F6F73"/>
                </a:solidFill>
                <a:latin typeface="Yu Gothic"/>
                <a:ea typeface="Yu Gothic"/>
              </a:rPr>
              <a:t>RMSE</a:t>
            </a:r>
            <a:r>
              <a:rPr lang="ja-JP" altLang="en-US" sz="2200" b="1">
                <a:solidFill>
                  <a:srgbClr val="2F6F73"/>
                </a:solidFill>
                <a:latin typeface="Yu Gothic"/>
                <a:ea typeface="Yu Gothic"/>
              </a:rPr>
              <a:t>（</a:t>
            </a:r>
            <a:r>
              <a:rPr lang="en-US" altLang="ja-JP" sz="2200" b="1">
                <a:solidFill>
                  <a:srgbClr val="2F6F73"/>
                </a:solidFill>
                <a:latin typeface="Yu Gothic"/>
                <a:ea typeface="Yu Gothic"/>
              </a:rPr>
              <a:t>kW/m²</a:t>
            </a:r>
            <a:r>
              <a:rPr lang="ja-JP" altLang="en-US" sz="2200" b="1">
                <a:solidFill>
                  <a:srgbClr val="2F6F73"/>
                </a:solidFill>
                <a:latin typeface="Yu Gothic"/>
                <a:ea typeface="Yu Gothic"/>
              </a:rPr>
              <a:t>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FAECCC9-9DAF-4A42-BDFD-AF47135F4B2C}"/>
              </a:ext>
            </a:extLst>
          </p:cNvPr>
          <p:cNvSpPr txBox="1"/>
          <p:nvPr/>
        </p:nvSpPr>
        <p:spPr>
          <a:xfrm>
            <a:off x="13462000" y="3175000"/>
            <a:ext cx="31115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ja-JP" altLang="en-US" b="1">
                <a:solidFill>
                  <a:srgbClr val="2F6F73"/>
                </a:solidFill>
                <a:latin typeface="Yu Gothic"/>
                <a:ea typeface="Yu Gothic"/>
              </a:rPr>
              <a:t>逆方向の重み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802700F5-D40E-46E5-9406-DC6705A3876E}"/>
              </a:ext>
            </a:extLst>
          </p:cNvPr>
          <p:cNvSpPr txBox="1"/>
          <p:nvPr/>
        </p:nvSpPr>
        <p:spPr>
          <a:xfrm>
            <a:off x="13462000" y="3683000"/>
            <a:ext cx="3111500" cy="1270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fr-FR" altLang="ja-JP" sz="2000" b="1">
                <a:solidFill>
                  <a:srgbClr val="222222"/>
                </a:solidFill>
                <a:latin typeface="Yu Gothic"/>
                <a:ea typeface="Yu Gothic"/>
              </a:rPr>
              <a:t>RF 0.15
Conformer 0.59
AlexNet 0.26</a:t>
            </a:r>
            <a:endParaRPr lang="ja-JP" altLang="en-US" sz="2000" b="1">
              <a:solidFill>
                <a:srgbClr val="222222"/>
              </a:solidFill>
              <a:latin typeface="Yu Gothic"/>
              <a:ea typeface="Yu Gothic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6327F78-43AA-438C-99DD-8A1D24BAF9E4}"/>
              </a:ext>
            </a:extLst>
          </p:cNvPr>
          <p:cNvSpPr txBox="1"/>
          <p:nvPr/>
        </p:nvSpPr>
        <p:spPr>
          <a:xfrm>
            <a:off x="13462000" y="5740400"/>
            <a:ext cx="3111500" cy="825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ja-JP" altLang="en-US" sz="1900" b="1">
                <a:solidFill>
                  <a:srgbClr val="2F6F73"/>
                </a:solidFill>
                <a:latin typeface="Yu Gothic"/>
                <a:ea typeface="Yu Gothic"/>
              </a:rPr>
              <a:t>内部</a:t>
            </a:r>
            <a:r>
              <a:rPr lang="en-US" altLang="ja-JP" sz="1900" b="1">
                <a:solidFill>
                  <a:srgbClr val="2F6F73"/>
                </a:solidFill>
                <a:latin typeface="Yu Gothic"/>
                <a:ea typeface="Yu Gothic"/>
              </a:rPr>
              <a:t>holdout
4 WAV</a:t>
            </a:r>
            <a:endParaRPr lang="ja-JP" altLang="en-US" sz="1900" b="1">
              <a:solidFill>
                <a:srgbClr val="2F6F73"/>
              </a:solidFill>
              <a:latin typeface="Yu Gothic"/>
              <a:ea typeface="Yu Gothic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76D9003E-1D7C-483A-BCAF-7ECDF86DFA24}"/>
              </a:ext>
            </a:extLst>
          </p:cNvPr>
          <p:cNvSpPr txBox="1"/>
          <p:nvPr/>
        </p:nvSpPr>
        <p:spPr>
          <a:xfrm>
            <a:off x="13462000" y="7366000"/>
            <a:ext cx="3111500" cy="889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ja-JP" altLang="en-US" sz="2000" b="1">
                <a:solidFill>
                  <a:srgbClr val="214F52"/>
                </a:solidFill>
                <a:latin typeface="Yu Gothic"/>
                <a:ea typeface="Yu Gothic"/>
              </a:rPr>
              <a:t>等重み平均
</a:t>
            </a:r>
            <a:r>
              <a:rPr lang="en-US" altLang="ja-JP" sz="2000" b="1">
                <a:solidFill>
                  <a:srgbClr val="214F52"/>
                </a:solidFill>
                <a:latin typeface="Yu Gothic"/>
                <a:ea typeface="Yu Gothic"/>
              </a:rPr>
              <a:t>R² 0.895 → 0.912</a:t>
            </a:r>
            <a:endParaRPr lang="ja-JP" altLang="en-US" sz="2000" b="1">
              <a:solidFill>
                <a:srgbClr val="214F52"/>
              </a:solidFill>
              <a:latin typeface="Yu Gothic"/>
              <a:ea typeface="Yu Gothic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13A56D8A-7D7B-40AC-8EA8-35A5C221B25B}"/>
              </a:ext>
            </a:extLst>
          </p:cNvPr>
          <p:cNvSpPr txBox="1"/>
          <p:nvPr/>
        </p:nvSpPr>
        <p:spPr>
          <a:xfrm>
            <a:off x="1841500" y="8636000"/>
            <a:ext cx="10541000" cy="609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ja-JP" altLang="en-US" b="1">
                <a:solidFill>
                  <a:srgbClr val="222222"/>
                </a:solidFill>
                <a:latin typeface="Yu Gothic"/>
                <a:ea typeface="Yu Gothic"/>
              </a:rPr>
              <a:t>同じ単体予測でも重みの決め方で全域性能が変わるため、選別効果と重み転移を分けて検証する。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C8C30393-83F4-4BBB-B408-A7F1507CC9E1}"/>
              </a:ext>
            </a:extLst>
          </p:cNvPr>
          <p:cNvSpPr txBox="1"/>
          <p:nvPr/>
        </p:nvSpPr>
        <p:spPr>
          <a:xfrm>
            <a:off x="1587500" y="9525000"/>
            <a:ext cx="15367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22 kHz</a:t>
            </a:r>
            <a:r>
              <a:rPr lang="ja-JP" altLang="en-US" sz="1100">
                <a:solidFill>
                  <a:srgbClr val="555555"/>
                </a:solidFill>
                <a:latin typeface="Yu Gothic"/>
                <a:ea typeface="Yu Gothic"/>
              </a:rPr>
              <a:t>、無雑音、</a:t>
            </a:r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200 epochs</a:t>
            </a:r>
            <a:r>
              <a:rPr lang="ja-JP" altLang="en-US" sz="1100">
                <a:solidFill>
                  <a:srgbClr val="555555"/>
                </a:solidFill>
                <a:latin typeface="Yu Gothic"/>
                <a:ea typeface="Yu Gothic"/>
              </a:rPr>
              <a:t>、評価は</a:t>
            </a:r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1</a:t>
            </a:r>
            <a:r>
              <a:rPr lang="ja-JP" altLang="en-US" sz="1100">
                <a:solidFill>
                  <a:srgbClr val="555555"/>
                </a:solidFill>
                <a:latin typeface="Yu Gothic"/>
                <a:ea typeface="Yu Gothic"/>
              </a:rPr>
              <a:t>秒単位</a:t>
            </a:r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1080</a:t>
            </a:r>
            <a:r>
              <a:rPr lang="ja-JP" altLang="en-US" sz="1100">
                <a:solidFill>
                  <a:srgbClr val="555555"/>
                </a:solidFill>
                <a:latin typeface="Yu Gothic"/>
                <a:ea typeface="Yu Gothic"/>
              </a:rPr>
              <a:t>秒＝</a:t>
            </a:r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18 WAV</a:t>
            </a:r>
            <a:r>
              <a:rPr lang="ja-JP" altLang="en-US" sz="1100">
                <a:solidFill>
                  <a:srgbClr val="555555"/>
                </a:solidFill>
                <a:latin typeface="Yu Gothic"/>
                <a:ea typeface="Yu Gothic"/>
              </a:rPr>
              <a:t>／方向、各方向</a:t>
            </a:r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1</a:t>
            </a:r>
            <a:r>
              <a:rPr lang="ja-JP" altLang="en-US" sz="1100">
                <a:solidFill>
                  <a:srgbClr val="555555"/>
                </a:solidFill>
                <a:latin typeface="Yu Gothic"/>
                <a:ea typeface="Yu Gothic"/>
              </a:rPr>
              <a:t>評価日</a:t>
            </a:r>
          </a:p>
        </p:txBody>
      </p:sp>
      <p:graphicFrame>
        <p:nvGraphicFramePr>
          <p:cNvPr id="901" name="RMSE chart"/>
          <p:cNvGraphicFramePr/>
          <p:nvPr/>
        </p:nvGraphicFramePr>
        <p:xfrm>
          <a:off x="1841500" y="3429000"/>
          <a:ext cx="10541000" cy="482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17129692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DC6B7A-BBA2-7F7C-7C94-C50C16F85C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四角形: 角を丸くする 50">
            <a:extLst>
              <a:ext uri="{FF2B5EF4-FFF2-40B4-BE49-F238E27FC236}">
                <a16:creationId xmlns:a16="http://schemas.microsoft.com/office/drawing/2014/main" id="{1ACD562F-7F3A-4892-8DF7-CD4E713C82B6}"/>
              </a:ext>
            </a:extLst>
          </p:cNvPr>
          <p:cNvSpPr/>
          <p:nvPr/>
        </p:nvSpPr>
        <p:spPr>
          <a:xfrm>
            <a:off x="1841500" y="7747000"/>
            <a:ext cx="15049500" cy="571500"/>
          </a:xfrm>
          <a:prstGeom prst="roundRect">
            <a:avLst/>
          </a:prstGeom>
          <a:solidFill>
            <a:srgbClr val="EAF2F2">
              <a:alpha val="93725"/>
            </a:srgbClr>
          </a:solidFill>
          <a:ln w="31750" cap="flat" cmpd="sng" algn="ctr">
            <a:solidFill>
              <a:srgbClr val="68A8A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grpSp>
        <p:nvGrpSpPr>
          <p:cNvPr id="57" name="グループ化 56">
            <a:extLst>
              <a:ext uri="{FF2B5EF4-FFF2-40B4-BE49-F238E27FC236}">
                <a16:creationId xmlns:a16="http://schemas.microsoft.com/office/drawing/2014/main" id="{D53115BB-4676-8FEF-7373-A118571B75B5}"/>
              </a:ext>
            </a:extLst>
          </p:cNvPr>
          <p:cNvGrpSpPr/>
          <p:nvPr/>
        </p:nvGrpSpPr>
        <p:grpSpPr>
          <a:xfrm>
            <a:off x="270494" y="246431"/>
            <a:ext cx="698205" cy="10040568"/>
            <a:chOff x="270494" y="246431"/>
            <a:chExt cx="698205" cy="10040568"/>
          </a:xfrm>
        </p:grpSpPr>
        <p:pic>
          <p:nvPicPr>
            <p:cNvPr id="58" name="図 57">
              <a:extLst>
                <a:ext uri="{FF2B5EF4-FFF2-40B4-BE49-F238E27FC236}">
                  <a16:creationId xmlns:a16="http://schemas.microsoft.com/office/drawing/2014/main" id="{DC50DE46-9569-2CF9-EEFD-5E4269CF5D8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5400000">
              <a:off x="271822" y="245103"/>
              <a:ext cx="695550" cy="698205"/>
            </a:xfrm>
            <a:prstGeom prst="rect">
              <a:avLst/>
            </a:prstGeom>
          </p:spPr>
        </p:pic>
        <p:sp>
          <p:nvSpPr>
            <p:cNvPr id="59" name="テキスト ボックス 58">
              <a:extLst>
                <a:ext uri="{FF2B5EF4-FFF2-40B4-BE49-F238E27FC236}">
                  <a16:creationId xmlns:a16="http://schemas.microsoft.com/office/drawing/2014/main" id="{32F39ADD-556E-FD1C-8606-2D1BF514D630}"/>
                </a:ext>
              </a:extLst>
            </p:cNvPr>
            <p:cNvSpPr txBox="1"/>
            <p:nvPr/>
          </p:nvSpPr>
          <p:spPr>
            <a:xfrm>
              <a:off x="434931" y="1036119"/>
              <a:ext cx="369332" cy="2258787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kumimoji="1" lang="en-US" altLang="ja-JP" sz="1200" dirty="0">
                  <a:latin typeface="Source Han Sans JP" panose="020B0600070205080204" charset="-128"/>
                  <a:ea typeface="Source Han Sans JP" panose="020B0600070205080204" charset="-128"/>
                </a:rPr>
                <a:t>Tokyo University of Science</a:t>
              </a:r>
              <a:endParaRPr kumimoji="1" lang="ja-JP" altLang="en-US" sz="1200" dirty="0">
                <a:latin typeface="Source Han Sans JP" panose="020B0600070205080204" charset="-128"/>
                <a:ea typeface="Source Han Sans JP" panose="020B0600070205080204" charset="-128"/>
              </a:endParaRPr>
            </a:p>
          </p:txBody>
        </p:sp>
        <p:cxnSp>
          <p:nvCxnSpPr>
            <p:cNvPr id="60" name="直線コネクタ 59">
              <a:extLst>
                <a:ext uri="{FF2B5EF4-FFF2-40B4-BE49-F238E27FC236}">
                  <a16:creationId xmlns:a16="http://schemas.microsoft.com/office/drawing/2014/main" id="{CB3E2A75-09AC-578E-12EB-B6B0417CA1E4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" y="3314700"/>
              <a:ext cx="0" cy="6067497"/>
            </a:xfrm>
            <a:prstGeom prst="line">
              <a:avLst/>
            </a:prstGeom>
            <a:ln>
              <a:solidFill>
                <a:srgbClr val="64A4A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フローチャート: 論理積ゲート 60">
              <a:extLst>
                <a:ext uri="{FF2B5EF4-FFF2-40B4-BE49-F238E27FC236}">
                  <a16:creationId xmlns:a16="http://schemas.microsoft.com/office/drawing/2014/main" id="{B65B272C-A5D5-4CB5-BC19-E30EA1D49C2B}"/>
                </a:ext>
              </a:extLst>
            </p:cNvPr>
            <p:cNvSpPr/>
            <p:nvPr/>
          </p:nvSpPr>
          <p:spPr>
            <a:xfrm rot="16200000">
              <a:off x="141940" y="9634201"/>
              <a:ext cx="924597" cy="381000"/>
            </a:xfrm>
            <a:prstGeom prst="flowChartDelay">
              <a:avLst/>
            </a:prstGeom>
            <a:solidFill>
              <a:srgbClr val="64A4A3"/>
            </a:solidFill>
            <a:ln>
              <a:solidFill>
                <a:srgbClr val="64A4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62" name="Group 3">
            <a:extLst>
              <a:ext uri="{FF2B5EF4-FFF2-40B4-BE49-F238E27FC236}">
                <a16:creationId xmlns:a16="http://schemas.microsoft.com/office/drawing/2014/main" id="{DF2F1FC0-E61B-F7F2-CC05-9284F1F874A9}"/>
              </a:ext>
            </a:extLst>
          </p:cNvPr>
          <p:cNvGrpSpPr/>
          <p:nvPr/>
        </p:nvGrpSpPr>
        <p:grpSpPr>
          <a:xfrm>
            <a:off x="1371600" y="1069258"/>
            <a:ext cx="16064988" cy="125708"/>
            <a:chOff x="0" y="0"/>
            <a:chExt cx="22021800" cy="190500"/>
          </a:xfrm>
        </p:grpSpPr>
        <p:grpSp>
          <p:nvGrpSpPr>
            <p:cNvPr id="63" name="Group 4">
              <a:extLst>
                <a:ext uri="{FF2B5EF4-FFF2-40B4-BE49-F238E27FC236}">
                  <a16:creationId xmlns:a16="http://schemas.microsoft.com/office/drawing/2014/main" id="{C9F44B98-80E0-A756-8887-6397FCA0767C}"/>
                </a:ext>
              </a:extLst>
            </p:cNvPr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70" name="Freeform 5">
                <a:extLst>
                  <a:ext uri="{FF2B5EF4-FFF2-40B4-BE49-F238E27FC236}">
                    <a16:creationId xmlns:a16="http://schemas.microsoft.com/office/drawing/2014/main" id="{2E8A69AF-5FB0-9637-3552-65D6D000109F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71" name="TextBox 6">
                <a:extLst>
                  <a:ext uri="{FF2B5EF4-FFF2-40B4-BE49-F238E27FC236}">
                    <a16:creationId xmlns:a16="http://schemas.microsoft.com/office/drawing/2014/main" id="{E6D22F2B-0227-2669-DB06-9260C7E4EC6C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64" name="Group 7">
              <a:extLst>
                <a:ext uri="{FF2B5EF4-FFF2-40B4-BE49-F238E27FC236}">
                  <a16:creationId xmlns:a16="http://schemas.microsoft.com/office/drawing/2014/main" id="{DD791D53-6622-F6E6-468E-FA0E40BA8BDC}"/>
                </a:ext>
              </a:extLst>
            </p:cNvPr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68" name="Freeform 8">
                <a:extLst>
                  <a:ext uri="{FF2B5EF4-FFF2-40B4-BE49-F238E27FC236}">
                    <a16:creationId xmlns:a16="http://schemas.microsoft.com/office/drawing/2014/main" id="{658A6FCA-2782-60E6-8ED8-8BBCA1B74E74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9" name="TextBox 9">
                <a:extLst>
                  <a:ext uri="{FF2B5EF4-FFF2-40B4-BE49-F238E27FC236}">
                    <a16:creationId xmlns:a16="http://schemas.microsoft.com/office/drawing/2014/main" id="{1C0DB6D5-1F47-662F-F20C-5C60496C1C32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65" name="Group 10">
              <a:extLst>
                <a:ext uri="{FF2B5EF4-FFF2-40B4-BE49-F238E27FC236}">
                  <a16:creationId xmlns:a16="http://schemas.microsoft.com/office/drawing/2014/main" id="{BA5A87E2-7EB4-701B-D4E9-29108DE56E26}"/>
                </a:ext>
              </a:extLst>
            </p:cNvPr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66" name="Freeform 11">
                <a:extLst>
                  <a:ext uri="{FF2B5EF4-FFF2-40B4-BE49-F238E27FC236}">
                    <a16:creationId xmlns:a16="http://schemas.microsoft.com/office/drawing/2014/main" id="{A2A54EDF-CE99-D170-6E87-5E37252FA44F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7" name="TextBox 12">
                <a:extLst>
                  <a:ext uri="{FF2B5EF4-FFF2-40B4-BE49-F238E27FC236}">
                    <a16:creationId xmlns:a16="http://schemas.microsoft.com/office/drawing/2014/main" id="{40A00CD3-1C19-635B-A208-D902D538413B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72" name="スライド番号プレースホルダー 28">
            <a:extLst>
              <a:ext uri="{FF2B5EF4-FFF2-40B4-BE49-F238E27FC236}">
                <a16:creationId xmlns:a16="http://schemas.microsoft.com/office/drawing/2014/main" id="{01D2D754-48E3-D797-3CDA-7E4DF46DD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70494" y="9748987"/>
            <a:ext cx="599456" cy="462299"/>
          </a:xfrm>
        </p:spPr>
        <p:txBody>
          <a:bodyPr/>
          <a:lstStyle/>
          <a:p>
            <a:fld id="{B6F15528-21DE-4FAA-801E-634DDDAF4B2B}" type="slidenum">
              <a:rPr lang="en-US" sz="2400" smtClean="0">
                <a:solidFill>
                  <a:schemeClr val="bg1"/>
                </a:solidFill>
              </a:rPr>
              <a:pPr/>
              <a:t>8</a:t>
            </a:fld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73" name="TextBox 24">
            <a:extLst>
              <a:ext uri="{FF2B5EF4-FFF2-40B4-BE49-F238E27FC236}">
                <a16:creationId xmlns:a16="http://schemas.microsoft.com/office/drawing/2014/main" id="{972BE9D2-9DD4-C399-B2ED-10498EC98BFD}"/>
              </a:ext>
            </a:extLst>
          </p:cNvPr>
          <p:cNvSpPr txBox="1"/>
          <p:nvPr/>
        </p:nvSpPr>
        <p:spPr>
          <a:xfrm>
            <a:off x="1806795" y="305043"/>
            <a:ext cx="10160000" cy="700576"/>
          </a:xfrm>
          <a:prstGeom prst="rect">
            <a:avLst/>
          </a:prstGeom>
        </p:spPr>
        <p:txBody>
          <a:bodyPr wrap="square" lIns="0" tIns="0" rIns="0" bIns="0" rtlCol="0" anchor="t">
            <a:normAutofit/>
          </a:bodyPr>
          <a:lstStyle/>
          <a:p>
            <a:pPr algn="l">
              <a:lnSpc>
                <a:spcPts val="5880"/>
              </a:lnSpc>
              <a:spcBef>
                <a:spcPct val="0"/>
              </a:spcBef>
            </a:pPr>
            <a:r>
              <a:rPr lang="ja-JP" altLang="en-US" sz="3000" b="1">
                <a:solidFill>
                  <a:srgbClr val="202020"/>
                </a:solidFill>
                <a:latin typeface="Yu Gothic"/>
                <a:ea typeface="Yu Gothic"/>
              </a:rPr>
              <a:t>説明性</a:t>
            </a:r>
            <a:endParaRPr lang="ja-JP" altLang="en-US" sz="3000" b="1" dirty="0">
              <a:solidFill>
                <a:srgbClr val="202020"/>
              </a:solidFill>
              <a:latin typeface="Yu Gothic"/>
              <a:ea typeface="Yu Gothic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03F18AA-4911-423E-A3F4-5D9D577937E8}"/>
              </a:ext>
            </a:extLst>
          </p:cNvPr>
          <p:cNvSpPr txBox="1"/>
          <p:nvPr/>
        </p:nvSpPr>
        <p:spPr>
          <a:xfrm>
            <a:off x="1587500" y="1422400"/>
            <a:ext cx="15367000" cy="914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ja-JP" altLang="en-US" sz="3200" b="1">
                <a:solidFill>
                  <a:srgbClr val="222222"/>
                </a:solidFill>
                <a:latin typeface="Yu Gothic"/>
                <a:ea typeface="Yu Gothic"/>
              </a:rPr>
              <a:t>モデルごとに影響の大きい帯域が異なる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23BAB8CA-6DE6-4B36-AC15-0F187D182E16}"/>
              </a:ext>
            </a:extLst>
          </p:cNvPr>
          <p:cNvSpPr txBox="1"/>
          <p:nvPr/>
        </p:nvSpPr>
        <p:spPr>
          <a:xfrm>
            <a:off x="1841500" y="2794000"/>
            <a:ext cx="10795000" cy="482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ja-JP" altLang="en-US" sz="2200" b="1">
                <a:solidFill>
                  <a:srgbClr val="2F6F73"/>
                </a:solidFill>
                <a:latin typeface="Yu Gothic"/>
                <a:ea typeface="Yu Gothic"/>
              </a:rPr>
              <a:t>全テスト秒を用いた帯域マスク（</a:t>
            </a:r>
            <a:r>
              <a:rPr lang="en-US" altLang="ja-JP" sz="2200" b="1">
                <a:solidFill>
                  <a:srgbClr val="2F6F73"/>
                </a:solidFill>
                <a:latin typeface="Yu Gothic"/>
                <a:ea typeface="Yu Gothic"/>
              </a:rPr>
              <a:t>0–22 kHz</a:t>
            </a:r>
            <a:r>
              <a:rPr lang="ja-JP" altLang="en-US" sz="2200" b="1">
                <a:solidFill>
                  <a:srgbClr val="2F6F73"/>
                </a:solidFill>
                <a:latin typeface="Yu Gothic"/>
                <a:ea typeface="Yu Gothic"/>
              </a:rPr>
              <a:t>）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9133F420-78A5-46C7-BBCE-3A69DA811AAB}"/>
              </a:ext>
            </a:extLst>
          </p:cNvPr>
          <p:cNvSpPr txBox="1"/>
          <p:nvPr/>
        </p:nvSpPr>
        <p:spPr>
          <a:xfrm>
            <a:off x="1841500" y="3810000"/>
            <a:ext cx="1270000" cy="571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b="1">
                <a:solidFill>
                  <a:srgbClr val="222222"/>
                </a:solidFill>
                <a:latin typeface="Yu Gothic"/>
                <a:ea typeface="Yu Gothic"/>
              </a:rPr>
              <a:t>RF</a:t>
            </a:r>
            <a:endParaRPr lang="ja-JP" altLang="en-US" b="1">
              <a:solidFill>
                <a:srgbClr val="222222"/>
              </a:solidFill>
              <a:latin typeface="Yu Gothic"/>
              <a:ea typeface="Yu Gothic"/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57FA128E-A803-4837-9511-A2C2980B19EB}"/>
              </a:ext>
            </a:extLst>
          </p:cNvPr>
          <p:cNvSpPr/>
          <p:nvPr/>
        </p:nvSpPr>
        <p:spPr>
          <a:xfrm>
            <a:off x="3175000" y="3873500"/>
            <a:ext cx="11811000" cy="444500"/>
          </a:xfrm>
          <a:prstGeom prst="rect">
            <a:avLst/>
          </a:prstGeom>
          <a:solidFill>
            <a:srgbClr val="E7ECEC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64E9A3CE-0D2E-4952-ADBB-F68A39020B34}"/>
              </a:ext>
            </a:extLst>
          </p:cNvPr>
          <p:cNvSpPr/>
          <p:nvPr/>
        </p:nvSpPr>
        <p:spPr>
          <a:xfrm>
            <a:off x="4248727" y="3873500"/>
            <a:ext cx="1610590" cy="444500"/>
          </a:xfrm>
          <a:prstGeom prst="rect">
            <a:avLst/>
          </a:prstGeom>
          <a:solidFill>
            <a:srgbClr val="5FA7A5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AF332AAA-C71B-4B69-B895-CC1F59CBED76}"/>
              </a:ext>
            </a:extLst>
          </p:cNvPr>
          <p:cNvSpPr txBox="1"/>
          <p:nvPr/>
        </p:nvSpPr>
        <p:spPr>
          <a:xfrm>
            <a:off x="15176500" y="3810000"/>
            <a:ext cx="1714500" cy="571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sz="1900" b="1">
                <a:solidFill>
                  <a:srgbClr val="5FA7A5"/>
                </a:solidFill>
                <a:latin typeface="Yu Gothic"/>
                <a:ea typeface="Yu Gothic"/>
              </a:rPr>
              <a:t>2–5 kHz</a:t>
            </a:r>
            <a:endParaRPr lang="ja-JP" altLang="en-US" sz="1900" b="1">
              <a:solidFill>
                <a:srgbClr val="5FA7A5"/>
              </a:solidFill>
              <a:latin typeface="Yu Gothic"/>
              <a:ea typeface="Yu Gothic"/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4B1D5A6A-F99E-4595-ABDD-45CC367935AD}"/>
              </a:ext>
            </a:extLst>
          </p:cNvPr>
          <p:cNvSpPr txBox="1"/>
          <p:nvPr/>
        </p:nvSpPr>
        <p:spPr>
          <a:xfrm>
            <a:off x="1841500" y="5334000"/>
            <a:ext cx="1270000" cy="571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 fontScale="92500" lnSpcReduction="10000"/>
          </a:bodyPr>
          <a:lstStyle/>
          <a:p>
            <a:pPr algn="l"/>
            <a:r>
              <a:rPr lang="en-US" altLang="ja-JP" b="1">
                <a:solidFill>
                  <a:srgbClr val="222222"/>
                </a:solidFill>
                <a:latin typeface="Yu Gothic"/>
                <a:ea typeface="Yu Gothic"/>
              </a:rPr>
              <a:t>Conformer</a:t>
            </a:r>
            <a:endParaRPr lang="ja-JP" altLang="en-US" b="1">
              <a:solidFill>
                <a:srgbClr val="222222"/>
              </a:solidFill>
              <a:latin typeface="Yu Gothic"/>
              <a:ea typeface="Yu Gothic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E6F5FBFE-1851-4ABD-B156-6CAAD4A02ED6}"/>
              </a:ext>
            </a:extLst>
          </p:cNvPr>
          <p:cNvSpPr/>
          <p:nvPr/>
        </p:nvSpPr>
        <p:spPr>
          <a:xfrm>
            <a:off x="3175000" y="5397500"/>
            <a:ext cx="11811000" cy="444500"/>
          </a:xfrm>
          <a:prstGeom prst="rect">
            <a:avLst/>
          </a:prstGeom>
          <a:solidFill>
            <a:srgbClr val="E7ECEC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42BD56B2-09A4-4107-8243-B12D9F7E95CB}"/>
              </a:ext>
            </a:extLst>
          </p:cNvPr>
          <p:cNvSpPr/>
          <p:nvPr/>
        </p:nvSpPr>
        <p:spPr>
          <a:xfrm>
            <a:off x="11227954" y="5397500"/>
            <a:ext cx="3758045" cy="444500"/>
          </a:xfrm>
          <a:prstGeom prst="rect">
            <a:avLst/>
          </a:prstGeom>
          <a:solidFill>
            <a:srgbClr val="F39A43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11A2392F-5F10-43B0-8DC2-77E47BA6B34A}"/>
              </a:ext>
            </a:extLst>
          </p:cNvPr>
          <p:cNvSpPr txBox="1"/>
          <p:nvPr/>
        </p:nvSpPr>
        <p:spPr>
          <a:xfrm>
            <a:off x="15176500" y="5334000"/>
            <a:ext cx="1714500" cy="571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sz="1900" b="1">
                <a:solidFill>
                  <a:srgbClr val="F39A43"/>
                </a:solidFill>
                <a:latin typeface="Yu Gothic"/>
                <a:ea typeface="Yu Gothic"/>
              </a:rPr>
              <a:t>15–22 kHz</a:t>
            </a:r>
            <a:endParaRPr lang="ja-JP" altLang="en-US" sz="1900" b="1">
              <a:solidFill>
                <a:srgbClr val="F39A43"/>
              </a:solidFill>
              <a:latin typeface="Yu Gothic"/>
              <a:ea typeface="Yu Gothic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29F886E5-322E-46BC-856A-E315E4A7A3DA}"/>
              </a:ext>
            </a:extLst>
          </p:cNvPr>
          <p:cNvSpPr txBox="1"/>
          <p:nvPr/>
        </p:nvSpPr>
        <p:spPr>
          <a:xfrm>
            <a:off x="1841500" y="6858000"/>
            <a:ext cx="1270000" cy="571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b="1">
                <a:solidFill>
                  <a:srgbClr val="222222"/>
                </a:solidFill>
                <a:latin typeface="Yu Gothic"/>
                <a:ea typeface="Yu Gothic"/>
              </a:rPr>
              <a:t>AlexNet</a:t>
            </a:r>
            <a:endParaRPr lang="ja-JP" altLang="en-US" b="1">
              <a:solidFill>
                <a:srgbClr val="222222"/>
              </a:solidFill>
              <a:latin typeface="Yu Gothic"/>
              <a:ea typeface="Yu Gothic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8EDC8161-4868-4E1C-9D4D-EAADED2262B1}"/>
              </a:ext>
            </a:extLst>
          </p:cNvPr>
          <p:cNvSpPr/>
          <p:nvPr/>
        </p:nvSpPr>
        <p:spPr>
          <a:xfrm>
            <a:off x="3175000" y="6921500"/>
            <a:ext cx="11811000" cy="444500"/>
          </a:xfrm>
          <a:prstGeom prst="rect">
            <a:avLst/>
          </a:prstGeom>
          <a:solidFill>
            <a:srgbClr val="E7ECEC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A29C0316-F10A-49A7-B19C-3185A3A67D9B}"/>
              </a:ext>
            </a:extLst>
          </p:cNvPr>
          <p:cNvSpPr/>
          <p:nvPr/>
        </p:nvSpPr>
        <p:spPr>
          <a:xfrm>
            <a:off x="3711863" y="6921500"/>
            <a:ext cx="536863" cy="444500"/>
          </a:xfrm>
          <a:prstGeom prst="rect">
            <a:avLst/>
          </a:prstGeom>
          <a:solidFill>
            <a:srgbClr val="6D7FB3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2BF3D6B2-42AA-4705-B890-B9AA472FA6F6}"/>
              </a:ext>
            </a:extLst>
          </p:cNvPr>
          <p:cNvSpPr txBox="1"/>
          <p:nvPr/>
        </p:nvSpPr>
        <p:spPr>
          <a:xfrm>
            <a:off x="15176500" y="6858000"/>
            <a:ext cx="1714500" cy="571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sz="1900" b="1">
                <a:solidFill>
                  <a:srgbClr val="6D7FB3"/>
                </a:solidFill>
                <a:latin typeface="Yu Gothic"/>
                <a:ea typeface="Yu Gothic"/>
              </a:rPr>
              <a:t>1–2 kHz</a:t>
            </a:r>
            <a:endParaRPr lang="ja-JP" altLang="en-US" sz="1900" b="1">
              <a:solidFill>
                <a:srgbClr val="6D7FB3"/>
              </a:solidFill>
              <a:latin typeface="Yu Gothic"/>
              <a:ea typeface="Yu Gothic"/>
            </a:endParaRP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DD19A73A-1A38-49E0-BB22-5302F62EBDA1}"/>
              </a:ext>
            </a:extLst>
          </p:cNvPr>
          <p:cNvSpPr/>
          <p:nvPr/>
        </p:nvSpPr>
        <p:spPr>
          <a:xfrm>
            <a:off x="3175000" y="8382000"/>
            <a:ext cx="12700" cy="101600"/>
          </a:xfrm>
          <a:prstGeom prst="rect">
            <a:avLst/>
          </a:prstGeom>
          <a:solidFill>
            <a:srgbClr val="777777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E24F8509-84B5-460E-ADBD-309B88FB30CE}"/>
              </a:ext>
            </a:extLst>
          </p:cNvPr>
          <p:cNvSpPr txBox="1"/>
          <p:nvPr/>
        </p:nvSpPr>
        <p:spPr>
          <a:xfrm>
            <a:off x="2984500" y="8509000"/>
            <a:ext cx="381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0</a:t>
            </a:r>
            <a:endParaRPr lang="ja-JP" altLang="en-US" sz="1100">
              <a:solidFill>
                <a:srgbClr val="555555"/>
              </a:solidFill>
              <a:latin typeface="Yu Gothic"/>
              <a:ea typeface="Yu Gothic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F22DCB6C-AB0C-4767-8D60-860F6462378C}"/>
              </a:ext>
            </a:extLst>
          </p:cNvPr>
          <p:cNvSpPr/>
          <p:nvPr/>
        </p:nvSpPr>
        <p:spPr>
          <a:xfrm>
            <a:off x="4248727" y="8382000"/>
            <a:ext cx="12700" cy="101600"/>
          </a:xfrm>
          <a:prstGeom prst="rect">
            <a:avLst/>
          </a:prstGeom>
          <a:solidFill>
            <a:srgbClr val="777777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F3D1D90E-584F-4940-BC5A-61C2CAA9D610}"/>
              </a:ext>
            </a:extLst>
          </p:cNvPr>
          <p:cNvSpPr txBox="1"/>
          <p:nvPr/>
        </p:nvSpPr>
        <p:spPr>
          <a:xfrm>
            <a:off x="4058227" y="8509000"/>
            <a:ext cx="381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2</a:t>
            </a:r>
            <a:endParaRPr lang="ja-JP" altLang="en-US" sz="1100">
              <a:solidFill>
                <a:srgbClr val="555555"/>
              </a:solidFill>
              <a:latin typeface="Yu Gothic"/>
              <a:ea typeface="Yu Gothic"/>
            </a:endParaRP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B16A883A-545D-4598-B9C2-18686166A09E}"/>
              </a:ext>
            </a:extLst>
          </p:cNvPr>
          <p:cNvSpPr/>
          <p:nvPr/>
        </p:nvSpPr>
        <p:spPr>
          <a:xfrm>
            <a:off x="5322454" y="8382000"/>
            <a:ext cx="12700" cy="101600"/>
          </a:xfrm>
          <a:prstGeom prst="rect">
            <a:avLst/>
          </a:prstGeom>
          <a:solidFill>
            <a:srgbClr val="777777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45240B9E-BD4A-4F83-977A-58466DAE8E2A}"/>
              </a:ext>
            </a:extLst>
          </p:cNvPr>
          <p:cNvSpPr txBox="1"/>
          <p:nvPr/>
        </p:nvSpPr>
        <p:spPr>
          <a:xfrm>
            <a:off x="5131954" y="8509000"/>
            <a:ext cx="381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4</a:t>
            </a:r>
            <a:endParaRPr lang="ja-JP" altLang="en-US" sz="1100">
              <a:solidFill>
                <a:srgbClr val="555555"/>
              </a:solidFill>
              <a:latin typeface="Yu Gothic"/>
              <a:ea typeface="Yu Gothic"/>
            </a:endParaRP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F98C6A33-9694-46C7-9100-15BE7474CEA3}"/>
              </a:ext>
            </a:extLst>
          </p:cNvPr>
          <p:cNvSpPr/>
          <p:nvPr/>
        </p:nvSpPr>
        <p:spPr>
          <a:xfrm>
            <a:off x="6396181" y="8382000"/>
            <a:ext cx="12700" cy="101600"/>
          </a:xfrm>
          <a:prstGeom prst="rect">
            <a:avLst/>
          </a:prstGeom>
          <a:solidFill>
            <a:srgbClr val="777777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02C43E4B-1F2F-42DA-BFB0-65F82E96C9F1}"/>
              </a:ext>
            </a:extLst>
          </p:cNvPr>
          <p:cNvSpPr txBox="1"/>
          <p:nvPr/>
        </p:nvSpPr>
        <p:spPr>
          <a:xfrm>
            <a:off x="6205681" y="8509000"/>
            <a:ext cx="381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6</a:t>
            </a:r>
            <a:endParaRPr lang="ja-JP" altLang="en-US" sz="1100">
              <a:solidFill>
                <a:srgbClr val="555555"/>
              </a:solidFill>
              <a:latin typeface="Yu Gothic"/>
              <a:ea typeface="Yu Gothic"/>
            </a:endParaRPr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8A69CBDE-8397-44AC-B4C9-1247857156BA}"/>
              </a:ext>
            </a:extLst>
          </p:cNvPr>
          <p:cNvSpPr/>
          <p:nvPr/>
        </p:nvSpPr>
        <p:spPr>
          <a:xfrm>
            <a:off x="7469909" y="8382000"/>
            <a:ext cx="12700" cy="101600"/>
          </a:xfrm>
          <a:prstGeom prst="rect">
            <a:avLst/>
          </a:prstGeom>
          <a:solidFill>
            <a:srgbClr val="777777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781EE2B4-C9A7-43D3-916E-97183F2E58FB}"/>
              </a:ext>
            </a:extLst>
          </p:cNvPr>
          <p:cNvSpPr txBox="1"/>
          <p:nvPr/>
        </p:nvSpPr>
        <p:spPr>
          <a:xfrm>
            <a:off x="7279409" y="8509000"/>
            <a:ext cx="381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8</a:t>
            </a:r>
            <a:endParaRPr lang="ja-JP" altLang="en-US" sz="1100">
              <a:solidFill>
                <a:srgbClr val="555555"/>
              </a:solidFill>
              <a:latin typeface="Yu Gothic"/>
              <a:ea typeface="Yu Gothic"/>
            </a:endParaRPr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24FA7531-3C8A-4B8D-B076-E389429FF864}"/>
              </a:ext>
            </a:extLst>
          </p:cNvPr>
          <p:cNvSpPr/>
          <p:nvPr/>
        </p:nvSpPr>
        <p:spPr>
          <a:xfrm>
            <a:off x="8543636" y="8382000"/>
            <a:ext cx="12700" cy="101600"/>
          </a:xfrm>
          <a:prstGeom prst="rect">
            <a:avLst/>
          </a:prstGeom>
          <a:solidFill>
            <a:srgbClr val="777777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B7CF21AF-0813-4AE5-BF66-AA992753CC27}"/>
              </a:ext>
            </a:extLst>
          </p:cNvPr>
          <p:cNvSpPr txBox="1"/>
          <p:nvPr/>
        </p:nvSpPr>
        <p:spPr>
          <a:xfrm>
            <a:off x="8353136" y="8509000"/>
            <a:ext cx="381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10</a:t>
            </a:r>
            <a:endParaRPr lang="ja-JP" altLang="en-US" sz="1100">
              <a:solidFill>
                <a:srgbClr val="555555"/>
              </a:solidFill>
              <a:latin typeface="Yu Gothic"/>
              <a:ea typeface="Yu Gothic"/>
            </a:endParaRPr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D27781D9-00B2-4ED9-88FF-0E81695726D5}"/>
              </a:ext>
            </a:extLst>
          </p:cNvPr>
          <p:cNvSpPr/>
          <p:nvPr/>
        </p:nvSpPr>
        <p:spPr>
          <a:xfrm>
            <a:off x="9617363" y="8382000"/>
            <a:ext cx="12700" cy="101600"/>
          </a:xfrm>
          <a:prstGeom prst="rect">
            <a:avLst/>
          </a:prstGeom>
          <a:solidFill>
            <a:srgbClr val="777777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B71C68C4-3A06-4A5B-948C-D533DB7375CE}"/>
              </a:ext>
            </a:extLst>
          </p:cNvPr>
          <p:cNvSpPr txBox="1"/>
          <p:nvPr/>
        </p:nvSpPr>
        <p:spPr>
          <a:xfrm>
            <a:off x="9426863" y="8509000"/>
            <a:ext cx="381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12</a:t>
            </a:r>
            <a:endParaRPr lang="ja-JP" altLang="en-US" sz="1100">
              <a:solidFill>
                <a:srgbClr val="555555"/>
              </a:solidFill>
              <a:latin typeface="Yu Gothic"/>
              <a:ea typeface="Yu Gothic"/>
            </a:endParaRPr>
          </a:p>
        </p:txBody>
      </p:sp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19F396BF-3B9B-439D-8C1E-B281F2A28EA8}"/>
              </a:ext>
            </a:extLst>
          </p:cNvPr>
          <p:cNvSpPr/>
          <p:nvPr/>
        </p:nvSpPr>
        <p:spPr>
          <a:xfrm>
            <a:off x="10691090" y="8382000"/>
            <a:ext cx="12700" cy="101600"/>
          </a:xfrm>
          <a:prstGeom prst="rect">
            <a:avLst/>
          </a:prstGeom>
          <a:solidFill>
            <a:srgbClr val="777777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8E8B17BF-1680-4779-A570-14537794C968}"/>
              </a:ext>
            </a:extLst>
          </p:cNvPr>
          <p:cNvSpPr txBox="1"/>
          <p:nvPr/>
        </p:nvSpPr>
        <p:spPr>
          <a:xfrm>
            <a:off x="10500590" y="8509000"/>
            <a:ext cx="381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14</a:t>
            </a:r>
            <a:endParaRPr lang="ja-JP" altLang="en-US" sz="1100">
              <a:solidFill>
                <a:srgbClr val="555555"/>
              </a:solidFill>
              <a:latin typeface="Yu Gothic"/>
              <a:ea typeface="Yu Gothic"/>
            </a:endParaRPr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E6CC593E-41EB-46FE-94F7-D062601326D5}"/>
              </a:ext>
            </a:extLst>
          </p:cNvPr>
          <p:cNvSpPr/>
          <p:nvPr/>
        </p:nvSpPr>
        <p:spPr>
          <a:xfrm>
            <a:off x="11764818" y="8382000"/>
            <a:ext cx="12700" cy="101600"/>
          </a:xfrm>
          <a:prstGeom prst="rect">
            <a:avLst/>
          </a:prstGeom>
          <a:solidFill>
            <a:srgbClr val="777777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6CD1C6AC-6181-45EB-B41E-02E7BF59782F}"/>
              </a:ext>
            </a:extLst>
          </p:cNvPr>
          <p:cNvSpPr txBox="1"/>
          <p:nvPr/>
        </p:nvSpPr>
        <p:spPr>
          <a:xfrm>
            <a:off x="11574318" y="8509000"/>
            <a:ext cx="381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16</a:t>
            </a:r>
            <a:endParaRPr lang="ja-JP" altLang="en-US" sz="1100">
              <a:solidFill>
                <a:srgbClr val="555555"/>
              </a:solidFill>
              <a:latin typeface="Yu Gothic"/>
              <a:ea typeface="Yu Gothic"/>
            </a:endParaRPr>
          </a:p>
        </p:txBody>
      </p:sp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69B53F5E-DFE4-49A5-99D5-3C0F03AFEE71}"/>
              </a:ext>
            </a:extLst>
          </p:cNvPr>
          <p:cNvSpPr/>
          <p:nvPr/>
        </p:nvSpPr>
        <p:spPr>
          <a:xfrm>
            <a:off x="12838545" y="8382000"/>
            <a:ext cx="12700" cy="101600"/>
          </a:xfrm>
          <a:prstGeom prst="rect">
            <a:avLst/>
          </a:prstGeom>
          <a:solidFill>
            <a:srgbClr val="777777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F8164344-B46A-47F4-AEFD-175DBBDD72F4}"/>
              </a:ext>
            </a:extLst>
          </p:cNvPr>
          <p:cNvSpPr txBox="1"/>
          <p:nvPr/>
        </p:nvSpPr>
        <p:spPr>
          <a:xfrm>
            <a:off x="12648045" y="8509000"/>
            <a:ext cx="381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18</a:t>
            </a:r>
            <a:endParaRPr lang="ja-JP" altLang="en-US" sz="1100">
              <a:solidFill>
                <a:srgbClr val="555555"/>
              </a:solidFill>
              <a:latin typeface="Yu Gothic"/>
              <a:ea typeface="Yu Gothic"/>
            </a:endParaRPr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EA177B8F-A827-41A0-B7A6-B68F46C6B4F4}"/>
              </a:ext>
            </a:extLst>
          </p:cNvPr>
          <p:cNvSpPr/>
          <p:nvPr/>
        </p:nvSpPr>
        <p:spPr>
          <a:xfrm>
            <a:off x="13912272" y="8382000"/>
            <a:ext cx="12700" cy="101600"/>
          </a:xfrm>
          <a:prstGeom prst="rect">
            <a:avLst/>
          </a:prstGeom>
          <a:solidFill>
            <a:srgbClr val="777777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C43D9339-DFB7-43E3-84C2-1434104EA77A}"/>
              </a:ext>
            </a:extLst>
          </p:cNvPr>
          <p:cNvSpPr txBox="1"/>
          <p:nvPr/>
        </p:nvSpPr>
        <p:spPr>
          <a:xfrm>
            <a:off x="13721772" y="8509000"/>
            <a:ext cx="381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20</a:t>
            </a:r>
            <a:endParaRPr lang="ja-JP" altLang="en-US" sz="1100">
              <a:solidFill>
                <a:srgbClr val="555555"/>
              </a:solidFill>
              <a:latin typeface="Yu Gothic"/>
              <a:ea typeface="Yu Gothic"/>
            </a:endParaRPr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ED47902A-ECB7-44B3-9B2F-578DAED9378D}"/>
              </a:ext>
            </a:extLst>
          </p:cNvPr>
          <p:cNvSpPr/>
          <p:nvPr/>
        </p:nvSpPr>
        <p:spPr>
          <a:xfrm>
            <a:off x="14986000" y="8382000"/>
            <a:ext cx="12700" cy="101600"/>
          </a:xfrm>
          <a:prstGeom prst="rect">
            <a:avLst/>
          </a:prstGeom>
          <a:solidFill>
            <a:srgbClr val="777777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02DEA57D-C70C-4C17-ACEB-96793B69C280}"/>
              </a:ext>
            </a:extLst>
          </p:cNvPr>
          <p:cNvSpPr txBox="1"/>
          <p:nvPr/>
        </p:nvSpPr>
        <p:spPr>
          <a:xfrm>
            <a:off x="14795500" y="8509000"/>
            <a:ext cx="381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22</a:t>
            </a:r>
            <a:endParaRPr lang="ja-JP" altLang="en-US" sz="1100">
              <a:solidFill>
                <a:srgbClr val="555555"/>
              </a:solidFill>
              <a:latin typeface="Yu Gothic"/>
              <a:ea typeface="Yu Gothic"/>
            </a:endParaRP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13DAF806-CB35-4DFF-8D2C-7905582D45D3}"/>
              </a:ext>
            </a:extLst>
          </p:cNvPr>
          <p:cNvSpPr txBox="1"/>
          <p:nvPr/>
        </p:nvSpPr>
        <p:spPr>
          <a:xfrm>
            <a:off x="7112000" y="8953500"/>
            <a:ext cx="381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ja-JP" altLang="en-US" sz="1400">
                <a:solidFill>
                  <a:srgbClr val="555555"/>
                </a:solidFill>
                <a:latin typeface="Yu Gothic"/>
                <a:ea typeface="Yu Gothic"/>
              </a:rPr>
              <a:t>周波数 </a:t>
            </a:r>
            <a:r>
              <a:rPr lang="en-US" altLang="ja-JP" sz="1400">
                <a:solidFill>
                  <a:srgbClr val="555555"/>
                </a:solidFill>
                <a:latin typeface="Yu Gothic"/>
                <a:ea typeface="Yu Gothic"/>
              </a:rPr>
              <a:t>[kHz]</a:t>
            </a:r>
            <a:endParaRPr lang="ja-JP" altLang="en-US" sz="1400">
              <a:solidFill>
                <a:srgbClr val="555555"/>
              </a:solidFill>
              <a:latin typeface="Yu Gothic"/>
              <a:ea typeface="Yu Gothic"/>
            </a:endParaRP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11234521-F293-4327-A053-5862F08CC0A0}"/>
              </a:ext>
            </a:extLst>
          </p:cNvPr>
          <p:cNvSpPr txBox="1"/>
          <p:nvPr/>
        </p:nvSpPr>
        <p:spPr>
          <a:xfrm>
            <a:off x="2159000" y="7835900"/>
            <a:ext cx="144145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ja-JP" altLang="en-US" b="1">
                <a:solidFill>
                  <a:srgbClr val="333333"/>
                </a:solidFill>
                <a:latin typeface="Yu Gothic"/>
                <a:ea typeface="Yu Gothic"/>
              </a:rPr>
              <a:t>両方向で同じ傾向。ただし、特徴利用と統合失敗の因果関係は未検証。</a:t>
            </a:r>
          </a:p>
        </p:txBody>
      </p: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7D90339F-49E0-4D34-AB12-0BE3498C7439}"/>
              </a:ext>
            </a:extLst>
          </p:cNvPr>
          <p:cNvSpPr txBox="1"/>
          <p:nvPr/>
        </p:nvSpPr>
        <p:spPr>
          <a:xfrm>
            <a:off x="1587500" y="9525000"/>
            <a:ext cx="15367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22 kHz</a:t>
            </a:r>
            <a:r>
              <a:rPr lang="ja-JP" altLang="en-US" sz="1100">
                <a:solidFill>
                  <a:srgbClr val="555555"/>
                </a:solidFill>
                <a:latin typeface="Yu Gothic"/>
                <a:ea typeface="Yu Gothic"/>
              </a:rPr>
              <a:t>、無雑音、</a:t>
            </a:r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200 epochs</a:t>
            </a:r>
            <a:r>
              <a:rPr lang="ja-JP" altLang="en-US" sz="1100">
                <a:solidFill>
                  <a:srgbClr val="555555"/>
                </a:solidFill>
                <a:latin typeface="Yu Gothic"/>
                <a:ea typeface="Yu Gothic"/>
              </a:rPr>
              <a:t>、評価は</a:t>
            </a:r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1</a:t>
            </a:r>
            <a:r>
              <a:rPr lang="ja-JP" altLang="en-US" sz="1100">
                <a:solidFill>
                  <a:srgbClr val="555555"/>
                </a:solidFill>
                <a:latin typeface="Yu Gothic"/>
                <a:ea typeface="Yu Gothic"/>
              </a:rPr>
              <a:t>秒単位</a:t>
            </a:r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1080</a:t>
            </a:r>
            <a:r>
              <a:rPr lang="ja-JP" altLang="en-US" sz="1100">
                <a:solidFill>
                  <a:srgbClr val="555555"/>
                </a:solidFill>
                <a:latin typeface="Yu Gothic"/>
                <a:ea typeface="Yu Gothic"/>
              </a:rPr>
              <a:t>秒＝</a:t>
            </a:r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18 WAV</a:t>
            </a:r>
            <a:r>
              <a:rPr lang="ja-JP" altLang="en-US" sz="1100">
                <a:solidFill>
                  <a:srgbClr val="555555"/>
                </a:solidFill>
                <a:latin typeface="Yu Gothic"/>
                <a:ea typeface="Yu Gothic"/>
              </a:rPr>
              <a:t>／方向、各方向</a:t>
            </a:r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1</a:t>
            </a:r>
            <a:r>
              <a:rPr lang="ja-JP" altLang="en-US" sz="1100">
                <a:solidFill>
                  <a:srgbClr val="555555"/>
                </a:solidFill>
                <a:latin typeface="Yu Gothic"/>
                <a:ea typeface="Yu Gothic"/>
              </a:rPr>
              <a:t>評価日</a:t>
            </a:r>
          </a:p>
        </p:txBody>
      </p:sp>
    </p:spTree>
    <p:extLst>
      <p:ext uri="{BB962C8B-B14F-4D97-AF65-F5344CB8AC3E}">
        <p14:creationId xmlns:p14="http://schemas.microsoft.com/office/powerpoint/2010/main" val="35989073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9BD478F2-93FB-7553-E103-A6B3839A5A0D}"/>
              </a:ext>
            </a:extLst>
          </p:cNvPr>
          <p:cNvGrpSpPr/>
          <p:nvPr/>
        </p:nvGrpSpPr>
        <p:grpSpPr>
          <a:xfrm>
            <a:off x="270494" y="246431"/>
            <a:ext cx="698205" cy="10040568"/>
            <a:chOff x="270494" y="246431"/>
            <a:chExt cx="698205" cy="10040568"/>
          </a:xfrm>
        </p:grpSpPr>
        <p:pic>
          <p:nvPicPr>
            <p:cNvPr id="11" name="図 10">
              <a:extLst>
                <a:ext uri="{FF2B5EF4-FFF2-40B4-BE49-F238E27FC236}">
                  <a16:creationId xmlns:a16="http://schemas.microsoft.com/office/drawing/2014/main" id="{7D11835D-57AA-BE86-BCDE-68226B60256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5400000">
              <a:off x="271822" y="245103"/>
              <a:ext cx="695550" cy="698205"/>
            </a:xfrm>
            <a:prstGeom prst="rect">
              <a:avLst/>
            </a:prstGeom>
          </p:spPr>
        </p:pic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3B78E05A-DEF5-2D6B-B55B-DB82EC5920C4}"/>
                </a:ext>
              </a:extLst>
            </p:cNvPr>
            <p:cNvSpPr txBox="1"/>
            <p:nvPr/>
          </p:nvSpPr>
          <p:spPr>
            <a:xfrm>
              <a:off x="434931" y="1036119"/>
              <a:ext cx="369332" cy="2258787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kumimoji="1" lang="en-US" altLang="ja-JP" sz="1200" dirty="0">
                  <a:latin typeface="Source Han Sans JP" panose="020B0600070205080204" charset="-128"/>
                  <a:ea typeface="Source Han Sans JP" panose="020B0600070205080204" charset="-128"/>
                </a:rPr>
                <a:t>Tokyo University of Science</a:t>
              </a:r>
              <a:endParaRPr kumimoji="1" lang="ja-JP" altLang="en-US" sz="1200" dirty="0">
                <a:latin typeface="Source Han Sans JP" panose="020B0600070205080204" charset="-128"/>
                <a:ea typeface="Source Han Sans JP" panose="020B0600070205080204" charset="-128"/>
              </a:endParaRPr>
            </a:p>
          </p:txBody>
        </p:sp>
        <p:cxnSp>
          <p:nvCxnSpPr>
            <p:cNvPr id="13" name="直線コネクタ 12">
              <a:extLst>
                <a:ext uri="{FF2B5EF4-FFF2-40B4-BE49-F238E27FC236}">
                  <a16:creationId xmlns:a16="http://schemas.microsoft.com/office/drawing/2014/main" id="{EEE9B645-6430-60ED-1258-90350A0DD8B6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" y="3314700"/>
              <a:ext cx="0" cy="6067497"/>
            </a:xfrm>
            <a:prstGeom prst="line">
              <a:avLst/>
            </a:prstGeom>
            <a:ln>
              <a:solidFill>
                <a:srgbClr val="64A4A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フローチャート: 論理積ゲート 13">
              <a:extLst>
                <a:ext uri="{FF2B5EF4-FFF2-40B4-BE49-F238E27FC236}">
                  <a16:creationId xmlns:a16="http://schemas.microsoft.com/office/drawing/2014/main" id="{7D062015-C78C-B7BE-0F9C-81E88D230C46}"/>
                </a:ext>
              </a:extLst>
            </p:cNvPr>
            <p:cNvSpPr/>
            <p:nvPr/>
          </p:nvSpPr>
          <p:spPr>
            <a:xfrm rot="16200000">
              <a:off x="141940" y="9634201"/>
              <a:ext cx="924597" cy="381000"/>
            </a:xfrm>
            <a:prstGeom prst="flowChartDelay">
              <a:avLst/>
            </a:prstGeom>
            <a:solidFill>
              <a:srgbClr val="64A4A3"/>
            </a:solidFill>
            <a:ln>
              <a:solidFill>
                <a:srgbClr val="64A4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15" name="Group 3">
            <a:extLst>
              <a:ext uri="{FF2B5EF4-FFF2-40B4-BE49-F238E27FC236}">
                <a16:creationId xmlns:a16="http://schemas.microsoft.com/office/drawing/2014/main" id="{60F8FF6D-0F13-7307-815B-B6A9447179C4}"/>
              </a:ext>
            </a:extLst>
          </p:cNvPr>
          <p:cNvGrpSpPr/>
          <p:nvPr/>
        </p:nvGrpSpPr>
        <p:grpSpPr>
          <a:xfrm>
            <a:off x="1371600" y="1069258"/>
            <a:ext cx="16064988" cy="125708"/>
            <a:chOff x="0" y="0"/>
            <a:chExt cx="22021800" cy="190500"/>
          </a:xfrm>
        </p:grpSpPr>
        <p:grpSp>
          <p:nvGrpSpPr>
            <p:cNvPr id="16" name="Group 4">
              <a:extLst>
                <a:ext uri="{FF2B5EF4-FFF2-40B4-BE49-F238E27FC236}">
                  <a16:creationId xmlns:a16="http://schemas.microsoft.com/office/drawing/2014/main" id="{41D664AF-D53E-642F-86FD-B1A855E2DB95}"/>
                </a:ext>
              </a:extLst>
            </p:cNvPr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23" name="Freeform 5">
                <a:extLst>
                  <a:ext uri="{FF2B5EF4-FFF2-40B4-BE49-F238E27FC236}">
                    <a16:creationId xmlns:a16="http://schemas.microsoft.com/office/drawing/2014/main" id="{39CA5124-E45E-0CB1-1810-EE57DA2A98C4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C0A1028B-7828-4E23-A025-A2A2D2431AD6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17" name="Group 7">
              <a:extLst>
                <a:ext uri="{FF2B5EF4-FFF2-40B4-BE49-F238E27FC236}">
                  <a16:creationId xmlns:a16="http://schemas.microsoft.com/office/drawing/2014/main" id="{C17D89E3-8887-6561-DC46-CE8A5DF780C6}"/>
                </a:ext>
              </a:extLst>
            </p:cNvPr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21" name="Freeform 8">
                <a:extLst>
                  <a:ext uri="{FF2B5EF4-FFF2-40B4-BE49-F238E27FC236}">
                    <a16:creationId xmlns:a16="http://schemas.microsoft.com/office/drawing/2014/main" id="{5489C4AE-4A0B-0D6B-1EBE-B87B0D432183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22" name="TextBox 9">
                <a:extLst>
                  <a:ext uri="{FF2B5EF4-FFF2-40B4-BE49-F238E27FC236}">
                    <a16:creationId xmlns:a16="http://schemas.microsoft.com/office/drawing/2014/main" id="{6322874F-AD47-9232-CAC5-BCBEFE78F562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18" name="Group 10">
              <a:extLst>
                <a:ext uri="{FF2B5EF4-FFF2-40B4-BE49-F238E27FC236}">
                  <a16:creationId xmlns:a16="http://schemas.microsoft.com/office/drawing/2014/main" id="{A393E3CE-4414-5AEF-237E-CCB155796221}"/>
                </a:ext>
              </a:extLst>
            </p:cNvPr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19" name="Freeform 11">
                <a:extLst>
                  <a:ext uri="{FF2B5EF4-FFF2-40B4-BE49-F238E27FC236}">
                    <a16:creationId xmlns:a16="http://schemas.microsoft.com/office/drawing/2014/main" id="{340D6A49-4FDE-F2E2-098C-1B68ABAF6172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20" name="TextBox 12">
                <a:extLst>
                  <a:ext uri="{FF2B5EF4-FFF2-40B4-BE49-F238E27FC236}">
                    <a16:creationId xmlns:a16="http://schemas.microsoft.com/office/drawing/2014/main" id="{D07D97A3-99DD-DF89-C8F5-40F48C6E3FF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25" name="スライド番号プレースホルダー 28">
            <a:extLst>
              <a:ext uri="{FF2B5EF4-FFF2-40B4-BE49-F238E27FC236}">
                <a16:creationId xmlns:a16="http://schemas.microsoft.com/office/drawing/2014/main" id="{99EC6C07-FABB-D71C-DE41-019BC555F7B8}"/>
              </a:ext>
            </a:extLst>
          </p:cNvPr>
          <p:cNvSpPr txBox="1">
            <a:spLocks/>
          </p:cNvSpPr>
          <p:nvPr/>
        </p:nvSpPr>
        <p:spPr>
          <a:xfrm>
            <a:off x="270494" y="9748987"/>
            <a:ext cx="599456" cy="4622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2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/>
              <a:t>9</a:t>
            </a:r>
            <a:endParaRPr lang="en-US" sz="2400" dirty="0"/>
          </a:p>
        </p:txBody>
      </p:sp>
      <p:sp>
        <p:nvSpPr>
          <p:cNvPr id="5" name="TextBox 24">
            <a:extLst>
              <a:ext uri="{FF2B5EF4-FFF2-40B4-BE49-F238E27FC236}">
                <a16:creationId xmlns:a16="http://schemas.microsoft.com/office/drawing/2014/main" id="{F4C6E962-1682-6D74-EA96-1F07AA9F6988}"/>
              </a:ext>
            </a:extLst>
          </p:cNvPr>
          <p:cNvSpPr txBox="1"/>
          <p:nvPr/>
        </p:nvSpPr>
        <p:spPr>
          <a:xfrm>
            <a:off x="1806795" y="305043"/>
            <a:ext cx="3590727" cy="70057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5880"/>
              </a:lnSpc>
              <a:spcBef>
                <a:spcPct val="0"/>
              </a:spcBef>
            </a:pPr>
            <a:r>
              <a:rPr lang="ja-JP" altLang="en-US" sz="4000" dirty="0">
                <a:solidFill>
                  <a:srgbClr val="292B2B"/>
                </a:solidFill>
                <a:latin typeface="Source Han Sans JP Medium"/>
                <a:ea typeface="Source Han Sans JP Medium"/>
              </a:rPr>
              <a:t>後期の研究計画</a:t>
            </a:r>
          </a:p>
        </p:txBody>
      </p:sp>
      <p:graphicFrame>
        <p:nvGraphicFramePr>
          <p:cNvPr id="7" name="GanttTable">
            <a:extLst>
              <a:ext uri="{FF2B5EF4-FFF2-40B4-BE49-F238E27FC236}">
                <a16:creationId xmlns:a16="http://schemas.microsoft.com/office/drawing/2014/main" id="{E9F5895E-877D-483B-9260-909FCBF394A2}"/>
              </a:ext>
            </a:extLst>
          </p:cNvPr>
          <p:cNvGraphicFramePr>
            <a:graphicFrameLocks noGrp="1"/>
          </p:cNvGraphicFramePr>
          <p:nvPr/>
        </p:nvGraphicFramePr>
        <p:xfrm>
          <a:off x="1371600" y="1943100"/>
          <a:ext cx="16116440" cy="77975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3360">
                  <a:extLst>
                    <a:ext uri="{9D8B030D-6E8A-4147-A177-3AD203B41FA5}">
                      <a16:colId xmlns:a16="http://schemas.microsoft.com/office/drawing/2014/main" val="2225326839"/>
                    </a:ext>
                  </a:extLst>
                </a:gridCol>
                <a:gridCol w="4993080">
                  <a:extLst>
                    <a:ext uri="{9D8B030D-6E8A-4147-A177-3AD203B41FA5}">
                      <a16:colId xmlns:a16="http://schemas.microsoft.com/office/drawing/2014/main" val="3156811629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3223752097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3259402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456276626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1034407947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960185353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3625863737"/>
                    </a:ext>
                  </a:extLst>
                </a:gridCol>
              </a:tblGrid>
              <a:tr h="635000"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1900" b="1" dirty="0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大項目</a:t>
                      </a:r>
                    </a:p>
                  </a:txBody>
                  <a:tcPr anchor="ctr">
                    <a:solidFill>
                      <a:srgbClr val="64A4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1900" b="1" dirty="0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小項目</a:t>
                      </a:r>
                    </a:p>
                  </a:txBody>
                  <a:tcPr anchor="ctr">
                    <a:solidFill>
                      <a:srgbClr val="64A4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ja-JP" sz="1700" b="1" dirty="0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9</a:t>
                      </a:r>
                      <a:r>
                        <a:rPr lang="ja-JP" altLang="en-US" sz="1700" b="1" dirty="0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月</a:t>
                      </a:r>
                    </a:p>
                  </a:txBody>
                  <a:tcPr anchor="ctr">
                    <a:solidFill>
                      <a:srgbClr val="64A4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ja-JP" sz="1700" b="1" dirty="0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10</a:t>
                      </a:r>
                      <a:r>
                        <a:rPr lang="ja-JP" altLang="en-US" sz="1700" b="1" dirty="0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月</a:t>
                      </a:r>
                    </a:p>
                  </a:txBody>
                  <a:tcPr anchor="ctr">
                    <a:solidFill>
                      <a:srgbClr val="64A4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ja-JP" sz="1700" b="1" dirty="0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11</a:t>
                      </a:r>
                      <a:r>
                        <a:rPr lang="ja-JP" altLang="en-US" sz="1700" b="1" dirty="0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月</a:t>
                      </a:r>
                    </a:p>
                  </a:txBody>
                  <a:tcPr anchor="ctr">
                    <a:solidFill>
                      <a:srgbClr val="64A4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ja-JP" sz="1700" b="1" dirty="0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12</a:t>
                      </a:r>
                      <a:r>
                        <a:rPr lang="ja-JP" altLang="en-US" sz="1700" b="1" dirty="0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月</a:t>
                      </a:r>
                    </a:p>
                  </a:txBody>
                  <a:tcPr anchor="ctr">
                    <a:solidFill>
                      <a:srgbClr val="64A4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ja-JP" sz="1700" b="1" dirty="0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1</a:t>
                      </a:r>
                      <a:r>
                        <a:rPr lang="ja-JP" altLang="en-US" sz="1700" b="1" dirty="0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月</a:t>
                      </a:r>
                    </a:p>
                  </a:txBody>
                  <a:tcPr anchor="ctr">
                    <a:solidFill>
                      <a:srgbClr val="64A4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ja-JP" sz="1700" b="1" dirty="0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2</a:t>
                      </a:r>
                      <a:r>
                        <a:rPr lang="ja-JP" altLang="en-US" sz="1700" b="1" dirty="0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月</a:t>
                      </a:r>
                    </a:p>
                  </a:txBody>
                  <a:tcPr anchor="ctr">
                    <a:solidFill>
                      <a:srgbClr val="64A4A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3523936"/>
                  </a:ext>
                </a:extLst>
              </a:tr>
              <a:tr h="524230">
                <a:tc rowSpan="2">
                  <a:txBody>
                    <a:bodyPr/>
                    <a:lstStyle/>
                    <a:p>
                      <a:pPr algn="l"/>
                      <a:r>
                        <a:rPr lang="ja-JP" altLang="en-US" sz="2400" b="1" dirty="0">
                          <a:solidFill>
                            <a:srgbClr val="292B2B"/>
                          </a:solidFill>
                          <a:latin typeface="Source Han Sans JP Bold" panose="020B0600070205080204" charset="-128"/>
                          <a:ea typeface="Source Han Sans JP Bold" panose="020B0600070205080204" charset="-128"/>
                        </a:rPr>
                        <a:t>① 評価設計・学習データの確定</a:t>
                      </a:r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8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実験別に学習</a:t>
                      </a:r>
                      <a:r>
                        <a:rPr lang="en-US" altLang="ja-JP" sz="18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/</a:t>
                      </a:r>
                      <a:r>
                        <a:rPr lang="ja-JP" altLang="en-US" sz="18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テストデータを分割の実装</a:t>
                      </a: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2673497"/>
                  </a:ext>
                </a:extLst>
              </a:tr>
              <a:tr h="524230">
                <a:tc vMerge="1"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8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沸騰後のデータで閾値を設定・スクリーニング実装</a:t>
                      </a: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755566"/>
                  </a:ext>
                </a:extLst>
              </a:tr>
              <a:tr h="524230">
                <a:tc rowSpan="4">
                  <a:txBody>
                    <a:bodyPr/>
                    <a:lstStyle/>
                    <a:p>
                      <a:pPr algn="l"/>
                      <a:r>
                        <a:rPr sz="2400" dirty="0">
                          <a:latin typeface="Source Han Sans JP Bold" panose="020B0600070205080204" charset="-128"/>
                          <a:ea typeface="Source Han Sans JP Bold" panose="020B0600070205080204" charset="-128"/>
                        </a:rPr>
                        <a:t>② </a:t>
                      </a:r>
                      <a:r>
                        <a:rPr sz="2400" dirty="0" err="1">
                          <a:latin typeface="Source Han Sans JP Bold" panose="020B0600070205080204" charset="-128"/>
                          <a:ea typeface="Source Han Sans JP Bold" panose="020B0600070205080204" charset="-128"/>
                        </a:rPr>
                        <a:t>アンサンブル手法の確立</a:t>
                      </a:r>
                      <a:endParaRPr sz="2400" dirty="0">
                        <a:latin typeface="Source Han Sans JP Bold" panose="020B0600070205080204" charset="-128"/>
                        <a:ea typeface="Source Han Sans JP Bold" panose="020B0600070205080204" charset="-128"/>
                      </a:endParaRPr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8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上記実装でアンサンブル検証（全条件でやりたい）</a:t>
                      </a: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0935747"/>
                  </a:ext>
                </a:extLst>
              </a:tr>
              <a:tr h="524230">
                <a:tc vMerge="1"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8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単体モデルを下回る条件・要因を調査・整理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9837035"/>
                  </a:ext>
                </a:extLst>
              </a:tr>
              <a:tr h="524230">
                <a:tc vMerge="1"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8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必要に応じて新たなアンサンブル手法を調査・実装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1326250"/>
                  </a:ext>
                </a:extLst>
              </a:tr>
              <a:tr h="524230">
                <a:tc vMerge="1"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8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複数手法の比較でアンサンブル方法を確定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835225"/>
                  </a:ext>
                </a:extLst>
              </a:tr>
              <a:tr h="524230">
                <a:tc rowSpan="4">
                  <a:txBody>
                    <a:bodyPr/>
                    <a:lstStyle/>
                    <a:p>
                      <a:pPr algn="l"/>
                      <a:r>
                        <a:rPr lang="ja-JP" altLang="en-US" sz="2400" b="1" dirty="0">
                          <a:solidFill>
                            <a:srgbClr val="292B2B"/>
                          </a:solidFill>
                          <a:latin typeface="Source Han Sans JP Bold" panose="020B0600070205080204" charset="-128"/>
                          <a:ea typeface="Source Han Sans JP Bold" panose="020B0600070205080204" charset="-128"/>
                        </a:rPr>
                        <a:t>③ 説明性を用いた要因分析・検証</a:t>
                      </a:r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8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説明性指標で特徴利用を可視化・比較</a:t>
                      </a: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9107438"/>
                  </a:ext>
                </a:extLst>
              </a:tr>
              <a:tr h="524230">
                <a:tc vMerge="1"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8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説明性と各モデルの性能・重みの関係を分析</a:t>
                      </a: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2963057"/>
                  </a:ext>
                </a:extLst>
              </a:tr>
              <a:tr h="524230">
                <a:tc vMerge="1"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8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時間・周波数特徴と性能の関係などを考察</a:t>
                      </a: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4732367"/>
                  </a:ext>
                </a:extLst>
              </a:tr>
              <a:tr h="524230">
                <a:tc vMerge="1"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8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示唆に基づく追加検証（あれば）</a:t>
                      </a: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1035604"/>
                  </a:ext>
                </a:extLst>
              </a:tr>
              <a:tr h="524230">
                <a:tc rowSpan="3">
                  <a:txBody>
                    <a:bodyPr/>
                    <a:lstStyle/>
                    <a:p>
                      <a:pPr algn="l"/>
                      <a:r>
                        <a:rPr sz="2400" dirty="0">
                          <a:latin typeface="Source Han Sans JP Bold" panose="020B0600070205080204" charset="-128"/>
                          <a:ea typeface="Source Han Sans JP Bold" panose="020B0600070205080204" charset="-128"/>
                        </a:rPr>
                        <a:t>④ </a:t>
                      </a:r>
                      <a:r>
                        <a:rPr sz="2400" dirty="0" err="1">
                          <a:latin typeface="Source Han Sans JP Bold" panose="020B0600070205080204" charset="-128"/>
                          <a:ea typeface="Source Han Sans JP Bold" panose="020B0600070205080204" charset="-128"/>
                        </a:rPr>
                        <a:t>修論執筆・発表準備</a:t>
                      </a:r>
                      <a:endParaRPr sz="2400" dirty="0">
                        <a:latin typeface="Source Han Sans JP Bold" panose="020B0600070205080204" charset="-128"/>
                        <a:ea typeface="Source Han Sans JP Bold" panose="020B0600070205080204" charset="-128"/>
                      </a:endParaRPr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8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背景・実験方法（など書ける範囲から進める）</a:t>
                      </a: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8013195"/>
                  </a:ext>
                </a:extLst>
              </a:tr>
              <a:tr h="524230">
                <a:tc vMerge="1"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8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結果・考察・結論の整理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6233786"/>
                  </a:ext>
                </a:extLst>
              </a:tr>
              <a:tr h="524230">
                <a:tc vMerge="1"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8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論文執筆完了・発表資料作成・発表練習など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2135946"/>
                  </a:ext>
                </a:extLst>
              </a:tr>
            </a:tbl>
          </a:graphicData>
        </a:graphic>
      </p:graphicFrame>
      <p:sp>
        <p:nvSpPr>
          <p:cNvPr id="29" name="Arrow_r5">
            <a:extLst>
              <a:ext uri="{FF2B5EF4-FFF2-40B4-BE49-F238E27FC236}">
                <a16:creationId xmlns:a16="http://schemas.microsoft.com/office/drawing/2014/main" id="{569D38A7-5B10-4193-87C0-B3C6E0995665}"/>
              </a:ext>
            </a:extLst>
          </p:cNvPr>
          <p:cNvSpPr/>
          <p:nvPr/>
        </p:nvSpPr>
        <p:spPr>
          <a:xfrm>
            <a:off x="10634240" y="3259296"/>
            <a:ext cx="792600" cy="330200"/>
          </a:xfrm>
          <a:prstGeom prst="homePlate">
            <a:avLst/>
          </a:prstGeom>
          <a:solidFill>
            <a:srgbClr val="F99C42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31" name="Arrow_r7">
            <a:extLst>
              <a:ext uri="{FF2B5EF4-FFF2-40B4-BE49-F238E27FC236}">
                <a16:creationId xmlns:a16="http://schemas.microsoft.com/office/drawing/2014/main" id="{CE4696B6-F452-44D2-8FB3-71D2647B5531}"/>
              </a:ext>
            </a:extLst>
          </p:cNvPr>
          <p:cNvSpPr/>
          <p:nvPr/>
        </p:nvSpPr>
        <p:spPr>
          <a:xfrm>
            <a:off x="11426840" y="3863022"/>
            <a:ext cx="477600" cy="407812"/>
          </a:xfrm>
          <a:prstGeom prst="homePlate">
            <a:avLst/>
          </a:prstGeom>
          <a:solidFill>
            <a:srgbClr val="F99C42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32" name="Arrow_r8">
            <a:extLst>
              <a:ext uri="{FF2B5EF4-FFF2-40B4-BE49-F238E27FC236}">
                <a16:creationId xmlns:a16="http://schemas.microsoft.com/office/drawing/2014/main" id="{B61D8F6C-A200-4120-B4CE-C8218F090801}"/>
              </a:ext>
            </a:extLst>
          </p:cNvPr>
          <p:cNvSpPr/>
          <p:nvPr/>
        </p:nvSpPr>
        <p:spPr>
          <a:xfrm>
            <a:off x="11426840" y="4531660"/>
            <a:ext cx="792600" cy="330200"/>
          </a:xfrm>
          <a:prstGeom prst="homePlate">
            <a:avLst/>
          </a:prstGeom>
          <a:solidFill>
            <a:srgbClr val="F99C42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33" name="Arrow_r9">
            <a:extLst>
              <a:ext uri="{FF2B5EF4-FFF2-40B4-BE49-F238E27FC236}">
                <a16:creationId xmlns:a16="http://schemas.microsoft.com/office/drawing/2014/main" id="{46D98C71-2375-4675-973C-71970E2CF804}"/>
              </a:ext>
            </a:extLst>
          </p:cNvPr>
          <p:cNvSpPr/>
          <p:nvPr/>
        </p:nvSpPr>
        <p:spPr>
          <a:xfrm>
            <a:off x="12219440" y="5055889"/>
            <a:ext cx="782400" cy="320001"/>
          </a:xfrm>
          <a:prstGeom prst="homePlate">
            <a:avLst/>
          </a:prstGeom>
          <a:solidFill>
            <a:srgbClr val="F99C42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34" name="Arrow_r10">
            <a:extLst>
              <a:ext uri="{FF2B5EF4-FFF2-40B4-BE49-F238E27FC236}">
                <a16:creationId xmlns:a16="http://schemas.microsoft.com/office/drawing/2014/main" id="{70ABB943-D9AF-46F6-8C32-86BDEA71AB55}"/>
              </a:ext>
            </a:extLst>
          </p:cNvPr>
          <p:cNvSpPr/>
          <p:nvPr/>
        </p:nvSpPr>
        <p:spPr>
          <a:xfrm>
            <a:off x="12789109" y="5567961"/>
            <a:ext cx="477600" cy="330200"/>
          </a:xfrm>
          <a:prstGeom prst="homePlate">
            <a:avLst/>
          </a:prstGeom>
          <a:solidFill>
            <a:srgbClr val="F99C42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35" name="Arrow_r11">
            <a:extLst>
              <a:ext uri="{FF2B5EF4-FFF2-40B4-BE49-F238E27FC236}">
                <a16:creationId xmlns:a16="http://schemas.microsoft.com/office/drawing/2014/main" id="{60F3019B-4096-4C5D-B4A3-B8BE8B6E6B57}"/>
              </a:ext>
            </a:extLst>
          </p:cNvPr>
          <p:cNvSpPr/>
          <p:nvPr/>
        </p:nvSpPr>
        <p:spPr>
          <a:xfrm>
            <a:off x="11426840" y="6069313"/>
            <a:ext cx="1107600" cy="330200"/>
          </a:xfrm>
          <a:prstGeom prst="homePlate">
            <a:avLst/>
          </a:prstGeom>
          <a:solidFill>
            <a:srgbClr val="F99C42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36" name="Arrow_r12">
            <a:extLst>
              <a:ext uri="{FF2B5EF4-FFF2-40B4-BE49-F238E27FC236}">
                <a16:creationId xmlns:a16="http://schemas.microsoft.com/office/drawing/2014/main" id="{D57190CC-F617-4CCA-BE83-5B453C0B39C4}"/>
              </a:ext>
            </a:extLst>
          </p:cNvPr>
          <p:cNvSpPr/>
          <p:nvPr/>
        </p:nvSpPr>
        <p:spPr>
          <a:xfrm>
            <a:off x="12184951" y="6718300"/>
            <a:ext cx="792600" cy="330200"/>
          </a:xfrm>
          <a:prstGeom prst="homePlate">
            <a:avLst/>
          </a:prstGeom>
          <a:solidFill>
            <a:srgbClr val="F99C42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37" name="Arrow_r13">
            <a:extLst>
              <a:ext uri="{FF2B5EF4-FFF2-40B4-BE49-F238E27FC236}">
                <a16:creationId xmlns:a16="http://schemas.microsoft.com/office/drawing/2014/main" id="{E3FB46B8-AAB7-48D5-B48F-9573C29F5A7A}"/>
              </a:ext>
            </a:extLst>
          </p:cNvPr>
          <p:cNvSpPr/>
          <p:nvPr/>
        </p:nvSpPr>
        <p:spPr>
          <a:xfrm>
            <a:off x="12613223" y="7251700"/>
            <a:ext cx="792600" cy="330200"/>
          </a:xfrm>
          <a:prstGeom prst="homePlate">
            <a:avLst/>
          </a:prstGeom>
          <a:solidFill>
            <a:srgbClr val="F99C42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38" name="Arrow_r14">
            <a:extLst>
              <a:ext uri="{FF2B5EF4-FFF2-40B4-BE49-F238E27FC236}">
                <a16:creationId xmlns:a16="http://schemas.microsoft.com/office/drawing/2014/main" id="{0749BADC-D141-47F7-ABA2-DF5C119F855C}"/>
              </a:ext>
            </a:extLst>
          </p:cNvPr>
          <p:cNvSpPr/>
          <p:nvPr/>
        </p:nvSpPr>
        <p:spPr>
          <a:xfrm>
            <a:off x="13001840" y="7734300"/>
            <a:ext cx="1196583" cy="338402"/>
          </a:xfrm>
          <a:prstGeom prst="homePlate">
            <a:avLst/>
          </a:prstGeom>
          <a:solidFill>
            <a:srgbClr val="F99C42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39" name="Arrow_r15">
            <a:extLst>
              <a:ext uri="{FF2B5EF4-FFF2-40B4-BE49-F238E27FC236}">
                <a16:creationId xmlns:a16="http://schemas.microsoft.com/office/drawing/2014/main" id="{CAB2B8DC-087F-4474-B759-422C39A7203B}"/>
              </a:ext>
            </a:extLst>
          </p:cNvPr>
          <p:cNvSpPr/>
          <p:nvPr/>
        </p:nvSpPr>
        <p:spPr>
          <a:xfrm>
            <a:off x="11264240" y="8242298"/>
            <a:ext cx="2375560" cy="330202"/>
          </a:xfrm>
          <a:prstGeom prst="homePlate">
            <a:avLst/>
          </a:prstGeom>
          <a:solidFill>
            <a:srgbClr val="F99C42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41" name="Arrow_r17">
            <a:extLst>
              <a:ext uri="{FF2B5EF4-FFF2-40B4-BE49-F238E27FC236}">
                <a16:creationId xmlns:a16="http://schemas.microsoft.com/office/drawing/2014/main" id="{270ADA1E-020E-484E-BCAE-0CD832B724F8}"/>
              </a:ext>
            </a:extLst>
          </p:cNvPr>
          <p:cNvSpPr/>
          <p:nvPr/>
        </p:nvSpPr>
        <p:spPr>
          <a:xfrm>
            <a:off x="15240000" y="9182100"/>
            <a:ext cx="1447800" cy="384992"/>
          </a:xfrm>
          <a:prstGeom prst="homePlate">
            <a:avLst/>
          </a:prstGeom>
          <a:solidFill>
            <a:srgbClr val="F99C42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45" name="Arrow_r18">
            <a:extLst>
              <a:ext uri="{FF2B5EF4-FFF2-40B4-BE49-F238E27FC236}">
                <a16:creationId xmlns:a16="http://schemas.microsoft.com/office/drawing/2014/main" id="{270ADA1E-020E-484E-BCAE-0CD832B724F8}"/>
              </a:ext>
            </a:extLst>
          </p:cNvPr>
          <p:cNvSpPr/>
          <p:nvPr/>
        </p:nvSpPr>
        <p:spPr>
          <a:xfrm>
            <a:off x="13792200" y="8767498"/>
            <a:ext cx="914400" cy="338402"/>
          </a:xfrm>
          <a:prstGeom prst="homePlate">
            <a:avLst/>
          </a:prstGeom>
          <a:solidFill>
            <a:srgbClr val="F99C42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4" name="Arrow_r5">
            <a:extLst>
              <a:ext uri="{FF2B5EF4-FFF2-40B4-BE49-F238E27FC236}">
                <a16:creationId xmlns:a16="http://schemas.microsoft.com/office/drawing/2014/main" id="{4CA895A4-E09E-55E8-917E-4AD58F95619A}"/>
              </a:ext>
            </a:extLst>
          </p:cNvPr>
          <p:cNvSpPr/>
          <p:nvPr/>
        </p:nvSpPr>
        <p:spPr>
          <a:xfrm>
            <a:off x="10634240" y="2655570"/>
            <a:ext cx="792600" cy="330200"/>
          </a:xfrm>
          <a:prstGeom prst="homePlate">
            <a:avLst/>
          </a:prstGeom>
          <a:solidFill>
            <a:srgbClr val="F99C42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084834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1482E6">
            <a:alpha val="94000"/>
          </a:srgbClr>
        </a:solidFill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0">
    <wetp:webextensionref xmlns:r="http://schemas.openxmlformats.org/officeDocument/2006/relationships" r:id="rId1"/>
  </wetp:taskpane>
  <wetp:taskpane dockstate="right" visibility="0" width="525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E5D7A1B7-69B7-4925-99B8-A306950AE00F}">
  <we:reference id="wa200010001" version="1.0.0.1" store="ja-JP" storeType="OMEX"/>
  <we:alternateReferences>
    <we:reference id="WA200010001" version="1.0.0.1" store="WA200010001" storeType="OMEX"/>
  </we:alternateReferences>
  <we:properties>
    <we:property name="claude.fileId" value="&quot;47c20542-9aa0-420f-8b84-a53bce3b6a32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C1E0504D-397B-4E0E-9870-3BF79C012794}">
  <we:reference id="wa200010215" version="2.0.0.1" store="ja-JP" storeType="OMEX"/>
  <we:alternateReferences>
    <we:reference id="WA200010215" version="2.0.0.1" store="WA200010215" storeType="OMEX"/>
  </we:alternateReferences>
  <we:properties>
    <we:property name="bps.codex_control.document_id" value="&quot;923187e9-0861-413e-9a76-03a2dc2aca97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26790</TotalTime>
  <Words>978</Words>
  <Application>Microsoft Office PowerPoint</Application>
  <PresentationFormat>ユーザー設定</PresentationFormat>
  <Paragraphs>146</Paragraphs>
  <Slides>9</Slides>
  <Notes>8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9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9" baseType="lpstr">
      <vt:lpstr>游ゴシック</vt:lpstr>
      <vt:lpstr>Arial</vt:lpstr>
      <vt:lpstr>Source Han Sans JP Bold</vt:lpstr>
      <vt:lpstr>Calibri</vt:lpstr>
      <vt:lpstr>Source Han Sans JP Medium</vt:lpstr>
      <vt:lpstr>游ゴシック</vt:lpstr>
      <vt:lpstr>ＭＳ Ｐゴシック</vt:lpstr>
      <vt:lpstr>Century Gothic Paneuropean</vt:lpstr>
      <vt:lpstr>Source Han Sans JP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グリーン ホワイト シンプル 業務改善 提案書 ビジネス グラフ 表 プレゼンテーション</dc:title>
  <dc:creator>shiba</dc:creator>
  <cp:lastModifiedBy>陸 柴崎</cp:lastModifiedBy>
  <cp:revision>196</cp:revision>
  <dcterms:created xsi:type="dcterms:W3CDTF">2006-08-16T00:00:00Z</dcterms:created>
  <dcterms:modified xsi:type="dcterms:W3CDTF">2026-09-17T09:45:47Z</dcterms:modified>
  <dc:identifier>DAGKJCfN4aw</dc:identifier>
</cp:coreProperties>
</file>