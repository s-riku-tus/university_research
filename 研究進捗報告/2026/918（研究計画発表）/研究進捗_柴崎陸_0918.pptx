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0"/>
  </p:notesMasterIdLst>
  <p:sldIdLst>
    <p:sldId id="399" r:id="rId2"/>
    <p:sldId id="501" r:id="rId3"/>
    <p:sldId id="494" r:id="rId4"/>
    <p:sldId id="511" r:id="rId5"/>
    <p:sldId id="512" r:id="rId6"/>
    <p:sldId id="516" r:id="rId7"/>
    <p:sldId id="503" r:id="rId8"/>
    <p:sldId id="515" r:id="rId9"/>
  </p:sldIdLst>
  <p:sldSz cx="18288000" cy="10287000"/>
  <p:notesSz cx="6858000" cy="9144000"/>
  <p:embeddedFontLst>
    <p:embeddedFont>
      <p:font typeface="Source Han Sans JP" panose="020B0600070205080204" charset="-128"/>
      <p:regular r:id="rId11"/>
    </p:embeddedFont>
    <p:embeddedFont>
      <p:font typeface="Source Han Sans JP Bold" panose="020B0600070205080204" charset="-128"/>
      <p:regular r:id="rId12"/>
    </p:embeddedFont>
    <p:embeddedFont>
      <p:font typeface="Century Gothic Paneuropean" panose="020B0600070205080204" charset="0"/>
      <p:regular r:id="rId13"/>
    </p:embeddedFont>
    <p:embeddedFont>
      <p:font typeface="游ゴシック" panose="020B0400000000000000" pitchFamily="50" charset="-128"/>
      <p:regular r:id="rId14"/>
      <p:bold r:id="rId15"/>
    </p:embeddedFont>
    <p:embeddedFont>
      <p:font typeface="游ゴシック" panose="020B0400000000000000" pitchFamily="50" charset="-128"/>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4DFD7D12-A81E-460B-B0A9-1B2C599831E7}">
          <p14:sldIdLst>
            <p14:sldId id="399"/>
            <p14:sldId id="501"/>
            <p14:sldId id="494"/>
            <p14:sldId id="511"/>
            <p14:sldId id="512"/>
            <p14:sldId id="516"/>
            <p14:sldId id="503"/>
            <p14:sldId id="51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F1F1"/>
    <a:srgbClr val="BED8D7"/>
    <a:srgbClr val="B3D1D0"/>
    <a:srgbClr val="91BDBC"/>
    <a:srgbClr val="61A3A1"/>
    <a:srgbClr val="95C1C0"/>
    <a:srgbClr val="FFFFFF"/>
    <a:srgbClr val="849A9A"/>
    <a:srgbClr val="AACECD"/>
    <a:srgbClr val="ABC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1DD41C-0630-45D5-9049-54DFDE666A7F}" v="83" dt="2026-05-22T00:42:41.88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74696" autoAdjust="0"/>
  </p:normalViewPr>
  <p:slideViewPr>
    <p:cSldViewPr>
      <p:cViewPr varScale="1">
        <p:scale>
          <a:sx n="39" d="100"/>
          <a:sy n="39" d="100"/>
        </p:scale>
        <p:origin x="44" y="38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2026/9/18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狙いを定め直した方が良い気がしている．</a:t>
            </a:r>
            <a:endParaRPr kumimoji="1" lang="en-US" altLang="ja-JP" dirty="0"/>
          </a:p>
          <a:p>
            <a:endParaRPr kumimoji="1" lang="en-US" altLang="ja-JP" dirty="0"/>
          </a:p>
          <a:p>
            <a:r>
              <a:rPr kumimoji="1" lang="ja-JP" altLang="en-US"/>
              <a:t>手法の採用を</a:t>
            </a:r>
            <a:endParaRPr kumimoji="1" lang="en-US" altLang="ja-JP"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1A9E9-AE27-1E01-9835-EF48D367B2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534F1C-5D18-FC8A-8DEF-C46AB3E0D93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2770C4D-86E6-D25C-9111-77341F57D5F0}"/>
              </a:ext>
            </a:extLst>
          </p:cNvPr>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CE60FBB3-999D-3E47-4628-001993935F93}"/>
              </a:ext>
            </a:extLst>
          </p:cNvPr>
          <p:cNvSpPr>
            <a:spLocks noGrp="1"/>
          </p:cNvSpPr>
          <p:nvPr>
            <p:ph type="sldNum" sz="quarter" idx="5"/>
          </p:nvPr>
        </p:nvSpPr>
        <p:spPr/>
        <p:txBody>
          <a:bodyPr/>
          <a:lstStyle/>
          <a:p>
            <a:fld id="{43558F7A-9C9F-42E9-83A4-0C372CE5784D}" type="slidenum">
              <a:rPr kumimoji="1" lang="ja-JP" altLang="en-US" smtClean="0"/>
              <a:t>3</a:t>
            </a:fld>
            <a:endParaRPr kumimoji="1" lang="ja-JP" altLang="en-US"/>
          </a:p>
        </p:txBody>
      </p:sp>
    </p:spTree>
    <p:extLst>
      <p:ext uri="{BB962C8B-B14F-4D97-AF65-F5344CB8AC3E}">
        <p14:creationId xmlns:p14="http://schemas.microsoft.com/office/powerpoint/2010/main" val="1282839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19844-7479-4761-8AC7-853C4B311DE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6FFAA-7C12-7D95-5E85-103771BD859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AD4A18C-3D01-1769-0E06-C86D1BB87F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58A47E-C6C9-18D1-0F1C-B25EF8996712}"/>
              </a:ext>
            </a:extLst>
          </p:cNvPr>
          <p:cNvSpPr>
            <a:spLocks noGrp="1"/>
          </p:cNvSpPr>
          <p:nvPr>
            <p:ph type="sldNum" sz="quarter" idx="5"/>
          </p:nvPr>
        </p:nvSpPr>
        <p:spPr/>
        <p:txBody>
          <a:bodyPr/>
          <a:lstStyle/>
          <a:p>
            <a:fld id="{43558F7A-9C9F-42E9-83A4-0C372CE5784D}" type="slidenum">
              <a:rPr kumimoji="1" lang="ja-JP" altLang="en-US" smtClean="0"/>
              <a:t>4</a:t>
            </a:fld>
            <a:endParaRPr kumimoji="1" lang="ja-JP" altLang="en-US"/>
          </a:p>
        </p:txBody>
      </p:sp>
    </p:spTree>
    <p:extLst>
      <p:ext uri="{BB962C8B-B14F-4D97-AF65-F5344CB8AC3E}">
        <p14:creationId xmlns:p14="http://schemas.microsoft.com/office/powerpoint/2010/main" val="3705258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FA046-5D5B-2321-1581-D4060B329B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5C42F3A-8E35-6B59-A565-89F1D1267E1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B32A0E-F09F-1AA3-CA80-C5B4AFB3E01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104843-6162-F930-9485-6E27445AF616}"/>
              </a:ext>
            </a:extLst>
          </p:cNvPr>
          <p:cNvSpPr>
            <a:spLocks noGrp="1"/>
          </p:cNvSpPr>
          <p:nvPr>
            <p:ph type="sldNum" sz="quarter" idx="5"/>
          </p:nvPr>
        </p:nvSpPr>
        <p:spPr/>
        <p:txBody>
          <a:bodyPr/>
          <a:lstStyle/>
          <a:p>
            <a:fld id="{43558F7A-9C9F-42E9-83A4-0C372CE5784D}" type="slidenum">
              <a:rPr kumimoji="1" lang="ja-JP" altLang="en-US" smtClean="0"/>
              <a:t>5</a:t>
            </a:fld>
            <a:endParaRPr kumimoji="1" lang="ja-JP" altLang="en-US"/>
          </a:p>
        </p:txBody>
      </p:sp>
    </p:spTree>
    <p:extLst>
      <p:ext uri="{BB962C8B-B14F-4D97-AF65-F5344CB8AC3E}">
        <p14:creationId xmlns:p14="http://schemas.microsoft.com/office/powerpoint/2010/main" val="4041962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8904A-B5E3-DD5A-7521-B3CFA4838CC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A5929FA-9E8B-52C8-D481-73835AAC233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C08CF53-0D6C-60BC-3A55-07C2C9D4149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3A737B5-0EF6-7BBA-9DE6-30128CFD0910}"/>
              </a:ext>
            </a:extLst>
          </p:cNvPr>
          <p:cNvSpPr>
            <a:spLocks noGrp="1"/>
          </p:cNvSpPr>
          <p:nvPr>
            <p:ph type="sldNum" sz="quarter" idx="5"/>
          </p:nvPr>
        </p:nvSpPr>
        <p:spPr/>
        <p:txBody>
          <a:bodyPr/>
          <a:lstStyle/>
          <a:p>
            <a:fld id="{43558F7A-9C9F-42E9-83A4-0C372CE5784D}" type="slidenum">
              <a:rPr kumimoji="1" lang="ja-JP" altLang="en-US" smtClean="0"/>
              <a:t>6</a:t>
            </a:fld>
            <a:endParaRPr kumimoji="1" lang="ja-JP" altLang="en-US"/>
          </a:p>
        </p:txBody>
      </p:sp>
    </p:spTree>
    <p:extLst>
      <p:ext uri="{BB962C8B-B14F-4D97-AF65-F5344CB8AC3E}">
        <p14:creationId xmlns:p14="http://schemas.microsoft.com/office/powerpoint/2010/main" val="1905703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545E4-B9B9-554E-8899-3266B7DEC46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9C0710D-C792-2F16-2B79-8917D339DE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99D4327-A3A0-2B20-4891-5D0CE59697D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24A3B95-7E6A-318B-2CAB-533FB426EF9C}"/>
              </a:ext>
            </a:extLst>
          </p:cNvPr>
          <p:cNvSpPr>
            <a:spLocks noGrp="1"/>
          </p:cNvSpPr>
          <p:nvPr>
            <p:ph type="sldNum" sz="quarter" idx="5"/>
          </p:nvPr>
        </p:nvSpPr>
        <p:spPr/>
        <p:txBody>
          <a:bodyPr/>
          <a:lstStyle/>
          <a:p>
            <a:fld id="{43558F7A-9C9F-42E9-83A4-0C372CE5784D}" type="slidenum">
              <a:rPr kumimoji="1" lang="ja-JP" altLang="en-US" smtClean="0"/>
              <a:t>7</a:t>
            </a:fld>
            <a:endParaRPr kumimoji="1" lang="ja-JP" altLang="en-US"/>
          </a:p>
        </p:txBody>
      </p:sp>
    </p:spTree>
    <p:extLst>
      <p:ext uri="{BB962C8B-B14F-4D97-AF65-F5344CB8AC3E}">
        <p14:creationId xmlns:p14="http://schemas.microsoft.com/office/powerpoint/2010/main" val="909158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【年間計画に対する到達度（①〜④）】</a:t>
            </a:r>
          </a:p>
          <a:p>
            <a:r>
              <a:rPr lang="ja-JP" altLang="en-US" dirty="0"/>
              <a:t>① RF単体の確立：入力・回帰・ONBしきい値評価・結果保存まで完了。→ 完了扱い。</a:t>
            </a:r>
          </a:p>
          <a:p>
            <a:r>
              <a:rPr lang="ja-JP" altLang="en-US" dirty="0"/>
              <a:t>② 各モデルへの説明性付与：手法決定・実装・代表条件での出力まで完了。目視確認、信頼性、物理的妥当性の評価が残る。→ 進行中。</a:t>
            </a:r>
          </a:p>
          <a:p>
            <a:r>
              <a:rPr lang="ja-JP" altLang="en-US" dirty="0"/>
              <a:t>③ 3モデルアンサンブルの確立：パラメータ再調整、各モデルの安定化、3モデル・複数統合方法の同条件評価まで実施。アンサンブルの有効性と最終方式の判断が残る。→ 実装基盤は完了。</a:t>
            </a:r>
          </a:p>
          <a:p>
            <a:r>
              <a:rPr lang="ja-JP" altLang="en-US" dirty="0"/>
              <a:t>④ 沸騰開始点へのアプローチ：ONB近傍誤差としきい値検知指標を導入。データ設計・入力表現・検知遅れ・一般化検証が残る。→ 着手段階。</a:t>
            </a:r>
          </a:p>
          <a:p>
            <a:r>
              <a:rPr lang="ja-JP" altLang="en-US" dirty="0"/>
              <a:t>※「実装が完了したこと」と「研究上の検証・解釈が完了したこと」は分けて説明する。</a:t>
            </a:r>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8</a:t>
            </a:fld>
            <a:endParaRPr kumimoji="1" lang="ja-JP" altLang="en-US"/>
          </a:p>
        </p:txBody>
      </p:sp>
    </p:spTree>
    <p:extLst>
      <p:ext uri="{BB962C8B-B14F-4D97-AF65-F5344CB8AC3E}">
        <p14:creationId xmlns:p14="http://schemas.microsoft.com/office/powerpoint/2010/main" val="920481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2226627" y="4242220"/>
            <a:ext cx="13854732" cy="1231106"/>
          </a:xfrm>
          <a:prstGeom prst="rect">
            <a:avLst/>
          </a:prstGeom>
        </p:spPr>
        <p:txBody>
          <a:bodyPr wrap="square" lIns="0" tIns="0" rIns="0" bIns="0" rtlCol="0" anchor="t">
            <a:spAutoFit/>
          </a:bodyPr>
          <a:lstStyle/>
          <a:p>
            <a:pPr algn="ctr">
              <a:spcBef>
                <a:spcPct val="0"/>
              </a:spcBef>
            </a:pPr>
            <a:r>
              <a:rPr lang="en-US" altLang="ja-JP" sz="4000" dirty="0">
                <a:solidFill>
                  <a:srgbClr val="292B2B"/>
                </a:solidFill>
                <a:latin typeface="Source Han Sans JP Bold"/>
                <a:ea typeface="Source Han Sans JP Bold"/>
                <a:cs typeface="Source Han Sans JP Bold"/>
                <a:sym typeface="Source Han Sans JP Bold"/>
              </a:rPr>
              <a:t>CNN</a:t>
            </a:r>
            <a:r>
              <a:rPr lang="ja-JP" altLang="en-US" sz="4000" dirty="0">
                <a:solidFill>
                  <a:srgbClr val="292B2B"/>
                </a:solidFill>
                <a:latin typeface="Source Han Sans JP Bold"/>
                <a:ea typeface="Source Han Sans JP Bold"/>
                <a:cs typeface="Source Han Sans JP Bold"/>
                <a:sym typeface="Source Han Sans JP Bold"/>
              </a:rPr>
              <a:t>アンサンブル学習に基づく音響識別による</a:t>
            </a:r>
            <a:endParaRPr lang="en-US" altLang="ja-JP" sz="4000" dirty="0">
              <a:solidFill>
                <a:srgbClr val="292B2B"/>
              </a:solidFill>
              <a:latin typeface="Source Han Sans JP Bold"/>
              <a:ea typeface="Source Han Sans JP Bold"/>
              <a:cs typeface="Source Han Sans JP Bold"/>
              <a:sym typeface="Source Han Sans JP Bold"/>
            </a:endParaRPr>
          </a:p>
          <a:p>
            <a:pPr algn="ctr">
              <a:spcBef>
                <a:spcPct val="0"/>
              </a:spcBef>
            </a:pPr>
            <a:r>
              <a:rPr lang="ja-JP" altLang="en-US" sz="4000" dirty="0">
                <a:solidFill>
                  <a:srgbClr val="292B2B"/>
                </a:solidFill>
                <a:latin typeface="Source Han Sans JP Bold"/>
                <a:ea typeface="Source Han Sans JP Bold"/>
                <a:cs typeface="Source Han Sans JP Bold"/>
                <a:sym typeface="Source Han Sans JP Bold"/>
              </a:rPr>
              <a:t>プール沸騰の発生検知</a:t>
            </a:r>
          </a:p>
        </p:txBody>
      </p:sp>
      <p:sp>
        <p:nvSpPr>
          <p:cNvPr id="19" name="TextBox 19"/>
          <p:cNvSpPr txBox="1"/>
          <p:nvPr/>
        </p:nvSpPr>
        <p:spPr>
          <a:xfrm>
            <a:off x="885825" y="7729472"/>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t>植木研究室　　</a:t>
            </a:r>
            <a:r>
              <a:rPr lang="ja-JP" altLang="en-US" sz="4000" dirty="0">
                <a:solidFill>
                  <a:srgbClr val="292B2B"/>
                </a:solidFill>
                <a:latin typeface="+mj-ea"/>
                <a:ea typeface="+mj-ea"/>
                <a:cs typeface="Source Han Sans JP"/>
                <a:sym typeface="Source Han Sans JP"/>
              </a:rPr>
              <a:t>柴崎陸</a:t>
            </a:r>
            <a:endParaRPr lang="en-US" sz="4000" dirty="0">
              <a:solidFill>
                <a:srgbClr val="292B2B"/>
              </a:solidFill>
              <a:latin typeface="+mj-ea"/>
              <a:ea typeface="+mj-ea"/>
              <a:cs typeface="Source Han Sans JP"/>
              <a:sym typeface="Source Han Sans JP"/>
            </a:endParaRPr>
          </a:p>
        </p:txBody>
      </p:sp>
      <p:sp>
        <p:nvSpPr>
          <p:cNvPr id="20" name="TextBox 20"/>
          <p:cNvSpPr txBox="1"/>
          <p:nvPr/>
        </p:nvSpPr>
        <p:spPr>
          <a:xfrm>
            <a:off x="6111044" y="6792441"/>
            <a:ext cx="5785681" cy="496290"/>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Century Gothic Paneuropean"/>
                <a:ea typeface="Century Gothic Paneuropean"/>
                <a:cs typeface="Century Gothic Paneuropean"/>
                <a:sym typeface="Century Gothic Paneuropean"/>
              </a:rPr>
              <a:t>2026年9月18日</a:t>
            </a: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TextBox 17">
            <a:extLst>
              <a:ext uri="{FF2B5EF4-FFF2-40B4-BE49-F238E27FC236}">
                <a16:creationId xmlns:a16="http://schemas.microsoft.com/office/drawing/2014/main" id="{B2D46370-B0AA-E6EF-7D69-27BC452AE345}"/>
              </a:ext>
            </a:extLst>
          </p:cNvPr>
          <p:cNvSpPr txBox="1"/>
          <p:nvPr/>
        </p:nvSpPr>
        <p:spPr>
          <a:xfrm>
            <a:off x="2111859" y="2538384"/>
            <a:ext cx="13854732" cy="1015663"/>
          </a:xfrm>
          <a:prstGeom prst="rect">
            <a:avLst/>
          </a:prstGeom>
        </p:spPr>
        <p:txBody>
          <a:bodyPr wrap="square" lIns="0" tIns="0" rIns="0" bIns="0" rtlCol="0" anchor="t">
            <a:spAutoFit/>
          </a:bodyPr>
          <a:lstStyle/>
          <a:p>
            <a:pPr algn="ctr">
              <a:spcBef>
                <a:spcPct val="0"/>
              </a:spcBef>
            </a:pPr>
            <a:r>
              <a:rPr lang="ja-JP" altLang="en-US" sz="6600" dirty="0">
                <a:solidFill>
                  <a:srgbClr val="292B2B"/>
                </a:solidFill>
                <a:latin typeface="Source Han Sans JP Bold"/>
                <a:ea typeface="Source Han Sans JP Bold"/>
                <a:cs typeface="Source Han Sans JP Bold"/>
                <a:sym typeface="Source Han Sans JP Bold"/>
              </a:rPr>
              <a:t>研究進捗</a:t>
            </a:r>
            <a:endParaRPr lang="en-US" sz="6600" dirty="0">
              <a:solidFill>
                <a:srgbClr val="292B2B"/>
              </a:solidFill>
              <a:latin typeface="Source Han Sans JP Bold"/>
              <a:ea typeface="Source Han Sans JP Bold"/>
              <a:cs typeface="Source Han Sans JP Bold"/>
              <a:sym typeface="Source Han Sans JP Bold"/>
            </a:endParaRPr>
          </a:p>
        </p:txBody>
      </p:sp>
    </p:spTree>
    <p:extLst>
      <p:ext uri="{BB962C8B-B14F-4D97-AF65-F5344CB8AC3E}">
        <p14:creationId xmlns:p14="http://schemas.microsoft.com/office/powerpoint/2010/main" val="842676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78CC8-D48C-2743-BDF1-ECD66C65E961}"/>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CEE746A5-2EA0-7091-CE1B-4CA2830713A6}"/>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70958775-508E-6262-548A-C76F63D77464}"/>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41BA4E38-AE3E-68EF-51D9-A344EE59086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0152DED0-19F6-05C3-C9FF-989B1429AF0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BA6EA534-61D8-686C-86C9-B0FDB6111F9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CECFB917-CF11-0A3B-8B44-C670007A018C}"/>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91A2E58B-D56D-16D3-4661-BA3BBA74542D}"/>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31378A26-691B-21D8-F51A-2BCE6659850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B26AAB03-99EC-2423-EABE-926D29D0C8F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29867762-ABD7-CC40-7E63-B819E3C692C8}"/>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7C70FADF-E307-0A92-9A76-AA2A20A2C00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11692D9C-3C53-381D-F3A1-3F5EFE102AA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2F474822-BEB2-EBEC-7A2F-017173F3CC92}"/>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98FB6128-7B40-96C8-A76A-6673F6DB3B7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20FB272E-47CE-4D63-AC8D-B52F20BC8A7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86641A16-74EF-B03F-FD0C-9EDF72B6C955}"/>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2</a:t>
            </a:fld>
            <a:endParaRPr lang="en-US" sz="2400" dirty="0">
              <a:solidFill>
                <a:schemeClr val="bg1"/>
              </a:solidFill>
            </a:endParaRPr>
          </a:p>
        </p:txBody>
      </p:sp>
      <p:sp>
        <p:nvSpPr>
          <p:cNvPr id="513" name="TextBox 24">
            <a:extLst>
              <a:ext uri="{FF2B5EF4-FFF2-40B4-BE49-F238E27FC236}">
                <a16:creationId xmlns:a16="http://schemas.microsoft.com/office/drawing/2014/main" id="{482A15FD-BC4A-9198-CEDF-1767C02D8C29}"/>
              </a:ext>
            </a:extLst>
          </p:cNvPr>
          <p:cNvSpPr txBox="1"/>
          <p:nvPr/>
        </p:nvSpPr>
        <p:spPr>
          <a:xfrm>
            <a:off x="1806795" y="305043"/>
            <a:ext cx="8255000" cy="700576"/>
          </a:xfrm>
          <a:prstGeom prst="rect">
            <a:avLst/>
          </a:prstGeom>
        </p:spPr>
        <p:txBody>
          <a:bodyPr wrap="square" lIns="0" tIns="0" rIns="0" bIns="0" rtlCol="0" anchor="t">
            <a:normAutofit/>
          </a:bodyPr>
          <a:lstStyle/>
          <a:p>
            <a:pPr algn="l">
              <a:lnSpc>
                <a:spcPts val="5880"/>
              </a:lnSpc>
              <a:spcBef>
                <a:spcPct val="0"/>
              </a:spcBef>
            </a:pPr>
            <a:r>
              <a:rPr lang="ja-JP" altLang="en-US" sz="3000" b="1" dirty="0">
                <a:solidFill>
                  <a:srgbClr val="202020"/>
                </a:solidFill>
                <a:latin typeface="Yu Gothic"/>
                <a:ea typeface="Yu Gothic"/>
                <a:cs typeface="Source Han Sans JP Medium"/>
                <a:sym typeface="Source Han Sans JP Medium"/>
              </a:rPr>
              <a:t>今回の発表内容</a:t>
            </a:r>
          </a:p>
        </p:txBody>
      </p:sp>
      <p:sp>
        <p:nvSpPr>
          <p:cNvPr id="2" name="テキスト ボックス 1">
            <a:extLst>
              <a:ext uri="{FF2B5EF4-FFF2-40B4-BE49-F238E27FC236}">
                <a16:creationId xmlns:a16="http://schemas.microsoft.com/office/drawing/2014/main" id="{C47244F5-E118-40AC-BF88-DDF28BFD2529}"/>
              </a:ext>
            </a:extLst>
          </p:cNvPr>
          <p:cNvSpPr txBox="1"/>
          <p:nvPr/>
        </p:nvSpPr>
        <p:spPr>
          <a:xfrm>
            <a:off x="3708400" y="4457700"/>
            <a:ext cx="1143000" cy="2209800"/>
          </a:xfrm>
          <a:prstGeom prst="rect">
            <a:avLst/>
          </a:prstGeom>
          <a:noFill/>
        </p:spPr>
        <p:txBody>
          <a:bodyPr vertOverflow="overflow" vert="horz" wrap="square" rtlCol="0" anchor="t">
            <a:noAutofit/>
          </a:bodyPr>
          <a:lstStyle/>
          <a:p>
            <a:pPr algn="l"/>
            <a:r>
              <a:rPr lang="en-US" altLang="ja-JP" sz="4400" dirty="0">
                <a:solidFill>
                  <a:srgbClr val="202020"/>
                </a:solidFill>
                <a:latin typeface="Yu Gothic"/>
                <a:ea typeface="Yu Gothic"/>
              </a:rPr>
              <a:t>01
02
03</a:t>
            </a:r>
          </a:p>
          <a:p>
            <a:pPr algn="l"/>
            <a:r>
              <a:rPr lang="en-US" altLang="ja-JP" sz="4400" dirty="0">
                <a:solidFill>
                  <a:srgbClr val="202020"/>
                </a:solidFill>
                <a:latin typeface="Yu Gothic"/>
                <a:ea typeface="Yu Gothic"/>
              </a:rPr>
              <a:t>04</a:t>
            </a:r>
            <a:endParaRPr lang="ja-JP" altLang="en-US" sz="4400" dirty="0">
              <a:solidFill>
                <a:srgbClr val="202020"/>
              </a:solidFill>
              <a:latin typeface="Yu Gothic"/>
              <a:ea typeface="Yu Gothic"/>
            </a:endParaRPr>
          </a:p>
        </p:txBody>
      </p:sp>
      <p:sp>
        <p:nvSpPr>
          <p:cNvPr id="3" name="テキスト ボックス 2">
            <a:extLst>
              <a:ext uri="{FF2B5EF4-FFF2-40B4-BE49-F238E27FC236}">
                <a16:creationId xmlns:a16="http://schemas.microsoft.com/office/drawing/2014/main" id="{2F089934-D289-4A29-82F5-A8B268DA4E80}"/>
              </a:ext>
            </a:extLst>
          </p:cNvPr>
          <p:cNvSpPr txBox="1"/>
          <p:nvPr/>
        </p:nvSpPr>
        <p:spPr>
          <a:xfrm>
            <a:off x="5105400" y="4457700"/>
            <a:ext cx="10795000" cy="2971800"/>
          </a:xfrm>
          <a:prstGeom prst="rect">
            <a:avLst/>
          </a:prstGeom>
          <a:noFill/>
        </p:spPr>
        <p:txBody>
          <a:bodyPr vertOverflow="overflow" vert="horz" wrap="square" rtlCol="0" anchor="t">
            <a:noAutofit/>
          </a:bodyPr>
          <a:lstStyle/>
          <a:p>
            <a:pPr algn="l"/>
            <a:r>
              <a:rPr lang="ja-JP" altLang="en-US" sz="4400" b="1" dirty="0">
                <a:solidFill>
                  <a:srgbClr val="202020"/>
                </a:solidFill>
                <a:latin typeface="Yu Gothic"/>
                <a:ea typeface="Yu Gothic"/>
              </a:rPr>
              <a:t>学習・評価設計と音響選別
回帰・</a:t>
            </a:r>
            <a:r>
              <a:rPr lang="en-US" altLang="ja-JP" sz="4400" b="1" dirty="0">
                <a:solidFill>
                  <a:srgbClr val="202020"/>
                </a:solidFill>
                <a:latin typeface="Yu Gothic"/>
                <a:ea typeface="Yu Gothic"/>
              </a:rPr>
              <a:t>ONB</a:t>
            </a:r>
            <a:r>
              <a:rPr lang="ja-JP" altLang="en-US" sz="4400" b="1" dirty="0">
                <a:solidFill>
                  <a:srgbClr val="202020"/>
                </a:solidFill>
                <a:latin typeface="Yu Gothic"/>
                <a:ea typeface="Yu Gothic"/>
              </a:rPr>
              <a:t>判定と統合結果の分析
説明性</a:t>
            </a:r>
            <a:endParaRPr lang="en-US" altLang="ja-JP" sz="4400" b="1" dirty="0">
              <a:solidFill>
                <a:srgbClr val="202020"/>
              </a:solidFill>
              <a:latin typeface="Yu Gothic"/>
              <a:ea typeface="Yu Gothic"/>
            </a:endParaRPr>
          </a:p>
          <a:p>
            <a:pPr algn="l"/>
            <a:r>
              <a:rPr lang="ja-JP" altLang="en-US" sz="4400" b="1" dirty="0">
                <a:solidFill>
                  <a:srgbClr val="202020"/>
                </a:solidFill>
                <a:latin typeface="Yu Gothic"/>
                <a:ea typeface="Yu Gothic"/>
              </a:rPr>
              <a:t>後期の研究計画</a:t>
            </a:r>
          </a:p>
        </p:txBody>
      </p:sp>
    </p:spTree>
    <p:extLst>
      <p:ext uri="{BB962C8B-B14F-4D97-AF65-F5344CB8AC3E}">
        <p14:creationId xmlns:p14="http://schemas.microsoft.com/office/powerpoint/2010/main" val="3263072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7095-AF12-5A0D-09C9-F7ABC48E7F2B}"/>
            </a:ext>
          </a:extLst>
        </p:cNvPr>
        <p:cNvGrpSpPr/>
        <p:nvPr/>
      </p:nvGrpSpPr>
      <p:grpSpPr>
        <a:xfrm>
          <a:off x="0" y="0"/>
          <a:ext cx="0" cy="0"/>
          <a:chOff x="0" y="0"/>
          <a:chExt cx="0" cy="0"/>
        </a:xfrm>
      </p:grpSpPr>
      <p:sp>
        <p:nvSpPr>
          <p:cNvPr id="55" name="四角形: 角を丸くする 54">
            <a:extLst>
              <a:ext uri="{FF2B5EF4-FFF2-40B4-BE49-F238E27FC236}">
                <a16:creationId xmlns:a16="http://schemas.microsoft.com/office/drawing/2014/main" id="{E002949A-21AB-4877-874F-7A7E555B18CB}"/>
              </a:ext>
            </a:extLst>
          </p:cNvPr>
          <p:cNvSpPr/>
          <p:nvPr/>
        </p:nvSpPr>
        <p:spPr>
          <a:xfrm>
            <a:off x="10299700" y="7429500"/>
            <a:ext cx="4572000" cy="1905000"/>
          </a:xfrm>
          <a:prstGeom prst="roundRect">
            <a:avLst/>
          </a:prstGeom>
          <a:solidFill>
            <a:srgbClr val="EAF2F2">
              <a:alpha val="93725"/>
            </a:srgbClr>
          </a:solidFill>
          <a:ln w="31750" cap="flat" cmpd="sng" algn="ctr">
            <a:solidFill>
              <a:srgbClr val="68A8A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54" name="四角形: 角を丸くする 53">
            <a:extLst>
              <a:ext uri="{FF2B5EF4-FFF2-40B4-BE49-F238E27FC236}">
                <a16:creationId xmlns:a16="http://schemas.microsoft.com/office/drawing/2014/main" id="{A83EEA3F-4E85-42F6-BE0C-43B09856B411}"/>
              </a:ext>
            </a:extLst>
          </p:cNvPr>
          <p:cNvSpPr/>
          <p:nvPr/>
        </p:nvSpPr>
        <p:spPr>
          <a:xfrm>
            <a:off x="4267200" y="7429500"/>
            <a:ext cx="4572000" cy="1905000"/>
          </a:xfrm>
          <a:prstGeom prst="roundRect">
            <a:avLst/>
          </a:prstGeom>
          <a:solidFill>
            <a:srgbClr val="EAF2F2">
              <a:alpha val="93725"/>
            </a:srgbClr>
          </a:solidFill>
          <a:ln w="31750" cap="flat" cmpd="sng" algn="ctr">
            <a:solidFill>
              <a:srgbClr val="68A8A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53" name="四角形: 角を丸くする 52">
            <a:extLst>
              <a:ext uri="{FF2B5EF4-FFF2-40B4-BE49-F238E27FC236}">
                <a16:creationId xmlns:a16="http://schemas.microsoft.com/office/drawing/2014/main" id="{1F0C9C85-1AAF-4DD7-8C7E-DC43D129C5AC}"/>
              </a:ext>
            </a:extLst>
          </p:cNvPr>
          <p:cNvSpPr/>
          <p:nvPr/>
        </p:nvSpPr>
        <p:spPr>
          <a:xfrm>
            <a:off x="10299700" y="3578529"/>
            <a:ext cx="4572000" cy="1905000"/>
          </a:xfrm>
          <a:prstGeom prst="roundRect">
            <a:avLst/>
          </a:prstGeom>
          <a:solidFill>
            <a:srgbClr val="EAF2F2">
              <a:alpha val="93725"/>
            </a:srgbClr>
          </a:solidFill>
          <a:ln w="31750" cap="flat" cmpd="sng" algn="ctr">
            <a:solidFill>
              <a:srgbClr val="68A8A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52" name="四角形: 角を丸くする 51">
            <a:extLst>
              <a:ext uri="{FF2B5EF4-FFF2-40B4-BE49-F238E27FC236}">
                <a16:creationId xmlns:a16="http://schemas.microsoft.com/office/drawing/2014/main" id="{BEC4BD55-04D1-4B26-8178-40231C7D7E8F}"/>
              </a:ext>
            </a:extLst>
          </p:cNvPr>
          <p:cNvSpPr/>
          <p:nvPr/>
        </p:nvSpPr>
        <p:spPr>
          <a:xfrm>
            <a:off x="4267200" y="3578529"/>
            <a:ext cx="4572000" cy="1905000"/>
          </a:xfrm>
          <a:prstGeom prst="roundRect">
            <a:avLst/>
          </a:prstGeom>
          <a:solidFill>
            <a:srgbClr val="EAF2F2">
              <a:alpha val="93725"/>
            </a:srgbClr>
          </a:solidFill>
          <a:ln w="31750" cap="flat" cmpd="sng" algn="ctr">
            <a:solidFill>
              <a:srgbClr val="68A8A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29" name="スライド番号プレースホルダー 28">
            <a:extLst>
              <a:ext uri="{FF2B5EF4-FFF2-40B4-BE49-F238E27FC236}">
                <a16:creationId xmlns:a16="http://schemas.microsoft.com/office/drawing/2014/main" id="{100212A4-2D93-E42D-F43F-3D865B11C6B4}"/>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3</a:t>
            </a:fld>
            <a:endParaRPr lang="en-US" sz="4800" dirty="0"/>
          </a:p>
        </p:txBody>
      </p:sp>
      <p:grpSp>
        <p:nvGrpSpPr>
          <p:cNvPr id="27" name="グループ化 26">
            <a:extLst>
              <a:ext uri="{FF2B5EF4-FFF2-40B4-BE49-F238E27FC236}">
                <a16:creationId xmlns:a16="http://schemas.microsoft.com/office/drawing/2014/main" id="{CE5E0B2F-F763-22C1-3700-7F4CFDF22105}"/>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1B8EB6B3-4219-0C79-A21E-5392593559FD}"/>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FEC8B33A-3850-6CCC-9DBD-D99CE1297D12}"/>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1822B7CD-3D84-25E4-FAE7-A724B030373F}"/>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26FB7247-73F4-FC6B-704A-F91C1DE1A043}"/>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6386CD71-55CF-7637-1C85-71D30F14EE9C}"/>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BA8360CB-CB3C-63BA-89C3-98C8234ABC08}"/>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ABDD11FB-9DE8-4416-596D-5D975399CCA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1DC3491A-DFDB-3889-4EAC-A1D3F71F14A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1372A997-48C4-BE0C-4790-A7FE9E9737A0}"/>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C8AFE3BE-6429-7349-B897-8EA584E8347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7860339D-880B-7B5E-A3B7-53BD6268E88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4EBF17AC-C77C-794D-1B8F-86F1A3CF92AA}"/>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E47837EC-ADEA-A18E-B40C-355AC095EB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63760B9E-661E-BA99-9078-A8547168F8A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05B0307B-5FEB-41EC-FEC9-58D8111E678E}"/>
              </a:ext>
            </a:extLst>
          </p:cNvPr>
          <p:cNvSpPr txBox="1"/>
          <p:nvPr/>
        </p:nvSpPr>
        <p:spPr>
          <a:xfrm>
            <a:off x="1806795" y="305043"/>
            <a:ext cx="9652000" cy="700576"/>
          </a:xfrm>
          <a:prstGeom prst="rect">
            <a:avLst/>
          </a:prstGeom>
        </p:spPr>
        <p:txBody>
          <a:bodyPr wrap="square" lIns="0" tIns="0" rIns="0" bIns="0" rtlCol="0" anchor="t">
            <a:normAutofit/>
          </a:bodyPr>
          <a:lstStyle/>
          <a:p>
            <a:pPr algn="l">
              <a:lnSpc>
                <a:spcPts val="5880"/>
              </a:lnSpc>
              <a:spcBef>
                <a:spcPct val="0"/>
              </a:spcBef>
            </a:pPr>
            <a:r>
              <a:rPr lang="en-US" altLang="ja-JP" sz="3000" b="1" dirty="0">
                <a:solidFill>
                  <a:srgbClr val="202020"/>
                </a:solidFill>
                <a:latin typeface="Yu Gothic"/>
                <a:ea typeface="Yu Gothic"/>
              </a:rPr>
              <a:t>1. </a:t>
            </a:r>
            <a:r>
              <a:rPr lang="ja-JP" altLang="en-US" sz="3000" b="1" dirty="0">
                <a:solidFill>
                  <a:srgbClr val="202020"/>
                </a:solidFill>
                <a:latin typeface="Yu Gothic"/>
                <a:ea typeface="Yu Gothic"/>
              </a:rPr>
              <a:t>学習・評価設計</a:t>
            </a:r>
          </a:p>
        </p:txBody>
      </p:sp>
      <p:sp>
        <p:nvSpPr>
          <p:cNvPr id="2" name="テキスト ボックス 1">
            <a:extLst>
              <a:ext uri="{FF2B5EF4-FFF2-40B4-BE49-F238E27FC236}">
                <a16:creationId xmlns:a16="http://schemas.microsoft.com/office/drawing/2014/main" id="{9978FB1D-66A1-4BFD-BB58-30FB1D86690C}"/>
              </a:ext>
            </a:extLst>
          </p:cNvPr>
          <p:cNvSpPr txBox="1"/>
          <p:nvPr/>
        </p:nvSpPr>
        <p:spPr>
          <a:xfrm>
            <a:off x="1587500" y="1422400"/>
            <a:ext cx="15367000" cy="914400"/>
          </a:xfrm>
          <a:prstGeom prst="rect">
            <a:avLst/>
          </a:prstGeom>
          <a:noFill/>
          <a:ln>
            <a:noFill/>
          </a:ln>
        </p:spPr>
        <p:txBody>
          <a:bodyPr vertOverflow="overflow" vert="horz" wrap="square" rtlCol="0" anchor="ctr" anchorCtr="0">
            <a:normAutofit/>
          </a:bodyPr>
          <a:lstStyle/>
          <a:p>
            <a:pPr algn="l"/>
            <a:r>
              <a:rPr lang="ja-JP" altLang="en-US" sz="3200" b="1" dirty="0">
                <a:solidFill>
                  <a:srgbClr val="222222"/>
                </a:solidFill>
                <a:latin typeface="Yu Gothic"/>
                <a:ea typeface="Yu Gothic"/>
              </a:rPr>
              <a:t>学習・推論時のデータを別日の実験で得た音響データとした</a:t>
            </a:r>
          </a:p>
        </p:txBody>
      </p:sp>
      <p:sp>
        <p:nvSpPr>
          <p:cNvPr id="4" name="テキスト ボックス 3">
            <a:extLst>
              <a:ext uri="{FF2B5EF4-FFF2-40B4-BE49-F238E27FC236}">
                <a16:creationId xmlns:a16="http://schemas.microsoft.com/office/drawing/2014/main" id="{87ADDCCC-4070-4E7B-9350-7E4DB6EDC0E6}"/>
              </a:ext>
            </a:extLst>
          </p:cNvPr>
          <p:cNvSpPr txBox="1"/>
          <p:nvPr/>
        </p:nvSpPr>
        <p:spPr>
          <a:xfrm>
            <a:off x="3124200" y="2933700"/>
            <a:ext cx="2286000" cy="457200"/>
          </a:xfrm>
          <a:prstGeom prst="rect">
            <a:avLst/>
          </a:prstGeom>
          <a:noFill/>
          <a:ln>
            <a:noFill/>
          </a:ln>
        </p:spPr>
        <p:txBody>
          <a:bodyPr vertOverflow="overflow" vert="horz" wrap="square" rtlCol="0" anchor="ctr" anchorCtr="0">
            <a:noAutofit/>
          </a:bodyPr>
          <a:lstStyle/>
          <a:p>
            <a:pPr algn="l"/>
            <a:r>
              <a:rPr lang="ja-JP" altLang="en-US" sz="3200" b="1" dirty="0">
                <a:solidFill>
                  <a:srgbClr val="2F6F73"/>
                </a:solidFill>
                <a:latin typeface="Yu Gothic"/>
                <a:ea typeface="Yu Gothic"/>
              </a:rPr>
              <a:t>例</a:t>
            </a:r>
            <a:r>
              <a:rPr lang="en-US" altLang="ja-JP" sz="3200" b="1" dirty="0">
                <a:solidFill>
                  <a:srgbClr val="2F6F73"/>
                </a:solidFill>
                <a:latin typeface="Yu Gothic"/>
                <a:ea typeface="Yu Gothic"/>
              </a:rPr>
              <a:t>1</a:t>
            </a:r>
            <a:endParaRPr lang="ja-JP" altLang="en-US" sz="3200" b="1" dirty="0">
              <a:solidFill>
                <a:srgbClr val="2F6F73"/>
              </a:solidFill>
              <a:latin typeface="Yu Gothic"/>
              <a:ea typeface="Yu Gothic"/>
            </a:endParaRPr>
          </a:p>
        </p:txBody>
      </p:sp>
      <p:sp>
        <p:nvSpPr>
          <p:cNvPr id="6" name="テキスト ボックス 5">
            <a:extLst>
              <a:ext uri="{FF2B5EF4-FFF2-40B4-BE49-F238E27FC236}">
                <a16:creationId xmlns:a16="http://schemas.microsoft.com/office/drawing/2014/main" id="{0B85E026-F217-4ED1-B920-747F46A6FFE0}"/>
              </a:ext>
            </a:extLst>
          </p:cNvPr>
          <p:cNvSpPr txBox="1"/>
          <p:nvPr/>
        </p:nvSpPr>
        <p:spPr>
          <a:xfrm>
            <a:off x="5181600" y="4054779"/>
            <a:ext cx="2743200" cy="1003300"/>
          </a:xfrm>
          <a:prstGeom prst="rect">
            <a:avLst/>
          </a:prstGeom>
          <a:noFill/>
          <a:ln>
            <a:noFill/>
          </a:ln>
        </p:spPr>
        <p:txBody>
          <a:bodyPr vertOverflow="overflow" vert="horz" wrap="square" rtlCol="0" anchor="ctr" anchorCtr="0">
            <a:noAutofit/>
          </a:bodyPr>
          <a:lstStyle/>
          <a:p>
            <a:pPr algn="l"/>
            <a:r>
              <a:rPr lang="en-US" altLang="ja-JP" sz="4000" b="1" dirty="0">
                <a:solidFill>
                  <a:srgbClr val="222222"/>
                </a:solidFill>
                <a:latin typeface="Yu Gothic"/>
                <a:ea typeface="Yu Gothic"/>
              </a:rPr>
              <a:t>6/11 </a:t>
            </a:r>
            <a:r>
              <a:rPr lang="ja-JP" altLang="en-US" sz="4000" b="1" dirty="0">
                <a:solidFill>
                  <a:srgbClr val="222222"/>
                </a:solidFill>
                <a:latin typeface="Yu Gothic"/>
                <a:ea typeface="Yu Gothic"/>
              </a:rPr>
              <a:t>学習</a:t>
            </a:r>
          </a:p>
        </p:txBody>
      </p:sp>
      <p:sp>
        <p:nvSpPr>
          <p:cNvPr id="8" name="テキスト ボックス 7">
            <a:extLst>
              <a:ext uri="{FF2B5EF4-FFF2-40B4-BE49-F238E27FC236}">
                <a16:creationId xmlns:a16="http://schemas.microsoft.com/office/drawing/2014/main" id="{E554BF9F-6BBE-46B1-9FF1-4844CAD3867B}"/>
              </a:ext>
            </a:extLst>
          </p:cNvPr>
          <p:cNvSpPr txBox="1"/>
          <p:nvPr/>
        </p:nvSpPr>
        <p:spPr>
          <a:xfrm>
            <a:off x="9220200" y="4213529"/>
            <a:ext cx="825500" cy="635000"/>
          </a:xfrm>
          <a:prstGeom prst="rect">
            <a:avLst/>
          </a:prstGeom>
          <a:noFill/>
          <a:ln>
            <a:noFill/>
          </a:ln>
        </p:spPr>
        <p:txBody>
          <a:bodyPr vertOverflow="overflow" vert="horz" wrap="square" rtlCol="0" anchor="ctr" anchorCtr="0">
            <a:normAutofit/>
          </a:bodyPr>
          <a:lstStyle/>
          <a:p>
            <a:pPr algn="l"/>
            <a:r>
              <a:rPr lang="ja-JP" altLang="en-US" sz="2500" b="1">
                <a:solidFill>
                  <a:srgbClr val="2F6F73"/>
                </a:solidFill>
                <a:latin typeface="Yu Gothic"/>
                <a:ea typeface="Yu Gothic"/>
              </a:rPr>
              <a:t>→</a:t>
            </a:r>
          </a:p>
        </p:txBody>
      </p:sp>
      <p:sp>
        <p:nvSpPr>
          <p:cNvPr id="16" name="テキスト ボックス 15">
            <a:extLst>
              <a:ext uri="{FF2B5EF4-FFF2-40B4-BE49-F238E27FC236}">
                <a16:creationId xmlns:a16="http://schemas.microsoft.com/office/drawing/2014/main" id="{F64B79B6-5FC4-46EE-9E2B-D4A74F663C63}"/>
              </a:ext>
            </a:extLst>
          </p:cNvPr>
          <p:cNvSpPr txBox="1"/>
          <p:nvPr/>
        </p:nvSpPr>
        <p:spPr>
          <a:xfrm>
            <a:off x="9220200" y="8064500"/>
            <a:ext cx="825500" cy="635000"/>
          </a:xfrm>
          <a:prstGeom prst="rect">
            <a:avLst/>
          </a:prstGeom>
          <a:noFill/>
          <a:ln>
            <a:noFill/>
          </a:ln>
        </p:spPr>
        <p:txBody>
          <a:bodyPr vertOverflow="overflow" vert="horz" wrap="square" rtlCol="0" anchor="ctr" anchorCtr="0">
            <a:normAutofit/>
          </a:bodyPr>
          <a:lstStyle/>
          <a:p>
            <a:pPr algn="l"/>
            <a:r>
              <a:rPr lang="ja-JP" altLang="en-US" sz="2500" b="1">
                <a:solidFill>
                  <a:srgbClr val="2F6F73"/>
                </a:solidFill>
                <a:latin typeface="Yu Gothic"/>
                <a:ea typeface="Yu Gothic"/>
              </a:rPr>
              <a:t>→</a:t>
            </a:r>
          </a:p>
        </p:txBody>
      </p:sp>
      <p:sp>
        <p:nvSpPr>
          <p:cNvPr id="58" name="テキスト ボックス 57">
            <a:extLst>
              <a:ext uri="{FF2B5EF4-FFF2-40B4-BE49-F238E27FC236}">
                <a16:creationId xmlns:a16="http://schemas.microsoft.com/office/drawing/2014/main" id="{B181B652-914B-1355-C997-1350A2852BEB}"/>
              </a:ext>
            </a:extLst>
          </p:cNvPr>
          <p:cNvSpPr txBox="1"/>
          <p:nvPr/>
        </p:nvSpPr>
        <p:spPr>
          <a:xfrm>
            <a:off x="11341100" y="4029379"/>
            <a:ext cx="2743200" cy="1003300"/>
          </a:xfrm>
          <a:prstGeom prst="rect">
            <a:avLst/>
          </a:prstGeom>
          <a:noFill/>
          <a:ln>
            <a:noFill/>
          </a:ln>
        </p:spPr>
        <p:txBody>
          <a:bodyPr vertOverflow="overflow" vert="horz" wrap="square" rtlCol="0" anchor="ctr" anchorCtr="0">
            <a:noAutofit/>
          </a:bodyPr>
          <a:lstStyle/>
          <a:p>
            <a:pPr algn="l"/>
            <a:r>
              <a:rPr lang="en-US" altLang="ja-JP" sz="4000" b="1" dirty="0">
                <a:solidFill>
                  <a:srgbClr val="222222"/>
                </a:solidFill>
                <a:latin typeface="Yu Gothic"/>
                <a:ea typeface="Yu Gothic"/>
              </a:rPr>
              <a:t>6/18 </a:t>
            </a:r>
            <a:r>
              <a:rPr lang="ja-JP" altLang="en-US" sz="4000" b="1" dirty="0">
                <a:solidFill>
                  <a:srgbClr val="222222"/>
                </a:solidFill>
                <a:latin typeface="Yu Gothic"/>
                <a:ea typeface="Yu Gothic"/>
              </a:rPr>
              <a:t>評価</a:t>
            </a:r>
          </a:p>
        </p:txBody>
      </p:sp>
      <p:sp>
        <p:nvSpPr>
          <p:cNvPr id="60" name="テキスト ボックス 59">
            <a:extLst>
              <a:ext uri="{FF2B5EF4-FFF2-40B4-BE49-F238E27FC236}">
                <a16:creationId xmlns:a16="http://schemas.microsoft.com/office/drawing/2014/main" id="{E4BB1692-E962-3277-44C7-14D5961A690A}"/>
              </a:ext>
            </a:extLst>
          </p:cNvPr>
          <p:cNvSpPr txBox="1"/>
          <p:nvPr/>
        </p:nvSpPr>
        <p:spPr>
          <a:xfrm>
            <a:off x="4933950" y="7893050"/>
            <a:ext cx="3556000" cy="1003300"/>
          </a:xfrm>
          <a:prstGeom prst="rect">
            <a:avLst/>
          </a:prstGeom>
          <a:noFill/>
          <a:ln>
            <a:noFill/>
          </a:ln>
        </p:spPr>
        <p:txBody>
          <a:bodyPr vertOverflow="overflow" vert="horz" wrap="square" rtlCol="0" anchor="ctr" anchorCtr="0">
            <a:noAutofit/>
          </a:bodyPr>
          <a:lstStyle/>
          <a:p>
            <a:pPr algn="l"/>
            <a:r>
              <a:rPr lang="en-US" altLang="ja-JP" sz="4000" b="1" dirty="0">
                <a:solidFill>
                  <a:srgbClr val="222222"/>
                </a:solidFill>
                <a:latin typeface="Yu Gothic"/>
                <a:ea typeface="Yu Gothic"/>
              </a:rPr>
              <a:t>6/11, 18 </a:t>
            </a:r>
            <a:r>
              <a:rPr lang="ja-JP" altLang="en-US" sz="4000" b="1" dirty="0">
                <a:solidFill>
                  <a:srgbClr val="222222"/>
                </a:solidFill>
                <a:latin typeface="Yu Gothic"/>
                <a:ea typeface="Yu Gothic"/>
              </a:rPr>
              <a:t>学習</a:t>
            </a:r>
          </a:p>
        </p:txBody>
      </p:sp>
      <p:sp>
        <p:nvSpPr>
          <p:cNvPr id="62" name="テキスト ボックス 61">
            <a:extLst>
              <a:ext uri="{FF2B5EF4-FFF2-40B4-BE49-F238E27FC236}">
                <a16:creationId xmlns:a16="http://schemas.microsoft.com/office/drawing/2014/main" id="{81DB839E-B7EE-2147-536F-D34B40808EFF}"/>
              </a:ext>
            </a:extLst>
          </p:cNvPr>
          <p:cNvSpPr txBox="1"/>
          <p:nvPr/>
        </p:nvSpPr>
        <p:spPr>
          <a:xfrm>
            <a:off x="11341100" y="7893050"/>
            <a:ext cx="2743200" cy="1003300"/>
          </a:xfrm>
          <a:prstGeom prst="rect">
            <a:avLst/>
          </a:prstGeom>
          <a:noFill/>
          <a:ln>
            <a:noFill/>
          </a:ln>
        </p:spPr>
        <p:txBody>
          <a:bodyPr vertOverflow="overflow" vert="horz" wrap="square" rtlCol="0" anchor="ctr" anchorCtr="0">
            <a:noAutofit/>
          </a:bodyPr>
          <a:lstStyle/>
          <a:p>
            <a:pPr algn="l"/>
            <a:r>
              <a:rPr lang="en-US" altLang="ja-JP" sz="4000" b="1" dirty="0">
                <a:solidFill>
                  <a:srgbClr val="222222"/>
                </a:solidFill>
                <a:latin typeface="Yu Gothic"/>
                <a:ea typeface="Yu Gothic"/>
              </a:rPr>
              <a:t>6/11 </a:t>
            </a:r>
            <a:r>
              <a:rPr lang="ja-JP" altLang="en-US" sz="4000" b="1" dirty="0">
                <a:solidFill>
                  <a:srgbClr val="222222"/>
                </a:solidFill>
                <a:latin typeface="Yu Gothic"/>
                <a:ea typeface="Yu Gothic"/>
              </a:rPr>
              <a:t>評価</a:t>
            </a:r>
          </a:p>
        </p:txBody>
      </p:sp>
      <p:sp>
        <p:nvSpPr>
          <p:cNvPr id="64" name="テキスト ボックス 63">
            <a:extLst>
              <a:ext uri="{FF2B5EF4-FFF2-40B4-BE49-F238E27FC236}">
                <a16:creationId xmlns:a16="http://schemas.microsoft.com/office/drawing/2014/main" id="{A0C81755-4436-7350-BC2C-DFE90EDB0F20}"/>
              </a:ext>
            </a:extLst>
          </p:cNvPr>
          <p:cNvSpPr txBox="1"/>
          <p:nvPr/>
        </p:nvSpPr>
        <p:spPr>
          <a:xfrm>
            <a:off x="3124200" y="6845300"/>
            <a:ext cx="2286000" cy="457200"/>
          </a:xfrm>
          <a:prstGeom prst="rect">
            <a:avLst/>
          </a:prstGeom>
          <a:noFill/>
          <a:ln>
            <a:noFill/>
          </a:ln>
        </p:spPr>
        <p:txBody>
          <a:bodyPr vertOverflow="overflow" vert="horz" wrap="square" rtlCol="0" anchor="ctr" anchorCtr="0">
            <a:noAutofit/>
          </a:bodyPr>
          <a:lstStyle/>
          <a:p>
            <a:pPr algn="l"/>
            <a:r>
              <a:rPr lang="ja-JP" altLang="en-US" sz="3200" b="1" dirty="0">
                <a:solidFill>
                  <a:srgbClr val="2F6F73"/>
                </a:solidFill>
                <a:latin typeface="Yu Gothic"/>
                <a:ea typeface="Yu Gothic"/>
              </a:rPr>
              <a:t>例</a:t>
            </a:r>
            <a:r>
              <a:rPr lang="en-US" altLang="ja-JP" sz="3200" b="1" dirty="0">
                <a:solidFill>
                  <a:srgbClr val="2F6F73"/>
                </a:solidFill>
                <a:latin typeface="Yu Gothic"/>
                <a:ea typeface="Yu Gothic"/>
              </a:rPr>
              <a:t>2</a:t>
            </a:r>
            <a:endParaRPr lang="ja-JP" altLang="en-US" sz="3200" b="1" dirty="0">
              <a:solidFill>
                <a:srgbClr val="2F6F73"/>
              </a:solidFill>
              <a:latin typeface="Yu Gothic"/>
              <a:ea typeface="Yu Gothic"/>
            </a:endParaRPr>
          </a:p>
        </p:txBody>
      </p:sp>
    </p:spTree>
    <p:extLst>
      <p:ext uri="{BB962C8B-B14F-4D97-AF65-F5344CB8AC3E}">
        <p14:creationId xmlns:p14="http://schemas.microsoft.com/office/powerpoint/2010/main" val="1833220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1C04D-3962-402F-F1FD-D7A567A5E301}"/>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E619D498-DBD6-0784-0BDB-ED7BA8D54BC7}"/>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52960E3F-5A9B-2825-2223-1B867FC98144}"/>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2DD7D1B6-C3C8-7C54-FA18-205D1B151753}"/>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31871A78-2B56-BE29-D884-226FCEE2A36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745395BE-D6A1-43E4-B0BF-5B24F5616143}"/>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8A46ADEE-0A86-5B5C-61AF-D5EBA9F2EA67}"/>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CB2FBAFE-310E-329B-9ED4-4BDBC6EE535D}"/>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E3602D07-EE1F-3072-3249-36421FD853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4AE11EC1-B660-7D09-AAE8-D7555BB4EA9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2CF558ED-826B-41F1-048D-CDB7AFF7A30D}"/>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480EDD19-B6D3-EA2D-EF05-CBF220D03EF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EF577D8E-7E41-D347-EC63-F426994FD73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54FD14E3-7606-F032-10D0-C1A62A277B00}"/>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00618396-4050-1DE8-F136-8B6BCA1B778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23C6D6F7-39FF-28E5-B432-9C9C2CB0215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D8693FEA-9388-F51A-A629-471D6184CDB7}"/>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4</a:t>
            </a:fld>
            <a:endParaRPr lang="en-US" sz="2400" dirty="0">
              <a:solidFill>
                <a:schemeClr val="bg1"/>
              </a:solidFill>
            </a:endParaRPr>
          </a:p>
        </p:txBody>
      </p:sp>
      <p:sp>
        <p:nvSpPr>
          <p:cNvPr id="73" name="TextBox 24">
            <a:extLst>
              <a:ext uri="{FF2B5EF4-FFF2-40B4-BE49-F238E27FC236}">
                <a16:creationId xmlns:a16="http://schemas.microsoft.com/office/drawing/2014/main" id="{3803B00A-CF69-AFAA-44F0-30E03BC53203}"/>
              </a:ext>
            </a:extLst>
          </p:cNvPr>
          <p:cNvSpPr txBox="1"/>
          <p:nvPr/>
        </p:nvSpPr>
        <p:spPr>
          <a:xfrm>
            <a:off x="1806795" y="305043"/>
            <a:ext cx="9652000" cy="700576"/>
          </a:xfrm>
          <a:prstGeom prst="rect">
            <a:avLst/>
          </a:prstGeom>
        </p:spPr>
        <p:txBody>
          <a:bodyPr wrap="square" lIns="0" tIns="0" rIns="0" bIns="0" rtlCol="0" anchor="t">
            <a:normAutofit/>
          </a:bodyPr>
          <a:lstStyle/>
          <a:p>
            <a:pPr algn="l">
              <a:lnSpc>
                <a:spcPts val="5880"/>
              </a:lnSpc>
              <a:spcBef>
                <a:spcPct val="0"/>
              </a:spcBef>
            </a:pPr>
            <a:r>
              <a:rPr lang="en-US" altLang="ja-JP" sz="3000" b="1" dirty="0">
                <a:solidFill>
                  <a:srgbClr val="202020"/>
                </a:solidFill>
                <a:latin typeface="Yu Gothic"/>
                <a:ea typeface="Yu Gothic"/>
              </a:rPr>
              <a:t>1. </a:t>
            </a:r>
            <a:r>
              <a:rPr lang="ja-JP" altLang="en-US" sz="3000" b="1" dirty="0">
                <a:solidFill>
                  <a:srgbClr val="202020"/>
                </a:solidFill>
                <a:latin typeface="Yu Gothic"/>
                <a:ea typeface="Yu Gothic"/>
              </a:rPr>
              <a:t>音響選別</a:t>
            </a:r>
          </a:p>
        </p:txBody>
      </p:sp>
      <p:sp>
        <p:nvSpPr>
          <p:cNvPr id="2" name="テキスト ボックス 1">
            <a:extLst>
              <a:ext uri="{FF2B5EF4-FFF2-40B4-BE49-F238E27FC236}">
                <a16:creationId xmlns:a16="http://schemas.microsoft.com/office/drawing/2014/main" id="{38DA16AE-B149-4034-9E2F-689479321540}"/>
              </a:ext>
            </a:extLst>
          </p:cNvPr>
          <p:cNvSpPr txBox="1"/>
          <p:nvPr/>
        </p:nvSpPr>
        <p:spPr>
          <a:xfrm>
            <a:off x="1587500" y="1422400"/>
            <a:ext cx="15367000" cy="914400"/>
          </a:xfrm>
          <a:prstGeom prst="rect">
            <a:avLst/>
          </a:prstGeom>
          <a:noFill/>
          <a:ln>
            <a:noFill/>
          </a:ln>
        </p:spPr>
        <p:txBody>
          <a:bodyPr vertOverflow="overflow" vert="horz" wrap="square" rtlCol="0" anchor="ctr" anchorCtr="0">
            <a:normAutofit/>
          </a:bodyPr>
          <a:lstStyle/>
          <a:p>
            <a:pPr algn="l"/>
            <a:r>
              <a:rPr lang="en-US" altLang="ja-JP" sz="3200" b="1" dirty="0">
                <a:solidFill>
                  <a:srgbClr val="222222"/>
                </a:solidFill>
                <a:latin typeface="Yu Gothic"/>
                <a:ea typeface="Yu Gothic"/>
              </a:rPr>
              <a:t>ONB</a:t>
            </a:r>
            <a:r>
              <a:rPr lang="ja-JP" altLang="en-US" sz="3200" b="1" dirty="0">
                <a:solidFill>
                  <a:srgbClr val="222222"/>
                </a:solidFill>
                <a:latin typeface="Yu Gothic"/>
                <a:ea typeface="Yu Gothic"/>
              </a:rPr>
              <a:t>直後からそれ以降である閾値を超えたもののみ沸騰データとした</a:t>
            </a:r>
          </a:p>
        </p:txBody>
      </p:sp>
      <p:pic>
        <p:nvPicPr>
          <p:cNvPr id="17" name="図 16">
            <a:extLst>
              <a:ext uri="{FF2B5EF4-FFF2-40B4-BE49-F238E27FC236}">
                <a16:creationId xmlns:a16="http://schemas.microsoft.com/office/drawing/2014/main" id="{F22E292A-381C-AB26-BDC0-659009DECC38}"/>
              </a:ext>
            </a:extLst>
          </p:cNvPr>
          <p:cNvPicPr>
            <a:picLocks noChangeAspect="1"/>
          </p:cNvPicPr>
          <p:nvPr/>
        </p:nvPicPr>
        <p:blipFill>
          <a:blip r:embed="rId4"/>
          <a:stretch>
            <a:fillRect/>
          </a:stretch>
        </p:blipFill>
        <p:spPr>
          <a:xfrm>
            <a:off x="1600200" y="2735255"/>
            <a:ext cx="6134100" cy="6134100"/>
          </a:xfrm>
          <a:prstGeom prst="rect">
            <a:avLst/>
          </a:prstGeom>
        </p:spPr>
      </p:pic>
      <p:pic>
        <p:nvPicPr>
          <p:cNvPr id="19" name="図 18">
            <a:extLst>
              <a:ext uri="{FF2B5EF4-FFF2-40B4-BE49-F238E27FC236}">
                <a16:creationId xmlns:a16="http://schemas.microsoft.com/office/drawing/2014/main" id="{7CE22C5B-5AA9-C2B3-0F74-610F4BE290A9}"/>
              </a:ext>
            </a:extLst>
          </p:cNvPr>
          <p:cNvPicPr>
            <a:picLocks noChangeAspect="1"/>
          </p:cNvPicPr>
          <p:nvPr/>
        </p:nvPicPr>
        <p:blipFill>
          <a:blip r:embed="rId5"/>
          <a:stretch>
            <a:fillRect/>
          </a:stretch>
        </p:blipFill>
        <p:spPr>
          <a:xfrm>
            <a:off x="9977230" y="2735255"/>
            <a:ext cx="6134101" cy="6134101"/>
          </a:xfrm>
          <a:prstGeom prst="rect">
            <a:avLst/>
          </a:prstGeom>
        </p:spPr>
      </p:pic>
      <p:sp>
        <p:nvSpPr>
          <p:cNvPr id="41" name="テキスト ボックス 40">
            <a:extLst>
              <a:ext uri="{FF2B5EF4-FFF2-40B4-BE49-F238E27FC236}">
                <a16:creationId xmlns:a16="http://schemas.microsoft.com/office/drawing/2014/main" id="{1F2E4B92-37E1-7728-5C05-1491C61A7C2C}"/>
              </a:ext>
            </a:extLst>
          </p:cNvPr>
          <p:cNvSpPr txBox="1"/>
          <p:nvPr/>
        </p:nvSpPr>
        <p:spPr>
          <a:xfrm>
            <a:off x="3276600" y="9105900"/>
            <a:ext cx="3011907" cy="1003300"/>
          </a:xfrm>
          <a:prstGeom prst="rect">
            <a:avLst/>
          </a:prstGeom>
          <a:noFill/>
          <a:ln>
            <a:noFill/>
          </a:ln>
        </p:spPr>
        <p:txBody>
          <a:bodyPr vertOverflow="overflow" vert="horz" wrap="square" rtlCol="0" anchor="ctr" anchorCtr="0">
            <a:noAutofit/>
          </a:bodyPr>
          <a:lstStyle/>
          <a:p>
            <a:pPr algn="l"/>
            <a:r>
              <a:rPr lang="ja-JP" altLang="en-US" sz="4000" b="1" dirty="0">
                <a:solidFill>
                  <a:srgbClr val="222222"/>
                </a:solidFill>
                <a:latin typeface="Yu Gothic"/>
                <a:ea typeface="Yu Gothic"/>
              </a:rPr>
              <a:t>沸騰データ</a:t>
            </a:r>
          </a:p>
        </p:txBody>
      </p:sp>
      <p:sp>
        <p:nvSpPr>
          <p:cNvPr id="43" name="テキスト ボックス 42">
            <a:extLst>
              <a:ext uri="{FF2B5EF4-FFF2-40B4-BE49-F238E27FC236}">
                <a16:creationId xmlns:a16="http://schemas.microsoft.com/office/drawing/2014/main" id="{70D5BE68-13FE-90BB-8842-9738C0C64C6D}"/>
              </a:ext>
            </a:extLst>
          </p:cNvPr>
          <p:cNvSpPr txBox="1"/>
          <p:nvPr/>
        </p:nvSpPr>
        <p:spPr>
          <a:xfrm>
            <a:off x="11734800" y="9105900"/>
            <a:ext cx="3543857" cy="1003300"/>
          </a:xfrm>
          <a:prstGeom prst="rect">
            <a:avLst/>
          </a:prstGeom>
          <a:noFill/>
          <a:ln>
            <a:noFill/>
          </a:ln>
        </p:spPr>
        <p:txBody>
          <a:bodyPr vertOverflow="overflow" vert="horz" wrap="square" rtlCol="0" anchor="ctr" anchorCtr="0">
            <a:noAutofit/>
          </a:bodyPr>
          <a:lstStyle/>
          <a:p>
            <a:pPr algn="l"/>
            <a:r>
              <a:rPr lang="ja-JP" altLang="en-US" sz="4000" b="1" dirty="0">
                <a:solidFill>
                  <a:srgbClr val="222222"/>
                </a:solidFill>
                <a:latin typeface="Yu Gothic"/>
                <a:ea typeface="Yu Gothic"/>
              </a:rPr>
              <a:t>未沸騰データ</a:t>
            </a:r>
          </a:p>
        </p:txBody>
      </p:sp>
      <p:cxnSp>
        <p:nvCxnSpPr>
          <p:cNvPr id="45" name="直線コネクタ 44">
            <a:extLst>
              <a:ext uri="{FF2B5EF4-FFF2-40B4-BE49-F238E27FC236}">
                <a16:creationId xmlns:a16="http://schemas.microsoft.com/office/drawing/2014/main" id="{1AF97035-4D99-BA25-AF7B-C1348DF8A0D7}"/>
              </a:ext>
            </a:extLst>
          </p:cNvPr>
          <p:cNvCxnSpPr/>
          <p:nvPr/>
        </p:nvCxnSpPr>
        <p:spPr>
          <a:xfrm>
            <a:off x="13130689" y="5402255"/>
            <a:ext cx="28194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0B72ADD5-987B-A7A0-1C4A-996977EB5195}"/>
              </a:ext>
            </a:extLst>
          </p:cNvPr>
          <p:cNvCxnSpPr/>
          <p:nvPr/>
        </p:nvCxnSpPr>
        <p:spPr>
          <a:xfrm>
            <a:off x="4712937" y="8221655"/>
            <a:ext cx="28194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96" name="グループ化 895">
            <a:extLst>
              <a:ext uri="{FF2B5EF4-FFF2-40B4-BE49-F238E27FC236}">
                <a16:creationId xmlns:a16="http://schemas.microsoft.com/office/drawing/2014/main" id="{6B1355A5-0A3C-17B4-0C29-7B8C20838DA7}"/>
              </a:ext>
            </a:extLst>
          </p:cNvPr>
          <p:cNvGrpSpPr/>
          <p:nvPr/>
        </p:nvGrpSpPr>
        <p:grpSpPr>
          <a:xfrm>
            <a:off x="6772959" y="4109205"/>
            <a:ext cx="4305302" cy="2382814"/>
            <a:chOff x="14856229" y="1384300"/>
            <a:chExt cx="4572000" cy="1168338"/>
          </a:xfrm>
        </p:grpSpPr>
        <p:sp>
          <p:nvSpPr>
            <p:cNvPr id="56" name="四角形: 角を丸くする 55">
              <a:extLst>
                <a:ext uri="{FF2B5EF4-FFF2-40B4-BE49-F238E27FC236}">
                  <a16:creationId xmlns:a16="http://schemas.microsoft.com/office/drawing/2014/main" id="{B5B5855F-C5FF-82B2-C002-36E0662EB174}"/>
                </a:ext>
              </a:extLst>
            </p:cNvPr>
            <p:cNvSpPr/>
            <p:nvPr/>
          </p:nvSpPr>
          <p:spPr>
            <a:xfrm>
              <a:off x="14856229" y="1384300"/>
              <a:ext cx="4572000" cy="1168338"/>
            </a:xfrm>
            <a:prstGeom prst="roundRect">
              <a:avLst/>
            </a:prstGeom>
            <a:solidFill>
              <a:srgbClr val="EAF2F2">
                <a:alpha val="93725"/>
              </a:srgbClr>
            </a:solidFill>
            <a:ln w="31750" cap="flat" cmpd="sng" algn="ctr">
              <a:solidFill>
                <a:srgbClr val="68A8A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50" name="テキスト ボックス 49">
              <a:extLst>
                <a:ext uri="{FF2B5EF4-FFF2-40B4-BE49-F238E27FC236}">
                  <a16:creationId xmlns:a16="http://schemas.microsoft.com/office/drawing/2014/main" id="{25E6EDEE-14C6-8A14-3656-AB3F1907674B}"/>
                </a:ext>
              </a:extLst>
            </p:cNvPr>
            <p:cNvSpPr txBox="1"/>
            <p:nvPr/>
          </p:nvSpPr>
          <p:spPr>
            <a:xfrm>
              <a:off x="15323894" y="1506494"/>
              <a:ext cx="3919887" cy="1003300"/>
            </a:xfrm>
            <a:prstGeom prst="rect">
              <a:avLst/>
            </a:prstGeom>
            <a:noFill/>
            <a:ln>
              <a:noFill/>
            </a:ln>
          </p:spPr>
          <p:txBody>
            <a:bodyPr vertOverflow="overflow" vert="horz" wrap="square" rtlCol="0" anchor="ctr" anchorCtr="0">
              <a:noAutofit/>
            </a:bodyPr>
            <a:lstStyle/>
            <a:p>
              <a:pPr algn="l"/>
              <a:r>
                <a:rPr lang="ja-JP" altLang="en-US" sz="4000" b="1" dirty="0">
                  <a:latin typeface="Yu Gothic"/>
                  <a:ea typeface="Yu Gothic"/>
                </a:rPr>
                <a:t>閾値：</a:t>
              </a:r>
              <a:endParaRPr lang="en-US" altLang="ja-JP" sz="4000" b="1" dirty="0">
                <a:latin typeface="Yu Gothic"/>
                <a:ea typeface="Yu Gothic"/>
              </a:endParaRPr>
            </a:p>
            <a:p>
              <a:pPr algn="l"/>
              <a:r>
                <a:rPr lang="en-US" altLang="ja-JP" sz="4000" b="1" dirty="0">
                  <a:latin typeface="Yu Gothic"/>
                  <a:ea typeface="Yu Gothic"/>
                </a:rPr>
                <a:t>2.1~2.5kHz</a:t>
              </a:r>
              <a:r>
                <a:rPr lang="ja-JP" altLang="en-US" sz="4000" b="1" dirty="0">
                  <a:latin typeface="Yu Gothic"/>
                  <a:ea typeface="Yu Gothic"/>
                </a:rPr>
                <a:t>で</a:t>
              </a:r>
              <a:endParaRPr lang="en-US" altLang="ja-JP" sz="4000" b="1" dirty="0">
                <a:latin typeface="Yu Gothic"/>
                <a:ea typeface="Yu Gothic"/>
              </a:endParaRPr>
            </a:p>
            <a:p>
              <a:pPr algn="l"/>
              <a:r>
                <a:rPr lang="en-US" altLang="ja-JP" sz="4000" b="1" dirty="0">
                  <a:solidFill>
                    <a:srgbClr val="FF0000"/>
                  </a:solidFill>
                  <a:latin typeface="Yu Gothic"/>
                  <a:ea typeface="Yu Gothic"/>
                </a:rPr>
                <a:t>1×10^-9</a:t>
              </a:r>
              <a:endParaRPr lang="ja-JP" altLang="en-US" sz="4000" b="1" dirty="0">
                <a:solidFill>
                  <a:srgbClr val="FF0000"/>
                </a:solidFill>
                <a:latin typeface="Yu Gothic"/>
                <a:ea typeface="Yu Gothic"/>
              </a:endParaRPr>
            </a:p>
          </p:txBody>
        </p:sp>
      </p:grpSp>
      <p:sp>
        <p:nvSpPr>
          <p:cNvPr id="52" name="テキスト ボックス 51">
            <a:extLst>
              <a:ext uri="{FF2B5EF4-FFF2-40B4-BE49-F238E27FC236}">
                <a16:creationId xmlns:a16="http://schemas.microsoft.com/office/drawing/2014/main" id="{006CD1A6-F35E-F318-9B3A-89727EB2B79E}"/>
              </a:ext>
            </a:extLst>
          </p:cNvPr>
          <p:cNvSpPr txBox="1"/>
          <p:nvPr/>
        </p:nvSpPr>
        <p:spPr>
          <a:xfrm>
            <a:off x="942031" y="2324100"/>
            <a:ext cx="1705661" cy="1003300"/>
          </a:xfrm>
          <a:prstGeom prst="rect">
            <a:avLst/>
          </a:prstGeom>
          <a:noFill/>
          <a:ln>
            <a:noFill/>
          </a:ln>
        </p:spPr>
        <p:txBody>
          <a:bodyPr vertOverflow="overflow" vert="horz" wrap="square" rtlCol="0" anchor="ctr" anchorCtr="0">
            <a:noAutofit/>
          </a:bodyPr>
          <a:lstStyle/>
          <a:p>
            <a:pPr algn="l"/>
            <a:r>
              <a:rPr lang="en-US" altLang="ja-JP" sz="3200" b="1" dirty="0">
                <a:solidFill>
                  <a:srgbClr val="222222"/>
                </a:solidFill>
                <a:latin typeface="Yu Gothic"/>
                <a:ea typeface="Yu Gothic"/>
              </a:rPr>
              <a:t>×10^-8</a:t>
            </a:r>
            <a:endParaRPr lang="ja-JP" altLang="en-US" sz="3200" b="1" dirty="0">
              <a:solidFill>
                <a:srgbClr val="222222"/>
              </a:solidFill>
              <a:latin typeface="Yu Gothic"/>
              <a:ea typeface="Yu Gothic"/>
            </a:endParaRPr>
          </a:p>
        </p:txBody>
      </p:sp>
      <p:sp>
        <p:nvSpPr>
          <p:cNvPr id="54" name="テキスト ボックス 53">
            <a:extLst>
              <a:ext uri="{FF2B5EF4-FFF2-40B4-BE49-F238E27FC236}">
                <a16:creationId xmlns:a16="http://schemas.microsoft.com/office/drawing/2014/main" id="{A831A7DF-0C00-4926-1730-BE2F23A0AA15}"/>
              </a:ext>
            </a:extLst>
          </p:cNvPr>
          <p:cNvSpPr txBox="1"/>
          <p:nvPr/>
        </p:nvSpPr>
        <p:spPr>
          <a:xfrm>
            <a:off x="9372600" y="2348203"/>
            <a:ext cx="1705661" cy="1003300"/>
          </a:xfrm>
          <a:prstGeom prst="rect">
            <a:avLst/>
          </a:prstGeom>
          <a:noFill/>
          <a:ln>
            <a:noFill/>
          </a:ln>
        </p:spPr>
        <p:txBody>
          <a:bodyPr vertOverflow="overflow" vert="horz" wrap="square" rtlCol="0" anchor="ctr" anchorCtr="0">
            <a:noAutofit/>
          </a:bodyPr>
          <a:lstStyle/>
          <a:p>
            <a:pPr algn="l"/>
            <a:r>
              <a:rPr lang="en-US" altLang="ja-JP" sz="3200" b="1" dirty="0">
                <a:solidFill>
                  <a:srgbClr val="222222"/>
                </a:solidFill>
                <a:latin typeface="Yu Gothic"/>
                <a:ea typeface="Yu Gothic"/>
              </a:rPr>
              <a:t>×10^-9</a:t>
            </a:r>
            <a:endParaRPr lang="ja-JP" altLang="en-US" sz="3200" b="1" dirty="0">
              <a:solidFill>
                <a:srgbClr val="222222"/>
              </a:solidFill>
              <a:latin typeface="Yu Gothic"/>
              <a:ea typeface="Yu Gothic"/>
            </a:endParaRPr>
          </a:p>
        </p:txBody>
      </p:sp>
    </p:spTree>
    <p:extLst>
      <p:ext uri="{BB962C8B-B14F-4D97-AF65-F5344CB8AC3E}">
        <p14:creationId xmlns:p14="http://schemas.microsoft.com/office/powerpoint/2010/main" val="2412392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882ED-91FB-1FFD-EED9-E2CCF1CB38B6}"/>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1226A433-2043-B47F-E0E8-72C7A0748C7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47B74506-C052-E656-B19A-11FB4A11743B}"/>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5</a:t>
            </a:fld>
            <a:endParaRPr lang="en-US" sz="2400" dirty="0">
              <a:solidFill>
                <a:schemeClr val="bg1"/>
              </a:solidFill>
            </a:endParaRPr>
          </a:p>
        </p:txBody>
      </p:sp>
      <p:sp>
        <p:nvSpPr>
          <p:cNvPr id="5" name="テキスト ボックス 4">
            <a:extLst>
              <a:ext uri="{FF2B5EF4-FFF2-40B4-BE49-F238E27FC236}">
                <a16:creationId xmlns:a16="http://schemas.microsoft.com/office/drawing/2014/main" id="{5916AA8B-3001-4C62-965C-3C0745A4DD02}"/>
              </a:ext>
            </a:extLst>
          </p:cNvPr>
          <p:cNvSpPr txBox="1"/>
          <p:nvPr/>
        </p:nvSpPr>
        <p:spPr>
          <a:xfrm>
            <a:off x="1498600" y="1422400"/>
            <a:ext cx="15494000" cy="965200"/>
          </a:xfrm>
          <a:prstGeom prst="rect">
            <a:avLst/>
          </a:prstGeom>
          <a:noFill/>
        </p:spPr>
        <p:txBody>
          <a:bodyPr vertOverflow="overflow" vert="horz" wrap="square" rtlCol="0" anchor="ctr" anchorCtr="0">
            <a:normAutofit/>
          </a:bodyPr>
          <a:lstStyle/>
          <a:p>
            <a:pPr algn="l"/>
            <a:r>
              <a:rPr lang="ja-JP" altLang="en-US" sz="3200" b="1" dirty="0">
                <a:solidFill>
                  <a:srgbClr val="1B1F23"/>
                </a:solidFill>
                <a:latin typeface="Yu Gothic"/>
                <a:ea typeface="Yu Gothic"/>
              </a:rPr>
              <a:t>入力ノイズなしの検証では，アンサンブルが最も精度が高くなった</a:t>
            </a:r>
          </a:p>
        </p:txBody>
      </p:sp>
      <p:sp>
        <p:nvSpPr>
          <p:cNvPr id="27" name="TextBox 24">
            <a:extLst>
              <a:ext uri="{FF2B5EF4-FFF2-40B4-BE49-F238E27FC236}">
                <a16:creationId xmlns:a16="http://schemas.microsoft.com/office/drawing/2014/main" id="{E1901ED1-4445-7B8A-29E0-91B7F9922131}"/>
              </a:ext>
            </a:extLst>
          </p:cNvPr>
          <p:cNvSpPr txBox="1"/>
          <p:nvPr/>
        </p:nvSpPr>
        <p:spPr>
          <a:xfrm>
            <a:off x="1806795" y="305043"/>
            <a:ext cx="9652000" cy="700576"/>
          </a:xfrm>
          <a:prstGeom prst="rect">
            <a:avLst/>
          </a:prstGeom>
        </p:spPr>
        <p:txBody>
          <a:bodyPr wrap="square" lIns="0" tIns="0" rIns="0" bIns="0" rtlCol="0" anchor="t">
            <a:normAutofit/>
          </a:bodyPr>
          <a:lstStyle/>
          <a:p>
            <a:pPr algn="l">
              <a:lnSpc>
                <a:spcPts val="5880"/>
              </a:lnSpc>
              <a:spcBef>
                <a:spcPct val="0"/>
              </a:spcBef>
            </a:pPr>
            <a:r>
              <a:rPr lang="en-US" altLang="ja-JP" sz="3000" b="1" dirty="0">
                <a:solidFill>
                  <a:srgbClr val="202020"/>
                </a:solidFill>
                <a:latin typeface="Yu Gothic"/>
                <a:ea typeface="Yu Gothic"/>
              </a:rPr>
              <a:t>2. </a:t>
            </a:r>
            <a:r>
              <a:rPr lang="ja-JP" altLang="en-US" sz="3000" b="1" dirty="0">
                <a:solidFill>
                  <a:srgbClr val="202020"/>
                </a:solidFill>
                <a:latin typeface="Yu Gothic"/>
                <a:ea typeface="Yu Gothic"/>
              </a:rPr>
              <a:t>熱流束回帰</a:t>
            </a:r>
          </a:p>
        </p:txBody>
      </p:sp>
      <p:pic>
        <p:nvPicPr>
          <p:cNvPr id="6" name="図 5">
            <a:extLst>
              <a:ext uri="{FF2B5EF4-FFF2-40B4-BE49-F238E27FC236}">
                <a16:creationId xmlns:a16="http://schemas.microsoft.com/office/drawing/2014/main" id="{8C0B6706-D009-92DC-09BD-31241BEC69F1}"/>
              </a:ext>
            </a:extLst>
          </p:cNvPr>
          <p:cNvPicPr>
            <a:picLocks noChangeAspect="1"/>
          </p:cNvPicPr>
          <p:nvPr/>
        </p:nvPicPr>
        <p:blipFill>
          <a:blip r:embed="rId4"/>
          <a:stretch>
            <a:fillRect/>
          </a:stretch>
        </p:blipFill>
        <p:spPr>
          <a:xfrm>
            <a:off x="1779086" y="2933830"/>
            <a:ext cx="8534399" cy="6400799"/>
          </a:xfrm>
          <a:prstGeom prst="rect">
            <a:avLst/>
          </a:prstGeom>
        </p:spPr>
      </p:pic>
      <p:sp>
        <p:nvSpPr>
          <p:cNvPr id="8" name="四角形: 角を丸くする 7">
            <a:extLst>
              <a:ext uri="{FF2B5EF4-FFF2-40B4-BE49-F238E27FC236}">
                <a16:creationId xmlns:a16="http://schemas.microsoft.com/office/drawing/2014/main" id="{C2277602-599C-9633-ED81-7B18AA7E11C9}"/>
              </a:ext>
            </a:extLst>
          </p:cNvPr>
          <p:cNvSpPr/>
          <p:nvPr/>
        </p:nvSpPr>
        <p:spPr>
          <a:xfrm>
            <a:off x="10853324" y="3467100"/>
            <a:ext cx="6837776" cy="4876800"/>
          </a:xfrm>
          <a:prstGeom prst="roundRect">
            <a:avLst>
              <a:gd name="adj" fmla="val 8987"/>
            </a:avLst>
          </a:prstGeom>
          <a:solidFill>
            <a:srgbClr val="EAF2F2">
              <a:alpha val="93725"/>
            </a:srgbClr>
          </a:solidFill>
          <a:ln w="31750" cap="flat" cmpd="sng" algn="ctr">
            <a:solidFill>
              <a:srgbClr val="68A8A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12" name="テキスト ボックス 11">
            <a:extLst>
              <a:ext uri="{FF2B5EF4-FFF2-40B4-BE49-F238E27FC236}">
                <a16:creationId xmlns:a16="http://schemas.microsoft.com/office/drawing/2014/main" id="{01A994A3-B979-D62C-EAE5-07EEA61CDFB9}"/>
              </a:ext>
            </a:extLst>
          </p:cNvPr>
          <p:cNvSpPr txBox="1"/>
          <p:nvPr/>
        </p:nvSpPr>
        <p:spPr>
          <a:xfrm>
            <a:off x="11137900" y="3848100"/>
            <a:ext cx="6400800" cy="4278094"/>
          </a:xfrm>
          <a:prstGeom prst="rect">
            <a:avLst/>
          </a:prstGeom>
          <a:noFill/>
        </p:spPr>
        <p:txBody>
          <a:bodyPr wrap="square" rtlCol="0">
            <a:spAutoFit/>
          </a:bodyPr>
          <a:lstStyle/>
          <a:p>
            <a:r>
              <a:rPr kumimoji="1" lang="ja-JP" altLang="en-US" sz="2800" b="1" dirty="0">
                <a:latin typeface="游ゴシック" panose="020B0400000000000000" pitchFamily="50" charset="-128"/>
                <a:ea typeface="游ゴシック" panose="020B0400000000000000" pitchFamily="50" charset="-128"/>
              </a:rPr>
              <a:t>実行条件</a:t>
            </a:r>
            <a:endParaRPr kumimoji="1" lang="en-US" altLang="ja-JP" sz="2800" b="1" dirty="0">
              <a:latin typeface="游ゴシック" panose="020B0400000000000000" pitchFamily="50" charset="-128"/>
              <a:ea typeface="游ゴシック" panose="020B0400000000000000" pitchFamily="50" charset="-128"/>
            </a:endParaRPr>
          </a:p>
          <a:p>
            <a:endParaRPr kumimoji="1" lang="en-US" altLang="ja-JP" sz="2800" b="1" dirty="0">
              <a:latin typeface="游ゴシック" panose="020B0400000000000000" pitchFamily="50" charset="-128"/>
              <a:ea typeface="游ゴシック" panose="020B0400000000000000" pitchFamily="50" charset="-128"/>
            </a:endParaRPr>
          </a:p>
          <a:p>
            <a:pPr marL="342900" indent="-342900">
              <a:buFont typeface="Wingdings" panose="05000000000000000000" pitchFamily="2" charset="2"/>
              <a:buChar char="l"/>
            </a:pPr>
            <a:r>
              <a:rPr kumimoji="1" lang="ja-JP" altLang="en-US" sz="2400" b="1" dirty="0">
                <a:latin typeface="游ゴシック" panose="020B0400000000000000" pitchFamily="50" charset="-128"/>
                <a:ea typeface="游ゴシック" panose="020B0400000000000000" pitchFamily="50" charset="-128"/>
              </a:rPr>
              <a:t>学習データ：</a:t>
            </a:r>
            <a:endParaRPr kumimoji="1" lang="en-US" altLang="ja-JP" sz="2400" b="1" dirty="0">
              <a:latin typeface="游ゴシック" panose="020B0400000000000000" pitchFamily="50" charset="-128"/>
              <a:ea typeface="游ゴシック" panose="020B0400000000000000" pitchFamily="50" charset="-128"/>
            </a:endParaRPr>
          </a:p>
          <a:p>
            <a:pPr lvl="1"/>
            <a:r>
              <a:rPr kumimoji="1" lang="en-US" altLang="ja-JP" sz="2400" b="1" dirty="0">
                <a:latin typeface="游ゴシック" panose="020B0400000000000000" pitchFamily="50" charset="-128"/>
                <a:ea typeface="游ゴシック" panose="020B0400000000000000" pitchFamily="50" charset="-128"/>
              </a:rPr>
              <a:t>6/11</a:t>
            </a:r>
            <a:r>
              <a:rPr kumimoji="1" lang="ja-JP" altLang="en-US" sz="2400" b="1" dirty="0">
                <a:latin typeface="游ゴシック" panose="020B0400000000000000" pitchFamily="50" charset="-128"/>
                <a:ea typeface="游ゴシック" panose="020B0400000000000000" pitchFamily="50" charset="-128"/>
              </a:rPr>
              <a:t>実験 </a:t>
            </a:r>
            <a:r>
              <a:rPr kumimoji="1" lang="en-US" altLang="ja-JP" sz="2400" b="1" dirty="0">
                <a:latin typeface="游ゴシック" panose="020B0400000000000000" pitchFamily="50" charset="-128"/>
                <a:ea typeface="游ゴシック" panose="020B0400000000000000" pitchFamily="50" charset="-128"/>
              </a:rPr>
              <a:t>1080</a:t>
            </a:r>
            <a:r>
              <a:rPr kumimoji="1" lang="ja-JP" altLang="en-US" sz="2400" b="1" dirty="0">
                <a:latin typeface="游ゴシック" panose="020B0400000000000000" pitchFamily="50" charset="-128"/>
                <a:ea typeface="游ゴシック" panose="020B0400000000000000" pitchFamily="50" charset="-128"/>
              </a:rPr>
              <a:t>個（未沸騰フィルタ後</a:t>
            </a:r>
            <a:r>
              <a:rPr kumimoji="1" lang="en-US" altLang="ja-JP" sz="2400" b="1" dirty="0">
                <a:latin typeface="游ゴシック" panose="020B0400000000000000" pitchFamily="50" charset="-128"/>
                <a:ea typeface="游ゴシック" panose="020B0400000000000000" pitchFamily="50" charset="-128"/>
              </a:rPr>
              <a:t>986</a:t>
            </a:r>
            <a:r>
              <a:rPr kumimoji="1" lang="ja-JP" altLang="en-US" sz="2400" b="1" dirty="0">
                <a:latin typeface="游ゴシック" panose="020B0400000000000000" pitchFamily="50" charset="-128"/>
                <a:ea typeface="游ゴシック" panose="020B0400000000000000" pitchFamily="50" charset="-128"/>
              </a:rPr>
              <a:t>個）</a:t>
            </a:r>
            <a:endParaRPr kumimoji="1" lang="en-US" altLang="ja-JP" sz="2400" b="1" dirty="0">
              <a:latin typeface="游ゴシック" panose="020B0400000000000000" pitchFamily="50" charset="-128"/>
              <a:ea typeface="游ゴシック" panose="020B0400000000000000" pitchFamily="50" charset="-128"/>
            </a:endParaRPr>
          </a:p>
          <a:p>
            <a:pPr marL="342900" indent="-342900">
              <a:buFont typeface="Wingdings" panose="05000000000000000000" pitchFamily="2" charset="2"/>
              <a:buChar char="l"/>
            </a:pPr>
            <a:r>
              <a:rPr kumimoji="1" lang="ja-JP" altLang="en-US" sz="2400" b="1" dirty="0">
                <a:latin typeface="游ゴシック" panose="020B0400000000000000" pitchFamily="50" charset="-128"/>
                <a:ea typeface="游ゴシック" panose="020B0400000000000000" pitchFamily="50" charset="-128"/>
              </a:rPr>
              <a:t>テストデータ：</a:t>
            </a:r>
            <a:endParaRPr kumimoji="1" lang="en-US" altLang="ja-JP" sz="2400" b="1" dirty="0">
              <a:latin typeface="游ゴシック" panose="020B0400000000000000" pitchFamily="50" charset="-128"/>
              <a:ea typeface="游ゴシック" panose="020B0400000000000000" pitchFamily="50" charset="-128"/>
            </a:endParaRPr>
          </a:p>
          <a:p>
            <a:pPr lvl="1"/>
            <a:r>
              <a:rPr kumimoji="1" lang="en-US" altLang="ja-JP" sz="2400" b="1" dirty="0">
                <a:latin typeface="游ゴシック" panose="020B0400000000000000" pitchFamily="50" charset="-128"/>
                <a:ea typeface="游ゴシック" panose="020B0400000000000000" pitchFamily="50" charset="-128"/>
              </a:rPr>
              <a:t>6/18</a:t>
            </a:r>
            <a:r>
              <a:rPr kumimoji="1" lang="ja-JP" altLang="en-US" sz="2400" b="1" dirty="0">
                <a:latin typeface="游ゴシック" panose="020B0400000000000000" pitchFamily="50" charset="-128"/>
                <a:ea typeface="游ゴシック" panose="020B0400000000000000" pitchFamily="50" charset="-128"/>
              </a:rPr>
              <a:t>実験　</a:t>
            </a:r>
            <a:r>
              <a:rPr kumimoji="1" lang="en-US" altLang="ja-JP" sz="2400" b="1" dirty="0">
                <a:latin typeface="游ゴシック" panose="020B0400000000000000" pitchFamily="50" charset="-128"/>
                <a:ea typeface="游ゴシック" panose="020B0400000000000000" pitchFamily="50" charset="-128"/>
              </a:rPr>
              <a:t>1080</a:t>
            </a:r>
            <a:r>
              <a:rPr kumimoji="1" lang="ja-JP" altLang="en-US" sz="2400" b="1" dirty="0">
                <a:latin typeface="游ゴシック" panose="020B0400000000000000" pitchFamily="50" charset="-128"/>
                <a:ea typeface="游ゴシック" panose="020B0400000000000000" pitchFamily="50" charset="-128"/>
              </a:rPr>
              <a:t>個</a:t>
            </a:r>
            <a:endParaRPr kumimoji="1" lang="en-US" altLang="ja-JP" sz="2400" b="1" dirty="0">
              <a:latin typeface="游ゴシック" panose="020B0400000000000000" pitchFamily="50" charset="-128"/>
              <a:ea typeface="游ゴシック" panose="020B0400000000000000" pitchFamily="50" charset="-128"/>
            </a:endParaRPr>
          </a:p>
          <a:p>
            <a:pPr marL="342900" indent="-342900">
              <a:buFont typeface="Wingdings" panose="05000000000000000000" pitchFamily="2" charset="2"/>
              <a:buChar char="l"/>
            </a:pPr>
            <a:r>
              <a:rPr kumimoji="1" lang="ja-JP" altLang="en-US" sz="2400" b="1" dirty="0">
                <a:latin typeface="游ゴシック" panose="020B0400000000000000" pitchFamily="50" charset="-128"/>
                <a:ea typeface="游ゴシック" panose="020B0400000000000000" pitchFamily="50" charset="-128"/>
              </a:rPr>
              <a:t>エポック数：</a:t>
            </a:r>
            <a:r>
              <a:rPr kumimoji="1" lang="en-US" altLang="ja-JP" sz="2400" b="1" dirty="0">
                <a:latin typeface="游ゴシック" panose="020B0400000000000000" pitchFamily="50" charset="-128"/>
                <a:ea typeface="游ゴシック" panose="020B0400000000000000" pitchFamily="50" charset="-128"/>
              </a:rPr>
              <a:t>200</a:t>
            </a:r>
          </a:p>
          <a:p>
            <a:pPr marL="342900" indent="-342900">
              <a:buFont typeface="Wingdings" panose="05000000000000000000" pitchFamily="2" charset="2"/>
              <a:buChar char="l"/>
            </a:pPr>
            <a:r>
              <a:rPr kumimoji="1" lang="en-US" altLang="ja-JP" sz="2400" b="1" dirty="0">
                <a:latin typeface="游ゴシック" panose="020B0400000000000000" pitchFamily="50" charset="-128"/>
                <a:ea typeface="游ゴシック" panose="020B0400000000000000" pitchFamily="50" charset="-128"/>
              </a:rPr>
              <a:t>Fold</a:t>
            </a:r>
            <a:r>
              <a:rPr kumimoji="1" lang="ja-JP" altLang="en-US" sz="2400" b="1" dirty="0">
                <a:latin typeface="游ゴシック" panose="020B0400000000000000" pitchFamily="50" charset="-128"/>
                <a:ea typeface="游ゴシック" panose="020B0400000000000000" pitchFamily="50" charset="-128"/>
              </a:rPr>
              <a:t>数：</a:t>
            </a:r>
            <a:r>
              <a:rPr kumimoji="1" lang="en-US" altLang="ja-JP" sz="2400" b="1" dirty="0">
                <a:latin typeface="游ゴシック" panose="020B0400000000000000" pitchFamily="50" charset="-128"/>
                <a:ea typeface="游ゴシック" panose="020B0400000000000000" pitchFamily="50" charset="-128"/>
              </a:rPr>
              <a:t>3</a:t>
            </a:r>
          </a:p>
          <a:p>
            <a:pPr marL="342900" indent="-342900">
              <a:buFont typeface="Wingdings" panose="05000000000000000000" pitchFamily="2" charset="2"/>
              <a:buChar char="l"/>
            </a:pPr>
            <a:r>
              <a:rPr kumimoji="1" lang="ja-JP" altLang="en-US" sz="2400" b="1" dirty="0">
                <a:latin typeface="游ゴシック" panose="020B0400000000000000" pitchFamily="50" charset="-128"/>
                <a:ea typeface="游ゴシック" panose="020B0400000000000000" pitchFamily="50" charset="-128"/>
              </a:rPr>
              <a:t>その他各モデルのパラメータは適切なものを設定した</a:t>
            </a:r>
          </a:p>
        </p:txBody>
      </p:sp>
    </p:spTree>
    <p:extLst>
      <p:ext uri="{BB962C8B-B14F-4D97-AF65-F5344CB8AC3E}">
        <p14:creationId xmlns:p14="http://schemas.microsoft.com/office/powerpoint/2010/main" val="204459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2FA41-59F4-74B3-5558-9B385299E740}"/>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7D05DB45-9898-1084-C44D-BE12E11FE6A0}"/>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DE7593C5-79A1-81CA-8B13-15874C891D4A}"/>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6B006679-AA21-A7CC-2C22-E3C063CE55BD}"/>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50E5230A-2DB3-2DFC-DCB9-377029AC51A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B1BB7399-1003-07F0-33F7-1D89A43EAD2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40C500F2-7C0D-4BA5-95DB-192E0E74E809}"/>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D80779FF-CF4F-D112-2E53-4FA3869783C8}"/>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2BB040C3-98BD-B889-E95D-396C886DB30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0AE6082A-3F72-8F86-FDF3-4D694847BDD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47971F35-8ABF-BD31-B4BD-4CC72BC9D040}"/>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AC622BB7-8417-7C24-ECCF-01B9F286EE8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752116B8-0946-5535-7F87-C270BFBF088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8C58B74B-5F47-93B6-D285-7279D7BC6909}"/>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40290CBB-770B-B483-CE9C-DD563CDE8A8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14BC7799-0266-02F7-6D64-4BA1F351370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3ECB9618-8A4F-D28D-278B-C7F475460E3B}"/>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6</a:t>
            </a:fld>
            <a:endParaRPr lang="en-US" sz="2400" dirty="0">
              <a:solidFill>
                <a:schemeClr val="bg1"/>
              </a:solidFill>
            </a:endParaRPr>
          </a:p>
        </p:txBody>
      </p:sp>
      <p:sp>
        <p:nvSpPr>
          <p:cNvPr id="5" name="テキスト ボックス 4">
            <a:extLst>
              <a:ext uri="{FF2B5EF4-FFF2-40B4-BE49-F238E27FC236}">
                <a16:creationId xmlns:a16="http://schemas.microsoft.com/office/drawing/2014/main" id="{31601EF7-8ACD-4F4D-8299-1EB67CA4CF9E}"/>
              </a:ext>
            </a:extLst>
          </p:cNvPr>
          <p:cNvSpPr txBox="1"/>
          <p:nvPr/>
        </p:nvSpPr>
        <p:spPr>
          <a:xfrm>
            <a:off x="1498600" y="1422400"/>
            <a:ext cx="15494000" cy="965200"/>
          </a:xfrm>
          <a:prstGeom prst="rect">
            <a:avLst/>
          </a:prstGeom>
          <a:noFill/>
        </p:spPr>
        <p:txBody>
          <a:bodyPr vertOverflow="overflow" vert="horz" wrap="square" rtlCol="0" anchor="ctr" anchorCtr="0">
            <a:normAutofit/>
          </a:bodyPr>
          <a:lstStyle/>
          <a:p>
            <a:pPr algn="l"/>
            <a:r>
              <a:rPr lang="ja-JP" altLang="en-US" sz="3200" b="1" dirty="0">
                <a:solidFill>
                  <a:srgbClr val="1B1F23"/>
                </a:solidFill>
                <a:latin typeface="Yu Gothic"/>
                <a:ea typeface="Yu Gothic"/>
              </a:rPr>
              <a:t>マスクによる精度低下の影響が大きい周波数帯はモデルごとに異なる</a:t>
            </a:r>
          </a:p>
        </p:txBody>
      </p:sp>
      <p:sp>
        <p:nvSpPr>
          <p:cNvPr id="27" name="TextBox 24">
            <a:extLst>
              <a:ext uri="{FF2B5EF4-FFF2-40B4-BE49-F238E27FC236}">
                <a16:creationId xmlns:a16="http://schemas.microsoft.com/office/drawing/2014/main" id="{DF26E4DF-7B22-0B8B-B783-4EC9600E0AC0}"/>
              </a:ext>
            </a:extLst>
          </p:cNvPr>
          <p:cNvSpPr txBox="1"/>
          <p:nvPr/>
        </p:nvSpPr>
        <p:spPr>
          <a:xfrm>
            <a:off x="1806795" y="305043"/>
            <a:ext cx="9652000" cy="700576"/>
          </a:xfrm>
          <a:prstGeom prst="rect">
            <a:avLst/>
          </a:prstGeom>
        </p:spPr>
        <p:txBody>
          <a:bodyPr wrap="square" lIns="0" tIns="0" rIns="0" bIns="0" rtlCol="0" anchor="t">
            <a:normAutofit/>
          </a:bodyPr>
          <a:lstStyle/>
          <a:p>
            <a:pPr algn="l">
              <a:lnSpc>
                <a:spcPts val="5880"/>
              </a:lnSpc>
              <a:spcBef>
                <a:spcPct val="0"/>
              </a:spcBef>
            </a:pPr>
            <a:r>
              <a:rPr lang="en-US" altLang="ja-JP" sz="3000" b="1" dirty="0">
                <a:solidFill>
                  <a:srgbClr val="202020"/>
                </a:solidFill>
                <a:latin typeface="Yu Gothic"/>
                <a:ea typeface="Yu Gothic"/>
              </a:rPr>
              <a:t>3. </a:t>
            </a:r>
            <a:r>
              <a:rPr lang="ja-JP" altLang="en-US" sz="3000" b="1" dirty="0">
                <a:solidFill>
                  <a:srgbClr val="202020"/>
                </a:solidFill>
                <a:latin typeface="Yu Gothic"/>
                <a:ea typeface="Yu Gothic"/>
              </a:rPr>
              <a:t>説明性（周波数帯マスク）</a:t>
            </a:r>
          </a:p>
        </p:txBody>
      </p:sp>
      <p:sp>
        <p:nvSpPr>
          <p:cNvPr id="8" name="四角形: 角を丸くする 7">
            <a:extLst>
              <a:ext uri="{FF2B5EF4-FFF2-40B4-BE49-F238E27FC236}">
                <a16:creationId xmlns:a16="http://schemas.microsoft.com/office/drawing/2014/main" id="{3EE8CF78-6100-29EE-0034-684634C8F853}"/>
              </a:ext>
            </a:extLst>
          </p:cNvPr>
          <p:cNvSpPr/>
          <p:nvPr/>
        </p:nvSpPr>
        <p:spPr>
          <a:xfrm>
            <a:off x="15544800" y="9334134"/>
            <a:ext cx="6837776" cy="4876800"/>
          </a:xfrm>
          <a:prstGeom prst="roundRect">
            <a:avLst>
              <a:gd name="adj" fmla="val 8987"/>
            </a:avLst>
          </a:prstGeom>
          <a:solidFill>
            <a:srgbClr val="EAF2F2">
              <a:alpha val="93725"/>
            </a:srgbClr>
          </a:solidFill>
          <a:ln w="31750" cap="flat" cmpd="sng" algn="ctr">
            <a:solidFill>
              <a:srgbClr val="68A8A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12" name="テキスト ボックス 11">
            <a:extLst>
              <a:ext uri="{FF2B5EF4-FFF2-40B4-BE49-F238E27FC236}">
                <a16:creationId xmlns:a16="http://schemas.microsoft.com/office/drawing/2014/main" id="{C3B997FD-6599-B625-B3A6-F193B588AA13}"/>
              </a:ext>
            </a:extLst>
          </p:cNvPr>
          <p:cNvSpPr txBox="1"/>
          <p:nvPr/>
        </p:nvSpPr>
        <p:spPr>
          <a:xfrm>
            <a:off x="15829376" y="9715134"/>
            <a:ext cx="6400800" cy="4278094"/>
          </a:xfrm>
          <a:prstGeom prst="rect">
            <a:avLst/>
          </a:prstGeom>
          <a:noFill/>
        </p:spPr>
        <p:txBody>
          <a:bodyPr wrap="square" rtlCol="0">
            <a:spAutoFit/>
          </a:bodyPr>
          <a:lstStyle/>
          <a:p>
            <a:r>
              <a:rPr kumimoji="1" lang="ja-JP" altLang="en-US" sz="2800" b="1" dirty="0">
                <a:latin typeface="游ゴシック" panose="020B0400000000000000" pitchFamily="50" charset="-128"/>
                <a:ea typeface="游ゴシック" panose="020B0400000000000000" pitchFamily="50" charset="-128"/>
              </a:rPr>
              <a:t>実行条件</a:t>
            </a:r>
            <a:endParaRPr kumimoji="1" lang="en-US" altLang="ja-JP" sz="2800" b="1" dirty="0">
              <a:latin typeface="游ゴシック" panose="020B0400000000000000" pitchFamily="50" charset="-128"/>
              <a:ea typeface="游ゴシック" panose="020B0400000000000000" pitchFamily="50" charset="-128"/>
            </a:endParaRPr>
          </a:p>
          <a:p>
            <a:endParaRPr kumimoji="1" lang="en-US" altLang="ja-JP" sz="2800" b="1" dirty="0">
              <a:latin typeface="游ゴシック" panose="020B0400000000000000" pitchFamily="50" charset="-128"/>
              <a:ea typeface="游ゴシック" panose="020B0400000000000000" pitchFamily="50" charset="-128"/>
            </a:endParaRPr>
          </a:p>
          <a:p>
            <a:pPr marL="342900" indent="-342900">
              <a:buFont typeface="Wingdings" panose="05000000000000000000" pitchFamily="2" charset="2"/>
              <a:buChar char="l"/>
            </a:pPr>
            <a:r>
              <a:rPr kumimoji="1" lang="ja-JP" altLang="en-US" sz="2400" b="1" dirty="0">
                <a:latin typeface="游ゴシック" panose="020B0400000000000000" pitchFamily="50" charset="-128"/>
                <a:ea typeface="游ゴシック" panose="020B0400000000000000" pitchFamily="50" charset="-128"/>
              </a:rPr>
              <a:t>学習データ：</a:t>
            </a:r>
            <a:endParaRPr kumimoji="1" lang="en-US" altLang="ja-JP" sz="2400" b="1" dirty="0">
              <a:latin typeface="游ゴシック" panose="020B0400000000000000" pitchFamily="50" charset="-128"/>
              <a:ea typeface="游ゴシック" panose="020B0400000000000000" pitchFamily="50" charset="-128"/>
            </a:endParaRPr>
          </a:p>
          <a:p>
            <a:pPr lvl="1"/>
            <a:r>
              <a:rPr kumimoji="1" lang="en-US" altLang="ja-JP" sz="2400" b="1" dirty="0">
                <a:latin typeface="游ゴシック" panose="020B0400000000000000" pitchFamily="50" charset="-128"/>
                <a:ea typeface="游ゴシック" panose="020B0400000000000000" pitchFamily="50" charset="-128"/>
              </a:rPr>
              <a:t>6/11</a:t>
            </a:r>
            <a:r>
              <a:rPr kumimoji="1" lang="ja-JP" altLang="en-US" sz="2400" b="1" dirty="0">
                <a:latin typeface="游ゴシック" panose="020B0400000000000000" pitchFamily="50" charset="-128"/>
                <a:ea typeface="游ゴシック" panose="020B0400000000000000" pitchFamily="50" charset="-128"/>
              </a:rPr>
              <a:t>実験 </a:t>
            </a:r>
            <a:r>
              <a:rPr kumimoji="1" lang="en-US" altLang="ja-JP" sz="2400" b="1" dirty="0">
                <a:latin typeface="游ゴシック" panose="020B0400000000000000" pitchFamily="50" charset="-128"/>
                <a:ea typeface="游ゴシック" panose="020B0400000000000000" pitchFamily="50" charset="-128"/>
              </a:rPr>
              <a:t>1080</a:t>
            </a:r>
            <a:r>
              <a:rPr kumimoji="1" lang="ja-JP" altLang="en-US" sz="2400" b="1" dirty="0">
                <a:latin typeface="游ゴシック" panose="020B0400000000000000" pitchFamily="50" charset="-128"/>
                <a:ea typeface="游ゴシック" panose="020B0400000000000000" pitchFamily="50" charset="-128"/>
              </a:rPr>
              <a:t>個（未沸騰フィルタ後</a:t>
            </a:r>
            <a:r>
              <a:rPr kumimoji="1" lang="en-US" altLang="ja-JP" sz="2400" b="1" dirty="0">
                <a:latin typeface="游ゴシック" panose="020B0400000000000000" pitchFamily="50" charset="-128"/>
                <a:ea typeface="游ゴシック" panose="020B0400000000000000" pitchFamily="50" charset="-128"/>
              </a:rPr>
              <a:t>986</a:t>
            </a:r>
            <a:r>
              <a:rPr kumimoji="1" lang="ja-JP" altLang="en-US" sz="2400" b="1" dirty="0">
                <a:latin typeface="游ゴシック" panose="020B0400000000000000" pitchFamily="50" charset="-128"/>
                <a:ea typeface="游ゴシック" panose="020B0400000000000000" pitchFamily="50" charset="-128"/>
              </a:rPr>
              <a:t>個）</a:t>
            </a:r>
            <a:endParaRPr kumimoji="1" lang="en-US" altLang="ja-JP" sz="2400" b="1" dirty="0">
              <a:latin typeface="游ゴシック" panose="020B0400000000000000" pitchFamily="50" charset="-128"/>
              <a:ea typeface="游ゴシック" panose="020B0400000000000000" pitchFamily="50" charset="-128"/>
            </a:endParaRPr>
          </a:p>
          <a:p>
            <a:pPr marL="342900" indent="-342900">
              <a:buFont typeface="Wingdings" panose="05000000000000000000" pitchFamily="2" charset="2"/>
              <a:buChar char="l"/>
            </a:pPr>
            <a:r>
              <a:rPr kumimoji="1" lang="ja-JP" altLang="en-US" sz="2400" b="1" dirty="0">
                <a:latin typeface="游ゴシック" panose="020B0400000000000000" pitchFamily="50" charset="-128"/>
                <a:ea typeface="游ゴシック" panose="020B0400000000000000" pitchFamily="50" charset="-128"/>
              </a:rPr>
              <a:t>テストデータ：</a:t>
            </a:r>
            <a:endParaRPr kumimoji="1" lang="en-US" altLang="ja-JP" sz="2400" b="1" dirty="0">
              <a:latin typeface="游ゴシック" panose="020B0400000000000000" pitchFamily="50" charset="-128"/>
              <a:ea typeface="游ゴシック" panose="020B0400000000000000" pitchFamily="50" charset="-128"/>
            </a:endParaRPr>
          </a:p>
          <a:p>
            <a:pPr lvl="1"/>
            <a:r>
              <a:rPr kumimoji="1" lang="en-US" altLang="ja-JP" sz="2400" b="1" dirty="0">
                <a:latin typeface="游ゴシック" panose="020B0400000000000000" pitchFamily="50" charset="-128"/>
                <a:ea typeface="游ゴシック" panose="020B0400000000000000" pitchFamily="50" charset="-128"/>
              </a:rPr>
              <a:t>6/18</a:t>
            </a:r>
            <a:r>
              <a:rPr kumimoji="1" lang="ja-JP" altLang="en-US" sz="2400" b="1" dirty="0">
                <a:latin typeface="游ゴシック" panose="020B0400000000000000" pitchFamily="50" charset="-128"/>
                <a:ea typeface="游ゴシック" panose="020B0400000000000000" pitchFamily="50" charset="-128"/>
              </a:rPr>
              <a:t>実験　</a:t>
            </a:r>
            <a:r>
              <a:rPr kumimoji="1" lang="en-US" altLang="ja-JP" sz="2400" b="1" dirty="0">
                <a:latin typeface="游ゴシック" panose="020B0400000000000000" pitchFamily="50" charset="-128"/>
                <a:ea typeface="游ゴシック" panose="020B0400000000000000" pitchFamily="50" charset="-128"/>
              </a:rPr>
              <a:t>1080</a:t>
            </a:r>
            <a:r>
              <a:rPr kumimoji="1" lang="ja-JP" altLang="en-US" sz="2400" b="1" dirty="0">
                <a:latin typeface="游ゴシック" panose="020B0400000000000000" pitchFamily="50" charset="-128"/>
                <a:ea typeface="游ゴシック" panose="020B0400000000000000" pitchFamily="50" charset="-128"/>
              </a:rPr>
              <a:t>個</a:t>
            </a:r>
            <a:endParaRPr kumimoji="1" lang="en-US" altLang="ja-JP" sz="2400" b="1" dirty="0">
              <a:latin typeface="游ゴシック" panose="020B0400000000000000" pitchFamily="50" charset="-128"/>
              <a:ea typeface="游ゴシック" panose="020B0400000000000000" pitchFamily="50" charset="-128"/>
            </a:endParaRPr>
          </a:p>
          <a:p>
            <a:pPr marL="342900" indent="-342900">
              <a:buFont typeface="Wingdings" panose="05000000000000000000" pitchFamily="2" charset="2"/>
              <a:buChar char="l"/>
            </a:pPr>
            <a:r>
              <a:rPr kumimoji="1" lang="ja-JP" altLang="en-US" sz="2400" b="1" dirty="0">
                <a:latin typeface="游ゴシック" panose="020B0400000000000000" pitchFamily="50" charset="-128"/>
                <a:ea typeface="游ゴシック" panose="020B0400000000000000" pitchFamily="50" charset="-128"/>
              </a:rPr>
              <a:t>エポック数：</a:t>
            </a:r>
            <a:r>
              <a:rPr kumimoji="1" lang="en-US" altLang="ja-JP" sz="2400" b="1" dirty="0">
                <a:latin typeface="游ゴシック" panose="020B0400000000000000" pitchFamily="50" charset="-128"/>
                <a:ea typeface="游ゴシック" panose="020B0400000000000000" pitchFamily="50" charset="-128"/>
              </a:rPr>
              <a:t>200</a:t>
            </a:r>
          </a:p>
          <a:p>
            <a:pPr marL="342900" indent="-342900">
              <a:buFont typeface="Wingdings" panose="05000000000000000000" pitchFamily="2" charset="2"/>
              <a:buChar char="l"/>
            </a:pPr>
            <a:r>
              <a:rPr kumimoji="1" lang="en-US" altLang="ja-JP" sz="2400" b="1" dirty="0">
                <a:latin typeface="游ゴシック" panose="020B0400000000000000" pitchFamily="50" charset="-128"/>
                <a:ea typeface="游ゴシック" panose="020B0400000000000000" pitchFamily="50" charset="-128"/>
              </a:rPr>
              <a:t>Fold</a:t>
            </a:r>
            <a:r>
              <a:rPr kumimoji="1" lang="ja-JP" altLang="en-US" sz="2400" b="1" dirty="0">
                <a:latin typeface="游ゴシック" panose="020B0400000000000000" pitchFamily="50" charset="-128"/>
                <a:ea typeface="游ゴシック" panose="020B0400000000000000" pitchFamily="50" charset="-128"/>
              </a:rPr>
              <a:t>数：</a:t>
            </a:r>
            <a:r>
              <a:rPr kumimoji="1" lang="en-US" altLang="ja-JP" sz="2400" b="1" dirty="0">
                <a:latin typeface="游ゴシック" panose="020B0400000000000000" pitchFamily="50" charset="-128"/>
                <a:ea typeface="游ゴシック" panose="020B0400000000000000" pitchFamily="50" charset="-128"/>
              </a:rPr>
              <a:t>3</a:t>
            </a:r>
          </a:p>
          <a:p>
            <a:pPr marL="342900" indent="-342900">
              <a:buFont typeface="Wingdings" panose="05000000000000000000" pitchFamily="2" charset="2"/>
              <a:buChar char="l"/>
            </a:pPr>
            <a:r>
              <a:rPr kumimoji="1" lang="ja-JP" altLang="en-US" sz="2400" b="1" dirty="0">
                <a:latin typeface="游ゴシック" panose="020B0400000000000000" pitchFamily="50" charset="-128"/>
                <a:ea typeface="游ゴシック" panose="020B0400000000000000" pitchFamily="50" charset="-128"/>
              </a:rPr>
              <a:t>その他各モデルのパラメータは適切なものを設定した</a:t>
            </a:r>
          </a:p>
        </p:txBody>
      </p:sp>
      <p:pic>
        <p:nvPicPr>
          <p:cNvPr id="3" name="図 2">
            <a:extLst>
              <a:ext uri="{FF2B5EF4-FFF2-40B4-BE49-F238E27FC236}">
                <a16:creationId xmlns:a16="http://schemas.microsoft.com/office/drawing/2014/main" id="{E731E619-F1EE-E46C-380D-ACC878692C69}"/>
              </a:ext>
            </a:extLst>
          </p:cNvPr>
          <p:cNvPicPr>
            <a:picLocks noChangeAspect="1"/>
          </p:cNvPicPr>
          <p:nvPr/>
        </p:nvPicPr>
        <p:blipFill>
          <a:blip r:embed="rId4"/>
          <a:stretch>
            <a:fillRect/>
          </a:stretch>
        </p:blipFill>
        <p:spPr>
          <a:xfrm>
            <a:off x="1320800" y="2623616"/>
            <a:ext cx="15849599" cy="6721404"/>
          </a:xfrm>
          <a:prstGeom prst="rect">
            <a:avLst/>
          </a:prstGeom>
        </p:spPr>
      </p:pic>
    </p:spTree>
    <p:extLst>
      <p:ext uri="{BB962C8B-B14F-4D97-AF65-F5344CB8AC3E}">
        <p14:creationId xmlns:p14="http://schemas.microsoft.com/office/powerpoint/2010/main" val="2869010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C6B7A-BBA2-7F7C-7C94-C50C16F85C49}"/>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D53115BB-4676-8FEF-7373-A118571B75B5}"/>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DC50DE46-9569-2CF9-EEFD-5E4269CF5D86}"/>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32F39ADD-556E-FD1C-8606-2D1BF514D63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CB3E2A75-09AC-578E-12EB-B6B0417CA1E4}"/>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B65B272C-A5D5-4CB5-BC19-E30EA1D49C2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DF2F1FC0-E61B-F7F2-CC05-9284F1F874A9}"/>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C9F44B98-80E0-A756-8887-6397FCA0767C}"/>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2E8A69AF-5FB0-9637-3552-65D6D000109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E6D22F2B-0227-2669-DB06-9260C7E4EC6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DD791D53-6622-F6E6-468E-FA0E40BA8BDC}"/>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658A6FCA-2782-60E6-8ED8-8BBCA1B74E7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1C0DB6D5-1F47-662F-F20C-5C60496C1C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BA5A87E2-7EB4-701B-D4E9-29108DE56E26}"/>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A2A54EDF-CE99-D170-6E87-5E37252FA44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40A00CD3-1C19-635B-A208-D902D538413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01D2D754-48E3-D797-3CDA-7E4DF46DDE64}"/>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7</a:t>
            </a:fld>
            <a:endParaRPr lang="en-US" sz="2400" dirty="0">
              <a:solidFill>
                <a:schemeClr val="bg1"/>
              </a:solidFill>
            </a:endParaRPr>
          </a:p>
        </p:txBody>
      </p:sp>
      <p:sp>
        <p:nvSpPr>
          <p:cNvPr id="6" name="テキスト ボックス 5">
            <a:extLst>
              <a:ext uri="{FF2B5EF4-FFF2-40B4-BE49-F238E27FC236}">
                <a16:creationId xmlns:a16="http://schemas.microsoft.com/office/drawing/2014/main" id="{D03F18AA-4911-423E-A3F4-5D9D577937E8}"/>
              </a:ext>
            </a:extLst>
          </p:cNvPr>
          <p:cNvSpPr txBox="1"/>
          <p:nvPr/>
        </p:nvSpPr>
        <p:spPr>
          <a:xfrm>
            <a:off x="1587500" y="1422400"/>
            <a:ext cx="15367000" cy="914400"/>
          </a:xfrm>
          <a:prstGeom prst="rect">
            <a:avLst/>
          </a:prstGeom>
          <a:noFill/>
          <a:ln>
            <a:noFill/>
          </a:ln>
        </p:spPr>
        <p:txBody>
          <a:bodyPr vertOverflow="overflow" vert="horz" wrap="square" rtlCol="0" anchor="ctr" anchorCtr="0">
            <a:normAutofit/>
          </a:bodyPr>
          <a:lstStyle/>
          <a:p>
            <a:pPr algn="l"/>
            <a:r>
              <a:rPr lang="ja-JP" altLang="en-US" sz="3200" b="1" dirty="0">
                <a:solidFill>
                  <a:srgbClr val="1B1F23"/>
                </a:solidFill>
                <a:latin typeface="Yu Gothic"/>
                <a:ea typeface="Yu Gothic"/>
              </a:rPr>
              <a:t>同じ入力でも寄与分布は異なる</a:t>
            </a:r>
          </a:p>
        </p:txBody>
      </p:sp>
      <p:sp>
        <p:nvSpPr>
          <p:cNvPr id="3" name="TextBox 24">
            <a:extLst>
              <a:ext uri="{FF2B5EF4-FFF2-40B4-BE49-F238E27FC236}">
                <a16:creationId xmlns:a16="http://schemas.microsoft.com/office/drawing/2014/main" id="{4DB8D5B6-1001-8E9B-2DDB-040395179EDC}"/>
              </a:ext>
            </a:extLst>
          </p:cNvPr>
          <p:cNvSpPr txBox="1"/>
          <p:nvPr/>
        </p:nvSpPr>
        <p:spPr>
          <a:xfrm>
            <a:off x="1806795" y="305043"/>
            <a:ext cx="9652000" cy="700576"/>
          </a:xfrm>
          <a:prstGeom prst="rect">
            <a:avLst/>
          </a:prstGeom>
        </p:spPr>
        <p:txBody>
          <a:bodyPr wrap="square" lIns="0" tIns="0" rIns="0" bIns="0" rtlCol="0" anchor="t">
            <a:normAutofit/>
          </a:bodyPr>
          <a:lstStyle/>
          <a:p>
            <a:pPr algn="l">
              <a:lnSpc>
                <a:spcPts val="5880"/>
              </a:lnSpc>
              <a:spcBef>
                <a:spcPct val="0"/>
              </a:spcBef>
            </a:pPr>
            <a:r>
              <a:rPr lang="en-US" altLang="ja-JP" sz="3000" b="1" dirty="0">
                <a:solidFill>
                  <a:srgbClr val="202020"/>
                </a:solidFill>
                <a:latin typeface="Yu Gothic"/>
                <a:ea typeface="Yu Gothic"/>
              </a:rPr>
              <a:t>3. </a:t>
            </a:r>
            <a:r>
              <a:rPr lang="ja-JP" altLang="en-US" sz="3000" b="1" dirty="0">
                <a:solidFill>
                  <a:srgbClr val="202020"/>
                </a:solidFill>
                <a:latin typeface="Yu Gothic"/>
                <a:ea typeface="Yu Gothic"/>
              </a:rPr>
              <a:t>説明性（</a:t>
            </a:r>
            <a:r>
              <a:rPr lang="en-US" altLang="ja-JP" sz="3000" b="1" dirty="0">
                <a:solidFill>
                  <a:srgbClr val="202020"/>
                </a:solidFill>
                <a:latin typeface="Yu Gothic"/>
                <a:ea typeface="Yu Gothic"/>
              </a:rPr>
              <a:t>Integrated Gradient</a:t>
            </a:r>
            <a:r>
              <a:rPr lang="ja-JP" altLang="en-US" sz="3000" b="1" dirty="0">
                <a:solidFill>
                  <a:srgbClr val="202020"/>
                </a:solidFill>
                <a:latin typeface="Yu Gothic"/>
                <a:ea typeface="Yu Gothic"/>
              </a:rPr>
              <a:t>）</a:t>
            </a:r>
          </a:p>
        </p:txBody>
      </p:sp>
      <p:pic>
        <p:nvPicPr>
          <p:cNvPr id="4" name="図 3">
            <a:extLst>
              <a:ext uri="{FF2B5EF4-FFF2-40B4-BE49-F238E27FC236}">
                <a16:creationId xmlns:a16="http://schemas.microsoft.com/office/drawing/2014/main" id="{35F5183A-47BD-5E8E-DD5E-CDBC75C2FB06}"/>
              </a:ext>
            </a:extLst>
          </p:cNvPr>
          <p:cNvPicPr>
            <a:picLocks noChangeAspect="1"/>
          </p:cNvPicPr>
          <p:nvPr/>
        </p:nvPicPr>
        <p:blipFill>
          <a:blip r:embed="rId4"/>
          <a:stretch>
            <a:fillRect/>
          </a:stretch>
        </p:blipFill>
        <p:spPr>
          <a:xfrm>
            <a:off x="1371600" y="2448052"/>
            <a:ext cx="6619850" cy="5967837"/>
          </a:xfrm>
          <a:prstGeom prst="rect">
            <a:avLst/>
          </a:prstGeom>
        </p:spPr>
      </p:pic>
      <p:pic>
        <p:nvPicPr>
          <p:cNvPr id="7" name="図 6">
            <a:extLst>
              <a:ext uri="{FF2B5EF4-FFF2-40B4-BE49-F238E27FC236}">
                <a16:creationId xmlns:a16="http://schemas.microsoft.com/office/drawing/2014/main" id="{565410E5-F1F1-C2BB-2474-970F18BF06FB}"/>
              </a:ext>
            </a:extLst>
          </p:cNvPr>
          <p:cNvPicPr>
            <a:picLocks noChangeAspect="1"/>
          </p:cNvPicPr>
          <p:nvPr/>
        </p:nvPicPr>
        <p:blipFill>
          <a:blip r:embed="rId5"/>
          <a:stretch>
            <a:fillRect/>
          </a:stretch>
        </p:blipFill>
        <p:spPr>
          <a:xfrm>
            <a:off x="8315350" y="2448051"/>
            <a:ext cx="6619850" cy="5967837"/>
          </a:xfrm>
          <a:prstGeom prst="rect">
            <a:avLst/>
          </a:prstGeom>
        </p:spPr>
      </p:pic>
      <p:sp>
        <p:nvSpPr>
          <p:cNvPr id="9" name="テキスト ボックス 8">
            <a:extLst>
              <a:ext uri="{FF2B5EF4-FFF2-40B4-BE49-F238E27FC236}">
                <a16:creationId xmlns:a16="http://schemas.microsoft.com/office/drawing/2014/main" id="{287BDCAF-C075-9DFD-682C-305EFAF2A19C}"/>
              </a:ext>
            </a:extLst>
          </p:cNvPr>
          <p:cNvSpPr txBox="1"/>
          <p:nvPr/>
        </p:nvSpPr>
        <p:spPr>
          <a:xfrm>
            <a:off x="1705959" y="9336590"/>
            <a:ext cx="10375633" cy="1003300"/>
          </a:xfrm>
          <a:prstGeom prst="rect">
            <a:avLst/>
          </a:prstGeom>
          <a:noFill/>
          <a:ln>
            <a:noFill/>
          </a:ln>
        </p:spPr>
        <p:txBody>
          <a:bodyPr vertOverflow="overflow" vert="horz" wrap="square" rtlCol="0" anchor="ctr" anchorCtr="0">
            <a:noAutofit/>
          </a:bodyPr>
          <a:lstStyle/>
          <a:p>
            <a:r>
              <a:rPr lang="en-US" altLang="ja-JP" sz="2800" b="1" dirty="0">
                <a:latin typeface="游ゴシック" panose="020B0400000000000000" pitchFamily="50" charset="-128"/>
                <a:ea typeface="游ゴシック" panose="020B0400000000000000" pitchFamily="50" charset="-128"/>
              </a:rPr>
              <a:t>※</a:t>
            </a:r>
            <a:r>
              <a:rPr lang="ja-JP" altLang="ja-JP" sz="2800" b="1" dirty="0">
                <a:latin typeface="游ゴシック" panose="020B0400000000000000" pitchFamily="50" charset="-128"/>
                <a:ea typeface="游ゴシック" panose="020B0400000000000000" pitchFamily="50" charset="-128"/>
              </a:rPr>
              <a:t>22 kHz・0 dB、ONB</a:t>
            </a:r>
            <a:r>
              <a:rPr lang="ja-JP" altLang="en-US" sz="2800" b="1" dirty="0">
                <a:latin typeface="游ゴシック" panose="020B0400000000000000" pitchFamily="50" charset="-128"/>
                <a:ea typeface="游ゴシック" panose="020B0400000000000000" pitchFamily="50" charset="-128"/>
              </a:rPr>
              <a:t>時点</a:t>
            </a:r>
            <a:r>
              <a:rPr lang="ja-JP" altLang="ja-JP" sz="2800" b="1" dirty="0">
                <a:latin typeface="游ゴシック" panose="020B0400000000000000" pitchFamily="50" charset="-128"/>
                <a:ea typeface="游ゴシック" panose="020B0400000000000000" pitchFamily="50" charset="-128"/>
              </a:rPr>
              <a:t>の同一</a:t>
            </a:r>
            <a:r>
              <a:rPr lang="ja-JP" altLang="en-US" sz="2800" b="1" dirty="0">
                <a:latin typeface="游ゴシック" panose="020B0400000000000000" pitchFamily="50" charset="-128"/>
                <a:ea typeface="游ゴシック" panose="020B0400000000000000" pitchFamily="50" charset="-128"/>
              </a:rPr>
              <a:t>データを入力</a:t>
            </a:r>
            <a:endParaRPr lang="ja-JP" altLang="en-US" sz="2800" b="1" dirty="0">
              <a:solidFill>
                <a:srgbClr val="222222"/>
              </a:solidFill>
              <a:latin typeface="游ゴシック" panose="020B0400000000000000" pitchFamily="50" charset="-128"/>
              <a:ea typeface="游ゴシック" panose="020B0400000000000000" pitchFamily="50" charset="-128"/>
            </a:endParaRPr>
          </a:p>
        </p:txBody>
      </p:sp>
      <p:sp>
        <p:nvSpPr>
          <p:cNvPr id="49" name="テキスト ボックス 48">
            <a:extLst>
              <a:ext uri="{FF2B5EF4-FFF2-40B4-BE49-F238E27FC236}">
                <a16:creationId xmlns:a16="http://schemas.microsoft.com/office/drawing/2014/main" id="{35FFDB8A-601D-582F-D491-AD5900924EBB}"/>
              </a:ext>
            </a:extLst>
          </p:cNvPr>
          <p:cNvSpPr txBox="1"/>
          <p:nvPr/>
        </p:nvSpPr>
        <p:spPr>
          <a:xfrm>
            <a:off x="3571850" y="8359102"/>
            <a:ext cx="3309921" cy="1003300"/>
          </a:xfrm>
          <a:prstGeom prst="rect">
            <a:avLst/>
          </a:prstGeom>
          <a:noFill/>
          <a:ln>
            <a:noFill/>
          </a:ln>
        </p:spPr>
        <p:txBody>
          <a:bodyPr vertOverflow="overflow" vert="horz" wrap="square" rtlCol="0" anchor="ctr" anchorCtr="0">
            <a:noAutofit/>
          </a:bodyPr>
          <a:lstStyle/>
          <a:p>
            <a:pPr algn="l"/>
            <a:r>
              <a:rPr lang="en-US" altLang="ja-JP" sz="4000" b="1" dirty="0" err="1">
                <a:solidFill>
                  <a:srgbClr val="222222"/>
                </a:solidFill>
                <a:latin typeface="Yu Gothic"/>
                <a:ea typeface="Yu Gothic"/>
              </a:rPr>
              <a:t>AlexNet</a:t>
            </a:r>
            <a:endParaRPr lang="ja-JP" altLang="en-US" sz="4000" b="1" dirty="0">
              <a:solidFill>
                <a:srgbClr val="222222"/>
              </a:solidFill>
              <a:latin typeface="Yu Gothic"/>
              <a:ea typeface="Yu Gothic"/>
            </a:endParaRPr>
          </a:p>
        </p:txBody>
      </p:sp>
      <p:sp>
        <p:nvSpPr>
          <p:cNvPr id="52" name="テキスト ボックス 51">
            <a:extLst>
              <a:ext uri="{FF2B5EF4-FFF2-40B4-BE49-F238E27FC236}">
                <a16:creationId xmlns:a16="http://schemas.microsoft.com/office/drawing/2014/main" id="{4AF7BF2E-424C-BCD1-F10B-C6A06211E5EA}"/>
              </a:ext>
            </a:extLst>
          </p:cNvPr>
          <p:cNvSpPr txBox="1"/>
          <p:nvPr/>
        </p:nvSpPr>
        <p:spPr>
          <a:xfrm>
            <a:off x="10495591" y="8415888"/>
            <a:ext cx="3309921" cy="1003300"/>
          </a:xfrm>
          <a:prstGeom prst="rect">
            <a:avLst/>
          </a:prstGeom>
          <a:noFill/>
          <a:ln>
            <a:noFill/>
          </a:ln>
        </p:spPr>
        <p:txBody>
          <a:bodyPr vertOverflow="overflow" vert="horz" wrap="square" rtlCol="0" anchor="ctr" anchorCtr="0">
            <a:noAutofit/>
          </a:bodyPr>
          <a:lstStyle/>
          <a:p>
            <a:pPr algn="l"/>
            <a:r>
              <a:rPr lang="en-US" altLang="ja-JP" sz="4000" b="1" dirty="0">
                <a:solidFill>
                  <a:srgbClr val="222222"/>
                </a:solidFill>
                <a:latin typeface="Yu Gothic"/>
                <a:ea typeface="Yu Gothic"/>
              </a:rPr>
              <a:t>Conformer</a:t>
            </a:r>
            <a:endParaRPr lang="ja-JP" altLang="en-US" sz="4000" b="1" dirty="0">
              <a:solidFill>
                <a:srgbClr val="222222"/>
              </a:solidFill>
              <a:latin typeface="Yu Gothic"/>
              <a:ea typeface="Yu Gothic"/>
            </a:endParaRPr>
          </a:p>
        </p:txBody>
      </p:sp>
      <p:pic>
        <p:nvPicPr>
          <p:cNvPr id="54" name="図 53">
            <a:extLst>
              <a:ext uri="{FF2B5EF4-FFF2-40B4-BE49-F238E27FC236}">
                <a16:creationId xmlns:a16="http://schemas.microsoft.com/office/drawing/2014/main" id="{83042CDC-5484-F9E0-C8F9-F317352034EC}"/>
              </a:ext>
            </a:extLst>
          </p:cNvPr>
          <p:cNvPicPr>
            <a:picLocks noChangeAspect="1"/>
          </p:cNvPicPr>
          <p:nvPr/>
        </p:nvPicPr>
        <p:blipFill>
          <a:blip r:embed="rId6"/>
          <a:stretch>
            <a:fillRect/>
          </a:stretch>
        </p:blipFill>
        <p:spPr>
          <a:xfrm>
            <a:off x="14787310" y="527656"/>
            <a:ext cx="3272075" cy="2943356"/>
          </a:xfrm>
          <a:prstGeom prst="rect">
            <a:avLst/>
          </a:prstGeom>
        </p:spPr>
      </p:pic>
      <p:sp>
        <p:nvSpPr>
          <p:cNvPr id="56" name="テキスト ボックス 55">
            <a:extLst>
              <a:ext uri="{FF2B5EF4-FFF2-40B4-BE49-F238E27FC236}">
                <a16:creationId xmlns:a16="http://schemas.microsoft.com/office/drawing/2014/main" id="{9F4468E7-BD1C-B2E0-8F81-5604194C1C42}"/>
              </a:ext>
            </a:extLst>
          </p:cNvPr>
          <p:cNvSpPr txBox="1"/>
          <p:nvPr/>
        </p:nvSpPr>
        <p:spPr>
          <a:xfrm>
            <a:off x="15773400" y="3471012"/>
            <a:ext cx="2514600" cy="1003300"/>
          </a:xfrm>
          <a:prstGeom prst="rect">
            <a:avLst/>
          </a:prstGeom>
          <a:noFill/>
          <a:ln>
            <a:noFill/>
          </a:ln>
        </p:spPr>
        <p:txBody>
          <a:bodyPr vertOverflow="overflow" vert="horz" wrap="square" rtlCol="0" anchor="ctr" anchorCtr="0">
            <a:noAutofit/>
          </a:bodyPr>
          <a:lstStyle/>
          <a:p>
            <a:pPr algn="l"/>
            <a:r>
              <a:rPr lang="ja-JP" altLang="en-US" sz="4000" b="1" dirty="0">
                <a:solidFill>
                  <a:srgbClr val="222222"/>
                </a:solidFill>
                <a:latin typeface="Yu Gothic"/>
                <a:ea typeface="Yu Gothic"/>
              </a:rPr>
              <a:t>入力</a:t>
            </a:r>
          </a:p>
        </p:txBody>
      </p:sp>
    </p:spTree>
    <p:extLst>
      <p:ext uri="{BB962C8B-B14F-4D97-AF65-F5344CB8AC3E}">
        <p14:creationId xmlns:p14="http://schemas.microsoft.com/office/powerpoint/2010/main" val="3598907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グループ化 9">
            <a:extLst>
              <a:ext uri="{FF2B5EF4-FFF2-40B4-BE49-F238E27FC236}">
                <a16:creationId xmlns:a16="http://schemas.microsoft.com/office/drawing/2014/main" id="{9BD478F2-93FB-7553-E103-A6B3839A5A0D}"/>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7D11835D-57AA-BE86-BCDE-68226B602566}"/>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3B78E05A-DEF5-2D6B-B55B-DB82EC5920C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EEE9B645-6430-60ED-1258-90350A0DD8B6}"/>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7D062015-C78C-B7BE-0F9C-81E88D230C46}"/>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60F8FF6D-0F13-7307-815B-B6A9447179C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41D664AF-D53E-642F-86FD-B1A855E2DB9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39CA5124-E45E-0CB1-1810-EE57DA2A98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0A1028B-7828-4E23-A025-A2A2D2431AD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17D89E3-8887-6561-DC46-CE8A5DF780C6}"/>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489C4AE-4A0B-0D6B-1EBE-B87B0D43218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322874F-AD47-9232-CAC5-BCBEFE78F56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393E3CE-4414-5AEF-237E-CCB155796221}"/>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340D6A49-4FDE-F2E2-098C-1B68ABAF61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D07D97A3-99DD-DF89-C8F5-40F48C6E3FF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9EC6C07-FABB-D71C-DE41-019BC555F7B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t>9</a:t>
            </a:r>
          </a:p>
        </p:txBody>
      </p:sp>
      <p:graphicFrame>
        <p:nvGraphicFramePr>
          <p:cNvPr id="47" name="表 46">
            <a:extLst>
              <a:ext uri="{FF2B5EF4-FFF2-40B4-BE49-F238E27FC236}">
                <a16:creationId xmlns:a16="http://schemas.microsoft.com/office/drawing/2014/main" id="{CA17F5A5-19DF-44BA-8312-DB8A65D330AB}"/>
              </a:ext>
            </a:extLst>
          </p:cNvPr>
          <p:cNvGraphicFramePr>
            <a:graphicFrameLocks noGrp="1"/>
          </p:cNvGraphicFramePr>
          <p:nvPr>
            <p:extLst>
              <p:ext uri="{D42A27DB-BD31-4B8C-83A1-F6EECF244321}">
                <p14:modId xmlns:p14="http://schemas.microsoft.com/office/powerpoint/2010/main" val="1375858662"/>
              </p:ext>
            </p:extLst>
          </p:nvPr>
        </p:nvGraphicFramePr>
        <p:xfrm>
          <a:off x="1219200" y="1727200"/>
          <a:ext cx="16268702" cy="8648700"/>
        </p:xfrm>
        <a:graphic>
          <a:graphicData uri="http://schemas.openxmlformats.org/drawingml/2006/table">
            <a:tbl>
              <a:tblPr firstRow="1" bandRow="1">
                <a:tableStyleId>{5C22544A-7EE6-4342-B048-85BDC9FD1C3A}</a:tableStyleId>
              </a:tblPr>
              <a:tblGrid>
                <a:gridCol w="3162300">
                  <a:extLst>
                    <a:ext uri="{9D8B030D-6E8A-4147-A177-3AD203B41FA5}">
                      <a16:colId xmlns:a16="http://schemas.microsoft.com/office/drawing/2014/main" val="20000"/>
                    </a:ext>
                  </a:extLst>
                </a:gridCol>
                <a:gridCol w="4445000">
                  <a:extLst>
                    <a:ext uri="{9D8B030D-6E8A-4147-A177-3AD203B41FA5}">
                      <a16:colId xmlns:a16="http://schemas.microsoft.com/office/drawing/2014/main" val="2949312998"/>
                    </a:ext>
                  </a:extLst>
                </a:gridCol>
                <a:gridCol w="1443567">
                  <a:extLst>
                    <a:ext uri="{9D8B030D-6E8A-4147-A177-3AD203B41FA5}">
                      <a16:colId xmlns:a16="http://schemas.microsoft.com/office/drawing/2014/main" val="1609288016"/>
                    </a:ext>
                  </a:extLst>
                </a:gridCol>
                <a:gridCol w="1443567">
                  <a:extLst>
                    <a:ext uri="{9D8B030D-6E8A-4147-A177-3AD203B41FA5}">
                      <a16:colId xmlns:a16="http://schemas.microsoft.com/office/drawing/2014/main" val="4226321308"/>
                    </a:ext>
                  </a:extLst>
                </a:gridCol>
                <a:gridCol w="1443567">
                  <a:extLst>
                    <a:ext uri="{9D8B030D-6E8A-4147-A177-3AD203B41FA5}">
                      <a16:colId xmlns:a16="http://schemas.microsoft.com/office/drawing/2014/main" val="997688572"/>
                    </a:ext>
                  </a:extLst>
                </a:gridCol>
                <a:gridCol w="1443567">
                  <a:extLst>
                    <a:ext uri="{9D8B030D-6E8A-4147-A177-3AD203B41FA5}">
                      <a16:colId xmlns:a16="http://schemas.microsoft.com/office/drawing/2014/main" val="1418800255"/>
                    </a:ext>
                  </a:extLst>
                </a:gridCol>
                <a:gridCol w="1443567">
                  <a:extLst>
                    <a:ext uri="{9D8B030D-6E8A-4147-A177-3AD203B41FA5}">
                      <a16:colId xmlns:a16="http://schemas.microsoft.com/office/drawing/2014/main" val="4099334226"/>
                    </a:ext>
                  </a:extLst>
                </a:gridCol>
                <a:gridCol w="1443567">
                  <a:extLst>
                    <a:ext uri="{9D8B030D-6E8A-4147-A177-3AD203B41FA5}">
                      <a16:colId xmlns:a16="http://schemas.microsoft.com/office/drawing/2014/main" val="3902824841"/>
                    </a:ext>
                  </a:extLst>
                </a:gridCol>
              </a:tblGrid>
              <a:tr h="571500">
                <a:tc>
                  <a:txBody>
                    <a:bodyPr/>
                    <a:lstStyle/>
                    <a:p>
                      <a:pPr algn="ctr"/>
                      <a:r>
                        <a:rPr lang="ja-JP" sz="2400" b="1" dirty="0">
                          <a:solidFill>
                            <a:srgbClr val="FFFFFF"/>
                          </a:solidFill>
                          <a:latin typeface="游ゴシック" panose="020B0400000000000000" pitchFamily="50" charset="-128"/>
                          <a:ea typeface="游ゴシック" panose="020B0400000000000000" pitchFamily="50" charset="-128"/>
                        </a:rPr>
                        <a:t>大項目</a:t>
                      </a:r>
                      <a:endParaRPr lang="ja-JP" sz="2400" dirty="0">
                        <a:latin typeface="游ゴシック" panose="020B0400000000000000" pitchFamily="50" charset="-128"/>
                        <a:ea typeface="游ゴシック" panose="020B0400000000000000" pitchFamily="50" charset="-128"/>
                      </a:endParaRPr>
                    </a:p>
                  </a:txBody>
                  <a:tcPr marL="127000" marR="76200" anchor="ctr">
                    <a:solidFill>
                      <a:srgbClr val="70A9AA"/>
                    </a:solidFill>
                  </a:tcPr>
                </a:tc>
                <a:tc>
                  <a:txBody>
                    <a:bodyPr/>
                    <a:lstStyle/>
                    <a:p>
                      <a:pPr algn="ctr"/>
                      <a:r>
                        <a:rPr lang="ja-JP" altLang="en-US" sz="2400" b="1" dirty="0">
                          <a:solidFill>
                            <a:srgbClr val="FFFFFF"/>
                          </a:solidFill>
                          <a:latin typeface="Yu Gothic"/>
                          <a:ea typeface="Yu Gothic"/>
                        </a:rPr>
                        <a:t>小項目</a:t>
                      </a:r>
                    </a:p>
                  </a:txBody>
                  <a:tcPr anchor="ctr">
                    <a:solidFill>
                      <a:srgbClr val="6FA7A8"/>
                    </a:solidFill>
                  </a:tcPr>
                </a:tc>
                <a:tc>
                  <a:txBody>
                    <a:bodyPr/>
                    <a:lstStyle/>
                    <a:p>
                      <a:pPr algn="ctr"/>
                      <a:r>
                        <a:rPr lang="ja-JP" altLang="en-US" sz="2400" b="1" dirty="0">
                          <a:solidFill>
                            <a:srgbClr val="FFFFFF"/>
                          </a:solidFill>
                          <a:latin typeface="Yu Gothic"/>
                          <a:ea typeface="Yu Gothic"/>
                        </a:rPr>
                        <a:t>9月</a:t>
                      </a:r>
                    </a:p>
                  </a:txBody>
                  <a:tcPr anchor="ctr">
                    <a:solidFill>
                      <a:srgbClr val="6FA7A8"/>
                    </a:solidFill>
                  </a:tcPr>
                </a:tc>
                <a:tc>
                  <a:txBody>
                    <a:bodyPr/>
                    <a:lstStyle/>
                    <a:p>
                      <a:pPr algn="ctr"/>
                      <a:r>
                        <a:rPr lang="ja-JP" altLang="en-US" sz="2400" b="1" dirty="0">
                          <a:solidFill>
                            <a:srgbClr val="FFFFFF"/>
                          </a:solidFill>
                          <a:latin typeface="Yu Gothic"/>
                          <a:ea typeface="Yu Gothic"/>
                        </a:rPr>
                        <a:t>10月</a:t>
                      </a:r>
                    </a:p>
                  </a:txBody>
                  <a:tcPr anchor="ctr">
                    <a:solidFill>
                      <a:srgbClr val="6FA7A8"/>
                    </a:solidFill>
                  </a:tcPr>
                </a:tc>
                <a:tc>
                  <a:txBody>
                    <a:bodyPr/>
                    <a:lstStyle/>
                    <a:p>
                      <a:pPr algn="ctr"/>
                      <a:r>
                        <a:rPr lang="ja-JP" altLang="en-US" sz="2400" b="1" dirty="0">
                          <a:solidFill>
                            <a:srgbClr val="FFFFFF"/>
                          </a:solidFill>
                          <a:latin typeface="Yu Gothic"/>
                          <a:ea typeface="Yu Gothic"/>
                        </a:rPr>
                        <a:t>11月</a:t>
                      </a:r>
                    </a:p>
                  </a:txBody>
                  <a:tcPr anchor="ctr">
                    <a:solidFill>
                      <a:srgbClr val="6FA7A8"/>
                    </a:solidFill>
                  </a:tcPr>
                </a:tc>
                <a:tc>
                  <a:txBody>
                    <a:bodyPr/>
                    <a:lstStyle/>
                    <a:p>
                      <a:pPr algn="ctr"/>
                      <a:r>
                        <a:rPr lang="ja-JP" altLang="en-US" sz="2400" b="1" dirty="0">
                          <a:solidFill>
                            <a:srgbClr val="FFFFFF"/>
                          </a:solidFill>
                          <a:latin typeface="Yu Gothic"/>
                          <a:ea typeface="Yu Gothic"/>
                        </a:rPr>
                        <a:t>12月</a:t>
                      </a:r>
                    </a:p>
                  </a:txBody>
                  <a:tcPr anchor="ctr">
                    <a:solidFill>
                      <a:srgbClr val="6FA7A8"/>
                    </a:solidFill>
                  </a:tcPr>
                </a:tc>
                <a:tc>
                  <a:txBody>
                    <a:bodyPr/>
                    <a:lstStyle/>
                    <a:p>
                      <a:pPr algn="ctr"/>
                      <a:r>
                        <a:rPr lang="ja-JP" altLang="en-US" sz="2400" b="1" dirty="0">
                          <a:solidFill>
                            <a:srgbClr val="FFFFFF"/>
                          </a:solidFill>
                          <a:latin typeface="Yu Gothic"/>
                          <a:ea typeface="Yu Gothic"/>
                        </a:rPr>
                        <a:t>1月</a:t>
                      </a:r>
                    </a:p>
                  </a:txBody>
                  <a:tcPr anchor="ctr">
                    <a:solidFill>
                      <a:srgbClr val="6FA7A8"/>
                    </a:solidFill>
                  </a:tcPr>
                </a:tc>
                <a:tc>
                  <a:txBody>
                    <a:bodyPr/>
                    <a:lstStyle/>
                    <a:p>
                      <a:pPr algn="ctr"/>
                      <a:r>
                        <a:rPr lang="ja-JP" altLang="en-US" sz="2400" b="1" dirty="0">
                          <a:solidFill>
                            <a:srgbClr val="FFFFFF"/>
                          </a:solidFill>
                          <a:latin typeface="Yu Gothic"/>
                          <a:ea typeface="Yu Gothic"/>
                        </a:rPr>
                        <a:t>2月</a:t>
                      </a:r>
                    </a:p>
                  </a:txBody>
                  <a:tcPr anchor="ctr">
                    <a:solidFill>
                      <a:srgbClr val="6FA7A8"/>
                    </a:solidFill>
                  </a:tcPr>
                </a:tc>
                <a:extLst>
                  <a:ext uri="{0D108BD9-81ED-4DB2-BD59-A6C34878D82A}">
                    <a16:rowId xmlns:a16="http://schemas.microsoft.com/office/drawing/2014/main" val="332735817"/>
                  </a:ext>
                </a:extLst>
              </a:tr>
              <a:tr h="558800">
                <a:tc rowSpan="3">
                  <a:txBody>
                    <a:bodyPr/>
                    <a:lstStyle/>
                    <a:p>
                      <a:pPr algn="l"/>
                      <a:r>
                        <a:rPr lang="ja-JP" sz="2400" b="1" dirty="0">
                          <a:solidFill>
                            <a:srgbClr val="17333A"/>
                          </a:solidFill>
                          <a:latin typeface="游ゴシック" panose="020B0400000000000000" pitchFamily="50" charset="-128"/>
                          <a:ea typeface="游ゴシック" panose="020B0400000000000000" pitchFamily="50" charset="-128"/>
                        </a:rPr>
                        <a:t>① 評価設計・学習</a:t>
                      </a:r>
                      <a:endParaRPr lang="ja-JP" sz="2400" dirty="0">
                        <a:latin typeface="游ゴシック" panose="020B0400000000000000" pitchFamily="50" charset="-128"/>
                        <a:ea typeface="游ゴシック" panose="020B0400000000000000" pitchFamily="50" charset="-128"/>
                      </a:endParaRPr>
                    </a:p>
                    <a:p>
                      <a:pPr algn="l"/>
                      <a:r>
                        <a:rPr lang="ja-JP" sz="2400" b="1" dirty="0">
                          <a:solidFill>
                            <a:srgbClr val="17333A"/>
                          </a:solidFill>
                          <a:latin typeface="游ゴシック" panose="020B0400000000000000" pitchFamily="50" charset="-128"/>
                          <a:ea typeface="游ゴシック" panose="020B0400000000000000" pitchFamily="50" charset="-128"/>
                        </a:rPr>
                        <a:t>データの確定</a:t>
                      </a:r>
                      <a:endParaRPr lang="ja-JP" sz="2400" dirty="0">
                        <a:latin typeface="游ゴシック" panose="020B0400000000000000" pitchFamily="50" charset="-128"/>
                        <a:ea typeface="游ゴシック" panose="020B0400000000000000" pitchFamily="50" charset="-128"/>
                      </a:endParaRPr>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実験別に学習／テストデータを分割の実装</a:t>
                      </a: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extLst>
                  <a:ext uri="{0D108BD9-81ED-4DB2-BD59-A6C34878D82A}">
                    <a16:rowId xmlns:a16="http://schemas.microsoft.com/office/drawing/2014/main" val="1572772760"/>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a:solidFill>
                            <a:srgbClr val="1B1F23"/>
                          </a:solidFill>
                          <a:latin typeface="Yu Gothic"/>
                          <a:ea typeface="Yu Gothic"/>
                        </a:rPr>
                        <a:t>沸騰後のデータで閾値を設定・スクリーニング実装</a:t>
                      </a: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extLst>
                  <a:ext uri="{0D108BD9-81ED-4DB2-BD59-A6C34878D82A}">
                    <a16:rowId xmlns:a16="http://schemas.microsoft.com/office/drawing/2014/main" val="781850233"/>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上記実装でアンサンブル検証（全条件でやりたい）</a:t>
                      </a: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extLst>
                  <a:ext uri="{0D108BD9-81ED-4DB2-BD59-A6C34878D82A}">
                    <a16:rowId xmlns:a16="http://schemas.microsoft.com/office/drawing/2014/main" val="2509159921"/>
                  </a:ext>
                </a:extLst>
              </a:tr>
              <a:tr h="558800">
                <a:tc rowSpan="3">
                  <a:txBody>
                    <a:bodyPr/>
                    <a:lstStyle/>
                    <a:p>
                      <a:pPr algn="l"/>
                      <a:r>
                        <a:rPr lang="ja-JP" sz="2400" b="1">
                          <a:solidFill>
                            <a:srgbClr val="17333A"/>
                          </a:solidFill>
                          <a:latin typeface="游ゴシック" panose="020B0400000000000000" pitchFamily="50" charset="-128"/>
                          <a:ea typeface="游ゴシック" panose="020B0400000000000000" pitchFamily="50" charset="-128"/>
                        </a:rPr>
                        <a:t>② アンサンブル手法</a:t>
                      </a:r>
                      <a:endParaRPr lang="ja-JP" sz="2400">
                        <a:latin typeface="游ゴシック" panose="020B0400000000000000" pitchFamily="50" charset="-128"/>
                        <a:ea typeface="游ゴシック" panose="020B0400000000000000" pitchFamily="50" charset="-128"/>
                      </a:endParaRPr>
                    </a:p>
                    <a:p>
                      <a:pPr algn="l"/>
                      <a:r>
                        <a:rPr lang="ja-JP" sz="2400" b="1">
                          <a:solidFill>
                            <a:srgbClr val="17333A"/>
                          </a:solidFill>
                          <a:latin typeface="游ゴシック" panose="020B0400000000000000" pitchFamily="50" charset="-128"/>
                          <a:ea typeface="游ゴシック" panose="020B0400000000000000" pitchFamily="50" charset="-128"/>
                        </a:rPr>
                        <a:t>の確立</a:t>
                      </a:r>
                      <a:endParaRPr lang="ja-JP" sz="2400">
                        <a:latin typeface="游ゴシック" panose="020B0400000000000000" pitchFamily="50" charset="-128"/>
                        <a:ea typeface="游ゴシック" panose="020B0400000000000000" pitchFamily="50" charset="-128"/>
                      </a:endParaRPr>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単体モデルを下回る条件・要因を調査・整理</a:t>
                      </a: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extLst>
                  <a:ext uri="{0D108BD9-81ED-4DB2-BD59-A6C34878D82A}">
                    <a16:rowId xmlns:a16="http://schemas.microsoft.com/office/drawing/2014/main" val="4062821586"/>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必要に応じて新たなアンサンブル手法を調査・実装</a:t>
                      </a: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extLst>
                  <a:ext uri="{0D108BD9-81ED-4DB2-BD59-A6C34878D82A}">
                    <a16:rowId xmlns:a16="http://schemas.microsoft.com/office/drawing/2014/main" val="1586278673"/>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複数手法の比較でアンサンブル方法を確定</a:t>
                      </a: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extLst>
                  <a:ext uri="{0D108BD9-81ED-4DB2-BD59-A6C34878D82A}">
                    <a16:rowId xmlns:a16="http://schemas.microsoft.com/office/drawing/2014/main" val="1272385712"/>
                  </a:ext>
                </a:extLst>
              </a:tr>
              <a:tr h="558800">
                <a:tc rowSpan="4">
                  <a:txBody>
                    <a:bodyPr/>
                    <a:lstStyle/>
                    <a:p>
                      <a:pPr algn="l"/>
                      <a:r>
                        <a:rPr lang="ja-JP" sz="2400" b="1">
                          <a:solidFill>
                            <a:srgbClr val="17333A"/>
                          </a:solidFill>
                          <a:latin typeface="游ゴシック" panose="020B0400000000000000" pitchFamily="50" charset="-128"/>
                          <a:ea typeface="游ゴシック" panose="020B0400000000000000" pitchFamily="50" charset="-128"/>
                        </a:rPr>
                        <a:t>③ 説明性を用いた要</a:t>
                      </a:r>
                      <a:endParaRPr lang="ja-JP" sz="2400">
                        <a:latin typeface="游ゴシック" panose="020B0400000000000000" pitchFamily="50" charset="-128"/>
                        <a:ea typeface="游ゴシック" panose="020B0400000000000000" pitchFamily="50" charset="-128"/>
                      </a:endParaRPr>
                    </a:p>
                    <a:p>
                      <a:pPr algn="l"/>
                      <a:r>
                        <a:rPr lang="ja-JP" sz="2400" b="1">
                          <a:solidFill>
                            <a:srgbClr val="17333A"/>
                          </a:solidFill>
                          <a:latin typeface="游ゴシック" panose="020B0400000000000000" pitchFamily="50" charset="-128"/>
                          <a:ea typeface="游ゴシック" panose="020B0400000000000000" pitchFamily="50" charset="-128"/>
                        </a:rPr>
                        <a:t>因分析・検証</a:t>
                      </a:r>
                      <a:endParaRPr lang="ja-JP" sz="2400">
                        <a:latin typeface="游ゴシック" panose="020B0400000000000000" pitchFamily="50" charset="-128"/>
                        <a:ea typeface="游ゴシック" panose="020B0400000000000000" pitchFamily="50" charset="-128"/>
                      </a:endParaRPr>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説明性指標で特徴利用を可視化・比較</a:t>
                      </a: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extLst>
                  <a:ext uri="{0D108BD9-81ED-4DB2-BD59-A6C34878D82A}">
                    <a16:rowId xmlns:a16="http://schemas.microsoft.com/office/drawing/2014/main" val="3067697552"/>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a:solidFill>
                            <a:srgbClr val="1B1F23"/>
                          </a:solidFill>
                          <a:latin typeface="Yu Gothic"/>
                          <a:ea typeface="Yu Gothic"/>
                        </a:rPr>
                        <a:t>説明性と各モデルの性能・重みの関係を分析</a:t>
                      </a: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extLst>
                  <a:ext uri="{0D108BD9-81ED-4DB2-BD59-A6C34878D82A}">
                    <a16:rowId xmlns:a16="http://schemas.microsoft.com/office/drawing/2014/main" val="1711701246"/>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時間・周波数特徴と性能の関係などを考察</a:t>
                      </a: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extLst>
                  <a:ext uri="{0D108BD9-81ED-4DB2-BD59-A6C34878D82A}">
                    <a16:rowId xmlns:a16="http://schemas.microsoft.com/office/drawing/2014/main" val="3833450916"/>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示唆に基づく追加検証（あれば）</a:t>
                      </a: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extLst>
                  <a:ext uri="{0D108BD9-81ED-4DB2-BD59-A6C34878D82A}">
                    <a16:rowId xmlns:a16="http://schemas.microsoft.com/office/drawing/2014/main" val="1283691090"/>
                  </a:ext>
                </a:extLst>
              </a:tr>
              <a:tr h="558800">
                <a:tc rowSpan="3">
                  <a:txBody>
                    <a:bodyPr/>
                    <a:lstStyle/>
                    <a:p>
                      <a:pPr algn="l"/>
                      <a:r>
                        <a:rPr lang="ja-JP" sz="2400" b="1" dirty="0">
                          <a:solidFill>
                            <a:srgbClr val="17333A"/>
                          </a:solidFill>
                          <a:latin typeface="游ゴシック" panose="020B0400000000000000" pitchFamily="50" charset="-128"/>
                          <a:ea typeface="游ゴシック" panose="020B0400000000000000" pitchFamily="50" charset="-128"/>
                        </a:rPr>
                        <a:t>④ 修論執筆・発表準</a:t>
                      </a:r>
                      <a:endParaRPr lang="ja-JP" sz="2400" dirty="0">
                        <a:latin typeface="游ゴシック" panose="020B0400000000000000" pitchFamily="50" charset="-128"/>
                        <a:ea typeface="游ゴシック" panose="020B0400000000000000" pitchFamily="50" charset="-128"/>
                      </a:endParaRPr>
                    </a:p>
                    <a:p>
                      <a:pPr algn="l"/>
                      <a:r>
                        <a:rPr lang="ja-JP" sz="2400" b="1" dirty="0">
                          <a:solidFill>
                            <a:srgbClr val="17333A"/>
                          </a:solidFill>
                          <a:latin typeface="游ゴシック" panose="020B0400000000000000" pitchFamily="50" charset="-128"/>
                          <a:ea typeface="游ゴシック" panose="020B0400000000000000" pitchFamily="50" charset="-128"/>
                        </a:rPr>
                        <a:t>備</a:t>
                      </a:r>
                      <a:endParaRPr lang="ja-JP" sz="2400" dirty="0">
                        <a:latin typeface="游ゴシック" panose="020B0400000000000000" pitchFamily="50" charset="-128"/>
                        <a:ea typeface="游ゴシック" panose="020B0400000000000000" pitchFamily="50" charset="-128"/>
                      </a:endParaRPr>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背景・実験方法（など書ける範囲から進める）</a:t>
                      </a: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extLst>
                  <a:ext uri="{0D108BD9-81ED-4DB2-BD59-A6C34878D82A}">
                    <a16:rowId xmlns:a16="http://schemas.microsoft.com/office/drawing/2014/main" val="4189449433"/>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結果・考察・結論の整理</a:t>
                      </a: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extLst>
                  <a:ext uri="{0D108BD9-81ED-4DB2-BD59-A6C34878D82A}">
                    <a16:rowId xmlns:a16="http://schemas.microsoft.com/office/drawing/2014/main" val="2180864456"/>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論文執筆完了・発表資料作成・発表練習など</a:t>
                      </a: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dirty="0">
                        <a:solidFill>
                          <a:srgbClr val="1B1F23"/>
                        </a:solidFill>
                        <a:latin typeface="Yu Gothic"/>
                        <a:ea typeface="Yu Gothic"/>
                      </a:endParaRPr>
                    </a:p>
                  </a:txBody>
                  <a:tcPr anchor="ctr">
                    <a:solidFill>
                      <a:srgbClr val="F3F6F6"/>
                    </a:solidFill>
                  </a:tcPr>
                </a:tc>
                <a:extLst>
                  <a:ext uri="{0D108BD9-81ED-4DB2-BD59-A6C34878D82A}">
                    <a16:rowId xmlns:a16="http://schemas.microsoft.com/office/drawing/2014/main" val="3473157597"/>
                  </a:ext>
                </a:extLst>
              </a:tr>
            </a:tbl>
          </a:graphicData>
        </a:graphic>
      </p:graphicFrame>
      <p:sp>
        <p:nvSpPr>
          <p:cNvPr id="59" name="矢印: 右 58">
            <a:extLst>
              <a:ext uri="{FF2B5EF4-FFF2-40B4-BE49-F238E27FC236}">
                <a16:creationId xmlns:a16="http://schemas.microsoft.com/office/drawing/2014/main" id="{D34DF569-FC79-4BB4-8B5E-7C19524629EA}"/>
              </a:ext>
            </a:extLst>
          </p:cNvPr>
          <p:cNvSpPr/>
          <p:nvPr/>
        </p:nvSpPr>
        <p:spPr>
          <a:xfrm>
            <a:off x="9620461" y="2336800"/>
            <a:ext cx="938318"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0" name="矢印: 右 59">
            <a:extLst>
              <a:ext uri="{FF2B5EF4-FFF2-40B4-BE49-F238E27FC236}">
                <a16:creationId xmlns:a16="http://schemas.microsoft.com/office/drawing/2014/main" id="{8236D079-26BE-4267-B3E8-D7B70D31F6EA}"/>
              </a:ext>
            </a:extLst>
          </p:cNvPr>
          <p:cNvSpPr/>
          <p:nvPr/>
        </p:nvSpPr>
        <p:spPr>
          <a:xfrm>
            <a:off x="9620461" y="2895600"/>
            <a:ext cx="938318"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1" name="矢印: 右 60">
            <a:extLst>
              <a:ext uri="{FF2B5EF4-FFF2-40B4-BE49-F238E27FC236}">
                <a16:creationId xmlns:a16="http://schemas.microsoft.com/office/drawing/2014/main" id="{598DB384-3834-4A6E-88C7-56ED64B1610A}"/>
              </a:ext>
            </a:extLst>
          </p:cNvPr>
          <p:cNvSpPr/>
          <p:nvPr/>
        </p:nvSpPr>
        <p:spPr>
          <a:xfrm>
            <a:off x="10342245" y="3454400"/>
            <a:ext cx="793961"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2" name="矢印: 右 61">
            <a:extLst>
              <a:ext uri="{FF2B5EF4-FFF2-40B4-BE49-F238E27FC236}">
                <a16:creationId xmlns:a16="http://schemas.microsoft.com/office/drawing/2014/main" id="{4938EDE1-97DD-420B-AF51-448FC8A8F529}"/>
              </a:ext>
            </a:extLst>
          </p:cNvPr>
          <p:cNvSpPr/>
          <p:nvPr/>
        </p:nvSpPr>
        <p:spPr>
          <a:xfrm>
            <a:off x="10558780" y="4013200"/>
            <a:ext cx="1010496"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3" name="矢印: 右 62">
            <a:extLst>
              <a:ext uri="{FF2B5EF4-FFF2-40B4-BE49-F238E27FC236}">
                <a16:creationId xmlns:a16="http://schemas.microsoft.com/office/drawing/2014/main" id="{0AE1CEB5-7EBA-4989-96FD-CBE69C6CF335}"/>
              </a:ext>
            </a:extLst>
          </p:cNvPr>
          <p:cNvSpPr/>
          <p:nvPr/>
        </p:nvSpPr>
        <p:spPr>
          <a:xfrm>
            <a:off x="11497099" y="4572000"/>
            <a:ext cx="938318"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4" name="矢印: 右 63">
            <a:extLst>
              <a:ext uri="{FF2B5EF4-FFF2-40B4-BE49-F238E27FC236}">
                <a16:creationId xmlns:a16="http://schemas.microsoft.com/office/drawing/2014/main" id="{EA5FB593-F8A7-47ED-8FE0-2DEC3D5FBF3D}"/>
              </a:ext>
            </a:extLst>
          </p:cNvPr>
          <p:cNvSpPr/>
          <p:nvPr/>
        </p:nvSpPr>
        <p:spPr>
          <a:xfrm>
            <a:off x="12146704" y="5130800"/>
            <a:ext cx="692912"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5" name="矢印: 右 64">
            <a:extLst>
              <a:ext uri="{FF2B5EF4-FFF2-40B4-BE49-F238E27FC236}">
                <a16:creationId xmlns:a16="http://schemas.microsoft.com/office/drawing/2014/main" id="{08F95DCF-0470-4027-83DB-67FE192B535C}"/>
              </a:ext>
            </a:extLst>
          </p:cNvPr>
          <p:cNvSpPr/>
          <p:nvPr/>
        </p:nvSpPr>
        <p:spPr>
          <a:xfrm>
            <a:off x="11064028" y="5689600"/>
            <a:ext cx="1371388"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6" name="矢印: 右 65">
            <a:extLst>
              <a:ext uri="{FF2B5EF4-FFF2-40B4-BE49-F238E27FC236}">
                <a16:creationId xmlns:a16="http://schemas.microsoft.com/office/drawing/2014/main" id="{034692D6-33FA-4224-BC94-AEBDF0ACEF64}"/>
              </a:ext>
            </a:extLst>
          </p:cNvPr>
          <p:cNvSpPr/>
          <p:nvPr/>
        </p:nvSpPr>
        <p:spPr>
          <a:xfrm>
            <a:off x="11497099" y="6248400"/>
            <a:ext cx="938318"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7" name="矢印: 右 66">
            <a:extLst>
              <a:ext uri="{FF2B5EF4-FFF2-40B4-BE49-F238E27FC236}">
                <a16:creationId xmlns:a16="http://schemas.microsoft.com/office/drawing/2014/main" id="{6C6DDE79-93BA-4090-923E-1B1164EED0CE}"/>
              </a:ext>
            </a:extLst>
          </p:cNvPr>
          <p:cNvSpPr/>
          <p:nvPr/>
        </p:nvSpPr>
        <p:spPr>
          <a:xfrm>
            <a:off x="12002347" y="6807200"/>
            <a:ext cx="938318"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8" name="矢印: 右 67">
            <a:extLst>
              <a:ext uri="{FF2B5EF4-FFF2-40B4-BE49-F238E27FC236}">
                <a16:creationId xmlns:a16="http://schemas.microsoft.com/office/drawing/2014/main" id="{E4DD941E-C716-4881-8E5F-D24541B96B53}"/>
              </a:ext>
            </a:extLst>
          </p:cNvPr>
          <p:cNvSpPr/>
          <p:nvPr/>
        </p:nvSpPr>
        <p:spPr>
          <a:xfrm>
            <a:off x="12507596" y="7366000"/>
            <a:ext cx="1371388"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9" name="矢印: 右 68">
            <a:extLst>
              <a:ext uri="{FF2B5EF4-FFF2-40B4-BE49-F238E27FC236}">
                <a16:creationId xmlns:a16="http://schemas.microsoft.com/office/drawing/2014/main" id="{EAC33907-6CA1-4E71-B9D5-716E2E981F75}"/>
              </a:ext>
            </a:extLst>
          </p:cNvPr>
          <p:cNvSpPr/>
          <p:nvPr/>
        </p:nvSpPr>
        <p:spPr>
          <a:xfrm>
            <a:off x="10270067" y="7924800"/>
            <a:ext cx="2670599"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70" name="矢印: 右 69">
            <a:extLst>
              <a:ext uri="{FF2B5EF4-FFF2-40B4-BE49-F238E27FC236}">
                <a16:creationId xmlns:a16="http://schemas.microsoft.com/office/drawing/2014/main" id="{E72717AE-64DA-45FB-BB23-5FE9D2D1929D}"/>
              </a:ext>
            </a:extLst>
          </p:cNvPr>
          <p:cNvSpPr/>
          <p:nvPr/>
        </p:nvSpPr>
        <p:spPr>
          <a:xfrm>
            <a:off x="13229379" y="8483600"/>
            <a:ext cx="1082675"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71" name="矢印: 右 70">
            <a:extLst>
              <a:ext uri="{FF2B5EF4-FFF2-40B4-BE49-F238E27FC236}">
                <a16:creationId xmlns:a16="http://schemas.microsoft.com/office/drawing/2014/main" id="{73B7A278-A94A-4AF4-AC8E-F2A1B5321EB6}"/>
              </a:ext>
            </a:extLst>
          </p:cNvPr>
          <p:cNvSpPr/>
          <p:nvPr/>
        </p:nvSpPr>
        <p:spPr>
          <a:xfrm>
            <a:off x="14889481" y="9042400"/>
            <a:ext cx="1660102"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3" name="TextBox 24">
            <a:extLst>
              <a:ext uri="{FF2B5EF4-FFF2-40B4-BE49-F238E27FC236}">
                <a16:creationId xmlns:a16="http://schemas.microsoft.com/office/drawing/2014/main" id="{2A01B58C-24A4-65F3-D0FA-817BFF85E8E3}"/>
              </a:ext>
            </a:extLst>
          </p:cNvPr>
          <p:cNvSpPr txBox="1"/>
          <p:nvPr/>
        </p:nvSpPr>
        <p:spPr>
          <a:xfrm>
            <a:off x="1806795" y="305043"/>
            <a:ext cx="9652000" cy="700576"/>
          </a:xfrm>
          <a:prstGeom prst="rect">
            <a:avLst/>
          </a:prstGeom>
        </p:spPr>
        <p:txBody>
          <a:bodyPr wrap="square" lIns="0" tIns="0" rIns="0" bIns="0" rtlCol="0" anchor="t">
            <a:normAutofit/>
          </a:bodyPr>
          <a:lstStyle/>
          <a:p>
            <a:pPr algn="l">
              <a:lnSpc>
                <a:spcPts val="5880"/>
              </a:lnSpc>
              <a:spcBef>
                <a:spcPct val="0"/>
              </a:spcBef>
            </a:pPr>
            <a:r>
              <a:rPr lang="en-US" altLang="ja-JP" sz="3000" b="1" dirty="0">
                <a:solidFill>
                  <a:srgbClr val="202020"/>
                </a:solidFill>
                <a:latin typeface="Yu Gothic"/>
                <a:ea typeface="Yu Gothic"/>
              </a:rPr>
              <a:t>4. </a:t>
            </a:r>
            <a:r>
              <a:rPr lang="ja-JP" altLang="en-US" sz="3000" b="1" dirty="0">
                <a:solidFill>
                  <a:srgbClr val="202020"/>
                </a:solidFill>
                <a:latin typeface="Yu Gothic"/>
                <a:ea typeface="Yu Gothic"/>
              </a:rPr>
              <a:t>後期の研究計画</a:t>
            </a:r>
          </a:p>
        </p:txBody>
      </p:sp>
    </p:spTree>
    <p:extLst>
      <p:ext uri="{BB962C8B-B14F-4D97-AF65-F5344CB8AC3E}">
        <p14:creationId xmlns:p14="http://schemas.microsoft.com/office/powerpoint/2010/main" val="2952502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482E6">
            <a:alpha val="94000"/>
          </a:srgbClr>
        </a:solidFill>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5D7A1B7-69B7-4925-99B8-A306950AE00F}">
  <we:reference id="wa200010001" version="1.0.0.1" store="ja-JP" storeType="OMEX"/>
  <we:alternateReferences>
    <we:reference id="WA200010001" version="1.0.0.1" store="WA200010001" storeType="OMEX"/>
  </we:alternateReferences>
  <we:properties>
    <we:property name="claude.fileId" value="&quot;47c20542-9aa0-420f-8b84-a53bce3b6a32&quot;"/>
  </we:properties>
  <we:bindings/>
  <we:snapshot xmlns:r="http://schemas.openxmlformats.org/officeDocument/2006/relationships"/>
</we:webextension>
</file>

<file path=ppt/webextensions/webextension2.xml><?xml version="1.0" encoding="utf-8"?>
<we:webextension xmlns:we="http://schemas.microsoft.com/office/webextensions/webextension/2010/11" id="{C1E0504D-397B-4E0E-9870-3BF79C012794}">
  <we:reference id="wa200010215" version="2.0.0.1" store="ja-JP" storeType="OMEX"/>
  <we:alternateReferences>
    <we:reference id="WA200010215" version="2.0.0.1" store="WA200010215" storeType="OMEX"/>
  </we:alternateReferences>
  <we:properties>
    <we:property name="bps.codex_control.document_id" value="&quot;923187e9-0861-413e-9a76-03a2dc2aca9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27119</TotalTime>
  <Words>715</Words>
  <Application>Microsoft Office PowerPoint</Application>
  <PresentationFormat>ユーザー設定</PresentationFormat>
  <Paragraphs>121</Paragraphs>
  <Slides>8</Slides>
  <Notes>7</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8</vt:i4>
      </vt:variant>
    </vt:vector>
  </HeadingPairs>
  <TitlesOfParts>
    <vt:vector size="18" baseType="lpstr">
      <vt:lpstr>Source Han Sans JP</vt:lpstr>
      <vt:lpstr>Century Gothic Paneuropean</vt:lpstr>
      <vt:lpstr>ＭＳ Ｐゴシック</vt:lpstr>
      <vt:lpstr>游ゴシック</vt:lpstr>
      <vt:lpstr>Arial</vt:lpstr>
      <vt:lpstr>Source Han Sans JP Bold</vt:lpstr>
      <vt:lpstr>游ゴシック</vt:lpstr>
      <vt:lpstr>Calibri</vt:lpstr>
      <vt:lpstr>Wingdings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dc:creator>shiba</dc:creator>
  <cp:lastModifiedBy>陸 柴崎</cp:lastModifiedBy>
  <cp:revision>232</cp:revision>
  <dcterms:created xsi:type="dcterms:W3CDTF">2006-08-16T00:00:00Z</dcterms:created>
  <dcterms:modified xsi:type="dcterms:W3CDTF">2026-09-18T02:59:15Z</dcterms:modified>
  <dc:identifier>DAGKJCfN4aw</dc:identifier>
</cp:coreProperties>
</file>