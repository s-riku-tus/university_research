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11"/>
  </p:notesMasterIdLst>
  <p:sldIdLst>
    <p:sldId id="399" r:id="rId2"/>
    <p:sldId id="501" r:id="rId3"/>
    <p:sldId id="494" r:id="rId4"/>
    <p:sldId id="511" r:id="rId5"/>
    <p:sldId id="512" r:id="rId6"/>
    <p:sldId id="509" r:id="rId7"/>
    <p:sldId id="513" r:id="rId8"/>
    <p:sldId id="503" r:id="rId9"/>
    <p:sldId id="515" r:id="rId10"/>
  </p:sldIdLst>
  <p:sldSz cx="18288000" cy="10287000"/>
  <p:notesSz cx="6858000" cy="9144000"/>
  <p:embeddedFontLst>
    <p:embeddedFont>
      <p:font typeface="Source Han Sans JP" panose="020B0600070205080204" charset="-128"/>
      <p:regular r:id="rId12"/>
    </p:embeddedFont>
    <p:embeddedFont>
      <p:font typeface="Source Han Sans JP Bold" panose="020B0600070205080204" charset="-128"/>
      <p:regular r:id="rId13"/>
    </p:embeddedFont>
    <p:embeddedFont>
      <p:font typeface="Century Gothic Paneuropean" panose="020B0600070205080204" charset="0"/>
      <p:regular r:id="rId14"/>
    </p:embeddedFont>
    <p:embeddedFont>
      <p:font typeface="游ゴシック" panose="020B0400000000000000" pitchFamily="50" charset="-128"/>
      <p:regular r:id="rId15"/>
      <p:bold r:id="rId16"/>
    </p:embeddedFont>
    <p:embeddedFont>
      <p:font typeface="游ゴシック" panose="020B0400000000000000" pitchFamily="50" charset="-128"/>
      <p:regular r:id="rId15"/>
      <p:bold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タイトルなしのセクション" id="{4DFD7D12-A81E-460B-B0A9-1B2C599831E7}">
          <p14:sldIdLst>
            <p14:sldId id="399"/>
            <p14:sldId id="501"/>
            <p14:sldId id="494"/>
            <p14:sldId id="511"/>
            <p14:sldId id="512"/>
            <p14:sldId id="509"/>
            <p14:sldId id="513"/>
            <p14:sldId id="503"/>
            <p14:sldId id="51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1F1"/>
    <a:srgbClr val="BED8D7"/>
    <a:srgbClr val="B3D1D0"/>
    <a:srgbClr val="91BDBC"/>
    <a:srgbClr val="61A3A1"/>
    <a:srgbClr val="95C1C0"/>
    <a:srgbClr val="FFFFFF"/>
    <a:srgbClr val="849A9A"/>
    <a:srgbClr val="AACECD"/>
    <a:srgbClr val="ABCD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1DD41C-0630-45D5-9049-54DFDE666A7F}" v="83" dt="2026-05-22T00:42:41.8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 autoAdjust="0"/>
    <p:restoredTop sz="74696" autoAdjust="0"/>
  </p:normalViewPr>
  <p:slideViewPr>
    <p:cSldViewPr>
      <p:cViewPr varScale="1">
        <p:scale>
          <a:sx n="50" d="100"/>
          <a:sy n="50" d="100"/>
        </p:scale>
        <p:origin x="300" y="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5370"/>
    </p:cViewPr>
  </p:sorterViewPr>
  <p:notesViewPr>
    <p:cSldViewPr>
      <p:cViewPr varScale="1">
        <p:scale>
          <a:sx n="56" d="100"/>
          <a:sy n="56" d="100"/>
        </p:scale>
        <p:origin x="2588" y="5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FC281-721B-4934-9CCF-260B5135F409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558F7A-9C9F-42E9-83A4-0C372CE578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9274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狙いを定め直した方が良い気がしている．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/>
              <a:t>手法の採用を</a:t>
            </a:r>
            <a:endParaRPr kumimoji="1"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99960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1A9E9-AE27-1E01-9835-EF48D367B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B534F1C-5D18-FC8A-8DEF-C46AB3E0D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2770C4D-86E6-D25C-9111-77341F57D5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温度が高くなりすぎて破損しちゃうよ．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AI</a:t>
            </a:r>
            <a:r>
              <a:rPr kumimoji="1" lang="ja-JP" altLang="en-US" dirty="0"/>
              <a:t>の必要性を答えらえるようになりたいよね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E60FBB3-999D-3E47-4628-001993935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28398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19844-7479-4761-8AC7-853C4B311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066FFAA-7C12-7D95-5E85-103771BD8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AD4A18C-3D01-1769-0E06-C86D1BB87F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D58A47E-C6C9-18D1-0F1C-B25EF89967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52582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FA046-5D5B-2321-1581-D4060B32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5C42F3A-8E35-6B59-A565-89F1D1267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1B32A0E-F09F-1AA3-CA80-C5B4AFB3E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104843-6162-F930-9485-6E27445AF6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1962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FA046-5D5B-2321-1581-D4060B32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5C42F3A-8E35-6B59-A565-89F1D1267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1B32A0E-F09F-1AA3-CA80-C5B4AFB3E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104843-6162-F930-9485-6E27445AF6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19629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FA046-5D5B-2321-1581-D4060B32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5C42F3A-8E35-6B59-A565-89F1D1267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1B32A0E-F09F-1AA3-CA80-C5B4AFB3E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104843-6162-F930-9485-6E27445AF6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1962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545E4-B9B9-554E-8899-3266B7DEC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9C0710D-C792-2F16-2B79-8917D339DE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99D4327-A3A0-2B20-4891-5D0CE59697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24A3B95-7E6A-318B-2CAB-533FB426EF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91587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【年間計画に対する到達度（①〜④）】</a:t>
            </a:r>
          </a:p>
          <a:p>
            <a:r>
              <a:rPr lang="ja-JP" altLang="en-US" dirty="0"/>
              <a:t>① RF単体の確立：入力・回帰・ONBしきい値評価・結果保存まで完了。→ 完了扱い。</a:t>
            </a:r>
          </a:p>
          <a:p>
            <a:r>
              <a:rPr lang="ja-JP" altLang="en-US" dirty="0"/>
              <a:t>② 各モデルへの説明性付与：手法決定・実装・代表条件での出力まで完了。目視確認、信頼性、物理的妥当性の評価が残る。→ 進行中。</a:t>
            </a:r>
          </a:p>
          <a:p>
            <a:r>
              <a:rPr lang="ja-JP" altLang="en-US" dirty="0"/>
              <a:t>③ 3モデルアンサンブルの確立：パラメータ再調整、各モデルの安定化、3モデル・複数統合方法の同条件評価まで実施。アンサンブルの有効性と最終方式の判断が残る。→ 実装基盤は完了。</a:t>
            </a:r>
          </a:p>
          <a:p>
            <a:r>
              <a:rPr lang="ja-JP" altLang="en-US" dirty="0"/>
              <a:t>④ 沸騰開始点へのアプローチ：ONB近傍誤差としきい値検知指標を導入。データ設計・入力表現・検知遅れ・一般化検証が残る。→ 着手段階。</a:t>
            </a:r>
          </a:p>
          <a:p>
            <a:r>
              <a:rPr lang="ja-JP" altLang="en-US" dirty="0"/>
              <a:t>※「実装が完了したこと」と「研究上の検証・解釈が完了したこと」は分けて説明する。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58F7A-9C9F-42E9-83A4-0C372CE5784D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04810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35141-B1DA-4BCF-9AAA-97947E23424F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348189-7185-406F-AF7C-BED606B3670B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01697-F5F8-4170-8723-96F9EA86E2DC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CCBFD-D654-4967-8B61-A3494FDAD3C3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F7437-43BB-4691-A20F-B3DC80928B9C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DB0C1-09DA-4824-A9FE-04B648356115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F59CF7-FBD3-43A8-86EA-1BFF241249A7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228600" y="9715500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2D3CE7-97B2-48B0-AAAA-F59DB167F20C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2D9E0-6A31-47E1-86F8-E8D32905AA5C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58458-117C-445C-93D2-58146BCC020C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68477-63A2-4B58-B832-4FD9CBB3DB7F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76800" y="9921875"/>
            <a:ext cx="620097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46D91-97FF-446E-BDC2-075A4D5370E6}" type="datetime1">
              <a:rPr lang="en-US" altLang="ja-JP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43800" y="6361199"/>
            <a:ext cx="6200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bg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885825" y="495300"/>
            <a:ext cx="16516350" cy="142875"/>
            <a:chOff x="0" y="0"/>
            <a:chExt cx="22021800" cy="190500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17" name="TextBox 17"/>
          <p:cNvSpPr txBox="1"/>
          <p:nvPr/>
        </p:nvSpPr>
        <p:spPr>
          <a:xfrm>
            <a:off x="2226627" y="4242220"/>
            <a:ext cx="13854732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altLang="ja-JP" sz="40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CNN</a:t>
            </a:r>
            <a:r>
              <a:rPr lang="ja-JP" altLang="en-US" sz="40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アンサンブル学習に基づく音響識別による</a:t>
            </a:r>
            <a:endParaRPr lang="en-US" altLang="ja-JP" sz="4000" dirty="0">
              <a:solidFill>
                <a:srgbClr val="292B2B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  <a:p>
            <a:pPr algn="ctr">
              <a:spcBef>
                <a:spcPct val="0"/>
              </a:spcBef>
            </a:pPr>
            <a:r>
              <a:rPr lang="ja-JP" altLang="en-US" sz="40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プール沸騰の発生検知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85825" y="7729472"/>
            <a:ext cx="16306800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ja-JP" altLang="en-US" sz="4000" dirty="0"/>
              <a:t>植木研究室　　</a:t>
            </a:r>
            <a:r>
              <a:rPr lang="ja-JP" altLang="en-US" sz="4000" dirty="0">
                <a:solidFill>
                  <a:srgbClr val="292B2B"/>
                </a:solidFill>
                <a:latin typeface="+mj-ea"/>
                <a:ea typeface="+mj-ea"/>
                <a:cs typeface="Source Han Sans JP"/>
                <a:sym typeface="Source Han Sans JP"/>
              </a:rPr>
              <a:t>柴崎陸</a:t>
            </a:r>
            <a:endParaRPr lang="en-US" sz="4000" dirty="0">
              <a:solidFill>
                <a:srgbClr val="292B2B"/>
              </a:solidFill>
              <a:latin typeface="+mj-ea"/>
              <a:ea typeface="+mj-ea"/>
              <a:cs typeface="Source Han Sans JP"/>
              <a:sym typeface="Source Han Sans JP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6111044" y="6792441"/>
            <a:ext cx="5785681" cy="496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292B2B"/>
                </a:solidFill>
                <a:latin typeface="Century Gothic Paneuropean"/>
                <a:ea typeface="Century Gothic Paneuropean"/>
                <a:cs typeface="Century Gothic Paneuropean"/>
                <a:sym typeface="Century Gothic Paneuropean"/>
              </a:rPr>
              <a:t>2026年9月18日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885825" y="9645596"/>
            <a:ext cx="16516350" cy="142875"/>
            <a:chOff x="0" y="0"/>
            <a:chExt cx="22021800" cy="190500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 dirty="0"/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9D73F52F-7EA5-9483-9209-847FF8564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3" name="TextBox 17">
            <a:extLst>
              <a:ext uri="{FF2B5EF4-FFF2-40B4-BE49-F238E27FC236}">
                <a16:creationId xmlns:a16="http://schemas.microsoft.com/office/drawing/2014/main" id="{B2D46370-B0AA-E6EF-7D69-27BC452AE345}"/>
              </a:ext>
            </a:extLst>
          </p:cNvPr>
          <p:cNvSpPr txBox="1"/>
          <p:nvPr/>
        </p:nvSpPr>
        <p:spPr>
          <a:xfrm>
            <a:off x="2111859" y="2538384"/>
            <a:ext cx="13854732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ja-JP" altLang="en-US" sz="6600" dirty="0">
                <a:solidFill>
                  <a:srgbClr val="292B2B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研究進捗</a:t>
            </a:r>
            <a:endParaRPr lang="en-US" sz="6600" dirty="0">
              <a:solidFill>
                <a:srgbClr val="292B2B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</p:spTree>
    <p:extLst>
      <p:ext uri="{BB962C8B-B14F-4D97-AF65-F5344CB8AC3E}">
        <p14:creationId xmlns:p14="http://schemas.microsoft.com/office/powerpoint/2010/main" val="842676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78CC8-D48C-2743-BDF1-ECD66C65E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CEE746A5-2EA0-7091-CE1B-4CA2830713A6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49" name="図 48">
              <a:extLst>
                <a:ext uri="{FF2B5EF4-FFF2-40B4-BE49-F238E27FC236}">
                  <a16:creationId xmlns:a16="http://schemas.microsoft.com/office/drawing/2014/main" id="{70958775-508E-6262-548A-C76F63D774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41BA4E38-AE3E-68EF-51D9-A344EE59086C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51" name="直線コネクタ 50">
              <a:extLst>
                <a:ext uri="{FF2B5EF4-FFF2-40B4-BE49-F238E27FC236}">
                  <a16:creationId xmlns:a16="http://schemas.microsoft.com/office/drawing/2014/main" id="{0152DED0-19F6-05C3-C9FF-989B1429AF02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フローチャート: 論理積ゲート 51">
              <a:extLst>
                <a:ext uri="{FF2B5EF4-FFF2-40B4-BE49-F238E27FC236}">
                  <a16:creationId xmlns:a16="http://schemas.microsoft.com/office/drawing/2014/main" id="{BA6EA534-61D8-686C-86C9-B0FDB6111F9F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3" name="Group 3">
            <a:extLst>
              <a:ext uri="{FF2B5EF4-FFF2-40B4-BE49-F238E27FC236}">
                <a16:creationId xmlns:a16="http://schemas.microsoft.com/office/drawing/2014/main" id="{CECFB917-CF11-0A3B-8B44-C670007A018C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54" name="Group 4">
              <a:extLst>
                <a:ext uri="{FF2B5EF4-FFF2-40B4-BE49-F238E27FC236}">
                  <a16:creationId xmlns:a16="http://schemas.microsoft.com/office/drawing/2014/main" id="{91A2E58B-D56D-16D3-4661-BA3BBA74542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61" name="Freeform 5">
                <a:extLst>
                  <a:ext uri="{FF2B5EF4-FFF2-40B4-BE49-F238E27FC236}">
                    <a16:creationId xmlns:a16="http://schemas.microsoft.com/office/drawing/2014/main" id="{31378A26-691B-21D8-F51A-2BCE6659850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2" name="TextBox 6">
                <a:extLst>
                  <a:ext uri="{FF2B5EF4-FFF2-40B4-BE49-F238E27FC236}">
                    <a16:creationId xmlns:a16="http://schemas.microsoft.com/office/drawing/2014/main" id="{B26AAB03-99EC-2423-EABE-926D29D0C8F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5" name="Group 7">
              <a:extLst>
                <a:ext uri="{FF2B5EF4-FFF2-40B4-BE49-F238E27FC236}">
                  <a16:creationId xmlns:a16="http://schemas.microsoft.com/office/drawing/2014/main" id="{29867762-ABD7-CC40-7E63-B819E3C692C8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59" name="Freeform 8">
                <a:extLst>
                  <a:ext uri="{FF2B5EF4-FFF2-40B4-BE49-F238E27FC236}">
                    <a16:creationId xmlns:a16="http://schemas.microsoft.com/office/drawing/2014/main" id="{7C70FADF-E307-0A92-9A76-AA2A20A2C00D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0" name="TextBox 9">
                <a:extLst>
                  <a:ext uri="{FF2B5EF4-FFF2-40B4-BE49-F238E27FC236}">
                    <a16:creationId xmlns:a16="http://schemas.microsoft.com/office/drawing/2014/main" id="{11692D9C-3C53-381D-F3A1-3F5EFE102AA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56" name="Group 10">
              <a:extLst>
                <a:ext uri="{FF2B5EF4-FFF2-40B4-BE49-F238E27FC236}">
                  <a16:creationId xmlns:a16="http://schemas.microsoft.com/office/drawing/2014/main" id="{2F474822-BEB2-EBEC-7A2F-017173F3CC9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57" name="Freeform 11">
                <a:extLst>
                  <a:ext uri="{FF2B5EF4-FFF2-40B4-BE49-F238E27FC236}">
                    <a16:creationId xmlns:a16="http://schemas.microsoft.com/office/drawing/2014/main" id="{98FB6128-7B40-96C8-A76A-6673F6DB3B79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58" name="TextBox 12">
                <a:extLst>
                  <a:ext uri="{FF2B5EF4-FFF2-40B4-BE49-F238E27FC236}">
                    <a16:creationId xmlns:a16="http://schemas.microsoft.com/office/drawing/2014/main" id="{20FB272E-47CE-4D63-AC8D-B52F20BC8A7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512" name="スライド番号プレースホルダー 28">
            <a:extLst>
              <a:ext uri="{FF2B5EF4-FFF2-40B4-BE49-F238E27FC236}">
                <a16:creationId xmlns:a16="http://schemas.microsoft.com/office/drawing/2014/main" id="{86641A16-74EF-B03F-FD0C-9EDF72B6C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3863" y="9825038"/>
            <a:ext cx="392112" cy="420687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2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513" name="TextBox 24">
            <a:extLst>
              <a:ext uri="{FF2B5EF4-FFF2-40B4-BE49-F238E27FC236}">
                <a16:creationId xmlns:a16="http://schemas.microsoft.com/office/drawing/2014/main" id="{482A15FD-BC4A-9198-CEDF-1767C02D8C29}"/>
              </a:ext>
            </a:extLst>
          </p:cNvPr>
          <p:cNvSpPr txBox="1"/>
          <p:nvPr/>
        </p:nvSpPr>
        <p:spPr>
          <a:xfrm>
            <a:off x="1806795" y="305043"/>
            <a:ext cx="8255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ja-JP" altLang="en-US" sz="3000" b="1" dirty="0">
                <a:solidFill>
                  <a:srgbClr val="202020"/>
                </a:solidFill>
                <a:latin typeface="Yu Gothic"/>
                <a:ea typeface="Yu Gothic"/>
                <a:cs typeface="Source Han Sans JP Medium"/>
                <a:sym typeface="Source Han Sans JP Medium"/>
              </a:rPr>
              <a:t>今回の発表内容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47244F5-E118-40AC-BF88-DDF28BFD2529}"/>
              </a:ext>
            </a:extLst>
          </p:cNvPr>
          <p:cNvSpPr txBox="1"/>
          <p:nvPr/>
        </p:nvSpPr>
        <p:spPr>
          <a:xfrm>
            <a:off x="3708400" y="4457700"/>
            <a:ext cx="1143000" cy="2209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altLang="ja-JP" sz="4400" dirty="0">
                <a:solidFill>
                  <a:srgbClr val="202020"/>
                </a:solidFill>
                <a:latin typeface="Yu Gothic"/>
                <a:ea typeface="Yu Gothic"/>
              </a:rPr>
              <a:t>01
02
03</a:t>
            </a:r>
          </a:p>
          <a:p>
            <a:pPr algn="l"/>
            <a:r>
              <a:rPr lang="en-US" altLang="ja-JP" sz="4400" dirty="0">
                <a:solidFill>
                  <a:srgbClr val="202020"/>
                </a:solidFill>
                <a:latin typeface="Yu Gothic"/>
                <a:ea typeface="Yu Gothic"/>
              </a:rPr>
              <a:t>04</a:t>
            </a:r>
            <a:endParaRPr lang="ja-JP" altLang="en-US" sz="4400" dirty="0">
              <a:solidFill>
                <a:srgbClr val="202020"/>
              </a:solidFill>
              <a:latin typeface="Yu Gothic"/>
              <a:ea typeface="Yu Gothic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F089934-D289-4A29-82F5-A8B268DA4E80}"/>
              </a:ext>
            </a:extLst>
          </p:cNvPr>
          <p:cNvSpPr txBox="1"/>
          <p:nvPr/>
        </p:nvSpPr>
        <p:spPr>
          <a:xfrm>
            <a:off x="5105400" y="4457700"/>
            <a:ext cx="10795000" cy="228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ja-JP" altLang="en-US" sz="4400" b="1" dirty="0">
                <a:solidFill>
                  <a:srgbClr val="202020"/>
                </a:solidFill>
                <a:latin typeface="Yu Gothic"/>
                <a:ea typeface="Yu Gothic"/>
              </a:rPr>
              <a:t>学習・評価設計と音響選別
回帰・</a:t>
            </a:r>
            <a:r>
              <a:rPr lang="en-US" altLang="ja-JP" sz="4400" b="1" dirty="0">
                <a:solidFill>
                  <a:srgbClr val="202020"/>
                </a:solidFill>
                <a:latin typeface="Yu Gothic"/>
                <a:ea typeface="Yu Gothic"/>
              </a:rPr>
              <a:t>ONB</a:t>
            </a:r>
            <a:r>
              <a:rPr lang="ja-JP" altLang="en-US" sz="4400" b="1" dirty="0">
                <a:solidFill>
                  <a:srgbClr val="202020"/>
                </a:solidFill>
                <a:latin typeface="Yu Gothic"/>
                <a:ea typeface="Yu Gothic"/>
              </a:rPr>
              <a:t>判定と統合結果の分析
説明性</a:t>
            </a:r>
            <a:endParaRPr lang="en-US" altLang="ja-JP" sz="4400" b="1" dirty="0">
              <a:solidFill>
                <a:srgbClr val="202020"/>
              </a:solidFill>
              <a:latin typeface="Yu Gothic"/>
              <a:ea typeface="Yu Gothic"/>
            </a:endParaRPr>
          </a:p>
          <a:p>
            <a:pPr algn="l"/>
            <a:r>
              <a:rPr lang="ja-JP" altLang="en-US" sz="4400" b="1" dirty="0">
                <a:solidFill>
                  <a:srgbClr val="202020"/>
                </a:solidFill>
                <a:latin typeface="Yu Gothic"/>
                <a:ea typeface="Yu Gothic"/>
              </a:rPr>
              <a:t>研究計画</a:t>
            </a:r>
          </a:p>
        </p:txBody>
      </p:sp>
    </p:spTree>
    <p:extLst>
      <p:ext uri="{BB962C8B-B14F-4D97-AF65-F5344CB8AC3E}">
        <p14:creationId xmlns:p14="http://schemas.microsoft.com/office/powerpoint/2010/main" val="32630727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97095-AF12-5A0D-09C9-F7ABC48E7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四角形: 角を丸くする 54">
            <a:extLst>
              <a:ext uri="{FF2B5EF4-FFF2-40B4-BE49-F238E27FC236}">
                <a16:creationId xmlns:a16="http://schemas.microsoft.com/office/drawing/2014/main" id="{E002949A-21AB-4877-874F-7A7E555B18CB}"/>
              </a:ext>
            </a:extLst>
          </p:cNvPr>
          <p:cNvSpPr/>
          <p:nvPr/>
        </p:nvSpPr>
        <p:spPr>
          <a:xfrm>
            <a:off x="10299700" y="6769100"/>
            <a:ext cx="4572000" cy="19050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54" name="四角形: 角を丸くする 53">
            <a:extLst>
              <a:ext uri="{FF2B5EF4-FFF2-40B4-BE49-F238E27FC236}">
                <a16:creationId xmlns:a16="http://schemas.microsoft.com/office/drawing/2014/main" id="{A83EEA3F-4E85-42F6-BE0C-43B09856B411}"/>
              </a:ext>
            </a:extLst>
          </p:cNvPr>
          <p:cNvSpPr/>
          <p:nvPr/>
        </p:nvSpPr>
        <p:spPr>
          <a:xfrm>
            <a:off x="4267200" y="6769100"/>
            <a:ext cx="4572000" cy="19050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53" name="四角形: 角を丸くする 52">
            <a:extLst>
              <a:ext uri="{FF2B5EF4-FFF2-40B4-BE49-F238E27FC236}">
                <a16:creationId xmlns:a16="http://schemas.microsoft.com/office/drawing/2014/main" id="{1F0C9C85-1AAF-4DD7-8C7E-DC43D129C5AC}"/>
              </a:ext>
            </a:extLst>
          </p:cNvPr>
          <p:cNvSpPr/>
          <p:nvPr/>
        </p:nvSpPr>
        <p:spPr>
          <a:xfrm>
            <a:off x="10299700" y="3848100"/>
            <a:ext cx="4572000" cy="19050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52" name="四角形: 角を丸くする 51">
            <a:extLst>
              <a:ext uri="{FF2B5EF4-FFF2-40B4-BE49-F238E27FC236}">
                <a16:creationId xmlns:a16="http://schemas.microsoft.com/office/drawing/2014/main" id="{BEC4BD55-04D1-4B26-8178-40231C7D7E8F}"/>
              </a:ext>
            </a:extLst>
          </p:cNvPr>
          <p:cNvSpPr/>
          <p:nvPr/>
        </p:nvSpPr>
        <p:spPr>
          <a:xfrm>
            <a:off x="4267200" y="3848100"/>
            <a:ext cx="4572000" cy="1905000"/>
          </a:xfrm>
          <a:prstGeom prst="roundRect">
            <a:avLst/>
          </a:prstGeom>
          <a:solidFill>
            <a:srgbClr val="EAF2F2">
              <a:alpha val="93725"/>
            </a:srgbClr>
          </a:solidFill>
          <a:ln w="31750" cap="flat" cmpd="sng" algn="ctr">
            <a:solidFill>
              <a:srgbClr val="68A8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9" name="スライド番号プレースホルダー 28">
            <a:extLst>
              <a:ext uri="{FF2B5EF4-FFF2-40B4-BE49-F238E27FC236}">
                <a16:creationId xmlns:a16="http://schemas.microsoft.com/office/drawing/2014/main" id="{100212A4-2D93-E42D-F43F-3D865B11C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024509" y="3429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z="4800" smtClean="0"/>
              <a:pPr/>
              <a:t>3</a:t>
            </a:fld>
            <a:endParaRPr lang="en-US" sz="4800" dirty="0"/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CE5E0B2F-F763-22C1-3700-7F4CFDF22105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1B8EB6B3-4219-0C79-A21E-5392593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FEC8B33A-3850-6CCC-9DBD-D99CE1297D12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31" name="直線コネクタ 30">
              <a:extLst>
                <a:ext uri="{FF2B5EF4-FFF2-40B4-BE49-F238E27FC236}">
                  <a16:creationId xmlns:a16="http://schemas.microsoft.com/office/drawing/2014/main" id="{1822B7CD-3D84-25E4-FAE7-A724B030373F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フローチャート: 論理積ゲート 31">
              <a:extLst>
                <a:ext uri="{FF2B5EF4-FFF2-40B4-BE49-F238E27FC236}">
                  <a16:creationId xmlns:a16="http://schemas.microsoft.com/office/drawing/2014/main" id="{26FB7247-73F4-FC6B-704A-F91C1DE1A043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3" name="Group 3">
            <a:extLst>
              <a:ext uri="{FF2B5EF4-FFF2-40B4-BE49-F238E27FC236}">
                <a16:creationId xmlns:a16="http://schemas.microsoft.com/office/drawing/2014/main" id="{6386CD71-55CF-7637-1C85-71D30F14EE9C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34" name="Group 4">
              <a:extLst>
                <a:ext uri="{FF2B5EF4-FFF2-40B4-BE49-F238E27FC236}">
                  <a16:creationId xmlns:a16="http://schemas.microsoft.com/office/drawing/2014/main" id="{BA8360CB-CB3C-63BA-89C3-98C8234ABC08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41" name="Freeform 5">
                <a:extLst>
                  <a:ext uri="{FF2B5EF4-FFF2-40B4-BE49-F238E27FC236}">
                    <a16:creationId xmlns:a16="http://schemas.microsoft.com/office/drawing/2014/main" id="{ABDD11FB-9DE8-4416-596D-5D975399CCA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2" name="TextBox 6">
                <a:extLst>
                  <a:ext uri="{FF2B5EF4-FFF2-40B4-BE49-F238E27FC236}">
                    <a16:creationId xmlns:a16="http://schemas.microsoft.com/office/drawing/2014/main" id="{1DC3491A-DFDB-3889-4EAC-A1D3F71F14A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5" name="Group 7">
              <a:extLst>
                <a:ext uri="{FF2B5EF4-FFF2-40B4-BE49-F238E27FC236}">
                  <a16:creationId xmlns:a16="http://schemas.microsoft.com/office/drawing/2014/main" id="{1372A997-48C4-BE0C-4790-A7FE9E9737A0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39" name="Freeform 8">
                <a:extLst>
                  <a:ext uri="{FF2B5EF4-FFF2-40B4-BE49-F238E27FC236}">
                    <a16:creationId xmlns:a16="http://schemas.microsoft.com/office/drawing/2014/main" id="{C8AFE3BE-6429-7349-B897-8EA584E8347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40" name="TextBox 9">
                <a:extLst>
                  <a:ext uri="{FF2B5EF4-FFF2-40B4-BE49-F238E27FC236}">
                    <a16:creationId xmlns:a16="http://schemas.microsoft.com/office/drawing/2014/main" id="{7860339D-880B-7B5E-A3B7-53BD6268E88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36" name="Group 10">
              <a:extLst>
                <a:ext uri="{FF2B5EF4-FFF2-40B4-BE49-F238E27FC236}">
                  <a16:creationId xmlns:a16="http://schemas.microsoft.com/office/drawing/2014/main" id="{4EBF17AC-C77C-794D-1B8F-86F1A3CF92AA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37" name="Freeform 11">
                <a:extLst>
                  <a:ext uri="{FF2B5EF4-FFF2-40B4-BE49-F238E27FC236}">
                    <a16:creationId xmlns:a16="http://schemas.microsoft.com/office/drawing/2014/main" id="{E47837EC-ADEA-A18E-B40C-355AC095EBC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38" name="TextBox 12">
                <a:extLst>
                  <a:ext uri="{FF2B5EF4-FFF2-40B4-BE49-F238E27FC236}">
                    <a16:creationId xmlns:a16="http://schemas.microsoft.com/office/drawing/2014/main" id="{63760B9E-661E-BA99-9078-A8547168F8A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43" name="TextBox 24">
            <a:extLst>
              <a:ext uri="{FF2B5EF4-FFF2-40B4-BE49-F238E27FC236}">
                <a16:creationId xmlns:a16="http://schemas.microsoft.com/office/drawing/2014/main" id="{05B0307B-5FEB-41EC-FEC9-58D8111E678E}"/>
              </a:ext>
            </a:extLst>
          </p:cNvPr>
          <p:cNvSpPr txBox="1"/>
          <p:nvPr/>
        </p:nvSpPr>
        <p:spPr>
          <a:xfrm>
            <a:off x="1806795" y="305043"/>
            <a:ext cx="9652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altLang="ja-JP" sz="3000" b="1" dirty="0">
                <a:solidFill>
                  <a:srgbClr val="202020"/>
                </a:solidFill>
                <a:latin typeface="Yu Gothic"/>
                <a:ea typeface="Yu Gothic"/>
              </a:rPr>
              <a:t>1. </a:t>
            </a:r>
            <a:r>
              <a:rPr lang="ja-JP" altLang="en-US" sz="3000" b="1" dirty="0">
                <a:solidFill>
                  <a:srgbClr val="202020"/>
                </a:solidFill>
                <a:latin typeface="Yu Gothic"/>
                <a:ea typeface="Yu Gothic"/>
              </a:rPr>
              <a:t>学習・評価設計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978FB1D-66A1-4BFD-BB58-30FB1D86690C}"/>
              </a:ext>
            </a:extLst>
          </p:cNvPr>
          <p:cNvSpPr txBox="1"/>
          <p:nvPr/>
        </p:nvSpPr>
        <p:spPr>
          <a:xfrm>
            <a:off x="1587500" y="1422400"/>
            <a:ext cx="15367000" cy="914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3200" b="1" dirty="0">
                <a:solidFill>
                  <a:srgbClr val="222222"/>
                </a:solidFill>
                <a:latin typeface="Yu Gothic"/>
                <a:ea typeface="Yu Gothic"/>
              </a:rPr>
              <a:t>学習・推論時のデータを別日の実験で得た音響データとした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7ADDCCC-4070-4E7B-9350-7E4DB6EDC0E6}"/>
              </a:ext>
            </a:extLst>
          </p:cNvPr>
          <p:cNvSpPr txBox="1"/>
          <p:nvPr/>
        </p:nvSpPr>
        <p:spPr>
          <a:xfrm>
            <a:off x="3124200" y="3203271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ja-JP" altLang="en-US" sz="3200" b="1" dirty="0">
                <a:solidFill>
                  <a:srgbClr val="2F6F73"/>
                </a:solidFill>
                <a:latin typeface="Yu Gothic"/>
                <a:ea typeface="Yu Gothic"/>
              </a:rPr>
              <a:t>例</a:t>
            </a:r>
            <a:r>
              <a:rPr lang="en-US" altLang="ja-JP" sz="3200" b="1" dirty="0">
                <a:solidFill>
                  <a:srgbClr val="2F6F73"/>
                </a:solidFill>
                <a:latin typeface="Yu Gothic"/>
                <a:ea typeface="Yu Gothic"/>
              </a:rPr>
              <a:t>1</a:t>
            </a:r>
            <a:endParaRPr lang="ja-JP" altLang="en-US" sz="3200" b="1" dirty="0">
              <a:solidFill>
                <a:srgbClr val="2F6F73"/>
              </a:solidFill>
              <a:latin typeface="Yu Gothic"/>
              <a:ea typeface="Yu Gothic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B85E026-F217-4ED1-B920-747F46A6FFE0}"/>
              </a:ext>
            </a:extLst>
          </p:cNvPr>
          <p:cNvSpPr txBox="1"/>
          <p:nvPr/>
        </p:nvSpPr>
        <p:spPr>
          <a:xfrm>
            <a:off x="5181600" y="4324350"/>
            <a:ext cx="2743200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ja-JP" sz="4000" b="1" dirty="0">
                <a:solidFill>
                  <a:srgbClr val="222222"/>
                </a:solidFill>
                <a:latin typeface="Yu Gothic"/>
                <a:ea typeface="Yu Gothic"/>
              </a:rPr>
              <a:t>6/11 </a:t>
            </a:r>
            <a:r>
              <a:rPr lang="ja-JP" altLang="en-US" sz="4000" b="1" dirty="0">
                <a:solidFill>
                  <a:srgbClr val="222222"/>
                </a:solidFill>
                <a:latin typeface="Yu Gothic"/>
                <a:ea typeface="Yu Gothic"/>
              </a:rPr>
              <a:t>学習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554BF9F-6BBE-46B1-9FF1-4844CAD3867B}"/>
              </a:ext>
            </a:extLst>
          </p:cNvPr>
          <p:cNvSpPr txBox="1"/>
          <p:nvPr/>
        </p:nvSpPr>
        <p:spPr>
          <a:xfrm>
            <a:off x="9220200" y="4483100"/>
            <a:ext cx="8255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500" b="1">
                <a:solidFill>
                  <a:srgbClr val="2F6F73"/>
                </a:solidFill>
                <a:latin typeface="Yu Gothic"/>
                <a:ea typeface="Yu Gothic"/>
              </a:rPr>
              <a:t>→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64B79B6-5FC4-46EE-9E2B-D4A74F663C63}"/>
              </a:ext>
            </a:extLst>
          </p:cNvPr>
          <p:cNvSpPr txBox="1"/>
          <p:nvPr/>
        </p:nvSpPr>
        <p:spPr>
          <a:xfrm>
            <a:off x="9220200" y="7404100"/>
            <a:ext cx="8255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500" b="1">
                <a:solidFill>
                  <a:srgbClr val="2F6F73"/>
                </a:solidFill>
                <a:latin typeface="Yu Gothic"/>
                <a:ea typeface="Yu Gothic"/>
              </a:rPr>
              <a:t>→</a:t>
            </a:r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B181B652-914B-1355-C997-1350A2852BEB}"/>
              </a:ext>
            </a:extLst>
          </p:cNvPr>
          <p:cNvSpPr txBox="1"/>
          <p:nvPr/>
        </p:nvSpPr>
        <p:spPr>
          <a:xfrm>
            <a:off x="11341100" y="4298950"/>
            <a:ext cx="2743200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ja-JP" sz="4000" b="1" dirty="0">
                <a:solidFill>
                  <a:srgbClr val="222222"/>
                </a:solidFill>
                <a:latin typeface="Yu Gothic"/>
                <a:ea typeface="Yu Gothic"/>
              </a:rPr>
              <a:t>6/18 </a:t>
            </a:r>
            <a:r>
              <a:rPr lang="ja-JP" altLang="en-US" sz="4000" b="1" dirty="0">
                <a:solidFill>
                  <a:srgbClr val="222222"/>
                </a:solidFill>
                <a:latin typeface="Yu Gothic"/>
                <a:ea typeface="Yu Gothic"/>
              </a:rPr>
              <a:t>評価</a:t>
            </a:r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E4BB1692-E962-3277-44C7-14D5961A690A}"/>
              </a:ext>
            </a:extLst>
          </p:cNvPr>
          <p:cNvSpPr txBox="1"/>
          <p:nvPr/>
        </p:nvSpPr>
        <p:spPr>
          <a:xfrm>
            <a:off x="4933950" y="7232650"/>
            <a:ext cx="3556000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ja-JP" sz="4000" b="1" dirty="0">
                <a:solidFill>
                  <a:srgbClr val="222222"/>
                </a:solidFill>
                <a:latin typeface="Yu Gothic"/>
                <a:ea typeface="Yu Gothic"/>
              </a:rPr>
              <a:t>6/11, 18 </a:t>
            </a:r>
            <a:r>
              <a:rPr lang="ja-JP" altLang="en-US" sz="4000" b="1" dirty="0">
                <a:solidFill>
                  <a:srgbClr val="222222"/>
                </a:solidFill>
                <a:latin typeface="Yu Gothic"/>
                <a:ea typeface="Yu Gothic"/>
              </a:rPr>
              <a:t>学習</a:t>
            </a:r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81DB839E-B7EE-2147-536F-D34B40808EFF}"/>
              </a:ext>
            </a:extLst>
          </p:cNvPr>
          <p:cNvSpPr txBox="1"/>
          <p:nvPr/>
        </p:nvSpPr>
        <p:spPr>
          <a:xfrm>
            <a:off x="11341100" y="7232650"/>
            <a:ext cx="2743200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ja-JP" sz="4000" b="1" dirty="0">
                <a:solidFill>
                  <a:srgbClr val="222222"/>
                </a:solidFill>
                <a:latin typeface="Yu Gothic"/>
                <a:ea typeface="Yu Gothic"/>
              </a:rPr>
              <a:t>6/11 </a:t>
            </a:r>
            <a:r>
              <a:rPr lang="ja-JP" altLang="en-US" sz="4000" b="1" dirty="0">
                <a:solidFill>
                  <a:srgbClr val="222222"/>
                </a:solidFill>
                <a:latin typeface="Yu Gothic"/>
                <a:ea typeface="Yu Gothic"/>
              </a:rPr>
              <a:t>評価</a:t>
            </a:r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A0C81755-4436-7350-BC2C-DFE90EDB0F20}"/>
              </a:ext>
            </a:extLst>
          </p:cNvPr>
          <p:cNvSpPr txBox="1"/>
          <p:nvPr/>
        </p:nvSpPr>
        <p:spPr>
          <a:xfrm>
            <a:off x="3124200" y="618490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ja-JP" altLang="en-US" sz="3200" b="1" dirty="0">
                <a:solidFill>
                  <a:srgbClr val="2F6F73"/>
                </a:solidFill>
                <a:latin typeface="Yu Gothic"/>
                <a:ea typeface="Yu Gothic"/>
              </a:rPr>
              <a:t>例</a:t>
            </a:r>
            <a:r>
              <a:rPr lang="en-US" altLang="ja-JP" sz="3200" b="1" dirty="0">
                <a:solidFill>
                  <a:srgbClr val="2F6F73"/>
                </a:solidFill>
                <a:latin typeface="Yu Gothic"/>
                <a:ea typeface="Yu Gothic"/>
              </a:rPr>
              <a:t>2</a:t>
            </a:r>
            <a:endParaRPr lang="ja-JP" altLang="en-US" sz="3200" b="1" dirty="0">
              <a:solidFill>
                <a:srgbClr val="2F6F73"/>
              </a:solidFill>
              <a:latin typeface="Yu Gothic"/>
              <a:ea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1833220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1C04D-3962-402F-F1FD-D7A567A5E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E619D498-DBD6-0784-0BDB-ED7BA8D54BC7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52960E3F-5A9B-2825-2223-1B867FC981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2DD7D1B6-C3C8-7C54-FA18-205D1B151753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31871A78-2B56-BE29-D884-226FCEE2A36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745395BE-D6A1-43E4-B0BF-5B24F5616143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8A46ADEE-0A86-5B5C-61AF-D5EBA9F2EA67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CB2FBAFE-310E-329B-9ED4-4BDBC6EE535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E3602D07-EE1F-3072-3249-36421FD853C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4AE11EC1-B660-7D09-AAE8-D7555BB4EA9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2CF558ED-826B-41F1-048D-CDB7AFF7A30D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480EDD19-B6D3-EA2D-EF05-CBF220D03EFA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EF577D8E-7E41-D347-EC63-F426994FD73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54FD14E3-7606-F032-10D0-C1A62A277B00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00618396-4050-1DE8-F136-8B6BCA1B7780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23C6D6F7-39FF-28E5-B432-9C9C2CB0215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D8693FEA-9388-F51A-A629-471D6184C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4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3803B00A-CF69-AFAA-44F0-30E03BC53203}"/>
              </a:ext>
            </a:extLst>
          </p:cNvPr>
          <p:cNvSpPr txBox="1"/>
          <p:nvPr/>
        </p:nvSpPr>
        <p:spPr>
          <a:xfrm>
            <a:off x="1806795" y="305043"/>
            <a:ext cx="9652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altLang="ja-JP" sz="3000" b="1" dirty="0">
                <a:solidFill>
                  <a:srgbClr val="202020"/>
                </a:solidFill>
                <a:latin typeface="Yu Gothic"/>
                <a:ea typeface="Yu Gothic"/>
              </a:rPr>
              <a:t>1. </a:t>
            </a:r>
            <a:r>
              <a:rPr lang="ja-JP" altLang="en-US" sz="3000" b="1" dirty="0">
                <a:solidFill>
                  <a:srgbClr val="202020"/>
                </a:solidFill>
                <a:latin typeface="Yu Gothic"/>
                <a:ea typeface="Yu Gothic"/>
              </a:rPr>
              <a:t>音響選別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8DA16AE-B149-4034-9E2F-689479321540}"/>
              </a:ext>
            </a:extLst>
          </p:cNvPr>
          <p:cNvSpPr txBox="1"/>
          <p:nvPr/>
        </p:nvSpPr>
        <p:spPr>
          <a:xfrm>
            <a:off x="1587500" y="1422400"/>
            <a:ext cx="15367000" cy="914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3200" b="1" dirty="0">
                <a:solidFill>
                  <a:srgbClr val="222222"/>
                </a:solidFill>
                <a:latin typeface="Yu Gothic"/>
                <a:ea typeface="Yu Gothic"/>
              </a:rPr>
              <a:t>ONB</a:t>
            </a:r>
            <a:r>
              <a:rPr lang="ja-JP" altLang="en-US" sz="3200" b="1" dirty="0">
                <a:solidFill>
                  <a:srgbClr val="222222"/>
                </a:solidFill>
                <a:latin typeface="Yu Gothic"/>
                <a:ea typeface="Yu Gothic"/>
              </a:rPr>
              <a:t>直後からそれ以降である閾値を超えたもののみ沸騰データとした</a:t>
            </a: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F22E292A-381C-AB26-BDC0-659009DECC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3467100"/>
            <a:ext cx="6134100" cy="6134100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7CE22C5B-5AA9-C2B3-0F74-610F4BE290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7230" y="3467100"/>
            <a:ext cx="6134101" cy="6134101"/>
          </a:xfrm>
          <a:prstGeom prst="rect">
            <a:avLst/>
          </a:prstGeom>
        </p:spPr>
      </p:pic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1F2E4B92-37E1-7728-5C05-1491C61A7C2C}"/>
              </a:ext>
            </a:extLst>
          </p:cNvPr>
          <p:cNvSpPr txBox="1"/>
          <p:nvPr/>
        </p:nvSpPr>
        <p:spPr>
          <a:xfrm>
            <a:off x="3242919" y="2552638"/>
            <a:ext cx="3919881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ja-JP" altLang="en-US" sz="4000" b="1" dirty="0">
                <a:solidFill>
                  <a:srgbClr val="222222"/>
                </a:solidFill>
                <a:latin typeface="Yu Gothic"/>
                <a:ea typeface="Yu Gothic"/>
              </a:rPr>
              <a:t>沸騰データ</a:t>
            </a: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70D5BE68-13FE-90BB-8842-9738C0C64C6D}"/>
              </a:ext>
            </a:extLst>
          </p:cNvPr>
          <p:cNvSpPr txBox="1"/>
          <p:nvPr/>
        </p:nvSpPr>
        <p:spPr>
          <a:xfrm>
            <a:off x="11619943" y="2552638"/>
            <a:ext cx="3919887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ja-JP" altLang="en-US" sz="4000" b="1" dirty="0">
                <a:solidFill>
                  <a:srgbClr val="222222"/>
                </a:solidFill>
                <a:latin typeface="Yu Gothic"/>
                <a:ea typeface="Yu Gothic"/>
              </a:rPr>
              <a:t>未沸騰データ</a:t>
            </a:r>
          </a:p>
        </p:txBody>
      </p:sp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1AF97035-4D99-BA25-AF7B-C1348DF8A0D7}"/>
              </a:ext>
            </a:extLst>
          </p:cNvPr>
          <p:cNvCxnSpPr/>
          <p:nvPr/>
        </p:nvCxnSpPr>
        <p:spPr>
          <a:xfrm>
            <a:off x="13130689" y="6134100"/>
            <a:ext cx="2819400" cy="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コネクタ 45">
            <a:extLst>
              <a:ext uri="{FF2B5EF4-FFF2-40B4-BE49-F238E27FC236}">
                <a16:creationId xmlns:a16="http://schemas.microsoft.com/office/drawing/2014/main" id="{0B72ADD5-987B-A7A0-1C4A-996977EB5195}"/>
              </a:ext>
            </a:extLst>
          </p:cNvPr>
          <p:cNvCxnSpPr/>
          <p:nvPr/>
        </p:nvCxnSpPr>
        <p:spPr>
          <a:xfrm>
            <a:off x="4712937" y="8953500"/>
            <a:ext cx="2819400" cy="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96" name="グループ化 895">
            <a:extLst>
              <a:ext uri="{FF2B5EF4-FFF2-40B4-BE49-F238E27FC236}">
                <a16:creationId xmlns:a16="http://schemas.microsoft.com/office/drawing/2014/main" id="{6B1355A5-0A3C-17B4-0C29-7B8C20838DA7}"/>
              </a:ext>
            </a:extLst>
          </p:cNvPr>
          <p:cNvGrpSpPr/>
          <p:nvPr/>
        </p:nvGrpSpPr>
        <p:grpSpPr>
          <a:xfrm>
            <a:off x="6438899" y="5626131"/>
            <a:ext cx="4572000" cy="1168338"/>
            <a:chOff x="14856229" y="1384300"/>
            <a:chExt cx="4572000" cy="1168338"/>
          </a:xfrm>
        </p:grpSpPr>
        <p:sp>
          <p:nvSpPr>
            <p:cNvPr id="56" name="四角形: 角を丸くする 55">
              <a:extLst>
                <a:ext uri="{FF2B5EF4-FFF2-40B4-BE49-F238E27FC236}">
                  <a16:creationId xmlns:a16="http://schemas.microsoft.com/office/drawing/2014/main" id="{B5B5855F-C5FF-82B2-C002-36E0662EB174}"/>
                </a:ext>
              </a:extLst>
            </p:cNvPr>
            <p:cNvSpPr/>
            <p:nvPr/>
          </p:nvSpPr>
          <p:spPr>
            <a:xfrm>
              <a:off x="14856229" y="1384300"/>
              <a:ext cx="4572000" cy="1168338"/>
            </a:xfrm>
            <a:prstGeom prst="roundRect">
              <a:avLst/>
            </a:prstGeom>
            <a:solidFill>
              <a:srgbClr val="EAF2F2">
                <a:alpha val="93725"/>
              </a:srgbClr>
            </a:solidFill>
            <a:ln w="31750" cap="flat" cmpd="sng" algn="ctr">
              <a:solidFill>
                <a:srgbClr val="68A8A8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ctr"/>
              <a:endParaRPr kumimoji="1" lang="ja-JP" altLang="en-US"/>
            </a:p>
          </p:txBody>
        </p: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25E6EDEE-14C6-8A14-3656-AB3F1907674B}"/>
                </a:ext>
              </a:extLst>
            </p:cNvPr>
            <p:cNvSpPr txBox="1"/>
            <p:nvPr/>
          </p:nvSpPr>
          <p:spPr>
            <a:xfrm>
              <a:off x="15201899" y="1511300"/>
              <a:ext cx="3919887" cy="1003300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ctr" anchorCtr="0">
              <a:noAutofit/>
            </a:bodyPr>
            <a:lstStyle/>
            <a:p>
              <a:pPr algn="l"/>
              <a:r>
                <a:rPr lang="ja-JP" altLang="en-US" sz="4000" b="1" dirty="0">
                  <a:solidFill>
                    <a:srgbClr val="FF0000"/>
                  </a:solidFill>
                  <a:latin typeface="Yu Gothic"/>
                  <a:ea typeface="Yu Gothic"/>
                </a:rPr>
                <a:t>閾値：</a:t>
              </a:r>
              <a:r>
                <a:rPr lang="en-US" altLang="ja-JP" sz="4000" b="1" dirty="0">
                  <a:solidFill>
                    <a:srgbClr val="FF0000"/>
                  </a:solidFill>
                  <a:latin typeface="Yu Gothic"/>
                  <a:ea typeface="Yu Gothic"/>
                </a:rPr>
                <a:t>1×10^-9</a:t>
              </a:r>
              <a:endParaRPr lang="ja-JP" altLang="en-US" sz="4000" b="1" dirty="0">
                <a:solidFill>
                  <a:srgbClr val="FF0000"/>
                </a:solidFill>
                <a:latin typeface="Yu Gothic"/>
                <a:ea typeface="Yu Gothic"/>
              </a:endParaRPr>
            </a:p>
          </p:txBody>
        </p:sp>
      </p:grp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006CD1A6-F35E-F318-9B3A-89727EB2B79E}"/>
              </a:ext>
            </a:extLst>
          </p:cNvPr>
          <p:cNvSpPr txBox="1"/>
          <p:nvPr/>
        </p:nvSpPr>
        <p:spPr>
          <a:xfrm>
            <a:off x="942031" y="3055945"/>
            <a:ext cx="1705661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ja-JP" sz="3200" b="1" dirty="0">
                <a:solidFill>
                  <a:srgbClr val="222222"/>
                </a:solidFill>
                <a:latin typeface="Yu Gothic"/>
                <a:ea typeface="Yu Gothic"/>
              </a:rPr>
              <a:t>×10^-8</a:t>
            </a:r>
            <a:endParaRPr lang="ja-JP" altLang="en-US" sz="3200" b="1" dirty="0">
              <a:solidFill>
                <a:srgbClr val="222222"/>
              </a:solidFill>
              <a:latin typeface="Yu Gothic"/>
              <a:ea typeface="Yu Gothic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A831A7DF-0C00-4926-1730-BE2F23A0AA15}"/>
              </a:ext>
            </a:extLst>
          </p:cNvPr>
          <p:cNvSpPr txBox="1"/>
          <p:nvPr/>
        </p:nvSpPr>
        <p:spPr>
          <a:xfrm>
            <a:off x="9372600" y="3080048"/>
            <a:ext cx="1705661" cy="10033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ja-JP" sz="3200" b="1" dirty="0">
                <a:solidFill>
                  <a:srgbClr val="222222"/>
                </a:solidFill>
                <a:latin typeface="Yu Gothic"/>
                <a:ea typeface="Yu Gothic"/>
              </a:rPr>
              <a:t>×10^-9</a:t>
            </a:r>
            <a:endParaRPr lang="ja-JP" altLang="en-US" sz="3200" b="1" dirty="0">
              <a:solidFill>
                <a:srgbClr val="222222"/>
              </a:solidFill>
              <a:latin typeface="Yu Gothic"/>
              <a:ea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2412392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882ED-91FB-1FFD-EED9-E2CCF1CB3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75BFE32B-F018-C4E4-FAB7-80C0D2CDC22E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1226A433-2043-B47F-E0E8-72C7A0748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F53AD6DF-8ABC-58C4-0BDA-981F712C660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583BFE6C-617D-A3DC-D51E-18A613389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63EE0EEB-3C48-D4D2-9411-176CDF6BB0D2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66CE81F5-9908-5CB9-4AC3-1FCBE2FF3FAA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F18484CA-1C82-F32C-E492-71BB690B31B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99894FA7-D161-F806-1A5F-52AABFBB084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72556C4C-3473-3018-70C4-085FA6F987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F7A34761-E638-B2A2-9E72-32563CB39D5B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66779A7D-5ECB-D310-B556-EC0E21709B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96F89EAF-9FB5-76B1-24F0-8313C0D5D3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0F7B6D61-78D9-D77B-900A-F293F294C43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3CE663F6-1B9A-DFEE-C6F5-CE676E3CD0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509D1305-F68D-3300-CC15-A5584E7FBB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47B74506-C052-E656-B19A-11FB4A117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5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916AA8B-3001-4C62-965C-3C0745A4DD02}"/>
              </a:ext>
            </a:extLst>
          </p:cNvPr>
          <p:cNvSpPr txBox="1"/>
          <p:nvPr/>
        </p:nvSpPr>
        <p:spPr>
          <a:xfrm>
            <a:off x="1498600" y="1422400"/>
            <a:ext cx="15494000" cy="965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3200" b="1" dirty="0">
                <a:solidFill>
                  <a:srgbClr val="1B1F23"/>
                </a:solidFill>
                <a:latin typeface="Yu Gothic"/>
                <a:ea typeface="Yu Gothic"/>
              </a:rPr>
              <a:t>統合は</a:t>
            </a:r>
            <a:r>
              <a:rPr lang="en-US" altLang="ja-JP" sz="3200" b="1" dirty="0">
                <a:solidFill>
                  <a:srgbClr val="1B1F23"/>
                </a:solidFill>
                <a:latin typeface="Yu Gothic"/>
                <a:ea typeface="Yu Gothic"/>
              </a:rPr>
              <a:t>MAE</a:t>
            </a:r>
            <a:r>
              <a:rPr lang="ja-JP" altLang="en-US" sz="3200" b="1" dirty="0">
                <a:solidFill>
                  <a:srgbClr val="1B1F23"/>
                </a:solidFill>
                <a:latin typeface="Yu Gothic"/>
                <a:ea typeface="Yu Gothic"/>
              </a:rPr>
              <a:t>最小、</a:t>
            </a:r>
            <a:r>
              <a:rPr lang="en-US" altLang="ja-JP" sz="3200" b="1" dirty="0">
                <a:solidFill>
                  <a:srgbClr val="1B1F23"/>
                </a:solidFill>
                <a:latin typeface="Yu Gothic"/>
                <a:ea typeface="Yu Gothic"/>
              </a:rPr>
              <a:t>R²</a:t>
            </a:r>
            <a:r>
              <a:rPr lang="ja-JP" altLang="en-US" sz="3200" b="1" dirty="0">
                <a:solidFill>
                  <a:srgbClr val="1B1F23"/>
                </a:solidFill>
                <a:latin typeface="Yu Gothic"/>
                <a:ea typeface="Yu Gothic"/>
              </a:rPr>
              <a:t>は</a:t>
            </a:r>
            <a:r>
              <a:rPr lang="en-US" altLang="ja-JP" sz="3200" b="1" dirty="0" err="1">
                <a:solidFill>
                  <a:srgbClr val="1B1F23"/>
                </a:solidFill>
                <a:latin typeface="Yu Gothic"/>
                <a:ea typeface="Yu Gothic"/>
              </a:rPr>
              <a:t>AlexNet</a:t>
            </a:r>
            <a:r>
              <a:rPr lang="ja-JP" altLang="en-US" sz="3200" b="1" dirty="0">
                <a:solidFill>
                  <a:srgbClr val="1B1F23"/>
                </a:solidFill>
                <a:latin typeface="Yu Gothic"/>
                <a:ea typeface="Yu Gothic"/>
              </a:rPr>
              <a:t>が最高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F13C2CC-7395-4EC0-A6C8-CE0F3015BFF7}"/>
              </a:ext>
            </a:extLst>
          </p:cNvPr>
          <p:cNvSpPr txBox="1"/>
          <p:nvPr/>
        </p:nvSpPr>
        <p:spPr>
          <a:xfrm>
            <a:off x="1841500" y="2603500"/>
            <a:ext cx="88900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n-US" altLang="ja-JP" sz="1700" b="1">
                <a:solidFill>
                  <a:srgbClr val="2F7377"/>
                </a:solidFill>
                <a:latin typeface="Yu Gothic"/>
                <a:ea typeface="Yu Gothic"/>
              </a:rPr>
              <a:t>6/11</a:t>
            </a:r>
            <a:r>
              <a:rPr lang="ja-JP" altLang="en-US" sz="1700" b="1">
                <a:solidFill>
                  <a:srgbClr val="2F7377"/>
                </a:solidFill>
                <a:latin typeface="Yu Gothic"/>
                <a:ea typeface="Yu Gothic"/>
              </a:rPr>
              <a:t>学習 → </a:t>
            </a:r>
            <a:r>
              <a:rPr lang="en-US" altLang="ja-JP" sz="1700" b="1">
                <a:solidFill>
                  <a:srgbClr val="2F7377"/>
                </a:solidFill>
                <a:latin typeface="Yu Gothic"/>
                <a:ea typeface="Yu Gothic"/>
              </a:rPr>
              <a:t>6/18</a:t>
            </a:r>
            <a:r>
              <a:rPr lang="ja-JP" altLang="en-US" sz="1700" b="1">
                <a:solidFill>
                  <a:srgbClr val="2F7377"/>
                </a:solidFill>
                <a:latin typeface="Yu Gothic"/>
                <a:ea typeface="Yu Gothic"/>
              </a:rPr>
              <a:t>評価｜</a:t>
            </a:r>
            <a:r>
              <a:rPr lang="en-US" altLang="ja-JP" sz="1700" b="1">
                <a:solidFill>
                  <a:srgbClr val="2F7377"/>
                </a:solidFill>
                <a:latin typeface="Yu Gothic"/>
                <a:ea typeface="Yu Gothic"/>
              </a:rPr>
              <a:t>4</a:t>
            </a:r>
            <a:r>
              <a:rPr lang="ja-JP" altLang="en-US" sz="1700" b="1">
                <a:solidFill>
                  <a:srgbClr val="2F7377"/>
                </a:solidFill>
                <a:latin typeface="Yu Gothic"/>
                <a:ea typeface="Yu Gothic"/>
              </a:rPr>
              <a:t>モデル比較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3B40FD86-1EDC-4DB2-BF42-1FC49DDEA5BF}"/>
              </a:ext>
            </a:extLst>
          </p:cNvPr>
          <p:cNvSpPr/>
          <p:nvPr/>
        </p:nvSpPr>
        <p:spPr>
          <a:xfrm>
            <a:off x="1841500" y="3175000"/>
            <a:ext cx="14986000" cy="5080000"/>
          </a:xfrm>
          <a:prstGeom prst="roundRect">
            <a:avLst/>
          </a:prstGeom>
          <a:solidFill>
            <a:srgbClr val="F3F6F6">
              <a:alpha val="93725"/>
            </a:srgbClr>
          </a:solidFill>
          <a:ln w="19050" cap="flat" cmpd="sng" algn="ctr">
            <a:solidFill>
              <a:srgbClr val="69AEB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8B6C826-3C9B-4D2A-B5C7-14481C1FD2F8}"/>
              </a:ext>
            </a:extLst>
          </p:cNvPr>
          <p:cNvSpPr txBox="1"/>
          <p:nvPr/>
        </p:nvSpPr>
        <p:spPr>
          <a:xfrm>
            <a:off x="6350000" y="3492500"/>
            <a:ext cx="5969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400" b="1">
                <a:solidFill>
                  <a:srgbClr val="2F7377"/>
                </a:solidFill>
                <a:latin typeface="Yu Gothic"/>
                <a:ea typeface="Yu Gothic"/>
              </a:rPr>
              <a:t>［結果図を挿入］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CBB1970-DA03-4BB5-8EF8-8A2F9A400A30}"/>
              </a:ext>
            </a:extLst>
          </p:cNvPr>
          <p:cNvSpPr/>
          <p:nvPr/>
        </p:nvSpPr>
        <p:spPr>
          <a:xfrm>
            <a:off x="9334500" y="4191000"/>
            <a:ext cx="12700" cy="12700"/>
          </a:xfrm>
          <a:prstGeom prst="rect">
            <a:avLst/>
          </a:prstGeom>
          <a:solidFill>
            <a:srgbClr val="B7C5C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9BB790C-979C-41A5-8074-DB23C0C7C695}"/>
              </a:ext>
            </a:extLst>
          </p:cNvPr>
          <p:cNvSpPr txBox="1"/>
          <p:nvPr/>
        </p:nvSpPr>
        <p:spPr>
          <a:xfrm>
            <a:off x="2984500" y="4381500"/>
            <a:ext cx="5080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200" b="1">
                <a:solidFill>
                  <a:srgbClr val="1B1F23"/>
                </a:solidFill>
                <a:latin typeface="Yu Gothic"/>
                <a:ea typeface="Yu Gothic"/>
              </a:rPr>
              <a:t>左：</a:t>
            </a:r>
            <a:r>
              <a:rPr lang="en-US" altLang="ja-JP" sz="2200" b="1">
                <a:solidFill>
                  <a:srgbClr val="1B1F23"/>
                </a:solidFill>
                <a:latin typeface="Yu Gothic"/>
                <a:ea typeface="Yu Gothic"/>
              </a:rPr>
              <a:t>R²</a:t>
            </a:r>
            <a:r>
              <a:rPr lang="ja-JP" altLang="en-US" sz="2200" b="1">
                <a:solidFill>
                  <a:srgbClr val="1B1F23"/>
                </a:solidFill>
                <a:latin typeface="Yu Gothic"/>
                <a:ea typeface="Yu Gothic"/>
              </a:rPr>
              <a:t>のドット図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93160D9B-15EE-4560-A8B9-DD498E76E9FA}"/>
              </a:ext>
            </a:extLst>
          </p:cNvPr>
          <p:cNvSpPr txBox="1"/>
          <p:nvPr/>
        </p:nvSpPr>
        <p:spPr>
          <a:xfrm>
            <a:off x="2603500" y="5143500"/>
            <a:ext cx="5842000" cy="1270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>
                <a:solidFill>
                  <a:srgbClr val="68737A"/>
                </a:solidFill>
                <a:latin typeface="Yu Gothic"/>
                <a:ea typeface="Yu Gothic"/>
              </a:rPr>
              <a:t>RF</a:t>
            </a:r>
            <a:r>
              <a:rPr lang="ja-JP" altLang="en-US">
                <a:solidFill>
                  <a:srgbClr val="68737A"/>
                </a:solidFill>
                <a:latin typeface="Yu Gothic"/>
                <a:ea typeface="Yu Gothic"/>
              </a:rPr>
              <a:t>／</a:t>
            </a:r>
            <a:r>
              <a:rPr lang="en-US" altLang="ja-JP">
                <a:solidFill>
                  <a:srgbClr val="68737A"/>
                </a:solidFill>
                <a:latin typeface="Yu Gothic"/>
                <a:ea typeface="Yu Gothic"/>
              </a:rPr>
              <a:t>Conformer</a:t>
            </a:r>
            <a:r>
              <a:rPr lang="ja-JP" altLang="en-US">
                <a:solidFill>
                  <a:srgbClr val="68737A"/>
                </a:solidFill>
                <a:latin typeface="Yu Gothic"/>
                <a:ea typeface="Yu Gothic"/>
              </a:rPr>
              <a:t>／</a:t>
            </a:r>
            <a:r>
              <a:rPr lang="en-US" altLang="ja-JP">
                <a:solidFill>
                  <a:srgbClr val="68737A"/>
                </a:solidFill>
                <a:latin typeface="Yu Gothic"/>
                <a:ea typeface="Yu Gothic"/>
              </a:rPr>
              <a:t>AlexNet</a:t>
            </a:r>
            <a:r>
              <a:rPr lang="ja-JP" altLang="en-US">
                <a:solidFill>
                  <a:srgbClr val="68737A"/>
                </a:solidFill>
                <a:latin typeface="Yu Gothic"/>
                <a:ea typeface="Yu Gothic"/>
              </a:rPr>
              <a:t>／統合
強調：</a:t>
            </a:r>
            <a:r>
              <a:rPr lang="en-US" altLang="ja-JP">
                <a:solidFill>
                  <a:srgbClr val="68737A"/>
                </a:solidFill>
                <a:latin typeface="Yu Gothic"/>
                <a:ea typeface="Yu Gothic"/>
              </a:rPr>
              <a:t>AlexNet 0.906</a:t>
            </a:r>
            <a:r>
              <a:rPr lang="ja-JP" altLang="en-US">
                <a:solidFill>
                  <a:srgbClr val="68737A"/>
                </a:solidFill>
                <a:latin typeface="Yu Gothic"/>
                <a:ea typeface="Yu Gothic"/>
              </a:rPr>
              <a:t>、統合 </a:t>
            </a:r>
            <a:r>
              <a:rPr lang="en-US" altLang="ja-JP">
                <a:solidFill>
                  <a:srgbClr val="68737A"/>
                </a:solidFill>
                <a:latin typeface="Yu Gothic"/>
                <a:ea typeface="Yu Gothic"/>
              </a:rPr>
              <a:t>0.904</a:t>
            </a:r>
            <a:endParaRPr lang="ja-JP" altLang="en-US">
              <a:solidFill>
                <a:srgbClr val="68737A"/>
              </a:solidFill>
              <a:latin typeface="Yu Gothic"/>
              <a:ea typeface="Yu Gothic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5C420DC-68E5-42E5-BA22-B3966720D086}"/>
              </a:ext>
            </a:extLst>
          </p:cNvPr>
          <p:cNvSpPr txBox="1"/>
          <p:nvPr/>
        </p:nvSpPr>
        <p:spPr>
          <a:xfrm>
            <a:off x="10731500" y="4381500"/>
            <a:ext cx="4953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200" b="1">
                <a:solidFill>
                  <a:srgbClr val="1B1F23"/>
                </a:solidFill>
                <a:latin typeface="Yu Gothic"/>
                <a:ea typeface="Yu Gothic"/>
              </a:rPr>
              <a:t>右：</a:t>
            </a:r>
            <a:r>
              <a:rPr lang="en-US" altLang="ja-JP" sz="2200" b="1">
                <a:solidFill>
                  <a:srgbClr val="1B1F23"/>
                </a:solidFill>
                <a:latin typeface="Yu Gothic"/>
                <a:ea typeface="Yu Gothic"/>
              </a:rPr>
              <a:t>MAE</a:t>
            </a:r>
            <a:r>
              <a:rPr lang="ja-JP" altLang="en-US" sz="2200" b="1">
                <a:solidFill>
                  <a:srgbClr val="1B1F23"/>
                </a:solidFill>
                <a:latin typeface="Yu Gothic"/>
                <a:ea typeface="Yu Gothic"/>
              </a:rPr>
              <a:t>のドット図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5E5EC0B0-3E24-4363-8E1B-8E78F25AAA9A}"/>
              </a:ext>
            </a:extLst>
          </p:cNvPr>
          <p:cNvSpPr txBox="1"/>
          <p:nvPr/>
        </p:nvSpPr>
        <p:spPr>
          <a:xfrm>
            <a:off x="10350500" y="5143500"/>
            <a:ext cx="5715000" cy="1270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>
                <a:solidFill>
                  <a:srgbClr val="68737A"/>
                </a:solidFill>
                <a:latin typeface="Yu Gothic"/>
                <a:ea typeface="Yu Gothic"/>
              </a:rPr>
              <a:t>RF</a:t>
            </a:r>
            <a:r>
              <a:rPr lang="ja-JP" altLang="en-US">
                <a:solidFill>
                  <a:srgbClr val="68737A"/>
                </a:solidFill>
                <a:latin typeface="Yu Gothic"/>
                <a:ea typeface="Yu Gothic"/>
              </a:rPr>
              <a:t>／</a:t>
            </a:r>
            <a:r>
              <a:rPr lang="en-US" altLang="ja-JP">
                <a:solidFill>
                  <a:srgbClr val="68737A"/>
                </a:solidFill>
                <a:latin typeface="Yu Gothic"/>
                <a:ea typeface="Yu Gothic"/>
              </a:rPr>
              <a:t>Conformer</a:t>
            </a:r>
            <a:r>
              <a:rPr lang="ja-JP" altLang="en-US">
                <a:solidFill>
                  <a:srgbClr val="68737A"/>
                </a:solidFill>
                <a:latin typeface="Yu Gothic"/>
                <a:ea typeface="Yu Gothic"/>
              </a:rPr>
              <a:t>／</a:t>
            </a:r>
            <a:r>
              <a:rPr lang="en-US" altLang="ja-JP">
                <a:solidFill>
                  <a:srgbClr val="68737A"/>
                </a:solidFill>
                <a:latin typeface="Yu Gothic"/>
                <a:ea typeface="Yu Gothic"/>
              </a:rPr>
              <a:t>AlexNet</a:t>
            </a:r>
            <a:r>
              <a:rPr lang="ja-JP" altLang="en-US">
                <a:solidFill>
                  <a:srgbClr val="68737A"/>
                </a:solidFill>
                <a:latin typeface="Yu Gothic"/>
                <a:ea typeface="Yu Gothic"/>
              </a:rPr>
              <a:t>／統合
強調：統合 </a:t>
            </a:r>
            <a:r>
              <a:rPr lang="en-US" altLang="ja-JP">
                <a:solidFill>
                  <a:srgbClr val="68737A"/>
                </a:solidFill>
                <a:latin typeface="Yu Gothic"/>
                <a:ea typeface="Yu Gothic"/>
              </a:rPr>
              <a:t>67.4 kW/m²</a:t>
            </a:r>
            <a:endParaRPr lang="ja-JP" altLang="en-US">
              <a:solidFill>
                <a:srgbClr val="68737A"/>
              </a:solidFill>
              <a:latin typeface="Yu Gothic"/>
              <a:ea typeface="Yu Gothic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BD7E455-CA54-41DE-9E3F-E935B1392208}"/>
              </a:ext>
            </a:extLst>
          </p:cNvPr>
          <p:cNvSpPr txBox="1"/>
          <p:nvPr/>
        </p:nvSpPr>
        <p:spPr>
          <a:xfrm>
            <a:off x="3683000" y="7175500"/>
            <a:ext cx="11303000" cy="5715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1700" b="1">
                <a:solidFill>
                  <a:srgbClr val="2F7377"/>
                </a:solidFill>
                <a:latin typeface="Yu Gothic"/>
                <a:ea typeface="Yu Gothic"/>
              </a:rPr>
              <a:t>図の注記：全域</a:t>
            </a:r>
            <a:r>
              <a:rPr lang="en-US" altLang="ja-JP" sz="1700" b="1">
                <a:solidFill>
                  <a:srgbClr val="2F7377"/>
                </a:solidFill>
                <a:latin typeface="Yu Gothic"/>
                <a:ea typeface="Yu Gothic"/>
              </a:rPr>
              <a:t>R²</a:t>
            </a:r>
            <a:r>
              <a:rPr lang="ja-JP" altLang="en-US" sz="1700" b="1">
                <a:solidFill>
                  <a:srgbClr val="2F7377"/>
                </a:solidFill>
                <a:latin typeface="Yu Gothic"/>
                <a:ea typeface="Yu Gothic"/>
              </a:rPr>
              <a:t>の差は小さいが、</a:t>
            </a:r>
            <a:r>
              <a:rPr lang="en-US" altLang="ja-JP" sz="1700" b="1">
                <a:solidFill>
                  <a:srgbClr val="2F7377"/>
                </a:solidFill>
                <a:latin typeface="Yu Gothic"/>
                <a:ea typeface="Yu Gothic"/>
              </a:rPr>
              <a:t>MAE</a:t>
            </a:r>
            <a:r>
              <a:rPr lang="ja-JP" altLang="en-US" sz="1700" b="1">
                <a:solidFill>
                  <a:srgbClr val="2F7377"/>
                </a:solidFill>
                <a:latin typeface="Yu Gothic"/>
                <a:ea typeface="Yu Gothic"/>
              </a:rPr>
              <a:t>では統合が最良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1C60BB1E-60FB-48A6-90C6-CA24E6D3A82B}"/>
              </a:ext>
            </a:extLst>
          </p:cNvPr>
          <p:cNvSpPr txBox="1"/>
          <p:nvPr/>
        </p:nvSpPr>
        <p:spPr>
          <a:xfrm>
            <a:off x="1498600" y="9525000"/>
            <a:ext cx="15367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zh-TW" sz="1050">
                <a:solidFill>
                  <a:srgbClr val="68737A"/>
                </a:solidFill>
                <a:latin typeface="Yu Gothic"/>
                <a:ea typeface="Yu Gothic"/>
              </a:rPr>
              <a:t>6/11</a:t>
            </a:r>
            <a:r>
              <a:rPr lang="zh-TW" altLang="en-US" sz="1050">
                <a:solidFill>
                  <a:srgbClr val="68737A"/>
                </a:solidFill>
                <a:latin typeface="Yu Gothic"/>
                <a:ea typeface="Yu Gothic"/>
              </a:rPr>
              <a:t>学習 → </a:t>
            </a:r>
            <a:r>
              <a:rPr lang="en-US" altLang="zh-TW" sz="1050">
                <a:solidFill>
                  <a:srgbClr val="68737A"/>
                </a:solidFill>
                <a:latin typeface="Yu Gothic"/>
                <a:ea typeface="Yu Gothic"/>
              </a:rPr>
              <a:t>6/18</a:t>
            </a:r>
            <a:r>
              <a:rPr lang="zh-TW" altLang="en-US" sz="1050">
                <a:solidFill>
                  <a:srgbClr val="68737A"/>
                </a:solidFill>
                <a:latin typeface="Yu Gothic"/>
                <a:ea typeface="Yu Gothic"/>
              </a:rPr>
              <a:t>評価、</a:t>
            </a:r>
            <a:r>
              <a:rPr lang="en-US" altLang="zh-TW" sz="1050">
                <a:solidFill>
                  <a:srgbClr val="68737A"/>
                </a:solidFill>
                <a:latin typeface="Yu Gothic"/>
                <a:ea typeface="Yu Gothic"/>
              </a:rPr>
              <a:t>22 kHz</a:t>
            </a:r>
            <a:r>
              <a:rPr lang="zh-TW" altLang="en-US" sz="1050">
                <a:solidFill>
                  <a:srgbClr val="68737A"/>
                </a:solidFill>
                <a:latin typeface="Yu Gothic"/>
                <a:ea typeface="Yu Gothic"/>
              </a:rPr>
              <a:t>、無雑音、</a:t>
            </a:r>
            <a:r>
              <a:rPr lang="en-US" altLang="zh-TW" sz="1050">
                <a:solidFill>
                  <a:srgbClr val="68737A"/>
                </a:solidFill>
                <a:latin typeface="Yu Gothic"/>
                <a:ea typeface="Yu Gothic"/>
              </a:rPr>
              <a:t>200 epochs</a:t>
            </a:r>
            <a:r>
              <a:rPr lang="zh-TW" altLang="en-US" sz="1050">
                <a:solidFill>
                  <a:srgbClr val="68737A"/>
                </a:solidFill>
                <a:latin typeface="Yu Gothic"/>
                <a:ea typeface="Yu Gothic"/>
              </a:rPr>
              <a:t>、評価</a:t>
            </a:r>
            <a:r>
              <a:rPr lang="en-US" altLang="zh-TW" sz="1050">
                <a:solidFill>
                  <a:srgbClr val="68737A"/>
                </a:solidFill>
                <a:latin typeface="Yu Gothic"/>
                <a:ea typeface="Yu Gothic"/>
              </a:rPr>
              <a:t>1080</a:t>
            </a:r>
            <a:r>
              <a:rPr lang="zh-TW" altLang="en-US" sz="1050">
                <a:solidFill>
                  <a:srgbClr val="68737A"/>
                </a:solidFill>
                <a:latin typeface="Yu Gothic"/>
                <a:ea typeface="Yu Gothic"/>
              </a:rPr>
              <a:t>秒</a:t>
            </a:r>
            <a:endParaRPr lang="ja-JP" altLang="en-US" sz="1050">
              <a:solidFill>
                <a:srgbClr val="68737A"/>
              </a:solidFill>
              <a:latin typeface="Yu Gothic"/>
              <a:ea typeface="Yu Gothic"/>
            </a:endParaRPr>
          </a:p>
        </p:txBody>
      </p:sp>
      <p:sp>
        <p:nvSpPr>
          <p:cNvPr id="27" name="TextBox 24">
            <a:extLst>
              <a:ext uri="{FF2B5EF4-FFF2-40B4-BE49-F238E27FC236}">
                <a16:creationId xmlns:a16="http://schemas.microsoft.com/office/drawing/2014/main" id="{E1901ED1-4445-7B8A-29E0-91B7F9922131}"/>
              </a:ext>
            </a:extLst>
          </p:cNvPr>
          <p:cNvSpPr txBox="1"/>
          <p:nvPr/>
        </p:nvSpPr>
        <p:spPr>
          <a:xfrm>
            <a:off x="1806795" y="305043"/>
            <a:ext cx="9652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altLang="ja-JP" sz="3000" b="1" dirty="0">
                <a:solidFill>
                  <a:srgbClr val="202020"/>
                </a:solidFill>
                <a:latin typeface="Yu Gothic"/>
                <a:ea typeface="Yu Gothic"/>
              </a:rPr>
              <a:t>2. </a:t>
            </a:r>
            <a:r>
              <a:rPr lang="ja-JP" altLang="en-US" sz="3000" b="1" dirty="0">
                <a:solidFill>
                  <a:srgbClr val="202020"/>
                </a:solidFill>
                <a:latin typeface="Yu Gothic"/>
                <a:ea typeface="Yu Gothic"/>
              </a:rPr>
              <a:t>熱流束回帰</a:t>
            </a:r>
          </a:p>
        </p:txBody>
      </p:sp>
    </p:spTree>
    <p:extLst>
      <p:ext uri="{BB962C8B-B14F-4D97-AF65-F5344CB8AC3E}">
        <p14:creationId xmlns:p14="http://schemas.microsoft.com/office/powerpoint/2010/main" val="2044599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882ED-91FB-1FFD-EED9-E2CCF1CB3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75BFE32B-F018-C4E4-FAB7-80C0D2CDC22E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1226A433-2043-B47F-E0E8-72C7A0748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F53AD6DF-8ABC-58C4-0BDA-981F712C660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583BFE6C-617D-A3DC-D51E-18A613389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63EE0EEB-3C48-D4D2-9411-176CDF6BB0D2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66CE81F5-9908-5CB9-4AC3-1FCBE2FF3FAA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F18484CA-1C82-F32C-E492-71BB690B31B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99894FA7-D161-F806-1A5F-52AABFBB084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72556C4C-3473-3018-70C4-085FA6F987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F7A34761-E638-B2A2-9E72-32563CB39D5B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66779A7D-5ECB-D310-B556-EC0E21709B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96F89EAF-9FB5-76B1-24F0-8313C0D5D3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0F7B6D61-78D9-D77B-900A-F293F294C43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3CE663F6-1B9A-DFEE-C6F5-CE676E3CD0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509D1305-F68D-3300-CC15-A5584E7FBB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47B74506-C052-E656-B19A-11FB4A117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6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7EE258D-552F-4529-B810-A20F04138A6E}"/>
              </a:ext>
            </a:extLst>
          </p:cNvPr>
          <p:cNvSpPr txBox="1"/>
          <p:nvPr/>
        </p:nvSpPr>
        <p:spPr>
          <a:xfrm>
            <a:off x="1498600" y="1422400"/>
            <a:ext cx="15494000" cy="965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3200" b="1" dirty="0">
                <a:solidFill>
                  <a:srgbClr val="1B1F23"/>
                </a:solidFill>
                <a:latin typeface="Yu Gothic"/>
                <a:ea typeface="Yu Gothic"/>
              </a:rPr>
              <a:t>統合の</a:t>
            </a:r>
            <a:r>
              <a:rPr lang="en-US" altLang="ja-JP" sz="3200" b="1" dirty="0">
                <a:solidFill>
                  <a:srgbClr val="1B1F23"/>
                </a:solidFill>
                <a:latin typeface="Yu Gothic"/>
                <a:ea typeface="Yu Gothic"/>
              </a:rPr>
              <a:t>AUC</a:t>
            </a:r>
            <a:r>
              <a:rPr lang="ja-JP" altLang="en-US" sz="3200" b="1" dirty="0">
                <a:solidFill>
                  <a:srgbClr val="1B1F23"/>
                </a:solidFill>
                <a:latin typeface="Yu Gothic"/>
                <a:ea typeface="Yu Gothic"/>
              </a:rPr>
              <a:t>は最高、見逃し数は</a:t>
            </a:r>
            <a:r>
              <a:rPr lang="en-US" altLang="ja-JP" sz="3200" b="1" dirty="0">
                <a:solidFill>
                  <a:srgbClr val="1B1F23"/>
                </a:solidFill>
                <a:latin typeface="Yu Gothic"/>
                <a:ea typeface="Yu Gothic"/>
              </a:rPr>
              <a:t>RF</a:t>
            </a:r>
            <a:r>
              <a:rPr lang="ja-JP" altLang="en-US" sz="3200" b="1" dirty="0">
                <a:solidFill>
                  <a:srgbClr val="1B1F23"/>
                </a:solidFill>
                <a:latin typeface="Yu Gothic"/>
                <a:ea typeface="Yu Gothic"/>
              </a:rPr>
              <a:t>が最少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926702D-BD3B-4C27-8AD6-325595ADE81B}"/>
              </a:ext>
            </a:extLst>
          </p:cNvPr>
          <p:cNvSpPr txBox="1"/>
          <p:nvPr/>
        </p:nvSpPr>
        <p:spPr>
          <a:xfrm>
            <a:off x="1841500" y="2603500"/>
            <a:ext cx="88900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n-US" altLang="ja-JP" sz="1700" b="1">
                <a:solidFill>
                  <a:srgbClr val="2F7377"/>
                </a:solidFill>
                <a:latin typeface="Yu Gothic"/>
                <a:ea typeface="Yu Gothic"/>
              </a:rPr>
              <a:t>6/11</a:t>
            </a:r>
            <a:r>
              <a:rPr lang="ja-JP" altLang="en-US" sz="1700" b="1">
                <a:solidFill>
                  <a:srgbClr val="2F7377"/>
                </a:solidFill>
                <a:latin typeface="Yu Gothic"/>
                <a:ea typeface="Yu Gothic"/>
              </a:rPr>
              <a:t>学習 → </a:t>
            </a:r>
            <a:r>
              <a:rPr lang="en-US" altLang="ja-JP" sz="1700" b="1">
                <a:solidFill>
                  <a:srgbClr val="2F7377"/>
                </a:solidFill>
                <a:latin typeface="Yu Gothic"/>
                <a:ea typeface="Yu Gothic"/>
              </a:rPr>
              <a:t>6/18</a:t>
            </a:r>
            <a:r>
              <a:rPr lang="ja-JP" altLang="en-US" sz="1700" b="1">
                <a:solidFill>
                  <a:srgbClr val="2F7377"/>
                </a:solidFill>
                <a:latin typeface="Yu Gothic"/>
                <a:ea typeface="Yu Gothic"/>
              </a:rPr>
              <a:t>評価｜</a:t>
            </a:r>
            <a:r>
              <a:rPr lang="en-US" altLang="ja-JP" sz="1700" b="1">
                <a:solidFill>
                  <a:srgbClr val="2F7377"/>
                </a:solidFill>
                <a:latin typeface="Yu Gothic"/>
                <a:ea typeface="Yu Gothic"/>
              </a:rPr>
              <a:t>4</a:t>
            </a:r>
            <a:r>
              <a:rPr lang="ja-JP" altLang="en-US" sz="1700" b="1">
                <a:solidFill>
                  <a:srgbClr val="2F7377"/>
                </a:solidFill>
                <a:latin typeface="Yu Gothic"/>
                <a:ea typeface="Yu Gothic"/>
              </a:rPr>
              <a:t>モデル比較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849A8FE3-FD11-4441-AB62-309224AB781E}"/>
              </a:ext>
            </a:extLst>
          </p:cNvPr>
          <p:cNvSpPr/>
          <p:nvPr/>
        </p:nvSpPr>
        <p:spPr>
          <a:xfrm>
            <a:off x="1841500" y="3175000"/>
            <a:ext cx="14986000" cy="5080000"/>
          </a:xfrm>
          <a:prstGeom prst="roundRect">
            <a:avLst/>
          </a:prstGeom>
          <a:solidFill>
            <a:srgbClr val="F3F6F6">
              <a:alpha val="93725"/>
            </a:srgbClr>
          </a:solidFill>
          <a:ln w="19050" cap="flat" cmpd="sng" algn="ctr">
            <a:solidFill>
              <a:srgbClr val="69AEB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F9E532-3828-4BFB-98F8-806F52378B9E}"/>
              </a:ext>
            </a:extLst>
          </p:cNvPr>
          <p:cNvSpPr txBox="1"/>
          <p:nvPr/>
        </p:nvSpPr>
        <p:spPr>
          <a:xfrm>
            <a:off x="6350000" y="3492500"/>
            <a:ext cx="5969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400" b="1">
                <a:solidFill>
                  <a:srgbClr val="2F7377"/>
                </a:solidFill>
                <a:latin typeface="Yu Gothic"/>
                <a:ea typeface="Yu Gothic"/>
              </a:rPr>
              <a:t>［結果図を挿入］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8ACA12A3-D9BF-4C63-A5DE-9B03BAD5742B}"/>
              </a:ext>
            </a:extLst>
          </p:cNvPr>
          <p:cNvSpPr/>
          <p:nvPr/>
        </p:nvSpPr>
        <p:spPr>
          <a:xfrm>
            <a:off x="9334500" y="4191000"/>
            <a:ext cx="12700" cy="12700"/>
          </a:xfrm>
          <a:prstGeom prst="rect">
            <a:avLst/>
          </a:prstGeom>
          <a:solidFill>
            <a:srgbClr val="B7C5C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31AE05DE-7B33-4629-BA8B-9A3D515D06FD}"/>
              </a:ext>
            </a:extLst>
          </p:cNvPr>
          <p:cNvSpPr txBox="1"/>
          <p:nvPr/>
        </p:nvSpPr>
        <p:spPr>
          <a:xfrm>
            <a:off x="2603500" y="4381500"/>
            <a:ext cx="5842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200" b="1">
                <a:solidFill>
                  <a:srgbClr val="1B1F23"/>
                </a:solidFill>
                <a:latin typeface="Yu Gothic"/>
                <a:ea typeface="Yu Gothic"/>
              </a:rPr>
              <a:t>左：連続予測 </a:t>
            </a:r>
            <a:r>
              <a:rPr lang="en-US" altLang="ja-JP" sz="2200" b="1">
                <a:solidFill>
                  <a:srgbClr val="1B1F23"/>
                </a:solidFill>
                <a:latin typeface="Yu Gothic"/>
                <a:ea typeface="Yu Gothic"/>
              </a:rPr>
              <a:t>ROC-AUC</a:t>
            </a:r>
            <a:endParaRPr lang="ja-JP" altLang="en-US" sz="2200" b="1">
              <a:solidFill>
                <a:srgbClr val="1B1F23"/>
              </a:solidFill>
              <a:latin typeface="Yu Gothic"/>
              <a:ea typeface="Yu Gothic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03D2B3E-0295-451A-842C-4295F9B11D10}"/>
              </a:ext>
            </a:extLst>
          </p:cNvPr>
          <p:cNvSpPr txBox="1"/>
          <p:nvPr/>
        </p:nvSpPr>
        <p:spPr>
          <a:xfrm>
            <a:off x="2603500" y="5143500"/>
            <a:ext cx="5842000" cy="1168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>
                <a:solidFill>
                  <a:srgbClr val="68737A"/>
                </a:solidFill>
                <a:latin typeface="Yu Gothic"/>
                <a:ea typeface="Yu Gothic"/>
              </a:rPr>
              <a:t>4</a:t>
            </a:r>
            <a:r>
              <a:rPr lang="ja-JP" altLang="en-US">
                <a:solidFill>
                  <a:srgbClr val="68737A"/>
                </a:solidFill>
                <a:latin typeface="Yu Gothic"/>
                <a:ea typeface="Yu Gothic"/>
              </a:rPr>
              <a:t>モデルのドット図
強調：統合 </a:t>
            </a:r>
            <a:r>
              <a:rPr lang="en-US" altLang="ja-JP">
                <a:solidFill>
                  <a:srgbClr val="68737A"/>
                </a:solidFill>
                <a:latin typeface="Yu Gothic"/>
                <a:ea typeface="Yu Gothic"/>
              </a:rPr>
              <a:t>0.962</a:t>
            </a:r>
            <a:r>
              <a:rPr lang="ja-JP" altLang="en-US">
                <a:solidFill>
                  <a:srgbClr val="68737A"/>
                </a:solidFill>
                <a:latin typeface="Yu Gothic"/>
                <a:ea typeface="Yu Gothic"/>
              </a:rPr>
              <a:t>、</a:t>
            </a:r>
            <a:r>
              <a:rPr lang="en-US" altLang="ja-JP">
                <a:solidFill>
                  <a:srgbClr val="68737A"/>
                </a:solidFill>
                <a:latin typeface="Yu Gothic"/>
                <a:ea typeface="Yu Gothic"/>
              </a:rPr>
              <a:t>RF 0.936</a:t>
            </a:r>
            <a:endParaRPr lang="ja-JP" altLang="en-US">
              <a:solidFill>
                <a:srgbClr val="68737A"/>
              </a:solidFill>
              <a:latin typeface="Yu Gothic"/>
              <a:ea typeface="Yu Gothic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8CE4684-576E-477E-BE7F-19CDB2902ED2}"/>
              </a:ext>
            </a:extLst>
          </p:cNvPr>
          <p:cNvSpPr txBox="1"/>
          <p:nvPr/>
        </p:nvSpPr>
        <p:spPr>
          <a:xfrm>
            <a:off x="9969500" y="4381500"/>
            <a:ext cx="6350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100" b="1">
                <a:solidFill>
                  <a:srgbClr val="1B1F23"/>
                </a:solidFill>
                <a:latin typeface="Yu Gothic"/>
                <a:ea typeface="Yu Gothic"/>
              </a:rPr>
              <a:t>右：固定</a:t>
            </a:r>
            <a:r>
              <a:rPr lang="en-US" altLang="ja-JP" sz="2100" b="1">
                <a:solidFill>
                  <a:srgbClr val="1B1F23"/>
                </a:solidFill>
                <a:latin typeface="Yu Gothic"/>
                <a:ea typeface="Yu Gothic"/>
              </a:rPr>
              <a:t>ONB</a:t>
            </a:r>
            <a:r>
              <a:rPr lang="ja-JP" altLang="en-US" sz="2100" b="1">
                <a:solidFill>
                  <a:srgbClr val="1B1F23"/>
                </a:solidFill>
                <a:latin typeface="Yu Gothic"/>
                <a:ea typeface="Yu Gothic"/>
              </a:rPr>
              <a:t>閾値での見逃し数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1940A30F-BC04-4D70-A86C-FC429B70A6EB}"/>
              </a:ext>
            </a:extLst>
          </p:cNvPr>
          <p:cNvSpPr txBox="1"/>
          <p:nvPr/>
        </p:nvSpPr>
        <p:spPr>
          <a:xfrm>
            <a:off x="10223500" y="5143500"/>
            <a:ext cx="5842000" cy="1168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>
                <a:solidFill>
                  <a:srgbClr val="68737A"/>
                </a:solidFill>
                <a:latin typeface="Yu Gothic"/>
                <a:ea typeface="Yu Gothic"/>
              </a:rPr>
              <a:t>4</a:t>
            </a:r>
            <a:r>
              <a:rPr lang="ja-JP" altLang="en-US">
                <a:solidFill>
                  <a:srgbClr val="68737A"/>
                </a:solidFill>
                <a:latin typeface="Yu Gothic"/>
                <a:ea typeface="Yu Gothic"/>
              </a:rPr>
              <a:t>モデルのドット図
統合 </a:t>
            </a:r>
            <a:r>
              <a:rPr lang="en-US" altLang="ja-JP">
                <a:solidFill>
                  <a:srgbClr val="68737A"/>
                </a:solidFill>
                <a:latin typeface="Yu Gothic"/>
                <a:ea typeface="Yu Gothic"/>
              </a:rPr>
              <a:t>114/600</a:t>
            </a:r>
            <a:r>
              <a:rPr lang="ja-JP" altLang="en-US">
                <a:solidFill>
                  <a:srgbClr val="68737A"/>
                </a:solidFill>
                <a:latin typeface="Yu Gothic"/>
                <a:ea typeface="Yu Gothic"/>
              </a:rPr>
              <a:t>秒、</a:t>
            </a:r>
            <a:r>
              <a:rPr lang="en-US" altLang="ja-JP">
                <a:solidFill>
                  <a:srgbClr val="68737A"/>
                </a:solidFill>
                <a:latin typeface="Yu Gothic"/>
                <a:ea typeface="Yu Gothic"/>
              </a:rPr>
              <a:t>RF 103/600</a:t>
            </a:r>
            <a:r>
              <a:rPr lang="ja-JP" altLang="en-US">
                <a:solidFill>
                  <a:srgbClr val="68737A"/>
                </a:solidFill>
                <a:latin typeface="Yu Gothic"/>
                <a:ea typeface="Yu Gothic"/>
              </a:rPr>
              <a:t>秒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AD7FB134-6A62-4C52-AAA9-2DBC9781A0D8}"/>
              </a:ext>
            </a:extLst>
          </p:cNvPr>
          <p:cNvSpPr/>
          <p:nvPr/>
        </p:nvSpPr>
        <p:spPr>
          <a:xfrm>
            <a:off x="11112500" y="6794500"/>
            <a:ext cx="4191000" cy="889000"/>
          </a:xfrm>
          <a:prstGeom prst="roundRect">
            <a:avLst/>
          </a:prstGeom>
          <a:solidFill>
            <a:srgbClr val="EAF3F3">
              <a:alpha val="93725"/>
            </a:srgbClr>
          </a:solidFill>
          <a:ln w="19050" cap="flat" cmpd="sng" algn="ctr">
            <a:solidFill>
              <a:srgbClr val="69AEB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61E5C10C-8ADF-46CC-B873-04577095CC13}"/>
              </a:ext>
            </a:extLst>
          </p:cNvPr>
          <p:cNvSpPr txBox="1"/>
          <p:nvPr/>
        </p:nvSpPr>
        <p:spPr>
          <a:xfrm>
            <a:off x="11430000" y="6985000"/>
            <a:ext cx="3556000" cy="482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b="1">
                <a:solidFill>
                  <a:srgbClr val="2F7377"/>
                </a:solidFill>
                <a:latin typeface="Yu Gothic"/>
                <a:ea typeface="Yu Gothic"/>
              </a:rPr>
              <a:t>RF</a:t>
            </a:r>
            <a:r>
              <a:rPr lang="ja-JP" altLang="en-US" b="1">
                <a:solidFill>
                  <a:srgbClr val="2F7377"/>
                </a:solidFill>
                <a:latin typeface="Yu Gothic"/>
                <a:ea typeface="Yu Gothic"/>
              </a:rPr>
              <a:t>の誤検知：</a:t>
            </a:r>
            <a:r>
              <a:rPr lang="en-US" altLang="ja-JP" b="1">
                <a:solidFill>
                  <a:srgbClr val="2F7377"/>
                </a:solidFill>
                <a:latin typeface="Yu Gothic"/>
                <a:ea typeface="Yu Gothic"/>
              </a:rPr>
              <a:t>2</a:t>
            </a:r>
            <a:r>
              <a:rPr lang="ja-JP" altLang="en-US" b="1">
                <a:solidFill>
                  <a:srgbClr val="2F7377"/>
                </a:solidFill>
                <a:latin typeface="Yu Gothic"/>
                <a:ea typeface="Yu Gothic"/>
              </a:rPr>
              <a:t>秒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0B745CC3-F648-4993-ACA1-C453A39B9805}"/>
              </a:ext>
            </a:extLst>
          </p:cNvPr>
          <p:cNvSpPr txBox="1"/>
          <p:nvPr/>
        </p:nvSpPr>
        <p:spPr>
          <a:xfrm>
            <a:off x="1498600" y="9525000"/>
            <a:ext cx="15367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zh-TW" sz="1050">
                <a:solidFill>
                  <a:srgbClr val="68737A"/>
                </a:solidFill>
                <a:latin typeface="Yu Gothic"/>
                <a:ea typeface="Yu Gothic"/>
              </a:rPr>
              <a:t>6/11</a:t>
            </a:r>
            <a:r>
              <a:rPr lang="zh-TW" altLang="en-US" sz="1050">
                <a:solidFill>
                  <a:srgbClr val="68737A"/>
                </a:solidFill>
                <a:latin typeface="Yu Gothic"/>
                <a:ea typeface="Yu Gothic"/>
              </a:rPr>
              <a:t>学習 → </a:t>
            </a:r>
            <a:r>
              <a:rPr lang="en-US" altLang="zh-TW" sz="1050">
                <a:solidFill>
                  <a:srgbClr val="68737A"/>
                </a:solidFill>
                <a:latin typeface="Yu Gothic"/>
                <a:ea typeface="Yu Gothic"/>
              </a:rPr>
              <a:t>6/18</a:t>
            </a:r>
            <a:r>
              <a:rPr lang="zh-TW" altLang="en-US" sz="1050">
                <a:solidFill>
                  <a:srgbClr val="68737A"/>
                </a:solidFill>
                <a:latin typeface="Yu Gothic"/>
                <a:ea typeface="Yu Gothic"/>
              </a:rPr>
              <a:t>評価、固定</a:t>
            </a:r>
            <a:r>
              <a:rPr lang="en-US" altLang="zh-TW" sz="1050">
                <a:solidFill>
                  <a:srgbClr val="68737A"/>
                </a:solidFill>
                <a:latin typeface="Yu Gothic"/>
                <a:ea typeface="Yu Gothic"/>
              </a:rPr>
              <a:t>ONB</a:t>
            </a:r>
            <a:r>
              <a:rPr lang="zh-TW" altLang="en-US" sz="1050">
                <a:solidFill>
                  <a:srgbClr val="68737A"/>
                </a:solidFill>
                <a:latin typeface="Yu Gothic"/>
                <a:ea typeface="Yu Gothic"/>
              </a:rPr>
              <a:t>閾値、評価</a:t>
            </a:r>
            <a:r>
              <a:rPr lang="en-US" altLang="zh-TW" sz="1050">
                <a:solidFill>
                  <a:srgbClr val="68737A"/>
                </a:solidFill>
                <a:latin typeface="Yu Gothic"/>
                <a:ea typeface="Yu Gothic"/>
              </a:rPr>
              <a:t>1080</a:t>
            </a:r>
            <a:r>
              <a:rPr lang="zh-TW" altLang="en-US" sz="1050">
                <a:solidFill>
                  <a:srgbClr val="68737A"/>
                </a:solidFill>
                <a:latin typeface="Yu Gothic"/>
                <a:ea typeface="Yu Gothic"/>
              </a:rPr>
              <a:t>秒（</a:t>
            </a:r>
            <a:r>
              <a:rPr lang="en-US" altLang="zh-TW" sz="1050">
                <a:solidFill>
                  <a:srgbClr val="68737A"/>
                </a:solidFill>
                <a:latin typeface="Yu Gothic"/>
                <a:ea typeface="Yu Gothic"/>
              </a:rPr>
              <a:t>ONB</a:t>
            </a:r>
            <a:r>
              <a:rPr lang="zh-TW" altLang="en-US" sz="1050">
                <a:solidFill>
                  <a:srgbClr val="68737A"/>
                </a:solidFill>
                <a:latin typeface="Yu Gothic"/>
                <a:ea typeface="Yu Gothic"/>
              </a:rPr>
              <a:t>以降</a:t>
            </a:r>
            <a:r>
              <a:rPr lang="en-US" altLang="zh-TW" sz="1050">
                <a:solidFill>
                  <a:srgbClr val="68737A"/>
                </a:solidFill>
                <a:latin typeface="Yu Gothic"/>
                <a:ea typeface="Yu Gothic"/>
              </a:rPr>
              <a:t>600</a:t>
            </a:r>
            <a:r>
              <a:rPr lang="zh-TW" altLang="en-US" sz="1050">
                <a:solidFill>
                  <a:srgbClr val="68737A"/>
                </a:solidFill>
                <a:latin typeface="Yu Gothic"/>
                <a:ea typeface="Yu Gothic"/>
              </a:rPr>
              <a:t>秒）</a:t>
            </a:r>
            <a:endParaRPr lang="ja-JP" altLang="en-US" sz="1050">
              <a:solidFill>
                <a:srgbClr val="68737A"/>
              </a:solidFill>
              <a:latin typeface="Yu Gothic"/>
              <a:ea typeface="Yu Gothic"/>
            </a:endParaRPr>
          </a:p>
        </p:txBody>
      </p:sp>
      <p:sp>
        <p:nvSpPr>
          <p:cNvPr id="34" name="TextBox 24">
            <a:extLst>
              <a:ext uri="{FF2B5EF4-FFF2-40B4-BE49-F238E27FC236}">
                <a16:creationId xmlns:a16="http://schemas.microsoft.com/office/drawing/2014/main" id="{F284AEA9-5DB7-9086-C598-DC0B48EEA23C}"/>
              </a:ext>
            </a:extLst>
          </p:cNvPr>
          <p:cNvSpPr txBox="1"/>
          <p:nvPr/>
        </p:nvSpPr>
        <p:spPr>
          <a:xfrm>
            <a:off x="1806795" y="305043"/>
            <a:ext cx="9652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altLang="ja-JP" sz="3000" b="1" dirty="0">
                <a:solidFill>
                  <a:srgbClr val="202020"/>
                </a:solidFill>
                <a:latin typeface="Yu Gothic"/>
                <a:ea typeface="Yu Gothic"/>
              </a:rPr>
              <a:t>2. ONB</a:t>
            </a:r>
            <a:r>
              <a:rPr lang="ja-JP" altLang="en-US" sz="3000" b="1" dirty="0">
                <a:solidFill>
                  <a:srgbClr val="202020"/>
                </a:solidFill>
                <a:latin typeface="Yu Gothic"/>
                <a:ea typeface="Yu Gothic"/>
              </a:rPr>
              <a:t>判定</a:t>
            </a:r>
          </a:p>
        </p:txBody>
      </p:sp>
    </p:spTree>
    <p:extLst>
      <p:ext uri="{BB962C8B-B14F-4D97-AF65-F5344CB8AC3E}">
        <p14:creationId xmlns:p14="http://schemas.microsoft.com/office/powerpoint/2010/main" val="17141296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882ED-91FB-1FFD-EED9-E2CCF1CB3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75BFE32B-F018-C4E4-FAB7-80C0D2CDC22E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1226A433-2043-B47F-E0E8-72C7A0748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F53AD6DF-8ABC-58C4-0BDA-981F712C660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583BFE6C-617D-A3DC-D51E-18A6133895A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63EE0EEB-3C48-D4D2-9411-176CDF6BB0D2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66CE81F5-9908-5CB9-4AC3-1FCBE2FF3FAA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F18484CA-1C82-F32C-E492-71BB690B31BD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99894FA7-D161-F806-1A5F-52AABFBB084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72556C4C-3473-3018-70C4-085FA6F987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F7A34761-E638-B2A2-9E72-32563CB39D5B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66779A7D-5ECB-D310-B556-EC0E21709B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96F89EAF-9FB5-76B1-24F0-8313C0D5D3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0F7B6D61-78D9-D77B-900A-F293F294C432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3CE663F6-1B9A-DFEE-C6F5-CE676E3CD077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509D1305-F68D-3300-CC15-A5584E7FBBA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47B74506-C052-E656-B19A-11FB4A117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7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E9A7D45-1AEB-4907-A824-CA66160891B8}"/>
              </a:ext>
            </a:extLst>
          </p:cNvPr>
          <p:cNvSpPr txBox="1"/>
          <p:nvPr/>
        </p:nvSpPr>
        <p:spPr>
          <a:xfrm>
            <a:off x="1498600" y="1422400"/>
            <a:ext cx="15494000" cy="965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3200" b="1" dirty="0">
                <a:solidFill>
                  <a:srgbClr val="1B1F23"/>
                </a:solidFill>
                <a:latin typeface="Yu Gothic"/>
                <a:ea typeface="Yu Gothic"/>
              </a:rPr>
              <a:t>統合は</a:t>
            </a:r>
            <a:r>
              <a:rPr lang="en-US" altLang="ja-JP" sz="3200" b="1" dirty="0">
                <a:solidFill>
                  <a:srgbClr val="1B1F23"/>
                </a:solidFill>
                <a:latin typeface="Yu Gothic"/>
                <a:ea typeface="Yu Gothic"/>
              </a:rPr>
              <a:t>ONB</a:t>
            </a:r>
            <a:r>
              <a:rPr lang="ja-JP" altLang="en-US" sz="3200" b="1" dirty="0">
                <a:solidFill>
                  <a:srgbClr val="1B1F23"/>
                </a:solidFill>
                <a:latin typeface="Yu Gothic"/>
                <a:ea typeface="Yu Gothic"/>
              </a:rPr>
              <a:t>前で改善し、</a:t>
            </a:r>
            <a:r>
              <a:rPr lang="en-US" altLang="ja-JP" sz="3200" b="1" dirty="0">
                <a:solidFill>
                  <a:srgbClr val="1B1F23"/>
                </a:solidFill>
                <a:latin typeface="Yu Gothic"/>
                <a:ea typeface="Yu Gothic"/>
              </a:rPr>
              <a:t>ONB</a:t>
            </a:r>
            <a:r>
              <a:rPr lang="ja-JP" altLang="en-US" sz="3200" b="1" dirty="0">
                <a:solidFill>
                  <a:srgbClr val="1B1F23"/>
                </a:solidFill>
                <a:latin typeface="Yu Gothic"/>
                <a:ea typeface="Yu Gothic"/>
              </a:rPr>
              <a:t>以降で悪化した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B79937D-320A-43AD-AFDC-0111A2FF4F47}"/>
              </a:ext>
            </a:extLst>
          </p:cNvPr>
          <p:cNvSpPr txBox="1"/>
          <p:nvPr/>
        </p:nvSpPr>
        <p:spPr>
          <a:xfrm>
            <a:off x="1841500" y="2603500"/>
            <a:ext cx="96520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n-US" altLang="ja-JP" sz="1700" b="1">
                <a:solidFill>
                  <a:srgbClr val="2F7377"/>
                </a:solidFill>
                <a:latin typeface="Yu Gothic"/>
                <a:ea typeface="Yu Gothic"/>
              </a:rPr>
              <a:t>AlexNet</a:t>
            </a:r>
            <a:r>
              <a:rPr lang="ja-JP" altLang="en-US" sz="1700" b="1">
                <a:solidFill>
                  <a:srgbClr val="2F7377"/>
                </a:solidFill>
                <a:latin typeface="Yu Gothic"/>
                <a:ea typeface="Yu Gothic"/>
              </a:rPr>
              <a:t>と統合の領域別</a:t>
            </a:r>
            <a:r>
              <a:rPr lang="en-US" altLang="ja-JP" sz="1700" b="1">
                <a:solidFill>
                  <a:srgbClr val="2F7377"/>
                </a:solidFill>
                <a:latin typeface="Yu Gothic"/>
                <a:ea typeface="Yu Gothic"/>
              </a:rPr>
              <a:t>RMSE</a:t>
            </a:r>
            <a:r>
              <a:rPr lang="ja-JP" altLang="en-US" sz="1700" b="1">
                <a:solidFill>
                  <a:srgbClr val="2F7377"/>
                </a:solidFill>
                <a:latin typeface="Yu Gothic"/>
                <a:ea typeface="Yu Gothic"/>
              </a:rPr>
              <a:t>（</a:t>
            </a:r>
            <a:r>
              <a:rPr lang="en-US" altLang="ja-JP" sz="1700" b="1">
                <a:solidFill>
                  <a:srgbClr val="2F7377"/>
                </a:solidFill>
                <a:latin typeface="Yu Gothic"/>
                <a:ea typeface="Yu Gothic"/>
              </a:rPr>
              <a:t>kW/m²</a:t>
            </a:r>
            <a:r>
              <a:rPr lang="ja-JP" altLang="en-US" sz="1700" b="1">
                <a:solidFill>
                  <a:srgbClr val="2F7377"/>
                </a:solidFill>
                <a:latin typeface="Yu Gothic"/>
                <a:ea typeface="Yu Gothic"/>
              </a:rPr>
              <a:t>）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9A88084-E6ED-4C8F-86C3-7E929EB18C84}"/>
              </a:ext>
            </a:extLst>
          </p:cNvPr>
          <p:cNvSpPr/>
          <p:nvPr/>
        </p:nvSpPr>
        <p:spPr>
          <a:xfrm>
            <a:off x="1841500" y="3175000"/>
            <a:ext cx="10414000" cy="4953000"/>
          </a:xfrm>
          <a:prstGeom prst="roundRect">
            <a:avLst/>
          </a:prstGeom>
          <a:solidFill>
            <a:srgbClr val="F3F6F6">
              <a:alpha val="93725"/>
            </a:srgbClr>
          </a:solidFill>
          <a:ln w="19050" cap="flat" cmpd="sng" algn="ctr">
            <a:solidFill>
              <a:srgbClr val="69AEB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50D5A78-9FA5-4B13-8FF3-2ECFDA965E1D}"/>
              </a:ext>
            </a:extLst>
          </p:cNvPr>
          <p:cNvSpPr txBox="1"/>
          <p:nvPr/>
        </p:nvSpPr>
        <p:spPr>
          <a:xfrm>
            <a:off x="4000500" y="3492500"/>
            <a:ext cx="60960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300" b="1">
                <a:solidFill>
                  <a:srgbClr val="2F7377"/>
                </a:solidFill>
                <a:latin typeface="Yu Gothic"/>
                <a:ea typeface="Yu Gothic"/>
              </a:rPr>
              <a:t>［領域別</a:t>
            </a:r>
            <a:r>
              <a:rPr lang="en-US" altLang="ja-JP" sz="2300" b="1">
                <a:solidFill>
                  <a:srgbClr val="2F7377"/>
                </a:solidFill>
                <a:latin typeface="Yu Gothic"/>
                <a:ea typeface="Yu Gothic"/>
              </a:rPr>
              <a:t>RMSE</a:t>
            </a:r>
            <a:r>
              <a:rPr lang="ja-JP" altLang="en-US" sz="2300" b="1">
                <a:solidFill>
                  <a:srgbClr val="2F7377"/>
                </a:solidFill>
                <a:latin typeface="Yu Gothic"/>
                <a:ea typeface="Yu Gothic"/>
              </a:rPr>
              <a:t>比較図を挿入］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D3DAD8A-E934-40DA-95C9-0A3BE1038FE9}"/>
              </a:ext>
            </a:extLst>
          </p:cNvPr>
          <p:cNvSpPr txBox="1"/>
          <p:nvPr/>
        </p:nvSpPr>
        <p:spPr>
          <a:xfrm>
            <a:off x="3111500" y="4508500"/>
            <a:ext cx="3048000" cy="482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2100" b="1">
                <a:solidFill>
                  <a:srgbClr val="1B1F23"/>
                </a:solidFill>
                <a:latin typeface="Yu Gothic"/>
                <a:ea typeface="Yu Gothic"/>
              </a:rPr>
              <a:t>ONB</a:t>
            </a:r>
            <a:r>
              <a:rPr lang="ja-JP" altLang="en-US" sz="2100" b="1">
                <a:solidFill>
                  <a:srgbClr val="1B1F23"/>
                </a:solidFill>
                <a:latin typeface="Yu Gothic"/>
                <a:ea typeface="Yu Gothic"/>
              </a:rPr>
              <a:t>前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FFDAD9F-F2AB-4B8F-AD38-0260A67859F9}"/>
              </a:ext>
            </a:extLst>
          </p:cNvPr>
          <p:cNvSpPr txBox="1"/>
          <p:nvPr/>
        </p:nvSpPr>
        <p:spPr>
          <a:xfrm>
            <a:off x="2857500" y="5207000"/>
            <a:ext cx="35560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3000" b="1">
                <a:solidFill>
                  <a:srgbClr val="2F7377"/>
                </a:solidFill>
                <a:latin typeface="Yu Gothic"/>
                <a:ea typeface="Yu Gothic"/>
              </a:rPr>
              <a:t>82.6 → 80.3</a:t>
            </a:r>
            <a:endParaRPr lang="ja-JP" altLang="en-US" sz="3000" b="1">
              <a:solidFill>
                <a:srgbClr val="2F7377"/>
              </a:solidFill>
              <a:latin typeface="Yu Gothic"/>
              <a:ea typeface="Yu Gothic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608C604B-2935-4353-A49D-D222EFF4A290}"/>
              </a:ext>
            </a:extLst>
          </p:cNvPr>
          <p:cNvSpPr txBox="1"/>
          <p:nvPr/>
        </p:nvSpPr>
        <p:spPr>
          <a:xfrm>
            <a:off x="3619500" y="6159500"/>
            <a:ext cx="20320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1700" b="1">
                <a:solidFill>
                  <a:srgbClr val="2F7377"/>
                </a:solidFill>
                <a:latin typeface="Yu Gothic"/>
                <a:ea typeface="Yu Gothic"/>
              </a:rPr>
              <a:t>改善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35F2BA27-B987-4D33-91B6-B48AD1EDEC43}"/>
              </a:ext>
            </a:extLst>
          </p:cNvPr>
          <p:cNvSpPr/>
          <p:nvPr/>
        </p:nvSpPr>
        <p:spPr>
          <a:xfrm>
            <a:off x="7048500" y="4318000"/>
            <a:ext cx="12700" cy="12700"/>
          </a:xfrm>
          <a:prstGeom prst="rect">
            <a:avLst/>
          </a:prstGeom>
          <a:solidFill>
            <a:srgbClr val="B7C5C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C266B5A-6ED6-4BD0-A0C0-AD3EAA42ADD9}"/>
              </a:ext>
            </a:extLst>
          </p:cNvPr>
          <p:cNvSpPr txBox="1"/>
          <p:nvPr/>
        </p:nvSpPr>
        <p:spPr>
          <a:xfrm>
            <a:off x="8064500" y="4508500"/>
            <a:ext cx="3048000" cy="482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2100" b="1">
                <a:solidFill>
                  <a:srgbClr val="1B1F23"/>
                </a:solidFill>
                <a:latin typeface="Yu Gothic"/>
                <a:ea typeface="Yu Gothic"/>
              </a:rPr>
              <a:t>ONB</a:t>
            </a:r>
            <a:r>
              <a:rPr lang="ja-JP" altLang="en-US" sz="2100" b="1">
                <a:solidFill>
                  <a:srgbClr val="1B1F23"/>
                </a:solidFill>
                <a:latin typeface="Yu Gothic"/>
                <a:ea typeface="Yu Gothic"/>
              </a:rPr>
              <a:t>以降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E7624DF-EF0B-476A-8D52-1DD2FB35F159}"/>
              </a:ext>
            </a:extLst>
          </p:cNvPr>
          <p:cNvSpPr txBox="1"/>
          <p:nvPr/>
        </p:nvSpPr>
        <p:spPr>
          <a:xfrm>
            <a:off x="7810500" y="5207000"/>
            <a:ext cx="3556000" cy="787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3000" b="1">
                <a:solidFill>
                  <a:srgbClr val="F59B45"/>
                </a:solidFill>
                <a:latin typeface="Yu Gothic"/>
                <a:ea typeface="Yu Gothic"/>
              </a:rPr>
              <a:t>84.0 → 87.6</a:t>
            </a:r>
            <a:endParaRPr lang="ja-JP" altLang="en-US" sz="3000" b="1">
              <a:solidFill>
                <a:srgbClr val="F59B45"/>
              </a:solidFill>
              <a:latin typeface="Yu Gothic"/>
              <a:ea typeface="Yu Gothic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07DB30DE-789E-4E9A-A4B9-91757533540D}"/>
              </a:ext>
            </a:extLst>
          </p:cNvPr>
          <p:cNvSpPr txBox="1"/>
          <p:nvPr/>
        </p:nvSpPr>
        <p:spPr>
          <a:xfrm>
            <a:off x="8572500" y="6159500"/>
            <a:ext cx="20320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1700" b="1">
                <a:solidFill>
                  <a:srgbClr val="F59B45"/>
                </a:solidFill>
                <a:latin typeface="Yu Gothic"/>
                <a:ea typeface="Yu Gothic"/>
              </a:rPr>
              <a:t>悪化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57EA741-F9C6-42DB-B8CC-3820C036D33D}"/>
              </a:ext>
            </a:extLst>
          </p:cNvPr>
          <p:cNvSpPr txBox="1"/>
          <p:nvPr/>
        </p:nvSpPr>
        <p:spPr>
          <a:xfrm>
            <a:off x="4635500" y="7112000"/>
            <a:ext cx="49530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1600">
                <a:solidFill>
                  <a:srgbClr val="68737A"/>
                </a:solidFill>
                <a:latin typeface="Yu Gothic"/>
                <a:ea typeface="Yu Gothic"/>
              </a:rPr>
              <a:t>左値：</a:t>
            </a:r>
            <a:r>
              <a:rPr lang="en-US" altLang="ja-JP" sz="1600">
                <a:solidFill>
                  <a:srgbClr val="68737A"/>
                </a:solidFill>
                <a:latin typeface="Yu Gothic"/>
                <a:ea typeface="Yu Gothic"/>
              </a:rPr>
              <a:t>AlexNet</a:t>
            </a:r>
            <a:r>
              <a:rPr lang="ja-JP" altLang="en-US" sz="1600">
                <a:solidFill>
                  <a:srgbClr val="68737A"/>
                </a:solidFill>
                <a:latin typeface="Yu Gothic"/>
                <a:ea typeface="Yu Gothic"/>
              </a:rPr>
              <a:t>　→　右値：統合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7F6361F7-8056-4346-8816-83DFAC3B6DA6}"/>
              </a:ext>
            </a:extLst>
          </p:cNvPr>
          <p:cNvSpPr/>
          <p:nvPr/>
        </p:nvSpPr>
        <p:spPr>
          <a:xfrm>
            <a:off x="12700000" y="3175000"/>
            <a:ext cx="4127500" cy="1968500"/>
          </a:xfrm>
          <a:prstGeom prst="roundRect">
            <a:avLst/>
          </a:prstGeom>
          <a:solidFill>
            <a:srgbClr val="EAF3F3">
              <a:alpha val="93725"/>
            </a:srgbClr>
          </a:solidFill>
          <a:ln w="19050" cap="flat" cmpd="sng" algn="ctr">
            <a:solidFill>
              <a:srgbClr val="69AEB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BFDBC008-F4A0-4CEB-AD0F-D0ABC2F4F826}"/>
              </a:ext>
            </a:extLst>
          </p:cNvPr>
          <p:cNvSpPr txBox="1"/>
          <p:nvPr/>
        </p:nvSpPr>
        <p:spPr>
          <a:xfrm>
            <a:off x="13081000" y="3492500"/>
            <a:ext cx="33655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700" b="1">
                <a:solidFill>
                  <a:srgbClr val="2F7377"/>
                </a:solidFill>
                <a:latin typeface="Yu Gothic"/>
                <a:ea typeface="Yu Gothic"/>
              </a:rPr>
              <a:t>Conformer</a:t>
            </a:r>
            <a:r>
              <a:rPr lang="ja-JP" altLang="en-US" sz="1700" b="1">
                <a:solidFill>
                  <a:srgbClr val="2F7377"/>
                </a:solidFill>
                <a:latin typeface="Yu Gothic"/>
                <a:ea typeface="Yu Gothic"/>
              </a:rPr>
              <a:t>への重み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0594BBEB-D0CD-4971-BF96-D312896A5380}"/>
              </a:ext>
            </a:extLst>
          </p:cNvPr>
          <p:cNvSpPr txBox="1"/>
          <p:nvPr/>
        </p:nvSpPr>
        <p:spPr>
          <a:xfrm>
            <a:off x="13525500" y="4064000"/>
            <a:ext cx="2476500" cy="6985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3100" b="1">
                <a:solidFill>
                  <a:srgbClr val="1B1F23"/>
                </a:solidFill>
                <a:latin typeface="Yu Gothic"/>
                <a:ea typeface="Yu Gothic"/>
              </a:rPr>
              <a:t>0.51</a:t>
            </a:r>
            <a:endParaRPr lang="ja-JP" altLang="en-US" sz="3100" b="1">
              <a:solidFill>
                <a:srgbClr val="1B1F23"/>
              </a:solidFill>
              <a:latin typeface="Yu Gothic"/>
              <a:ea typeface="Yu Gothic"/>
            </a:endParaRP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78E5AACA-D0F8-40AB-AC06-00429BBFBA56}"/>
              </a:ext>
            </a:extLst>
          </p:cNvPr>
          <p:cNvSpPr/>
          <p:nvPr/>
        </p:nvSpPr>
        <p:spPr>
          <a:xfrm>
            <a:off x="12700000" y="5461000"/>
            <a:ext cx="4127500" cy="2667000"/>
          </a:xfrm>
          <a:prstGeom prst="roundRect">
            <a:avLst/>
          </a:prstGeom>
          <a:solidFill>
            <a:srgbClr val="FFF6ED">
              <a:alpha val="93725"/>
            </a:srgbClr>
          </a:solidFill>
          <a:ln w="19050" cap="flat" cmpd="sng" algn="ctr">
            <a:solidFill>
              <a:srgbClr val="F59B4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930B8455-BC80-4A98-BBA6-21AE8E2B989C}"/>
              </a:ext>
            </a:extLst>
          </p:cNvPr>
          <p:cNvSpPr txBox="1"/>
          <p:nvPr/>
        </p:nvSpPr>
        <p:spPr>
          <a:xfrm>
            <a:off x="13081000" y="5778500"/>
            <a:ext cx="33655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1700" b="1">
                <a:solidFill>
                  <a:srgbClr val="A85B16"/>
                </a:solidFill>
                <a:latin typeface="Yu Gothic"/>
                <a:ea typeface="Yu Gothic"/>
              </a:rPr>
              <a:t>解釈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E4F4218-6401-4FFF-BD55-906DC4CC1BFC}"/>
              </a:ext>
            </a:extLst>
          </p:cNvPr>
          <p:cNvSpPr txBox="1"/>
          <p:nvPr/>
        </p:nvSpPr>
        <p:spPr>
          <a:xfrm>
            <a:off x="13144500" y="6350000"/>
            <a:ext cx="3238500" cy="889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1900" b="1">
                <a:solidFill>
                  <a:srgbClr val="1B1F23"/>
                </a:solidFill>
                <a:latin typeface="Yu Gothic"/>
                <a:ea typeface="Yu Gothic"/>
              </a:rPr>
              <a:t>重みが領域別性能に
合っていない可能性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F3522265-C036-45D5-9100-B777C5EE8E8E}"/>
              </a:ext>
            </a:extLst>
          </p:cNvPr>
          <p:cNvSpPr txBox="1"/>
          <p:nvPr/>
        </p:nvSpPr>
        <p:spPr>
          <a:xfrm>
            <a:off x="13144500" y="7302500"/>
            <a:ext cx="3238500" cy="609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1400">
                <a:solidFill>
                  <a:srgbClr val="68737A"/>
                </a:solidFill>
                <a:latin typeface="Yu Gothic"/>
                <a:ea typeface="Yu Gothic"/>
              </a:rPr>
              <a:t>全域</a:t>
            </a:r>
            <a:r>
              <a:rPr lang="en-US" altLang="ja-JP" sz="1400">
                <a:solidFill>
                  <a:srgbClr val="68737A"/>
                </a:solidFill>
                <a:latin typeface="Yu Gothic"/>
                <a:ea typeface="Yu Gothic"/>
              </a:rPr>
              <a:t>R²</a:t>
            </a:r>
            <a:r>
              <a:rPr lang="ja-JP" altLang="en-US" sz="1400">
                <a:solidFill>
                  <a:srgbClr val="68737A"/>
                </a:solidFill>
                <a:latin typeface="Yu Gothic"/>
                <a:ea typeface="Yu Gothic"/>
              </a:rPr>
              <a:t>：</a:t>
            </a:r>
            <a:r>
              <a:rPr lang="en-US" altLang="ja-JP" sz="1400">
                <a:solidFill>
                  <a:srgbClr val="68737A"/>
                </a:solidFill>
                <a:latin typeface="Yu Gothic"/>
                <a:ea typeface="Yu Gothic"/>
              </a:rPr>
              <a:t>0.906 vs 0.904
MAE</a:t>
            </a:r>
            <a:r>
              <a:rPr lang="ja-JP" altLang="en-US" sz="1400">
                <a:solidFill>
                  <a:srgbClr val="68737A"/>
                </a:solidFill>
                <a:latin typeface="Yu Gothic"/>
                <a:ea typeface="Yu Gothic"/>
              </a:rPr>
              <a:t>・</a:t>
            </a:r>
            <a:r>
              <a:rPr lang="en-US" altLang="ja-JP" sz="1400">
                <a:solidFill>
                  <a:srgbClr val="68737A"/>
                </a:solidFill>
                <a:latin typeface="Yu Gothic"/>
                <a:ea typeface="Yu Gothic"/>
              </a:rPr>
              <a:t>AUC</a:t>
            </a:r>
            <a:r>
              <a:rPr lang="ja-JP" altLang="en-US" sz="1400">
                <a:solidFill>
                  <a:srgbClr val="68737A"/>
                </a:solidFill>
                <a:latin typeface="Yu Gothic"/>
                <a:ea typeface="Yu Gothic"/>
              </a:rPr>
              <a:t>：統合が最良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ABD34FD5-C022-478F-8B8F-2CE245F4BC18}"/>
              </a:ext>
            </a:extLst>
          </p:cNvPr>
          <p:cNvSpPr txBox="1"/>
          <p:nvPr/>
        </p:nvSpPr>
        <p:spPr>
          <a:xfrm>
            <a:off x="1498600" y="9525000"/>
            <a:ext cx="153670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1050">
                <a:solidFill>
                  <a:srgbClr val="68737A"/>
                </a:solidFill>
                <a:latin typeface="Yu Gothic"/>
                <a:ea typeface="Yu Gothic"/>
              </a:rPr>
              <a:t>結論：指標と熱流束領域によって、単体モデルと統合の優位が変わる</a:t>
            </a:r>
          </a:p>
        </p:txBody>
      </p:sp>
      <p:sp>
        <p:nvSpPr>
          <p:cNvPr id="35" name="TextBox 24">
            <a:extLst>
              <a:ext uri="{FF2B5EF4-FFF2-40B4-BE49-F238E27FC236}">
                <a16:creationId xmlns:a16="http://schemas.microsoft.com/office/drawing/2014/main" id="{9A3507FF-303C-6D80-7BF0-B884BBA3DB0B}"/>
              </a:ext>
            </a:extLst>
          </p:cNvPr>
          <p:cNvSpPr txBox="1"/>
          <p:nvPr/>
        </p:nvSpPr>
        <p:spPr>
          <a:xfrm>
            <a:off x="1806795" y="305043"/>
            <a:ext cx="9652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altLang="ja-JP" sz="3000" b="1" dirty="0">
                <a:solidFill>
                  <a:srgbClr val="202020"/>
                </a:solidFill>
                <a:latin typeface="Yu Gothic"/>
                <a:ea typeface="Yu Gothic"/>
              </a:rPr>
              <a:t>2. </a:t>
            </a:r>
            <a:r>
              <a:rPr lang="ja-JP" altLang="en-US" sz="3000" b="1" dirty="0">
                <a:solidFill>
                  <a:srgbClr val="202020"/>
                </a:solidFill>
                <a:latin typeface="Yu Gothic"/>
                <a:ea typeface="Yu Gothic"/>
              </a:rPr>
              <a:t>統合結果の分析</a:t>
            </a:r>
          </a:p>
        </p:txBody>
      </p:sp>
    </p:spTree>
    <p:extLst>
      <p:ext uri="{BB962C8B-B14F-4D97-AF65-F5344CB8AC3E}">
        <p14:creationId xmlns:p14="http://schemas.microsoft.com/office/powerpoint/2010/main" val="1712969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C6B7A-BBA2-7F7C-7C94-C50C16F85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D53115BB-4676-8FEF-7373-A118571B75B5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DC50DE46-9569-2CF9-EEFD-5E4269CF5D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32F39ADD-556E-FD1C-8606-2D1BF514D630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CB3E2A75-09AC-578E-12EB-B6B0417CA1E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フローチャート: 論理積ゲート 60">
              <a:extLst>
                <a:ext uri="{FF2B5EF4-FFF2-40B4-BE49-F238E27FC236}">
                  <a16:creationId xmlns:a16="http://schemas.microsoft.com/office/drawing/2014/main" id="{B65B272C-A5D5-4CB5-BC19-E30EA1D49C2B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2" name="Group 3">
            <a:extLst>
              <a:ext uri="{FF2B5EF4-FFF2-40B4-BE49-F238E27FC236}">
                <a16:creationId xmlns:a16="http://schemas.microsoft.com/office/drawing/2014/main" id="{DF2F1FC0-E61B-F7F2-CC05-9284F1F874A9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63" name="Group 4">
              <a:extLst>
                <a:ext uri="{FF2B5EF4-FFF2-40B4-BE49-F238E27FC236}">
                  <a16:creationId xmlns:a16="http://schemas.microsoft.com/office/drawing/2014/main" id="{C9F44B98-80E0-A756-8887-6397FCA0767C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2E8A69AF-5FB0-9637-3552-65D6D000109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71" name="TextBox 6">
                <a:extLst>
                  <a:ext uri="{FF2B5EF4-FFF2-40B4-BE49-F238E27FC236}">
                    <a16:creationId xmlns:a16="http://schemas.microsoft.com/office/drawing/2014/main" id="{E6D22F2B-0227-2669-DB06-9260C7E4EC6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4" name="Group 7">
              <a:extLst>
                <a:ext uri="{FF2B5EF4-FFF2-40B4-BE49-F238E27FC236}">
                  <a16:creationId xmlns:a16="http://schemas.microsoft.com/office/drawing/2014/main" id="{DD791D53-6622-F6E6-468E-FA0E40BA8BDC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68" name="Freeform 8">
                <a:extLst>
                  <a:ext uri="{FF2B5EF4-FFF2-40B4-BE49-F238E27FC236}">
                    <a16:creationId xmlns:a16="http://schemas.microsoft.com/office/drawing/2014/main" id="{658A6FCA-2782-60E6-8ED8-8BBCA1B74E7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9" name="TextBox 9">
                <a:extLst>
                  <a:ext uri="{FF2B5EF4-FFF2-40B4-BE49-F238E27FC236}">
                    <a16:creationId xmlns:a16="http://schemas.microsoft.com/office/drawing/2014/main" id="{1C0DB6D5-1F47-662F-F20C-5C60496C1C3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65" name="Group 10">
              <a:extLst>
                <a:ext uri="{FF2B5EF4-FFF2-40B4-BE49-F238E27FC236}">
                  <a16:creationId xmlns:a16="http://schemas.microsoft.com/office/drawing/2014/main" id="{BA5A87E2-7EB4-701B-D4E9-29108DE56E26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66" name="Freeform 11">
                <a:extLst>
                  <a:ext uri="{FF2B5EF4-FFF2-40B4-BE49-F238E27FC236}">
                    <a16:creationId xmlns:a16="http://schemas.microsoft.com/office/drawing/2014/main" id="{A2A54EDF-CE99-D170-6E87-5E37252FA44F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67" name="TextBox 12">
                <a:extLst>
                  <a:ext uri="{FF2B5EF4-FFF2-40B4-BE49-F238E27FC236}">
                    <a16:creationId xmlns:a16="http://schemas.microsoft.com/office/drawing/2014/main" id="{40A00CD3-1C19-635B-A208-D902D538413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72" name="スライド番号プレースホルダー 28">
            <a:extLst>
              <a:ext uri="{FF2B5EF4-FFF2-40B4-BE49-F238E27FC236}">
                <a16:creationId xmlns:a16="http://schemas.microsoft.com/office/drawing/2014/main" id="{01D2D754-48E3-D797-3CDA-7E4DF46DD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70494" y="9748987"/>
            <a:ext cx="599456" cy="462299"/>
          </a:xfrm>
        </p:spPr>
        <p:txBody>
          <a:bodyPr/>
          <a:lstStyle/>
          <a:p>
            <a:fld id="{B6F15528-21DE-4FAA-801E-634DDDAF4B2B}" type="slidenum">
              <a:rPr lang="en-US" sz="2400" smtClean="0">
                <a:solidFill>
                  <a:schemeClr val="bg1"/>
                </a:solidFill>
              </a:rPr>
              <a:pPr/>
              <a:t>8</a:t>
            </a:fld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03F18AA-4911-423E-A3F4-5D9D577937E8}"/>
              </a:ext>
            </a:extLst>
          </p:cNvPr>
          <p:cNvSpPr txBox="1"/>
          <p:nvPr/>
        </p:nvSpPr>
        <p:spPr>
          <a:xfrm>
            <a:off x="1587500" y="1422400"/>
            <a:ext cx="15367000" cy="914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3200" b="1" dirty="0">
                <a:solidFill>
                  <a:srgbClr val="1B1F23"/>
                </a:solidFill>
                <a:latin typeface="Yu Gothic"/>
                <a:ea typeface="Yu Gothic"/>
              </a:rPr>
              <a:t>モデルごとに反応する周波数帯が異なる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3BAB8CA-6DE6-4B36-AC15-0F187D182E16}"/>
              </a:ext>
            </a:extLst>
          </p:cNvPr>
          <p:cNvSpPr txBox="1"/>
          <p:nvPr/>
        </p:nvSpPr>
        <p:spPr>
          <a:xfrm>
            <a:off x="1841500" y="2794000"/>
            <a:ext cx="10795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n-US" altLang="ja-JP" sz="1700" b="1">
                <a:solidFill>
                  <a:srgbClr val="2F7377"/>
                </a:solidFill>
                <a:latin typeface="Yu Gothic"/>
                <a:ea typeface="Yu Gothic"/>
              </a:rPr>
              <a:t>6/18</a:t>
            </a:r>
            <a:r>
              <a:rPr lang="ja-JP" altLang="en-US" sz="1700" b="1">
                <a:solidFill>
                  <a:srgbClr val="2F7377"/>
                </a:solidFill>
                <a:latin typeface="Yu Gothic"/>
                <a:ea typeface="Yu Gothic"/>
              </a:rPr>
              <a:t>の全</a:t>
            </a:r>
            <a:r>
              <a:rPr lang="en-US" altLang="ja-JP" sz="1700" b="1">
                <a:solidFill>
                  <a:srgbClr val="2F7377"/>
                </a:solidFill>
                <a:latin typeface="Yu Gothic"/>
                <a:ea typeface="Yu Gothic"/>
              </a:rPr>
              <a:t>1080</a:t>
            </a:r>
            <a:r>
              <a:rPr lang="ja-JP" altLang="en-US" sz="1700" b="1">
                <a:solidFill>
                  <a:srgbClr val="2F7377"/>
                </a:solidFill>
                <a:latin typeface="Yu Gothic"/>
                <a:ea typeface="Yu Gothic"/>
              </a:rPr>
              <a:t>秒で帯域をゼロにした結果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133F420-78A5-46C7-BBCE-3A69DA811AAB}"/>
              </a:ext>
            </a:extLst>
          </p:cNvPr>
          <p:cNvSpPr txBox="1"/>
          <p:nvPr/>
        </p:nvSpPr>
        <p:spPr>
          <a:xfrm>
            <a:off x="1841500" y="3810000"/>
            <a:ext cx="1270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b="1">
                <a:solidFill>
                  <a:srgbClr val="222222"/>
                </a:solidFill>
                <a:latin typeface="Yu Gothic"/>
                <a:ea typeface="Yu Gothic"/>
              </a:rPr>
              <a:t>RF</a:t>
            </a:r>
            <a:endParaRPr lang="ja-JP" altLang="en-US" b="1">
              <a:solidFill>
                <a:srgbClr val="222222"/>
              </a:solidFill>
              <a:latin typeface="Yu Gothic"/>
              <a:ea typeface="Yu Gothic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7FA128E-A803-4837-9511-A2C2980B19EB}"/>
              </a:ext>
            </a:extLst>
          </p:cNvPr>
          <p:cNvSpPr/>
          <p:nvPr/>
        </p:nvSpPr>
        <p:spPr>
          <a:xfrm>
            <a:off x="3175000" y="3873500"/>
            <a:ext cx="11811000" cy="444500"/>
          </a:xfrm>
          <a:prstGeom prst="rect">
            <a:avLst/>
          </a:prstGeom>
          <a:solidFill>
            <a:srgbClr val="E7ECEC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4E9A3CE-0D2E-4952-ADBB-F68A39020B34}"/>
              </a:ext>
            </a:extLst>
          </p:cNvPr>
          <p:cNvSpPr/>
          <p:nvPr/>
        </p:nvSpPr>
        <p:spPr>
          <a:xfrm>
            <a:off x="4248727" y="3873500"/>
            <a:ext cx="1610590" cy="444500"/>
          </a:xfrm>
          <a:prstGeom prst="rect">
            <a:avLst/>
          </a:prstGeom>
          <a:solidFill>
            <a:srgbClr val="5FA7A5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F332AAA-C71B-4B69-B895-CC1F59CBED76}"/>
              </a:ext>
            </a:extLst>
          </p:cNvPr>
          <p:cNvSpPr txBox="1"/>
          <p:nvPr/>
        </p:nvSpPr>
        <p:spPr>
          <a:xfrm>
            <a:off x="15176500" y="3810000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900" b="1">
                <a:solidFill>
                  <a:srgbClr val="5FA7A5"/>
                </a:solidFill>
                <a:latin typeface="Yu Gothic"/>
                <a:ea typeface="Yu Gothic"/>
              </a:rPr>
              <a:t>2–5 kHz</a:t>
            </a:r>
            <a:endParaRPr lang="ja-JP" altLang="en-US" sz="1900" b="1">
              <a:solidFill>
                <a:srgbClr val="5FA7A5"/>
              </a:solidFill>
              <a:latin typeface="Yu Gothic"/>
              <a:ea typeface="Yu Gothic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B1D5A6A-F99E-4595-ABDD-45CC367935AD}"/>
              </a:ext>
            </a:extLst>
          </p:cNvPr>
          <p:cNvSpPr txBox="1"/>
          <p:nvPr/>
        </p:nvSpPr>
        <p:spPr>
          <a:xfrm>
            <a:off x="1841500" y="5334000"/>
            <a:ext cx="1270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92500" lnSpcReduction="10000"/>
          </a:bodyPr>
          <a:lstStyle/>
          <a:p>
            <a:pPr algn="l"/>
            <a:r>
              <a:rPr lang="en-US" altLang="ja-JP" b="1">
                <a:solidFill>
                  <a:srgbClr val="222222"/>
                </a:solidFill>
                <a:latin typeface="Yu Gothic"/>
                <a:ea typeface="Yu Gothic"/>
              </a:rPr>
              <a:t>Conformer</a:t>
            </a:r>
            <a:endParaRPr lang="ja-JP" altLang="en-US" b="1">
              <a:solidFill>
                <a:srgbClr val="222222"/>
              </a:solidFill>
              <a:latin typeface="Yu Gothic"/>
              <a:ea typeface="Yu Gothic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6F5FBFE-1851-4ABD-B156-6CAAD4A02ED6}"/>
              </a:ext>
            </a:extLst>
          </p:cNvPr>
          <p:cNvSpPr/>
          <p:nvPr/>
        </p:nvSpPr>
        <p:spPr>
          <a:xfrm>
            <a:off x="3175000" y="5397500"/>
            <a:ext cx="11811000" cy="444500"/>
          </a:xfrm>
          <a:prstGeom prst="rect">
            <a:avLst/>
          </a:prstGeom>
          <a:solidFill>
            <a:srgbClr val="E7ECEC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2BD56B2-09A4-4107-8243-B12D9F7E95CB}"/>
              </a:ext>
            </a:extLst>
          </p:cNvPr>
          <p:cNvSpPr/>
          <p:nvPr/>
        </p:nvSpPr>
        <p:spPr>
          <a:xfrm>
            <a:off x="11227954" y="5397500"/>
            <a:ext cx="3758045" cy="444500"/>
          </a:xfrm>
          <a:prstGeom prst="rect">
            <a:avLst/>
          </a:prstGeom>
          <a:solidFill>
            <a:srgbClr val="F39A43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1A2392F-5F10-43B0-8DC2-77E47BA6B34A}"/>
              </a:ext>
            </a:extLst>
          </p:cNvPr>
          <p:cNvSpPr txBox="1"/>
          <p:nvPr/>
        </p:nvSpPr>
        <p:spPr>
          <a:xfrm>
            <a:off x="15176500" y="5334000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900" b="1">
                <a:solidFill>
                  <a:srgbClr val="F39A43"/>
                </a:solidFill>
                <a:latin typeface="Yu Gothic"/>
                <a:ea typeface="Yu Gothic"/>
              </a:rPr>
              <a:t>15–22 kHz</a:t>
            </a:r>
            <a:endParaRPr lang="ja-JP" altLang="en-US" sz="1900" b="1">
              <a:solidFill>
                <a:srgbClr val="F39A43"/>
              </a:solidFill>
              <a:latin typeface="Yu Gothic"/>
              <a:ea typeface="Yu Gothic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9F886E5-322E-46BC-856A-E315E4A7A3DA}"/>
              </a:ext>
            </a:extLst>
          </p:cNvPr>
          <p:cNvSpPr txBox="1"/>
          <p:nvPr/>
        </p:nvSpPr>
        <p:spPr>
          <a:xfrm>
            <a:off x="1841500" y="6858000"/>
            <a:ext cx="12700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b="1">
                <a:solidFill>
                  <a:srgbClr val="222222"/>
                </a:solidFill>
                <a:latin typeface="Yu Gothic"/>
                <a:ea typeface="Yu Gothic"/>
              </a:rPr>
              <a:t>AlexNet</a:t>
            </a:r>
            <a:endParaRPr lang="ja-JP" altLang="en-US" b="1">
              <a:solidFill>
                <a:srgbClr val="222222"/>
              </a:solidFill>
              <a:latin typeface="Yu Gothic"/>
              <a:ea typeface="Yu Gothic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8EDC8161-4868-4E1C-9D4D-EAADED2262B1}"/>
              </a:ext>
            </a:extLst>
          </p:cNvPr>
          <p:cNvSpPr/>
          <p:nvPr/>
        </p:nvSpPr>
        <p:spPr>
          <a:xfrm>
            <a:off x="3175000" y="6921500"/>
            <a:ext cx="11811000" cy="444500"/>
          </a:xfrm>
          <a:prstGeom prst="rect">
            <a:avLst/>
          </a:prstGeom>
          <a:solidFill>
            <a:srgbClr val="E7ECEC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A29C0316-F10A-49A7-B19C-3185A3A67D9B}"/>
              </a:ext>
            </a:extLst>
          </p:cNvPr>
          <p:cNvSpPr/>
          <p:nvPr/>
        </p:nvSpPr>
        <p:spPr>
          <a:xfrm>
            <a:off x="3711863" y="6921500"/>
            <a:ext cx="536863" cy="444500"/>
          </a:xfrm>
          <a:prstGeom prst="rect">
            <a:avLst/>
          </a:prstGeom>
          <a:solidFill>
            <a:srgbClr val="6D7FB3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2BF3D6B2-42AA-4705-B890-B9AA472FA6F6}"/>
              </a:ext>
            </a:extLst>
          </p:cNvPr>
          <p:cNvSpPr txBox="1"/>
          <p:nvPr/>
        </p:nvSpPr>
        <p:spPr>
          <a:xfrm>
            <a:off x="15176500" y="6858000"/>
            <a:ext cx="1714500" cy="571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900" b="1">
                <a:solidFill>
                  <a:srgbClr val="6D7FB3"/>
                </a:solidFill>
                <a:latin typeface="Yu Gothic"/>
                <a:ea typeface="Yu Gothic"/>
              </a:rPr>
              <a:t>1–2 kHz</a:t>
            </a:r>
            <a:endParaRPr lang="ja-JP" altLang="en-US" sz="1900" b="1">
              <a:solidFill>
                <a:srgbClr val="6D7FB3"/>
              </a:solidFill>
              <a:latin typeface="Yu Gothic"/>
              <a:ea typeface="Yu Gothic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DD19A73A-1A38-49E0-BB22-5302F62EBDA1}"/>
              </a:ext>
            </a:extLst>
          </p:cNvPr>
          <p:cNvSpPr/>
          <p:nvPr/>
        </p:nvSpPr>
        <p:spPr>
          <a:xfrm>
            <a:off x="3175000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E24F8509-84B5-460E-ADBD-309B88FB30CE}"/>
              </a:ext>
            </a:extLst>
          </p:cNvPr>
          <p:cNvSpPr txBox="1"/>
          <p:nvPr/>
        </p:nvSpPr>
        <p:spPr>
          <a:xfrm>
            <a:off x="2984500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0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F22DCB6C-AB0C-4767-8D60-860F6462378C}"/>
              </a:ext>
            </a:extLst>
          </p:cNvPr>
          <p:cNvSpPr/>
          <p:nvPr/>
        </p:nvSpPr>
        <p:spPr>
          <a:xfrm>
            <a:off x="4248727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3D1D90E-584F-4940-BC5A-61C2CAA9D610}"/>
              </a:ext>
            </a:extLst>
          </p:cNvPr>
          <p:cNvSpPr txBox="1"/>
          <p:nvPr/>
        </p:nvSpPr>
        <p:spPr>
          <a:xfrm>
            <a:off x="4058227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B16A883A-545D-4598-B9C2-18686166A09E}"/>
              </a:ext>
            </a:extLst>
          </p:cNvPr>
          <p:cNvSpPr/>
          <p:nvPr/>
        </p:nvSpPr>
        <p:spPr>
          <a:xfrm>
            <a:off x="5322454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45240B9E-BD4A-4F83-977A-58466DAE8E2A}"/>
              </a:ext>
            </a:extLst>
          </p:cNvPr>
          <p:cNvSpPr txBox="1"/>
          <p:nvPr/>
        </p:nvSpPr>
        <p:spPr>
          <a:xfrm>
            <a:off x="5131954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4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F98C6A33-9694-46C7-9100-15BE7474CEA3}"/>
              </a:ext>
            </a:extLst>
          </p:cNvPr>
          <p:cNvSpPr/>
          <p:nvPr/>
        </p:nvSpPr>
        <p:spPr>
          <a:xfrm>
            <a:off x="6396181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02C43E4B-1F2F-42DA-BFB0-65F82E96C9F1}"/>
              </a:ext>
            </a:extLst>
          </p:cNvPr>
          <p:cNvSpPr txBox="1"/>
          <p:nvPr/>
        </p:nvSpPr>
        <p:spPr>
          <a:xfrm>
            <a:off x="6205681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6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8A69CBDE-8397-44AC-B4C9-1247857156BA}"/>
              </a:ext>
            </a:extLst>
          </p:cNvPr>
          <p:cNvSpPr/>
          <p:nvPr/>
        </p:nvSpPr>
        <p:spPr>
          <a:xfrm>
            <a:off x="7469909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81EE2B4-C9A7-43D3-916E-97183F2E58FB}"/>
              </a:ext>
            </a:extLst>
          </p:cNvPr>
          <p:cNvSpPr txBox="1"/>
          <p:nvPr/>
        </p:nvSpPr>
        <p:spPr>
          <a:xfrm>
            <a:off x="7279409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8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24FA7531-3C8A-4B8D-B076-E389429FF864}"/>
              </a:ext>
            </a:extLst>
          </p:cNvPr>
          <p:cNvSpPr/>
          <p:nvPr/>
        </p:nvSpPr>
        <p:spPr>
          <a:xfrm>
            <a:off x="8543636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7CF21AF-0813-4AE5-BF66-AA992753CC27}"/>
              </a:ext>
            </a:extLst>
          </p:cNvPr>
          <p:cNvSpPr txBox="1"/>
          <p:nvPr/>
        </p:nvSpPr>
        <p:spPr>
          <a:xfrm>
            <a:off x="8353136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10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D27781D9-00B2-4ED9-88FF-0E81695726D5}"/>
              </a:ext>
            </a:extLst>
          </p:cNvPr>
          <p:cNvSpPr/>
          <p:nvPr/>
        </p:nvSpPr>
        <p:spPr>
          <a:xfrm>
            <a:off x="9617363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B71C68C4-3A06-4A5B-948C-D533DB7375CE}"/>
              </a:ext>
            </a:extLst>
          </p:cNvPr>
          <p:cNvSpPr txBox="1"/>
          <p:nvPr/>
        </p:nvSpPr>
        <p:spPr>
          <a:xfrm>
            <a:off x="9426863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12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19F396BF-3B9B-439D-8C1E-B281F2A28EA8}"/>
              </a:ext>
            </a:extLst>
          </p:cNvPr>
          <p:cNvSpPr/>
          <p:nvPr/>
        </p:nvSpPr>
        <p:spPr>
          <a:xfrm>
            <a:off x="10691090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8E8B17BF-1680-4779-A570-14537794C968}"/>
              </a:ext>
            </a:extLst>
          </p:cNvPr>
          <p:cNvSpPr txBox="1"/>
          <p:nvPr/>
        </p:nvSpPr>
        <p:spPr>
          <a:xfrm>
            <a:off x="10500590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14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E6CC593E-41EB-46FE-94F7-D062601326D5}"/>
              </a:ext>
            </a:extLst>
          </p:cNvPr>
          <p:cNvSpPr/>
          <p:nvPr/>
        </p:nvSpPr>
        <p:spPr>
          <a:xfrm>
            <a:off x="11764818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6CD1C6AC-6181-45EB-B41E-02E7BF59782F}"/>
              </a:ext>
            </a:extLst>
          </p:cNvPr>
          <p:cNvSpPr txBox="1"/>
          <p:nvPr/>
        </p:nvSpPr>
        <p:spPr>
          <a:xfrm>
            <a:off x="11574318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16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69B53F5E-DFE4-49A5-99D5-3C0F03AFEE71}"/>
              </a:ext>
            </a:extLst>
          </p:cNvPr>
          <p:cNvSpPr/>
          <p:nvPr/>
        </p:nvSpPr>
        <p:spPr>
          <a:xfrm>
            <a:off x="12838545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F8164344-B46A-47F4-AEFD-175DBBDD72F4}"/>
              </a:ext>
            </a:extLst>
          </p:cNvPr>
          <p:cNvSpPr txBox="1"/>
          <p:nvPr/>
        </p:nvSpPr>
        <p:spPr>
          <a:xfrm>
            <a:off x="12648045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18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EA177B8F-A827-41A0-B7A6-B68F46C6B4F4}"/>
              </a:ext>
            </a:extLst>
          </p:cNvPr>
          <p:cNvSpPr/>
          <p:nvPr/>
        </p:nvSpPr>
        <p:spPr>
          <a:xfrm>
            <a:off x="13912272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C43D9339-DFB7-43E3-84C2-1434104EA77A}"/>
              </a:ext>
            </a:extLst>
          </p:cNvPr>
          <p:cNvSpPr txBox="1"/>
          <p:nvPr/>
        </p:nvSpPr>
        <p:spPr>
          <a:xfrm>
            <a:off x="13721772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20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D47902A-ECB7-44B3-9B2F-578DAED9378D}"/>
              </a:ext>
            </a:extLst>
          </p:cNvPr>
          <p:cNvSpPr/>
          <p:nvPr/>
        </p:nvSpPr>
        <p:spPr>
          <a:xfrm>
            <a:off x="14986000" y="8382000"/>
            <a:ext cx="12700" cy="101600"/>
          </a:xfrm>
          <a:prstGeom prst="rect">
            <a:avLst/>
          </a:prstGeom>
          <a:solidFill>
            <a:srgbClr val="777777">
              <a:alpha val="93725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02DEA57D-C70C-4C17-ACEB-96793B69C280}"/>
              </a:ext>
            </a:extLst>
          </p:cNvPr>
          <p:cNvSpPr txBox="1"/>
          <p:nvPr/>
        </p:nvSpPr>
        <p:spPr>
          <a:xfrm>
            <a:off x="14795500" y="8509000"/>
            <a:ext cx="381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100">
                <a:solidFill>
                  <a:srgbClr val="555555"/>
                </a:solidFill>
                <a:latin typeface="Yu Gothic"/>
                <a:ea typeface="Yu Gothic"/>
              </a:rPr>
              <a:t>22</a:t>
            </a:r>
            <a:endParaRPr lang="ja-JP" altLang="en-US" sz="11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13DAF806-CB35-4DFF-8D2C-7905582D45D3}"/>
              </a:ext>
            </a:extLst>
          </p:cNvPr>
          <p:cNvSpPr txBox="1"/>
          <p:nvPr/>
        </p:nvSpPr>
        <p:spPr>
          <a:xfrm>
            <a:off x="7112000" y="8953500"/>
            <a:ext cx="381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1400">
                <a:solidFill>
                  <a:srgbClr val="555555"/>
                </a:solidFill>
                <a:latin typeface="Yu Gothic"/>
                <a:ea typeface="Yu Gothic"/>
              </a:rPr>
              <a:t>周波数 </a:t>
            </a:r>
            <a:r>
              <a:rPr lang="en-US" altLang="ja-JP" sz="1400">
                <a:solidFill>
                  <a:srgbClr val="555555"/>
                </a:solidFill>
                <a:latin typeface="Yu Gothic"/>
                <a:ea typeface="Yu Gothic"/>
              </a:rPr>
              <a:t>[kHz]</a:t>
            </a:r>
            <a:endParaRPr lang="ja-JP" altLang="en-US" sz="1400">
              <a:solidFill>
                <a:srgbClr val="555555"/>
              </a:solidFill>
              <a:latin typeface="Yu Gothic"/>
              <a:ea typeface="Yu Gothic"/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7D90339F-49E0-4D34-AB12-0BE3498C7439}"/>
              </a:ext>
            </a:extLst>
          </p:cNvPr>
          <p:cNvSpPr txBox="1"/>
          <p:nvPr/>
        </p:nvSpPr>
        <p:spPr>
          <a:xfrm>
            <a:off x="1587500" y="9525000"/>
            <a:ext cx="15367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ja-JP" sz="1050">
                <a:solidFill>
                  <a:srgbClr val="68737A"/>
                </a:solidFill>
                <a:latin typeface="Yu Gothic"/>
                <a:ea typeface="Yu Gothic"/>
              </a:rPr>
              <a:t>6/11</a:t>
            </a:r>
            <a:r>
              <a:rPr lang="ja-JP" altLang="en-US" sz="1050">
                <a:solidFill>
                  <a:srgbClr val="68737A"/>
                </a:solidFill>
                <a:latin typeface="Yu Gothic"/>
                <a:ea typeface="Yu Gothic"/>
              </a:rPr>
              <a:t>学習 → </a:t>
            </a:r>
            <a:r>
              <a:rPr lang="en-US" altLang="ja-JP" sz="1050">
                <a:solidFill>
                  <a:srgbClr val="68737A"/>
                </a:solidFill>
                <a:latin typeface="Yu Gothic"/>
                <a:ea typeface="Yu Gothic"/>
              </a:rPr>
              <a:t>6/18</a:t>
            </a:r>
            <a:r>
              <a:rPr lang="ja-JP" altLang="en-US" sz="1050">
                <a:solidFill>
                  <a:srgbClr val="68737A"/>
                </a:solidFill>
                <a:latin typeface="Yu Gothic"/>
                <a:ea typeface="Yu Gothic"/>
              </a:rPr>
              <a:t>評価、帯域マスク </a:t>
            </a:r>
            <a:r>
              <a:rPr lang="en-US" altLang="ja-JP" sz="1050">
                <a:solidFill>
                  <a:srgbClr val="68737A"/>
                </a:solidFill>
                <a:latin typeface="Yu Gothic"/>
                <a:ea typeface="Yu Gothic"/>
              </a:rPr>
              <a:t>0–22 kHz</a:t>
            </a:r>
            <a:r>
              <a:rPr lang="ja-JP" altLang="en-US" sz="1050">
                <a:solidFill>
                  <a:srgbClr val="68737A"/>
                </a:solidFill>
                <a:latin typeface="Yu Gothic"/>
                <a:ea typeface="Yu Gothic"/>
              </a:rPr>
              <a:t>、評価</a:t>
            </a:r>
            <a:r>
              <a:rPr lang="en-US" altLang="ja-JP" sz="1050">
                <a:solidFill>
                  <a:srgbClr val="68737A"/>
                </a:solidFill>
                <a:latin typeface="Yu Gothic"/>
                <a:ea typeface="Yu Gothic"/>
              </a:rPr>
              <a:t>1080</a:t>
            </a:r>
            <a:r>
              <a:rPr lang="ja-JP" altLang="en-US" sz="1050">
                <a:solidFill>
                  <a:srgbClr val="68737A"/>
                </a:solidFill>
                <a:latin typeface="Yu Gothic"/>
                <a:ea typeface="Yu Gothic"/>
              </a:rPr>
              <a:t>秒</a:t>
            </a:r>
          </a:p>
        </p:txBody>
      </p:sp>
      <p:sp>
        <p:nvSpPr>
          <p:cNvPr id="3" name="TextBox 24">
            <a:extLst>
              <a:ext uri="{FF2B5EF4-FFF2-40B4-BE49-F238E27FC236}">
                <a16:creationId xmlns:a16="http://schemas.microsoft.com/office/drawing/2014/main" id="{4DB8D5B6-1001-8E9B-2DDB-040395179EDC}"/>
              </a:ext>
            </a:extLst>
          </p:cNvPr>
          <p:cNvSpPr txBox="1"/>
          <p:nvPr/>
        </p:nvSpPr>
        <p:spPr>
          <a:xfrm>
            <a:off x="1806795" y="305043"/>
            <a:ext cx="9652000" cy="700576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ts val="5880"/>
              </a:lnSpc>
              <a:spcBef>
                <a:spcPct val="0"/>
              </a:spcBef>
            </a:pPr>
            <a:r>
              <a:rPr lang="en-US" altLang="ja-JP" sz="3000" b="1" dirty="0">
                <a:solidFill>
                  <a:srgbClr val="202020"/>
                </a:solidFill>
                <a:latin typeface="Yu Gothic"/>
                <a:ea typeface="Yu Gothic"/>
              </a:rPr>
              <a:t>3. </a:t>
            </a:r>
            <a:r>
              <a:rPr lang="ja-JP" altLang="en-US" sz="3000" b="1" dirty="0">
                <a:solidFill>
                  <a:srgbClr val="202020"/>
                </a:solidFill>
                <a:latin typeface="Yu Gothic"/>
                <a:ea typeface="Yu Gothic"/>
              </a:rPr>
              <a:t>説明性</a:t>
            </a:r>
          </a:p>
        </p:txBody>
      </p:sp>
    </p:spTree>
    <p:extLst>
      <p:ext uri="{BB962C8B-B14F-4D97-AF65-F5344CB8AC3E}">
        <p14:creationId xmlns:p14="http://schemas.microsoft.com/office/powerpoint/2010/main" val="35989073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BD478F2-93FB-7553-E103-A6B3839A5A0D}"/>
              </a:ext>
            </a:extLst>
          </p:cNvPr>
          <p:cNvGrpSpPr/>
          <p:nvPr/>
        </p:nvGrpSpPr>
        <p:grpSpPr>
          <a:xfrm>
            <a:off x="270494" y="246431"/>
            <a:ext cx="698205" cy="10040568"/>
            <a:chOff x="270494" y="246431"/>
            <a:chExt cx="698205" cy="10040568"/>
          </a:xfrm>
        </p:grpSpPr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7D11835D-57AA-BE86-BCDE-68226B6025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271822" y="245103"/>
              <a:ext cx="695550" cy="698205"/>
            </a:xfrm>
            <a:prstGeom prst="rect">
              <a:avLst/>
            </a:prstGeom>
          </p:spPr>
        </p:pic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3B78E05A-DEF5-2D6B-B55B-DB82EC5920C4}"/>
                </a:ext>
              </a:extLst>
            </p:cNvPr>
            <p:cNvSpPr txBox="1"/>
            <p:nvPr/>
          </p:nvSpPr>
          <p:spPr>
            <a:xfrm>
              <a:off x="434931" y="1036119"/>
              <a:ext cx="369332" cy="2258787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en-US" altLang="ja-JP" sz="1200" dirty="0">
                  <a:latin typeface="Source Han Sans JP" panose="020B0600070205080204" charset="-128"/>
                  <a:ea typeface="Source Han Sans JP" panose="020B0600070205080204" charset="-128"/>
                </a:rPr>
                <a:t>Tokyo University of Science</a:t>
              </a:r>
              <a:endParaRPr kumimoji="1" lang="ja-JP" altLang="en-US" sz="1200" dirty="0">
                <a:latin typeface="Source Han Sans JP" panose="020B0600070205080204" charset="-128"/>
                <a:ea typeface="Source Han Sans JP" panose="020B0600070205080204" charset="-128"/>
              </a:endParaRPr>
            </a:p>
          </p:txBody>
        </p: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EEE9B645-6430-60ED-1258-90350A0DD8B6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" y="3314700"/>
              <a:ext cx="0" cy="6067497"/>
            </a:xfrm>
            <a:prstGeom prst="line">
              <a:avLst/>
            </a:prstGeom>
            <a:ln>
              <a:solidFill>
                <a:srgbClr val="64A4A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フローチャート: 論理積ゲート 13">
              <a:extLst>
                <a:ext uri="{FF2B5EF4-FFF2-40B4-BE49-F238E27FC236}">
                  <a16:creationId xmlns:a16="http://schemas.microsoft.com/office/drawing/2014/main" id="{7D062015-C78C-B7BE-0F9C-81E88D230C46}"/>
                </a:ext>
              </a:extLst>
            </p:cNvPr>
            <p:cNvSpPr/>
            <p:nvPr/>
          </p:nvSpPr>
          <p:spPr>
            <a:xfrm rot="16200000">
              <a:off x="141940" y="9634201"/>
              <a:ext cx="924597" cy="381000"/>
            </a:xfrm>
            <a:prstGeom prst="flowChartDelay">
              <a:avLst/>
            </a:prstGeom>
            <a:solidFill>
              <a:srgbClr val="64A4A3"/>
            </a:solidFill>
            <a:ln>
              <a:solidFill>
                <a:srgbClr val="64A4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5" name="Group 3">
            <a:extLst>
              <a:ext uri="{FF2B5EF4-FFF2-40B4-BE49-F238E27FC236}">
                <a16:creationId xmlns:a16="http://schemas.microsoft.com/office/drawing/2014/main" id="{60F8FF6D-0F13-7307-815B-B6A9447179C4}"/>
              </a:ext>
            </a:extLst>
          </p:cNvPr>
          <p:cNvGrpSpPr/>
          <p:nvPr/>
        </p:nvGrpSpPr>
        <p:grpSpPr>
          <a:xfrm>
            <a:off x="1371600" y="1069258"/>
            <a:ext cx="16064988" cy="125708"/>
            <a:chOff x="0" y="0"/>
            <a:chExt cx="22021800" cy="190500"/>
          </a:xfrm>
        </p:grpSpPr>
        <p:grpSp>
          <p:nvGrpSpPr>
            <p:cNvPr id="16" name="Group 4">
              <a:extLst>
                <a:ext uri="{FF2B5EF4-FFF2-40B4-BE49-F238E27FC236}">
                  <a16:creationId xmlns:a16="http://schemas.microsoft.com/office/drawing/2014/main" id="{41D664AF-D53E-642F-86FD-B1A855E2DB95}"/>
                </a:ext>
              </a:extLst>
            </p:cNvPr>
            <p:cNvGrpSpPr/>
            <p:nvPr/>
          </p:nvGrpSpPr>
          <p:grpSpPr>
            <a:xfrm>
              <a:off x="0" y="0"/>
              <a:ext cx="7340600" cy="190500"/>
              <a:chOff x="0" y="0"/>
              <a:chExt cx="1449995" cy="37630"/>
            </a:xfrm>
          </p:grpSpPr>
          <p:sp>
            <p:nvSpPr>
              <p:cNvPr id="23" name="Freeform 5">
                <a:extLst>
                  <a:ext uri="{FF2B5EF4-FFF2-40B4-BE49-F238E27FC236}">
                    <a16:creationId xmlns:a16="http://schemas.microsoft.com/office/drawing/2014/main" id="{39CA5124-E45E-0CB1-1810-EE57DA2A98C4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0A1028B-7828-4E23-A025-A2A2D2431AD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7" name="Group 7">
              <a:extLst>
                <a:ext uri="{FF2B5EF4-FFF2-40B4-BE49-F238E27FC236}">
                  <a16:creationId xmlns:a16="http://schemas.microsoft.com/office/drawing/2014/main" id="{C17D89E3-8887-6561-DC46-CE8A5DF780C6}"/>
                </a:ext>
              </a:extLst>
            </p:cNvPr>
            <p:cNvGrpSpPr/>
            <p:nvPr/>
          </p:nvGrpSpPr>
          <p:grpSpPr>
            <a:xfrm>
              <a:off x="7340600" y="0"/>
              <a:ext cx="7340600" cy="190500"/>
              <a:chOff x="0" y="0"/>
              <a:chExt cx="1449995" cy="37630"/>
            </a:xfrm>
          </p:grpSpPr>
          <p:sp>
            <p:nvSpPr>
              <p:cNvPr id="21" name="Freeform 8">
                <a:extLst>
                  <a:ext uri="{FF2B5EF4-FFF2-40B4-BE49-F238E27FC236}">
                    <a16:creationId xmlns:a16="http://schemas.microsoft.com/office/drawing/2014/main" id="{5489C4AE-4A0B-0D6B-1EBE-B87B0D432183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999F9F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2" name="TextBox 9">
                <a:extLst>
                  <a:ext uri="{FF2B5EF4-FFF2-40B4-BE49-F238E27FC236}">
                    <a16:creationId xmlns:a16="http://schemas.microsoft.com/office/drawing/2014/main" id="{6322874F-AD47-9232-CAC5-BCBEFE78F56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18" name="Group 10">
              <a:extLst>
                <a:ext uri="{FF2B5EF4-FFF2-40B4-BE49-F238E27FC236}">
                  <a16:creationId xmlns:a16="http://schemas.microsoft.com/office/drawing/2014/main" id="{A393E3CE-4414-5AEF-237E-CCB155796221}"/>
                </a:ext>
              </a:extLst>
            </p:cNvPr>
            <p:cNvGrpSpPr/>
            <p:nvPr/>
          </p:nvGrpSpPr>
          <p:grpSpPr>
            <a:xfrm>
              <a:off x="14681200" y="0"/>
              <a:ext cx="7340600" cy="190500"/>
              <a:chOff x="0" y="0"/>
              <a:chExt cx="1449995" cy="37630"/>
            </a:xfrm>
          </p:grpSpPr>
          <p:sp>
            <p:nvSpPr>
              <p:cNvPr id="19" name="Freeform 11">
                <a:extLst>
                  <a:ext uri="{FF2B5EF4-FFF2-40B4-BE49-F238E27FC236}">
                    <a16:creationId xmlns:a16="http://schemas.microsoft.com/office/drawing/2014/main" id="{340D6A49-4FDE-F2E2-098C-1B68ABAF6172}"/>
                  </a:ext>
                </a:extLst>
              </p:cNvPr>
              <p:cNvSpPr/>
              <p:nvPr/>
            </p:nvSpPr>
            <p:spPr>
              <a:xfrm>
                <a:off x="0" y="0"/>
                <a:ext cx="1449995" cy="37630"/>
              </a:xfrm>
              <a:custGeom>
                <a:avLst/>
                <a:gdLst/>
                <a:ahLst/>
                <a:cxnLst/>
                <a:rect l="l" t="t" r="r" b="b"/>
                <a:pathLst>
                  <a:path w="1449995" h="37630">
                    <a:moveTo>
                      <a:pt x="0" y="0"/>
                    </a:moveTo>
                    <a:lnTo>
                      <a:pt x="1449995" y="0"/>
                    </a:lnTo>
                    <a:lnTo>
                      <a:pt x="1449995" y="37630"/>
                    </a:lnTo>
                    <a:lnTo>
                      <a:pt x="0" y="37630"/>
                    </a:lnTo>
                    <a:close/>
                  </a:path>
                </a:pathLst>
              </a:custGeom>
              <a:solidFill>
                <a:srgbClr val="64A4A3"/>
              </a:solidFill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0" name="TextBox 12">
                <a:extLst>
                  <a:ext uri="{FF2B5EF4-FFF2-40B4-BE49-F238E27FC236}">
                    <a16:creationId xmlns:a16="http://schemas.microsoft.com/office/drawing/2014/main" id="{D07D97A3-99DD-DF89-C8F5-40F48C6E3FF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449995" cy="7573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</p:grpSp>
      <p:sp>
        <p:nvSpPr>
          <p:cNvPr id="25" name="スライド番号プレースホルダー 28">
            <a:extLst>
              <a:ext uri="{FF2B5EF4-FFF2-40B4-BE49-F238E27FC236}">
                <a16:creationId xmlns:a16="http://schemas.microsoft.com/office/drawing/2014/main" id="{99EC6C07-FABB-D71C-DE41-019BC555F7B8}"/>
              </a:ext>
            </a:extLst>
          </p:cNvPr>
          <p:cNvSpPr txBox="1">
            <a:spLocks/>
          </p:cNvSpPr>
          <p:nvPr/>
        </p:nvSpPr>
        <p:spPr>
          <a:xfrm>
            <a:off x="270494" y="9748987"/>
            <a:ext cx="599456" cy="4622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/>
              <a:t>9</a:t>
            </a:r>
            <a:endParaRPr lang="en-US" sz="2400" dirty="0"/>
          </a:p>
        </p:txBody>
      </p:sp>
      <p:graphicFrame>
        <p:nvGraphicFramePr>
          <p:cNvPr id="47" name="表 46">
            <a:extLst>
              <a:ext uri="{FF2B5EF4-FFF2-40B4-BE49-F238E27FC236}">
                <a16:creationId xmlns:a16="http://schemas.microsoft.com/office/drawing/2014/main" id="{CA17F5A5-19DF-44BA-8312-DB8A65D330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5858662"/>
              </p:ext>
            </p:extLst>
          </p:nvPr>
        </p:nvGraphicFramePr>
        <p:xfrm>
          <a:off x="1219200" y="1727200"/>
          <a:ext cx="16268702" cy="8648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2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45000">
                  <a:extLst>
                    <a:ext uri="{9D8B030D-6E8A-4147-A177-3AD203B41FA5}">
                      <a16:colId xmlns:a16="http://schemas.microsoft.com/office/drawing/2014/main" val="2949312998"/>
                    </a:ext>
                  </a:extLst>
                </a:gridCol>
                <a:gridCol w="1443567">
                  <a:extLst>
                    <a:ext uri="{9D8B030D-6E8A-4147-A177-3AD203B41FA5}">
                      <a16:colId xmlns:a16="http://schemas.microsoft.com/office/drawing/2014/main" val="1609288016"/>
                    </a:ext>
                  </a:extLst>
                </a:gridCol>
                <a:gridCol w="1443567">
                  <a:extLst>
                    <a:ext uri="{9D8B030D-6E8A-4147-A177-3AD203B41FA5}">
                      <a16:colId xmlns:a16="http://schemas.microsoft.com/office/drawing/2014/main" val="4226321308"/>
                    </a:ext>
                  </a:extLst>
                </a:gridCol>
                <a:gridCol w="1443567">
                  <a:extLst>
                    <a:ext uri="{9D8B030D-6E8A-4147-A177-3AD203B41FA5}">
                      <a16:colId xmlns:a16="http://schemas.microsoft.com/office/drawing/2014/main" val="997688572"/>
                    </a:ext>
                  </a:extLst>
                </a:gridCol>
                <a:gridCol w="1443567">
                  <a:extLst>
                    <a:ext uri="{9D8B030D-6E8A-4147-A177-3AD203B41FA5}">
                      <a16:colId xmlns:a16="http://schemas.microsoft.com/office/drawing/2014/main" val="1418800255"/>
                    </a:ext>
                  </a:extLst>
                </a:gridCol>
                <a:gridCol w="1443567">
                  <a:extLst>
                    <a:ext uri="{9D8B030D-6E8A-4147-A177-3AD203B41FA5}">
                      <a16:colId xmlns:a16="http://schemas.microsoft.com/office/drawing/2014/main" val="4099334226"/>
                    </a:ext>
                  </a:extLst>
                </a:gridCol>
                <a:gridCol w="1443567">
                  <a:extLst>
                    <a:ext uri="{9D8B030D-6E8A-4147-A177-3AD203B41FA5}">
                      <a16:colId xmlns:a16="http://schemas.microsoft.com/office/drawing/2014/main" val="3902824841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ja-JP" sz="2400" b="1" dirty="0">
                          <a:solidFill>
                            <a:srgbClr val="FFFFFF"/>
                          </a:solidFill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大項目</a:t>
                      </a:r>
                      <a:endParaRPr lang="ja-JP" sz="2400" dirty="0"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127000" marR="76200" anchor="ctr">
                    <a:solidFill>
                      <a:srgbClr val="70A9A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400" b="1" dirty="0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小項目</a:t>
                      </a:r>
                    </a:p>
                  </a:txBody>
                  <a:tcPr anchor="ctr">
                    <a:solidFill>
                      <a:srgbClr val="6FA7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400" b="1" dirty="0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9月</a:t>
                      </a:r>
                    </a:p>
                  </a:txBody>
                  <a:tcPr anchor="ctr">
                    <a:solidFill>
                      <a:srgbClr val="6FA7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400" b="1" dirty="0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10月</a:t>
                      </a:r>
                    </a:p>
                  </a:txBody>
                  <a:tcPr anchor="ctr">
                    <a:solidFill>
                      <a:srgbClr val="6FA7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400" b="1" dirty="0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11月</a:t>
                      </a:r>
                    </a:p>
                  </a:txBody>
                  <a:tcPr anchor="ctr">
                    <a:solidFill>
                      <a:srgbClr val="6FA7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400" b="1" dirty="0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12月</a:t>
                      </a:r>
                    </a:p>
                  </a:txBody>
                  <a:tcPr anchor="ctr">
                    <a:solidFill>
                      <a:srgbClr val="6FA7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400" b="1" dirty="0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1月</a:t>
                      </a:r>
                    </a:p>
                  </a:txBody>
                  <a:tcPr anchor="ctr">
                    <a:solidFill>
                      <a:srgbClr val="6FA7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400" b="1" dirty="0">
                          <a:solidFill>
                            <a:srgbClr val="FFFFFF"/>
                          </a:solidFill>
                          <a:latin typeface="Yu Gothic"/>
                          <a:ea typeface="Yu Gothic"/>
                        </a:rPr>
                        <a:t>2月</a:t>
                      </a:r>
                    </a:p>
                  </a:txBody>
                  <a:tcPr anchor="ctr">
                    <a:solidFill>
                      <a:srgbClr val="6FA7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35817"/>
                  </a:ext>
                </a:extLst>
              </a:tr>
              <a:tr h="558800">
                <a:tc rowSpan="3">
                  <a:txBody>
                    <a:bodyPr/>
                    <a:lstStyle/>
                    <a:p>
                      <a:pPr algn="l"/>
                      <a:r>
                        <a:rPr lang="ja-JP" sz="2400" b="1" dirty="0">
                          <a:solidFill>
                            <a:srgbClr val="17333A"/>
                          </a:solidFill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① 評価設計・学習</a:t>
                      </a:r>
                      <a:endParaRPr lang="ja-JP" sz="2400" dirty="0"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  <a:p>
                      <a:pPr algn="l"/>
                      <a:r>
                        <a:rPr lang="ja-JP" sz="2400" b="1" dirty="0">
                          <a:solidFill>
                            <a:srgbClr val="17333A"/>
                          </a:solidFill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データの確定</a:t>
                      </a:r>
                      <a:endParaRPr lang="ja-JP" sz="2400" dirty="0"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実験別に学習／テストデータを分割の実装</a:t>
                      </a: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2772760"/>
                  </a:ext>
                </a:extLst>
              </a:tr>
              <a:tr h="558800">
                <a:tc vMerge="1">
                  <a:txBody>
                    <a:bodyPr/>
                    <a:lstStyle/>
                    <a:p>
                      <a:pPr algn="l"/>
                      <a:endParaRPr lang="ja-JP" sz="2000"/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1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沸騰後のデータで閾値を設定・スクリーニング実装</a:t>
                      </a: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850233"/>
                  </a:ext>
                </a:extLst>
              </a:tr>
              <a:tr h="558800">
                <a:tc vMerge="1">
                  <a:txBody>
                    <a:bodyPr/>
                    <a:lstStyle/>
                    <a:p>
                      <a:pPr algn="l"/>
                      <a:endParaRPr lang="ja-JP" sz="2000"/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上記実装でアンサンブル検証（全条件でやりたい）</a:t>
                      </a: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159921"/>
                  </a:ext>
                </a:extLst>
              </a:tr>
              <a:tr h="558800">
                <a:tc rowSpan="3">
                  <a:txBody>
                    <a:bodyPr/>
                    <a:lstStyle/>
                    <a:p>
                      <a:pPr algn="l"/>
                      <a:r>
                        <a:rPr lang="ja-JP" sz="2400" b="1">
                          <a:solidFill>
                            <a:srgbClr val="17333A"/>
                          </a:solidFill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② アンサンブル手法</a:t>
                      </a:r>
                      <a:endParaRPr lang="ja-JP" sz="2400"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  <a:p>
                      <a:pPr algn="l"/>
                      <a:r>
                        <a:rPr lang="ja-JP" sz="2400" b="1">
                          <a:solidFill>
                            <a:srgbClr val="17333A"/>
                          </a:solidFill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の確立</a:t>
                      </a:r>
                      <a:endParaRPr lang="ja-JP" sz="2400"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単体モデルを下回る条件・要因を調査・整理</a:t>
                      </a: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2821586"/>
                  </a:ext>
                </a:extLst>
              </a:tr>
              <a:tr h="558800">
                <a:tc vMerge="1">
                  <a:txBody>
                    <a:bodyPr/>
                    <a:lstStyle/>
                    <a:p>
                      <a:pPr algn="l"/>
                      <a:endParaRPr lang="ja-JP" sz="2000"/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必要に応じて新たなアンサンブル手法を調査・実装</a:t>
                      </a: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6278673"/>
                  </a:ext>
                </a:extLst>
              </a:tr>
              <a:tr h="558800">
                <a:tc vMerge="1">
                  <a:txBody>
                    <a:bodyPr/>
                    <a:lstStyle/>
                    <a:p>
                      <a:pPr algn="l"/>
                      <a:endParaRPr lang="ja-JP" sz="2000"/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複数手法の比較でアンサンブル方法を確定</a:t>
                      </a: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2385712"/>
                  </a:ext>
                </a:extLst>
              </a:tr>
              <a:tr h="558800">
                <a:tc rowSpan="4">
                  <a:txBody>
                    <a:bodyPr/>
                    <a:lstStyle/>
                    <a:p>
                      <a:pPr algn="l"/>
                      <a:r>
                        <a:rPr lang="ja-JP" sz="2400" b="1">
                          <a:solidFill>
                            <a:srgbClr val="17333A"/>
                          </a:solidFill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③ 説明性を用いた要</a:t>
                      </a:r>
                      <a:endParaRPr lang="ja-JP" sz="2400"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  <a:p>
                      <a:pPr algn="l"/>
                      <a:r>
                        <a:rPr lang="ja-JP" sz="2400" b="1">
                          <a:solidFill>
                            <a:srgbClr val="17333A"/>
                          </a:solidFill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因分析・検証</a:t>
                      </a:r>
                      <a:endParaRPr lang="ja-JP" sz="2400"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説明性指標で特徴利用を可視化・比較</a:t>
                      </a: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7697552"/>
                  </a:ext>
                </a:extLst>
              </a:tr>
              <a:tr h="558800">
                <a:tc vMerge="1">
                  <a:txBody>
                    <a:bodyPr/>
                    <a:lstStyle/>
                    <a:p>
                      <a:pPr algn="l"/>
                      <a:endParaRPr lang="ja-JP" sz="2000"/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1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説明性と各モデルの性能・重みの関係を分析</a:t>
                      </a: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701246"/>
                  </a:ext>
                </a:extLst>
              </a:tr>
              <a:tr h="558800">
                <a:tc vMerge="1">
                  <a:txBody>
                    <a:bodyPr/>
                    <a:lstStyle/>
                    <a:p>
                      <a:pPr algn="l"/>
                      <a:endParaRPr lang="ja-JP" sz="2000"/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時間・周波数特徴と性能の関係などを考察</a:t>
                      </a: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450916"/>
                  </a:ext>
                </a:extLst>
              </a:tr>
              <a:tr h="558800">
                <a:tc vMerge="1">
                  <a:txBody>
                    <a:bodyPr/>
                    <a:lstStyle/>
                    <a:p>
                      <a:pPr algn="l"/>
                      <a:endParaRPr lang="ja-JP" sz="2000"/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示唆に基づく追加検証（あれば）</a:t>
                      </a: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E5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3691090"/>
                  </a:ext>
                </a:extLst>
              </a:tr>
              <a:tr h="558800">
                <a:tc rowSpan="3">
                  <a:txBody>
                    <a:bodyPr/>
                    <a:lstStyle/>
                    <a:p>
                      <a:pPr algn="l"/>
                      <a:r>
                        <a:rPr lang="ja-JP" sz="2400" b="1" dirty="0">
                          <a:solidFill>
                            <a:srgbClr val="17333A"/>
                          </a:solidFill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④ 修論執筆・発表準</a:t>
                      </a:r>
                      <a:endParaRPr lang="ja-JP" sz="2400" dirty="0"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  <a:p>
                      <a:pPr algn="l"/>
                      <a:r>
                        <a:rPr lang="ja-JP" sz="2400" b="1" dirty="0">
                          <a:solidFill>
                            <a:srgbClr val="17333A"/>
                          </a:solidFill>
                          <a:latin typeface="游ゴシック" panose="020B0400000000000000" pitchFamily="50" charset="-128"/>
                          <a:ea typeface="游ゴシック" panose="020B0400000000000000" pitchFamily="50" charset="-128"/>
                        </a:rPr>
                        <a:t>備</a:t>
                      </a:r>
                      <a:endParaRPr lang="ja-JP" sz="2400" dirty="0">
                        <a:latin typeface="游ゴシック" panose="020B0400000000000000" pitchFamily="50" charset="-128"/>
                        <a:ea typeface="游ゴシック" panose="020B0400000000000000" pitchFamily="50" charset="-128"/>
                      </a:endParaRPr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背景・実験方法（など書ける範囲から進める）</a:t>
                      </a: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449433"/>
                  </a:ext>
                </a:extLst>
              </a:tr>
              <a:tr h="558800">
                <a:tc vMerge="1">
                  <a:txBody>
                    <a:bodyPr/>
                    <a:lstStyle/>
                    <a:p>
                      <a:pPr algn="l"/>
                      <a:endParaRPr lang="ja-JP" sz="2000"/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結果・考察・結論の整理</a:t>
                      </a: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0864456"/>
                  </a:ext>
                </a:extLst>
              </a:tr>
              <a:tr h="558800">
                <a:tc vMerge="1">
                  <a:txBody>
                    <a:bodyPr/>
                    <a:lstStyle/>
                    <a:p>
                      <a:pPr algn="l"/>
                      <a:endParaRPr lang="ja-JP" sz="2000"/>
                    </a:p>
                  </a:txBody>
                  <a:tcPr marL="127000" marR="76200" anchor="ctr">
                    <a:solidFill>
                      <a:srgbClr val="9EC5C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800" b="1" dirty="0">
                          <a:solidFill>
                            <a:srgbClr val="1B1F23"/>
                          </a:solidFill>
                          <a:latin typeface="Yu Gothic"/>
                          <a:ea typeface="Yu Gothic"/>
                        </a:rPr>
                        <a:t>論文執筆完了・発表資料作成・発表練習など</a:t>
                      </a: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ja-JP" altLang="en-US" sz="1100" b="0" dirty="0">
                        <a:solidFill>
                          <a:srgbClr val="1B1F23"/>
                        </a:solidFill>
                        <a:latin typeface="Yu Gothic"/>
                        <a:ea typeface="Yu Gothic"/>
                      </a:endParaRPr>
                    </a:p>
                  </a:txBody>
                  <a:tcPr anchor="ctr">
                    <a:solidFill>
                      <a:srgbClr val="F3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3157597"/>
                  </a:ext>
                </a:extLst>
              </a:tr>
            </a:tbl>
          </a:graphicData>
        </a:graphic>
      </p:graphicFrame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0C44F913-C20C-46CB-A169-80C227B5D58B}"/>
              </a:ext>
            </a:extLst>
          </p:cNvPr>
          <p:cNvSpPr txBox="1"/>
          <p:nvPr/>
        </p:nvSpPr>
        <p:spPr>
          <a:xfrm>
            <a:off x="1612900" y="304800"/>
            <a:ext cx="6350000" cy="6985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ja-JP" altLang="en-US" sz="2800" b="1">
                <a:solidFill>
                  <a:srgbClr val="1B1F23"/>
                </a:solidFill>
                <a:latin typeface="Yu Gothic"/>
                <a:ea typeface="Yu Gothic"/>
              </a:rPr>
              <a:t>後期の研究計画</a:t>
            </a:r>
          </a:p>
        </p:txBody>
      </p:sp>
      <p:sp>
        <p:nvSpPr>
          <p:cNvPr id="59" name="矢印: 右 58">
            <a:extLst>
              <a:ext uri="{FF2B5EF4-FFF2-40B4-BE49-F238E27FC236}">
                <a16:creationId xmlns:a16="http://schemas.microsoft.com/office/drawing/2014/main" id="{D34DF569-FC79-4BB4-8B5E-7C19524629EA}"/>
              </a:ext>
            </a:extLst>
          </p:cNvPr>
          <p:cNvSpPr/>
          <p:nvPr/>
        </p:nvSpPr>
        <p:spPr>
          <a:xfrm>
            <a:off x="9620461" y="2336800"/>
            <a:ext cx="938318" cy="520700"/>
          </a:xfrm>
          <a:prstGeom prst="rightArrow">
            <a:avLst/>
          </a:prstGeom>
          <a:solidFill>
            <a:srgbClr val="FF9E3D">
              <a:alpha val="93333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60" name="矢印: 右 59">
            <a:extLst>
              <a:ext uri="{FF2B5EF4-FFF2-40B4-BE49-F238E27FC236}">
                <a16:creationId xmlns:a16="http://schemas.microsoft.com/office/drawing/2014/main" id="{8236D079-26BE-4267-B3E8-D7B70D31F6EA}"/>
              </a:ext>
            </a:extLst>
          </p:cNvPr>
          <p:cNvSpPr/>
          <p:nvPr/>
        </p:nvSpPr>
        <p:spPr>
          <a:xfrm>
            <a:off x="9620461" y="2895600"/>
            <a:ext cx="938318" cy="520700"/>
          </a:xfrm>
          <a:prstGeom prst="rightArrow">
            <a:avLst/>
          </a:prstGeom>
          <a:solidFill>
            <a:srgbClr val="FF9E3D">
              <a:alpha val="93333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598DB384-3834-4A6E-88C7-56ED64B1610A}"/>
              </a:ext>
            </a:extLst>
          </p:cNvPr>
          <p:cNvSpPr/>
          <p:nvPr/>
        </p:nvSpPr>
        <p:spPr>
          <a:xfrm>
            <a:off x="10342245" y="3454400"/>
            <a:ext cx="793961" cy="520700"/>
          </a:xfrm>
          <a:prstGeom prst="rightArrow">
            <a:avLst/>
          </a:prstGeom>
          <a:solidFill>
            <a:srgbClr val="FF9E3D">
              <a:alpha val="93333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62" name="矢印: 右 61">
            <a:extLst>
              <a:ext uri="{FF2B5EF4-FFF2-40B4-BE49-F238E27FC236}">
                <a16:creationId xmlns:a16="http://schemas.microsoft.com/office/drawing/2014/main" id="{4938EDE1-97DD-420B-AF51-448FC8A8F529}"/>
              </a:ext>
            </a:extLst>
          </p:cNvPr>
          <p:cNvSpPr/>
          <p:nvPr/>
        </p:nvSpPr>
        <p:spPr>
          <a:xfrm>
            <a:off x="10558780" y="4013200"/>
            <a:ext cx="1010496" cy="520700"/>
          </a:xfrm>
          <a:prstGeom prst="rightArrow">
            <a:avLst/>
          </a:prstGeom>
          <a:solidFill>
            <a:srgbClr val="FF9E3D">
              <a:alpha val="93333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63" name="矢印: 右 62">
            <a:extLst>
              <a:ext uri="{FF2B5EF4-FFF2-40B4-BE49-F238E27FC236}">
                <a16:creationId xmlns:a16="http://schemas.microsoft.com/office/drawing/2014/main" id="{0AE1CEB5-7EBA-4989-96FD-CBE69C6CF335}"/>
              </a:ext>
            </a:extLst>
          </p:cNvPr>
          <p:cNvSpPr/>
          <p:nvPr/>
        </p:nvSpPr>
        <p:spPr>
          <a:xfrm>
            <a:off x="11497099" y="4572000"/>
            <a:ext cx="938318" cy="520700"/>
          </a:xfrm>
          <a:prstGeom prst="rightArrow">
            <a:avLst/>
          </a:prstGeom>
          <a:solidFill>
            <a:srgbClr val="FF9E3D">
              <a:alpha val="93333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64" name="矢印: 右 63">
            <a:extLst>
              <a:ext uri="{FF2B5EF4-FFF2-40B4-BE49-F238E27FC236}">
                <a16:creationId xmlns:a16="http://schemas.microsoft.com/office/drawing/2014/main" id="{EA5FB593-F8A7-47ED-8FE0-2DEC3D5FBF3D}"/>
              </a:ext>
            </a:extLst>
          </p:cNvPr>
          <p:cNvSpPr/>
          <p:nvPr/>
        </p:nvSpPr>
        <p:spPr>
          <a:xfrm>
            <a:off x="12146704" y="5130800"/>
            <a:ext cx="692912" cy="520700"/>
          </a:xfrm>
          <a:prstGeom prst="rightArrow">
            <a:avLst/>
          </a:prstGeom>
          <a:solidFill>
            <a:srgbClr val="FF9E3D">
              <a:alpha val="93333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65" name="矢印: 右 64">
            <a:extLst>
              <a:ext uri="{FF2B5EF4-FFF2-40B4-BE49-F238E27FC236}">
                <a16:creationId xmlns:a16="http://schemas.microsoft.com/office/drawing/2014/main" id="{08F95DCF-0470-4027-83DB-67FE192B535C}"/>
              </a:ext>
            </a:extLst>
          </p:cNvPr>
          <p:cNvSpPr/>
          <p:nvPr/>
        </p:nvSpPr>
        <p:spPr>
          <a:xfrm>
            <a:off x="11064028" y="5689600"/>
            <a:ext cx="1371388" cy="520700"/>
          </a:xfrm>
          <a:prstGeom prst="rightArrow">
            <a:avLst/>
          </a:prstGeom>
          <a:solidFill>
            <a:srgbClr val="FF9E3D">
              <a:alpha val="93333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66" name="矢印: 右 65">
            <a:extLst>
              <a:ext uri="{FF2B5EF4-FFF2-40B4-BE49-F238E27FC236}">
                <a16:creationId xmlns:a16="http://schemas.microsoft.com/office/drawing/2014/main" id="{034692D6-33FA-4224-BC94-AEBDF0ACEF64}"/>
              </a:ext>
            </a:extLst>
          </p:cNvPr>
          <p:cNvSpPr/>
          <p:nvPr/>
        </p:nvSpPr>
        <p:spPr>
          <a:xfrm>
            <a:off x="11497099" y="6248400"/>
            <a:ext cx="938318" cy="520700"/>
          </a:xfrm>
          <a:prstGeom prst="rightArrow">
            <a:avLst/>
          </a:prstGeom>
          <a:solidFill>
            <a:srgbClr val="FF9E3D">
              <a:alpha val="93333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67" name="矢印: 右 66">
            <a:extLst>
              <a:ext uri="{FF2B5EF4-FFF2-40B4-BE49-F238E27FC236}">
                <a16:creationId xmlns:a16="http://schemas.microsoft.com/office/drawing/2014/main" id="{6C6DDE79-93BA-4090-923E-1B1164EED0CE}"/>
              </a:ext>
            </a:extLst>
          </p:cNvPr>
          <p:cNvSpPr/>
          <p:nvPr/>
        </p:nvSpPr>
        <p:spPr>
          <a:xfrm>
            <a:off x="12002347" y="6807200"/>
            <a:ext cx="938318" cy="520700"/>
          </a:xfrm>
          <a:prstGeom prst="rightArrow">
            <a:avLst/>
          </a:prstGeom>
          <a:solidFill>
            <a:srgbClr val="FF9E3D">
              <a:alpha val="93333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68" name="矢印: 右 67">
            <a:extLst>
              <a:ext uri="{FF2B5EF4-FFF2-40B4-BE49-F238E27FC236}">
                <a16:creationId xmlns:a16="http://schemas.microsoft.com/office/drawing/2014/main" id="{E4DD941E-C716-4881-8E5F-D24541B96B53}"/>
              </a:ext>
            </a:extLst>
          </p:cNvPr>
          <p:cNvSpPr/>
          <p:nvPr/>
        </p:nvSpPr>
        <p:spPr>
          <a:xfrm>
            <a:off x="12507596" y="7366000"/>
            <a:ext cx="1371388" cy="520700"/>
          </a:xfrm>
          <a:prstGeom prst="rightArrow">
            <a:avLst/>
          </a:prstGeom>
          <a:solidFill>
            <a:srgbClr val="FF9E3D">
              <a:alpha val="93333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69" name="矢印: 右 68">
            <a:extLst>
              <a:ext uri="{FF2B5EF4-FFF2-40B4-BE49-F238E27FC236}">
                <a16:creationId xmlns:a16="http://schemas.microsoft.com/office/drawing/2014/main" id="{EAC33907-6CA1-4E71-B9D5-716E2E981F75}"/>
              </a:ext>
            </a:extLst>
          </p:cNvPr>
          <p:cNvSpPr/>
          <p:nvPr/>
        </p:nvSpPr>
        <p:spPr>
          <a:xfrm>
            <a:off x="10270067" y="7924800"/>
            <a:ext cx="2670599" cy="520700"/>
          </a:xfrm>
          <a:prstGeom prst="rightArrow">
            <a:avLst/>
          </a:prstGeom>
          <a:solidFill>
            <a:srgbClr val="FF9E3D">
              <a:alpha val="93333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70" name="矢印: 右 69">
            <a:extLst>
              <a:ext uri="{FF2B5EF4-FFF2-40B4-BE49-F238E27FC236}">
                <a16:creationId xmlns:a16="http://schemas.microsoft.com/office/drawing/2014/main" id="{E72717AE-64DA-45FB-BB23-5FE9D2D1929D}"/>
              </a:ext>
            </a:extLst>
          </p:cNvPr>
          <p:cNvSpPr/>
          <p:nvPr/>
        </p:nvSpPr>
        <p:spPr>
          <a:xfrm>
            <a:off x="13229379" y="8483600"/>
            <a:ext cx="1082675" cy="520700"/>
          </a:xfrm>
          <a:prstGeom prst="rightArrow">
            <a:avLst/>
          </a:prstGeom>
          <a:solidFill>
            <a:srgbClr val="FF9E3D">
              <a:alpha val="93333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  <p:sp>
        <p:nvSpPr>
          <p:cNvPr id="71" name="矢印: 右 70">
            <a:extLst>
              <a:ext uri="{FF2B5EF4-FFF2-40B4-BE49-F238E27FC236}">
                <a16:creationId xmlns:a16="http://schemas.microsoft.com/office/drawing/2014/main" id="{73B7A278-A94A-4AF4-AC8E-F2A1B5321EB6}"/>
              </a:ext>
            </a:extLst>
          </p:cNvPr>
          <p:cNvSpPr/>
          <p:nvPr/>
        </p:nvSpPr>
        <p:spPr>
          <a:xfrm>
            <a:off x="14889481" y="9042400"/>
            <a:ext cx="1660102" cy="520700"/>
          </a:xfrm>
          <a:prstGeom prst="rightArrow">
            <a:avLst/>
          </a:prstGeom>
          <a:solidFill>
            <a:srgbClr val="FF9E3D">
              <a:alpha val="93333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25020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482E6">
            <a:alpha val="94000"/>
          </a:srgbClr>
        </a:solidFill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  <wetp:taskpane dockstate="right" visibility="0" width="525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5D7A1B7-69B7-4925-99B8-A306950AE00F}">
  <we:reference id="wa200010001" version="1.0.0.1" store="ja-JP" storeType="OMEX"/>
  <we:alternateReferences>
    <we:reference id="WA200010001" version="1.0.0.1" store="WA200010001" storeType="OMEX"/>
  </we:alternateReferences>
  <we:properties>
    <we:property name="claude.fileId" value="&quot;47c20542-9aa0-420f-8b84-a53bce3b6a32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C1E0504D-397B-4E0E-9870-3BF79C012794}">
  <we:reference id="wa200010215" version="2.0.0.1" store="ja-JP" storeType="OMEX"/>
  <we:alternateReferences>
    <we:reference id="WA200010215" version="2.0.0.1" store="WA200010215" storeType="OMEX"/>
  </we:alternateReferences>
  <we:properties>
    <we:property name="bps.codex_control.document_id" value="&quot;923187e9-0861-413e-9a76-03a2dc2aca9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26842</TotalTime>
  <Words>923</Words>
  <Application>Microsoft Office PowerPoint</Application>
  <PresentationFormat>ユーザー設定</PresentationFormat>
  <Paragraphs>154</Paragraphs>
  <Slides>9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8" baseType="lpstr">
      <vt:lpstr>Source Han Sans JP Bold</vt:lpstr>
      <vt:lpstr>游ゴシック</vt:lpstr>
      <vt:lpstr>ＭＳ Ｐゴシック</vt:lpstr>
      <vt:lpstr>Calibri</vt:lpstr>
      <vt:lpstr>Source Han Sans JP</vt:lpstr>
      <vt:lpstr>Century Gothic Paneuropean</vt:lpstr>
      <vt:lpstr>游ゴシック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グリーン ホワイト シンプル 業務改善 提案書 ビジネス グラフ 表 プレゼンテーション</dc:title>
  <dc:creator>shiba</dc:creator>
  <cp:lastModifiedBy>陸 柴崎</cp:lastModifiedBy>
  <cp:revision>214</cp:revision>
  <dcterms:created xsi:type="dcterms:W3CDTF">2006-08-16T00:00:00Z</dcterms:created>
  <dcterms:modified xsi:type="dcterms:W3CDTF">2026-09-17T10:57:19Z</dcterms:modified>
  <dc:identifier>DAGKJCfN4aw</dc:identifier>
</cp:coreProperties>
</file>