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0"/>
  </p:notesMasterIdLst>
  <p:sldIdLst>
    <p:sldId id="399" r:id="rId2"/>
    <p:sldId id="400" r:id="rId9"/>
    <p:sldId id="401" r:id="rId8"/>
    <p:sldId id="402" r:id="rId7"/>
    <p:sldId id="403" r:id="rId6"/>
    <p:sldId id="404" r:id="rId5"/>
    <p:sldId id="405" r:id="rId4"/>
    <p:sldId id="406" r:id="rId3"/>
    <p:sldId id="407" r:id="rId21"/>
    <p:sldId id="408" r:id="rId22"/>
    <p:sldId id="409" r:id="rId23"/>
  </p:sldIdLst>
  <p:sldSz cx="18288000" cy="10287000"/>
  <p:notesSz cx="6858000" cy="9144000"/>
  <p:embeddedFontLst>
    <p:embeddedFont>
      <p:font typeface="Source Han Sans JP" panose="020B0600070205080204" charset="-128"/>
      <p:regular r:id="rId11"/>
    </p:embeddedFont>
    <p:embeddedFont>
      <p:font typeface="Source Han Sans JP Bold" panose="020B0600070205080204" charset="-128"/>
      <p:regular r:id="rId12"/>
    </p:embeddedFont>
    <p:embeddedFont>
      <p:font typeface="Century Gothic Paneuropean" panose="020B0600070205080204" charset="0"/>
      <p:regular r:id="rId13"/>
    </p:embeddedFont>
    <p:embeddedFont>
      <p:font typeface="游ゴシック" panose="020B0400000000000000" pitchFamily="50" charset="-128"/>
      <p:regular r:id="rId14"/>
      <p:bold r:id="rId15"/>
    </p:embeddedFont>
    <p:embeddedFont>
      <p:font typeface="游ゴシック" panose="020B0400000000000000" pitchFamily="50" charset="-128"/>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CF1F1"/>
    <a:srgbClr val="BED8D7"/>
    <a:srgbClr val="B3D1D0"/>
    <a:srgbClr val="91BDBC"/>
    <a:srgbClr val="61A3A1"/>
    <a:srgbClr val="95C1C0"/>
    <a:srgbClr val="FFFFFF"/>
    <a:srgbClr val="849A9A"/>
    <a:srgbClr val="AACECD"/>
    <a:srgbClr val="ABC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1DD41C-0630-45D5-9049-54DFDE666A7F}" v="83" dt="2026-05-22T00:42:41.88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autoAdjust="0"/>
    <p:restoredTop sz="74696" autoAdjust="0"/>
  </p:normalViewPr>
  <p:slideViewPr>
    <p:cSldViewPr>
      <p:cViewPr varScale="1">
        <p:scale>
          <a:sx n="50" d="100"/>
          <a:sy n="50" d="100"/>
        </p:scale>
        <p:origin x="300" y="2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font" Target="fonts/font1.fntdata"/><Relationship Id="rId12" Type="http://schemas.openxmlformats.org/officeDocument/2006/relationships/font" Target="fonts/font2.fntdata"/><Relationship Id="rId13" Type="http://schemas.openxmlformats.org/officeDocument/2006/relationships/font" Target="fonts/font3.fntdata"/><Relationship Id="rId14" Type="http://schemas.openxmlformats.org/officeDocument/2006/relationships/font" Target="fonts/font4.fntdata"/><Relationship Id="rId15" Type="http://schemas.openxmlformats.org/officeDocument/2006/relationships/font" Target="fonts/font5.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5/10/relationships/revisionInfo" Target="revisionInfo.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【口頭】前回以降，元3・4・5モデルの性能を比較し，誤り方と特徴利用の違いから統合の働きを分析しました。本日は，その進展と修論への配置を報告します。</a:t>
            </a:r>
          </a:p>
          <a:p>
            <a:r>
              <a:t>【作成】表紙の図形・題目・日付・所属氏名は添付PPTXから変更していません。</a:t>
            </a:r>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【口頭：約45秒】今回は無雑音で学習した同じモデルへの雑音影響を調べ，元3 MSEに対する性能改善を確認しました。さらに，どの領域で改善・悪化したか，同方向誤差がどの程度縮小したか，モデルの入力依存がどう異なるかまで分析しました。</a:t>
            </a:r>
          </a:p>
          <a:p>
            <a:r>
              <a:t>【説明範囲】全7条件は無雑音＋参照SNR 0, −4, −8, −12, −16, −20 dB。主結果はseed42・200 epochsの同じ540評価区間で，未知日への一般化を主張しません。</a:t>
            </a:r>
          </a:p>
          <a:p>
            <a:r>
              <a:t>【出典】experiments/2026-10-15_clean_only_result_analysis/README.md；experiments/2026-10-14_error_feature_linkage/README.md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【口頭：約45秒】音響から熱流束を回帰し，その予測をONB判定につなげます。今回の問いは，モデル追加でどの性能が改善するか，また，その改善が特徴利用と誤り方の違いにどう対応するかです。</a:t>
            </a:r>
          </a:p>
          <a:p>
            <a:r>
              <a:t>【補足】ONBは核沸騰開始。直接の二値分類ではなく，熱流束予測を日別ONB閾値と比較します。現在の5モデルや統合重みは次ページ以降で示します。</a:t>
            </a:r>
          </a:p>
          <a:p>
            <a:r>
              <a:t>【図】既存の overview_pipeline.png を使う場合は，この編集可能な処理系と差し替えます。追加モデルはスペクトログラム由来の周波数要約特徴を利用します。</a:t>
            </a:r>
          </a:p>
          <a:p>
            <a:r>
              <a:t>【出典】docs/progress/2026-10-16_slide_content_plan.md；研究の最新結果記録。</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70秒】旧処理では，元信号の強度が付加雑音の強度に反映され，雑音だけでも熱流束を予測できる経路がありました。診断では，相対雑音だけでR²=0.9085です。生成を固定基準へ修正した後も，matchedには一部で精度回復が残りました。matchedは雑音条件ごとに別モデルを学習するため，今回はclean_onlyで同じモデルへの雑音影響を調べます。</a:t>
            </a:r>
          </a:p>
          <a:p>
            <a:r>
              <a:t>【左図の値】無雑音0.8699／相対雑音との混合0.9068／相対雑音のみ0.9085／固定基準雑音との混合0.7860。雑音条件は診断記録に従い−20 dB。これは2025/6/18・22 kHz・PCA診断・通常KFoldで，最新5モデルの性能ではありません。</a:t>
            </a:r>
          </a:p>
          <a:p>
            <a:r>
              <a:t>【注意】生成修正で全回復が消えたとは述べません。旧matchedと現在のclean_onlyは帯域・分割が異なり，一要因比較ではありません。旧matched曲線は予備資料へ。</a:t>
            </a:r>
          </a:p>
          <a:p>
            <a:r>
              <a:t>【図】experiments/2026-10-14_error_feature_linkage/slide_old_noise_shortcut.png</a:t>
            </a:r>
          </a:p>
          <a:p>
            <a:r>
              <a:t>【予備】同ディレクトリ slide_after_generation_fix_matched.png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65秒】2025年6月11日と18日の36録音を使い，各60区間のうち45区間を学習，15区間を評価とします。録音内のシャッフル分割で，連続した最後の15秒を評価する設計ではありません。元3，HGBだけを追加する4，ETだけを追加する4，両者を追加する5を比較します。</a:t>
            </a:r>
          </a:p>
          <a:p>
            <a:r>
              <a:t>【重み】無雑音の学習側OOF予測に対する全域MSEから決定し，雑音評価中は固定します。元3 MSEを主比較とし，従来performance重みとは区別します。</a:t>
            </a:r>
          </a:p>
          <a:p>
            <a:r>
              <a:t>【モデル名】RF＝PCA＋XGBRFRegressor。保存名conformer＝CNN＋時間token Transformer。ET＝ExtraTrees。HGB・ETは周波数要約特徴を利用。特徴の網羅紹介やハイパーパラメータの独立説明はしません。</a:t>
            </a:r>
          </a:p>
          <a:p>
            <a:r>
              <a:t>【条件】1秒・3 kHz・選別なし・clean_only・seed42・200 epochs・内部chunk3-fold。既知録音内の未使用区間であり，未知録音・未知日一般化ではありません。</a:t>
            </a:r>
          </a:p>
          <a:p>
            <a:r>
              <a:t>【出典】experiments/2026-10-15_clean_only_result_analysis/README.md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【口頭：約80秒】曲線は元3 MSE・HGB追加4・ET追加4・5モデルの全7条件です。5は元3 MSEに対して全条件で全域RMSEが小さく，無雑音34.07→27.80，−20 dBでは81.14→75.23 kW/m²でした。低減率は18.4%・7.3%です。</a:t>
            </a:r>
          </a:p>
          <a:p>
            <a:r>
              <a:t>【重要な区別】無雑音から−20 dBへの増加量は元3 MSE＋47.07，5＋47.43です。雑音下の絶対誤差は改善しましたが，元3 MSEに対して悪化量は縮小していません。従来performance重みと比較すると結論が変わるため，元3 MSEと明記します。</a:t>
            </a:r>
          </a:p>
          <a:p>
            <a:r>
              <a:t>【対照】無雑音はET4=27.35が5=27.80より小さく，−20 dBはHGB単体=74.19が5=75.23より小さい。5が全方式に常勝とは述べません。全数値は予備資料へ。</a:t>
            </a:r>
          </a:p>
          <a:p>
            <a:r>
              <a:t>【図】docs/progress/assets/2026-10-16/current_regression_noise_trend.png</a:t>
            </a:r>
          </a:p>
          <a:p>
            <a:r>
              <a:t>【表の出典】experiments/2026-10-15_clean_only_result_analysis/README.md</a:t>
            </a:r>
          </a:p>
          <a:p>
            <a:r>
              <a:t>【注記】無雑音とSNR0 dBは別。SNRは固定基準に対する参照SNR。表の増加量・低減率は丸め前の値に基づきます。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【口頭：約75秒】見逃しFNは元3 MSE→5で無雑音42→27，−20 dB65→52でした。誤報FPはそれぞれ1→1，0→0です。無雑音のq100は6/11が同じ368.98，6/18が434.02→376.32 kW/m²へ低下しました。見逃しが減ることとq100の変化は同じではありません。</a:t>
            </a:r>
          </a:p>
          <a:p>
            <a:r>
              <a:t>【q100の短い説明】その熱流束以上の評価区間が全て陽性となった最初の測定段階。評価集合での結果で，将来の100%検知保証や秒単位の検知遅延ではありません。定義訂正・内部照合の説明はしません。</a:t>
            </a:r>
          </a:p>
          <a:p>
            <a:r>
              <a:t>【限界を口頭で一言】最初のONB段階をほぼ全て検知したわけではありません。5モデルは当該30区間で無雑音8/30，−20 dB0/30。2録音×15区間であり30回の独立発生実験ではありません。これらの件数と4構成の日別q100は予備へ。</a:t>
            </a:r>
          </a:p>
          <a:p>
            <a:r>
              <a:t>【ONB近傍】−20 dBの近傍RMSE93.92→99.32という交換は次の領域別結果で扱い，このページには詰め込みません。</a:t>
            </a:r>
          </a:p>
          <a:p>
            <a:r>
              <a:t>【図】docs/progress/assets/2026-10-16/current_onb_false_negatives.png</a:t>
            </a:r>
          </a:p>
          <a:p>
            <a:r>
              <a:t>【数値】experiments/2026-10-15_clean_only_result_analysis/README.md；q100_by_source_day.csv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【口頭：約90秒】左は元3 MSE→5の領域別MSE改善です。正は改善，負は悪化。無雑音ではONB近傍と高熱流束側が改善し，−20 dBではONB前と高熱流束側が改善しました。一方，−20 dBのONB近傍は悪化しています。</a:t>
            </a:r>
          </a:p>
          <a:p>
            <a:r>
              <a:t>【右の定義】追加統合の3ブロック＝元3ブロック・HGB・ETで，同じ方向に外れた標本群と逆符号を含む標本群に分けています。全5単体の符号分類ではありません。</a:t>
            </a:r>
          </a:p>
          <a:p>
            <a:r>
              <a:t>【右の値】無雑音：同方向群54.65%・逆符号を含む群45.35%。−20 dB：同方向群87.15%・逆符号を含む群12.85%。群の二乗誤差総減少を全540で割った寄与を，全体減少に対して表示した値です。群内の改善率，改善標本の比率，物理的原因の割合とは異なります。</a:t>
            </a:r>
          </a:p>
          <a:p>
            <a:r>
              <a:t>【解釈】逆向き相殺だけでなく，同方向でも誤差の小さい予測へ調整する働きが含まれています。</a:t>
            </a:r>
          </a:p>
          <a:p>
            <a:r>
              <a:t>【左図】experiments/2026-10-14_error_feature_linkage/slide_error_and_feature_linkage.png の左パネルのみ。右の時間加工パネルはこの頁に重複させません。</a:t>
            </a:r>
          </a:p>
          <a:p>
            <a:r>
              <a:t>【右図】同ディレクトリ error_direction_contributions.png，または同CSVから無雑音・−20 dBだけを抜粋した図。既存実数を使い，架空残差例は入れません。</a:t>
            </a:r>
          </a:p>
          <a:p>
            <a:r>
              <a:t>【条件】左は10/7保存fitを10/14に解析した非重複領域（ONB前225／近傍30／高q285）。10/15主結果でも対応する傾向・方向群寄与を確認済み。旧rmse_high（ONB以上全体）と非重複の高q領域を混ぜません。</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【口頭：約90秒】前回は，説明性が何を意味し，修士研究へどう活用できるかという指摘がありました。今回は，可視化を起点に，同じ時間並べ替えを各モデルへ与え，予測と誤差の変化を比較しました。</a:t>
            </a:r>
          </a:p>
          <a:p>
            <a:r>
              <a:t>【単体】無雑音の時間行並べ替えで，CNN＋Transformerは35.34→47.99，AlexNetは39.88→56.45 kW/m²。HGBは33.25→33.25，ETは28.40→28.40で特徴・予測も不変です。時間方向に集計する特徴の構造と一致します。</a:t>
            </a:r>
          </a:p>
          <a:p>
            <a:r>
              <a:t>【統合】元3 MSEは34.07→47.52，5は27.80→31.10 kW/m²。時間配置に対する依存差と，統合後の影響の違いを具体的に示せます。</a:t>
            </a:r>
          </a:p>
          <a:p>
            <a:r>
              <a:t>【修論への使い方】特徴への依存→予測変化→領域別誤差・誤り補完という順に，性能結果と接続して考察します。特徴の網羅紹介を独立論点として復活させません。</a:t>
            </a:r>
          </a:p>
          <a:p>
            <a:r>
              <a:t>【限界】この加工は10/7の同条件・別fitへの対照で，10/15主fitへ新たに実行したものではありません。時間並べ替えは水流雑音付加とは異なり，水流雑音時の改善原因の因果証明にはしません。HGB・ETは帯域や全体強度の変化には反応します。</a:t>
            </a:r>
          </a:p>
          <a:p>
            <a:r>
              <a:t>【旧IG】添付PPTXの22 kHz・0 dBの同一試料は両モデルとも数値収束済みです。旧IGが使えないからではなく，今回の進展として定量対照を優先するため予備へ移します。マスクは入力変化への感度，IGは基準入力からの出力差への寄与という役割の違いを口頭で保持します。</a:t>
            </a:r>
          </a:p>
          <a:p>
            <a:r>
              <a:t>【図】experiments/2026-10-14_error_feature_linkage/slide_error_and_feature_linkage.png の右パネルのみ，または existing_feature_dependence.csv の時間並べ替え対照。</a:t>
            </a:r>
          </a:p>
          <a:p>
            <a:r>
              <a:t>【出典】experiments/2026-10-14_error_feature_linkage/README.md；experiments/2026-09-18_onb_full_sweep_151715/README.md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【口頭：約55秒】現在の成果を7章へ配置します。特に，第5章で単体・元3・4・5の性能改善を示し，第6章で領域別の誤り方，入力依存，統合による調整を説明します。</a:t>
            </a:r>
          </a:p>
          <a:p>
            <a:r>
              <a:t>【状態の意味】この表は章へ配置できる根拠・成果があるという意味で，執筆済みの割合ではありません。章構成や教授の了承が正式に確定したという記録にもしていません。</a:t>
            </a:r>
          </a:p>
          <a:p>
            <a:r>
              <a:t>【相談】性能結果と理由の分析を第5・6章の軸として，現在の説明の到達点で修論の筋が通るか。</a:t>
            </a:r>
          </a:p>
          <a:p>
            <a:r>
              <a:t>【出典】docs/progress/2026-10-16_slide_content_plan.md；本人の再検討案。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【口頭：約60秒】主系列の評価，3→4→5の解析，説明性と誤りの接続分析は完了側へ移しました。今後は，採用理由，特徴利用と誤りの考察，章別整理と本文への展開を進めます。</a:t>
            </a:r>
          </a:p>
          <a:p>
            <a:r>
              <a:t>【計画】4区分は前回の図を維持し，アンサンブルは「確立」ではなく「検証」とします。10〜11月は章別整理と本文化，12月は結果・考察・結論，翌1〜2月は本文完成と発表準備という見通しです。正式な提出締切を示すものではありません。</a:t>
            </a:r>
          </a:p>
          <a:p>
            <a:r>
              <a:t>【候補】入力に応じた自動重み切替は，時間・費用が見合う場合の条件付き候補で，時期未定です。現在の研究を成立させる必須条件ではありません。修論完成後の最終確認はこの予定へ追加しません。</a:t>
            </a:r>
          </a:p>
          <a:p>
            <a:r>
              <a:t>【最後の口頭】元3からの改善を確認し，相殺だけではない誤差縮小と入力依存の違いまで説明できました。この成果を第5・6章へ置く構成で，修論の軸として十分かを相談したいです。</a:t>
            </a:r>
          </a:p>
          <a:p>
            <a:r>
              <a:t>【編集】計画図は編集可能な図形です。既存の semester_plan_progress.png に差し替える場合は本文図形をまとめて削除し，左4.2・上9.0・幅44.2・高さ15.8 cmの範囲へ縦横比を保って配置してください。</a:t>
            </a:r>
          </a:p>
          <a:p>
            <a:r>
              <a:t>【出典】添付PPTX第8ページの4区分・9月〜2月；docs/progress/2026-10-16_slide_readiness_and_semester_plan.md；本人の再検討案。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26627" y="4242220"/>
            <a:ext cx="13854732" cy="1231106"/>
          </a:xfrm>
          <a:prstGeom prst="rect">
            <a:avLst/>
          </a:prstGeom>
        </p:spPr>
        <p:txBody>
          <a:bodyPr wrap="square" lIns="0" tIns="0" rIns="0" bIns="0" rtlCol="0" anchor="t">
            <a:spAutoFit/>
          </a:bodyPr>
          <a:lstStyle/>
          <a:p>
            <a:pPr algn="ctr">
              <a:spcBef>
                <a:spcPct val="0"/>
              </a:spcBef>
            </a:pPr>
            <a:r>
              <a:rPr lang="ja-JP" altLang="en-US" sz="4000" dirty="0">
                <a:solidFill>
                  <a:srgbClr val="292B2B"/>
                </a:solidFill>
                <a:latin typeface="Source Han Sans JP Bold"/>
                <a:ea typeface="Source Han Sans JP Bold"/>
                <a:cs typeface="Source Han Sans JP Bold"/>
                <a:sym typeface="Source Han Sans JP Bold"/>
              </a:rPr>
              <a:t>アンサンブル学習に基づく音響識別による</a:t>
            </a:r>
            <a:endParaRPr lang="en-US" altLang="ja-JP" sz="4000" dirty="0">
              <a:solidFill>
                <a:srgbClr val="292B2B"/>
              </a:solidFill>
              <a:latin typeface="Source Han Sans JP Bold"/>
              <a:ea typeface="Source Han Sans JP Bold"/>
              <a:cs typeface="Source Han Sans JP Bold"/>
              <a:sym typeface="Source Han Sans JP Bold"/>
            </a:endParaRPr>
          </a:p>
          <a:p>
            <a:pPr algn="ctr">
              <a:spcBef>
                <a:spcPct val="0"/>
              </a:spcBef>
            </a:pPr>
            <a:r>
              <a:rPr lang="ja-JP" altLang="en-US" sz="4000" dirty="0">
                <a:solidFill>
                  <a:srgbClr val="292B2B"/>
                </a:solidFill>
                <a:latin typeface="Source Han Sans JP Bold"/>
                <a:ea typeface="Source Han Sans JP Bold"/>
                <a:cs typeface="Source Han Sans JP Bold"/>
                <a:sym typeface="Source Han Sans JP Bold"/>
              </a:rPr>
              <a:t>プール沸騰の発生検知</a:t>
            </a: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t>植木研究室　　</a:t>
            </a:r>
            <a:r>
              <a:rPr lang="ja-JP" altLang="en-US" sz="4000" dirty="0">
                <a:solidFill>
                  <a:srgbClr val="292B2B"/>
                </a:solidFill>
                <a:latin typeface="+mj-ea"/>
                <a:ea typeface="+mj-ea"/>
                <a:cs typeface="Source Han Sans JP"/>
                <a:sym typeface="Source Han Sans JP"/>
              </a:rPr>
              <a:t>柴崎陸</a:t>
            </a:r>
            <a:endParaRPr lang="en-US" sz="4000" dirty="0">
              <a:solidFill>
                <a:srgbClr val="292B2B"/>
              </a:solidFill>
              <a:latin typeface="+mj-ea"/>
              <a:ea typeface="+mj-ea"/>
              <a:cs typeface="Source Han Sans JP"/>
              <a:sym typeface="Source Han Sans JP"/>
            </a:endParaRPr>
          </a:p>
        </p:txBody>
      </p:sp>
      <p:sp>
        <p:nvSpPr>
          <p:cNvPr id="20" name="TextBox 20"/>
          <p:cNvSpPr txBox="1"/>
          <p:nvPr/>
        </p:nvSpPr>
        <p:spPr>
          <a:xfrm>
            <a:off x="6111044" y="6792441"/>
            <a:ext cx="5785681" cy="496290"/>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Century Gothic Paneuropean"/>
                <a:ea typeface="Century Gothic Paneuropean"/>
                <a:cs typeface="Century Gothic Paneuropean"/>
                <a:sym typeface="Century Gothic Paneuropean"/>
              </a:rPr>
              <a:t>2026年10月16日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17">
            <a:extLst>
              <a:ext uri="{FF2B5EF4-FFF2-40B4-BE49-F238E27FC236}">
                <a16:creationId xmlns:a16="http://schemas.microsoft.com/office/drawing/2014/main" id="{B2D46370-B0AA-E6EF-7D69-27BC452AE345}"/>
              </a:ext>
            </a:extLst>
          </p:cNvPr>
          <p:cNvSpPr txBox="1"/>
          <p:nvPr/>
        </p:nvSpPr>
        <p:spPr>
          <a:xfrm>
            <a:off x="2111859" y="2538384"/>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研究進捗</a:t>
            </a:r>
            <a:endParaRPr lang="en-US" sz="6600" dirty="0">
              <a:solidFill>
                <a:srgbClr val="292B2B"/>
              </a:solidFill>
              <a:latin typeface="Source Han Sans JP Bold"/>
              <a:ea typeface="Source Han Sans JP Bold"/>
              <a:cs typeface="Source Han Sans JP Bold"/>
              <a:sym typeface="Source Han Sans JP Bold"/>
            </a:endParaRPr>
          </a:p>
        </p:txBody>
      </p:sp>
    </p:spTree>
    <p:extLst>
      <p:ext uri="{BB962C8B-B14F-4D97-AF65-F5344CB8AC3E}">
        <p14:creationId xmlns:p14="http://schemas.microsoft.com/office/powerpoint/2010/main" val="842676530"/>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2</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前回からの進展</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元3からの性能改善と，</a:t>
            </a:r>
          </a:p>
          <a:p>
            <a:pPr algn="l">
              <a:lnSpc>
                <a:spcPct val="115000"/>
              </a:lnSpc>
              <a:spcBef>
                <a:spcPts val="0"/>
              </a:spcBef>
              <a:spcAft>
                <a:spcPts val="0"/>
              </a:spcAft>
              <a:buNone/>
            </a:pPr>
            <a:r>
              <a:rPr sz="3200" b="1" lang="ja-JP">
                <a:solidFill>
                  <a:srgbClr val="202427"/>
                </a:solidFill>
                <a:latin typeface="Yu Gothic"/>
                <a:ea typeface="Yu Gothic"/>
                <a:cs typeface="Yu Gothic"/>
              </a:rPr>
              <a:t>誤り方・特徴利用の違いを確認した</a:t>
            </a:r>
          </a:p>
        </p:txBody>
      </p:sp>
      <p:sp>
        <p:nvSpPr>
          <p:cNvPr id="20" name="CARD_1"/>
          <p:cNvSpPr/>
          <p:nvPr/>
        </p:nvSpPr>
        <p:spPr>
          <a:xfrm>
            <a:off x="1512000" y="3240000"/>
            <a:ext cx="5076000" cy="4194000"/>
          </a:xfrm>
          <a:prstGeom prst="roundRect">
            <a:avLst>
              <a:gd name="adj" fmla="val 12000"/>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ARD_1_NUMBER"/>
          <p:cNvSpPr txBox="1"/>
          <p:nvPr/>
        </p:nvSpPr>
        <p:spPr>
          <a:xfrm>
            <a:off x="1746000" y="3474000"/>
            <a:ext cx="1080000" cy="55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500" b="1" lang="ja-JP">
                <a:solidFill>
                  <a:srgbClr val="2F6F73"/>
                </a:solidFill>
                <a:latin typeface="Yu Gothic"/>
                <a:ea typeface="Yu Gothic"/>
                <a:cs typeface="Yu Gothic"/>
              </a:rPr>
              <a:t>01</a:t>
            </a:r>
          </a:p>
        </p:txBody>
      </p:sp>
      <p:sp>
        <p:nvSpPr>
          <p:cNvPr id="22" name="CARD_1_TITLE"/>
          <p:cNvSpPr txBox="1"/>
          <p:nvPr/>
        </p:nvSpPr>
        <p:spPr>
          <a:xfrm>
            <a:off x="1746000" y="4230000"/>
            <a:ext cx="4608000" cy="52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1" lang="ja-JP">
                <a:solidFill>
                  <a:srgbClr val="202427"/>
                </a:solidFill>
                <a:latin typeface="Yu Gothic"/>
                <a:ea typeface="Yu Gothic"/>
                <a:cs typeface="Yu Gothic"/>
              </a:rPr>
              <a:t>何を調べたか</a:t>
            </a:r>
          </a:p>
        </p:txBody>
      </p:sp>
      <p:cxnSp>
        <p:nvCxnSpPr>
          <p:cNvPr id="23" name="Connector 22"/>
          <p:cNvCxnSpPr/>
          <p:nvPr/>
        </p:nvCxnSpPr>
        <p:spPr>
          <a:xfrm>
            <a:off x="1746000" y="4950000"/>
            <a:ext cx="4590000" cy="0"/>
          </a:xfrm>
          <a:prstGeom prst="line">
            <a:avLst/>
          </a:prstGeom>
          <a:ln w="1270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24" name="CARD_1_BODY"/>
          <p:cNvSpPr txBox="1"/>
          <p:nvPr/>
        </p:nvSpPr>
        <p:spPr>
          <a:xfrm>
            <a:off x="1746000" y="5238000"/>
            <a:ext cx="4608000" cy="172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500" b="0" lang="ja-JP">
                <a:solidFill>
                  <a:srgbClr val="202427"/>
                </a:solidFill>
                <a:latin typeface="Yu Gothic"/>
                <a:ea typeface="Yu Gothic"/>
                <a:cs typeface="Yu Gothic"/>
              </a:rPr>
              <a:t>無雑音で学習した</a:t>
            </a:r>
          </a:p>
          <a:p>
            <a:pPr algn="l">
              <a:lnSpc>
                <a:spcPct val="115000"/>
              </a:lnSpc>
              <a:spcBef>
                <a:spcPts val="0"/>
              </a:spcBef>
              <a:spcAft>
                <a:spcPts val="0"/>
              </a:spcAft>
              <a:buNone/>
            </a:pPr>
            <a:r>
              <a:rPr sz="2500" b="0" lang="ja-JP">
                <a:solidFill>
                  <a:srgbClr val="202427"/>
                </a:solidFill>
                <a:latin typeface="Yu Gothic"/>
                <a:ea typeface="Yu Gothic"/>
                <a:cs typeface="Yu Gothic"/>
              </a:rPr>
              <a:t>同じモデルへの</a:t>
            </a:r>
          </a:p>
          <a:p>
            <a:pPr algn="l">
              <a:lnSpc>
                <a:spcPct val="115000"/>
              </a:lnSpc>
              <a:spcBef>
                <a:spcPts val="0"/>
              </a:spcBef>
              <a:spcAft>
                <a:spcPts val="0"/>
              </a:spcAft>
              <a:buNone/>
            </a:pPr>
            <a:r>
              <a:rPr sz="2500" b="0" lang="ja-JP">
                <a:solidFill>
                  <a:srgbClr val="202427"/>
                </a:solidFill>
                <a:latin typeface="Yu Gothic"/>
                <a:ea typeface="Yu Gothic"/>
                <a:cs typeface="Yu Gothic"/>
              </a:rPr>
              <a:t>雑音の影響</a:t>
            </a:r>
          </a:p>
        </p:txBody>
      </p:sp>
      <p:sp>
        <p:nvSpPr>
          <p:cNvPr id="25" name="CARD_2"/>
          <p:cNvSpPr/>
          <p:nvPr/>
        </p:nvSpPr>
        <p:spPr>
          <a:xfrm>
            <a:off x="6930000" y="3240000"/>
            <a:ext cx="5076000" cy="4194000"/>
          </a:xfrm>
          <a:prstGeom prst="roundRect">
            <a:avLst>
              <a:gd name="adj" fmla="val 12000"/>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CARD_2_NUMBER"/>
          <p:cNvSpPr txBox="1"/>
          <p:nvPr/>
        </p:nvSpPr>
        <p:spPr>
          <a:xfrm>
            <a:off x="7163999" y="3474000"/>
            <a:ext cx="1080000" cy="55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500" b="1" lang="ja-JP">
                <a:solidFill>
                  <a:srgbClr val="2F6F73"/>
                </a:solidFill>
                <a:latin typeface="Yu Gothic"/>
                <a:ea typeface="Yu Gothic"/>
                <a:cs typeface="Yu Gothic"/>
              </a:rPr>
              <a:t>02</a:t>
            </a:r>
          </a:p>
        </p:txBody>
      </p:sp>
      <p:sp>
        <p:nvSpPr>
          <p:cNvPr id="27" name="CARD_2_TITLE"/>
          <p:cNvSpPr txBox="1"/>
          <p:nvPr/>
        </p:nvSpPr>
        <p:spPr>
          <a:xfrm>
            <a:off x="7163999" y="4230000"/>
            <a:ext cx="4608000" cy="52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1" lang="ja-JP">
                <a:solidFill>
                  <a:srgbClr val="202427"/>
                </a:solidFill>
                <a:latin typeface="Yu Gothic"/>
                <a:ea typeface="Yu Gothic"/>
                <a:cs typeface="Yu Gothic"/>
              </a:rPr>
              <a:t>何が改善したか</a:t>
            </a:r>
          </a:p>
        </p:txBody>
      </p:sp>
      <p:cxnSp>
        <p:nvCxnSpPr>
          <p:cNvPr id="28" name="Connector 27"/>
          <p:cNvCxnSpPr/>
          <p:nvPr/>
        </p:nvCxnSpPr>
        <p:spPr>
          <a:xfrm>
            <a:off x="7163999" y="4950000"/>
            <a:ext cx="4590001" cy="0"/>
          </a:xfrm>
          <a:prstGeom prst="line">
            <a:avLst/>
          </a:prstGeom>
          <a:ln w="1270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29" name="CARD_2_BODY"/>
          <p:cNvSpPr txBox="1"/>
          <p:nvPr/>
        </p:nvSpPr>
        <p:spPr>
          <a:xfrm>
            <a:off x="7163999" y="5238000"/>
            <a:ext cx="4608000" cy="172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500" b="0" lang="ja-JP">
                <a:solidFill>
                  <a:srgbClr val="202427"/>
                </a:solidFill>
                <a:latin typeface="Yu Gothic"/>
                <a:ea typeface="Yu Gothic"/>
                <a:cs typeface="Yu Gothic"/>
              </a:rPr>
              <a:t>元3 MSE比で全7条件の</a:t>
            </a:r>
          </a:p>
          <a:p>
            <a:pPr algn="l">
              <a:lnSpc>
                <a:spcPct val="115000"/>
              </a:lnSpc>
              <a:spcBef>
                <a:spcPts val="0"/>
              </a:spcBef>
              <a:spcAft>
                <a:spcPts val="0"/>
              </a:spcAft>
              <a:buNone/>
            </a:pPr>
            <a:r>
              <a:rPr sz="2500" b="0" lang="ja-JP">
                <a:solidFill>
                  <a:srgbClr val="202427"/>
                </a:solidFill>
                <a:latin typeface="Yu Gothic"/>
                <a:ea typeface="Yu Gothic"/>
                <a:cs typeface="Yu Gothic"/>
              </a:rPr>
              <a:t>全域RMSEと</a:t>
            </a:r>
          </a:p>
          <a:p>
            <a:pPr algn="l">
              <a:lnSpc>
                <a:spcPct val="115000"/>
              </a:lnSpc>
              <a:spcBef>
                <a:spcPts val="0"/>
              </a:spcBef>
              <a:spcAft>
                <a:spcPts val="0"/>
              </a:spcAft>
              <a:buNone/>
            </a:pPr>
            <a:r>
              <a:rPr sz="2500" b="0" lang="ja-JP">
                <a:solidFill>
                  <a:srgbClr val="202427"/>
                </a:solidFill>
                <a:latin typeface="Yu Gothic"/>
                <a:ea typeface="Yu Gothic"/>
                <a:cs typeface="Yu Gothic"/>
              </a:rPr>
              <a:t>見逃しが減少</a:t>
            </a:r>
          </a:p>
        </p:txBody>
      </p:sp>
      <p:sp>
        <p:nvSpPr>
          <p:cNvPr id="30" name="CARD_3"/>
          <p:cNvSpPr/>
          <p:nvPr/>
        </p:nvSpPr>
        <p:spPr>
          <a:xfrm>
            <a:off x="12348000" y="3240000"/>
            <a:ext cx="5076000" cy="4194000"/>
          </a:xfrm>
          <a:prstGeom prst="roundRect">
            <a:avLst>
              <a:gd name="adj" fmla="val 12000"/>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ARD_3_NUMBER"/>
          <p:cNvSpPr txBox="1"/>
          <p:nvPr/>
        </p:nvSpPr>
        <p:spPr>
          <a:xfrm>
            <a:off x="12582000" y="3474000"/>
            <a:ext cx="1080000" cy="55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500" b="1" lang="ja-JP">
                <a:solidFill>
                  <a:srgbClr val="2F6F73"/>
                </a:solidFill>
                <a:latin typeface="Yu Gothic"/>
                <a:ea typeface="Yu Gothic"/>
                <a:cs typeface="Yu Gothic"/>
              </a:rPr>
              <a:t>03</a:t>
            </a:r>
          </a:p>
        </p:txBody>
      </p:sp>
      <p:sp>
        <p:nvSpPr>
          <p:cNvPr id="32" name="CARD_3_TITLE"/>
          <p:cNvSpPr txBox="1"/>
          <p:nvPr/>
        </p:nvSpPr>
        <p:spPr>
          <a:xfrm>
            <a:off x="12582000" y="4230000"/>
            <a:ext cx="4608000" cy="52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1" lang="ja-JP">
                <a:solidFill>
                  <a:srgbClr val="202427"/>
                </a:solidFill>
                <a:latin typeface="Yu Gothic"/>
                <a:ea typeface="Yu Gothic"/>
                <a:cs typeface="Yu Gothic"/>
              </a:rPr>
              <a:t>説明はどこまでか</a:t>
            </a:r>
          </a:p>
        </p:txBody>
      </p:sp>
      <p:cxnSp>
        <p:nvCxnSpPr>
          <p:cNvPr id="33" name="Connector 32"/>
          <p:cNvCxnSpPr/>
          <p:nvPr/>
        </p:nvCxnSpPr>
        <p:spPr>
          <a:xfrm>
            <a:off x="12582000" y="4950000"/>
            <a:ext cx="4590000" cy="0"/>
          </a:xfrm>
          <a:prstGeom prst="line">
            <a:avLst/>
          </a:prstGeom>
          <a:ln w="1270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34" name="CARD_3_BODY"/>
          <p:cNvSpPr txBox="1"/>
          <p:nvPr/>
        </p:nvSpPr>
        <p:spPr>
          <a:xfrm>
            <a:off x="12582000" y="5238000"/>
            <a:ext cx="4608000" cy="172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500" b="0" lang="ja-JP">
                <a:solidFill>
                  <a:srgbClr val="202427"/>
                </a:solidFill>
                <a:latin typeface="Yu Gothic"/>
                <a:ea typeface="Yu Gothic"/>
                <a:cs typeface="Yu Gothic"/>
              </a:rPr>
              <a:t>領域別の改善・悪化</a:t>
            </a:r>
          </a:p>
          <a:p>
            <a:pPr algn="l">
              <a:lnSpc>
                <a:spcPct val="115000"/>
              </a:lnSpc>
              <a:spcBef>
                <a:spcPts val="0"/>
              </a:spcBef>
              <a:spcAft>
                <a:spcPts val="0"/>
              </a:spcAft>
              <a:buNone/>
            </a:pPr>
            <a:r>
              <a:rPr sz="2500" b="0" lang="ja-JP">
                <a:solidFill>
                  <a:srgbClr val="202427"/>
                </a:solidFill>
                <a:latin typeface="Yu Gothic"/>
                <a:ea typeface="Yu Gothic"/>
                <a:cs typeface="Yu Gothic"/>
              </a:rPr>
              <a:t>同方向誤差の縮小</a:t>
            </a:r>
          </a:p>
          <a:p>
            <a:pPr algn="l">
              <a:lnSpc>
                <a:spcPct val="115000"/>
              </a:lnSpc>
              <a:spcBef>
                <a:spcPts val="0"/>
              </a:spcBef>
              <a:spcAft>
                <a:spcPts val="0"/>
              </a:spcAft>
              <a:buNone/>
            </a:pPr>
            <a:r>
              <a:rPr sz="2500" b="0" lang="ja-JP">
                <a:solidFill>
                  <a:srgbClr val="202427"/>
                </a:solidFill>
                <a:latin typeface="Yu Gothic"/>
                <a:ea typeface="Yu Gothic"/>
                <a:cs typeface="Yu Gothic"/>
              </a:rPr>
              <a:t>入力依存の差を確認</a:t>
            </a:r>
          </a:p>
        </p:txBody>
      </p:sp>
      <p:sp>
        <p:nvSpPr>
          <p:cNvPr id="35" name="FLOW_background"/>
          <p:cNvSpPr/>
          <p:nvPr/>
        </p:nvSpPr>
        <p:spPr>
          <a:xfrm>
            <a:off x="1512000" y="8388000"/>
            <a:ext cx="15912000" cy="720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FLOW"/>
          <p:cNvSpPr txBox="1"/>
          <p:nvPr/>
        </p:nvSpPr>
        <p:spPr>
          <a:xfrm>
            <a:off x="1620000" y="8406000"/>
            <a:ext cx="15696000" cy="684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400" b="1" lang="ja-JP">
                <a:solidFill>
                  <a:srgbClr val="2F6F73"/>
                </a:solidFill>
                <a:latin typeface="Yu Gothic"/>
                <a:ea typeface="Yu Gothic"/>
                <a:cs typeface="Yu Gothic"/>
              </a:rPr>
              <a:t>過去の問題整理 → 現在の性能 → 統合の説明 → 修論への配置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3</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研究の概要と今回の問い</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音響から熱流束・ONBを推定し，</a:t>
            </a:r>
          </a:p>
          <a:p>
            <a:pPr algn="l">
              <a:lnSpc>
                <a:spcPct val="115000"/>
              </a:lnSpc>
              <a:spcBef>
                <a:spcPts val="0"/>
              </a:spcBef>
              <a:spcAft>
                <a:spcPts val="0"/>
              </a:spcAft>
              <a:buNone/>
            </a:pPr>
            <a:r>
              <a:rPr sz="3200" b="1" lang="ja-JP">
                <a:solidFill>
                  <a:srgbClr val="202427"/>
                </a:solidFill>
                <a:latin typeface="Yu Gothic"/>
                <a:ea typeface="Yu Gothic"/>
                <a:cs typeface="Yu Gothic"/>
              </a:rPr>
              <a:t>雑音下での統合の働きを説明する</a:t>
            </a:r>
          </a:p>
        </p:txBody>
      </p:sp>
      <p:sp>
        <p:nvSpPr>
          <p:cNvPr id="20" name="PIPELINE_1"/>
          <p:cNvSpPr/>
          <p:nvPr/>
        </p:nvSpPr>
        <p:spPr>
          <a:xfrm>
            <a:off x="1512000" y="3690000"/>
            <a:ext cx="2628000" cy="2232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PIPELINE_1_TITLE"/>
          <p:cNvSpPr txBox="1"/>
          <p:nvPr/>
        </p:nvSpPr>
        <p:spPr>
          <a:xfrm>
            <a:off x="1576800" y="4050000"/>
            <a:ext cx="2498400" cy="720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F6F73"/>
                </a:solidFill>
                <a:latin typeface="Yu Gothic"/>
                <a:ea typeface="Yu Gothic"/>
                <a:cs typeface="Yu Gothic"/>
              </a:rPr>
              <a:t>音響録音</a:t>
            </a:r>
          </a:p>
        </p:txBody>
      </p:sp>
      <p:sp>
        <p:nvSpPr>
          <p:cNvPr id="22" name="PIPELINE_1_BODY"/>
          <p:cNvSpPr txBox="1"/>
          <p:nvPr/>
        </p:nvSpPr>
        <p:spPr>
          <a:xfrm>
            <a:off x="1566000" y="5040000"/>
            <a:ext cx="2520000" cy="503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0" lang="ja-JP">
                <a:solidFill>
                  <a:srgbClr val="202427"/>
                </a:solidFill>
                <a:latin typeface="Yu Gothic"/>
                <a:ea typeface="Yu Gothic"/>
                <a:cs typeface="Yu Gothic"/>
              </a:rPr>
              <a:t>1秒区間</a:t>
            </a:r>
          </a:p>
        </p:txBody>
      </p:sp>
      <p:sp>
        <p:nvSpPr>
          <p:cNvPr id="23" name="Right Arrow 22"/>
          <p:cNvSpPr/>
          <p:nvPr/>
        </p:nvSpPr>
        <p:spPr>
          <a:xfrm>
            <a:off x="4194000" y="4554000"/>
            <a:ext cx="251999" cy="306000"/>
          </a:xfrm>
          <a:prstGeom prst="rightArrow">
            <a:avLst/>
          </a:prstGeom>
          <a:solidFill>
            <a:srgbClr val="639FA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PIPELINE_2"/>
          <p:cNvSpPr/>
          <p:nvPr/>
        </p:nvSpPr>
        <p:spPr>
          <a:xfrm>
            <a:off x="4500000" y="3690000"/>
            <a:ext cx="3096000" cy="2232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PIPELINE_2_TITLE"/>
          <p:cNvSpPr txBox="1"/>
          <p:nvPr/>
        </p:nvSpPr>
        <p:spPr>
          <a:xfrm>
            <a:off x="4564800" y="4050000"/>
            <a:ext cx="2966400" cy="720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F6F73"/>
                </a:solidFill>
                <a:latin typeface="Yu Gothic"/>
                <a:ea typeface="Yu Gothic"/>
                <a:cs typeface="Yu Gothic"/>
              </a:rPr>
              <a:t>スペクトログラム</a:t>
            </a:r>
          </a:p>
        </p:txBody>
      </p:sp>
      <p:sp>
        <p:nvSpPr>
          <p:cNvPr id="26" name="PIPELINE_2_BODY"/>
          <p:cNvSpPr txBox="1"/>
          <p:nvPr/>
        </p:nvSpPr>
        <p:spPr>
          <a:xfrm>
            <a:off x="4554000" y="5040000"/>
            <a:ext cx="2987999" cy="503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0" lang="ja-JP">
                <a:solidFill>
                  <a:srgbClr val="202427"/>
                </a:solidFill>
                <a:latin typeface="Yu Gothic"/>
                <a:ea typeface="Yu Gothic"/>
                <a:cs typeface="Yu Gothic"/>
              </a:rPr>
              <a:t>画像・要約特徴</a:t>
            </a:r>
          </a:p>
        </p:txBody>
      </p:sp>
      <p:sp>
        <p:nvSpPr>
          <p:cNvPr id="27" name="Right Arrow 26"/>
          <p:cNvSpPr/>
          <p:nvPr/>
        </p:nvSpPr>
        <p:spPr>
          <a:xfrm>
            <a:off x="7650000" y="4554000"/>
            <a:ext cx="251999" cy="306000"/>
          </a:xfrm>
          <a:prstGeom prst="rightArrow">
            <a:avLst/>
          </a:prstGeom>
          <a:solidFill>
            <a:srgbClr val="639FA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PIPELINE_3"/>
          <p:cNvSpPr/>
          <p:nvPr/>
        </p:nvSpPr>
        <p:spPr>
          <a:xfrm>
            <a:off x="7956000" y="3690000"/>
            <a:ext cx="3420000" cy="2232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PIPELINE_3_TITLE"/>
          <p:cNvSpPr txBox="1"/>
          <p:nvPr/>
        </p:nvSpPr>
        <p:spPr>
          <a:xfrm>
            <a:off x="8020800" y="4050000"/>
            <a:ext cx="3290400" cy="720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F6F73"/>
                </a:solidFill>
                <a:latin typeface="Yu Gothic"/>
                <a:ea typeface="Yu Gothic"/>
                <a:cs typeface="Yu Gothic"/>
              </a:rPr>
              <a:t>複数モデル</a:t>
            </a:r>
          </a:p>
        </p:txBody>
      </p:sp>
      <p:sp>
        <p:nvSpPr>
          <p:cNvPr id="30" name="PIPELINE_3_BODY"/>
          <p:cNvSpPr txBox="1"/>
          <p:nvPr/>
        </p:nvSpPr>
        <p:spPr>
          <a:xfrm>
            <a:off x="8010000" y="5040000"/>
            <a:ext cx="3311999" cy="503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0" lang="ja-JP">
                <a:solidFill>
                  <a:srgbClr val="202427"/>
                </a:solidFill>
                <a:latin typeface="Yu Gothic"/>
                <a:ea typeface="Yu Gothic"/>
                <a:cs typeface="Yu Gothic"/>
              </a:rPr>
              <a:t>＋固定重み統合</a:t>
            </a:r>
          </a:p>
        </p:txBody>
      </p:sp>
      <p:sp>
        <p:nvSpPr>
          <p:cNvPr id="31" name="Right Arrow 30"/>
          <p:cNvSpPr/>
          <p:nvPr/>
        </p:nvSpPr>
        <p:spPr>
          <a:xfrm>
            <a:off x="11430000" y="4554000"/>
            <a:ext cx="251999" cy="306000"/>
          </a:xfrm>
          <a:prstGeom prst="rightArrow">
            <a:avLst/>
          </a:prstGeom>
          <a:solidFill>
            <a:srgbClr val="639FA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PIPELINE_4"/>
          <p:cNvSpPr/>
          <p:nvPr/>
        </p:nvSpPr>
        <p:spPr>
          <a:xfrm>
            <a:off x="11736000" y="3690000"/>
            <a:ext cx="2520000" cy="2232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PIPELINE_4_TITLE"/>
          <p:cNvSpPr txBox="1"/>
          <p:nvPr/>
        </p:nvSpPr>
        <p:spPr>
          <a:xfrm>
            <a:off x="11800800" y="4050000"/>
            <a:ext cx="2390400" cy="720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F6F73"/>
                </a:solidFill>
                <a:latin typeface="Yu Gothic"/>
                <a:ea typeface="Yu Gothic"/>
                <a:cs typeface="Yu Gothic"/>
              </a:rPr>
              <a:t>熱流束</a:t>
            </a:r>
          </a:p>
        </p:txBody>
      </p:sp>
      <p:sp>
        <p:nvSpPr>
          <p:cNvPr id="34" name="PIPELINE_4_BODY"/>
          <p:cNvSpPr txBox="1"/>
          <p:nvPr/>
        </p:nvSpPr>
        <p:spPr>
          <a:xfrm>
            <a:off x="11790000" y="5040000"/>
            <a:ext cx="2412000" cy="503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0" lang="ja-JP">
                <a:solidFill>
                  <a:srgbClr val="202427"/>
                </a:solidFill>
                <a:latin typeface="Yu Gothic"/>
                <a:ea typeface="Yu Gothic"/>
                <a:cs typeface="Yu Gothic"/>
              </a:rPr>
              <a:t>の予測</a:t>
            </a:r>
          </a:p>
        </p:txBody>
      </p:sp>
      <p:sp>
        <p:nvSpPr>
          <p:cNvPr id="35" name="Right Arrow 34"/>
          <p:cNvSpPr/>
          <p:nvPr/>
        </p:nvSpPr>
        <p:spPr>
          <a:xfrm>
            <a:off x="14310000" y="4554000"/>
            <a:ext cx="251999" cy="306000"/>
          </a:xfrm>
          <a:prstGeom prst="rightArrow">
            <a:avLst/>
          </a:prstGeom>
          <a:solidFill>
            <a:srgbClr val="639FA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PIPELINE_5"/>
          <p:cNvSpPr/>
          <p:nvPr/>
        </p:nvSpPr>
        <p:spPr>
          <a:xfrm>
            <a:off x="14616000" y="3690000"/>
            <a:ext cx="2592000" cy="2232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PIPELINE_5_TITLE"/>
          <p:cNvSpPr txBox="1"/>
          <p:nvPr/>
        </p:nvSpPr>
        <p:spPr>
          <a:xfrm>
            <a:off x="14680800" y="4050000"/>
            <a:ext cx="2462400" cy="720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F6F73"/>
                </a:solidFill>
                <a:latin typeface="Yu Gothic"/>
                <a:ea typeface="Yu Gothic"/>
                <a:cs typeface="Yu Gothic"/>
              </a:rPr>
              <a:t>ONB</a:t>
            </a:r>
          </a:p>
        </p:txBody>
      </p:sp>
      <p:sp>
        <p:nvSpPr>
          <p:cNvPr id="38" name="PIPELINE_5_BODY"/>
          <p:cNvSpPr txBox="1"/>
          <p:nvPr/>
        </p:nvSpPr>
        <p:spPr>
          <a:xfrm>
            <a:off x="14670000" y="5040000"/>
            <a:ext cx="2484000" cy="503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0" lang="ja-JP">
                <a:solidFill>
                  <a:srgbClr val="202427"/>
                </a:solidFill>
                <a:latin typeface="Yu Gothic"/>
                <a:ea typeface="Yu Gothic"/>
                <a:cs typeface="Yu Gothic"/>
              </a:rPr>
              <a:t>判定</a:t>
            </a:r>
          </a:p>
        </p:txBody>
      </p:sp>
      <p:sp>
        <p:nvSpPr>
          <p:cNvPr id="39" name="EVALUATION_TITLE"/>
          <p:cNvSpPr txBox="1"/>
          <p:nvPr/>
        </p:nvSpPr>
        <p:spPr>
          <a:xfrm>
            <a:off x="1602000" y="7002000"/>
            <a:ext cx="4320000" cy="503999"/>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1" lang="ja-JP">
                <a:solidFill>
                  <a:srgbClr val="2F6F73"/>
                </a:solidFill>
                <a:latin typeface="Yu Gothic"/>
                <a:ea typeface="Yu Gothic"/>
                <a:cs typeface="Yu Gothic"/>
              </a:rPr>
              <a:t>確認する点</a:t>
            </a:r>
          </a:p>
        </p:txBody>
      </p:sp>
      <p:sp>
        <p:nvSpPr>
          <p:cNvPr id="40" name="EVALUATION_BODY"/>
          <p:cNvSpPr txBox="1"/>
          <p:nvPr/>
        </p:nvSpPr>
        <p:spPr>
          <a:xfrm>
            <a:off x="1602000" y="7686000"/>
            <a:ext cx="15732000" cy="630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0" lang="ja-JP">
                <a:solidFill>
                  <a:srgbClr val="202427"/>
                </a:solidFill>
                <a:latin typeface="Yu Gothic"/>
                <a:ea typeface="Yu Gothic"/>
                <a:cs typeface="Yu Gothic"/>
              </a:rPr>
              <a:t>推定誤差 ／ ONB判定 ／ 特徴利用と誤りの対応</a:t>
            </a:r>
          </a:p>
        </p:txBody>
      </p:sp>
      <p:sp>
        <p:nvSpPr>
          <p:cNvPr id="41" name="QUESTION_background"/>
          <p:cNvSpPr/>
          <p:nvPr/>
        </p:nvSpPr>
        <p:spPr>
          <a:xfrm>
            <a:off x="1512000" y="8640000"/>
            <a:ext cx="15912000" cy="648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QUESTION"/>
          <p:cNvSpPr txBox="1"/>
          <p:nvPr/>
        </p:nvSpPr>
        <p:spPr>
          <a:xfrm>
            <a:off x="1620000" y="8658000"/>
            <a:ext cx="15696000" cy="612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500" b="1" lang="ja-JP">
                <a:solidFill>
                  <a:srgbClr val="2F6F73"/>
                </a:solidFill>
                <a:latin typeface="Yu Gothic"/>
                <a:ea typeface="Yu Gothic"/>
                <a:cs typeface="Yu Gothic"/>
              </a:rPr>
              <a:t>どの性能が改善し，どの条件では改善しないかを明らかにする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4</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1. 雑音評価方法の見直し</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旧雑音生成を修正し，同じ学習済みモデルへの</a:t>
            </a:r>
          </a:p>
          <a:p>
            <a:pPr algn="l">
              <a:lnSpc>
                <a:spcPct val="115000"/>
              </a:lnSpc>
              <a:spcBef>
                <a:spcPts val="0"/>
              </a:spcBef>
              <a:spcAft>
                <a:spcPts val="0"/>
              </a:spcAft>
              <a:buNone/>
            </a:pPr>
            <a:r>
              <a:rPr sz="3200" b="1" lang="ja-JP">
                <a:solidFill>
                  <a:srgbClr val="202427"/>
                </a:solidFill>
                <a:latin typeface="Yu Gothic"/>
                <a:ea typeface="Yu Gothic"/>
                <a:cs typeface="Yu Gothic"/>
              </a:rPr>
              <a:t>雑音の影響を調べる</a:t>
            </a:r>
          </a:p>
        </p:txBody>
      </p:sp>
      <p:sp>
        <p:nvSpPr>
          <p:cNvPr id="20" name="FOOTNOTE"/>
          <p:cNvSpPr txBox="1"/>
          <p:nvPr/>
        </p:nvSpPr>
        <p:spPr>
          <a:xfrm>
            <a:off x="1512000" y="9486000"/>
            <a:ext cx="15912000" cy="37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左：2025/6/18・22 kHz・PCA診断・通常KFold。現在の5モデルの性能図ではない。</a:t>
            </a:r>
          </a:p>
        </p:txBody>
      </p:sp>
      <p:sp>
        <p:nvSpPr>
          <p:cNvPr id="21" name="LEFT_TITLE"/>
          <p:cNvSpPr txBox="1"/>
          <p:nvPr/>
        </p:nvSpPr>
        <p:spPr>
          <a:xfrm>
            <a:off x="1512000" y="2754000"/>
            <a:ext cx="8568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1" lang="ja-JP">
                <a:solidFill>
                  <a:srgbClr val="2F6F73"/>
                </a:solidFill>
                <a:latin typeface="Yu Gothic"/>
                <a:ea typeface="Yu Gothic"/>
                <a:cs typeface="Yu Gothic"/>
              </a:rPr>
              <a:t>旧生成の診断</a:t>
            </a:r>
          </a:p>
        </p:txBody>
      </p:sp>
      <p:sp>
        <p:nvSpPr>
          <p:cNvPr id="22" name="FIG_04_DIAGNOSIS"/>
          <p:cNvSpPr/>
          <p:nvPr/>
        </p:nvSpPr>
        <p:spPr>
          <a:xfrm>
            <a:off x="1512000" y="3258000"/>
            <a:ext cx="8568000" cy="4176000"/>
          </a:xfrm>
          <a:prstGeom prst="rect">
            <a:avLst/>
          </a:prstGeom>
          <a:solidFill>
            <a:srgbClr val="F8FAFA"/>
          </a:solidFill>
          <a:ln w="17780">
            <a:solidFill>
              <a:srgbClr val="A9BBBB"/>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FIG_04_DIAGNOSIS_label"/>
          <p:cNvSpPr txBox="1"/>
          <p:nvPr/>
        </p:nvSpPr>
        <p:spPr>
          <a:xfrm>
            <a:off x="1656000" y="4552560"/>
            <a:ext cx="8280000" cy="827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700" b="1" lang="ja-JP">
                <a:solidFill>
                  <a:srgbClr val="697477"/>
                </a:solidFill>
                <a:latin typeface="Yu Gothic"/>
                <a:ea typeface="Yu Gothic"/>
                <a:cs typeface="Yu Gothic"/>
              </a:rPr>
              <a:t>［図を挿入］</a:t>
            </a:r>
          </a:p>
          <a:p>
            <a:pPr algn="ctr">
              <a:lnSpc>
                <a:spcPct val="115000"/>
              </a:lnSpc>
              <a:spcBef>
                <a:spcPts val="0"/>
              </a:spcBef>
              <a:spcAft>
                <a:spcPts val="0"/>
              </a:spcAft>
              <a:buNone/>
            </a:pPr>
            <a:r>
              <a:rPr sz="2700" b="1" lang="ja-JP">
                <a:solidFill>
                  <a:srgbClr val="697477"/>
                </a:solidFill>
                <a:latin typeface="Yu Gothic"/>
                <a:ea typeface="Yu Gothic"/>
                <a:cs typeface="Yu Gothic"/>
              </a:rPr>
              <a:t>旧処理の4条件とR²</a:t>
            </a:r>
          </a:p>
        </p:txBody>
      </p:sp>
      <p:sp>
        <p:nvSpPr>
          <p:cNvPr id="24" name="FIG_04_DIAGNOSIS_file"/>
          <p:cNvSpPr txBox="1"/>
          <p:nvPr/>
        </p:nvSpPr>
        <p:spPr>
          <a:xfrm>
            <a:off x="1656000" y="5596560"/>
            <a:ext cx="8280000" cy="594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800" b="0" lang="ja-JP">
                <a:solidFill>
                  <a:srgbClr val="697477"/>
                </a:solidFill>
                <a:latin typeface="Yu Gothic"/>
                <a:ea typeface="Yu Gothic"/>
                <a:cs typeface="Yu Gothic"/>
              </a:rPr>
              <a:t>slide_old_noise_shortcut.png</a:t>
            </a:r>
          </a:p>
        </p:txBody>
      </p:sp>
      <p:sp>
        <p:nvSpPr>
          <p:cNvPr id="25" name="FIG_04_DIAGNOSIS_detail"/>
          <p:cNvSpPr txBox="1"/>
          <p:nvPr/>
        </p:nvSpPr>
        <p:spPr>
          <a:xfrm>
            <a:off x="1656000" y="7092000"/>
            <a:ext cx="8280000" cy="27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700" b="0" lang="ja-JP">
                <a:solidFill>
                  <a:srgbClr val="697477"/>
                </a:solidFill>
                <a:latin typeface="Yu Gothic"/>
                <a:ea typeface="Yu Gothic"/>
                <a:cs typeface="Yu Gothic"/>
              </a:rPr>
              <a:t>縦横比を保って挿入</a:t>
            </a:r>
          </a:p>
        </p:txBody>
      </p:sp>
      <p:sp>
        <p:nvSpPr>
          <p:cNvPr id="26" name="LEFT_TAKEAWAY"/>
          <p:cNvSpPr txBox="1"/>
          <p:nvPr/>
        </p:nvSpPr>
        <p:spPr>
          <a:xfrm>
            <a:off x="1512000" y="7560000"/>
            <a:ext cx="8568000" cy="46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400" b="1" lang="ja-JP">
                <a:solidFill>
                  <a:srgbClr val="202427"/>
                </a:solidFill>
                <a:latin typeface="Yu Gothic"/>
                <a:ea typeface="Yu Gothic"/>
                <a:cs typeface="Yu Gothic"/>
              </a:rPr>
              <a:t>元信号の強度が付加雑音へ反映</a:t>
            </a:r>
          </a:p>
        </p:txBody>
      </p:sp>
      <p:sp>
        <p:nvSpPr>
          <p:cNvPr id="27" name="RIGHT_TITLE"/>
          <p:cNvSpPr txBox="1"/>
          <p:nvPr/>
        </p:nvSpPr>
        <p:spPr>
          <a:xfrm>
            <a:off x="10656000" y="2754000"/>
            <a:ext cx="6768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1" lang="ja-JP">
                <a:solidFill>
                  <a:srgbClr val="2F6F73"/>
                </a:solidFill>
                <a:latin typeface="Yu Gothic"/>
                <a:ea typeface="Yu Gothic"/>
                <a:cs typeface="Yu Gothic"/>
              </a:rPr>
              <a:t>今回：無雑音学習を固定</a:t>
            </a:r>
          </a:p>
        </p:txBody>
      </p:sp>
      <p:sp>
        <p:nvSpPr>
          <p:cNvPr id="28" name="FIXED_STEP_1"/>
          <p:cNvSpPr/>
          <p:nvPr/>
        </p:nvSpPr>
        <p:spPr>
          <a:xfrm>
            <a:off x="10656000" y="3384000"/>
            <a:ext cx="6768000" cy="1080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FIXED_STEP_1_TEXT"/>
          <p:cNvSpPr txBox="1"/>
          <p:nvPr/>
        </p:nvSpPr>
        <p:spPr>
          <a:xfrm>
            <a:off x="10746000" y="3420000"/>
            <a:ext cx="6588000" cy="1007999"/>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02427"/>
                </a:solidFill>
                <a:latin typeface="Yu Gothic"/>
                <a:ea typeface="Yu Gothic"/>
                <a:cs typeface="Yu Gothic"/>
              </a:rPr>
              <a:t>無雑音のみで学習</a:t>
            </a:r>
          </a:p>
        </p:txBody>
      </p:sp>
      <p:sp>
        <p:nvSpPr>
          <p:cNvPr id="30" name="Down Arrow 29"/>
          <p:cNvSpPr/>
          <p:nvPr/>
        </p:nvSpPr>
        <p:spPr>
          <a:xfrm>
            <a:off x="13842000" y="4518000"/>
            <a:ext cx="396000" cy="234000"/>
          </a:xfrm>
          <a:prstGeom prst="downArrow">
            <a:avLst/>
          </a:prstGeom>
          <a:solidFill>
            <a:srgbClr val="639FA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IXED_STEP_2"/>
          <p:cNvSpPr/>
          <p:nvPr/>
        </p:nvSpPr>
        <p:spPr>
          <a:xfrm>
            <a:off x="10656000" y="4824000"/>
            <a:ext cx="6768000" cy="1080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FIXED_STEP_2_TEXT"/>
          <p:cNvSpPr txBox="1"/>
          <p:nvPr/>
        </p:nvSpPr>
        <p:spPr>
          <a:xfrm>
            <a:off x="10746000" y="4860000"/>
            <a:ext cx="6588000" cy="1007999"/>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02427"/>
                </a:solidFill>
                <a:latin typeface="Yu Gothic"/>
                <a:ea typeface="Yu Gothic"/>
                <a:cs typeface="Yu Gothic"/>
              </a:rPr>
              <a:t>モデル・前処理・</a:t>
            </a:r>
          </a:p>
          <a:p>
            <a:pPr algn="ctr">
              <a:lnSpc>
                <a:spcPct val="115000"/>
              </a:lnSpc>
              <a:spcBef>
                <a:spcPts val="0"/>
              </a:spcBef>
              <a:spcAft>
                <a:spcPts val="0"/>
              </a:spcAft>
              <a:buNone/>
            </a:pPr>
            <a:r>
              <a:rPr sz="2600" b="1" lang="ja-JP">
                <a:solidFill>
                  <a:srgbClr val="202427"/>
                </a:solidFill>
                <a:latin typeface="Yu Gothic"/>
                <a:ea typeface="Yu Gothic"/>
                <a:cs typeface="Yu Gothic"/>
              </a:rPr>
              <a:t>統合重みを固定</a:t>
            </a:r>
          </a:p>
        </p:txBody>
      </p:sp>
      <p:sp>
        <p:nvSpPr>
          <p:cNvPr id="33" name="Down Arrow 32"/>
          <p:cNvSpPr/>
          <p:nvPr/>
        </p:nvSpPr>
        <p:spPr>
          <a:xfrm>
            <a:off x="13842000" y="5958000"/>
            <a:ext cx="396000" cy="234000"/>
          </a:xfrm>
          <a:prstGeom prst="downArrow">
            <a:avLst/>
          </a:prstGeom>
          <a:solidFill>
            <a:srgbClr val="639FA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IXED_STEP_3"/>
          <p:cNvSpPr/>
          <p:nvPr/>
        </p:nvSpPr>
        <p:spPr>
          <a:xfrm>
            <a:off x="10656000" y="6263999"/>
            <a:ext cx="6768000" cy="1080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IXED_STEP_3_TEXT"/>
          <p:cNvSpPr txBox="1"/>
          <p:nvPr/>
        </p:nvSpPr>
        <p:spPr>
          <a:xfrm>
            <a:off x="10746000" y="6300000"/>
            <a:ext cx="6588000" cy="1007999"/>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600" b="1" lang="ja-JP">
                <a:solidFill>
                  <a:srgbClr val="202427"/>
                </a:solidFill>
                <a:latin typeface="Yu Gothic"/>
                <a:ea typeface="Yu Gothic"/>
                <a:cs typeface="Yu Gothic"/>
              </a:rPr>
              <a:t>同じ評価区間へ</a:t>
            </a:r>
          </a:p>
          <a:p>
            <a:pPr algn="ctr">
              <a:lnSpc>
                <a:spcPct val="115000"/>
              </a:lnSpc>
              <a:spcBef>
                <a:spcPts val="0"/>
              </a:spcBef>
              <a:spcAft>
                <a:spcPts val="0"/>
              </a:spcAft>
              <a:buNone/>
            </a:pPr>
            <a:r>
              <a:rPr sz="2600" b="1" lang="ja-JP">
                <a:solidFill>
                  <a:srgbClr val="202427"/>
                </a:solidFill>
                <a:latin typeface="Yu Gothic"/>
                <a:ea typeface="Yu Gothic"/>
                <a:cs typeface="Yu Gothic"/>
              </a:rPr>
              <a:t>雑音を付加</a:t>
            </a:r>
          </a:p>
        </p:txBody>
      </p:sp>
      <p:sp>
        <p:nvSpPr>
          <p:cNvPr id="36" name="MATCHED_CAVEAT_background"/>
          <p:cNvSpPr/>
          <p:nvPr/>
        </p:nvSpPr>
        <p:spPr>
          <a:xfrm>
            <a:off x="1512000" y="8406000"/>
            <a:ext cx="15912000" cy="792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MATCHED_CAVEAT"/>
          <p:cNvSpPr txBox="1"/>
          <p:nvPr/>
        </p:nvSpPr>
        <p:spPr>
          <a:xfrm>
            <a:off x="1620000" y="8424000"/>
            <a:ext cx="15696000" cy="756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300" b="1" lang="ja-JP">
                <a:solidFill>
                  <a:srgbClr val="2F6F73"/>
                </a:solidFill>
                <a:latin typeface="Yu Gothic"/>
                <a:ea typeface="Yu Gothic"/>
                <a:cs typeface="Yu Gothic"/>
              </a:rPr>
              <a:t>生成修正後のmatchedにも，一部で精度回復が残った。</a:t>
            </a:r>
          </a:p>
          <a:p>
            <a:pPr algn="l">
              <a:lnSpc>
                <a:spcPct val="115000"/>
              </a:lnSpc>
              <a:spcBef>
                <a:spcPts val="0"/>
              </a:spcBef>
              <a:spcAft>
                <a:spcPts val="0"/>
              </a:spcAft>
              <a:buNone/>
            </a:pPr>
            <a:r>
              <a:rPr sz="2300" b="1" lang="ja-JP">
                <a:solidFill>
                  <a:srgbClr val="2F6F73"/>
                </a:solidFill>
                <a:latin typeface="Yu Gothic"/>
                <a:ea typeface="Yu Gothic"/>
                <a:cs typeface="Yu Gothic"/>
              </a:rPr>
              <a:t>matchedは雑音条件ごとに別モデルを学習する。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5</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2. 現在の評価条件と統合構成</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既知録音内の未使用区間で，</a:t>
            </a:r>
          </a:p>
          <a:p>
            <a:pPr algn="l">
              <a:lnSpc>
                <a:spcPct val="115000"/>
              </a:lnSpc>
              <a:spcBef>
                <a:spcPts val="0"/>
              </a:spcBef>
              <a:spcAft>
                <a:spcPts val="0"/>
              </a:spcAft>
              <a:buNone/>
            </a:pPr>
            <a:r>
              <a:rPr sz="3200" b="1" lang="ja-JP">
                <a:solidFill>
                  <a:srgbClr val="202427"/>
                </a:solidFill>
                <a:latin typeface="Yu Gothic"/>
                <a:ea typeface="Yu Gothic"/>
                <a:cs typeface="Yu Gothic"/>
              </a:rPr>
              <a:t>元3・2種類の4モデル・5モデルを比較する</a:t>
            </a:r>
          </a:p>
        </p:txBody>
      </p:sp>
      <p:sp>
        <p:nvSpPr>
          <p:cNvPr id="20" name="FOOTNOTE"/>
          <p:cNvSpPr txBox="1"/>
          <p:nvPr/>
        </p:nvSpPr>
        <p:spPr>
          <a:xfrm>
            <a:off x="1512000" y="9486000"/>
            <a:ext cx="15912000" cy="37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2025/6/11＋6/18 ／ 3 kHz ／ 選別なし ／ clean_only　※未知日への一般化評価ではない。</a:t>
            </a:r>
          </a:p>
        </p:txBody>
      </p:sp>
      <p:sp>
        <p:nvSpPr>
          <p:cNvPr id="21" name="SPLIT_PANEL"/>
          <p:cNvSpPr/>
          <p:nvPr/>
        </p:nvSpPr>
        <p:spPr>
          <a:xfrm>
            <a:off x="1512000" y="3078000"/>
            <a:ext cx="7380000" cy="5148000"/>
          </a:xfrm>
          <a:prstGeom prst="rect">
            <a:avLst/>
          </a:prstGeom>
          <a:solidFill>
            <a:srgbClr val="F8FAFA"/>
          </a:solidFill>
          <a:ln w="17780">
            <a:solidFill>
              <a:srgbClr val="CDD7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PLIT_TITLE"/>
          <p:cNvSpPr txBox="1"/>
          <p:nvPr/>
        </p:nvSpPr>
        <p:spPr>
          <a:xfrm>
            <a:off x="1728000" y="3276000"/>
            <a:ext cx="6948000" cy="503999"/>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1" lang="ja-JP">
                <a:solidFill>
                  <a:srgbClr val="2F6F73"/>
                </a:solidFill>
                <a:latin typeface="Yu Gothic"/>
                <a:ea typeface="Yu Gothic"/>
                <a:cs typeface="Yu Gothic"/>
              </a:rPr>
              <a:t>評価分割</a:t>
            </a:r>
          </a:p>
        </p:txBody>
      </p:sp>
      <p:sp>
        <p:nvSpPr>
          <p:cNvPr id="23" name="SPLIT_RECORD"/>
          <p:cNvSpPr txBox="1"/>
          <p:nvPr/>
        </p:nvSpPr>
        <p:spPr>
          <a:xfrm>
            <a:off x="1728000" y="4014000"/>
            <a:ext cx="6948000" cy="503999"/>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500" b="0" lang="ja-JP">
                <a:solidFill>
                  <a:srgbClr val="202427"/>
                </a:solidFill>
                <a:latin typeface="Yu Gothic"/>
                <a:ea typeface="Yu Gothic"/>
                <a:cs typeface="Yu Gothic"/>
              </a:rPr>
              <a:t>1録音＝60区間（各1秒）</a:t>
            </a:r>
          </a:p>
        </p:txBody>
      </p:sp>
      <p:sp>
        <p:nvSpPr>
          <p:cNvPr id="24" name="COUNT_BOX"/>
          <p:cNvSpPr/>
          <p:nvPr/>
        </p:nvSpPr>
        <p:spPr>
          <a:xfrm>
            <a:off x="1782000" y="4788000"/>
            <a:ext cx="3168000" cy="1548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COUNT_LABEL"/>
          <p:cNvSpPr txBox="1"/>
          <p:nvPr/>
        </p:nvSpPr>
        <p:spPr>
          <a:xfrm>
            <a:off x="1854000" y="4932000"/>
            <a:ext cx="3024000" cy="1260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900" b="1" lang="ja-JP">
                <a:solidFill>
                  <a:srgbClr val="2F6F73"/>
                </a:solidFill>
                <a:latin typeface="Yu Gothic"/>
                <a:ea typeface="Yu Gothic"/>
                <a:cs typeface="Yu Gothic"/>
              </a:rPr>
              <a:t>学習</a:t>
            </a:r>
          </a:p>
          <a:p>
            <a:pPr algn="ctr">
              <a:lnSpc>
                <a:spcPct val="115000"/>
              </a:lnSpc>
              <a:spcBef>
                <a:spcPts val="0"/>
              </a:spcBef>
              <a:spcAft>
                <a:spcPts val="0"/>
              </a:spcAft>
              <a:buNone/>
            </a:pPr>
            <a:r>
              <a:rPr sz="2900" b="1" lang="ja-JP">
                <a:solidFill>
                  <a:srgbClr val="2F6F73"/>
                </a:solidFill>
                <a:latin typeface="Yu Gothic"/>
                <a:ea typeface="Yu Gothic"/>
                <a:cs typeface="Yu Gothic"/>
              </a:rPr>
              <a:t>45区間</a:t>
            </a:r>
          </a:p>
        </p:txBody>
      </p:sp>
      <p:sp>
        <p:nvSpPr>
          <p:cNvPr id="26" name="COUNT_BOX"/>
          <p:cNvSpPr/>
          <p:nvPr/>
        </p:nvSpPr>
        <p:spPr>
          <a:xfrm>
            <a:off x="5382000" y="4788000"/>
            <a:ext cx="3168000" cy="1548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COUNT_LABEL"/>
          <p:cNvSpPr txBox="1"/>
          <p:nvPr/>
        </p:nvSpPr>
        <p:spPr>
          <a:xfrm>
            <a:off x="5453999" y="4932000"/>
            <a:ext cx="3024000" cy="1260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900" b="1" lang="ja-JP">
                <a:solidFill>
                  <a:srgbClr val="2F6F73"/>
                </a:solidFill>
                <a:latin typeface="Yu Gothic"/>
                <a:ea typeface="Yu Gothic"/>
                <a:cs typeface="Yu Gothic"/>
              </a:rPr>
              <a:t>評価</a:t>
            </a:r>
          </a:p>
          <a:p>
            <a:pPr algn="ctr">
              <a:lnSpc>
                <a:spcPct val="115000"/>
              </a:lnSpc>
              <a:spcBef>
                <a:spcPts val="0"/>
              </a:spcBef>
              <a:spcAft>
                <a:spcPts val="0"/>
              </a:spcAft>
              <a:buNone/>
            </a:pPr>
            <a:r>
              <a:rPr sz="2900" b="1" lang="ja-JP">
                <a:solidFill>
                  <a:srgbClr val="2F6F73"/>
                </a:solidFill>
                <a:latin typeface="Yu Gothic"/>
                <a:ea typeface="Yu Gothic"/>
                <a:cs typeface="Yu Gothic"/>
              </a:rPr>
              <a:t>15区間</a:t>
            </a:r>
          </a:p>
        </p:txBody>
      </p:sp>
      <p:sp>
        <p:nvSpPr>
          <p:cNvPr id="28" name="SPLIT_NOT_TIME"/>
          <p:cNvSpPr txBox="1"/>
          <p:nvPr/>
        </p:nvSpPr>
        <p:spPr>
          <a:xfrm>
            <a:off x="1728000" y="6552000"/>
            <a:ext cx="6948000" cy="486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000" b="0" lang="ja-JP">
                <a:solidFill>
                  <a:srgbClr val="697477"/>
                </a:solidFill>
                <a:latin typeface="Yu Gothic"/>
                <a:ea typeface="Yu Gothic"/>
                <a:cs typeface="Yu Gothic"/>
              </a:rPr>
              <a:t>件数を表示：連続した45秒／15秒ではない</a:t>
            </a:r>
          </a:p>
        </p:txBody>
      </p:sp>
      <p:sp>
        <p:nvSpPr>
          <p:cNvPr id="29" name="SPLIT_TOTAL"/>
          <p:cNvSpPr txBox="1"/>
          <p:nvPr/>
        </p:nvSpPr>
        <p:spPr>
          <a:xfrm>
            <a:off x="1728000" y="7200000"/>
            <a:ext cx="6948000" cy="936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1" lang="ja-JP">
                <a:solidFill>
                  <a:srgbClr val="202427"/>
                </a:solidFill>
                <a:latin typeface="Yu Gothic"/>
                <a:ea typeface="Yu Gothic"/>
                <a:cs typeface="Yu Gothic"/>
              </a:rPr>
              <a:t>36録音の合計</a:t>
            </a:r>
          </a:p>
          <a:p>
            <a:pPr algn="l">
              <a:lnSpc>
                <a:spcPct val="115000"/>
              </a:lnSpc>
              <a:spcBef>
                <a:spcPts val="0"/>
              </a:spcBef>
              <a:spcAft>
                <a:spcPts val="0"/>
              </a:spcAft>
              <a:buNone/>
            </a:pPr>
            <a:r>
              <a:rPr sz="2700" b="1" lang="ja-JP">
                <a:solidFill>
                  <a:srgbClr val="202427"/>
                </a:solidFill>
                <a:latin typeface="Yu Gothic"/>
                <a:ea typeface="Yu Gothic"/>
                <a:cs typeface="Yu Gothic"/>
              </a:rPr>
              <a:t>学習1620 ／ 評価540</a:t>
            </a:r>
          </a:p>
        </p:txBody>
      </p:sp>
      <p:sp>
        <p:nvSpPr>
          <p:cNvPr id="30" name="MODEL_TITLE"/>
          <p:cNvSpPr txBox="1"/>
          <p:nvPr/>
        </p:nvSpPr>
        <p:spPr>
          <a:xfrm>
            <a:off x="9360000" y="3114000"/>
            <a:ext cx="8063999" cy="503999"/>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1" lang="ja-JP">
                <a:solidFill>
                  <a:srgbClr val="2F6F73"/>
                </a:solidFill>
                <a:latin typeface="Yu Gothic"/>
                <a:ea typeface="Yu Gothic"/>
                <a:cs typeface="Yu Gothic"/>
              </a:rPr>
              <a:t>比較する構成</a:t>
            </a:r>
          </a:p>
        </p:txBody>
      </p:sp>
      <p:sp>
        <p:nvSpPr>
          <p:cNvPr id="31" name="ORIGINAL_3"/>
          <p:cNvSpPr/>
          <p:nvPr/>
        </p:nvSpPr>
        <p:spPr>
          <a:xfrm>
            <a:off x="9360000" y="3780000"/>
            <a:ext cx="8063999" cy="1530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ORIGINAL_3_TEXT"/>
          <p:cNvSpPr txBox="1"/>
          <p:nvPr/>
        </p:nvSpPr>
        <p:spPr>
          <a:xfrm>
            <a:off x="9522000" y="3978000"/>
            <a:ext cx="7740000" cy="1152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600" b="1" lang="ja-JP">
                <a:solidFill>
                  <a:srgbClr val="202427"/>
                </a:solidFill>
                <a:latin typeface="Yu Gothic"/>
                <a:ea typeface="Yu Gothic"/>
                <a:cs typeface="Yu Gothic"/>
              </a:rPr>
              <a:t>元3：RF・CNN＋Transformer</a:t>
            </a:r>
          </a:p>
          <a:p>
            <a:pPr algn="l">
              <a:lnSpc>
                <a:spcPct val="115000"/>
              </a:lnSpc>
              <a:spcBef>
                <a:spcPts val="0"/>
              </a:spcBef>
              <a:spcAft>
                <a:spcPts val="0"/>
              </a:spcAft>
              <a:buNone/>
            </a:pPr>
            <a:r>
              <a:rPr sz="2600" b="1" lang="ja-JP">
                <a:solidFill>
                  <a:srgbClr val="202427"/>
                </a:solidFill>
                <a:latin typeface="Yu Gothic"/>
                <a:ea typeface="Yu Gothic"/>
                <a:cs typeface="Yu Gothic"/>
              </a:rPr>
              <a:t>　　  ・AlexNet</a:t>
            </a:r>
          </a:p>
        </p:txBody>
      </p:sp>
      <p:sp>
        <p:nvSpPr>
          <p:cNvPr id="33" name="4モデル①&#10;元3＋HGB"/>
          <p:cNvSpPr/>
          <p:nvPr/>
        </p:nvSpPr>
        <p:spPr>
          <a:xfrm>
            <a:off x="9360000" y="5760000"/>
            <a:ext cx="3870000" cy="1350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4モデル①&#10;元3＋HGB_TEXT"/>
          <p:cNvSpPr txBox="1"/>
          <p:nvPr/>
        </p:nvSpPr>
        <p:spPr>
          <a:xfrm>
            <a:off x="9439200" y="5903999"/>
            <a:ext cx="3708000" cy="1062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500" b="1" lang="ja-JP">
                <a:solidFill>
                  <a:srgbClr val="202427"/>
                </a:solidFill>
                <a:latin typeface="Yu Gothic"/>
                <a:ea typeface="Yu Gothic"/>
                <a:cs typeface="Yu Gothic"/>
              </a:rPr>
              <a:t>4モデル①</a:t>
            </a:r>
          </a:p>
          <a:p>
            <a:pPr algn="ctr">
              <a:lnSpc>
                <a:spcPct val="115000"/>
              </a:lnSpc>
              <a:spcBef>
                <a:spcPts val="0"/>
              </a:spcBef>
              <a:spcAft>
                <a:spcPts val="0"/>
              </a:spcAft>
              <a:buNone/>
            </a:pPr>
            <a:r>
              <a:rPr sz="2500" b="1" lang="ja-JP">
                <a:solidFill>
                  <a:srgbClr val="202427"/>
                </a:solidFill>
                <a:latin typeface="Yu Gothic"/>
                <a:ea typeface="Yu Gothic"/>
                <a:cs typeface="Yu Gothic"/>
              </a:rPr>
              <a:t>元3＋HGB</a:t>
            </a:r>
          </a:p>
        </p:txBody>
      </p:sp>
      <p:sp>
        <p:nvSpPr>
          <p:cNvPr id="35" name="4モデル②&#10;元3＋ET"/>
          <p:cNvSpPr/>
          <p:nvPr/>
        </p:nvSpPr>
        <p:spPr>
          <a:xfrm>
            <a:off x="13554000" y="5760000"/>
            <a:ext cx="3870000" cy="1350000"/>
          </a:xfrm>
          <a:prstGeom prst="roundRect">
            <a:avLst>
              <a:gd name="adj" fmla="val 12000"/>
            </a:avLst>
          </a:prstGeom>
          <a:solidFill>
            <a:srgbClr val="EDF4F4"/>
          </a:solidFill>
          <a:ln w="17780">
            <a:solidFill>
              <a:srgbClr val="639FA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4モデル②&#10;元3＋ET_TEXT"/>
          <p:cNvSpPr txBox="1"/>
          <p:nvPr/>
        </p:nvSpPr>
        <p:spPr>
          <a:xfrm>
            <a:off x="13633200" y="5903999"/>
            <a:ext cx="3708000" cy="106200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500" b="1" lang="ja-JP">
                <a:solidFill>
                  <a:srgbClr val="202427"/>
                </a:solidFill>
                <a:latin typeface="Yu Gothic"/>
                <a:ea typeface="Yu Gothic"/>
                <a:cs typeface="Yu Gothic"/>
              </a:rPr>
              <a:t>4モデル②</a:t>
            </a:r>
          </a:p>
          <a:p>
            <a:pPr algn="ctr">
              <a:lnSpc>
                <a:spcPct val="115000"/>
              </a:lnSpc>
              <a:spcBef>
                <a:spcPts val="0"/>
              </a:spcBef>
              <a:spcAft>
                <a:spcPts val="0"/>
              </a:spcAft>
              <a:buNone/>
            </a:pPr>
            <a:r>
              <a:rPr sz="2500" b="1" lang="ja-JP">
                <a:solidFill>
                  <a:srgbClr val="202427"/>
                </a:solidFill>
                <a:latin typeface="Yu Gothic"/>
                <a:ea typeface="Yu Gothic"/>
                <a:cs typeface="Yu Gothic"/>
              </a:rPr>
              <a:t>元3＋ET</a:t>
            </a:r>
          </a:p>
        </p:txBody>
      </p:sp>
      <p:sp>
        <p:nvSpPr>
          <p:cNvPr id="37" name="FIVE"/>
          <p:cNvSpPr/>
          <p:nvPr/>
        </p:nvSpPr>
        <p:spPr>
          <a:xfrm>
            <a:off x="9360000" y="7560000"/>
            <a:ext cx="8063999" cy="917999"/>
          </a:xfrm>
          <a:prstGeom prst="roundRect">
            <a:avLst>
              <a:gd name="adj" fmla="val 12000"/>
            </a:avLst>
          </a:prstGeom>
          <a:solidFill>
            <a:srgbClr val="2F6F7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FIVE_TEXT"/>
          <p:cNvSpPr txBox="1"/>
          <p:nvPr/>
        </p:nvSpPr>
        <p:spPr>
          <a:xfrm>
            <a:off x="9450000" y="7722000"/>
            <a:ext cx="7883999" cy="594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800" b="1" lang="ja-JP">
                <a:solidFill>
                  <a:srgbClr val="FFFFFF"/>
                </a:solidFill>
                <a:latin typeface="Yu Gothic"/>
                <a:ea typeface="Yu Gothic"/>
                <a:cs typeface="Yu Gothic"/>
              </a:rPr>
              <a:t>5モデル：元3＋HGB＋ET</a:t>
            </a:r>
          </a:p>
        </p:txBody>
      </p:sp>
      <p:sp>
        <p:nvSpPr>
          <p:cNvPr id="39" name="WEIGHT_RULE"/>
          <p:cNvSpPr txBox="1"/>
          <p:nvPr/>
        </p:nvSpPr>
        <p:spPr>
          <a:xfrm>
            <a:off x="1512000" y="8712000"/>
            <a:ext cx="15912000" cy="55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400" b="1" lang="ja-JP">
                <a:solidFill>
                  <a:srgbClr val="2F6F73"/>
                </a:solidFill>
                <a:latin typeface="Yu Gothic"/>
                <a:ea typeface="Yu Gothic"/>
                <a:cs typeface="Yu Gothic"/>
              </a:rPr>
              <a:t>重み：無雑音の学習側OOF予測の全域MSEで決定し，評価中は固定</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6</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2. 熱流束回帰の結果</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5モデルは元3 MSEより，</a:t>
            </a:r>
          </a:p>
          <a:p>
            <a:pPr algn="l">
              <a:lnSpc>
                <a:spcPct val="115000"/>
              </a:lnSpc>
              <a:spcBef>
                <a:spcPts val="0"/>
              </a:spcBef>
              <a:spcAft>
                <a:spcPts val="0"/>
              </a:spcAft>
              <a:buNone/>
            </a:pPr>
            <a:r>
              <a:rPr sz="3200" b="1" lang="ja-JP">
                <a:solidFill>
                  <a:srgbClr val="202427"/>
                </a:solidFill>
                <a:latin typeface="Yu Gothic"/>
                <a:ea typeface="Yu Gothic"/>
                <a:cs typeface="Yu Gothic"/>
              </a:rPr>
              <a:t>全7条件で全域RMSEが低下した</a:t>
            </a:r>
          </a:p>
        </p:txBody>
      </p:sp>
      <p:sp>
        <p:nvSpPr>
          <p:cNvPr id="20" name="FOOTNOTE"/>
          <p:cNvSpPr txBox="1"/>
          <p:nvPr/>
        </p:nvSpPr>
        <p:spPr>
          <a:xfrm>
            <a:off x="1512000" y="9486000"/>
            <a:ext cx="15912000" cy="37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同一の540評価区間・seed42・200 epochs。横軸は参照SNR（無雑音＋6雑音条件）。</a:t>
            </a:r>
          </a:p>
        </p:txBody>
      </p:sp>
      <p:sp>
        <p:nvSpPr>
          <p:cNvPr id="21" name="REGRESSION_CHART_TITLE"/>
          <p:cNvSpPr txBox="1"/>
          <p:nvPr/>
        </p:nvSpPr>
        <p:spPr>
          <a:xfrm>
            <a:off x="1512000" y="2754000"/>
            <a:ext cx="9720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1" lang="ja-JP">
                <a:solidFill>
                  <a:srgbClr val="2F6F73"/>
                </a:solidFill>
                <a:latin typeface="Yu Gothic"/>
                <a:ea typeface="Yu Gothic"/>
                <a:cs typeface="Yu Gothic"/>
              </a:rPr>
              <a:t>全7条件の比較</a:t>
            </a:r>
          </a:p>
        </p:txBody>
      </p:sp>
      <p:sp>
        <p:nvSpPr>
          <p:cNvPr id="22" name="FIG_06_RMSE"/>
          <p:cNvSpPr/>
          <p:nvPr/>
        </p:nvSpPr>
        <p:spPr>
          <a:xfrm>
            <a:off x="1512000" y="3258000"/>
            <a:ext cx="9720000" cy="4716000"/>
          </a:xfrm>
          <a:prstGeom prst="rect">
            <a:avLst/>
          </a:prstGeom>
          <a:solidFill>
            <a:srgbClr val="F8FAFA"/>
          </a:solidFill>
          <a:ln w="17780">
            <a:solidFill>
              <a:srgbClr val="A9BBBB"/>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FIG_06_RMSE_label"/>
          <p:cNvSpPr txBox="1"/>
          <p:nvPr/>
        </p:nvSpPr>
        <p:spPr>
          <a:xfrm>
            <a:off x="1656000" y="4719960"/>
            <a:ext cx="9432000" cy="827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700" b="1" lang="ja-JP">
                <a:solidFill>
                  <a:srgbClr val="697477"/>
                </a:solidFill>
                <a:latin typeface="Yu Gothic"/>
                <a:ea typeface="Yu Gothic"/>
                <a:cs typeface="Yu Gothic"/>
              </a:rPr>
              <a:t>［図を挿入］</a:t>
            </a:r>
          </a:p>
          <a:p>
            <a:pPr algn="ctr">
              <a:lnSpc>
                <a:spcPct val="115000"/>
              </a:lnSpc>
              <a:spcBef>
                <a:spcPts val="0"/>
              </a:spcBef>
              <a:spcAft>
                <a:spcPts val="0"/>
              </a:spcAft>
              <a:buNone/>
            </a:pPr>
            <a:r>
              <a:rPr sz="2700" b="1" lang="ja-JP">
                <a:solidFill>
                  <a:srgbClr val="697477"/>
                </a:solidFill>
                <a:latin typeface="Yu Gothic"/>
                <a:ea typeface="Yu Gothic"/>
                <a:cs typeface="Yu Gothic"/>
              </a:rPr>
              <a:t>全域RMSE × 全7条件</a:t>
            </a:r>
          </a:p>
        </p:txBody>
      </p:sp>
      <p:sp>
        <p:nvSpPr>
          <p:cNvPr id="24" name="FIG_06_RMSE_file"/>
          <p:cNvSpPr txBox="1"/>
          <p:nvPr/>
        </p:nvSpPr>
        <p:spPr>
          <a:xfrm>
            <a:off x="1656000" y="5898960"/>
            <a:ext cx="9432000" cy="594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800" b="0" lang="ja-JP">
                <a:solidFill>
                  <a:srgbClr val="697477"/>
                </a:solidFill>
                <a:latin typeface="Yu Gothic"/>
                <a:ea typeface="Yu Gothic"/>
                <a:cs typeface="Yu Gothic"/>
              </a:rPr>
              <a:t>current_regression_noise_trend.png</a:t>
            </a:r>
          </a:p>
        </p:txBody>
      </p:sp>
      <p:sp>
        <p:nvSpPr>
          <p:cNvPr id="25" name="FIG_06_RMSE_detail"/>
          <p:cNvSpPr txBox="1"/>
          <p:nvPr/>
        </p:nvSpPr>
        <p:spPr>
          <a:xfrm>
            <a:off x="1656000" y="7632000"/>
            <a:ext cx="9432000" cy="27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700" b="0" lang="ja-JP">
                <a:solidFill>
                  <a:srgbClr val="697477"/>
                </a:solidFill>
                <a:latin typeface="Yu Gothic"/>
                <a:ea typeface="Yu Gothic"/>
                <a:cs typeface="Yu Gothic"/>
              </a:rPr>
              <a:t>縦横比を保って挿入</a:t>
            </a:r>
          </a:p>
        </p:txBody>
      </p:sp>
      <p:sp>
        <p:nvSpPr>
          <p:cNvPr id="26" name="RMSE_TABLE_CAPTION"/>
          <p:cNvSpPr txBox="1"/>
          <p:nvPr/>
        </p:nvSpPr>
        <p:spPr>
          <a:xfrm>
            <a:off x="11700000" y="2754000"/>
            <a:ext cx="5724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500" b="1" lang="ja-JP">
                <a:solidFill>
                  <a:srgbClr val="2F6F73"/>
                </a:solidFill>
                <a:latin typeface="Yu Gothic"/>
                <a:ea typeface="Yu Gothic"/>
                <a:cs typeface="Yu Gothic"/>
              </a:rPr>
              <a:t>全域RMSE［kW/m²］</a:t>
            </a:r>
          </a:p>
        </p:txBody>
      </p:sp>
      <p:graphicFrame>
        <p:nvGraphicFramePr>
          <p:cNvPr id="27" name="RMSE_TABLE"/>
          <p:cNvGraphicFramePr>
            <a:graphicFrameLocks noGrp="1"/>
          </p:cNvGraphicFramePr>
          <p:nvPr/>
        </p:nvGraphicFramePr>
        <p:xfrm>
          <a:off x="11700000" y="3276000"/>
          <a:ext cx="5724000" cy="1908000"/>
        </p:xfrm>
        <a:graphic>
          <a:graphicData uri="http://schemas.openxmlformats.org/drawingml/2006/table">
            <a:tbl>
              <a:tblPr>
                <a:tableStyleId>{5C22544A-7EE6-4342-B048-85BDC9FD1C3A}</a:tableStyleId>
              </a:tblPr>
              <a:tblGrid>
                <a:gridCol w="1908000"/>
                <a:gridCol w="1908000"/>
                <a:gridCol w="1908000"/>
              </a:tblGrid>
              <a:tr h="540000">
                <a:tc>
                  <a:txBody>
                    <a:bodyPr wrap="square"/>
                    <a:lstStyle/>
                    <a:p>
                      <a:pPr algn="l">
                        <a:lnSpc>
                          <a:spcPct val="106000"/>
                        </a:lnSpc>
                        <a:spcBef>
                          <a:spcPts val="0"/>
                        </a:spcBef>
                        <a:spcAft>
                          <a:spcPts val="0"/>
                        </a:spcAft>
                        <a:buNone/>
                      </a:pPr>
                      <a:r>
                        <a:rPr sz="2100" b="1" lang="ja-JP">
                          <a:solidFill>
                            <a:srgbClr val="FFFFFF"/>
                          </a:solidFill>
                          <a:latin typeface="Yu Gothic"/>
                          <a:ea typeface="Yu Gothic"/>
                          <a:cs typeface="Yu Gothic"/>
                        </a:rPr>
                        <a:t>条件</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100" b="1" lang="ja-JP">
                          <a:solidFill>
                            <a:srgbClr val="FFFFFF"/>
                          </a:solidFill>
                          <a:latin typeface="Yu Gothic"/>
                          <a:ea typeface="Yu Gothic"/>
                          <a:cs typeface="Yu Gothic"/>
                        </a:rPr>
                        <a:t>元3 MSE</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100" b="1" lang="ja-JP">
                          <a:solidFill>
                            <a:srgbClr val="FFFFFF"/>
                          </a:solidFill>
                          <a:latin typeface="Yu Gothic"/>
                          <a:ea typeface="Yu Gothic"/>
                          <a:cs typeface="Yu Gothic"/>
                        </a:rPr>
                        <a:t>5モデル</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r>
              <a:tr h="684000">
                <a:tc>
                  <a:txBody>
                    <a:bodyPr wrap="square"/>
                    <a:lstStyle/>
                    <a:p>
                      <a:pPr algn="l">
                        <a:lnSpc>
                          <a:spcPct val="106000"/>
                        </a:lnSpc>
                        <a:spcBef>
                          <a:spcPts val="0"/>
                        </a:spcBef>
                        <a:spcAft>
                          <a:spcPts val="0"/>
                        </a:spcAft>
                        <a:buNone/>
                      </a:pPr>
                      <a:r>
                        <a:rPr sz="2600" b="0" lang="ja-JP">
                          <a:solidFill>
                            <a:srgbClr val="202427"/>
                          </a:solidFill>
                          <a:latin typeface="Yu Gothic"/>
                          <a:ea typeface="Yu Gothic"/>
                          <a:cs typeface="Yu Gothic"/>
                        </a:rPr>
                        <a:t>無雑音</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34.07</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27.80</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r>
              <a:tr h="684000">
                <a:tc>
                  <a:txBody>
                    <a:bodyPr wrap="square"/>
                    <a:lstStyle/>
                    <a:p>
                      <a:pPr algn="l">
                        <a:lnSpc>
                          <a:spcPct val="106000"/>
                        </a:lnSpc>
                        <a:spcBef>
                          <a:spcPts val="0"/>
                        </a:spcBef>
                        <a:spcAft>
                          <a:spcPts val="0"/>
                        </a:spcAft>
                        <a:buNone/>
                      </a:pPr>
                      <a:r>
                        <a:rPr sz="2600" b="0" lang="ja-JP">
                          <a:solidFill>
                            <a:srgbClr val="202427"/>
                          </a:solidFill>
                          <a:latin typeface="Yu Gothic"/>
                          <a:ea typeface="Yu Gothic"/>
                          <a:cs typeface="Yu Gothic"/>
                        </a:rPr>
                        <a:t>−20 dB</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81.14</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75.23</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r>
            </a:tbl>
          </a:graphicData>
        </a:graphic>
      </p:graphicFrame>
      <p:sp>
        <p:nvSpPr>
          <p:cNvPr id="28" name="INCREMENT_CAPTION"/>
          <p:cNvSpPr txBox="1"/>
          <p:nvPr/>
        </p:nvSpPr>
        <p:spPr>
          <a:xfrm>
            <a:off x="11700000" y="5580000"/>
            <a:ext cx="5724000" cy="59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300" b="1" lang="ja-JP">
                <a:solidFill>
                  <a:srgbClr val="2F6F73"/>
                </a:solidFill>
                <a:latin typeface="Yu Gothic"/>
                <a:ea typeface="Yu Gothic"/>
                <a:cs typeface="Yu Gothic"/>
              </a:rPr>
              <a:t>無雑音→−20 dBの増加量</a:t>
            </a:r>
          </a:p>
        </p:txBody>
      </p:sp>
      <p:sp>
        <p:nvSpPr>
          <p:cNvPr id="29" name="INCREMENT_VALUES"/>
          <p:cNvSpPr txBox="1"/>
          <p:nvPr/>
        </p:nvSpPr>
        <p:spPr>
          <a:xfrm>
            <a:off x="11700000" y="6318000"/>
            <a:ext cx="5724000" cy="1206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0" lang="ja-JP">
                <a:solidFill>
                  <a:srgbClr val="202427"/>
                </a:solidFill>
                <a:latin typeface="Yu Gothic"/>
                <a:ea typeface="Yu Gothic"/>
                <a:cs typeface="Yu Gothic"/>
              </a:rPr>
              <a:t>元3 MSE：＋47.07</a:t>
            </a:r>
          </a:p>
          <a:p>
            <a:pPr algn="l">
              <a:lnSpc>
                <a:spcPct val="115000"/>
              </a:lnSpc>
              <a:spcBef>
                <a:spcPts val="0"/>
              </a:spcBef>
              <a:spcAft>
                <a:spcPts val="0"/>
              </a:spcAft>
              <a:buNone/>
            </a:pPr>
            <a:r>
              <a:rPr sz="2700" b="0" lang="ja-JP">
                <a:solidFill>
                  <a:srgbClr val="202427"/>
                </a:solidFill>
                <a:latin typeface="Yu Gothic"/>
                <a:ea typeface="Yu Gothic"/>
                <a:cs typeface="Yu Gothic"/>
              </a:rPr>
              <a:t>5モデル：＋47.43</a:t>
            </a:r>
          </a:p>
        </p:txBody>
      </p:sp>
      <p:sp>
        <p:nvSpPr>
          <p:cNvPr id="30" name="RANKING_CAVEAT"/>
          <p:cNvSpPr txBox="1"/>
          <p:nvPr/>
        </p:nvSpPr>
        <p:spPr>
          <a:xfrm>
            <a:off x="1512000" y="8208000"/>
            <a:ext cx="15912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500" b="0" lang="ja-JP">
                <a:solidFill>
                  <a:srgbClr val="202427"/>
                </a:solidFill>
                <a:latin typeface="Yu Gothic"/>
                <a:ea typeface="Yu Gothic"/>
                <a:cs typeface="Yu Gothic"/>
              </a:rPr>
              <a:t>4モデル・単体に対する優位は条件依存</a:t>
            </a:r>
          </a:p>
        </p:txBody>
      </p:sp>
      <p:sp>
        <p:nvSpPr>
          <p:cNvPr id="31" name="ABSOLUTE_VS_DEGRADATION_background"/>
          <p:cNvSpPr/>
          <p:nvPr/>
        </p:nvSpPr>
        <p:spPr>
          <a:xfrm>
            <a:off x="1512000" y="8676000"/>
            <a:ext cx="15912000" cy="648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ABSOLUTE_VS_DEGRADATION"/>
          <p:cNvSpPr txBox="1"/>
          <p:nvPr/>
        </p:nvSpPr>
        <p:spPr>
          <a:xfrm>
            <a:off x="1620000" y="8694000"/>
            <a:ext cx="15696000" cy="612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400" b="1" lang="ja-JP">
                <a:solidFill>
                  <a:srgbClr val="2F6F73"/>
                </a:solidFill>
                <a:latin typeface="Yu Gothic"/>
                <a:ea typeface="Yu Gothic"/>
                <a:cs typeface="Yu Gothic"/>
              </a:rPr>
              <a:t>雑音下の絶対誤差は低下したが，無雑音からの悪化量は縮小していない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7</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2. ONB判定の結果</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見逃しは減少したが，</a:t>
            </a:r>
          </a:p>
          <a:p>
            <a:pPr algn="l">
              <a:lnSpc>
                <a:spcPct val="115000"/>
              </a:lnSpc>
              <a:spcBef>
                <a:spcPts val="0"/>
              </a:spcBef>
              <a:spcAft>
                <a:spcPts val="0"/>
              </a:spcAft>
              <a:buNone/>
            </a:pPr>
            <a:r>
              <a:rPr sz="3200" b="1" lang="ja-JP">
                <a:solidFill>
                  <a:srgbClr val="202427"/>
                </a:solidFill>
                <a:latin typeface="Yu Gothic"/>
                <a:ea typeface="Yu Gothic"/>
                <a:cs typeface="Yu Gothic"/>
              </a:rPr>
              <a:t>無雑音時のq100の改善は実験日で異なった</a:t>
            </a:r>
          </a:p>
        </p:txBody>
      </p:sp>
      <p:sp>
        <p:nvSpPr>
          <p:cNvPr id="20" name="FN_TITLE"/>
          <p:cNvSpPr txBox="1"/>
          <p:nvPr/>
        </p:nvSpPr>
        <p:spPr>
          <a:xfrm>
            <a:off x="1512000" y="2754000"/>
            <a:ext cx="9540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1" lang="ja-JP">
                <a:solidFill>
                  <a:srgbClr val="2F6F73"/>
                </a:solidFill>
                <a:latin typeface="Yu Gothic"/>
                <a:ea typeface="Yu Gothic"/>
                <a:cs typeface="Yu Gothic"/>
              </a:rPr>
              <a:t>見逃し件数FN</a:t>
            </a:r>
          </a:p>
        </p:txBody>
      </p:sp>
      <p:sp>
        <p:nvSpPr>
          <p:cNvPr id="21" name="FIG_07_FN"/>
          <p:cNvSpPr/>
          <p:nvPr/>
        </p:nvSpPr>
        <p:spPr>
          <a:xfrm>
            <a:off x="1512000" y="3258000"/>
            <a:ext cx="9540000" cy="4716000"/>
          </a:xfrm>
          <a:prstGeom prst="rect">
            <a:avLst/>
          </a:prstGeom>
          <a:solidFill>
            <a:srgbClr val="F8FAFA"/>
          </a:solidFill>
          <a:ln w="17780">
            <a:solidFill>
              <a:srgbClr val="A9BBBB"/>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FIG_07_FN_label"/>
          <p:cNvSpPr txBox="1"/>
          <p:nvPr/>
        </p:nvSpPr>
        <p:spPr>
          <a:xfrm>
            <a:off x="1656000" y="4719960"/>
            <a:ext cx="9252000" cy="827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700" b="1" lang="ja-JP">
                <a:solidFill>
                  <a:srgbClr val="697477"/>
                </a:solidFill>
                <a:latin typeface="Yu Gothic"/>
                <a:ea typeface="Yu Gothic"/>
                <a:cs typeface="Yu Gothic"/>
              </a:rPr>
              <a:t>［図を挿入］</a:t>
            </a:r>
          </a:p>
          <a:p>
            <a:pPr algn="ctr">
              <a:lnSpc>
                <a:spcPct val="115000"/>
              </a:lnSpc>
              <a:spcBef>
                <a:spcPts val="0"/>
              </a:spcBef>
              <a:spcAft>
                <a:spcPts val="0"/>
              </a:spcAft>
              <a:buNone/>
            </a:pPr>
            <a:r>
              <a:rPr sz="2700" b="1" lang="ja-JP">
                <a:solidFill>
                  <a:srgbClr val="697477"/>
                </a:solidFill>
                <a:latin typeface="Yu Gothic"/>
                <a:ea typeface="Yu Gothic"/>
                <a:cs typeface="Yu Gothic"/>
              </a:rPr>
              <a:t>元3・4・5モデルの見逃し</a:t>
            </a:r>
          </a:p>
        </p:txBody>
      </p:sp>
      <p:sp>
        <p:nvSpPr>
          <p:cNvPr id="23" name="FIG_07_FN_file"/>
          <p:cNvSpPr txBox="1"/>
          <p:nvPr/>
        </p:nvSpPr>
        <p:spPr>
          <a:xfrm>
            <a:off x="1656000" y="5898960"/>
            <a:ext cx="9252000" cy="594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800" b="0" lang="ja-JP">
                <a:solidFill>
                  <a:srgbClr val="697477"/>
                </a:solidFill>
                <a:latin typeface="Yu Gothic"/>
                <a:ea typeface="Yu Gothic"/>
                <a:cs typeface="Yu Gothic"/>
              </a:rPr>
              <a:t>current_onb_false_negatives.png</a:t>
            </a:r>
          </a:p>
        </p:txBody>
      </p:sp>
      <p:sp>
        <p:nvSpPr>
          <p:cNvPr id="24" name="FIG_07_FN_detail"/>
          <p:cNvSpPr txBox="1"/>
          <p:nvPr/>
        </p:nvSpPr>
        <p:spPr>
          <a:xfrm>
            <a:off x="1656000" y="7632000"/>
            <a:ext cx="9252000" cy="27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700" b="0" lang="ja-JP">
                <a:solidFill>
                  <a:srgbClr val="697477"/>
                </a:solidFill>
                <a:latin typeface="Yu Gothic"/>
                <a:ea typeface="Yu Gothic"/>
                <a:cs typeface="Yu Gothic"/>
              </a:rPr>
              <a:t>縦横比を保って挿入</a:t>
            </a:r>
          </a:p>
        </p:txBody>
      </p:sp>
      <p:sp>
        <p:nvSpPr>
          <p:cNvPr id="25" name="Q100_CAPTION"/>
          <p:cNvSpPr txBox="1"/>
          <p:nvPr/>
        </p:nvSpPr>
        <p:spPr>
          <a:xfrm>
            <a:off x="11664000" y="2754000"/>
            <a:ext cx="5760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400" b="1" lang="ja-JP">
                <a:solidFill>
                  <a:srgbClr val="2F6F73"/>
                </a:solidFill>
                <a:latin typeface="Yu Gothic"/>
                <a:ea typeface="Yu Gothic"/>
                <a:cs typeface="Yu Gothic"/>
              </a:rPr>
              <a:t>無雑音のq100［kW/m²］</a:t>
            </a:r>
          </a:p>
        </p:txBody>
      </p:sp>
      <p:graphicFrame>
        <p:nvGraphicFramePr>
          <p:cNvPr id="26" name="Q100_TABLE"/>
          <p:cNvGraphicFramePr>
            <a:graphicFrameLocks noGrp="1"/>
          </p:cNvGraphicFramePr>
          <p:nvPr/>
        </p:nvGraphicFramePr>
        <p:xfrm>
          <a:off x="11664000" y="3276000"/>
          <a:ext cx="5760000" cy="1908000"/>
        </p:xfrm>
        <a:graphic>
          <a:graphicData uri="http://schemas.openxmlformats.org/drawingml/2006/table">
            <a:tbl>
              <a:tblPr>
                <a:tableStyleId>{5C22544A-7EE6-4342-B048-85BDC9FD1C3A}</a:tableStyleId>
              </a:tblPr>
              <a:tblGrid>
                <a:gridCol w="1548000"/>
                <a:gridCol w="2106000"/>
                <a:gridCol w="2106000"/>
              </a:tblGrid>
              <a:tr h="540000">
                <a:tc>
                  <a:txBody>
                    <a:bodyPr wrap="square"/>
                    <a:lstStyle/>
                    <a:p>
                      <a:pPr algn="l">
                        <a:lnSpc>
                          <a:spcPct val="106000"/>
                        </a:lnSpc>
                        <a:spcBef>
                          <a:spcPts val="0"/>
                        </a:spcBef>
                        <a:spcAft>
                          <a:spcPts val="0"/>
                        </a:spcAft>
                        <a:buNone/>
                      </a:pPr>
                      <a:r>
                        <a:rPr sz="2100" b="1" lang="ja-JP">
                          <a:solidFill>
                            <a:srgbClr val="FFFFFF"/>
                          </a:solidFill>
                          <a:latin typeface="Yu Gothic"/>
                          <a:ea typeface="Yu Gothic"/>
                          <a:cs typeface="Yu Gothic"/>
                        </a:rPr>
                        <a:t>実験日</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100" b="1" lang="ja-JP">
                          <a:solidFill>
                            <a:srgbClr val="FFFFFF"/>
                          </a:solidFill>
                          <a:latin typeface="Yu Gothic"/>
                          <a:ea typeface="Yu Gothic"/>
                          <a:cs typeface="Yu Gothic"/>
                        </a:rPr>
                        <a:t>元3 MSE</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100" b="1" lang="ja-JP">
                          <a:solidFill>
                            <a:srgbClr val="FFFFFF"/>
                          </a:solidFill>
                          <a:latin typeface="Yu Gothic"/>
                          <a:ea typeface="Yu Gothic"/>
                          <a:cs typeface="Yu Gothic"/>
                        </a:rPr>
                        <a:t>5モデル</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r>
              <a:tr h="684000">
                <a:tc>
                  <a:txBody>
                    <a:bodyPr wrap="square"/>
                    <a:lstStyle/>
                    <a:p>
                      <a:pPr algn="l">
                        <a:lnSpc>
                          <a:spcPct val="106000"/>
                        </a:lnSpc>
                        <a:spcBef>
                          <a:spcPts val="0"/>
                        </a:spcBef>
                        <a:spcAft>
                          <a:spcPts val="0"/>
                        </a:spcAft>
                        <a:buNone/>
                      </a:pPr>
                      <a:r>
                        <a:rPr sz="2600" b="0" lang="ja-JP">
                          <a:solidFill>
                            <a:srgbClr val="202427"/>
                          </a:solidFill>
                          <a:latin typeface="Yu Gothic"/>
                          <a:ea typeface="Yu Gothic"/>
                          <a:cs typeface="Yu Gothic"/>
                        </a:rPr>
                        <a:t>6/11</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368.98</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368.98</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r>
              <a:tr h="684000">
                <a:tc>
                  <a:txBody>
                    <a:bodyPr wrap="square"/>
                    <a:lstStyle/>
                    <a:p>
                      <a:pPr algn="l">
                        <a:lnSpc>
                          <a:spcPct val="106000"/>
                        </a:lnSpc>
                        <a:spcBef>
                          <a:spcPts val="0"/>
                        </a:spcBef>
                        <a:spcAft>
                          <a:spcPts val="0"/>
                        </a:spcAft>
                        <a:buNone/>
                      </a:pPr>
                      <a:r>
                        <a:rPr sz="2600" b="0" lang="ja-JP">
                          <a:solidFill>
                            <a:srgbClr val="202427"/>
                          </a:solidFill>
                          <a:latin typeface="Yu Gothic"/>
                          <a:ea typeface="Yu Gothic"/>
                          <a:cs typeface="Yu Gothic"/>
                        </a:rPr>
                        <a:t>6/18</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434.02</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376.32</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r>
            </a:tbl>
          </a:graphicData>
        </a:graphic>
      </p:graphicFrame>
      <p:sp>
        <p:nvSpPr>
          <p:cNvPr id="27" name="FP_CAPTION"/>
          <p:cNvSpPr txBox="1"/>
          <p:nvPr/>
        </p:nvSpPr>
        <p:spPr>
          <a:xfrm>
            <a:off x="11664000" y="5634000"/>
            <a:ext cx="5760000" cy="61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300" b="1" lang="ja-JP">
                <a:solidFill>
                  <a:srgbClr val="2F6F73"/>
                </a:solidFill>
                <a:latin typeface="Yu Gothic"/>
                <a:ea typeface="Yu Gothic"/>
                <a:cs typeface="Yu Gothic"/>
              </a:rPr>
              <a:t>誤報FP（元3 MSE → 5）</a:t>
            </a:r>
          </a:p>
        </p:txBody>
      </p:sp>
      <p:sp>
        <p:nvSpPr>
          <p:cNvPr id="28" name="FP_VALUES"/>
          <p:cNvSpPr txBox="1"/>
          <p:nvPr/>
        </p:nvSpPr>
        <p:spPr>
          <a:xfrm>
            <a:off x="11664000" y="6353999"/>
            <a:ext cx="5760000" cy="13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800" b="0" lang="ja-JP">
                <a:solidFill>
                  <a:srgbClr val="202427"/>
                </a:solidFill>
                <a:latin typeface="Yu Gothic"/>
                <a:ea typeface="Yu Gothic"/>
                <a:cs typeface="Yu Gothic"/>
              </a:rPr>
              <a:t>無雑音：1 → 1</a:t>
            </a:r>
          </a:p>
          <a:p>
            <a:pPr algn="l">
              <a:lnSpc>
                <a:spcPct val="115000"/>
              </a:lnSpc>
              <a:spcBef>
                <a:spcPts val="0"/>
              </a:spcBef>
              <a:spcAft>
                <a:spcPts val="0"/>
              </a:spcAft>
              <a:buNone/>
            </a:pPr>
            <a:r>
              <a:rPr sz="2800" b="0" lang="ja-JP">
                <a:solidFill>
                  <a:srgbClr val="202427"/>
                </a:solidFill>
                <a:latin typeface="Yu Gothic"/>
                <a:ea typeface="Yu Gothic"/>
                <a:cs typeface="Yu Gothic"/>
              </a:rPr>
              <a:t>−20 dB：0 → 0</a:t>
            </a:r>
          </a:p>
        </p:txBody>
      </p:sp>
      <p:sp>
        <p:nvSpPr>
          <p:cNvPr id="29" name="FN_TAKEAWAY_background"/>
          <p:cNvSpPr/>
          <p:nvPr/>
        </p:nvSpPr>
        <p:spPr>
          <a:xfrm>
            <a:off x="1512000" y="8280000"/>
            <a:ext cx="15912000" cy="648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FN_TAKEAWAY"/>
          <p:cNvSpPr txBox="1"/>
          <p:nvPr/>
        </p:nvSpPr>
        <p:spPr>
          <a:xfrm>
            <a:off x="1620000" y="8298000"/>
            <a:ext cx="15696000" cy="612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600" b="1" lang="ja-JP">
                <a:solidFill>
                  <a:srgbClr val="2F6F73"/>
                </a:solidFill>
                <a:latin typeface="Yu Gothic"/>
                <a:ea typeface="Yu Gothic"/>
                <a:cs typeface="Yu Gothic"/>
              </a:rPr>
              <a:t>見逃しFN：無雑音 42 → 27 ／ −20 dB 65 → 52</a:t>
            </a:r>
          </a:p>
        </p:txBody>
      </p:sp>
      <p:sp>
        <p:nvSpPr>
          <p:cNvPr id="31" name="Q100_MIN_DEF"/>
          <p:cNvSpPr txBox="1"/>
          <p:nvPr/>
        </p:nvSpPr>
        <p:spPr>
          <a:xfrm>
            <a:off x="1512000" y="9126000"/>
            <a:ext cx="15912000" cy="32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000" b="0" lang="ja-JP">
                <a:solidFill>
                  <a:srgbClr val="697477"/>
                </a:solidFill>
                <a:latin typeface="Yu Gothic"/>
                <a:ea typeface="Yu Gothic"/>
                <a:cs typeface="Yu Gothic"/>
              </a:rPr>
              <a:t>q100：その熱流束以上の評価区間がすべて陽性となる最初の測定段階</a:t>
            </a:r>
          </a:p>
        </p:txBody>
      </p:sp>
      <p:sp>
        <p:nvSpPr>
          <p:cNvPr id="32" name="ONB_CONDITION"/>
          <p:cNvSpPr txBox="1"/>
          <p:nvPr/>
        </p:nvSpPr>
        <p:spPr>
          <a:xfrm>
            <a:off x="1512000" y="9540000"/>
            <a:ext cx="15912000" cy="28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日別ONB閾値で評価 ／ FNの対象315区間・FPの対象225区間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8</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3. 誤り補完から見た統合の働き</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改善には，逆向きの誤差相殺に加えて</a:t>
            </a:r>
          </a:p>
          <a:p>
            <a:pPr algn="l">
              <a:lnSpc>
                <a:spcPct val="115000"/>
              </a:lnSpc>
              <a:spcBef>
                <a:spcPts val="0"/>
              </a:spcBef>
              <a:spcAft>
                <a:spcPts val="0"/>
              </a:spcAft>
              <a:buNone/>
            </a:pPr>
            <a:r>
              <a:rPr sz="3200" b="1" lang="ja-JP">
                <a:solidFill>
                  <a:srgbClr val="202427"/>
                </a:solidFill>
                <a:latin typeface="Yu Gothic"/>
                <a:ea typeface="Yu Gothic"/>
                <a:cs typeface="Yu Gothic"/>
              </a:rPr>
              <a:t>同方向誤差の縮小が含まれる</a:t>
            </a:r>
          </a:p>
        </p:txBody>
      </p:sp>
      <p:sp>
        <p:nvSpPr>
          <p:cNvPr id="20" name="REGION_TITLE"/>
          <p:cNvSpPr txBox="1"/>
          <p:nvPr/>
        </p:nvSpPr>
        <p:spPr>
          <a:xfrm>
            <a:off x="1512000" y="2754000"/>
            <a:ext cx="8496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1" lang="ja-JP">
                <a:solidFill>
                  <a:srgbClr val="2F6F73"/>
                </a:solidFill>
                <a:latin typeface="Yu Gothic"/>
                <a:ea typeface="Yu Gothic"/>
                <a:cs typeface="Yu Gothic"/>
              </a:rPr>
              <a:t>どの領域で改善したか</a:t>
            </a:r>
          </a:p>
        </p:txBody>
      </p:sp>
      <p:sp>
        <p:nvSpPr>
          <p:cNvPr id="21" name="FIG_08_REGION"/>
          <p:cNvSpPr/>
          <p:nvPr/>
        </p:nvSpPr>
        <p:spPr>
          <a:xfrm>
            <a:off x="1512000" y="3258000"/>
            <a:ext cx="8496000" cy="4446000"/>
          </a:xfrm>
          <a:prstGeom prst="rect">
            <a:avLst/>
          </a:prstGeom>
          <a:solidFill>
            <a:srgbClr val="F8FAFA"/>
          </a:solidFill>
          <a:ln w="17780">
            <a:solidFill>
              <a:srgbClr val="A9BBBB"/>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FIG_08_REGION_label"/>
          <p:cNvSpPr txBox="1"/>
          <p:nvPr/>
        </p:nvSpPr>
        <p:spPr>
          <a:xfrm>
            <a:off x="1656000" y="4636260"/>
            <a:ext cx="8208000" cy="827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700" b="1" lang="ja-JP">
                <a:solidFill>
                  <a:srgbClr val="697477"/>
                </a:solidFill>
                <a:latin typeface="Yu Gothic"/>
                <a:ea typeface="Yu Gothic"/>
                <a:cs typeface="Yu Gothic"/>
              </a:rPr>
              <a:t>［図を挿入］</a:t>
            </a:r>
          </a:p>
          <a:p>
            <a:pPr algn="ctr">
              <a:lnSpc>
                <a:spcPct val="115000"/>
              </a:lnSpc>
              <a:spcBef>
                <a:spcPts val="0"/>
              </a:spcBef>
              <a:spcAft>
                <a:spcPts val="0"/>
              </a:spcAft>
              <a:buNone/>
            </a:pPr>
            <a:r>
              <a:rPr sz="2700" b="1" lang="ja-JP">
                <a:solidFill>
                  <a:srgbClr val="697477"/>
                </a:solidFill>
                <a:latin typeface="Yu Gothic"/>
                <a:ea typeface="Yu Gothic"/>
                <a:cs typeface="Yu Gothic"/>
              </a:rPr>
              <a:t>領域別のMSE改善</a:t>
            </a:r>
          </a:p>
        </p:txBody>
      </p:sp>
      <p:sp>
        <p:nvSpPr>
          <p:cNvPr id="23" name="FIG_08_REGION_file"/>
          <p:cNvSpPr txBox="1"/>
          <p:nvPr/>
        </p:nvSpPr>
        <p:spPr>
          <a:xfrm>
            <a:off x="1656000" y="5747760"/>
            <a:ext cx="8208000" cy="594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800" b="0" lang="ja-JP">
                <a:solidFill>
                  <a:srgbClr val="697477"/>
                </a:solidFill>
                <a:latin typeface="Yu Gothic"/>
                <a:ea typeface="Yu Gothic"/>
                <a:cs typeface="Yu Gothic"/>
              </a:rPr>
              <a:t>slide_error_and_feature_linkage.png</a:t>
            </a:r>
          </a:p>
          <a:p>
            <a:pPr algn="ctr">
              <a:lnSpc>
                <a:spcPct val="115000"/>
              </a:lnSpc>
              <a:spcBef>
                <a:spcPts val="0"/>
              </a:spcBef>
              <a:spcAft>
                <a:spcPts val="0"/>
              </a:spcAft>
              <a:buNone/>
            </a:pPr>
            <a:r>
              <a:rPr sz="1800" b="0" lang="ja-JP">
                <a:solidFill>
                  <a:srgbClr val="697477"/>
                </a:solidFill>
                <a:latin typeface="Yu Gothic"/>
                <a:ea typeface="Yu Gothic"/>
                <a:cs typeface="Yu Gothic"/>
              </a:rPr>
              <a:t>の左パネル</a:t>
            </a:r>
          </a:p>
        </p:txBody>
      </p:sp>
      <p:sp>
        <p:nvSpPr>
          <p:cNvPr id="24" name="FIG_08_REGION_detail"/>
          <p:cNvSpPr txBox="1"/>
          <p:nvPr/>
        </p:nvSpPr>
        <p:spPr>
          <a:xfrm>
            <a:off x="1656000" y="7362000"/>
            <a:ext cx="8208000" cy="27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700" b="0" lang="ja-JP">
                <a:solidFill>
                  <a:srgbClr val="697477"/>
                </a:solidFill>
                <a:latin typeface="Yu Gothic"/>
                <a:ea typeface="Yu Gothic"/>
                <a:cs typeface="Yu Gothic"/>
              </a:rPr>
              <a:t>左パネルだけを使用／軸・凡例は残す</a:t>
            </a:r>
          </a:p>
        </p:txBody>
      </p:sp>
      <p:sp>
        <p:nvSpPr>
          <p:cNvPr id="25" name="DIRECTION_TITLE"/>
          <p:cNvSpPr txBox="1"/>
          <p:nvPr/>
        </p:nvSpPr>
        <p:spPr>
          <a:xfrm>
            <a:off x="10548000" y="2754000"/>
            <a:ext cx="6876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600" b="1" lang="ja-JP">
                <a:solidFill>
                  <a:srgbClr val="2F6F73"/>
                </a:solidFill>
                <a:latin typeface="Yu Gothic"/>
                <a:ea typeface="Yu Gothic"/>
                <a:cs typeface="Yu Gothic"/>
              </a:rPr>
              <a:t>どの誤差群が寄与したか</a:t>
            </a:r>
          </a:p>
        </p:txBody>
      </p:sp>
      <p:sp>
        <p:nvSpPr>
          <p:cNvPr id="26" name="FIG_08_DIRECTION"/>
          <p:cNvSpPr/>
          <p:nvPr/>
        </p:nvSpPr>
        <p:spPr>
          <a:xfrm>
            <a:off x="10548000" y="3258000"/>
            <a:ext cx="6876000" cy="4446000"/>
          </a:xfrm>
          <a:prstGeom prst="rect">
            <a:avLst/>
          </a:prstGeom>
          <a:solidFill>
            <a:srgbClr val="F8FAFA"/>
          </a:solidFill>
          <a:ln w="17780">
            <a:solidFill>
              <a:srgbClr val="A9BBBB"/>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FIG_08_DIRECTION_label"/>
          <p:cNvSpPr txBox="1"/>
          <p:nvPr/>
        </p:nvSpPr>
        <p:spPr>
          <a:xfrm>
            <a:off x="10692000" y="4636260"/>
            <a:ext cx="6588000" cy="827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700" b="1" lang="ja-JP">
                <a:solidFill>
                  <a:srgbClr val="697477"/>
                </a:solidFill>
                <a:latin typeface="Yu Gothic"/>
                <a:ea typeface="Yu Gothic"/>
                <a:cs typeface="Yu Gothic"/>
              </a:rPr>
              <a:t>［図を挿入］</a:t>
            </a:r>
          </a:p>
          <a:p>
            <a:pPr algn="ctr">
              <a:lnSpc>
                <a:spcPct val="115000"/>
              </a:lnSpc>
              <a:spcBef>
                <a:spcPts val="0"/>
              </a:spcBef>
              <a:spcAft>
                <a:spcPts val="0"/>
              </a:spcAft>
              <a:buNone/>
            </a:pPr>
            <a:r>
              <a:rPr sz="2700" b="1" lang="ja-JP">
                <a:solidFill>
                  <a:srgbClr val="697477"/>
                </a:solidFill>
                <a:latin typeface="Yu Gothic"/>
                <a:ea typeface="Yu Gothic"/>
                <a:cs typeface="Yu Gothic"/>
              </a:rPr>
              <a:t>同方向群／逆符号を含む群</a:t>
            </a:r>
          </a:p>
        </p:txBody>
      </p:sp>
      <p:sp>
        <p:nvSpPr>
          <p:cNvPr id="28" name="FIG_08_DIRECTION_file"/>
          <p:cNvSpPr txBox="1"/>
          <p:nvPr/>
        </p:nvSpPr>
        <p:spPr>
          <a:xfrm>
            <a:off x="10692000" y="5747760"/>
            <a:ext cx="6588000" cy="594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800" b="0" lang="ja-JP">
                <a:solidFill>
                  <a:srgbClr val="697477"/>
                </a:solidFill>
                <a:latin typeface="Yu Gothic"/>
                <a:ea typeface="Yu Gothic"/>
                <a:cs typeface="Yu Gothic"/>
              </a:rPr>
              <a:t>error_direction_contributions.png</a:t>
            </a:r>
          </a:p>
          <a:p>
            <a:pPr algn="ctr">
              <a:lnSpc>
                <a:spcPct val="115000"/>
              </a:lnSpc>
              <a:spcBef>
                <a:spcPts val="0"/>
              </a:spcBef>
              <a:spcAft>
                <a:spcPts val="0"/>
              </a:spcAft>
              <a:buNone/>
            </a:pPr>
            <a:r>
              <a:rPr sz="1800" b="0" lang="ja-JP">
                <a:solidFill>
                  <a:srgbClr val="697477"/>
                </a:solidFill>
                <a:latin typeface="Yu Gothic"/>
                <a:ea typeface="Yu Gothic"/>
                <a:cs typeface="Yu Gothic"/>
              </a:rPr>
              <a:t>または既存CSVの抜粋図</a:t>
            </a:r>
          </a:p>
        </p:txBody>
      </p:sp>
      <p:sp>
        <p:nvSpPr>
          <p:cNvPr id="29" name="FIG_08_DIRECTION_detail"/>
          <p:cNvSpPr txBox="1"/>
          <p:nvPr/>
        </p:nvSpPr>
        <p:spPr>
          <a:xfrm>
            <a:off x="10692000" y="7362000"/>
            <a:ext cx="6588000" cy="27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700" b="0" lang="ja-JP">
                <a:solidFill>
                  <a:srgbClr val="697477"/>
                </a:solidFill>
                <a:latin typeface="Yu Gothic"/>
                <a:ea typeface="Yu Gothic"/>
                <a:cs typeface="Yu Gothic"/>
              </a:rPr>
              <a:t>無雑音・−20 dBを優先</a:t>
            </a:r>
          </a:p>
        </p:txBody>
      </p:sp>
      <p:sp>
        <p:nvSpPr>
          <p:cNvPr id="30" name="REGION_SIGN"/>
          <p:cNvSpPr txBox="1"/>
          <p:nvPr/>
        </p:nvSpPr>
        <p:spPr>
          <a:xfrm>
            <a:off x="1512000" y="7848000"/>
            <a:ext cx="8820000" cy="450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200" b="0" lang="ja-JP">
                <a:solidFill>
                  <a:srgbClr val="202427"/>
                </a:solidFill>
                <a:latin typeface="Yu Gothic"/>
                <a:ea typeface="Yu Gothic"/>
                <a:cs typeface="Yu Gothic"/>
              </a:rPr>
              <a:t>正の棒：MSE改善 ／ 負の棒：悪化</a:t>
            </a:r>
          </a:p>
        </p:txBody>
      </p:sp>
      <p:sp>
        <p:nvSpPr>
          <p:cNvPr id="31" name="REGION_CAVEAT"/>
          <p:cNvSpPr txBox="1"/>
          <p:nvPr/>
        </p:nvSpPr>
        <p:spPr>
          <a:xfrm>
            <a:off x="1512000" y="8333999"/>
            <a:ext cx="8820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300" b="1" lang="ja-JP">
                <a:solidFill>
                  <a:srgbClr val="202427"/>
                </a:solidFill>
                <a:latin typeface="Yu Gothic"/>
                <a:ea typeface="Yu Gothic"/>
                <a:cs typeface="Yu Gothic"/>
              </a:rPr>
              <a:t>強雑音のONB近傍では悪化</a:t>
            </a:r>
          </a:p>
        </p:txBody>
      </p:sp>
      <p:sp>
        <p:nvSpPr>
          <p:cNvPr id="32" name="DIRECTION_TAKEAWAY_background"/>
          <p:cNvSpPr/>
          <p:nvPr/>
        </p:nvSpPr>
        <p:spPr>
          <a:xfrm>
            <a:off x="10548000" y="7920000"/>
            <a:ext cx="6876000" cy="774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DIRECTION_TAKEAWAY"/>
          <p:cNvSpPr txBox="1"/>
          <p:nvPr/>
        </p:nvSpPr>
        <p:spPr>
          <a:xfrm>
            <a:off x="10656000" y="7938000"/>
            <a:ext cx="6660000" cy="737999"/>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600" b="1" lang="ja-JP">
                <a:solidFill>
                  <a:srgbClr val="2F6F73"/>
                </a:solidFill>
                <a:latin typeface="Yu Gothic"/>
                <a:ea typeface="Yu Gothic"/>
                <a:cs typeface="Yu Gothic"/>
              </a:rPr>
              <a:t>−20 dB：同方向群87.15%</a:t>
            </a:r>
          </a:p>
        </p:txBody>
      </p:sp>
      <p:sp>
        <p:nvSpPr>
          <p:cNvPr id="34" name="DIRECTION_FOOT"/>
          <p:cNvSpPr txBox="1"/>
          <p:nvPr/>
        </p:nvSpPr>
        <p:spPr>
          <a:xfrm>
            <a:off x="1512000" y="9108000"/>
            <a:ext cx="15912000" cy="70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同方向群：元3ブロック・HGB・ETが同じ方向へ外れた標本群。</a:t>
            </a:r>
          </a:p>
          <a:p>
            <a:pPr algn="l">
              <a:lnSpc>
                <a:spcPct val="115000"/>
              </a:lnSpc>
              <a:spcBef>
                <a:spcPts val="0"/>
              </a:spcBef>
              <a:spcAft>
                <a:spcPts val="0"/>
              </a:spcAft>
              <a:buNone/>
            </a:pPr>
            <a:r>
              <a:rPr sz="1800" b="0" lang="ja-JP">
                <a:solidFill>
                  <a:srgbClr val="697477"/>
                </a:solidFill>
                <a:latin typeface="Yu Gothic"/>
                <a:ea typeface="Yu Gothic"/>
                <a:cs typeface="Yu Gothic"/>
              </a:rPr>
              <a:t>寄与率は全体MSE減少に対する数値的寄与であり，物理的原因の割合ではない。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9</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3. 教授指摘への対応</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説明性を，特徴利用の違いと</a:t>
            </a:r>
          </a:p>
          <a:p>
            <a:pPr algn="l">
              <a:lnSpc>
                <a:spcPct val="115000"/>
              </a:lnSpc>
              <a:spcBef>
                <a:spcPts val="0"/>
              </a:spcBef>
              <a:spcAft>
                <a:spcPts val="0"/>
              </a:spcAft>
              <a:buNone/>
            </a:pPr>
            <a:r>
              <a:rPr sz="3200" b="1" lang="ja-JP">
                <a:solidFill>
                  <a:srgbClr val="202427"/>
                </a:solidFill>
                <a:latin typeface="Yu Gothic"/>
                <a:ea typeface="Yu Gothic"/>
                <a:cs typeface="Yu Gothic"/>
              </a:rPr>
              <a:t>予測・誤差の変化へつないだ</a:t>
            </a:r>
          </a:p>
        </p:txBody>
      </p:sp>
      <p:sp>
        <p:nvSpPr>
          <p:cNvPr id="20" name="FOOTNOTE"/>
          <p:cNvSpPr txBox="1"/>
          <p:nvPr/>
        </p:nvSpPr>
        <p:spPr>
          <a:xfrm>
            <a:off x="1512000" y="9486000"/>
            <a:ext cx="15912000" cy="37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時間加工は10/7の同条件・別fit。水流雑音時の改善原因を確定した結果ではない。</a:t>
            </a:r>
          </a:p>
        </p:txBody>
      </p:sp>
      <p:sp>
        <p:nvSpPr>
          <p:cNvPr id="21" name="PROFESSOR_FEEDBACK_background"/>
          <p:cNvSpPr/>
          <p:nvPr/>
        </p:nvSpPr>
        <p:spPr>
          <a:xfrm>
            <a:off x="1512000" y="2664000"/>
            <a:ext cx="15912000" cy="558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PROFESSOR_FEEDBACK"/>
          <p:cNvSpPr txBox="1"/>
          <p:nvPr/>
        </p:nvSpPr>
        <p:spPr>
          <a:xfrm>
            <a:off x="1620000" y="2682000"/>
            <a:ext cx="15696000" cy="522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400" b="1" lang="ja-JP">
                <a:solidFill>
                  <a:srgbClr val="2F6F73"/>
                </a:solidFill>
                <a:latin typeface="Yu Gothic"/>
                <a:ea typeface="Yu Gothic"/>
                <a:cs typeface="Yu Gothic"/>
              </a:rPr>
              <a:t>前回の指摘：何を意味するか ／ 修士研究にどう活用するか</a:t>
            </a:r>
          </a:p>
        </p:txBody>
      </p:sp>
      <p:sp>
        <p:nvSpPr>
          <p:cNvPr id="23" name="PERTURBATION_TITLE"/>
          <p:cNvSpPr txBox="1"/>
          <p:nvPr/>
        </p:nvSpPr>
        <p:spPr>
          <a:xfrm>
            <a:off x="1512000" y="3491999"/>
            <a:ext cx="9180000"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700" b="1" lang="ja-JP">
                <a:solidFill>
                  <a:srgbClr val="2F6F73"/>
                </a:solidFill>
                <a:latin typeface="Yu Gothic"/>
                <a:ea typeface="Yu Gothic"/>
                <a:cs typeface="Yu Gothic"/>
              </a:rPr>
              <a:t>共通加工：時間の並べ替え</a:t>
            </a:r>
          </a:p>
        </p:txBody>
      </p:sp>
      <p:sp>
        <p:nvSpPr>
          <p:cNvPr id="24" name="FIG_09_PERTURBATION"/>
          <p:cNvSpPr/>
          <p:nvPr/>
        </p:nvSpPr>
        <p:spPr>
          <a:xfrm>
            <a:off x="1512000" y="4014000"/>
            <a:ext cx="9180000" cy="3924000"/>
          </a:xfrm>
          <a:prstGeom prst="rect">
            <a:avLst/>
          </a:prstGeom>
          <a:solidFill>
            <a:srgbClr val="F8FAFA"/>
          </a:solidFill>
          <a:ln w="17780">
            <a:solidFill>
              <a:srgbClr val="A9BBBB"/>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FIG_09_PERTURBATION_label"/>
          <p:cNvSpPr txBox="1"/>
          <p:nvPr/>
        </p:nvSpPr>
        <p:spPr>
          <a:xfrm>
            <a:off x="1656000" y="5230440"/>
            <a:ext cx="8892000" cy="827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700" b="1" lang="ja-JP">
                <a:solidFill>
                  <a:srgbClr val="697477"/>
                </a:solidFill>
                <a:latin typeface="Yu Gothic"/>
                <a:ea typeface="Yu Gothic"/>
                <a:cs typeface="Yu Gothic"/>
              </a:rPr>
              <a:t>［図を挿入］</a:t>
            </a:r>
          </a:p>
          <a:p>
            <a:pPr algn="ctr">
              <a:lnSpc>
                <a:spcPct val="115000"/>
              </a:lnSpc>
              <a:spcBef>
                <a:spcPts val="0"/>
              </a:spcBef>
              <a:spcAft>
                <a:spcPts val="0"/>
              </a:spcAft>
              <a:buNone/>
            </a:pPr>
            <a:r>
              <a:rPr sz="2700" b="1" lang="ja-JP">
                <a:solidFill>
                  <a:srgbClr val="697477"/>
                </a:solidFill>
                <a:latin typeface="Yu Gothic"/>
                <a:ea typeface="Yu Gothic"/>
                <a:cs typeface="Yu Gothic"/>
              </a:rPr>
              <a:t>モデル別の加工前後RMSE</a:t>
            </a:r>
          </a:p>
        </p:txBody>
      </p:sp>
      <p:sp>
        <p:nvSpPr>
          <p:cNvPr id="26" name="FIG_09_PERTURBATION_file"/>
          <p:cNvSpPr txBox="1"/>
          <p:nvPr/>
        </p:nvSpPr>
        <p:spPr>
          <a:xfrm>
            <a:off x="1656000" y="6211440"/>
            <a:ext cx="8892000" cy="594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800" b="0" lang="ja-JP">
                <a:solidFill>
                  <a:srgbClr val="697477"/>
                </a:solidFill>
                <a:latin typeface="Yu Gothic"/>
                <a:ea typeface="Yu Gothic"/>
                <a:cs typeface="Yu Gothic"/>
              </a:rPr>
              <a:t>slide_error_and_feature_linkage.png</a:t>
            </a:r>
          </a:p>
          <a:p>
            <a:pPr algn="ctr">
              <a:lnSpc>
                <a:spcPct val="115000"/>
              </a:lnSpc>
              <a:spcBef>
                <a:spcPts val="0"/>
              </a:spcBef>
              <a:spcAft>
                <a:spcPts val="0"/>
              </a:spcAft>
              <a:buNone/>
            </a:pPr>
            <a:r>
              <a:rPr sz="1800" b="0" lang="ja-JP">
                <a:solidFill>
                  <a:srgbClr val="697477"/>
                </a:solidFill>
                <a:latin typeface="Yu Gothic"/>
                <a:ea typeface="Yu Gothic"/>
                <a:cs typeface="Yu Gothic"/>
              </a:rPr>
              <a:t>の右パネル</a:t>
            </a:r>
          </a:p>
        </p:txBody>
      </p:sp>
      <p:sp>
        <p:nvSpPr>
          <p:cNvPr id="27" name="FIG_09_PERTURBATION_detail"/>
          <p:cNvSpPr txBox="1"/>
          <p:nvPr/>
        </p:nvSpPr>
        <p:spPr>
          <a:xfrm>
            <a:off x="1656000" y="7596000"/>
            <a:ext cx="8892000" cy="27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700" b="0" lang="ja-JP">
                <a:solidFill>
                  <a:srgbClr val="697477"/>
                </a:solidFill>
                <a:latin typeface="Yu Gothic"/>
                <a:ea typeface="Yu Gothic"/>
                <a:cs typeface="Yu Gothic"/>
              </a:rPr>
              <a:t>右パネルだけを使用／単体モデルの対照</a:t>
            </a:r>
          </a:p>
        </p:txBody>
      </p:sp>
      <p:sp>
        <p:nvSpPr>
          <p:cNvPr id="28" name="ENSEMBLE_CHANGE_TITLE"/>
          <p:cNvSpPr txBox="1"/>
          <p:nvPr/>
        </p:nvSpPr>
        <p:spPr>
          <a:xfrm>
            <a:off x="11160000" y="3491999"/>
            <a:ext cx="6263999"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500" b="1" lang="ja-JP">
                <a:solidFill>
                  <a:srgbClr val="2F6F73"/>
                </a:solidFill>
                <a:latin typeface="Yu Gothic"/>
                <a:ea typeface="Yu Gothic"/>
                <a:cs typeface="Yu Gothic"/>
              </a:rPr>
              <a:t>統合のRMSE［kW/m²］</a:t>
            </a:r>
          </a:p>
        </p:txBody>
      </p:sp>
      <p:graphicFrame>
        <p:nvGraphicFramePr>
          <p:cNvPr id="29" name="PERTURBATION_TABLE"/>
          <p:cNvGraphicFramePr>
            <a:graphicFrameLocks noGrp="1"/>
          </p:cNvGraphicFramePr>
          <p:nvPr/>
        </p:nvGraphicFramePr>
        <p:xfrm>
          <a:off x="11160000" y="4104000"/>
          <a:ext cx="6264000" cy="2052000"/>
        </p:xfrm>
        <a:graphic>
          <a:graphicData uri="http://schemas.openxmlformats.org/drawingml/2006/table">
            <a:tbl>
              <a:tblPr>
                <a:tableStyleId>{5C22544A-7EE6-4342-B048-85BDC9FD1C3A}</a:tableStyleId>
              </a:tblPr>
              <a:tblGrid>
                <a:gridCol w="2160000"/>
                <a:gridCol w="2052000"/>
                <a:gridCol w="2052000"/>
              </a:tblGrid>
              <a:tr h="540000">
                <a:tc>
                  <a:txBody>
                    <a:bodyPr wrap="square"/>
                    <a:lstStyle/>
                    <a:p>
                      <a:pPr algn="l">
                        <a:lnSpc>
                          <a:spcPct val="106000"/>
                        </a:lnSpc>
                        <a:spcBef>
                          <a:spcPts val="0"/>
                        </a:spcBef>
                        <a:spcAft>
                          <a:spcPts val="0"/>
                        </a:spcAft>
                        <a:buNone/>
                      </a:pPr>
                      <a:r>
                        <a:rPr sz="2200" b="1" lang="ja-JP">
                          <a:solidFill>
                            <a:srgbClr val="FFFFFF"/>
                          </a:solidFill>
                          <a:latin typeface="Yu Gothic"/>
                          <a:ea typeface="Yu Gothic"/>
                          <a:cs typeface="Yu Gothic"/>
                        </a:rPr>
                        <a:t>構成</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200" b="1" lang="ja-JP">
                          <a:solidFill>
                            <a:srgbClr val="FFFFFF"/>
                          </a:solidFill>
                          <a:latin typeface="Yu Gothic"/>
                          <a:ea typeface="Yu Gothic"/>
                          <a:cs typeface="Yu Gothic"/>
                        </a:rPr>
                        <a:t>加工前</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200" b="1" lang="ja-JP">
                          <a:solidFill>
                            <a:srgbClr val="FFFFFF"/>
                          </a:solidFill>
                          <a:latin typeface="Yu Gothic"/>
                          <a:ea typeface="Yu Gothic"/>
                          <a:cs typeface="Yu Gothic"/>
                        </a:rPr>
                        <a:t>加工後</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r>
              <a:tr h="756000">
                <a:tc>
                  <a:txBody>
                    <a:bodyPr wrap="square"/>
                    <a:lstStyle/>
                    <a:p>
                      <a:pPr algn="l">
                        <a:lnSpc>
                          <a:spcPct val="106000"/>
                        </a:lnSpc>
                        <a:spcBef>
                          <a:spcPts val="0"/>
                        </a:spcBef>
                        <a:spcAft>
                          <a:spcPts val="0"/>
                        </a:spcAft>
                        <a:buNone/>
                      </a:pPr>
                      <a:r>
                        <a:rPr sz="2600" b="0" lang="ja-JP">
                          <a:solidFill>
                            <a:srgbClr val="202427"/>
                          </a:solidFill>
                          <a:latin typeface="Yu Gothic"/>
                          <a:ea typeface="Yu Gothic"/>
                          <a:cs typeface="Yu Gothic"/>
                        </a:rPr>
                        <a:t>元3 MSE</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34.07</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47.52</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r>
              <a:tr h="756000">
                <a:tc>
                  <a:txBody>
                    <a:bodyPr wrap="square"/>
                    <a:lstStyle/>
                    <a:p>
                      <a:pPr algn="l">
                        <a:lnSpc>
                          <a:spcPct val="106000"/>
                        </a:lnSpc>
                        <a:spcBef>
                          <a:spcPts val="0"/>
                        </a:spcBef>
                        <a:spcAft>
                          <a:spcPts val="0"/>
                        </a:spcAft>
                        <a:buNone/>
                      </a:pPr>
                      <a:r>
                        <a:rPr sz="2600" b="0" lang="ja-JP">
                          <a:solidFill>
                            <a:srgbClr val="202427"/>
                          </a:solidFill>
                          <a:latin typeface="Yu Gothic"/>
                          <a:ea typeface="Yu Gothic"/>
                          <a:cs typeface="Yu Gothic"/>
                        </a:rPr>
                        <a:t>5モデル</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27.80</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600" b="0" lang="ja-JP">
                          <a:solidFill>
                            <a:srgbClr val="202427"/>
                          </a:solidFill>
                          <a:latin typeface="Yu Gothic"/>
                          <a:ea typeface="Yu Gothic"/>
                          <a:cs typeface="Yu Gothic"/>
                        </a:rPr>
                        <a:t>31.10</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r>
            </a:tbl>
          </a:graphicData>
        </a:graphic>
      </p:graphicFrame>
      <p:sp>
        <p:nvSpPr>
          <p:cNvPr id="30" name="PERTURBATION_RIGHT_TAKEAWAY"/>
          <p:cNvSpPr txBox="1"/>
          <p:nvPr/>
        </p:nvSpPr>
        <p:spPr>
          <a:xfrm>
            <a:off x="11160000" y="6660000"/>
            <a:ext cx="6263999" cy="127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600" b="1" lang="ja-JP">
                <a:solidFill>
                  <a:srgbClr val="2F6F73"/>
                </a:solidFill>
                <a:latin typeface="Yu Gothic"/>
                <a:ea typeface="Yu Gothic"/>
                <a:cs typeface="Yu Gothic"/>
              </a:rPr>
              <a:t>同じ加工でも</a:t>
            </a:r>
          </a:p>
          <a:p>
            <a:pPr algn="l">
              <a:lnSpc>
                <a:spcPct val="115000"/>
              </a:lnSpc>
              <a:spcBef>
                <a:spcPts val="0"/>
              </a:spcBef>
              <a:spcAft>
                <a:spcPts val="0"/>
              </a:spcAft>
              <a:buNone/>
            </a:pPr>
            <a:r>
              <a:rPr sz="2600" b="1" lang="ja-JP">
                <a:solidFill>
                  <a:srgbClr val="2F6F73"/>
                </a:solidFill>
                <a:latin typeface="Yu Gothic"/>
                <a:ea typeface="Yu Gothic"/>
                <a:cs typeface="Yu Gothic"/>
              </a:rPr>
              <a:t>モデル群で応答が異なる</a:t>
            </a:r>
          </a:p>
        </p:txBody>
      </p:sp>
      <p:sp>
        <p:nvSpPr>
          <p:cNvPr id="31" name="PERTURBATION_LEFT_TAKEAWAY"/>
          <p:cNvSpPr txBox="1"/>
          <p:nvPr/>
        </p:nvSpPr>
        <p:spPr>
          <a:xfrm>
            <a:off x="1512000" y="8063999"/>
            <a:ext cx="9360000" cy="450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300" b="1" lang="ja-JP">
                <a:solidFill>
                  <a:srgbClr val="202427"/>
                </a:solidFill>
                <a:latin typeface="Yu Gothic"/>
                <a:ea typeface="Yu Gothic"/>
                <a:cs typeface="Yu Gothic"/>
              </a:rPr>
              <a:t>CNN系は変化 ／ HGB・ETは不変</a:t>
            </a:r>
          </a:p>
        </p:txBody>
      </p:sp>
      <p:sp>
        <p:nvSpPr>
          <p:cNvPr id="32" name="XAI_TO_THESIS_background"/>
          <p:cNvSpPr/>
          <p:nvPr/>
        </p:nvSpPr>
        <p:spPr>
          <a:xfrm>
            <a:off x="1512000" y="8658000"/>
            <a:ext cx="15912000" cy="648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XAI_TO_THESIS"/>
          <p:cNvSpPr txBox="1"/>
          <p:nvPr/>
        </p:nvSpPr>
        <p:spPr>
          <a:xfrm>
            <a:off x="1620000" y="8676000"/>
            <a:ext cx="15696000" cy="612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400" b="1" lang="ja-JP">
                <a:solidFill>
                  <a:srgbClr val="2F6F73"/>
                </a:solidFill>
                <a:latin typeface="Yu Gothic"/>
                <a:ea typeface="Yu Gothic"/>
                <a:cs typeface="Yu Gothic"/>
              </a:rPr>
              <a:t>前回：可視化 → 今回：共通加工 → 修論：誤り補完と対応づける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10</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4. 修論の構成と現在の成果</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性能結果と理由の分析を中心に，</a:t>
            </a:r>
          </a:p>
          <a:p>
            <a:pPr algn="l">
              <a:lnSpc>
                <a:spcPct val="115000"/>
              </a:lnSpc>
              <a:spcBef>
                <a:spcPts val="0"/>
              </a:spcBef>
              <a:spcAft>
                <a:spcPts val="0"/>
              </a:spcAft>
              <a:buNone/>
            </a:pPr>
            <a:r>
              <a:rPr sz="3200" b="1" lang="ja-JP">
                <a:solidFill>
                  <a:srgbClr val="202427"/>
                </a:solidFill>
                <a:latin typeface="Yu Gothic"/>
                <a:ea typeface="Yu Gothic"/>
                <a:cs typeface="Yu Gothic"/>
              </a:rPr>
              <a:t>既存成果を修論へ配置する</a:t>
            </a:r>
          </a:p>
        </p:txBody>
      </p:sp>
      <p:sp>
        <p:nvSpPr>
          <p:cNvPr id="20" name="FOOTNOTE"/>
          <p:cNvSpPr txBox="1"/>
          <p:nvPr/>
        </p:nvSpPr>
        <p:spPr>
          <a:xfrm>
            <a:off x="1512000" y="9486000"/>
            <a:ext cx="15912000" cy="37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状態は「章へ配置できる成果」の準備状況であり，本文の執筆完了率ではない。</a:t>
            </a:r>
          </a:p>
        </p:txBody>
      </p:sp>
      <p:graphicFrame>
        <p:nvGraphicFramePr>
          <p:cNvPr id="21" name="THESIS_TABLE"/>
          <p:cNvGraphicFramePr>
            <a:graphicFrameLocks noGrp="1"/>
          </p:cNvGraphicFramePr>
          <p:nvPr/>
        </p:nvGraphicFramePr>
        <p:xfrm>
          <a:off x="1512000" y="3006000"/>
          <a:ext cx="15912000" cy="5497200"/>
        </p:xfrm>
        <a:graphic>
          <a:graphicData uri="http://schemas.openxmlformats.org/drawingml/2006/table">
            <a:tbl>
              <a:tblPr>
                <a:tableStyleId>{5C22544A-7EE6-4342-B048-85BDC9FD1C3A}</a:tableStyleId>
              </a:tblPr>
              <a:tblGrid>
                <a:gridCol w="1152000"/>
                <a:gridCol w="6300000"/>
                <a:gridCol w="8460000"/>
              </a:tblGrid>
              <a:tr h="558000">
                <a:tc>
                  <a:txBody>
                    <a:bodyPr wrap="square"/>
                    <a:lstStyle/>
                    <a:p>
                      <a:pPr algn="ctr">
                        <a:lnSpc>
                          <a:spcPct val="106000"/>
                        </a:lnSpc>
                        <a:spcBef>
                          <a:spcPts val="0"/>
                        </a:spcBef>
                        <a:spcAft>
                          <a:spcPts val="0"/>
                        </a:spcAft>
                        <a:buNone/>
                      </a:pPr>
                      <a:r>
                        <a:rPr sz="2500" b="1" lang="ja-JP">
                          <a:solidFill>
                            <a:srgbClr val="FFFFFF"/>
                          </a:solidFill>
                          <a:latin typeface="Yu Gothic"/>
                          <a:ea typeface="Yu Gothic"/>
                          <a:cs typeface="Yu Gothic"/>
                        </a:rPr>
                        <a:t>章</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500" b="1" lang="ja-JP">
                          <a:solidFill>
                            <a:srgbClr val="FFFFFF"/>
                          </a:solidFill>
                          <a:latin typeface="Yu Gothic"/>
                          <a:ea typeface="Yu Gothic"/>
                          <a:cs typeface="Yu Gothic"/>
                        </a:rPr>
                        <a:t>内容</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500" b="1" lang="ja-JP">
                          <a:solidFill>
                            <a:srgbClr val="FFFFFF"/>
                          </a:solidFill>
                          <a:latin typeface="Yu Gothic"/>
                          <a:ea typeface="Yu Gothic"/>
                          <a:cs typeface="Yu Gothic"/>
                        </a:rPr>
                        <a:t>配置する成果の状態</a:t>
                      </a:r>
                    </a:p>
                  </a:txBody>
                  <a:tcPr marL="64800" marR="64800" marT="36000" marB="36000" anchor="ctr">
                    <a:solidFill>
                      <a:srgbClr val="2F6F73"/>
                    </a:solidFill>
                    <a:lnL w="7000">
                      <a:solidFill>
                        <a:srgbClr val="D4DFE0"/>
                      </a:solidFill>
                    </a:lnL>
                    <a:lnR w="7000">
                      <a:solidFill>
                        <a:srgbClr val="D4DFE0"/>
                      </a:solidFill>
                    </a:lnR>
                    <a:lnT w="7000">
                      <a:solidFill>
                        <a:srgbClr val="D4DFE0"/>
                      </a:solidFill>
                    </a:lnT>
                    <a:lnB w="7000">
                      <a:solidFill>
                        <a:srgbClr val="D4DFE0"/>
                      </a:solidFill>
                    </a:lnB>
                  </a:tcPr>
                </a:tc>
              </a:tr>
              <a:tr h="705600">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1</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緒論・研究目的</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目的と問いを整理済み</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r>
              <a:tr h="705600">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2</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実験・音響データ</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原資料・データ条件あり</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r>
              <a:tr h="705600">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3</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回帰・ONB評価方法</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現行方法・指標を整備済み</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r>
              <a:tr h="705600">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4</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雑音評価条件の検討</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逆転診断・学習方針の対照済み</a:t>
                      </a:r>
                    </a:p>
                  </a:txBody>
                  <a:tcPr marL="64800" marR="64800" marT="36000" marB="36000" anchor="ctr">
                    <a:solidFill>
                      <a:srgbClr val="F4F7F7"/>
                    </a:solidFill>
                    <a:lnL w="7000">
                      <a:solidFill>
                        <a:srgbClr val="D4DFE0"/>
                      </a:solidFill>
                    </a:lnL>
                    <a:lnR w="7000">
                      <a:solidFill>
                        <a:srgbClr val="D4DFE0"/>
                      </a:solidFill>
                    </a:lnR>
                    <a:lnT w="7000">
                      <a:solidFill>
                        <a:srgbClr val="D4DFE0"/>
                      </a:solidFill>
                    </a:lnT>
                    <a:lnB w="7000">
                      <a:solidFill>
                        <a:srgbClr val="D4DFE0"/>
                      </a:solidFill>
                    </a:lnB>
                  </a:tcPr>
                </a:tc>
              </a:tr>
              <a:tr h="705600">
                <a:tc>
                  <a:txBody>
                    <a:bodyPr wrap="square"/>
                    <a:lstStyle/>
                    <a:p>
                      <a:pPr algn="ctr">
                        <a:lnSpc>
                          <a:spcPct val="106000"/>
                        </a:lnSpc>
                        <a:spcBef>
                          <a:spcPts val="0"/>
                        </a:spcBef>
                        <a:spcAft>
                          <a:spcPts val="0"/>
                        </a:spcAft>
                        <a:buNone/>
                      </a:pPr>
                      <a:r>
                        <a:rPr sz="2400" b="1" lang="ja-JP">
                          <a:solidFill>
                            <a:srgbClr val="202427"/>
                          </a:solidFill>
                          <a:latin typeface="Yu Gothic"/>
                          <a:ea typeface="Yu Gothic"/>
                          <a:cs typeface="Yu Gothic"/>
                        </a:rPr>
                        <a:t>5</a:t>
                      </a:r>
                    </a:p>
                  </a:txBody>
                  <a:tcPr marL="64800" marR="64800" marT="36000" marB="36000" anchor="ctr">
                    <a:solidFill>
                      <a:srgbClr val="E2F0F1"/>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1" lang="ja-JP">
                          <a:solidFill>
                            <a:srgbClr val="202427"/>
                          </a:solidFill>
                          <a:latin typeface="Yu Gothic"/>
                          <a:ea typeface="Yu Gothic"/>
                          <a:cs typeface="Yu Gothic"/>
                        </a:rPr>
                        <a:t>単体・統合の性能評価</a:t>
                      </a:r>
                    </a:p>
                  </a:txBody>
                  <a:tcPr marL="64800" marR="64800" marT="36000" marB="36000" anchor="ctr">
                    <a:solidFill>
                      <a:srgbClr val="E2F0F1"/>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1" lang="ja-JP">
                          <a:solidFill>
                            <a:srgbClr val="202427"/>
                          </a:solidFill>
                          <a:latin typeface="Yu Gothic"/>
                          <a:ea typeface="Yu Gothic"/>
                          <a:cs typeface="Yu Gothic"/>
                        </a:rPr>
                        <a:t>元3・4・5／回帰・ONB結果あり</a:t>
                      </a:r>
                    </a:p>
                  </a:txBody>
                  <a:tcPr marL="64800" marR="64800" marT="36000" marB="36000" anchor="ctr">
                    <a:solidFill>
                      <a:srgbClr val="E2F0F1"/>
                    </a:solidFill>
                    <a:lnL w="7000">
                      <a:solidFill>
                        <a:srgbClr val="D4DFE0"/>
                      </a:solidFill>
                    </a:lnL>
                    <a:lnR w="7000">
                      <a:solidFill>
                        <a:srgbClr val="D4DFE0"/>
                      </a:solidFill>
                    </a:lnR>
                    <a:lnT w="7000">
                      <a:solidFill>
                        <a:srgbClr val="D4DFE0"/>
                      </a:solidFill>
                    </a:lnT>
                    <a:lnB w="7000">
                      <a:solidFill>
                        <a:srgbClr val="D4DFE0"/>
                      </a:solidFill>
                    </a:lnB>
                  </a:tcPr>
                </a:tc>
              </a:tr>
              <a:tr h="705600">
                <a:tc>
                  <a:txBody>
                    <a:bodyPr wrap="square"/>
                    <a:lstStyle/>
                    <a:p>
                      <a:pPr algn="ctr">
                        <a:lnSpc>
                          <a:spcPct val="106000"/>
                        </a:lnSpc>
                        <a:spcBef>
                          <a:spcPts val="0"/>
                        </a:spcBef>
                        <a:spcAft>
                          <a:spcPts val="0"/>
                        </a:spcAft>
                        <a:buNone/>
                      </a:pPr>
                      <a:r>
                        <a:rPr sz="2400" b="1" lang="ja-JP">
                          <a:solidFill>
                            <a:srgbClr val="202427"/>
                          </a:solidFill>
                          <a:latin typeface="Yu Gothic"/>
                          <a:ea typeface="Yu Gothic"/>
                          <a:cs typeface="Yu Gothic"/>
                        </a:rPr>
                        <a:t>6</a:t>
                      </a:r>
                    </a:p>
                  </a:txBody>
                  <a:tcPr marL="64800" marR="64800" marT="36000" marB="36000" anchor="ctr">
                    <a:solidFill>
                      <a:srgbClr val="E2F0F1"/>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1" lang="ja-JP">
                          <a:solidFill>
                            <a:srgbClr val="202427"/>
                          </a:solidFill>
                          <a:latin typeface="Yu Gothic"/>
                          <a:ea typeface="Yu Gothic"/>
                          <a:cs typeface="Yu Gothic"/>
                        </a:rPr>
                        <a:t>誤りと特徴の要因分析</a:t>
                      </a:r>
                    </a:p>
                  </a:txBody>
                  <a:tcPr marL="64800" marR="64800" marT="36000" marB="36000" anchor="ctr">
                    <a:solidFill>
                      <a:srgbClr val="E2F0F1"/>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1" lang="ja-JP">
                          <a:solidFill>
                            <a:srgbClr val="202427"/>
                          </a:solidFill>
                          <a:latin typeface="Yu Gothic"/>
                          <a:ea typeface="Yu Gothic"/>
                          <a:cs typeface="Yu Gothic"/>
                        </a:rPr>
                        <a:t>接続分析済み・物理的解釈を整理</a:t>
                      </a:r>
                    </a:p>
                  </a:txBody>
                  <a:tcPr marL="64800" marR="64800" marT="36000" marB="36000" anchor="ctr">
                    <a:solidFill>
                      <a:srgbClr val="E2F0F1"/>
                    </a:solidFill>
                    <a:lnL w="7000">
                      <a:solidFill>
                        <a:srgbClr val="D4DFE0"/>
                      </a:solidFill>
                    </a:lnL>
                    <a:lnR w="7000">
                      <a:solidFill>
                        <a:srgbClr val="D4DFE0"/>
                      </a:solidFill>
                    </a:lnR>
                    <a:lnT w="7000">
                      <a:solidFill>
                        <a:srgbClr val="D4DFE0"/>
                      </a:solidFill>
                    </a:lnT>
                    <a:lnB w="7000">
                      <a:solidFill>
                        <a:srgbClr val="D4DFE0"/>
                      </a:solidFill>
                    </a:lnB>
                  </a:tcPr>
                </a:tc>
              </a:tr>
              <a:tr h="705600">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7</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総合考察・結言</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c>
                  <a:txBody>
                    <a:bodyPr wrap="square"/>
                    <a:lstStyle/>
                    <a:p>
                      <a:pPr algn="ctr">
                        <a:lnSpc>
                          <a:spcPct val="106000"/>
                        </a:lnSpc>
                        <a:spcBef>
                          <a:spcPts val="0"/>
                        </a:spcBef>
                        <a:spcAft>
                          <a:spcPts val="0"/>
                        </a:spcAft>
                        <a:buNone/>
                      </a:pPr>
                      <a:r>
                        <a:rPr sz="2400" b="0" lang="ja-JP">
                          <a:solidFill>
                            <a:srgbClr val="202427"/>
                          </a:solidFill>
                          <a:latin typeface="Yu Gothic"/>
                          <a:ea typeface="Yu Gothic"/>
                          <a:cs typeface="Yu Gothic"/>
                        </a:rPr>
                        <a:t>全体の主張と限界をまとめる</a:t>
                      </a:r>
                    </a:p>
                  </a:txBody>
                  <a:tcPr marL="64800" marR="64800" marT="36000" marB="36000" anchor="ctr">
                    <a:solidFill>
                      <a:srgbClr val="FFFFFF"/>
                    </a:solidFill>
                    <a:lnL w="7000">
                      <a:solidFill>
                        <a:srgbClr val="D4DFE0"/>
                      </a:solidFill>
                    </a:lnL>
                    <a:lnR w="7000">
                      <a:solidFill>
                        <a:srgbClr val="D4DFE0"/>
                      </a:solidFill>
                    </a:lnR>
                    <a:lnT w="7000">
                      <a:solidFill>
                        <a:srgbClr val="D4DFE0"/>
                      </a:solidFill>
                    </a:lnT>
                    <a:lnB w="7000">
                      <a:solidFill>
                        <a:srgbClr val="D4DFE0"/>
                      </a:solidFill>
                    </a:lnB>
                  </a:tcPr>
                </a:tc>
              </a:tr>
            </a:tbl>
          </a:graphicData>
        </a:graphic>
      </p:graphicFrame>
      <p:sp>
        <p:nvSpPr>
          <p:cNvPr id="22" name="THESIS_KEY_background"/>
          <p:cNvSpPr/>
          <p:nvPr/>
        </p:nvSpPr>
        <p:spPr>
          <a:xfrm>
            <a:off x="1512000" y="8712000"/>
            <a:ext cx="15912000" cy="594000"/>
          </a:xfrm>
          <a:prstGeom prst="rect">
            <a:avLst/>
          </a:prstGeom>
          <a:solidFill>
            <a:srgbClr val="EDF4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HESIS_KEY"/>
          <p:cNvSpPr txBox="1"/>
          <p:nvPr/>
        </p:nvSpPr>
        <p:spPr>
          <a:xfrm>
            <a:off x="1620000" y="8730000"/>
            <a:ext cx="15696000" cy="557999"/>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500" b="1" lang="ja-JP">
                <a:solidFill>
                  <a:srgbClr val="2F6F73"/>
                </a:solidFill>
                <a:latin typeface="Yu Gothic"/>
                <a:ea typeface="Yu Gothic"/>
                <a:cs typeface="Yu Gothic"/>
              </a:rPr>
              <a:t>第5章：何が改善したか ／ 第6章：その理由と成立条件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グループ化 56">
            <a:extLst>
              <a:ext uri="{FF2B5EF4-FFF2-40B4-BE49-F238E27FC236}">
                <a16:creationId xmlns:a16="http://schemas.microsoft.com/office/drawing/2014/main" id="{75BFE32B-F018-C4E4-FAB7-80C0D2CDC22E}"/>
              </a:ext>
            </a:extLst>
          </p:cNvPr>
          <p:cNvGrpSpPr/>
          <p:nvPr/>
        </p:nvGrpSpPr>
        <p:grpSpPr>
          <a:xfrm>
            <a:off x="270494" y="246431"/>
            <a:ext cx="698205" cy="10040568"/>
            <a:chOff x="270494" y="246431"/>
            <a:chExt cx="698205" cy="10040568"/>
          </a:xfrm>
        </p:grpSpPr>
        <p:pic>
          <p:nvPicPr>
            <p:cNvPr id="3" name="図 57">
              <a:extLst>
                <a:ext uri="{FF2B5EF4-FFF2-40B4-BE49-F238E27FC236}">
                  <a16:creationId xmlns:a16="http://schemas.microsoft.com/office/drawing/2014/main" id="{1226A433-2043-B47F-E0E8-72C7A0748C79}"/>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4" name="テキスト ボックス 58">
              <a:extLst>
                <a:ext uri="{FF2B5EF4-FFF2-40B4-BE49-F238E27FC236}">
                  <a16:creationId xmlns:a16="http://schemas.microsoft.com/office/drawing/2014/main" id="{F53AD6DF-8ABC-58C4-0BDA-981F712C6600}"/>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 name="直線コネクタ 59">
              <a:extLst>
                <a:ext uri="{FF2B5EF4-FFF2-40B4-BE49-F238E27FC236}">
                  <a16:creationId xmlns:a16="http://schemas.microsoft.com/office/drawing/2014/main" id="{583BFE6C-617D-A3DC-D51E-18A6133895A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6" name="フローチャート: 論理積ゲート 60">
              <a:extLst>
                <a:ext uri="{FF2B5EF4-FFF2-40B4-BE49-F238E27FC236}">
                  <a16:creationId xmlns:a16="http://schemas.microsoft.com/office/drawing/2014/main" id="{63EE0EEB-3C48-D4D2-9411-176CDF6BB0D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Group 3">
            <a:extLst>
              <a:ext uri="{FF2B5EF4-FFF2-40B4-BE49-F238E27FC236}">
                <a16:creationId xmlns:a16="http://schemas.microsoft.com/office/drawing/2014/main" id="{66CE81F5-9908-5CB9-4AC3-1FCBE2FF3FAA}"/>
              </a:ext>
            </a:extLst>
          </p:cNvPr>
          <p:cNvGrpSpPr/>
          <p:nvPr/>
        </p:nvGrpSpPr>
        <p:grpSpPr>
          <a:xfrm>
            <a:off x="1371600" y="1069258"/>
            <a:ext cx="16064988" cy="125708"/>
            <a:chOff x="0" y="0"/>
            <a:chExt cx="22021800" cy="190500"/>
          </a:xfrm>
        </p:grpSpPr>
        <p:grpSp>
          <p:nvGrpSpPr>
            <p:cNvPr id="8" name="Group 4">
              <a:extLst>
                <a:ext uri="{FF2B5EF4-FFF2-40B4-BE49-F238E27FC236}">
                  <a16:creationId xmlns:a16="http://schemas.microsoft.com/office/drawing/2014/main" id="{F18484CA-1C82-F32C-E492-71BB690B31BD}"/>
                </a:ext>
              </a:extLst>
            </p:cNvPr>
            <p:cNvGrpSpPr/>
            <p:nvPr/>
          </p:nvGrpSpPr>
          <p:grpSpPr>
            <a:xfrm>
              <a:off x="0" y="0"/>
              <a:ext cx="7340600" cy="190500"/>
              <a:chOff x="0" y="0"/>
              <a:chExt cx="1449995" cy="37630"/>
            </a:xfrm>
          </p:grpSpPr>
          <p:sp>
            <p:nvSpPr>
              <p:cNvPr id="9" name="Freeform 5">
                <a:extLst>
                  <a:ext uri="{FF2B5EF4-FFF2-40B4-BE49-F238E27FC236}">
                    <a16:creationId xmlns:a16="http://schemas.microsoft.com/office/drawing/2014/main" id="{99894FA7-D161-F806-1A5F-52AABFBB08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0" name="TextBox 6">
                <a:extLst>
                  <a:ext uri="{FF2B5EF4-FFF2-40B4-BE49-F238E27FC236}">
                    <a16:creationId xmlns:a16="http://schemas.microsoft.com/office/drawing/2014/main" id="{72556C4C-3473-3018-70C4-085FA6F987B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1" name="Group 7">
              <a:extLst>
                <a:ext uri="{FF2B5EF4-FFF2-40B4-BE49-F238E27FC236}">
                  <a16:creationId xmlns:a16="http://schemas.microsoft.com/office/drawing/2014/main" id="{F7A34761-E638-B2A2-9E72-32563CB39D5B}"/>
                </a:ext>
              </a:extLst>
            </p:cNvPr>
            <p:cNvGrpSpPr/>
            <p:nvPr/>
          </p:nvGrpSpPr>
          <p:grpSpPr>
            <a:xfrm>
              <a:off x="7340600" y="0"/>
              <a:ext cx="7340600" cy="190500"/>
              <a:chOff x="0" y="0"/>
              <a:chExt cx="1449995" cy="37630"/>
            </a:xfrm>
          </p:grpSpPr>
          <p:sp>
            <p:nvSpPr>
              <p:cNvPr id="12" name="Freeform 8">
                <a:extLst>
                  <a:ext uri="{FF2B5EF4-FFF2-40B4-BE49-F238E27FC236}">
                    <a16:creationId xmlns:a16="http://schemas.microsoft.com/office/drawing/2014/main" id="{66779A7D-5ECB-D310-B556-EC0E21709B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13" name="TextBox 9">
                <a:extLst>
                  <a:ext uri="{FF2B5EF4-FFF2-40B4-BE49-F238E27FC236}">
                    <a16:creationId xmlns:a16="http://schemas.microsoft.com/office/drawing/2014/main" id="{96F89EAF-9FB5-76B1-24F0-8313C0D5D3B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4" name="Group 10">
              <a:extLst>
                <a:ext uri="{FF2B5EF4-FFF2-40B4-BE49-F238E27FC236}">
                  <a16:creationId xmlns:a16="http://schemas.microsoft.com/office/drawing/2014/main" id="{0F7B6D61-78D9-D77B-900A-F293F294C432}"/>
                </a:ext>
              </a:extLst>
            </p:cNvPr>
            <p:cNvGrpSpPr/>
            <p:nvPr/>
          </p:nvGrpSpPr>
          <p:grpSpPr>
            <a:xfrm>
              <a:off x="14681200" y="0"/>
              <a:ext cx="7340600" cy="190500"/>
              <a:chOff x="0" y="0"/>
              <a:chExt cx="1449995" cy="37630"/>
            </a:xfrm>
          </p:grpSpPr>
          <p:sp>
            <p:nvSpPr>
              <p:cNvPr id="15" name="Freeform 11">
                <a:extLst>
                  <a:ext uri="{FF2B5EF4-FFF2-40B4-BE49-F238E27FC236}">
                    <a16:creationId xmlns:a16="http://schemas.microsoft.com/office/drawing/2014/main" id="{3CE663F6-1B9A-DFEE-C6F5-CE676E3CD07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6" name="TextBox 12">
                <a:extLst>
                  <a:ext uri="{FF2B5EF4-FFF2-40B4-BE49-F238E27FC236}">
                    <a16:creationId xmlns:a16="http://schemas.microsoft.com/office/drawing/2014/main" id="{509D1305-F68D-3300-CC15-A5584E7FBBA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PAGE_NUMBER"/>
          <p:cNvSpPr txBox="1"/>
          <p:nvPr/>
        </p:nvSpPr>
        <p:spPr>
          <a:xfrm>
            <a:off x="270000" y="9748800"/>
            <a:ext cx="599400" cy="462240"/>
          </a:xfrm>
          <a:prstGeom prst="rect">
            <a:avLst/>
          </a:prstGeom>
          <a:noFill/>
          <a:effectLst/>
        </p:spPr>
        <p:txBody>
          <a:bodyPr wrap="square" lIns="21600" rIns="21600" tIns="21600" bIns="21600" anchor="ctr">
            <a:noAutofit/>
          </a:bodyPr>
          <a:lstStyle/>
          <a:p>
            <a:pPr algn="ctr">
              <a:lnSpc>
                <a:spcPct val="115000"/>
              </a:lnSpc>
              <a:spcBef>
                <a:spcPts val="0"/>
              </a:spcBef>
              <a:spcAft>
                <a:spcPts val="0"/>
              </a:spcAft>
              <a:buNone/>
            </a:pPr>
            <a:r>
              <a:rPr sz="2400" b="0" lang="ja-JP">
                <a:solidFill>
                  <a:srgbClr val="FFFFFF"/>
                </a:solidFill>
                <a:latin typeface="Yu Gothic"/>
                <a:ea typeface="Yu Gothic"/>
                <a:cs typeface="Yu Gothic"/>
              </a:rPr>
              <a:t>11</a:t>
            </a:r>
          </a:p>
        </p:txBody>
      </p:sp>
      <p:sp>
        <p:nvSpPr>
          <p:cNvPr id="18" name="SLIDE_TITLE"/>
          <p:cNvSpPr txBox="1"/>
          <p:nvPr/>
        </p:nvSpPr>
        <p:spPr>
          <a:xfrm>
            <a:off x="1807199" y="306000"/>
            <a:ext cx="15480000" cy="6912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000" b="1" lang="ja-JP">
                <a:solidFill>
                  <a:srgbClr val="202427"/>
                </a:solidFill>
                <a:latin typeface="Yu Gothic"/>
                <a:ea typeface="Yu Gothic"/>
                <a:cs typeface="Yu Gothic"/>
              </a:rPr>
              <a:t>4. まとめと後期の研究計画</a:t>
            </a:r>
          </a:p>
        </p:txBody>
      </p:sp>
      <p:sp>
        <p:nvSpPr>
          <p:cNvPr id="19" name="MAIN_MESSAGE"/>
          <p:cNvSpPr txBox="1"/>
          <p:nvPr/>
        </p:nvSpPr>
        <p:spPr>
          <a:xfrm>
            <a:off x="1512000" y="1422000"/>
            <a:ext cx="15912000" cy="1044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3200" b="1" lang="ja-JP">
                <a:solidFill>
                  <a:srgbClr val="202427"/>
                </a:solidFill>
                <a:latin typeface="Yu Gothic"/>
                <a:ea typeface="Yu Gothic"/>
                <a:cs typeface="Yu Gothic"/>
              </a:rPr>
              <a:t>元3からの改善と限界を軸に，</a:t>
            </a:r>
          </a:p>
          <a:p>
            <a:pPr algn="l">
              <a:lnSpc>
                <a:spcPct val="115000"/>
              </a:lnSpc>
              <a:spcBef>
                <a:spcPts val="0"/>
              </a:spcBef>
              <a:spcAft>
                <a:spcPts val="0"/>
              </a:spcAft>
              <a:buNone/>
            </a:pPr>
            <a:r>
              <a:rPr sz="3200" b="1" lang="ja-JP">
                <a:solidFill>
                  <a:srgbClr val="202427"/>
                </a:solidFill>
                <a:latin typeface="Yu Gothic"/>
                <a:ea typeface="Yu Gothic"/>
                <a:cs typeface="Yu Gothic"/>
              </a:rPr>
              <a:t>説明・考察と修論への整理を進める</a:t>
            </a:r>
          </a:p>
        </p:txBody>
      </p:sp>
      <p:sp>
        <p:nvSpPr>
          <p:cNvPr id="20" name="FOOTNOTE"/>
          <p:cNvSpPr txBox="1"/>
          <p:nvPr/>
        </p:nvSpPr>
        <p:spPr>
          <a:xfrm>
            <a:off x="1512000" y="9486000"/>
            <a:ext cx="15912000" cy="378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1800" b="0" lang="ja-JP">
                <a:solidFill>
                  <a:srgbClr val="697477"/>
                </a:solidFill>
                <a:latin typeface="Yu Gothic"/>
                <a:ea typeface="Yu Gothic"/>
                <a:cs typeface="Yu Gothic"/>
              </a:rPr>
              <a:t>2026年9〜12月／2027年1〜2月。期間は作業見通しであり，正式締切ではない。</a:t>
            </a:r>
          </a:p>
        </p:txBody>
      </p:sp>
      <p:sp>
        <p:nvSpPr>
          <p:cNvPr id="21" name="LEGEND_SWATCH"/>
          <p:cNvSpPr/>
          <p:nvPr/>
        </p:nvSpPr>
        <p:spPr>
          <a:xfrm>
            <a:off x="1512000" y="2718000"/>
            <a:ext cx="198000" cy="198000"/>
          </a:xfrm>
          <a:prstGeom prst="rect">
            <a:avLst/>
          </a:prstGeom>
          <a:solidFill>
            <a:srgbClr val="438A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LEGEND_LABEL"/>
          <p:cNvSpPr txBox="1"/>
          <p:nvPr/>
        </p:nvSpPr>
        <p:spPr>
          <a:xfrm>
            <a:off x="1800000" y="2610000"/>
            <a:ext cx="3600000" cy="396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200" b="0" lang="ja-JP">
                <a:solidFill>
                  <a:srgbClr val="202427"/>
                </a:solidFill>
                <a:latin typeface="Yu Gothic"/>
                <a:ea typeface="Yu Gothic"/>
                <a:cs typeface="Yu Gothic"/>
              </a:rPr>
              <a:t>完了した成果</a:t>
            </a:r>
          </a:p>
        </p:txBody>
      </p:sp>
      <p:sp>
        <p:nvSpPr>
          <p:cNvPr id="23" name="LEGEND_SWATCH"/>
          <p:cNvSpPr/>
          <p:nvPr/>
        </p:nvSpPr>
        <p:spPr>
          <a:xfrm>
            <a:off x="5400000" y="2718000"/>
            <a:ext cx="198000" cy="198000"/>
          </a:xfrm>
          <a:prstGeom prst="rect">
            <a:avLst/>
          </a:prstGeom>
          <a:solidFill>
            <a:srgbClr val="3C83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LEGEND_LABEL"/>
          <p:cNvSpPr txBox="1"/>
          <p:nvPr/>
        </p:nvSpPr>
        <p:spPr>
          <a:xfrm>
            <a:off x="5688000" y="2610000"/>
            <a:ext cx="3600000" cy="396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200" b="0" lang="ja-JP">
                <a:solidFill>
                  <a:srgbClr val="202427"/>
                </a:solidFill>
                <a:latin typeface="Yu Gothic"/>
                <a:ea typeface="Yu Gothic"/>
                <a:cs typeface="Yu Gothic"/>
              </a:rPr>
              <a:t>現在以降の整理</a:t>
            </a:r>
          </a:p>
        </p:txBody>
      </p:sp>
      <p:sp>
        <p:nvSpPr>
          <p:cNvPr id="25" name="LEGEND_CANDIDATE"/>
          <p:cNvSpPr/>
          <p:nvPr/>
        </p:nvSpPr>
        <p:spPr>
          <a:xfrm>
            <a:off x="12636000" y="2700000"/>
            <a:ext cx="342000" cy="216000"/>
          </a:xfrm>
          <a:prstGeom prst="rect">
            <a:avLst/>
          </a:prstGeom>
          <a:solidFill>
            <a:srgbClr val="FFFFFF"/>
          </a:solidFill>
          <a:ln w="17780">
            <a:solidFill>
              <a:srgbClr val="697477"/>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LEGEND_CANDIDATE_LABEL"/>
          <p:cNvSpPr txBox="1"/>
          <p:nvPr/>
        </p:nvSpPr>
        <p:spPr>
          <a:xfrm>
            <a:off x="13104000" y="2610000"/>
            <a:ext cx="4320000" cy="396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200" b="0" lang="ja-JP">
                <a:solidFill>
                  <a:srgbClr val="202427"/>
                </a:solidFill>
                <a:latin typeface="Yu Gothic"/>
                <a:ea typeface="Yu Gothic"/>
                <a:cs typeface="Yu Gothic"/>
              </a:rPr>
              <a:t>条件付き候補</a:t>
            </a:r>
          </a:p>
        </p:txBody>
      </p:sp>
      <p:sp>
        <p:nvSpPr>
          <p:cNvPr id="27" name="PLAN_HEADER"/>
          <p:cNvSpPr/>
          <p:nvPr/>
        </p:nvSpPr>
        <p:spPr>
          <a:xfrm>
            <a:off x="1512000" y="3276000"/>
            <a:ext cx="15912000" cy="486000"/>
          </a:xfrm>
          <a:prstGeom prst="rect">
            <a:avLst/>
          </a:prstGeom>
          <a:solidFill>
            <a:srgbClr val="2F6F7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PLAN_HEADER_GROUP"/>
          <p:cNvSpPr txBox="1"/>
          <p:nvPr/>
        </p:nvSpPr>
        <p:spPr>
          <a:xfrm>
            <a:off x="1548000" y="3330000"/>
            <a:ext cx="1728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区分</a:t>
            </a:r>
          </a:p>
        </p:txBody>
      </p:sp>
      <p:sp>
        <p:nvSpPr>
          <p:cNvPr id="29" name="PLAN_HEADER_TASK"/>
          <p:cNvSpPr txBox="1"/>
          <p:nvPr/>
        </p:nvSpPr>
        <p:spPr>
          <a:xfrm>
            <a:off x="3366000" y="3330000"/>
            <a:ext cx="5868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主な作業</a:t>
            </a:r>
          </a:p>
        </p:txBody>
      </p:sp>
      <p:sp>
        <p:nvSpPr>
          <p:cNvPr id="30" name="MONTH_0"/>
          <p:cNvSpPr txBox="1"/>
          <p:nvPr/>
        </p:nvSpPr>
        <p:spPr>
          <a:xfrm>
            <a:off x="9288000" y="3330000"/>
            <a:ext cx="1356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9月</a:t>
            </a:r>
          </a:p>
        </p:txBody>
      </p:sp>
      <p:sp>
        <p:nvSpPr>
          <p:cNvPr id="31" name="MONTH_1"/>
          <p:cNvSpPr txBox="1"/>
          <p:nvPr/>
        </p:nvSpPr>
        <p:spPr>
          <a:xfrm>
            <a:off x="10644000" y="3330000"/>
            <a:ext cx="1356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10月</a:t>
            </a:r>
          </a:p>
        </p:txBody>
      </p:sp>
      <p:sp>
        <p:nvSpPr>
          <p:cNvPr id="32" name="MONTH_2"/>
          <p:cNvSpPr txBox="1"/>
          <p:nvPr/>
        </p:nvSpPr>
        <p:spPr>
          <a:xfrm>
            <a:off x="12000000" y="3330000"/>
            <a:ext cx="1356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11月</a:t>
            </a:r>
          </a:p>
        </p:txBody>
      </p:sp>
      <p:sp>
        <p:nvSpPr>
          <p:cNvPr id="33" name="MONTH_3"/>
          <p:cNvSpPr txBox="1"/>
          <p:nvPr/>
        </p:nvSpPr>
        <p:spPr>
          <a:xfrm>
            <a:off x="13356000" y="3330000"/>
            <a:ext cx="1356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12月</a:t>
            </a:r>
          </a:p>
        </p:txBody>
      </p:sp>
      <p:sp>
        <p:nvSpPr>
          <p:cNvPr id="34" name="MONTH_4"/>
          <p:cNvSpPr txBox="1"/>
          <p:nvPr/>
        </p:nvSpPr>
        <p:spPr>
          <a:xfrm>
            <a:off x="14712000" y="3330000"/>
            <a:ext cx="1356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1月</a:t>
            </a:r>
          </a:p>
        </p:txBody>
      </p:sp>
      <p:sp>
        <p:nvSpPr>
          <p:cNvPr id="35" name="MONTH_5"/>
          <p:cNvSpPr txBox="1"/>
          <p:nvPr/>
        </p:nvSpPr>
        <p:spPr>
          <a:xfrm>
            <a:off x="16068000" y="3330000"/>
            <a:ext cx="1356000" cy="360000"/>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2300" b="1" lang="ja-JP">
                <a:solidFill>
                  <a:srgbClr val="FFFFFF"/>
                </a:solidFill>
                <a:latin typeface="Yu Gothic"/>
                <a:ea typeface="Yu Gothic"/>
                <a:cs typeface="Yu Gothic"/>
              </a:rPr>
              <a:t>2月</a:t>
            </a:r>
          </a:p>
        </p:txBody>
      </p:sp>
      <p:sp>
        <p:nvSpPr>
          <p:cNvPr id="36" name="PLAN_ROW_0"/>
          <p:cNvSpPr/>
          <p:nvPr/>
        </p:nvSpPr>
        <p:spPr>
          <a:xfrm>
            <a:off x="3311999" y="3761999"/>
            <a:ext cx="14112000" cy="5724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PLAN_TASK_0"/>
          <p:cNvSpPr txBox="1"/>
          <p:nvPr/>
        </p:nvSpPr>
        <p:spPr>
          <a:xfrm>
            <a:off x="3391200" y="3826799"/>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主系列の評価条件・実行</a:t>
            </a:r>
          </a:p>
        </p:txBody>
      </p:sp>
      <p:sp>
        <p:nvSpPr>
          <p:cNvPr id="38" name="PLAN_BAR_0"/>
          <p:cNvSpPr/>
          <p:nvPr/>
        </p:nvSpPr>
        <p:spPr>
          <a:xfrm>
            <a:off x="9450720" y="3938400"/>
            <a:ext cx="1884840" cy="216000"/>
          </a:xfrm>
          <a:prstGeom prst="roundRect">
            <a:avLst>
              <a:gd name="adj" fmla="val 12000"/>
            </a:avLst>
          </a:prstGeom>
          <a:solidFill>
            <a:srgbClr val="438A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9" name="Connector 38"/>
          <p:cNvCxnSpPr/>
          <p:nvPr/>
        </p:nvCxnSpPr>
        <p:spPr>
          <a:xfrm>
            <a:off x="3311999" y="4334400"/>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40" name="PLAN_ROW_1"/>
          <p:cNvSpPr/>
          <p:nvPr/>
        </p:nvSpPr>
        <p:spPr>
          <a:xfrm>
            <a:off x="3311999" y="4334400"/>
            <a:ext cx="14112000" cy="572400"/>
          </a:xfrm>
          <a:prstGeom prst="rect">
            <a:avLst/>
          </a:prstGeom>
          <a:solidFill>
            <a:srgbClr val="F3F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PLAN_TASK_1"/>
          <p:cNvSpPr txBox="1"/>
          <p:nvPr/>
        </p:nvSpPr>
        <p:spPr>
          <a:xfrm>
            <a:off x="3391200" y="4399200"/>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3→4→5の性能・誤り分析</a:t>
            </a:r>
          </a:p>
        </p:txBody>
      </p:sp>
      <p:sp>
        <p:nvSpPr>
          <p:cNvPr id="42" name="PLAN_BAR_1"/>
          <p:cNvSpPr/>
          <p:nvPr/>
        </p:nvSpPr>
        <p:spPr>
          <a:xfrm>
            <a:off x="9559200" y="4510800"/>
            <a:ext cx="1776360" cy="216000"/>
          </a:xfrm>
          <a:prstGeom prst="roundRect">
            <a:avLst>
              <a:gd name="adj" fmla="val 12000"/>
            </a:avLst>
          </a:prstGeom>
          <a:solidFill>
            <a:srgbClr val="438A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3" name="Connector 42"/>
          <p:cNvCxnSpPr/>
          <p:nvPr/>
        </p:nvCxnSpPr>
        <p:spPr>
          <a:xfrm>
            <a:off x="3311999" y="4906800"/>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44" name="PLAN_ROW_2"/>
          <p:cNvSpPr/>
          <p:nvPr/>
        </p:nvSpPr>
        <p:spPr>
          <a:xfrm>
            <a:off x="3311999" y="4906800"/>
            <a:ext cx="14112000" cy="5724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PLAN_TASK_2"/>
          <p:cNvSpPr txBox="1"/>
          <p:nvPr/>
        </p:nvSpPr>
        <p:spPr>
          <a:xfrm>
            <a:off x="3391200" y="4971600"/>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採用理由・改善と限界の整理</a:t>
            </a:r>
          </a:p>
        </p:txBody>
      </p:sp>
      <p:sp>
        <p:nvSpPr>
          <p:cNvPr id="46" name="PLAN_BAR_2"/>
          <p:cNvSpPr/>
          <p:nvPr/>
        </p:nvSpPr>
        <p:spPr>
          <a:xfrm>
            <a:off x="11335560" y="5083200"/>
            <a:ext cx="2020440" cy="216000"/>
          </a:xfrm>
          <a:prstGeom prst="roundRect">
            <a:avLst>
              <a:gd name="adj" fmla="val 12000"/>
            </a:avLst>
          </a:prstGeom>
          <a:solidFill>
            <a:srgbClr val="3C83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7" name="Connector 46"/>
          <p:cNvCxnSpPr/>
          <p:nvPr/>
        </p:nvCxnSpPr>
        <p:spPr>
          <a:xfrm>
            <a:off x="3311999" y="5479200"/>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48" name="PLAN_ROW_3"/>
          <p:cNvSpPr/>
          <p:nvPr/>
        </p:nvSpPr>
        <p:spPr>
          <a:xfrm>
            <a:off x="3311999" y="5479200"/>
            <a:ext cx="14112000" cy="572400"/>
          </a:xfrm>
          <a:prstGeom prst="rect">
            <a:avLst/>
          </a:prstGeom>
          <a:solidFill>
            <a:srgbClr val="F3F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PLAN_TASK_3"/>
          <p:cNvSpPr txBox="1"/>
          <p:nvPr/>
        </p:nvSpPr>
        <p:spPr>
          <a:xfrm>
            <a:off x="3391200" y="5543999"/>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説明性と誤りの接続分析</a:t>
            </a:r>
          </a:p>
        </p:txBody>
      </p:sp>
      <p:sp>
        <p:nvSpPr>
          <p:cNvPr id="50" name="PLAN_BAR_3"/>
          <p:cNvSpPr/>
          <p:nvPr/>
        </p:nvSpPr>
        <p:spPr>
          <a:xfrm>
            <a:off x="9694800" y="5655600"/>
            <a:ext cx="1640760" cy="216000"/>
          </a:xfrm>
          <a:prstGeom prst="roundRect">
            <a:avLst>
              <a:gd name="adj" fmla="val 12000"/>
            </a:avLst>
          </a:prstGeom>
          <a:solidFill>
            <a:srgbClr val="438A6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1" name="Connector 50"/>
          <p:cNvCxnSpPr/>
          <p:nvPr/>
        </p:nvCxnSpPr>
        <p:spPr>
          <a:xfrm>
            <a:off x="3311999" y="6051600"/>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52" name="PLAN_ROW_4"/>
          <p:cNvSpPr/>
          <p:nvPr/>
        </p:nvSpPr>
        <p:spPr>
          <a:xfrm>
            <a:off x="3311999" y="6051600"/>
            <a:ext cx="14112000" cy="5724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PLAN_TASK_4"/>
          <p:cNvSpPr txBox="1"/>
          <p:nvPr/>
        </p:nvSpPr>
        <p:spPr>
          <a:xfrm>
            <a:off x="3391200" y="6116399"/>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特徴利用と誤りの考察</a:t>
            </a:r>
          </a:p>
        </p:txBody>
      </p:sp>
      <p:sp>
        <p:nvSpPr>
          <p:cNvPr id="54" name="PLAN_BAR_4"/>
          <p:cNvSpPr/>
          <p:nvPr/>
        </p:nvSpPr>
        <p:spPr>
          <a:xfrm>
            <a:off x="11335560" y="6227999"/>
            <a:ext cx="3376440" cy="216000"/>
          </a:xfrm>
          <a:prstGeom prst="roundRect">
            <a:avLst>
              <a:gd name="adj" fmla="val 12000"/>
            </a:avLst>
          </a:prstGeom>
          <a:solidFill>
            <a:srgbClr val="3C83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5" name="Connector 54"/>
          <p:cNvCxnSpPr/>
          <p:nvPr/>
        </p:nvCxnSpPr>
        <p:spPr>
          <a:xfrm>
            <a:off x="3311999" y="6623999"/>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56" name="PLAN_ROW_5"/>
          <p:cNvSpPr/>
          <p:nvPr/>
        </p:nvSpPr>
        <p:spPr>
          <a:xfrm>
            <a:off x="3311999" y="6623999"/>
            <a:ext cx="14112000" cy="572400"/>
          </a:xfrm>
          <a:prstGeom prst="rect">
            <a:avLst/>
          </a:prstGeom>
          <a:solidFill>
            <a:srgbClr val="F3F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PLAN_TASK_5"/>
          <p:cNvSpPr txBox="1"/>
          <p:nvPr/>
        </p:nvSpPr>
        <p:spPr>
          <a:xfrm>
            <a:off x="3391200" y="6688799"/>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章別整理・本文への展開</a:t>
            </a:r>
          </a:p>
        </p:txBody>
      </p:sp>
      <p:sp>
        <p:nvSpPr>
          <p:cNvPr id="58" name="PLAN_BAR_5"/>
          <p:cNvSpPr/>
          <p:nvPr/>
        </p:nvSpPr>
        <p:spPr>
          <a:xfrm>
            <a:off x="11335560" y="6800399"/>
            <a:ext cx="2020440" cy="216000"/>
          </a:xfrm>
          <a:prstGeom prst="roundRect">
            <a:avLst>
              <a:gd name="adj" fmla="val 12000"/>
            </a:avLst>
          </a:prstGeom>
          <a:solidFill>
            <a:srgbClr val="3C83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9" name="Connector 58"/>
          <p:cNvCxnSpPr/>
          <p:nvPr/>
        </p:nvCxnSpPr>
        <p:spPr>
          <a:xfrm>
            <a:off x="3311999" y="7196399"/>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60" name="PLAN_ROW_6"/>
          <p:cNvSpPr/>
          <p:nvPr/>
        </p:nvSpPr>
        <p:spPr>
          <a:xfrm>
            <a:off x="3311999" y="7196400"/>
            <a:ext cx="14112000" cy="5724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PLAN_TASK_6"/>
          <p:cNvSpPr txBox="1"/>
          <p:nvPr/>
        </p:nvSpPr>
        <p:spPr>
          <a:xfrm>
            <a:off x="3391200" y="7261200"/>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結果・考察・結論の整理</a:t>
            </a:r>
          </a:p>
        </p:txBody>
      </p:sp>
      <p:sp>
        <p:nvSpPr>
          <p:cNvPr id="62" name="PLAN_BAR_6"/>
          <p:cNvSpPr/>
          <p:nvPr/>
        </p:nvSpPr>
        <p:spPr>
          <a:xfrm>
            <a:off x="13356000" y="7372800"/>
            <a:ext cx="1356000" cy="216000"/>
          </a:xfrm>
          <a:prstGeom prst="roundRect">
            <a:avLst>
              <a:gd name="adj" fmla="val 12000"/>
            </a:avLst>
          </a:prstGeom>
          <a:solidFill>
            <a:srgbClr val="3C83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3" name="Connector 62"/>
          <p:cNvCxnSpPr/>
          <p:nvPr/>
        </p:nvCxnSpPr>
        <p:spPr>
          <a:xfrm>
            <a:off x="3311999" y="7768800"/>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64" name="PLAN_ROW_7"/>
          <p:cNvSpPr/>
          <p:nvPr/>
        </p:nvSpPr>
        <p:spPr>
          <a:xfrm>
            <a:off x="3311999" y="7768799"/>
            <a:ext cx="14112000" cy="572400"/>
          </a:xfrm>
          <a:prstGeom prst="rect">
            <a:avLst/>
          </a:prstGeom>
          <a:solidFill>
            <a:srgbClr val="F3F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PLAN_TASK_7"/>
          <p:cNvSpPr txBox="1"/>
          <p:nvPr/>
        </p:nvSpPr>
        <p:spPr>
          <a:xfrm>
            <a:off x="3391200" y="7833599"/>
            <a:ext cx="5817600" cy="442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0" lang="ja-JP">
                <a:solidFill>
                  <a:srgbClr val="202427"/>
                </a:solidFill>
                <a:latin typeface="Yu Gothic"/>
                <a:ea typeface="Yu Gothic"/>
                <a:cs typeface="Yu Gothic"/>
              </a:rPr>
              <a:t>本文完成・発表準備</a:t>
            </a:r>
          </a:p>
        </p:txBody>
      </p:sp>
      <p:sp>
        <p:nvSpPr>
          <p:cNvPr id="66" name="PLAN_BAR_7"/>
          <p:cNvSpPr/>
          <p:nvPr/>
        </p:nvSpPr>
        <p:spPr>
          <a:xfrm>
            <a:off x="14712000" y="7945199"/>
            <a:ext cx="2712000" cy="216000"/>
          </a:xfrm>
          <a:prstGeom prst="roundRect">
            <a:avLst>
              <a:gd name="adj" fmla="val 12000"/>
            </a:avLst>
          </a:prstGeom>
          <a:solidFill>
            <a:srgbClr val="3C83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7" name="Connector 66"/>
          <p:cNvCxnSpPr/>
          <p:nvPr/>
        </p:nvCxnSpPr>
        <p:spPr>
          <a:xfrm>
            <a:off x="3311999" y="8341199"/>
            <a:ext cx="14112001" cy="0"/>
          </a:xfrm>
          <a:prstGeom prst="line">
            <a:avLst/>
          </a:prstGeom>
          <a:ln w="10160">
            <a:solidFill>
              <a:srgbClr val="CDD7D8"/>
            </a:solidFill>
          </a:ln>
          <a:effectLst/>
        </p:spPr>
        <p:style>
          <a:lnRef idx="2">
            <a:schemeClr val="accent1"/>
          </a:lnRef>
          <a:fillRef idx="0">
            <a:schemeClr val="accent1"/>
          </a:fillRef>
          <a:effectRef idx="0">
            <a:schemeClr val="accent1"/>
          </a:effectRef>
          <a:fontRef idx="minor">
            <a:schemeClr val="tx1"/>
          </a:fontRef>
        </p:style>
      </p:cxnSp>
      <p:sp>
        <p:nvSpPr>
          <p:cNvPr id="68" name="PLAN_GROUP"/>
          <p:cNvSpPr/>
          <p:nvPr/>
        </p:nvSpPr>
        <p:spPr>
          <a:xfrm>
            <a:off x="1512000" y="3761999"/>
            <a:ext cx="1800000" cy="572400"/>
          </a:xfrm>
          <a:prstGeom prst="rect">
            <a:avLst/>
          </a:prstGeom>
          <a:solidFill>
            <a:srgbClr val="EDF4F4"/>
          </a:solidFill>
          <a:ln w="17780">
            <a:solidFill>
              <a:srgbClr val="CDD7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PLAN_GROUP_LABEL"/>
          <p:cNvSpPr txBox="1"/>
          <p:nvPr/>
        </p:nvSpPr>
        <p:spPr>
          <a:xfrm>
            <a:off x="1566000" y="3805199"/>
            <a:ext cx="1692000" cy="4860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1" lang="ja-JP">
                <a:solidFill>
                  <a:srgbClr val="2F6F73"/>
                </a:solidFill>
                <a:latin typeface="Yu Gothic"/>
                <a:ea typeface="Yu Gothic"/>
                <a:cs typeface="Yu Gothic"/>
              </a:rPr>
              <a:t>① 評価条件</a:t>
            </a:r>
          </a:p>
        </p:txBody>
      </p:sp>
      <p:sp>
        <p:nvSpPr>
          <p:cNvPr id="70" name="PLAN_GROUP"/>
          <p:cNvSpPr/>
          <p:nvPr/>
        </p:nvSpPr>
        <p:spPr>
          <a:xfrm>
            <a:off x="1512000" y="4334400"/>
            <a:ext cx="1800000" cy="1144800"/>
          </a:xfrm>
          <a:prstGeom prst="rect">
            <a:avLst/>
          </a:prstGeom>
          <a:solidFill>
            <a:srgbClr val="EDF4F4"/>
          </a:solidFill>
          <a:ln w="17780">
            <a:solidFill>
              <a:srgbClr val="CDD7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PLAN_GROUP_LABEL"/>
          <p:cNvSpPr txBox="1"/>
          <p:nvPr/>
        </p:nvSpPr>
        <p:spPr>
          <a:xfrm>
            <a:off x="1566000" y="4377599"/>
            <a:ext cx="1692000" cy="10584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1" lang="ja-JP">
                <a:solidFill>
                  <a:srgbClr val="2F6F73"/>
                </a:solidFill>
                <a:latin typeface="Yu Gothic"/>
                <a:ea typeface="Yu Gothic"/>
                <a:cs typeface="Yu Gothic"/>
              </a:rPr>
              <a:t>② 統合の</a:t>
            </a:r>
          </a:p>
          <a:p>
            <a:pPr algn="l">
              <a:lnSpc>
                <a:spcPct val="115000"/>
              </a:lnSpc>
              <a:spcBef>
                <a:spcPts val="0"/>
              </a:spcBef>
              <a:spcAft>
                <a:spcPts val="0"/>
              </a:spcAft>
              <a:buNone/>
            </a:pPr>
            <a:r>
              <a:rPr sz="2100" b="1" lang="ja-JP">
                <a:solidFill>
                  <a:srgbClr val="2F6F73"/>
                </a:solidFill>
                <a:latin typeface="Yu Gothic"/>
                <a:ea typeface="Yu Gothic"/>
                <a:cs typeface="Yu Gothic"/>
              </a:rPr>
              <a:t>　検証</a:t>
            </a:r>
          </a:p>
        </p:txBody>
      </p:sp>
      <p:sp>
        <p:nvSpPr>
          <p:cNvPr id="72" name="PLAN_GROUP"/>
          <p:cNvSpPr/>
          <p:nvPr/>
        </p:nvSpPr>
        <p:spPr>
          <a:xfrm>
            <a:off x="1512000" y="5479200"/>
            <a:ext cx="1800000" cy="1144800"/>
          </a:xfrm>
          <a:prstGeom prst="rect">
            <a:avLst/>
          </a:prstGeom>
          <a:solidFill>
            <a:srgbClr val="EDF4F4"/>
          </a:solidFill>
          <a:ln w="17780">
            <a:solidFill>
              <a:srgbClr val="CDD7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PLAN_GROUP_LABEL"/>
          <p:cNvSpPr txBox="1"/>
          <p:nvPr/>
        </p:nvSpPr>
        <p:spPr>
          <a:xfrm>
            <a:off x="1566000" y="5522399"/>
            <a:ext cx="1692000" cy="10584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1" lang="ja-JP">
                <a:solidFill>
                  <a:srgbClr val="2F6F73"/>
                </a:solidFill>
                <a:latin typeface="Yu Gothic"/>
                <a:ea typeface="Yu Gothic"/>
                <a:cs typeface="Yu Gothic"/>
              </a:rPr>
              <a:t>③ 説明性・</a:t>
            </a:r>
          </a:p>
          <a:p>
            <a:pPr algn="l">
              <a:lnSpc>
                <a:spcPct val="115000"/>
              </a:lnSpc>
              <a:spcBef>
                <a:spcPts val="0"/>
              </a:spcBef>
              <a:spcAft>
                <a:spcPts val="0"/>
              </a:spcAft>
              <a:buNone/>
            </a:pPr>
            <a:r>
              <a:rPr sz="2100" b="1" lang="ja-JP">
                <a:solidFill>
                  <a:srgbClr val="2F6F73"/>
                </a:solidFill>
                <a:latin typeface="Yu Gothic"/>
                <a:ea typeface="Yu Gothic"/>
                <a:cs typeface="Yu Gothic"/>
              </a:rPr>
              <a:t>　要因分析</a:t>
            </a:r>
          </a:p>
        </p:txBody>
      </p:sp>
      <p:sp>
        <p:nvSpPr>
          <p:cNvPr id="74" name="PLAN_GROUP"/>
          <p:cNvSpPr/>
          <p:nvPr/>
        </p:nvSpPr>
        <p:spPr>
          <a:xfrm>
            <a:off x="1512000" y="6623999"/>
            <a:ext cx="1800000" cy="1717200"/>
          </a:xfrm>
          <a:prstGeom prst="rect">
            <a:avLst/>
          </a:prstGeom>
          <a:solidFill>
            <a:srgbClr val="EDF4F4"/>
          </a:solidFill>
          <a:ln w="17780">
            <a:solidFill>
              <a:srgbClr val="CDD7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PLAN_GROUP_LABEL"/>
          <p:cNvSpPr txBox="1"/>
          <p:nvPr/>
        </p:nvSpPr>
        <p:spPr>
          <a:xfrm>
            <a:off x="1566000" y="6667200"/>
            <a:ext cx="1692000" cy="1630800"/>
          </a:xfrm>
          <a:prstGeom prst="rect">
            <a:avLst/>
          </a:prstGeom>
          <a:noFill/>
          <a:effectLst/>
        </p:spPr>
        <p:txBody>
          <a:bodyPr wrap="square" lIns="21600" rIns="21600" tIns="21600" bIns="21600" anchor="ctr">
            <a:noAutofit/>
          </a:bodyPr>
          <a:lstStyle/>
          <a:p>
            <a:pPr algn="l">
              <a:lnSpc>
                <a:spcPct val="115000"/>
              </a:lnSpc>
              <a:spcBef>
                <a:spcPts val="0"/>
              </a:spcBef>
              <a:spcAft>
                <a:spcPts val="0"/>
              </a:spcAft>
              <a:buNone/>
            </a:pPr>
            <a:r>
              <a:rPr sz="2100" b="1" lang="ja-JP">
                <a:solidFill>
                  <a:srgbClr val="2F6F73"/>
                </a:solidFill>
                <a:latin typeface="Yu Gothic"/>
                <a:ea typeface="Yu Gothic"/>
                <a:cs typeface="Yu Gothic"/>
              </a:rPr>
              <a:t>④ 修論・</a:t>
            </a:r>
          </a:p>
          <a:p>
            <a:pPr algn="l">
              <a:lnSpc>
                <a:spcPct val="115000"/>
              </a:lnSpc>
              <a:spcBef>
                <a:spcPts val="0"/>
              </a:spcBef>
              <a:spcAft>
                <a:spcPts val="0"/>
              </a:spcAft>
              <a:buNone/>
            </a:pPr>
            <a:r>
              <a:rPr sz="2100" b="1" lang="ja-JP">
                <a:solidFill>
                  <a:srgbClr val="2F6F73"/>
                </a:solidFill>
                <a:latin typeface="Yu Gothic"/>
                <a:ea typeface="Yu Gothic"/>
                <a:cs typeface="Yu Gothic"/>
              </a:rPr>
              <a:t>　発表準備</a:t>
            </a:r>
          </a:p>
        </p:txBody>
      </p:sp>
      <p:cxnSp>
        <p:nvCxnSpPr>
          <p:cNvPr id="76" name="Connector 75"/>
          <p:cNvCxnSpPr/>
          <p:nvPr/>
        </p:nvCxnSpPr>
        <p:spPr>
          <a:xfrm>
            <a:off x="9288000" y="3276000"/>
            <a:ext cx="0" cy="5065200"/>
          </a:xfrm>
          <a:prstGeom prst="line">
            <a:avLst/>
          </a:prstGeom>
          <a:ln w="889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10644000" y="3276000"/>
            <a:ext cx="0" cy="5065200"/>
          </a:xfrm>
          <a:prstGeom prst="line">
            <a:avLst/>
          </a:prstGeom>
          <a:ln w="889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12000000" y="3276000"/>
            <a:ext cx="0" cy="5065200"/>
          </a:xfrm>
          <a:prstGeom prst="line">
            <a:avLst/>
          </a:prstGeom>
          <a:ln w="889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13356000" y="3276000"/>
            <a:ext cx="0" cy="5065200"/>
          </a:xfrm>
          <a:prstGeom prst="line">
            <a:avLst/>
          </a:prstGeom>
          <a:ln w="889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a:off x="14712000" y="3276000"/>
            <a:ext cx="0" cy="5065200"/>
          </a:xfrm>
          <a:prstGeom prst="line">
            <a:avLst/>
          </a:prstGeom>
          <a:ln w="889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81" name="Connector 80"/>
          <p:cNvCxnSpPr/>
          <p:nvPr/>
        </p:nvCxnSpPr>
        <p:spPr>
          <a:xfrm>
            <a:off x="16068000" y="3276000"/>
            <a:ext cx="0" cy="5065200"/>
          </a:xfrm>
          <a:prstGeom prst="line">
            <a:avLst/>
          </a:prstGeom>
          <a:ln w="889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17424000" y="3276000"/>
            <a:ext cx="0" cy="5065200"/>
          </a:xfrm>
          <a:prstGeom prst="line">
            <a:avLst/>
          </a:prstGeom>
          <a:ln w="889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512000" y="8341200"/>
            <a:ext cx="15912000" cy="0"/>
          </a:xfrm>
          <a:prstGeom prst="line">
            <a:avLst/>
          </a:prstGeom>
          <a:ln w="11430">
            <a:solidFill>
              <a:srgbClr val="CDD7D8"/>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11335560" y="3196799"/>
            <a:ext cx="0" cy="5144401"/>
          </a:xfrm>
          <a:prstGeom prst="line">
            <a:avLst/>
          </a:prstGeom>
          <a:ln w="29209">
            <a:solidFill>
              <a:srgbClr val="2F6F73"/>
            </a:solidFill>
          </a:ln>
          <a:effectLst/>
        </p:spPr>
        <p:style>
          <a:lnRef idx="2">
            <a:schemeClr val="accent1"/>
          </a:lnRef>
          <a:fillRef idx="0">
            <a:schemeClr val="accent1"/>
          </a:fillRef>
          <a:effectRef idx="0">
            <a:schemeClr val="accent1"/>
          </a:effectRef>
          <a:fontRef idx="minor">
            <a:schemeClr val="tx1"/>
          </a:fontRef>
        </p:style>
      </p:cxnSp>
      <p:sp>
        <p:nvSpPr>
          <p:cNvPr id="85" name="NOW_LABEL_BG"/>
          <p:cNvSpPr/>
          <p:nvPr/>
        </p:nvSpPr>
        <p:spPr>
          <a:xfrm>
            <a:off x="10741560" y="2988000"/>
            <a:ext cx="1188000" cy="270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NOW_LABEL"/>
          <p:cNvSpPr txBox="1"/>
          <p:nvPr/>
        </p:nvSpPr>
        <p:spPr>
          <a:xfrm>
            <a:off x="10741560" y="2995200"/>
            <a:ext cx="1188000" cy="251999"/>
          </a:xfrm>
          <a:prstGeom prst="rect">
            <a:avLst/>
          </a:prstGeom>
          <a:noFill/>
          <a:effectLst/>
        </p:spPr>
        <p:txBody>
          <a:bodyPr wrap="square" lIns="21600" rIns="21600" tIns="21600" bIns="21600" anchor="t">
            <a:noAutofit/>
          </a:bodyPr>
          <a:lstStyle/>
          <a:p>
            <a:pPr algn="ctr">
              <a:lnSpc>
                <a:spcPct val="115000"/>
              </a:lnSpc>
              <a:spcBef>
                <a:spcPts val="0"/>
              </a:spcBef>
              <a:spcAft>
                <a:spcPts val="0"/>
              </a:spcAft>
              <a:buNone/>
            </a:pPr>
            <a:r>
              <a:rPr sz="1800" b="1" lang="ja-JP">
                <a:solidFill>
                  <a:srgbClr val="2F6F73"/>
                </a:solidFill>
                <a:latin typeface="Yu Gothic"/>
                <a:ea typeface="Yu Gothic"/>
                <a:cs typeface="Yu Gothic"/>
              </a:rPr>
              <a:t>10/16</a:t>
            </a:r>
          </a:p>
        </p:txBody>
      </p:sp>
      <p:sp>
        <p:nvSpPr>
          <p:cNvPr id="87" name="CONDITIONAL_LANE"/>
          <p:cNvSpPr/>
          <p:nvPr/>
        </p:nvSpPr>
        <p:spPr>
          <a:xfrm>
            <a:off x="1512000" y="8658000"/>
            <a:ext cx="15912000" cy="576000"/>
          </a:xfrm>
          <a:prstGeom prst="rect">
            <a:avLst/>
          </a:prstGeom>
          <a:solidFill>
            <a:srgbClr val="FFFFFF"/>
          </a:solidFill>
          <a:ln w="17780">
            <a:solidFill>
              <a:srgbClr val="697477"/>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CONDITIONAL_TEXT"/>
          <p:cNvSpPr txBox="1"/>
          <p:nvPr/>
        </p:nvSpPr>
        <p:spPr>
          <a:xfrm>
            <a:off x="1674000" y="8730000"/>
            <a:ext cx="15587999" cy="432000"/>
          </a:xfrm>
          <a:prstGeom prst="rect">
            <a:avLst/>
          </a:prstGeom>
          <a:noFill/>
          <a:effectLst/>
        </p:spPr>
        <p:txBody>
          <a:bodyPr wrap="square" lIns="21600" rIns="21600" tIns="21600" bIns="21600" anchor="t">
            <a:noAutofit/>
          </a:bodyPr>
          <a:lstStyle/>
          <a:p>
            <a:pPr algn="l">
              <a:lnSpc>
                <a:spcPct val="115000"/>
              </a:lnSpc>
              <a:spcBef>
                <a:spcPts val="0"/>
              </a:spcBef>
              <a:spcAft>
                <a:spcPts val="0"/>
              </a:spcAft>
              <a:buNone/>
            </a:pPr>
            <a:r>
              <a:rPr sz="2400" b="1" lang="ja-JP">
                <a:solidFill>
                  <a:srgbClr val="697477"/>
                </a:solidFill>
                <a:latin typeface="Yu Gothic"/>
                <a:ea typeface="Yu Gothic"/>
                <a:cs typeface="Yu Gothic"/>
              </a:rPr>
              <a:t>条件付き候補：入力に応じた自動重み切替（時期未定）</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482E6">
            <a:alpha val="94000"/>
          </a:srgbClr>
        </a:solidFill>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5D7A1B7-69B7-4925-99B8-A306950AE00F}">
  <we:reference id="wa200010001" version="1.0.0.1" store="ja-JP" storeType="OMEX"/>
  <we:alternateReferences>
    <we:reference id="WA200010001" version="1.0.0.1" store="WA200010001" storeType="OMEX"/>
  </we:alternateReferences>
  <we:properties>
    <we:property name="claude.fileId" value="&quot;47c20542-9aa0-420f-8b84-a53bce3b6a32&quot;"/>
  </we:properties>
  <we:bindings/>
  <we:snapshot xmlns:r="http://schemas.openxmlformats.org/officeDocument/2006/relationships"/>
</we:webextension>
</file>

<file path=ppt/webextensions/webextension2.xml><?xml version="1.0" encoding="utf-8"?>
<we:webextension xmlns:we="http://schemas.microsoft.com/office/webextensions/webextension/2010/11" id="{C1E0504D-397B-4E0E-9870-3BF79C012794}">
  <we:reference id="wa200010215" version="2.0.0.1" store="ja-JP" storeType="OMEX"/>
  <we:alternateReferences>
    <we:reference id="WA200010215" version="2.0.0.1" store="WA200010215" storeType="OMEX"/>
  </we:alternateReferences>
  <we:properties>
    <we:property name="bps.codex_control.document_id" value="&quot;923187e9-0861-413e-9a76-03a2dc2aca9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27194</TotalTime>
  <Words>469</Words>
  <Application>Microsoft Office PowerPoint</Application>
  <PresentationFormat>ユーザー設定</PresentationFormat>
  <Paragraphs>100</Paragraphs>
  <Slides>8</Slides>
  <Notes>7</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8</vt:i4>
      </vt:variant>
    </vt:vector>
  </HeadingPairs>
  <TitlesOfParts>
    <vt:vector size="18" baseType="lpstr">
      <vt:lpstr>游ゴシック</vt:lpstr>
      <vt:lpstr>游ゴシック</vt:lpstr>
      <vt:lpstr>Century Gothic Paneuropean</vt:lpstr>
      <vt:lpstr>Source Han Sans JP Bold</vt:lpstr>
      <vt:lpstr>Arial</vt:lpstr>
      <vt:lpstr>Source Han Sans JP</vt:lpstr>
      <vt:lpstr>ＭＳ Ｐゴシック</vt:lpstr>
      <vt:lpstr>Calibri</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研究進捗 2026年10月16日：図差し替え用11枚</dc:title>
  <dc:creator>柴崎陸</dc:creator>
  <cp:lastModifiedBy>陸 柴崎</cp:lastModifiedBy>
  <cp:revision>258</cp:revision>
  <dcterms:created xsi:type="dcterms:W3CDTF">2006-08-16T00:00:00Z</dcterms:created>
  <dcterms:modified xsi:type="dcterms:W3CDTF">2026-10-14T11:14:20Z</dcterms:modified>
  <dc:identifier>DAGKJCfN4aw</dc:identifier>
  <dc:subject>本人の再検討案を基にした編集用スライド。実験グラフは挿入枠。</dc:subject>
  <cp:keywords>研究進捗, アンサンブル, ONB, 編集用, 2026-10-16</cp:keywords>
  <dc:description>添付PPTXの表紙・大学装飾を保持。グラフは後挿入。原ファイル未変更。</dc:description>
</cp:coreProperties>
</file>