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0"/>
  </p:notesMasterIdLst>
  <p:sldIdLst>
    <p:sldId id="399" r:id="rId2"/>
    <p:sldId id="501" r:id="rId3"/>
    <p:sldId id="494" r:id="rId4"/>
    <p:sldId id="511" r:id="rId5"/>
    <p:sldId id="512" r:id="rId6"/>
    <p:sldId id="516" r:id="rId7"/>
    <p:sldId id="503" r:id="rId8"/>
    <p:sldId id="515" r:id="rId9"/>
  </p:sldIdLst>
  <p:sldSz cx="18288000" cy="10287000"/>
  <p:notesSz cx="6858000" cy="9144000"/>
  <p:embeddedFontLst>
    <p:embeddedFont>
      <p:font typeface="Source Han Sans JP" panose="020B0600070205080204" charset="-128"/>
      <p:regular r:id="rId11"/>
    </p:embeddedFont>
    <p:embeddedFont>
      <p:font typeface="Source Han Sans JP Bold" panose="020B0600070205080204" charset="-128"/>
      <p:regular r:id="rId12"/>
    </p:embeddedFont>
    <p:embeddedFont>
      <p:font typeface="Century Gothic Paneuropean" panose="020B0600070205080204" charset="0"/>
      <p:regular r:id="rId13"/>
    </p:embeddedFont>
    <p:embeddedFont>
      <p:font typeface="游ゴシック" panose="020B0400000000000000" pitchFamily="50" charset="-128"/>
      <p:regular r:id="rId14"/>
      <p:bold r:id="rId15"/>
    </p:embeddedFont>
    <p:embeddedFont>
      <p:font typeface="游ゴシック" panose="020B0400000000000000" pitchFamily="50" charset="-128"/>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1"/>
    <a:srgbClr val="BED8D7"/>
    <a:srgbClr val="B3D1D0"/>
    <a:srgbClr val="91BDBC"/>
    <a:srgbClr val="61A3A1"/>
    <a:srgbClr val="95C1C0"/>
    <a:srgbClr val="FFFFFF"/>
    <a:srgbClr val="849A9A"/>
    <a:srgbClr val="AACECD"/>
    <a:srgbClr val="ABC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74696"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1A9E9-AE27-1E01-9835-EF48D367B2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34F1C-5D18-FC8A-8DEF-C46AB3E0D9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2770C4D-86E6-D25C-9111-77341F57D5F0}"/>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CE60FBB3-999D-3E47-4628-001993935F93}"/>
              </a:ext>
            </a:extLst>
          </p:cNvPr>
          <p:cNvSpPr>
            <a:spLocks noGrp="1"/>
          </p:cNvSpPr>
          <p:nvPr>
            <p:ph type="sldNum" sz="quarter" idx="5"/>
          </p:nvPr>
        </p:nvSpPr>
        <p:spPr/>
        <p:txBody>
          <a:bodyPr/>
          <a:lstStyle/>
          <a:p>
            <a:fld id="{43558F7A-9C9F-42E9-83A4-0C372CE5784D}" type="slidenum">
              <a:rPr kumimoji="1" lang="ja-JP" altLang="en-US" smtClean="0"/>
              <a:t>3</a:t>
            </a:fld>
            <a:endParaRPr kumimoji="1" lang="ja-JP" altLang="en-US"/>
          </a:p>
        </p:txBody>
      </p:sp>
    </p:spTree>
    <p:extLst>
      <p:ext uri="{BB962C8B-B14F-4D97-AF65-F5344CB8AC3E}">
        <p14:creationId xmlns:p14="http://schemas.microsoft.com/office/powerpoint/2010/main" val="1282839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19844-7479-4761-8AC7-853C4B311DE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6FFAA-7C12-7D95-5E85-103771BD85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AD4A18C-3D01-1769-0E06-C86D1BB87F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D58A47E-C6C9-18D1-0F1C-B25EF8996712}"/>
              </a:ext>
            </a:extLst>
          </p:cNvPr>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37052582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FA046-5D5B-2321-1581-D4060B329B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5C42F3A-8E35-6B59-A565-89F1D1267E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B32A0E-F09F-1AA3-CA80-C5B4AFB3E01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104843-6162-F930-9485-6E27445AF616}"/>
              </a:ext>
            </a:extLst>
          </p:cNvPr>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404196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8904A-B5E3-DD5A-7521-B3CFA4838C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A5929FA-9E8B-52C8-D481-73835AAC233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C08CF53-0D6C-60BC-3A55-07C2C9D414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dirty="0"/>
          </a:p>
        </p:txBody>
      </p:sp>
      <p:sp>
        <p:nvSpPr>
          <p:cNvPr id="4" name="スライド番号プレースホルダー 3">
            <a:extLst>
              <a:ext uri="{FF2B5EF4-FFF2-40B4-BE49-F238E27FC236}">
                <a16:creationId xmlns:a16="http://schemas.microsoft.com/office/drawing/2014/main" id="{03A737B5-0EF6-7BBA-9DE6-30128CFD0910}"/>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1905703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545E4-B9B9-554E-8899-3266B7DEC46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C0710D-C792-2F16-2B79-8917D339DE2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99D4327-A3A0-2B20-4891-5D0CE59697D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24A3B95-7E6A-318B-2CAB-533FB426EF9C}"/>
              </a:ext>
            </a:extLst>
          </p:cNvPr>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90915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920481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4242220"/>
            <a:ext cx="13854732" cy="1231106"/>
          </a:xfrm>
          <a:prstGeom prst="rect">
            <a:avLst/>
          </a:prstGeom>
        </p:spPr>
        <p:txBody>
          <a:bodyPr wrap="square" lIns="0" tIns="0" rIns="0" bIns="0" rtlCol="0" anchor="t">
            <a:spAutoFit/>
          </a:bodyPr>
          <a:lstStyle/>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0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プール沸騰の発生検知</a:t>
            </a: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496290"/>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2026年10月16日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538384"/>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a:t>
            </a:r>
            <a:endParaRPr lang="en-US" sz="6600" dirty="0">
              <a:solidFill>
                <a:srgbClr val="292B2B"/>
              </a:solidFill>
              <a:latin typeface="Source Han Sans JP Bold"/>
              <a:ea typeface="Source Han Sans JP Bold"/>
              <a:cs typeface="Source Han Sans JP Bold"/>
              <a:sym typeface="Source Han Sans JP Bold"/>
            </a:endParaRPr>
          </a:p>
        </p:txBody>
      </p:sp>
    </p:spTree>
    <p:extLst>
      <p:ext uri="{BB962C8B-B14F-4D97-AF65-F5344CB8AC3E}">
        <p14:creationId xmlns:p14="http://schemas.microsoft.com/office/powerpoint/2010/main" val="842676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78CC8-D48C-2743-BDF1-ECD66C65E961}"/>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EE746A5-2EA0-7091-CE1B-4CA2830713A6}"/>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70958775-508E-6262-548A-C76F63D7746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41BA4E38-AE3E-68EF-51D9-A344EE59086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0152DED0-19F6-05C3-C9FF-989B1429AF0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BA6EA534-61D8-686C-86C9-B0FDB6111F9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CECFB917-CF11-0A3B-8B44-C670007A018C}"/>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91A2E58B-D56D-16D3-4661-BA3BBA74542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1378A26-691B-21D8-F51A-2BCE6659850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B26AAB03-99EC-2423-EABE-926D29D0C8F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9867762-ABD7-CC40-7E63-B819E3C692C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7C70FADF-E307-0A92-9A76-AA2A20A2C00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1692D9C-3C53-381D-F3A1-3F5EFE102AA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2F474822-BEB2-EBEC-7A2F-017173F3CC92}"/>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98FB6128-7B40-96C8-A76A-6673F6DB3B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20FB272E-47CE-4D63-AC8D-B52F20BC8A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6641A16-74EF-B03F-FD0C-9EDF72B6C95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482A15FD-BC4A-9198-CEDF-1767C02D8C29}"/>
              </a:ext>
            </a:extLst>
          </p:cNvPr>
          <p:cNvSpPr txBox="1"/>
          <p:nvPr/>
        </p:nvSpPr>
        <p:spPr>
          <a:xfrm>
            <a:off x="1806795" y="305043"/>
            <a:ext cx="8255000" cy="700576"/>
          </a:xfrm>
          <a:prstGeom prst="rect">
            <a:avLst/>
          </a:prstGeom>
        </p:spPr>
        <p:txBody>
          <a:bodyPr wrap="square" lIns="0" tIns="0" rIns="0" bIns="0" rtlCol="0" anchor="t">
            <a:normAutofit/>
          </a:bodyPr>
          <a:lstStyle/>
          <a:p>
            <a:pPr algn="l">
              <a:lnSpc>
                <a:spcPts val="5880"/>
              </a:lnSpc>
              <a:spcBef>
                <a:spcPct val="0"/>
              </a:spcBef>
            </a:pPr>
            <a:r>
              <a:rPr lang="ja-JP" altLang="en-US" sz="3000" b="1" dirty="0">
                <a:solidFill>
                  <a:srgbClr val="202020"/>
                </a:solidFill>
                <a:latin typeface="Yu Gothic"/>
                <a:ea typeface="Yu Gothic"/>
                <a:cs typeface="Source Han Sans JP Medium"/>
                <a:sym typeface="Source Han Sans JP Medium"/>
              </a:rPr>
              <a:t>今回の発表内容</a:t>
            </a:r>
          </a:p>
        </p:txBody>
      </p:sp>
      <p:sp>
        <p:nvSpPr>
          <p:cNvPr id="2" name="テキスト ボックス 1">
            <a:extLst>
              <a:ext uri="{FF2B5EF4-FFF2-40B4-BE49-F238E27FC236}">
                <a16:creationId xmlns:a16="http://schemas.microsoft.com/office/drawing/2014/main" id="{C47244F5-E118-40AC-BF88-DDF28BFD2529}"/>
              </a:ext>
            </a:extLst>
          </p:cNvPr>
          <p:cNvSpPr txBox="1"/>
          <p:nvPr/>
        </p:nvSpPr>
        <p:spPr>
          <a:xfrm>
            <a:off x="3708400" y="4457700"/>
            <a:ext cx="1143000" cy="2209800"/>
          </a:xfrm>
          <a:prstGeom prst="rect">
            <a:avLst/>
          </a:prstGeom>
          <a:noFill/>
        </p:spPr>
        <p:txBody>
          <a:bodyPr vertOverflow="overflow" vert="horz" wrap="square" rtlCol="0" anchor="t">
            <a:noAutofit/>
          </a:bodyPr>
          <a:lstStyle/>
          <a:p>
            <a:pPr algn="l"/>
            <a:r>
              <a:rPr lang="en-US" altLang="ja-JP" sz="4400" dirty="0">
                <a:solidFill>
                  <a:srgbClr val="202020"/>
                </a:solidFill>
                <a:latin typeface="Yu Gothic"/>
                <a:ea typeface="Yu Gothic"/>
              </a:rPr>
              <a:t>01
02
03</a:t>
            </a:r>
          </a:p>
          <a:p>
            <a:pPr algn="l"/>
            <a:r>
              <a:rPr lang="en-US" altLang="ja-JP" sz="4400" dirty="0">
                <a:solidFill>
                  <a:srgbClr val="202020"/>
                </a:solidFill>
                <a:latin typeface="Yu Gothic"/>
                <a:ea typeface="Yu Gothic"/>
              </a:rPr>
              <a:t>04</a:t>
            </a:r>
            <a:endParaRPr lang="ja-JP" altLang="en-US" sz="4400" dirty="0">
              <a:solidFill>
                <a:srgbClr val="202020"/>
              </a:solidFill>
              <a:latin typeface="Yu Gothic"/>
              <a:ea typeface="Yu Gothic"/>
            </a:endParaRPr>
          </a:p>
        </p:txBody>
      </p:sp>
      <p:sp>
        <p:nvSpPr>
          <p:cNvPr id="3" name="テキスト ボックス 2">
            <a:extLst>
              <a:ext uri="{FF2B5EF4-FFF2-40B4-BE49-F238E27FC236}">
                <a16:creationId xmlns:a16="http://schemas.microsoft.com/office/drawing/2014/main" id="{2F089934-D289-4A29-82F5-A8B268DA4E80}"/>
              </a:ext>
            </a:extLst>
          </p:cNvPr>
          <p:cNvSpPr txBox="1"/>
          <p:nvPr/>
        </p:nvSpPr>
        <p:spPr>
          <a:xfrm>
            <a:off x="5105400" y="4457700"/>
            <a:ext cx="10795000" cy="2971800"/>
          </a:xfrm>
          <a:prstGeom prst="rect">
            <a:avLst/>
          </a:prstGeom>
          <a:noFill/>
        </p:spPr>
        <p:txBody>
          <a:bodyPr vertOverflow="overflow" vert="horz" wrap="square" rtlCol="0" anchor="t">
            <a:noAutofit/>
          </a:bodyPr>
          <a:lstStyle/>
          <a:p>
            <a:pPr algn="l"/>
            <a:r>
              <a:rPr lang="ja-JP" altLang="en-US" sz="4400" b="1" dirty="0">
                <a:solidFill>
                  <a:srgbClr val="202020"/>
                </a:solidFill>
                <a:latin typeface="Yu Gothic"/>
                <a:ea typeface="Yu Gothic"/>
              </a:rPr>
              <a:t>学習・評価設計と音響選別
回帰・</a:t>
            </a:r>
            <a:r>
              <a:rPr lang="en-US" altLang="ja-JP" sz="4400" b="1" dirty="0">
                <a:solidFill>
                  <a:srgbClr val="202020"/>
                </a:solidFill>
                <a:latin typeface="Yu Gothic"/>
                <a:ea typeface="Yu Gothic"/>
              </a:rPr>
              <a:t>ONB</a:t>
            </a:r>
            <a:r>
              <a:rPr lang="ja-JP" altLang="en-US" sz="4400" b="1" dirty="0">
                <a:solidFill>
                  <a:srgbClr val="202020"/>
                </a:solidFill>
                <a:latin typeface="Yu Gothic"/>
                <a:ea typeface="Yu Gothic"/>
              </a:rPr>
              <a:t>判定と統合結果の分析
説明性</a:t>
            </a:r>
            <a:endParaRPr lang="en-US" altLang="ja-JP" sz="4400" b="1" dirty="0">
              <a:solidFill>
                <a:srgbClr val="202020"/>
              </a:solidFill>
              <a:latin typeface="Yu Gothic"/>
              <a:ea typeface="Yu Gothic"/>
            </a:endParaRPr>
          </a:p>
          <a:p>
            <a:pPr algn="l"/>
            <a:r>
              <a:rPr lang="ja-JP" altLang="en-US" sz="4400" b="1" dirty="0">
                <a:solidFill>
                  <a:srgbClr val="202020"/>
                </a:solidFill>
                <a:latin typeface="Yu Gothic"/>
                <a:ea typeface="Yu Gothic"/>
              </a:rPr>
              <a:t>後期の研究計画</a:t>
            </a:r>
          </a:p>
        </p:txBody>
      </p:sp>
    </p:spTree>
    <p:extLst>
      <p:ext uri="{BB962C8B-B14F-4D97-AF65-F5344CB8AC3E}">
        <p14:creationId xmlns:p14="http://schemas.microsoft.com/office/powerpoint/2010/main" val="3263072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97095-AF12-5A0D-09C9-F7ABC48E7F2B}"/>
            </a:ext>
          </a:extLst>
        </p:cNvPr>
        <p:cNvGrpSpPr/>
        <p:nvPr/>
      </p:nvGrpSpPr>
      <p:grpSpPr>
        <a:xfrm>
          <a:off x="0" y="0"/>
          <a:ext cx="0" cy="0"/>
          <a:chOff x="0" y="0"/>
          <a:chExt cx="0" cy="0"/>
        </a:xfrm>
      </p:grpSpPr>
      <p:sp>
        <p:nvSpPr>
          <p:cNvPr id="55" name="四角形: 角を丸くする 54">
            <a:extLst>
              <a:ext uri="{FF2B5EF4-FFF2-40B4-BE49-F238E27FC236}">
                <a16:creationId xmlns:a16="http://schemas.microsoft.com/office/drawing/2014/main" id="{E002949A-21AB-4877-874F-7A7E555B18CB}"/>
              </a:ext>
            </a:extLst>
          </p:cNvPr>
          <p:cNvSpPr/>
          <p:nvPr/>
        </p:nvSpPr>
        <p:spPr>
          <a:xfrm>
            <a:off x="10299700" y="7429500"/>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4" name="四角形: 角を丸くする 53">
            <a:extLst>
              <a:ext uri="{FF2B5EF4-FFF2-40B4-BE49-F238E27FC236}">
                <a16:creationId xmlns:a16="http://schemas.microsoft.com/office/drawing/2014/main" id="{A83EEA3F-4E85-42F6-BE0C-43B09856B411}"/>
              </a:ext>
            </a:extLst>
          </p:cNvPr>
          <p:cNvSpPr/>
          <p:nvPr/>
        </p:nvSpPr>
        <p:spPr>
          <a:xfrm>
            <a:off x="4267200" y="7429500"/>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3" name="四角形: 角を丸くする 52">
            <a:extLst>
              <a:ext uri="{FF2B5EF4-FFF2-40B4-BE49-F238E27FC236}">
                <a16:creationId xmlns:a16="http://schemas.microsoft.com/office/drawing/2014/main" id="{1F0C9C85-1AAF-4DD7-8C7E-DC43D129C5AC}"/>
              </a:ext>
            </a:extLst>
          </p:cNvPr>
          <p:cNvSpPr/>
          <p:nvPr/>
        </p:nvSpPr>
        <p:spPr>
          <a:xfrm>
            <a:off x="10299700" y="3578529"/>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2" name="四角形: 角を丸くする 51">
            <a:extLst>
              <a:ext uri="{FF2B5EF4-FFF2-40B4-BE49-F238E27FC236}">
                <a16:creationId xmlns:a16="http://schemas.microsoft.com/office/drawing/2014/main" id="{BEC4BD55-04D1-4B26-8178-40231C7D7E8F}"/>
              </a:ext>
            </a:extLst>
          </p:cNvPr>
          <p:cNvSpPr/>
          <p:nvPr/>
        </p:nvSpPr>
        <p:spPr>
          <a:xfrm>
            <a:off x="4267200" y="3578529"/>
            <a:ext cx="4572000" cy="1905000"/>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29" name="スライド番号プレースホルダー 28">
            <a:extLst>
              <a:ext uri="{FF2B5EF4-FFF2-40B4-BE49-F238E27FC236}">
                <a16:creationId xmlns:a16="http://schemas.microsoft.com/office/drawing/2014/main" id="{100212A4-2D93-E42D-F43F-3D865B11C6B4}"/>
              </a:ext>
            </a:extLst>
          </p:cNvPr>
          <p:cNvSpPr>
            <a:spLocks noGrp="1"/>
          </p:cNvSpPr>
          <p:nvPr>
            <p:ph type="sldNum" sz="quarter" idx="12"/>
          </p:nvPr>
        </p:nvSpPr>
        <p:spPr>
          <a:xfrm>
            <a:off x="15024509" y="342900"/>
            <a:ext cx="2133600" cy="365125"/>
          </a:xfrm>
        </p:spPr>
        <p:txBody>
          <a:bodyPr/>
          <a:lstStyle/>
          <a:p>
            <a:fld id="{B6F15528-21DE-4FAA-801E-634DDDAF4B2B}" type="slidenum">
              <a:rPr lang="en-US" sz="4800" smtClean="0"/>
              <a:pPr/>
              <a:t>3</a:t>
            </a:fld>
            <a:endParaRPr lang="en-US" sz="4800" dirty="0"/>
          </a:p>
        </p:txBody>
      </p:sp>
      <p:grpSp>
        <p:nvGrpSpPr>
          <p:cNvPr id="27" name="グループ化 26">
            <a:extLst>
              <a:ext uri="{FF2B5EF4-FFF2-40B4-BE49-F238E27FC236}">
                <a16:creationId xmlns:a16="http://schemas.microsoft.com/office/drawing/2014/main" id="{CE5E0B2F-F763-22C1-3700-7F4CFDF22105}"/>
              </a:ext>
            </a:extLst>
          </p:cNvPr>
          <p:cNvGrpSpPr/>
          <p:nvPr/>
        </p:nvGrpSpPr>
        <p:grpSpPr>
          <a:xfrm>
            <a:off x="270494" y="246431"/>
            <a:ext cx="698205" cy="10040568"/>
            <a:chOff x="270494" y="246431"/>
            <a:chExt cx="698205" cy="10040568"/>
          </a:xfrm>
        </p:grpSpPr>
        <p:pic>
          <p:nvPicPr>
            <p:cNvPr id="28" name="図 27">
              <a:extLst>
                <a:ext uri="{FF2B5EF4-FFF2-40B4-BE49-F238E27FC236}">
                  <a16:creationId xmlns:a16="http://schemas.microsoft.com/office/drawing/2014/main" id="{1B8EB6B3-4219-0C79-A21E-5392593559F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30" name="テキスト ボックス 29">
              <a:extLst>
                <a:ext uri="{FF2B5EF4-FFF2-40B4-BE49-F238E27FC236}">
                  <a16:creationId xmlns:a16="http://schemas.microsoft.com/office/drawing/2014/main" id="{FEC8B33A-3850-6CCC-9DBD-D99CE1297D1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31" name="直線コネクタ 30">
              <a:extLst>
                <a:ext uri="{FF2B5EF4-FFF2-40B4-BE49-F238E27FC236}">
                  <a16:creationId xmlns:a16="http://schemas.microsoft.com/office/drawing/2014/main" id="{1822B7CD-3D84-25E4-FAE7-A724B030373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フローチャート: 論理積ゲート 31">
              <a:extLst>
                <a:ext uri="{FF2B5EF4-FFF2-40B4-BE49-F238E27FC236}">
                  <a16:creationId xmlns:a16="http://schemas.microsoft.com/office/drawing/2014/main" id="{26FB7247-73F4-FC6B-704A-F91C1DE1A0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Group 3">
            <a:extLst>
              <a:ext uri="{FF2B5EF4-FFF2-40B4-BE49-F238E27FC236}">
                <a16:creationId xmlns:a16="http://schemas.microsoft.com/office/drawing/2014/main" id="{6386CD71-55CF-7637-1C85-71D30F14EE9C}"/>
              </a:ext>
            </a:extLst>
          </p:cNvPr>
          <p:cNvGrpSpPr/>
          <p:nvPr/>
        </p:nvGrpSpPr>
        <p:grpSpPr>
          <a:xfrm>
            <a:off x="1371600" y="1069258"/>
            <a:ext cx="16064988" cy="125708"/>
            <a:chOff x="0" y="0"/>
            <a:chExt cx="22021800" cy="190500"/>
          </a:xfrm>
        </p:grpSpPr>
        <p:grpSp>
          <p:nvGrpSpPr>
            <p:cNvPr id="34" name="Group 4">
              <a:extLst>
                <a:ext uri="{FF2B5EF4-FFF2-40B4-BE49-F238E27FC236}">
                  <a16:creationId xmlns:a16="http://schemas.microsoft.com/office/drawing/2014/main" id="{BA8360CB-CB3C-63BA-89C3-98C8234ABC08}"/>
                </a:ext>
              </a:extLst>
            </p:cNvPr>
            <p:cNvGrpSpPr/>
            <p:nvPr/>
          </p:nvGrpSpPr>
          <p:grpSpPr>
            <a:xfrm>
              <a:off x="0" y="0"/>
              <a:ext cx="7340600" cy="190500"/>
              <a:chOff x="0" y="0"/>
              <a:chExt cx="1449995" cy="37630"/>
            </a:xfrm>
          </p:grpSpPr>
          <p:sp>
            <p:nvSpPr>
              <p:cNvPr id="41" name="Freeform 5">
                <a:extLst>
                  <a:ext uri="{FF2B5EF4-FFF2-40B4-BE49-F238E27FC236}">
                    <a16:creationId xmlns:a16="http://schemas.microsoft.com/office/drawing/2014/main" id="{ABDD11FB-9DE8-4416-596D-5D975399CCA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42" name="TextBox 6">
                <a:extLst>
                  <a:ext uri="{FF2B5EF4-FFF2-40B4-BE49-F238E27FC236}">
                    <a16:creationId xmlns:a16="http://schemas.microsoft.com/office/drawing/2014/main" id="{1DC3491A-DFDB-3889-4EAC-A1D3F71F14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5" name="Group 7">
              <a:extLst>
                <a:ext uri="{FF2B5EF4-FFF2-40B4-BE49-F238E27FC236}">
                  <a16:creationId xmlns:a16="http://schemas.microsoft.com/office/drawing/2014/main" id="{1372A997-48C4-BE0C-4790-A7FE9E9737A0}"/>
                </a:ext>
              </a:extLst>
            </p:cNvPr>
            <p:cNvGrpSpPr/>
            <p:nvPr/>
          </p:nvGrpSpPr>
          <p:grpSpPr>
            <a:xfrm>
              <a:off x="7340600" y="0"/>
              <a:ext cx="7340600" cy="190500"/>
              <a:chOff x="0" y="0"/>
              <a:chExt cx="1449995" cy="37630"/>
            </a:xfrm>
          </p:grpSpPr>
          <p:sp>
            <p:nvSpPr>
              <p:cNvPr id="39" name="Freeform 8">
                <a:extLst>
                  <a:ext uri="{FF2B5EF4-FFF2-40B4-BE49-F238E27FC236}">
                    <a16:creationId xmlns:a16="http://schemas.microsoft.com/office/drawing/2014/main" id="{C8AFE3BE-6429-7349-B897-8EA584E834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40" name="TextBox 9">
                <a:extLst>
                  <a:ext uri="{FF2B5EF4-FFF2-40B4-BE49-F238E27FC236}">
                    <a16:creationId xmlns:a16="http://schemas.microsoft.com/office/drawing/2014/main" id="{7860339D-880B-7B5E-A3B7-53BD6268E88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36" name="Group 10">
              <a:extLst>
                <a:ext uri="{FF2B5EF4-FFF2-40B4-BE49-F238E27FC236}">
                  <a16:creationId xmlns:a16="http://schemas.microsoft.com/office/drawing/2014/main" id="{4EBF17AC-C77C-794D-1B8F-86F1A3CF92AA}"/>
                </a:ext>
              </a:extLst>
            </p:cNvPr>
            <p:cNvGrpSpPr/>
            <p:nvPr/>
          </p:nvGrpSpPr>
          <p:grpSpPr>
            <a:xfrm>
              <a:off x="14681200" y="0"/>
              <a:ext cx="7340600" cy="190500"/>
              <a:chOff x="0" y="0"/>
              <a:chExt cx="1449995" cy="37630"/>
            </a:xfrm>
          </p:grpSpPr>
          <p:sp>
            <p:nvSpPr>
              <p:cNvPr id="37" name="Freeform 11">
                <a:extLst>
                  <a:ext uri="{FF2B5EF4-FFF2-40B4-BE49-F238E27FC236}">
                    <a16:creationId xmlns:a16="http://schemas.microsoft.com/office/drawing/2014/main" id="{E47837EC-ADEA-A18E-B40C-355AC095EB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8" name="TextBox 12">
                <a:extLst>
                  <a:ext uri="{FF2B5EF4-FFF2-40B4-BE49-F238E27FC236}">
                    <a16:creationId xmlns:a16="http://schemas.microsoft.com/office/drawing/2014/main" id="{63760B9E-661E-BA99-9078-A8547168F8A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43" name="TextBox 24">
            <a:extLst>
              <a:ext uri="{FF2B5EF4-FFF2-40B4-BE49-F238E27FC236}">
                <a16:creationId xmlns:a16="http://schemas.microsoft.com/office/drawing/2014/main" id="{05B0307B-5FEB-41EC-FEC9-58D8111E678E}"/>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1. </a:t>
            </a:r>
            <a:r>
              <a:rPr lang="ja-JP" altLang="en-US" sz="3000" b="1" dirty="0">
                <a:solidFill>
                  <a:srgbClr val="202020"/>
                </a:solidFill>
                <a:latin typeface="Yu Gothic"/>
                <a:ea typeface="Yu Gothic"/>
              </a:rPr>
              <a:t>学習・評価設計</a:t>
            </a:r>
          </a:p>
        </p:txBody>
      </p:sp>
      <p:sp>
        <p:nvSpPr>
          <p:cNvPr id="2" name="テキスト ボックス 1">
            <a:extLst>
              <a:ext uri="{FF2B5EF4-FFF2-40B4-BE49-F238E27FC236}">
                <a16:creationId xmlns:a16="http://schemas.microsoft.com/office/drawing/2014/main" id="{9978FB1D-66A1-4BFD-BB58-30FB1D86690C}"/>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ja-JP" altLang="en-US" sz="3200" b="1" dirty="0">
                <a:solidFill>
                  <a:srgbClr val="222222"/>
                </a:solidFill>
                <a:latin typeface="Yu Gothic"/>
                <a:ea typeface="Yu Gothic"/>
              </a:rPr>
              <a:t>学習・推論時のデータを別日の実験で得た音響データとした</a:t>
            </a:r>
          </a:p>
        </p:txBody>
      </p:sp>
      <p:sp>
        <p:nvSpPr>
          <p:cNvPr id="4" name="テキスト ボックス 3">
            <a:extLst>
              <a:ext uri="{FF2B5EF4-FFF2-40B4-BE49-F238E27FC236}">
                <a16:creationId xmlns:a16="http://schemas.microsoft.com/office/drawing/2014/main" id="{87ADDCCC-4070-4E7B-9350-7E4DB6EDC0E6}"/>
              </a:ext>
            </a:extLst>
          </p:cNvPr>
          <p:cNvSpPr txBox="1"/>
          <p:nvPr/>
        </p:nvSpPr>
        <p:spPr>
          <a:xfrm>
            <a:off x="3124200" y="2933700"/>
            <a:ext cx="2286000" cy="457200"/>
          </a:xfrm>
          <a:prstGeom prst="rect">
            <a:avLst/>
          </a:prstGeom>
          <a:noFill/>
          <a:ln>
            <a:noFill/>
          </a:ln>
        </p:spPr>
        <p:txBody>
          <a:bodyPr vertOverflow="overflow" vert="horz" wrap="square" rtlCol="0" anchor="ctr" anchorCtr="0">
            <a:noAutofit/>
          </a:bodyPr>
          <a:lstStyle/>
          <a:p>
            <a:pPr algn="l"/>
            <a:r>
              <a:rPr lang="ja-JP" altLang="en-US" sz="3200" b="1" dirty="0">
                <a:solidFill>
                  <a:srgbClr val="2F6F73"/>
                </a:solidFill>
                <a:latin typeface="Yu Gothic"/>
                <a:ea typeface="Yu Gothic"/>
              </a:rPr>
              <a:t>例</a:t>
            </a:r>
            <a:r>
              <a:rPr lang="en-US" altLang="ja-JP" sz="3200" b="1" dirty="0">
                <a:solidFill>
                  <a:srgbClr val="2F6F73"/>
                </a:solidFill>
                <a:latin typeface="Yu Gothic"/>
                <a:ea typeface="Yu Gothic"/>
              </a:rPr>
              <a:t>1</a:t>
            </a:r>
            <a:endParaRPr lang="ja-JP" altLang="en-US" sz="3200" b="1" dirty="0">
              <a:solidFill>
                <a:srgbClr val="2F6F73"/>
              </a:solidFill>
              <a:latin typeface="Yu Gothic"/>
              <a:ea typeface="Yu Gothic"/>
            </a:endParaRPr>
          </a:p>
        </p:txBody>
      </p:sp>
      <p:sp>
        <p:nvSpPr>
          <p:cNvPr id="6" name="テキスト ボックス 5">
            <a:extLst>
              <a:ext uri="{FF2B5EF4-FFF2-40B4-BE49-F238E27FC236}">
                <a16:creationId xmlns:a16="http://schemas.microsoft.com/office/drawing/2014/main" id="{0B85E026-F217-4ED1-B920-747F46A6FFE0}"/>
              </a:ext>
            </a:extLst>
          </p:cNvPr>
          <p:cNvSpPr txBox="1"/>
          <p:nvPr/>
        </p:nvSpPr>
        <p:spPr>
          <a:xfrm>
            <a:off x="5181600" y="4054779"/>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a:t>
            </a:r>
            <a:r>
              <a:rPr lang="ja-JP" altLang="en-US" sz="4000" b="1" dirty="0">
                <a:solidFill>
                  <a:srgbClr val="222222"/>
                </a:solidFill>
                <a:latin typeface="Yu Gothic"/>
                <a:ea typeface="Yu Gothic"/>
              </a:rPr>
              <a:t>学習</a:t>
            </a:r>
          </a:p>
        </p:txBody>
      </p:sp>
      <p:sp>
        <p:nvSpPr>
          <p:cNvPr id="8" name="テキスト ボックス 7">
            <a:extLst>
              <a:ext uri="{FF2B5EF4-FFF2-40B4-BE49-F238E27FC236}">
                <a16:creationId xmlns:a16="http://schemas.microsoft.com/office/drawing/2014/main" id="{E554BF9F-6BBE-46B1-9FF1-4844CAD3867B}"/>
              </a:ext>
            </a:extLst>
          </p:cNvPr>
          <p:cNvSpPr txBox="1"/>
          <p:nvPr/>
        </p:nvSpPr>
        <p:spPr>
          <a:xfrm>
            <a:off x="9220200" y="4213529"/>
            <a:ext cx="825500" cy="635000"/>
          </a:xfrm>
          <a:prstGeom prst="rect">
            <a:avLst/>
          </a:prstGeom>
          <a:noFill/>
          <a:ln>
            <a:noFill/>
          </a:ln>
        </p:spPr>
        <p:txBody>
          <a:bodyPr vertOverflow="overflow" vert="horz" wrap="square" rtlCol="0" anchor="ctr" anchorCtr="0">
            <a:normAutofit/>
          </a:bodyPr>
          <a:lstStyle/>
          <a:p>
            <a:pPr algn="l"/>
            <a:r>
              <a:rPr lang="ja-JP" altLang="en-US" sz="2500" b="1">
                <a:solidFill>
                  <a:srgbClr val="2F6F73"/>
                </a:solidFill>
                <a:latin typeface="Yu Gothic"/>
                <a:ea typeface="Yu Gothic"/>
              </a:rPr>
              <a:t>→</a:t>
            </a:r>
          </a:p>
        </p:txBody>
      </p:sp>
      <p:sp>
        <p:nvSpPr>
          <p:cNvPr id="16" name="テキスト ボックス 15">
            <a:extLst>
              <a:ext uri="{FF2B5EF4-FFF2-40B4-BE49-F238E27FC236}">
                <a16:creationId xmlns:a16="http://schemas.microsoft.com/office/drawing/2014/main" id="{F64B79B6-5FC4-46EE-9E2B-D4A74F663C63}"/>
              </a:ext>
            </a:extLst>
          </p:cNvPr>
          <p:cNvSpPr txBox="1"/>
          <p:nvPr/>
        </p:nvSpPr>
        <p:spPr>
          <a:xfrm>
            <a:off x="9220200" y="8064500"/>
            <a:ext cx="825500" cy="635000"/>
          </a:xfrm>
          <a:prstGeom prst="rect">
            <a:avLst/>
          </a:prstGeom>
          <a:noFill/>
          <a:ln>
            <a:noFill/>
          </a:ln>
        </p:spPr>
        <p:txBody>
          <a:bodyPr vertOverflow="overflow" vert="horz" wrap="square" rtlCol="0" anchor="ctr" anchorCtr="0">
            <a:normAutofit/>
          </a:bodyPr>
          <a:lstStyle/>
          <a:p>
            <a:pPr algn="l"/>
            <a:r>
              <a:rPr lang="ja-JP" altLang="en-US" sz="2500" b="1">
                <a:solidFill>
                  <a:srgbClr val="2F6F73"/>
                </a:solidFill>
                <a:latin typeface="Yu Gothic"/>
                <a:ea typeface="Yu Gothic"/>
              </a:rPr>
              <a:t>→</a:t>
            </a:r>
          </a:p>
        </p:txBody>
      </p:sp>
      <p:sp>
        <p:nvSpPr>
          <p:cNvPr id="58" name="テキスト ボックス 57">
            <a:extLst>
              <a:ext uri="{FF2B5EF4-FFF2-40B4-BE49-F238E27FC236}">
                <a16:creationId xmlns:a16="http://schemas.microsoft.com/office/drawing/2014/main" id="{B181B652-914B-1355-C997-1350A2852BEB}"/>
              </a:ext>
            </a:extLst>
          </p:cNvPr>
          <p:cNvSpPr txBox="1"/>
          <p:nvPr/>
        </p:nvSpPr>
        <p:spPr>
          <a:xfrm>
            <a:off x="11341100" y="4029379"/>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6/18 </a:t>
            </a:r>
            <a:r>
              <a:rPr lang="ja-JP" altLang="en-US" sz="4000" b="1" dirty="0">
                <a:solidFill>
                  <a:srgbClr val="222222"/>
                </a:solidFill>
                <a:latin typeface="Yu Gothic"/>
                <a:ea typeface="Yu Gothic"/>
              </a:rPr>
              <a:t>評価</a:t>
            </a:r>
          </a:p>
        </p:txBody>
      </p:sp>
      <p:sp>
        <p:nvSpPr>
          <p:cNvPr id="60" name="テキスト ボックス 59">
            <a:extLst>
              <a:ext uri="{FF2B5EF4-FFF2-40B4-BE49-F238E27FC236}">
                <a16:creationId xmlns:a16="http://schemas.microsoft.com/office/drawing/2014/main" id="{E4BB1692-E962-3277-44C7-14D5961A690A}"/>
              </a:ext>
            </a:extLst>
          </p:cNvPr>
          <p:cNvSpPr txBox="1"/>
          <p:nvPr/>
        </p:nvSpPr>
        <p:spPr>
          <a:xfrm>
            <a:off x="4933950" y="7893050"/>
            <a:ext cx="35560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18 </a:t>
            </a:r>
            <a:r>
              <a:rPr lang="ja-JP" altLang="en-US" sz="4000" b="1" dirty="0">
                <a:solidFill>
                  <a:srgbClr val="222222"/>
                </a:solidFill>
                <a:latin typeface="Yu Gothic"/>
                <a:ea typeface="Yu Gothic"/>
              </a:rPr>
              <a:t>学習</a:t>
            </a:r>
          </a:p>
        </p:txBody>
      </p:sp>
      <p:sp>
        <p:nvSpPr>
          <p:cNvPr id="62" name="テキスト ボックス 61">
            <a:extLst>
              <a:ext uri="{FF2B5EF4-FFF2-40B4-BE49-F238E27FC236}">
                <a16:creationId xmlns:a16="http://schemas.microsoft.com/office/drawing/2014/main" id="{81DB839E-B7EE-2147-536F-D34B40808EFF}"/>
              </a:ext>
            </a:extLst>
          </p:cNvPr>
          <p:cNvSpPr txBox="1"/>
          <p:nvPr/>
        </p:nvSpPr>
        <p:spPr>
          <a:xfrm>
            <a:off x="11341100" y="7893050"/>
            <a:ext cx="2743200"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6/11 </a:t>
            </a:r>
            <a:r>
              <a:rPr lang="ja-JP" altLang="en-US" sz="4000" b="1" dirty="0">
                <a:solidFill>
                  <a:srgbClr val="222222"/>
                </a:solidFill>
                <a:latin typeface="Yu Gothic"/>
                <a:ea typeface="Yu Gothic"/>
              </a:rPr>
              <a:t>評価</a:t>
            </a:r>
          </a:p>
        </p:txBody>
      </p:sp>
      <p:sp>
        <p:nvSpPr>
          <p:cNvPr id="64" name="テキスト ボックス 63">
            <a:extLst>
              <a:ext uri="{FF2B5EF4-FFF2-40B4-BE49-F238E27FC236}">
                <a16:creationId xmlns:a16="http://schemas.microsoft.com/office/drawing/2014/main" id="{A0C81755-4436-7350-BC2C-DFE90EDB0F20}"/>
              </a:ext>
            </a:extLst>
          </p:cNvPr>
          <p:cNvSpPr txBox="1"/>
          <p:nvPr/>
        </p:nvSpPr>
        <p:spPr>
          <a:xfrm>
            <a:off x="3124200" y="6845300"/>
            <a:ext cx="2286000" cy="457200"/>
          </a:xfrm>
          <a:prstGeom prst="rect">
            <a:avLst/>
          </a:prstGeom>
          <a:noFill/>
          <a:ln>
            <a:noFill/>
          </a:ln>
        </p:spPr>
        <p:txBody>
          <a:bodyPr vertOverflow="overflow" vert="horz" wrap="square" rtlCol="0" anchor="ctr" anchorCtr="0">
            <a:noAutofit/>
          </a:bodyPr>
          <a:lstStyle/>
          <a:p>
            <a:pPr algn="l"/>
            <a:r>
              <a:rPr lang="ja-JP" altLang="en-US" sz="3200" b="1" dirty="0">
                <a:solidFill>
                  <a:srgbClr val="2F6F73"/>
                </a:solidFill>
                <a:latin typeface="Yu Gothic"/>
                <a:ea typeface="Yu Gothic"/>
              </a:rPr>
              <a:t>例</a:t>
            </a:r>
            <a:r>
              <a:rPr lang="en-US" altLang="ja-JP" sz="3200" b="1" dirty="0">
                <a:solidFill>
                  <a:srgbClr val="2F6F73"/>
                </a:solidFill>
                <a:latin typeface="Yu Gothic"/>
                <a:ea typeface="Yu Gothic"/>
              </a:rPr>
              <a:t>2</a:t>
            </a:r>
            <a:endParaRPr lang="ja-JP" altLang="en-US" sz="3200" b="1" dirty="0">
              <a:solidFill>
                <a:srgbClr val="2F6F73"/>
              </a:solidFill>
              <a:latin typeface="Yu Gothic"/>
              <a:ea typeface="Yu Gothic"/>
            </a:endParaRPr>
          </a:p>
        </p:txBody>
      </p:sp>
    </p:spTree>
    <p:extLst>
      <p:ext uri="{BB962C8B-B14F-4D97-AF65-F5344CB8AC3E}">
        <p14:creationId xmlns:p14="http://schemas.microsoft.com/office/powerpoint/2010/main" val="1833220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1C04D-3962-402F-F1FD-D7A567A5E301}"/>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E619D498-DBD6-0784-0BDB-ED7BA8D54BC7}"/>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52960E3F-5A9B-2825-2223-1B867FC98144}"/>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2DD7D1B6-C3C8-7C54-FA18-205D1B15175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31871A78-2B56-BE29-D884-226FCEE2A36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745395BE-D6A1-43E4-B0BF-5B24F5616143}"/>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8A46ADEE-0A86-5B5C-61AF-D5EBA9F2EA67}"/>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B2FBAFE-310E-329B-9ED4-4BDBC6EE535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E3602D07-EE1F-3072-3249-36421FD853C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4AE11EC1-B660-7D09-AAE8-D7555BB4EA9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2CF558ED-826B-41F1-048D-CDB7AFF7A30D}"/>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480EDD19-B6D3-EA2D-EF05-CBF220D03EF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EF577D8E-7E41-D347-EC63-F426994FD73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54FD14E3-7606-F032-10D0-C1A62A277B00}"/>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00618396-4050-1DE8-F136-8B6BCA1B778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23C6D6F7-39FF-28E5-B432-9C9C2CB0215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D8693FEA-9388-F51A-A629-471D6184CDB7}"/>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4</a:t>
            </a:fld>
            <a:endParaRPr lang="en-US" sz="2400" dirty="0">
              <a:solidFill>
                <a:schemeClr val="bg1"/>
              </a:solidFill>
            </a:endParaRPr>
          </a:p>
        </p:txBody>
      </p:sp>
      <p:sp>
        <p:nvSpPr>
          <p:cNvPr id="73" name="TextBox 24">
            <a:extLst>
              <a:ext uri="{FF2B5EF4-FFF2-40B4-BE49-F238E27FC236}">
                <a16:creationId xmlns:a16="http://schemas.microsoft.com/office/drawing/2014/main" id="{3803B00A-CF69-AFAA-44F0-30E03BC53203}"/>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1. </a:t>
            </a:r>
            <a:r>
              <a:rPr lang="ja-JP" altLang="en-US" sz="3000" b="1" dirty="0">
                <a:solidFill>
                  <a:srgbClr val="202020"/>
                </a:solidFill>
                <a:latin typeface="Yu Gothic"/>
                <a:ea typeface="Yu Gothic"/>
              </a:rPr>
              <a:t>音響選別</a:t>
            </a:r>
          </a:p>
        </p:txBody>
      </p:sp>
      <p:sp>
        <p:nvSpPr>
          <p:cNvPr id="2" name="テキスト ボックス 1">
            <a:extLst>
              <a:ext uri="{FF2B5EF4-FFF2-40B4-BE49-F238E27FC236}">
                <a16:creationId xmlns:a16="http://schemas.microsoft.com/office/drawing/2014/main" id="{38DA16AE-B149-4034-9E2F-689479321540}"/>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en-US" altLang="ja-JP" sz="3200" b="1" dirty="0">
                <a:solidFill>
                  <a:srgbClr val="222222"/>
                </a:solidFill>
                <a:latin typeface="Yu Gothic"/>
                <a:ea typeface="Yu Gothic"/>
              </a:rPr>
              <a:t>ONB</a:t>
            </a:r>
            <a:r>
              <a:rPr lang="ja-JP" altLang="en-US" sz="3200" b="1" dirty="0">
                <a:solidFill>
                  <a:srgbClr val="222222"/>
                </a:solidFill>
                <a:latin typeface="Yu Gothic"/>
                <a:ea typeface="Yu Gothic"/>
              </a:rPr>
              <a:t>直後からそれ以降である閾値を超えたもののみ沸騰データとした</a:t>
            </a:r>
          </a:p>
        </p:txBody>
      </p:sp>
      <p:pic>
        <p:nvPicPr>
          <p:cNvPr id="17" name="図 16">
            <a:extLst>
              <a:ext uri="{FF2B5EF4-FFF2-40B4-BE49-F238E27FC236}">
                <a16:creationId xmlns:a16="http://schemas.microsoft.com/office/drawing/2014/main" id="{F22E292A-381C-AB26-BDC0-659009DECC38}"/>
              </a:ext>
            </a:extLst>
          </p:cNvPr>
          <p:cNvPicPr>
            <a:picLocks noChangeAspect="1"/>
          </p:cNvPicPr>
          <p:nvPr/>
        </p:nvPicPr>
        <p:blipFill>
          <a:blip r:embed="rId4"/>
          <a:stretch>
            <a:fillRect/>
          </a:stretch>
        </p:blipFill>
        <p:spPr>
          <a:xfrm>
            <a:off x="1600200" y="2735255"/>
            <a:ext cx="6134100" cy="6134100"/>
          </a:xfrm>
          <a:prstGeom prst="rect">
            <a:avLst/>
          </a:prstGeom>
        </p:spPr>
      </p:pic>
      <p:pic>
        <p:nvPicPr>
          <p:cNvPr id="19" name="図 18">
            <a:extLst>
              <a:ext uri="{FF2B5EF4-FFF2-40B4-BE49-F238E27FC236}">
                <a16:creationId xmlns:a16="http://schemas.microsoft.com/office/drawing/2014/main" id="{7CE22C5B-5AA9-C2B3-0F74-610F4BE290A9}"/>
              </a:ext>
            </a:extLst>
          </p:cNvPr>
          <p:cNvPicPr>
            <a:picLocks noChangeAspect="1"/>
          </p:cNvPicPr>
          <p:nvPr/>
        </p:nvPicPr>
        <p:blipFill>
          <a:blip r:embed="rId5"/>
          <a:stretch>
            <a:fillRect/>
          </a:stretch>
        </p:blipFill>
        <p:spPr>
          <a:xfrm>
            <a:off x="9977230" y="2735255"/>
            <a:ext cx="6134101" cy="6134101"/>
          </a:xfrm>
          <a:prstGeom prst="rect">
            <a:avLst/>
          </a:prstGeom>
        </p:spPr>
      </p:pic>
      <p:sp>
        <p:nvSpPr>
          <p:cNvPr id="41" name="テキスト ボックス 40">
            <a:extLst>
              <a:ext uri="{FF2B5EF4-FFF2-40B4-BE49-F238E27FC236}">
                <a16:creationId xmlns:a16="http://schemas.microsoft.com/office/drawing/2014/main" id="{1F2E4B92-37E1-7728-5C05-1491C61A7C2C}"/>
              </a:ext>
            </a:extLst>
          </p:cNvPr>
          <p:cNvSpPr txBox="1"/>
          <p:nvPr/>
        </p:nvSpPr>
        <p:spPr>
          <a:xfrm>
            <a:off x="3276600" y="9105900"/>
            <a:ext cx="5410199"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沸騰データ</a:t>
            </a:r>
            <a:r>
              <a:rPr lang="ja-JP" altLang="en-US" sz="2400" b="1" dirty="0">
                <a:solidFill>
                  <a:srgbClr val="222222"/>
                </a:solidFill>
                <a:latin typeface="Yu Gothic"/>
                <a:ea typeface="Yu Gothic"/>
              </a:rPr>
              <a:t>として残す</a:t>
            </a:r>
          </a:p>
        </p:txBody>
      </p:sp>
      <p:sp>
        <p:nvSpPr>
          <p:cNvPr id="43" name="テキスト ボックス 42">
            <a:extLst>
              <a:ext uri="{FF2B5EF4-FFF2-40B4-BE49-F238E27FC236}">
                <a16:creationId xmlns:a16="http://schemas.microsoft.com/office/drawing/2014/main" id="{70D5BE68-13FE-90BB-8842-9738C0C64C6D}"/>
              </a:ext>
            </a:extLst>
          </p:cNvPr>
          <p:cNvSpPr txBox="1"/>
          <p:nvPr/>
        </p:nvSpPr>
        <p:spPr>
          <a:xfrm>
            <a:off x="11734800" y="9105900"/>
            <a:ext cx="6134101"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未沸騰データ</a:t>
            </a:r>
            <a:r>
              <a:rPr lang="ja-JP" altLang="en-US" sz="2400" b="1" dirty="0">
                <a:solidFill>
                  <a:srgbClr val="222222"/>
                </a:solidFill>
                <a:latin typeface="Yu Gothic"/>
                <a:ea typeface="Yu Gothic"/>
              </a:rPr>
              <a:t>として削除</a:t>
            </a:r>
          </a:p>
        </p:txBody>
      </p:sp>
      <p:cxnSp>
        <p:nvCxnSpPr>
          <p:cNvPr id="45" name="直線コネクタ 44">
            <a:extLst>
              <a:ext uri="{FF2B5EF4-FFF2-40B4-BE49-F238E27FC236}">
                <a16:creationId xmlns:a16="http://schemas.microsoft.com/office/drawing/2014/main" id="{1AF97035-4D99-BA25-AF7B-C1348DF8A0D7}"/>
              </a:ext>
            </a:extLst>
          </p:cNvPr>
          <p:cNvCxnSpPr/>
          <p:nvPr/>
        </p:nvCxnSpPr>
        <p:spPr>
          <a:xfrm>
            <a:off x="13130689" y="5402255"/>
            <a:ext cx="28194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0B72ADD5-987B-A7A0-1C4A-996977EB5195}"/>
              </a:ext>
            </a:extLst>
          </p:cNvPr>
          <p:cNvCxnSpPr/>
          <p:nvPr/>
        </p:nvCxnSpPr>
        <p:spPr>
          <a:xfrm>
            <a:off x="4712937" y="8221655"/>
            <a:ext cx="281940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96" name="グループ化 895">
            <a:extLst>
              <a:ext uri="{FF2B5EF4-FFF2-40B4-BE49-F238E27FC236}">
                <a16:creationId xmlns:a16="http://schemas.microsoft.com/office/drawing/2014/main" id="{6B1355A5-0A3C-17B4-0C29-7B8C20838DA7}"/>
              </a:ext>
            </a:extLst>
          </p:cNvPr>
          <p:cNvGrpSpPr/>
          <p:nvPr/>
        </p:nvGrpSpPr>
        <p:grpSpPr>
          <a:xfrm>
            <a:off x="6772959" y="4109205"/>
            <a:ext cx="4305302" cy="2382814"/>
            <a:chOff x="14856229" y="1384300"/>
            <a:chExt cx="4572000" cy="1168338"/>
          </a:xfrm>
        </p:grpSpPr>
        <p:sp>
          <p:nvSpPr>
            <p:cNvPr id="56" name="四角形: 角を丸くする 55">
              <a:extLst>
                <a:ext uri="{FF2B5EF4-FFF2-40B4-BE49-F238E27FC236}">
                  <a16:creationId xmlns:a16="http://schemas.microsoft.com/office/drawing/2014/main" id="{B5B5855F-C5FF-82B2-C002-36E0662EB174}"/>
                </a:ext>
              </a:extLst>
            </p:cNvPr>
            <p:cNvSpPr/>
            <p:nvPr/>
          </p:nvSpPr>
          <p:spPr>
            <a:xfrm>
              <a:off x="14856229" y="1384300"/>
              <a:ext cx="4572000" cy="1168338"/>
            </a:xfrm>
            <a:prstGeom prst="roundRect">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50" name="テキスト ボックス 49">
              <a:extLst>
                <a:ext uri="{FF2B5EF4-FFF2-40B4-BE49-F238E27FC236}">
                  <a16:creationId xmlns:a16="http://schemas.microsoft.com/office/drawing/2014/main" id="{25E6EDEE-14C6-8A14-3656-AB3F1907674B}"/>
                </a:ext>
              </a:extLst>
            </p:cNvPr>
            <p:cNvSpPr txBox="1"/>
            <p:nvPr/>
          </p:nvSpPr>
          <p:spPr>
            <a:xfrm>
              <a:off x="15323894" y="1506494"/>
              <a:ext cx="3919887" cy="1003300"/>
            </a:xfrm>
            <a:prstGeom prst="rect">
              <a:avLst/>
            </a:prstGeom>
            <a:noFill/>
            <a:ln>
              <a:noFill/>
            </a:ln>
          </p:spPr>
          <p:txBody>
            <a:bodyPr vertOverflow="overflow" vert="horz" wrap="square" rtlCol="0" anchor="ctr" anchorCtr="0">
              <a:noAutofit/>
            </a:bodyPr>
            <a:lstStyle/>
            <a:p>
              <a:pPr algn="l"/>
              <a:r>
                <a:rPr lang="ja-JP" altLang="en-US" sz="4000" b="1" dirty="0">
                  <a:latin typeface="Yu Gothic"/>
                  <a:ea typeface="Yu Gothic"/>
                </a:rPr>
                <a:t>閾値：</a:t>
              </a:r>
              <a:endParaRPr lang="en-US" altLang="ja-JP" sz="4000" b="1" dirty="0">
                <a:latin typeface="Yu Gothic"/>
                <a:ea typeface="Yu Gothic"/>
              </a:endParaRPr>
            </a:p>
            <a:p>
              <a:pPr algn="l"/>
              <a:r>
                <a:rPr lang="en-US" altLang="ja-JP" sz="4000" b="1" dirty="0">
                  <a:latin typeface="Yu Gothic"/>
                  <a:ea typeface="Yu Gothic"/>
                </a:rPr>
                <a:t>2.1~2.5kHz</a:t>
              </a:r>
              <a:r>
                <a:rPr lang="ja-JP" altLang="en-US" sz="4000" b="1" dirty="0">
                  <a:latin typeface="Yu Gothic"/>
                  <a:ea typeface="Yu Gothic"/>
                </a:rPr>
                <a:t>で</a:t>
              </a:r>
              <a:endParaRPr lang="en-US" altLang="ja-JP" sz="4000" b="1" dirty="0">
                <a:latin typeface="Yu Gothic"/>
                <a:ea typeface="Yu Gothic"/>
              </a:endParaRPr>
            </a:p>
            <a:p>
              <a:pPr algn="l"/>
              <a:r>
                <a:rPr lang="en-US" altLang="ja-JP" sz="4000" b="1" dirty="0">
                  <a:solidFill>
                    <a:srgbClr val="FF0000"/>
                  </a:solidFill>
                  <a:latin typeface="Yu Gothic"/>
                  <a:ea typeface="Yu Gothic"/>
                </a:rPr>
                <a:t>1×10^-9</a:t>
              </a:r>
              <a:endParaRPr lang="ja-JP" altLang="en-US" sz="4000" b="1" dirty="0">
                <a:solidFill>
                  <a:srgbClr val="FF0000"/>
                </a:solidFill>
                <a:latin typeface="Yu Gothic"/>
                <a:ea typeface="Yu Gothic"/>
              </a:endParaRPr>
            </a:p>
          </p:txBody>
        </p:sp>
      </p:grpSp>
      <p:sp>
        <p:nvSpPr>
          <p:cNvPr id="52" name="テキスト ボックス 51">
            <a:extLst>
              <a:ext uri="{FF2B5EF4-FFF2-40B4-BE49-F238E27FC236}">
                <a16:creationId xmlns:a16="http://schemas.microsoft.com/office/drawing/2014/main" id="{006CD1A6-F35E-F318-9B3A-89727EB2B79E}"/>
              </a:ext>
            </a:extLst>
          </p:cNvPr>
          <p:cNvSpPr txBox="1"/>
          <p:nvPr/>
        </p:nvSpPr>
        <p:spPr>
          <a:xfrm>
            <a:off x="942031" y="2324100"/>
            <a:ext cx="1705661" cy="1003300"/>
          </a:xfrm>
          <a:prstGeom prst="rect">
            <a:avLst/>
          </a:prstGeom>
          <a:noFill/>
          <a:ln>
            <a:noFill/>
          </a:ln>
        </p:spPr>
        <p:txBody>
          <a:bodyPr vertOverflow="overflow" vert="horz" wrap="square" rtlCol="0" anchor="ctr" anchorCtr="0">
            <a:noAutofit/>
          </a:bodyPr>
          <a:lstStyle/>
          <a:p>
            <a:pPr algn="l"/>
            <a:r>
              <a:rPr lang="en-US" altLang="ja-JP" sz="3200" b="1" dirty="0">
                <a:solidFill>
                  <a:srgbClr val="222222"/>
                </a:solidFill>
                <a:latin typeface="Yu Gothic"/>
                <a:ea typeface="Yu Gothic"/>
              </a:rPr>
              <a:t>×10^-8</a:t>
            </a:r>
            <a:endParaRPr lang="ja-JP" altLang="en-US" sz="3200" b="1" dirty="0">
              <a:solidFill>
                <a:srgbClr val="222222"/>
              </a:solidFill>
              <a:latin typeface="Yu Gothic"/>
              <a:ea typeface="Yu Gothic"/>
            </a:endParaRPr>
          </a:p>
        </p:txBody>
      </p:sp>
      <p:sp>
        <p:nvSpPr>
          <p:cNvPr id="54" name="テキスト ボックス 53">
            <a:extLst>
              <a:ext uri="{FF2B5EF4-FFF2-40B4-BE49-F238E27FC236}">
                <a16:creationId xmlns:a16="http://schemas.microsoft.com/office/drawing/2014/main" id="{A831A7DF-0C00-4926-1730-BE2F23A0AA15}"/>
              </a:ext>
            </a:extLst>
          </p:cNvPr>
          <p:cNvSpPr txBox="1"/>
          <p:nvPr/>
        </p:nvSpPr>
        <p:spPr>
          <a:xfrm>
            <a:off x="9372600" y="2348203"/>
            <a:ext cx="1705661" cy="1003300"/>
          </a:xfrm>
          <a:prstGeom prst="rect">
            <a:avLst/>
          </a:prstGeom>
          <a:noFill/>
          <a:ln>
            <a:noFill/>
          </a:ln>
        </p:spPr>
        <p:txBody>
          <a:bodyPr vertOverflow="overflow" vert="horz" wrap="square" rtlCol="0" anchor="ctr" anchorCtr="0">
            <a:noAutofit/>
          </a:bodyPr>
          <a:lstStyle/>
          <a:p>
            <a:pPr algn="l"/>
            <a:r>
              <a:rPr lang="en-US" altLang="ja-JP" sz="3200" b="1" dirty="0">
                <a:solidFill>
                  <a:srgbClr val="222222"/>
                </a:solidFill>
                <a:latin typeface="Yu Gothic"/>
                <a:ea typeface="Yu Gothic"/>
              </a:rPr>
              <a:t>×10^-9</a:t>
            </a:r>
            <a:endParaRPr lang="ja-JP" altLang="en-US" sz="3200" b="1" dirty="0">
              <a:solidFill>
                <a:srgbClr val="222222"/>
              </a:solidFill>
              <a:latin typeface="Yu Gothic"/>
              <a:ea typeface="Yu Gothic"/>
            </a:endParaRPr>
          </a:p>
        </p:txBody>
      </p:sp>
    </p:spTree>
    <p:extLst>
      <p:ext uri="{BB962C8B-B14F-4D97-AF65-F5344CB8AC3E}">
        <p14:creationId xmlns:p14="http://schemas.microsoft.com/office/powerpoint/2010/main" val="2412392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82ED-91FB-1FFD-EED9-E2CCF1CB38B6}"/>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1226A433-2043-B47F-E0E8-72C7A0748C7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47B74506-C052-E656-B19A-11FB4A1174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 name="テキスト ボックス 4">
            <a:extLst>
              <a:ext uri="{FF2B5EF4-FFF2-40B4-BE49-F238E27FC236}">
                <a16:creationId xmlns:a16="http://schemas.microsoft.com/office/drawing/2014/main" id="{5916AA8B-3001-4C62-965C-3C0745A4DD02}"/>
              </a:ext>
            </a:extLst>
          </p:cNvPr>
          <p:cNvSpPr txBox="1"/>
          <p:nvPr/>
        </p:nvSpPr>
        <p:spPr>
          <a:xfrm>
            <a:off x="1498600" y="1422400"/>
            <a:ext cx="15494000" cy="965200"/>
          </a:xfrm>
          <a:prstGeom prst="rect">
            <a:avLst/>
          </a:prstGeom>
          <a:noFill/>
        </p:spPr>
        <p:txBody>
          <a:bodyPr vertOverflow="overflow" vert="horz" wrap="square" rtlCol="0" anchor="ctr" anchorCtr="0">
            <a:normAutofit/>
          </a:bodyPr>
          <a:lstStyle/>
          <a:p>
            <a:pPr algn="l"/>
            <a:r>
              <a:rPr lang="ja-JP" altLang="en-US" sz="3200" b="1" dirty="0">
                <a:solidFill>
                  <a:srgbClr val="1B1F23"/>
                </a:solidFill>
                <a:latin typeface="Yu Gothic"/>
                <a:ea typeface="Yu Gothic"/>
              </a:rPr>
              <a:t>入力ノイズなしの検証では，アンサンブルが最も精度が高くなった</a:t>
            </a:r>
          </a:p>
        </p:txBody>
      </p:sp>
      <p:sp>
        <p:nvSpPr>
          <p:cNvPr id="27" name="TextBox 24">
            <a:extLst>
              <a:ext uri="{FF2B5EF4-FFF2-40B4-BE49-F238E27FC236}">
                <a16:creationId xmlns:a16="http://schemas.microsoft.com/office/drawing/2014/main" id="{E1901ED1-4445-7B8A-29E0-91B7F9922131}"/>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2. </a:t>
            </a:r>
            <a:r>
              <a:rPr lang="ja-JP" altLang="en-US" sz="3000" b="1" dirty="0">
                <a:solidFill>
                  <a:srgbClr val="202020"/>
                </a:solidFill>
                <a:latin typeface="Yu Gothic"/>
                <a:ea typeface="Yu Gothic"/>
              </a:rPr>
              <a:t>熱流束回帰</a:t>
            </a:r>
          </a:p>
        </p:txBody>
      </p:sp>
      <p:pic>
        <p:nvPicPr>
          <p:cNvPr id="6" name="図 5">
            <a:extLst>
              <a:ext uri="{FF2B5EF4-FFF2-40B4-BE49-F238E27FC236}">
                <a16:creationId xmlns:a16="http://schemas.microsoft.com/office/drawing/2014/main" id="{8C0B6706-D009-92DC-09BD-31241BEC69F1}"/>
              </a:ext>
            </a:extLst>
          </p:cNvPr>
          <p:cNvPicPr>
            <a:picLocks noChangeAspect="1"/>
          </p:cNvPicPr>
          <p:nvPr/>
        </p:nvPicPr>
        <p:blipFill>
          <a:blip r:embed="rId4"/>
          <a:stretch>
            <a:fillRect/>
          </a:stretch>
        </p:blipFill>
        <p:spPr>
          <a:xfrm>
            <a:off x="1779086" y="2933830"/>
            <a:ext cx="8534399" cy="6400799"/>
          </a:xfrm>
          <a:prstGeom prst="rect">
            <a:avLst/>
          </a:prstGeom>
        </p:spPr>
      </p:pic>
      <p:sp>
        <p:nvSpPr>
          <p:cNvPr id="8" name="四角形: 角を丸くする 7">
            <a:extLst>
              <a:ext uri="{FF2B5EF4-FFF2-40B4-BE49-F238E27FC236}">
                <a16:creationId xmlns:a16="http://schemas.microsoft.com/office/drawing/2014/main" id="{C2277602-599C-9633-ED81-7B18AA7E11C9}"/>
              </a:ext>
            </a:extLst>
          </p:cNvPr>
          <p:cNvSpPr/>
          <p:nvPr/>
        </p:nvSpPr>
        <p:spPr>
          <a:xfrm>
            <a:off x="10853324" y="3467100"/>
            <a:ext cx="6837776" cy="4876800"/>
          </a:xfrm>
          <a:prstGeom prst="roundRect">
            <a:avLst>
              <a:gd name="adj" fmla="val 8987"/>
            </a:avLst>
          </a:prstGeom>
          <a:solidFill>
            <a:srgbClr val="EAF2F2">
              <a:alpha val="93725"/>
            </a:srgbClr>
          </a:solidFill>
          <a:ln w="31750" cap="flat" cmpd="sng" algn="ctr">
            <a:solidFill>
              <a:srgbClr val="68A8A8"/>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12" name="テキスト ボックス 11">
            <a:extLst>
              <a:ext uri="{FF2B5EF4-FFF2-40B4-BE49-F238E27FC236}">
                <a16:creationId xmlns:a16="http://schemas.microsoft.com/office/drawing/2014/main" id="{01A994A3-B979-D62C-EAE5-07EEA61CDFB9}"/>
              </a:ext>
            </a:extLst>
          </p:cNvPr>
          <p:cNvSpPr txBox="1"/>
          <p:nvPr/>
        </p:nvSpPr>
        <p:spPr>
          <a:xfrm>
            <a:off x="11137900" y="3848100"/>
            <a:ext cx="6400800" cy="4278094"/>
          </a:xfrm>
          <a:prstGeom prst="rect">
            <a:avLst/>
          </a:prstGeom>
          <a:noFill/>
        </p:spPr>
        <p:txBody>
          <a:bodyPr wrap="square" rtlCol="0">
            <a:spAutoFit/>
          </a:bodyPr>
          <a:lstStyle/>
          <a:p>
            <a:r>
              <a:rPr kumimoji="1" lang="ja-JP" altLang="en-US" sz="2800" b="1" dirty="0">
                <a:latin typeface="游ゴシック" panose="020B0400000000000000" pitchFamily="50" charset="-128"/>
                <a:ea typeface="游ゴシック" panose="020B0400000000000000" pitchFamily="50" charset="-128"/>
              </a:rPr>
              <a:t>実行条件</a:t>
            </a:r>
            <a:endParaRPr kumimoji="1" lang="en-US" altLang="ja-JP" sz="2800" b="1" dirty="0">
              <a:latin typeface="游ゴシック" panose="020B0400000000000000" pitchFamily="50" charset="-128"/>
              <a:ea typeface="游ゴシック" panose="020B0400000000000000" pitchFamily="50" charset="-128"/>
            </a:endParaRPr>
          </a:p>
          <a:p>
            <a:endParaRPr kumimoji="1" lang="en-US" altLang="ja-JP" sz="28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学習データ：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6/11</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個（未沸騰フィルタ後</a:t>
            </a:r>
            <a:r>
              <a:rPr kumimoji="1" lang="en-US" altLang="ja-JP" sz="2400" b="1" dirty="0">
                <a:latin typeface="游ゴシック" panose="020B0400000000000000" pitchFamily="50" charset="-128"/>
                <a:ea typeface="游ゴシック" panose="020B0400000000000000" pitchFamily="50" charset="-128"/>
              </a:rPr>
              <a:t>986</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テストデータ：</a:t>
            </a:r>
            <a:endParaRPr kumimoji="1" lang="en-US" altLang="ja-JP" sz="2400" b="1" dirty="0">
              <a:latin typeface="游ゴシック" panose="020B0400000000000000" pitchFamily="50" charset="-128"/>
              <a:ea typeface="游ゴシック" panose="020B0400000000000000" pitchFamily="50" charset="-128"/>
            </a:endParaRPr>
          </a:p>
          <a:p>
            <a:pPr lvl="1"/>
            <a:r>
              <a:rPr kumimoji="1" lang="en-US" altLang="ja-JP" sz="2400" b="1" dirty="0">
                <a:latin typeface="游ゴシック" panose="020B0400000000000000" pitchFamily="50" charset="-128"/>
                <a:ea typeface="游ゴシック" panose="020B0400000000000000" pitchFamily="50" charset="-128"/>
              </a:rPr>
              <a:t>6/18</a:t>
            </a:r>
            <a:r>
              <a:rPr kumimoji="1" lang="ja-JP" altLang="en-US" sz="2400" b="1" dirty="0">
                <a:latin typeface="游ゴシック" panose="020B0400000000000000" pitchFamily="50" charset="-128"/>
                <a:ea typeface="游ゴシック" panose="020B0400000000000000" pitchFamily="50" charset="-128"/>
              </a:rPr>
              <a:t>実験　</a:t>
            </a:r>
            <a:r>
              <a:rPr kumimoji="1" lang="en-US" altLang="ja-JP" sz="2400" b="1" dirty="0">
                <a:latin typeface="游ゴシック" panose="020B0400000000000000" pitchFamily="50" charset="-128"/>
                <a:ea typeface="游ゴシック" panose="020B0400000000000000" pitchFamily="50" charset="-128"/>
              </a:rPr>
              <a:t>1080</a:t>
            </a:r>
            <a:r>
              <a:rPr kumimoji="1" lang="ja-JP" altLang="en-US" sz="2400" b="1" dirty="0">
                <a:latin typeface="游ゴシック" panose="020B0400000000000000" pitchFamily="50" charset="-128"/>
                <a:ea typeface="游ゴシック" panose="020B0400000000000000" pitchFamily="50" charset="-128"/>
              </a:rPr>
              <a:t>個</a:t>
            </a:r>
            <a:endParaRPr kumimoji="1" lang="en-US" altLang="ja-JP" sz="2400" b="1" dirty="0">
              <a:latin typeface="游ゴシック" panose="020B0400000000000000" pitchFamily="50" charset="-128"/>
              <a:ea typeface="游ゴシック" panose="020B0400000000000000" pitchFamily="50" charset="-128"/>
            </a:endParaRP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エポック数：</a:t>
            </a:r>
            <a:r>
              <a:rPr kumimoji="1" lang="en-US" altLang="ja-JP" sz="2400" b="1" dirty="0">
                <a:latin typeface="游ゴシック" panose="020B0400000000000000" pitchFamily="50" charset="-128"/>
                <a:ea typeface="游ゴシック" panose="020B0400000000000000" pitchFamily="50" charset="-128"/>
              </a:rPr>
              <a:t>200</a:t>
            </a:r>
          </a:p>
          <a:p>
            <a:pPr marL="342900" indent="-342900">
              <a:buFont typeface="Wingdings" panose="05000000000000000000" pitchFamily="2" charset="2"/>
              <a:buChar char="l"/>
            </a:pPr>
            <a:r>
              <a:rPr kumimoji="1" lang="en-US" altLang="ja-JP" sz="2400" b="1" dirty="0">
                <a:latin typeface="游ゴシック" panose="020B0400000000000000" pitchFamily="50" charset="-128"/>
                <a:ea typeface="游ゴシック" panose="020B0400000000000000" pitchFamily="50" charset="-128"/>
              </a:rPr>
              <a:t>Fold</a:t>
            </a:r>
            <a:r>
              <a:rPr kumimoji="1" lang="ja-JP" altLang="en-US" sz="2400" b="1" dirty="0">
                <a:latin typeface="游ゴシック" panose="020B0400000000000000" pitchFamily="50" charset="-128"/>
                <a:ea typeface="游ゴシック" panose="020B0400000000000000" pitchFamily="50" charset="-128"/>
              </a:rPr>
              <a:t>数：</a:t>
            </a:r>
            <a:r>
              <a:rPr kumimoji="1" lang="en-US" altLang="ja-JP" sz="2400" b="1" dirty="0">
                <a:latin typeface="游ゴシック" panose="020B0400000000000000" pitchFamily="50" charset="-128"/>
                <a:ea typeface="游ゴシック" panose="020B0400000000000000" pitchFamily="50" charset="-128"/>
              </a:rPr>
              <a:t>3</a:t>
            </a:r>
          </a:p>
          <a:p>
            <a:pPr marL="342900" indent="-342900">
              <a:buFont typeface="Wingdings" panose="05000000000000000000" pitchFamily="2" charset="2"/>
              <a:buChar char="l"/>
            </a:pPr>
            <a:r>
              <a:rPr kumimoji="1" lang="ja-JP" altLang="en-US" sz="2400" b="1" dirty="0">
                <a:latin typeface="游ゴシック" panose="020B0400000000000000" pitchFamily="50" charset="-128"/>
                <a:ea typeface="游ゴシック" panose="020B0400000000000000" pitchFamily="50" charset="-128"/>
              </a:rPr>
              <a:t>その他各モデルのパラメータは適切なものを設定した</a:t>
            </a:r>
          </a:p>
        </p:txBody>
      </p:sp>
    </p:spTree>
    <p:extLst>
      <p:ext uri="{BB962C8B-B14F-4D97-AF65-F5344CB8AC3E}">
        <p14:creationId xmlns:p14="http://schemas.microsoft.com/office/powerpoint/2010/main" val="204459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FA41-59F4-74B3-5558-9B385299E740}"/>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7D05DB45-9898-1084-C44D-BE12E11FE6A0}"/>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DE7593C5-79A1-81CA-8B13-15874C891D4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6B006679-AA21-A7CC-2C22-E3C063CE55B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50E5230A-2DB3-2DFC-DCB9-377029AC51A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B1BB7399-1003-07F0-33F7-1D89A43EAD2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40C500F2-7C0D-4BA5-95DB-192E0E74E80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D80779FF-CF4F-D112-2E53-4FA3869783C8}"/>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2BB040C3-98BD-B889-E95D-396C886DB30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0AE6082A-3F72-8F86-FDF3-4D694847BDD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47971F35-8ABF-BD31-B4BD-4CC72BC9D040}"/>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AC622BB7-8417-7C24-ECCF-01B9F286EE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752116B8-0946-5535-7F87-C270BFBF088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8C58B74B-5F47-93B6-D285-7279D7BC6909}"/>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40290CBB-770B-B483-CE9C-DD563CDE8A8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14BC7799-0266-02F7-6D64-4BA1F35137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3ECB9618-8A4F-D28D-278B-C7F475460E3B}"/>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5" name="テキスト ボックス 4">
            <a:extLst>
              <a:ext uri="{FF2B5EF4-FFF2-40B4-BE49-F238E27FC236}">
                <a16:creationId xmlns:a16="http://schemas.microsoft.com/office/drawing/2014/main" id="{31601EF7-8ACD-4F4D-8299-1EB67CA4CF9E}"/>
              </a:ext>
            </a:extLst>
          </p:cNvPr>
          <p:cNvSpPr txBox="1"/>
          <p:nvPr/>
        </p:nvSpPr>
        <p:spPr>
          <a:xfrm>
            <a:off x="1498600" y="1422400"/>
            <a:ext cx="15494000" cy="965200"/>
          </a:xfrm>
          <a:prstGeom prst="rect">
            <a:avLst/>
          </a:prstGeom>
          <a:noFill/>
        </p:spPr>
        <p:txBody>
          <a:bodyPr vertOverflow="overflow" vert="horz" wrap="square" rtlCol="0" anchor="ctr" anchorCtr="0">
            <a:normAutofit/>
          </a:bodyPr>
          <a:lstStyle/>
          <a:p>
            <a:pPr algn="l"/>
            <a:r>
              <a:rPr lang="ja-JP" altLang="en-US" sz="3200" b="1" dirty="0">
                <a:solidFill>
                  <a:srgbClr val="1B1F23"/>
                </a:solidFill>
                <a:latin typeface="Yu Gothic"/>
                <a:ea typeface="Yu Gothic"/>
              </a:rPr>
              <a:t>マスクによる精度低下の影響が大きい周波数帯はモデルごとに異なる</a:t>
            </a:r>
          </a:p>
        </p:txBody>
      </p:sp>
      <p:sp>
        <p:nvSpPr>
          <p:cNvPr id="27" name="TextBox 24">
            <a:extLst>
              <a:ext uri="{FF2B5EF4-FFF2-40B4-BE49-F238E27FC236}">
                <a16:creationId xmlns:a16="http://schemas.microsoft.com/office/drawing/2014/main" id="{DF26E4DF-7B22-0B8B-B783-4EC9600E0AC0}"/>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3. </a:t>
            </a:r>
            <a:r>
              <a:rPr lang="ja-JP" altLang="en-US" sz="3000" b="1" dirty="0">
                <a:solidFill>
                  <a:srgbClr val="202020"/>
                </a:solidFill>
                <a:latin typeface="Yu Gothic"/>
                <a:ea typeface="Yu Gothic"/>
              </a:rPr>
              <a:t>説明性（周波数帯マスク）</a:t>
            </a:r>
          </a:p>
        </p:txBody>
      </p:sp>
      <p:pic>
        <p:nvPicPr>
          <p:cNvPr id="3" name="図 2">
            <a:extLst>
              <a:ext uri="{FF2B5EF4-FFF2-40B4-BE49-F238E27FC236}">
                <a16:creationId xmlns:a16="http://schemas.microsoft.com/office/drawing/2014/main" id="{E731E619-F1EE-E46C-380D-ACC878692C69}"/>
              </a:ext>
            </a:extLst>
          </p:cNvPr>
          <p:cNvPicPr>
            <a:picLocks noChangeAspect="1"/>
          </p:cNvPicPr>
          <p:nvPr/>
        </p:nvPicPr>
        <p:blipFill>
          <a:blip r:embed="rId4"/>
          <a:stretch>
            <a:fillRect/>
          </a:stretch>
        </p:blipFill>
        <p:spPr>
          <a:xfrm>
            <a:off x="1252425" y="2749324"/>
            <a:ext cx="16184163" cy="6863284"/>
          </a:xfrm>
          <a:prstGeom prst="rect">
            <a:avLst/>
          </a:prstGeom>
        </p:spPr>
      </p:pic>
    </p:spTree>
    <p:extLst>
      <p:ext uri="{BB962C8B-B14F-4D97-AF65-F5344CB8AC3E}">
        <p14:creationId xmlns:p14="http://schemas.microsoft.com/office/powerpoint/2010/main" val="2869010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C6B7A-BBA2-7F7C-7C94-C50C16F85C49}"/>
            </a:ext>
          </a:extLst>
        </p:cNvPr>
        <p:cNvGrpSpPr/>
        <p:nvPr/>
      </p:nvGrpSpPr>
      <p:grpSpPr>
        <a:xfrm>
          <a:off x="0" y="0"/>
          <a:ext cx="0" cy="0"/>
          <a:chOff x="0" y="0"/>
          <a:chExt cx="0" cy="0"/>
        </a:xfrm>
      </p:grpSpPr>
      <p:grpSp>
        <p:nvGrpSpPr>
          <p:cNvPr id="57" name="グループ化 56">
            <a:extLst>
              <a:ext uri="{FF2B5EF4-FFF2-40B4-BE49-F238E27FC236}">
                <a16:creationId xmlns:a16="http://schemas.microsoft.com/office/drawing/2014/main" id="{D53115BB-4676-8FEF-7373-A118571B75B5}"/>
              </a:ext>
            </a:extLst>
          </p:cNvPr>
          <p:cNvGrpSpPr/>
          <p:nvPr/>
        </p:nvGrpSpPr>
        <p:grpSpPr>
          <a:xfrm>
            <a:off x="270494" y="246431"/>
            <a:ext cx="698205" cy="10040568"/>
            <a:chOff x="270494" y="246431"/>
            <a:chExt cx="698205" cy="10040568"/>
          </a:xfrm>
        </p:grpSpPr>
        <p:pic>
          <p:nvPicPr>
            <p:cNvPr id="58" name="図 57">
              <a:extLst>
                <a:ext uri="{FF2B5EF4-FFF2-40B4-BE49-F238E27FC236}">
                  <a16:creationId xmlns:a16="http://schemas.microsoft.com/office/drawing/2014/main" id="{DC50DE46-9569-2CF9-EEFD-5E4269CF5D8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9" name="テキスト ボックス 58">
              <a:extLst>
                <a:ext uri="{FF2B5EF4-FFF2-40B4-BE49-F238E27FC236}">
                  <a16:creationId xmlns:a16="http://schemas.microsoft.com/office/drawing/2014/main" id="{32F39ADD-556E-FD1C-8606-2D1BF514D63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60" name="直線コネクタ 59">
              <a:extLst>
                <a:ext uri="{FF2B5EF4-FFF2-40B4-BE49-F238E27FC236}">
                  <a16:creationId xmlns:a16="http://schemas.microsoft.com/office/drawing/2014/main" id="{CB3E2A75-09AC-578E-12EB-B6B0417CA1E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1" name="フローチャート: 論理積ゲート 60">
              <a:extLst>
                <a:ext uri="{FF2B5EF4-FFF2-40B4-BE49-F238E27FC236}">
                  <a16:creationId xmlns:a16="http://schemas.microsoft.com/office/drawing/2014/main" id="{B65B272C-A5D5-4CB5-BC19-E30EA1D49C2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2" name="Group 3">
            <a:extLst>
              <a:ext uri="{FF2B5EF4-FFF2-40B4-BE49-F238E27FC236}">
                <a16:creationId xmlns:a16="http://schemas.microsoft.com/office/drawing/2014/main" id="{DF2F1FC0-E61B-F7F2-CC05-9284F1F874A9}"/>
              </a:ext>
            </a:extLst>
          </p:cNvPr>
          <p:cNvGrpSpPr/>
          <p:nvPr/>
        </p:nvGrpSpPr>
        <p:grpSpPr>
          <a:xfrm>
            <a:off x="1371600" y="1069258"/>
            <a:ext cx="16064988" cy="125708"/>
            <a:chOff x="0" y="0"/>
            <a:chExt cx="22021800" cy="190500"/>
          </a:xfrm>
        </p:grpSpPr>
        <p:grpSp>
          <p:nvGrpSpPr>
            <p:cNvPr id="63" name="Group 4">
              <a:extLst>
                <a:ext uri="{FF2B5EF4-FFF2-40B4-BE49-F238E27FC236}">
                  <a16:creationId xmlns:a16="http://schemas.microsoft.com/office/drawing/2014/main" id="{C9F44B98-80E0-A756-8887-6397FCA0767C}"/>
                </a:ext>
              </a:extLst>
            </p:cNvPr>
            <p:cNvGrpSpPr/>
            <p:nvPr/>
          </p:nvGrpSpPr>
          <p:grpSpPr>
            <a:xfrm>
              <a:off x="0" y="0"/>
              <a:ext cx="7340600" cy="190500"/>
              <a:chOff x="0" y="0"/>
              <a:chExt cx="1449995" cy="37630"/>
            </a:xfrm>
          </p:grpSpPr>
          <p:sp>
            <p:nvSpPr>
              <p:cNvPr id="70" name="Freeform 5">
                <a:extLst>
                  <a:ext uri="{FF2B5EF4-FFF2-40B4-BE49-F238E27FC236}">
                    <a16:creationId xmlns:a16="http://schemas.microsoft.com/office/drawing/2014/main" id="{2E8A69AF-5FB0-9637-3552-65D6D000109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71" name="TextBox 6">
                <a:extLst>
                  <a:ext uri="{FF2B5EF4-FFF2-40B4-BE49-F238E27FC236}">
                    <a16:creationId xmlns:a16="http://schemas.microsoft.com/office/drawing/2014/main" id="{E6D22F2B-0227-2669-DB06-9260C7E4EC6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4" name="Group 7">
              <a:extLst>
                <a:ext uri="{FF2B5EF4-FFF2-40B4-BE49-F238E27FC236}">
                  <a16:creationId xmlns:a16="http://schemas.microsoft.com/office/drawing/2014/main" id="{DD791D53-6622-F6E6-468E-FA0E40BA8BDC}"/>
                </a:ext>
              </a:extLst>
            </p:cNvPr>
            <p:cNvGrpSpPr/>
            <p:nvPr/>
          </p:nvGrpSpPr>
          <p:grpSpPr>
            <a:xfrm>
              <a:off x="7340600" y="0"/>
              <a:ext cx="7340600" cy="190500"/>
              <a:chOff x="0" y="0"/>
              <a:chExt cx="1449995" cy="37630"/>
            </a:xfrm>
          </p:grpSpPr>
          <p:sp>
            <p:nvSpPr>
              <p:cNvPr id="68" name="Freeform 8">
                <a:extLst>
                  <a:ext uri="{FF2B5EF4-FFF2-40B4-BE49-F238E27FC236}">
                    <a16:creationId xmlns:a16="http://schemas.microsoft.com/office/drawing/2014/main" id="{658A6FCA-2782-60E6-8ED8-8BBCA1B74E7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9" name="TextBox 9">
                <a:extLst>
                  <a:ext uri="{FF2B5EF4-FFF2-40B4-BE49-F238E27FC236}">
                    <a16:creationId xmlns:a16="http://schemas.microsoft.com/office/drawing/2014/main" id="{1C0DB6D5-1F47-662F-F20C-5C60496C1C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5" name="Group 10">
              <a:extLst>
                <a:ext uri="{FF2B5EF4-FFF2-40B4-BE49-F238E27FC236}">
                  <a16:creationId xmlns:a16="http://schemas.microsoft.com/office/drawing/2014/main" id="{BA5A87E2-7EB4-701B-D4E9-29108DE56E26}"/>
                </a:ext>
              </a:extLst>
            </p:cNvPr>
            <p:cNvGrpSpPr/>
            <p:nvPr/>
          </p:nvGrpSpPr>
          <p:grpSpPr>
            <a:xfrm>
              <a:off x="14681200" y="0"/>
              <a:ext cx="7340600" cy="190500"/>
              <a:chOff x="0" y="0"/>
              <a:chExt cx="1449995" cy="37630"/>
            </a:xfrm>
          </p:grpSpPr>
          <p:sp>
            <p:nvSpPr>
              <p:cNvPr id="66" name="Freeform 11">
                <a:extLst>
                  <a:ext uri="{FF2B5EF4-FFF2-40B4-BE49-F238E27FC236}">
                    <a16:creationId xmlns:a16="http://schemas.microsoft.com/office/drawing/2014/main" id="{A2A54EDF-CE99-D170-6E87-5E37252FA4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7" name="TextBox 12">
                <a:extLst>
                  <a:ext uri="{FF2B5EF4-FFF2-40B4-BE49-F238E27FC236}">
                    <a16:creationId xmlns:a16="http://schemas.microsoft.com/office/drawing/2014/main" id="{40A00CD3-1C19-635B-A208-D902D538413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2" name="スライド番号プレースホルダー 28">
            <a:extLst>
              <a:ext uri="{FF2B5EF4-FFF2-40B4-BE49-F238E27FC236}">
                <a16:creationId xmlns:a16="http://schemas.microsoft.com/office/drawing/2014/main" id="{01D2D754-48E3-D797-3CDA-7E4DF46DDE64}"/>
              </a:ext>
            </a:extLst>
          </p:cNvPr>
          <p:cNvSpPr>
            <a:spLocks noGrp="1"/>
          </p:cNvSpPr>
          <p:nvPr>
            <p:ph type="sldNum" sz="quarter" idx="12"/>
          </p:nvPr>
        </p:nvSpPr>
        <p:spPr>
          <a:xfrm>
            <a:off x="270494" y="9748987"/>
            <a:ext cx="599456" cy="462299"/>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6" name="テキスト ボックス 5">
            <a:extLst>
              <a:ext uri="{FF2B5EF4-FFF2-40B4-BE49-F238E27FC236}">
                <a16:creationId xmlns:a16="http://schemas.microsoft.com/office/drawing/2014/main" id="{D03F18AA-4911-423E-A3F4-5D9D577937E8}"/>
              </a:ext>
            </a:extLst>
          </p:cNvPr>
          <p:cNvSpPr txBox="1"/>
          <p:nvPr/>
        </p:nvSpPr>
        <p:spPr>
          <a:xfrm>
            <a:off x="1587500" y="1422400"/>
            <a:ext cx="15367000" cy="914400"/>
          </a:xfrm>
          <a:prstGeom prst="rect">
            <a:avLst/>
          </a:prstGeom>
          <a:noFill/>
          <a:ln>
            <a:noFill/>
          </a:ln>
        </p:spPr>
        <p:txBody>
          <a:bodyPr vertOverflow="overflow" vert="horz" wrap="square" rtlCol="0" anchor="ctr" anchorCtr="0">
            <a:normAutofit/>
          </a:bodyPr>
          <a:lstStyle/>
          <a:p>
            <a:pPr algn="l"/>
            <a:r>
              <a:rPr lang="ja-JP" altLang="en-US" sz="3200" b="1" dirty="0">
                <a:solidFill>
                  <a:srgbClr val="1B1F23"/>
                </a:solidFill>
                <a:latin typeface="Yu Gothic"/>
                <a:ea typeface="Yu Gothic"/>
              </a:rPr>
              <a:t>同じ入力でも寄与分布は異なる</a:t>
            </a:r>
          </a:p>
        </p:txBody>
      </p:sp>
      <p:sp>
        <p:nvSpPr>
          <p:cNvPr id="3" name="TextBox 24">
            <a:extLst>
              <a:ext uri="{FF2B5EF4-FFF2-40B4-BE49-F238E27FC236}">
                <a16:creationId xmlns:a16="http://schemas.microsoft.com/office/drawing/2014/main" id="{4DB8D5B6-1001-8E9B-2DDB-040395179EDC}"/>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3. </a:t>
            </a:r>
            <a:r>
              <a:rPr lang="ja-JP" altLang="en-US" sz="3000" b="1" dirty="0">
                <a:solidFill>
                  <a:srgbClr val="202020"/>
                </a:solidFill>
                <a:latin typeface="Yu Gothic"/>
                <a:ea typeface="Yu Gothic"/>
              </a:rPr>
              <a:t>説明性（</a:t>
            </a:r>
            <a:r>
              <a:rPr lang="en-US" altLang="ja-JP" sz="3000" b="1" dirty="0">
                <a:solidFill>
                  <a:srgbClr val="202020"/>
                </a:solidFill>
                <a:latin typeface="Yu Gothic"/>
                <a:ea typeface="Yu Gothic"/>
              </a:rPr>
              <a:t>Integrated Gradient</a:t>
            </a:r>
            <a:r>
              <a:rPr lang="ja-JP" altLang="en-US" sz="3000" b="1" dirty="0">
                <a:solidFill>
                  <a:srgbClr val="202020"/>
                </a:solidFill>
                <a:latin typeface="Yu Gothic"/>
                <a:ea typeface="Yu Gothic"/>
              </a:rPr>
              <a:t>）</a:t>
            </a:r>
          </a:p>
        </p:txBody>
      </p:sp>
      <p:pic>
        <p:nvPicPr>
          <p:cNvPr id="4" name="図 3">
            <a:extLst>
              <a:ext uri="{FF2B5EF4-FFF2-40B4-BE49-F238E27FC236}">
                <a16:creationId xmlns:a16="http://schemas.microsoft.com/office/drawing/2014/main" id="{35F5183A-47BD-5E8E-DD5E-CDBC75C2FB06}"/>
              </a:ext>
            </a:extLst>
          </p:cNvPr>
          <p:cNvPicPr>
            <a:picLocks noChangeAspect="1"/>
          </p:cNvPicPr>
          <p:nvPr/>
        </p:nvPicPr>
        <p:blipFill>
          <a:blip r:embed="rId4"/>
          <a:stretch>
            <a:fillRect/>
          </a:stretch>
        </p:blipFill>
        <p:spPr>
          <a:xfrm>
            <a:off x="1371600" y="2448052"/>
            <a:ext cx="6619850" cy="5967837"/>
          </a:xfrm>
          <a:prstGeom prst="rect">
            <a:avLst/>
          </a:prstGeom>
        </p:spPr>
      </p:pic>
      <p:pic>
        <p:nvPicPr>
          <p:cNvPr id="7" name="図 6">
            <a:extLst>
              <a:ext uri="{FF2B5EF4-FFF2-40B4-BE49-F238E27FC236}">
                <a16:creationId xmlns:a16="http://schemas.microsoft.com/office/drawing/2014/main" id="{565410E5-F1F1-C2BB-2474-970F18BF06FB}"/>
              </a:ext>
            </a:extLst>
          </p:cNvPr>
          <p:cNvPicPr>
            <a:picLocks noChangeAspect="1"/>
          </p:cNvPicPr>
          <p:nvPr/>
        </p:nvPicPr>
        <p:blipFill>
          <a:blip r:embed="rId5"/>
          <a:stretch>
            <a:fillRect/>
          </a:stretch>
        </p:blipFill>
        <p:spPr>
          <a:xfrm>
            <a:off x="8315350" y="2448051"/>
            <a:ext cx="6619850" cy="5967837"/>
          </a:xfrm>
          <a:prstGeom prst="rect">
            <a:avLst/>
          </a:prstGeom>
        </p:spPr>
      </p:pic>
      <p:sp>
        <p:nvSpPr>
          <p:cNvPr id="9" name="テキスト ボックス 8">
            <a:extLst>
              <a:ext uri="{FF2B5EF4-FFF2-40B4-BE49-F238E27FC236}">
                <a16:creationId xmlns:a16="http://schemas.microsoft.com/office/drawing/2014/main" id="{287BDCAF-C075-9DFD-682C-305EFAF2A19C}"/>
              </a:ext>
            </a:extLst>
          </p:cNvPr>
          <p:cNvSpPr txBox="1"/>
          <p:nvPr/>
        </p:nvSpPr>
        <p:spPr>
          <a:xfrm>
            <a:off x="1705959" y="9336590"/>
            <a:ext cx="10375633" cy="1003300"/>
          </a:xfrm>
          <a:prstGeom prst="rect">
            <a:avLst/>
          </a:prstGeom>
          <a:noFill/>
          <a:ln>
            <a:noFill/>
          </a:ln>
        </p:spPr>
        <p:txBody>
          <a:bodyPr vertOverflow="overflow" vert="horz" wrap="square" rtlCol="0" anchor="ctr" anchorCtr="0">
            <a:noAutofit/>
          </a:bodyPr>
          <a:lstStyle/>
          <a:p>
            <a:r>
              <a:rPr lang="en-US" altLang="ja-JP" sz="2800" b="1" dirty="0">
                <a:latin typeface="游ゴシック" panose="020B0400000000000000" pitchFamily="50" charset="-128"/>
                <a:ea typeface="游ゴシック" panose="020B0400000000000000" pitchFamily="50" charset="-128"/>
              </a:rPr>
              <a:t>※</a:t>
            </a:r>
            <a:r>
              <a:rPr lang="ja-JP" altLang="ja-JP" sz="2800" b="1" dirty="0">
                <a:latin typeface="游ゴシック" panose="020B0400000000000000" pitchFamily="50" charset="-128"/>
                <a:ea typeface="游ゴシック" panose="020B0400000000000000" pitchFamily="50" charset="-128"/>
              </a:rPr>
              <a:t>22 kHz・0 dB、ONB</a:t>
            </a:r>
            <a:r>
              <a:rPr lang="ja-JP" altLang="en-US" sz="2800" b="1" dirty="0">
                <a:latin typeface="游ゴシック" panose="020B0400000000000000" pitchFamily="50" charset="-128"/>
                <a:ea typeface="游ゴシック" panose="020B0400000000000000" pitchFamily="50" charset="-128"/>
              </a:rPr>
              <a:t>時点</a:t>
            </a:r>
            <a:r>
              <a:rPr lang="ja-JP" altLang="ja-JP" sz="2800" b="1" dirty="0">
                <a:latin typeface="游ゴシック" panose="020B0400000000000000" pitchFamily="50" charset="-128"/>
                <a:ea typeface="游ゴシック" panose="020B0400000000000000" pitchFamily="50" charset="-128"/>
              </a:rPr>
              <a:t>の同一</a:t>
            </a:r>
            <a:r>
              <a:rPr lang="ja-JP" altLang="en-US" sz="2800" b="1" dirty="0">
                <a:latin typeface="游ゴシック" panose="020B0400000000000000" pitchFamily="50" charset="-128"/>
                <a:ea typeface="游ゴシック" panose="020B0400000000000000" pitchFamily="50" charset="-128"/>
              </a:rPr>
              <a:t>データを入力</a:t>
            </a:r>
            <a:endParaRPr lang="ja-JP" altLang="en-US" sz="2800" b="1" dirty="0">
              <a:solidFill>
                <a:srgbClr val="222222"/>
              </a:solidFill>
              <a:latin typeface="游ゴシック" panose="020B0400000000000000" pitchFamily="50" charset="-128"/>
              <a:ea typeface="游ゴシック" panose="020B0400000000000000" pitchFamily="50" charset="-128"/>
            </a:endParaRPr>
          </a:p>
        </p:txBody>
      </p:sp>
      <p:sp>
        <p:nvSpPr>
          <p:cNvPr id="49" name="テキスト ボックス 48">
            <a:extLst>
              <a:ext uri="{FF2B5EF4-FFF2-40B4-BE49-F238E27FC236}">
                <a16:creationId xmlns:a16="http://schemas.microsoft.com/office/drawing/2014/main" id="{35FFDB8A-601D-582F-D491-AD5900924EBB}"/>
              </a:ext>
            </a:extLst>
          </p:cNvPr>
          <p:cNvSpPr txBox="1"/>
          <p:nvPr/>
        </p:nvSpPr>
        <p:spPr>
          <a:xfrm>
            <a:off x="3571850" y="8359102"/>
            <a:ext cx="3309921" cy="1003300"/>
          </a:xfrm>
          <a:prstGeom prst="rect">
            <a:avLst/>
          </a:prstGeom>
          <a:noFill/>
          <a:ln>
            <a:noFill/>
          </a:ln>
        </p:spPr>
        <p:txBody>
          <a:bodyPr vertOverflow="overflow" vert="horz" wrap="square" rtlCol="0" anchor="ctr" anchorCtr="0">
            <a:noAutofit/>
          </a:bodyPr>
          <a:lstStyle/>
          <a:p>
            <a:pPr algn="l"/>
            <a:r>
              <a:rPr lang="en-US" altLang="ja-JP" sz="4000" b="1" dirty="0" err="1">
                <a:solidFill>
                  <a:srgbClr val="222222"/>
                </a:solidFill>
                <a:latin typeface="Yu Gothic"/>
                <a:ea typeface="Yu Gothic"/>
              </a:rPr>
              <a:t>AlexNet</a:t>
            </a:r>
            <a:endParaRPr lang="ja-JP" altLang="en-US" sz="4000" b="1" dirty="0">
              <a:solidFill>
                <a:srgbClr val="222222"/>
              </a:solidFill>
              <a:latin typeface="Yu Gothic"/>
              <a:ea typeface="Yu Gothic"/>
            </a:endParaRPr>
          </a:p>
        </p:txBody>
      </p:sp>
      <p:sp>
        <p:nvSpPr>
          <p:cNvPr id="52" name="テキスト ボックス 51">
            <a:extLst>
              <a:ext uri="{FF2B5EF4-FFF2-40B4-BE49-F238E27FC236}">
                <a16:creationId xmlns:a16="http://schemas.microsoft.com/office/drawing/2014/main" id="{4AF7BF2E-424C-BCD1-F10B-C6A06211E5EA}"/>
              </a:ext>
            </a:extLst>
          </p:cNvPr>
          <p:cNvSpPr txBox="1"/>
          <p:nvPr/>
        </p:nvSpPr>
        <p:spPr>
          <a:xfrm>
            <a:off x="10495591" y="8415888"/>
            <a:ext cx="3309921" cy="1003300"/>
          </a:xfrm>
          <a:prstGeom prst="rect">
            <a:avLst/>
          </a:prstGeom>
          <a:noFill/>
          <a:ln>
            <a:noFill/>
          </a:ln>
        </p:spPr>
        <p:txBody>
          <a:bodyPr vertOverflow="overflow" vert="horz" wrap="square" rtlCol="0" anchor="ctr" anchorCtr="0">
            <a:noAutofit/>
          </a:bodyPr>
          <a:lstStyle/>
          <a:p>
            <a:pPr algn="l"/>
            <a:r>
              <a:rPr lang="en-US" altLang="ja-JP" sz="4000" b="1" dirty="0">
                <a:solidFill>
                  <a:srgbClr val="222222"/>
                </a:solidFill>
                <a:latin typeface="Yu Gothic"/>
                <a:ea typeface="Yu Gothic"/>
              </a:rPr>
              <a:t>Conformer</a:t>
            </a:r>
            <a:endParaRPr lang="ja-JP" altLang="en-US" sz="4000" b="1" dirty="0">
              <a:solidFill>
                <a:srgbClr val="222222"/>
              </a:solidFill>
              <a:latin typeface="Yu Gothic"/>
              <a:ea typeface="Yu Gothic"/>
            </a:endParaRPr>
          </a:p>
        </p:txBody>
      </p:sp>
      <p:pic>
        <p:nvPicPr>
          <p:cNvPr id="54" name="図 53">
            <a:extLst>
              <a:ext uri="{FF2B5EF4-FFF2-40B4-BE49-F238E27FC236}">
                <a16:creationId xmlns:a16="http://schemas.microsoft.com/office/drawing/2014/main" id="{83042CDC-5484-F9E0-C8F9-F317352034EC}"/>
              </a:ext>
            </a:extLst>
          </p:cNvPr>
          <p:cNvPicPr>
            <a:picLocks noChangeAspect="1"/>
          </p:cNvPicPr>
          <p:nvPr/>
        </p:nvPicPr>
        <p:blipFill>
          <a:blip r:embed="rId6"/>
          <a:stretch>
            <a:fillRect/>
          </a:stretch>
        </p:blipFill>
        <p:spPr>
          <a:xfrm>
            <a:off x="14787310" y="527656"/>
            <a:ext cx="3272075" cy="2943356"/>
          </a:xfrm>
          <a:prstGeom prst="rect">
            <a:avLst/>
          </a:prstGeom>
        </p:spPr>
      </p:pic>
      <p:sp>
        <p:nvSpPr>
          <p:cNvPr id="56" name="テキスト ボックス 55">
            <a:extLst>
              <a:ext uri="{FF2B5EF4-FFF2-40B4-BE49-F238E27FC236}">
                <a16:creationId xmlns:a16="http://schemas.microsoft.com/office/drawing/2014/main" id="{9F4468E7-BD1C-B2E0-8F81-5604194C1C42}"/>
              </a:ext>
            </a:extLst>
          </p:cNvPr>
          <p:cNvSpPr txBox="1"/>
          <p:nvPr/>
        </p:nvSpPr>
        <p:spPr>
          <a:xfrm>
            <a:off x="15773400" y="3471012"/>
            <a:ext cx="2514600" cy="1003300"/>
          </a:xfrm>
          <a:prstGeom prst="rect">
            <a:avLst/>
          </a:prstGeom>
          <a:noFill/>
          <a:ln>
            <a:noFill/>
          </a:ln>
        </p:spPr>
        <p:txBody>
          <a:bodyPr vertOverflow="overflow" vert="horz" wrap="square" rtlCol="0" anchor="ctr" anchorCtr="0">
            <a:noAutofit/>
          </a:bodyPr>
          <a:lstStyle/>
          <a:p>
            <a:pPr algn="l"/>
            <a:r>
              <a:rPr lang="ja-JP" altLang="en-US" sz="4000" b="1" dirty="0">
                <a:solidFill>
                  <a:srgbClr val="222222"/>
                </a:solidFill>
                <a:latin typeface="Yu Gothic"/>
                <a:ea typeface="Yu Gothic"/>
              </a:rPr>
              <a:t>入力</a:t>
            </a:r>
          </a:p>
        </p:txBody>
      </p:sp>
    </p:spTree>
    <p:extLst>
      <p:ext uri="{BB962C8B-B14F-4D97-AF65-F5344CB8AC3E}">
        <p14:creationId xmlns:p14="http://schemas.microsoft.com/office/powerpoint/2010/main" val="3598907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グループ化 9">
            <a:extLst>
              <a:ext uri="{FF2B5EF4-FFF2-40B4-BE49-F238E27FC236}">
                <a16:creationId xmlns:a16="http://schemas.microsoft.com/office/drawing/2014/main" id="{9BD478F2-93FB-7553-E103-A6B3839A5A0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D11835D-57AA-BE86-BCDE-68226B6025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B78E05A-DEF5-2D6B-B55B-DB82EC5920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E9B645-6430-60ED-1258-90350A0DD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D062015-C78C-B7BE-0F9C-81E88D230C4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0F8FF6D-0F13-7307-815B-B6A9447179C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1D664AF-D53E-642F-86FD-B1A855E2DB9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9CA5124-E45E-0CB1-1810-EE57DA2A98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A1028B-7828-4E23-A025-A2A2D2431A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17D89E3-8887-6561-DC46-CE8A5DF780C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489C4AE-4A0B-0D6B-1EBE-B87B0D4321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322874F-AD47-9232-CAC5-BCBEFE78F56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393E3CE-4414-5AEF-237E-CCB15579622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40D6A49-4FDE-F2E2-098C-1B68ABAF61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07D97A3-99DD-DF89-C8F5-40F48C6E3F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9EC6C07-FABB-D71C-DE41-019BC555F7B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t>9</a:t>
            </a:r>
          </a:p>
        </p:txBody>
      </p:sp>
      <p:graphicFrame>
        <p:nvGraphicFramePr>
          <p:cNvPr id="47" name="表 46">
            <a:extLst>
              <a:ext uri="{FF2B5EF4-FFF2-40B4-BE49-F238E27FC236}">
                <a16:creationId xmlns:a16="http://schemas.microsoft.com/office/drawing/2014/main" id="{CA17F5A5-19DF-44BA-8312-DB8A65D330AB}"/>
              </a:ext>
            </a:extLst>
          </p:cNvPr>
          <p:cNvGraphicFramePr>
            <a:graphicFrameLocks noGrp="1"/>
          </p:cNvGraphicFramePr>
          <p:nvPr>
            <p:extLst>
              <p:ext uri="{D42A27DB-BD31-4B8C-83A1-F6EECF244321}">
                <p14:modId xmlns:p14="http://schemas.microsoft.com/office/powerpoint/2010/main" val="2220346370"/>
              </p:ext>
            </p:extLst>
          </p:nvPr>
        </p:nvGraphicFramePr>
        <p:xfrm>
          <a:off x="1219200" y="1808480"/>
          <a:ext cx="16268702" cy="7368540"/>
        </p:xfrm>
        <a:graphic>
          <a:graphicData uri="http://schemas.openxmlformats.org/drawingml/2006/table">
            <a:tbl>
              <a:tblPr firstRow="1" bandRow="1">
                <a:tableStyleId>{5C22544A-7EE6-4342-B048-85BDC9FD1C3A}</a:tableStyleId>
              </a:tblPr>
              <a:tblGrid>
                <a:gridCol w="3162300">
                  <a:extLst>
                    <a:ext uri="{9D8B030D-6E8A-4147-A177-3AD203B41FA5}">
                      <a16:colId xmlns:a16="http://schemas.microsoft.com/office/drawing/2014/main" val="20000"/>
                    </a:ext>
                  </a:extLst>
                </a:gridCol>
                <a:gridCol w="4445000">
                  <a:extLst>
                    <a:ext uri="{9D8B030D-6E8A-4147-A177-3AD203B41FA5}">
                      <a16:colId xmlns:a16="http://schemas.microsoft.com/office/drawing/2014/main" val="2949312998"/>
                    </a:ext>
                  </a:extLst>
                </a:gridCol>
                <a:gridCol w="1443567">
                  <a:extLst>
                    <a:ext uri="{9D8B030D-6E8A-4147-A177-3AD203B41FA5}">
                      <a16:colId xmlns:a16="http://schemas.microsoft.com/office/drawing/2014/main" val="1609288016"/>
                    </a:ext>
                  </a:extLst>
                </a:gridCol>
                <a:gridCol w="1443567">
                  <a:extLst>
                    <a:ext uri="{9D8B030D-6E8A-4147-A177-3AD203B41FA5}">
                      <a16:colId xmlns:a16="http://schemas.microsoft.com/office/drawing/2014/main" val="4226321308"/>
                    </a:ext>
                  </a:extLst>
                </a:gridCol>
                <a:gridCol w="1443567">
                  <a:extLst>
                    <a:ext uri="{9D8B030D-6E8A-4147-A177-3AD203B41FA5}">
                      <a16:colId xmlns:a16="http://schemas.microsoft.com/office/drawing/2014/main" val="997688572"/>
                    </a:ext>
                  </a:extLst>
                </a:gridCol>
                <a:gridCol w="1443567">
                  <a:extLst>
                    <a:ext uri="{9D8B030D-6E8A-4147-A177-3AD203B41FA5}">
                      <a16:colId xmlns:a16="http://schemas.microsoft.com/office/drawing/2014/main" val="1418800255"/>
                    </a:ext>
                  </a:extLst>
                </a:gridCol>
                <a:gridCol w="1443567">
                  <a:extLst>
                    <a:ext uri="{9D8B030D-6E8A-4147-A177-3AD203B41FA5}">
                      <a16:colId xmlns:a16="http://schemas.microsoft.com/office/drawing/2014/main" val="4099334226"/>
                    </a:ext>
                  </a:extLst>
                </a:gridCol>
                <a:gridCol w="1443567">
                  <a:extLst>
                    <a:ext uri="{9D8B030D-6E8A-4147-A177-3AD203B41FA5}">
                      <a16:colId xmlns:a16="http://schemas.microsoft.com/office/drawing/2014/main" val="3902824841"/>
                    </a:ext>
                  </a:extLst>
                </a:gridCol>
              </a:tblGrid>
              <a:tr h="571500">
                <a:tc>
                  <a:txBody>
                    <a:bodyPr/>
                    <a:lstStyle/>
                    <a:p>
                      <a:pPr algn="ctr"/>
                      <a:r>
                        <a:rPr lang="ja-JP" sz="2400" b="1" dirty="0">
                          <a:solidFill>
                            <a:srgbClr val="FFFFFF"/>
                          </a:solidFill>
                          <a:latin typeface="游ゴシック" panose="020B0400000000000000" pitchFamily="50" charset="-128"/>
                          <a:ea typeface="游ゴシック" panose="020B0400000000000000" pitchFamily="50" charset="-128"/>
                        </a:rPr>
                        <a:t>大項目</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70A9AA"/>
                    </a:solidFill>
                  </a:tcPr>
                </a:tc>
                <a:tc>
                  <a:txBody>
                    <a:bodyPr/>
                    <a:lstStyle/>
                    <a:p>
                      <a:pPr algn="ctr"/>
                      <a:r>
                        <a:rPr lang="ja-JP" altLang="en-US" sz="2400" b="1" dirty="0">
                          <a:solidFill>
                            <a:srgbClr val="FFFFFF"/>
                          </a:solidFill>
                          <a:latin typeface="Yu Gothic"/>
                          <a:ea typeface="Yu Gothic"/>
                        </a:rPr>
                        <a:t>小項目</a:t>
                      </a:r>
                    </a:p>
                  </a:txBody>
                  <a:tcPr anchor="ctr">
                    <a:solidFill>
                      <a:srgbClr val="6FA7A8"/>
                    </a:solidFill>
                  </a:tcPr>
                </a:tc>
                <a:tc>
                  <a:txBody>
                    <a:bodyPr/>
                    <a:lstStyle/>
                    <a:p>
                      <a:pPr algn="ctr"/>
                      <a:r>
                        <a:rPr lang="ja-JP" altLang="en-US" sz="2400" b="1" dirty="0">
                          <a:solidFill>
                            <a:srgbClr val="FFFFFF"/>
                          </a:solidFill>
                          <a:latin typeface="Yu Gothic"/>
                          <a:ea typeface="Yu Gothic"/>
                        </a:rPr>
                        <a:t>9月</a:t>
                      </a:r>
                    </a:p>
                  </a:txBody>
                  <a:tcPr anchor="ctr">
                    <a:solidFill>
                      <a:srgbClr val="6FA7A8"/>
                    </a:solidFill>
                  </a:tcPr>
                </a:tc>
                <a:tc>
                  <a:txBody>
                    <a:bodyPr/>
                    <a:lstStyle/>
                    <a:p>
                      <a:pPr algn="ctr"/>
                      <a:r>
                        <a:rPr lang="ja-JP" altLang="en-US" sz="2400" b="1" dirty="0">
                          <a:solidFill>
                            <a:srgbClr val="FFFFFF"/>
                          </a:solidFill>
                          <a:latin typeface="Yu Gothic"/>
                          <a:ea typeface="Yu Gothic"/>
                        </a:rPr>
                        <a:t>10月</a:t>
                      </a:r>
                    </a:p>
                  </a:txBody>
                  <a:tcPr anchor="ctr">
                    <a:solidFill>
                      <a:srgbClr val="6FA7A8"/>
                    </a:solidFill>
                  </a:tcPr>
                </a:tc>
                <a:tc>
                  <a:txBody>
                    <a:bodyPr/>
                    <a:lstStyle/>
                    <a:p>
                      <a:pPr algn="ctr"/>
                      <a:r>
                        <a:rPr lang="ja-JP" altLang="en-US" sz="2400" b="1" dirty="0">
                          <a:solidFill>
                            <a:srgbClr val="FFFFFF"/>
                          </a:solidFill>
                          <a:latin typeface="Yu Gothic"/>
                          <a:ea typeface="Yu Gothic"/>
                        </a:rPr>
                        <a:t>11月</a:t>
                      </a:r>
                    </a:p>
                  </a:txBody>
                  <a:tcPr anchor="ctr">
                    <a:solidFill>
                      <a:srgbClr val="6FA7A8"/>
                    </a:solidFill>
                  </a:tcPr>
                </a:tc>
                <a:tc>
                  <a:txBody>
                    <a:bodyPr/>
                    <a:lstStyle/>
                    <a:p>
                      <a:pPr algn="ctr"/>
                      <a:r>
                        <a:rPr lang="ja-JP" altLang="en-US" sz="2400" b="1" dirty="0">
                          <a:solidFill>
                            <a:srgbClr val="FFFFFF"/>
                          </a:solidFill>
                          <a:latin typeface="Yu Gothic"/>
                          <a:ea typeface="Yu Gothic"/>
                        </a:rPr>
                        <a:t>12月</a:t>
                      </a:r>
                    </a:p>
                  </a:txBody>
                  <a:tcPr anchor="ctr">
                    <a:solidFill>
                      <a:srgbClr val="6FA7A8"/>
                    </a:solidFill>
                  </a:tcPr>
                </a:tc>
                <a:tc>
                  <a:txBody>
                    <a:bodyPr/>
                    <a:lstStyle/>
                    <a:p>
                      <a:pPr algn="ctr"/>
                      <a:r>
                        <a:rPr lang="ja-JP" altLang="en-US" sz="2400" b="1" dirty="0">
                          <a:solidFill>
                            <a:srgbClr val="FFFFFF"/>
                          </a:solidFill>
                          <a:latin typeface="Yu Gothic"/>
                          <a:ea typeface="Yu Gothic"/>
                        </a:rPr>
                        <a:t>1月</a:t>
                      </a:r>
                    </a:p>
                  </a:txBody>
                  <a:tcPr anchor="ctr">
                    <a:solidFill>
                      <a:srgbClr val="6FA7A8"/>
                    </a:solidFill>
                  </a:tcPr>
                </a:tc>
                <a:tc>
                  <a:txBody>
                    <a:bodyPr/>
                    <a:lstStyle/>
                    <a:p>
                      <a:pPr algn="ctr"/>
                      <a:r>
                        <a:rPr lang="ja-JP" altLang="en-US" sz="2400" b="1" dirty="0">
                          <a:solidFill>
                            <a:srgbClr val="FFFFFF"/>
                          </a:solidFill>
                          <a:latin typeface="Yu Gothic"/>
                          <a:ea typeface="Yu Gothic"/>
                        </a:rPr>
                        <a:t>2月</a:t>
                      </a:r>
                    </a:p>
                  </a:txBody>
                  <a:tcPr anchor="ctr">
                    <a:solidFill>
                      <a:srgbClr val="6FA7A8"/>
                    </a:solidFill>
                  </a:tcPr>
                </a:tc>
                <a:extLst>
                  <a:ext uri="{0D108BD9-81ED-4DB2-BD59-A6C34878D82A}">
                    <a16:rowId xmlns:a16="http://schemas.microsoft.com/office/drawing/2014/main" val="332735817"/>
                  </a:ext>
                </a:extLst>
              </a:tr>
              <a:tr h="558800">
                <a:tc rowSpan="3">
                  <a:txBody>
                    <a:bodyPr/>
                    <a:lstStyle/>
                    <a:p>
                      <a:pPr algn="l"/>
                      <a:r>
                        <a:rPr lang="ja-JP" sz="2400" b="1" dirty="0">
                          <a:solidFill>
                            <a:srgbClr val="17333A"/>
                          </a:solidFill>
                          <a:latin typeface="游ゴシック" panose="020B0400000000000000" pitchFamily="50" charset="-128"/>
                          <a:ea typeface="游ゴシック" panose="020B0400000000000000" pitchFamily="50" charset="-128"/>
                        </a:rPr>
                        <a:t>① 評価設計・学習</a:t>
                      </a:r>
                      <a:endParaRPr lang="ja-JP" sz="2400" dirty="0">
                        <a:latin typeface="游ゴシック" panose="020B0400000000000000" pitchFamily="50" charset="-128"/>
                        <a:ea typeface="游ゴシック" panose="020B0400000000000000" pitchFamily="50" charset="-128"/>
                      </a:endParaRPr>
                    </a:p>
                    <a:p>
                      <a:pPr algn="l"/>
                      <a:r>
                        <a:rPr lang="ja-JP" sz="2400" b="1" dirty="0">
                          <a:solidFill>
                            <a:srgbClr val="17333A"/>
                          </a:solidFill>
                          <a:latin typeface="游ゴシック" panose="020B0400000000000000" pitchFamily="50" charset="-128"/>
                          <a:ea typeface="游ゴシック" panose="020B0400000000000000" pitchFamily="50" charset="-128"/>
                        </a:rPr>
                        <a:t>データの確定</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実験別に学習／テストデータを分割の実装</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1572772760"/>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a:solidFill>
                            <a:srgbClr val="1B1F23"/>
                          </a:solidFill>
                          <a:latin typeface="Yu Gothic"/>
                          <a:ea typeface="Yu Gothic"/>
                        </a:rPr>
                        <a:t>沸騰後のデータで閾値を設定・スクリーニング実装</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781850233"/>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上記実装でアンサンブル検証（全条件）</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2509159921"/>
                  </a:ext>
                </a:extLst>
              </a:tr>
              <a:tr h="558800">
                <a:tc rowSpan="3">
                  <a:txBody>
                    <a:bodyPr/>
                    <a:lstStyle/>
                    <a:p>
                      <a:pPr algn="l"/>
                      <a:r>
                        <a:rPr lang="ja-JP" sz="2400" b="1">
                          <a:solidFill>
                            <a:srgbClr val="17333A"/>
                          </a:solidFill>
                          <a:latin typeface="游ゴシック" panose="020B0400000000000000" pitchFamily="50" charset="-128"/>
                          <a:ea typeface="游ゴシック" panose="020B0400000000000000" pitchFamily="50" charset="-128"/>
                        </a:rPr>
                        <a:t>② アンサンブル手法</a:t>
                      </a:r>
                      <a:endParaRPr lang="ja-JP" sz="2400">
                        <a:latin typeface="游ゴシック" panose="020B0400000000000000" pitchFamily="50" charset="-128"/>
                        <a:ea typeface="游ゴシック" panose="020B0400000000000000" pitchFamily="50" charset="-128"/>
                      </a:endParaRPr>
                    </a:p>
                    <a:p>
                      <a:pPr algn="l"/>
                      <a:r>
                        <a:rPr lang="ja-JP" sz="2400" b="1">
                          <a:solidFill>
                            <a:srgbClr val="17333A"/>
                          </a:solidFill>
                          <a:latin typeface="游ゴシック" panose="020B0400000000000000" pitchFamily="50" charset="-128"/>
                          <a:ea typeface="游ゴシック" panose="020B0400000000000000" pitchFamily="50" charset="-128"/>
                        </a:rPr>
                        <a:t>の確立</a:t>
                      </a:r>
                      <a:endParaRPr lang="ja-JP" sz="240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必要なら</a:t>
                      </a:r>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単体モデルを下回る条件・要因を調査・整理</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4062821586"/>
                  </a:ext>
                </a:extLst>
              </a:tr>
              <a:tr h="558800">
                <a:tc vMerge="1">
                  <a:txBody>
                    <a:bodyPr/>
                    <a:lstStyle/>
                    <a:p>
                      <a:pPr algn="l"/>
                      <a:endParaRPr lang="ja-JP" sz="2000"/>
                    </a:p>
                  </a:txBody>
                  <a:tcPr marL="127000" marR="76200" anchor="ctr">
                    <a:solidFill>
                      <a:srgbClr val="9EC5C5"/>
                    </a:solidFill>
                  </a:tcPr>
                </a:tc>
                <a:tc>
                  <a:txBody>
                    <a:bodyPr/>
                    <a:lstStyle/>
                    <a:p>
                      <a:pPr algn="l"/>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必要なら</a:t>
                      </a:r>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必要に応じて新たなアンサンブル手法を調査・実装</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1586278673"/>
                  </a:ext>
                </a:extLst>
              </a:tr>
              <a:tr h="558800">
                <a:tc vMerge="1">
                  <a:txBody>
                    <a:bodyPr/>
                    <a:lstStyle/>
                    <a:p>
                      <a:pPr algn="l"/>
                      <a:endParaRPr lang="ja-JP" sz="2000"/>
                    </a:p>
                  </a:txBody>
                  <a:tcPr marL="127000" marR="76200" anchor="ctr">
                    <a:solidFill>
                      <a:srgbClr val="9EC5C5"/>
                    </a:solidFill>
                  </a:tcPr>
                </a:tc>
                <a:tc>
                  <a:txBody>
                    <a:bodyPr/>
                    <a:lstStyle/>
                    <a:p>
                      <a:pPr algn="l"/>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必要なら</a:t>
                      </a:r>
                      <a:r>
                        <a:rPr lang="en-US" altLang="ja-JP" sz="1800" b="1" dirty="0">
                          <a:solidFill>
                            <a:srgbClr val="1B1F23"/>
                          </a:solidFill>
                          <a:latin typeface="Yu Gothic"/>
                          <a:ea typeface="Yu Gothic"/>
                        </a:rPr>
                        <a:t>】</a:t>
                      </a:r>
                      <a:r>
                        <a:rPr lang="ja-JP" altLang="en-US" sz="1800" b="1" dirty="0">
                          <a:solidFill>
                            <a:srgbClr val="1B1F23"/>
                          </a:solidFill>
                          <a:latin typeface="Yu Gothic"/>
                          <a:ea typeface="Yu Gothic"/>
                        </a:rPr>
                        <a:t>複数手法の比較でアンサンブル方法を確定</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1272385712"/>
                  </a:ext>
                </a:extLst>
              </a:tr>
              <a:tr h="558800">
                <a:tc rowSpan="2">
                  <a:txBody>
                    <a:bodyPr/>
                    <a:lstStyle/>
                    <a:p>
                      <a:pPr algn="l"/>
                      <a:r>
                        <a:rPr lang="ja-JP" sz="2400" b="1">
                          <a:solidFill>
                            <a:srgbClr val="17333A"/>
                          </a:solidFill>
                          <a:latin typeface="游ゴシック" panose="020B0400000000000000" pitchFamily="50" charset="-128"/>
                          <a:ea typeface="游ゴシック" panose="020B0400000000000000" pitchFamily="50" charset="-128"/>
                        </a:rPr>
                        <a:t>③ 説明性を用いた要</a:t>
                      </a:r>
                      <a:endParaRPr lang="ja-JP" sz="2400">
                        <a:latin typeface="游ゴシック" panose="020B0400000000000000" pitchFamily="50" charset="-128"/>
                        <a:ea typeface="游ゴシック" panose="020B0400000000000000" pitchFamily="50" charset="-128"/>
                      </a:endParaRPr>
                    </a:p>
                    <a:p>
                      <a:pPr algn="l"/>
                      <a:r>
                        <a:rPr lang="ja-JP" sz="2400" b="1">
                          <a:solidFill>
                            <a:srgbClr val="17333A"/>
                          </a:solidFill>
                          <a:latin typeface="游ゴシック" panose="020B0400000000000000" pitchFamily="50" charset="-128"/>
                          <a:ea typeface="游ゴシック" panose="020B0400000000000000" pitchFamily="50" charset="-128"/>
                        </a:rPr>
                        <a:t>因分析・検証</a:t>
                      </a:r>
                      <a:endParaRPr lang="ja-JP" sz="240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説明性指標で特徴利用を可視化・比較</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3067697552"/>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各指標を踏まえて学習・推論パイプラインに活用できるか模索・実装・考察</a:t>
                      </a: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a:solidFill>
                          <a:srgbClr val="1B1F23"/>
                        </a:solidFill>
                        <a:latin typeface="Yu Gothic"/>
                        <a:ea typeface="Yu Gothic"/>
                      </a:endParaRPr>
                    </a:p>
                  </a:txBody>
                  <a:tcPr anchor="ctr">
                    <a:solidFill>
                      <a:srgbClr val="E5EEEE"/>
                    </a:solidFill>
                  </a:tcPr>
                </a:tc>
                <a:tc>
                  <a:txBody>
                    <a:bodyPr/>
                    <a:lstStyle/>
                    <a:p>
                      <a:pPr algn="ctr"/>
                      <a:endParaRPr lang="ja-JP" altLang="en-US" sz="1100" b="0" dirty="0">
                        <a:solidFill>
                          <a:srgbClr val="1B1F23"/>
                        </a:solidFill>
                        <a:latin typeface="Yu Gothic"/>
                        <a:ea typeface="Yu Gothic"/>
                      </a:endParaRPr>
                    </a:p>
                  </a:txBody>
                  <a:tcPr anchor="ctr">
                    <a:solidFill>
                      <a:srgbClr val="E5EEEE"/>
                    </a:solidFill>
                  </a:tcPr>
                </a:tc>
                <a:extLst>
                  <a:ext uri="{0D108BD9-81ED-4DB2-BD59-A6C34878D82A}">
                    <a16:rowId xmlns:a16="http://schemas.microsoft.com/office/drawing/2014/main" val="1711701246"/>
                  </a:ext>
                </a:extLst>
              </a:tr>
              <a:tr h="558800">
                <a:tc rowSpan="3">
                  <a:txBody>
                    <a:bodyPr/>
                    <a:lstStyle/>
                    <a:p>
                      <a:pPr algn="l"/>
                      <a:r>
                        <a:rPr lang="ja-JP" sz="2400" b="1" dirty="0">
                          <a:solidFill>
                            <a:srgbClr val="17333A"/>
                          </a:solidFill>
                          <a:latin typeface="游ゴシック" panose="020B0400000000000000" pitchFamily="50" charset="-128"/>
                          <a:ea typeface="游ゴシック" panose="020B0400000000000000" pitchFamily="50" charset="-128"/>
                        </a:rPr>
                        <a:t>④ 修論執筆・発表準</a:t>
                      </a:r>
                      <a:endParaRPr lang="ja-JP" sz="2400" dirty="0">
                        <a:latin typeface="游ゴシック" panose="020B0400000000000000" pitchFamily="50" charset="-128"/>
                        <a:ea typeface="游ゴシック" panose="020B0400000000000000" pitchFamily="50" charset="-128"/>
                      </a:endParaRPr>
                    </a:p>
                    <a:p>
                      <a:pPr algn="l"/>
                      <a:r>
                        <a:rPr lang="ja-JP" sz="2400" b="1" dirty="0">
                          <a:solidFill>
                            <a:srgbClr val="17333A"/>
                          </a:solidFill>
                          <a:latin typeface="游ゴシック" panose="020B0400000000000000" pitchFamily="50" charset="-128"/>
                          <a:ea typeface="游ゴシック" panose="020B0400000000000000" pitchFamily="50" charset="-128"/>
                        </a:rPr>
                        <a:t>備</a:t>
                      </a:r>
                      <a:endParaRPr lang="ja-JP" sz="2400" dirty="0">
                        <a:latin typeface="游ゴシック" panose="020B0400000000000000" pitchFamily="50" charset="-128"/>
                        <a:ea typeface="游ゴシック" panose="020B0400000000000000" pitchFamily="50" charset="-128"/>
                      </a:endParaRPr>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背景・実験方法（など書ける範囲から進める）</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dirty="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4189449433"/>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結果・考察・結論の整理</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dirty="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2180864456"/>
                  </a:ext>
                </a:extLst>
              </a:tr>
              <a:tr h="558800">
                <a:tc vMerge="1">
                  <a:txBody>
                    <a:bodyPr/>
                    <a:lstStyle/>
                    <a:p>
                      <a:pPr algn="l"/>
                      <a:endParaRPr lang="ja-JP" sz="2000"/>
                    </a:p>
                  </a:txBody>
                  <a:tcPr marL="127000" marR="76200" anchor="ctr">
                    <a:solidFill>
                      <a:srgbClr val="9EC5C5"/>
                    </a:solidFill>
                  </a:tcPr>
                </a:tc>
                <a:tc>
                  <a:txBody>
                    <a:bodyPr/>
                    <a:lstStyle/>
                    <a:p>
                      <a:pPr algn="l"/>
                      <a:r>
                        <a:rPr lang="ja-JP" altLang="en-US" sz="1800" b="1" dirty="0">
                          <a:solidFill>
                            <a:srgbClr val="1B1F23"/>
                          </a:solidFill>
                          <a:latin typeface="Yu Gothic"/>
                          <a:ea typeface="Yu Gothic"/>
                        </a:rPr>
                        <a:t>論文執筆完了・発表資料作成・発表練習など</a:t>
                      </a: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a:solidFill>
                          <a:srgbClr val="1B1F23"/>
                        </a:solidFill>
                        <a:latin typeface="Yu Gothic"/>
                        <a:ea typeface="Yu Gothic"/>
                      </a:endParaRPr>
                    </a:p>
                  </a:txBody>
                  <a:tcPr anchor="ctr">
                    <a:solidFill>
                      <a:srgbClr val="F3F6F6"/>
                    </a:solidFill>
                  </a:tcPr>
                </a:tc>
                <a:tc>
                  <a:txBody>
                    <a:bodyPr/>
                    <a:lstStyle/>
                    <a:p>
                      <a:pPr algn="ctr"/>
                      <a:endParaRPr lang="ja-JP" altLang="en-US" sz="1100" b="0" dirty="0">
                        <a:solidFill>
                          <a:srgbClr val="1B1F23"/>
                        </a:solidFill>
                        <a:latin typeface="Yu Gothic"/>
                        <a:ea typeface="Yu Gothic"/>
                      </a:endParaRPr>
                    </a:p>
                  </a:txBody>
                  <a:tcPr anchor="ctr">
                    <a:solidFill>
                      <a:srgbClr val="F3F6F6"/>
                    </a:solidFill>
                  </a:tcPr>
                </a:tc>
                <a:extLst>
                  <a:ext uri="{0D108BD9-81ED-4DB2-BD59-A6C34878D82A}">
                    <a16:rowId xmlns:a16="http://schemas.microsoft.com/office/drawing/2014/main" val="3473157597"/>
                  </a:ext>
                </a:extLst>
              </a:tr>
            </a:tbl>
          </a:graphicData>
        </a:graphic>
      </p:graphicFrame>
      <p:sp>
        <p:nvSpPr>
          <p:cNvPr id="59" name="矢印: 右 58">
            <a:extLst>
              <a:ext uri="{FF2B5EF4-FFF2-40B4-BE49-F238E27FC236}">
                <a16:creationId xmlns:a16="http://schemas.microsoft.com/office/drawing/2014/main" id="{D34DF569-FC79-4BB4-8B5E-7C19524629EA}"/>
              </a:ext>
            </a:extLst>
          </p:cNvPr>
          <p:cNvSpPr/>
          <p:nvPr/>
        </p:nvSpPr>
        <p:spPr>
          <a:xfrm>
            <a:off x="9620461" y="2418080"/>
            <a:ext cx="938318" cy="520700"/>
          </a:xfrm>
          <a:prstGeom prst="rightArrow">
            <a:avLst/>
          </a:prstGeom>
          <a:solidFill>
            <a:schemeClr val="bg1">
              <a:lumMod val="75000"/>
              <a:alpha val="93333"/>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0" name="矢印: 右 59">
            <a:extLst>
              <a:ext uri="{FF2B5EF4-FFF2-40B4-BE49-F238E27FC236}">
                <a16:creationId xmlns:a16="http://schemas.microsoft.com/office/drawing/2014/main" id="{8236D079-26BE-4267-B3E8-D7B70D31F6EA}"/>
              </a:ext>
            </a:extLst>
          </p:cNvPr>
          <p:cNvSpPr/>
          <p:nvPr/>
        </p:nvSpPr>
        <p:spPr>
          <a:xfrm>
            <a:off x="9620461" y="3022600"/>
            <a:ext cx="938318" cy="520700"/>
          </a:xfrm>
          <a:prstGeom prst="rightArrow">
            <a:avLst/>
          </a:prstGeom>
          <a:solidFill>
            <a:schemeClr val="bg1">
              <a:lumMod val="75000"/>
              <a:alpha val="93333"/>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1" name="矢印: 右 60">
            <a:extLst>
              <a:ext uri="{FF2B5EF4-FFF2-40B4-BE49-F238E27FC236}">
                <a16:creationId xmlns:a16="http://schemas.microsoft.com/office/drawing/2014/main" id="{598DB384-3834-4A6E-88C7-56ED64B1610A}"/>
              </a:ext>
            </a:extLst>
          </p:cNvPr>
          <p:cNvSpPr/>
          <p:nvPr/>
        </p:nvSpPr>
        <p:spPr>
          <a:xfrm>
            <a:off x="9982200" y="3713480"/>
            <a:ext cx="576579"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2" name="矢印: 右 61">
            <a:extLst>
              <a:ext uri="{FF2B5EF4-FFF2-40B4-BE49-F238E27FC236}">
                <a16:creationId xmlns:a16="http://schemas.microsoft.com/office/drawing/2014/main" id="{4938EDE1-97DD-420B-AF51-448FC8A8F529}"/>
              </a:ext>
            </a:extLst>
          </p:cNvPr>
          <p:cNvSpPr/>
          <p:nvPr/>
        </p:nvSpPr>
        <p:spPr>
          <a:xfrm>
            <a:off x="9981353" y="4331970"/>
            <a:ext cx="1010496"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3" name="矢印: 右 62">
            <a:extLst>
              <a:ext uri="{FF2B5EF4-FFF2-40B4-BE49-F238E27FC236}">
                <a16:creationId xmlns:a16="http://schemas.microsoft.com/office/drawing/2014/main" id="{0AE1CEB5-7EBA-4989-96FD-CBE69C6CF335}"/>
              </a:ext>
            </a:extLst>
          </p:cNvPr>
          <p:cNvSpPr/>
          <p:nvPr/>
        </p:nvSpPr>
        <p:spPr>
          <a:xfrm>
            <a:off x="11485562" y="4911090"/>
            <a:ext cx="938318"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4" name="矢印: 右 63">
            <a:extLst>
              <a:ext uri="{FF2B5EF4-FFF2-40B4-BE49-F238E27FC236}">
                <a16:creationId xmlns:a16="http://schemas.microsoft.com/office/drawing/2014/main" id="{EA5FB593-F8A7-47ED-8FE0-2DEC3D5FBF3D}"/>
              </a:ext>
            </a:extLst>
          </p:cNvPr>
          <p:cNvSpPr/>
          <p:nvPr/>
        </p:nvSpPr>
        <p:spPr>
          <a:xfrm>
            <a:off x="11706331" y="5582972"/>
            <a:ext cx="692912"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5" name="矢印: 右 64">
            <a:extLst>
              <a:ext uri="{FF2B5EF4-FFF2-40B4-BE49-F238E27FC236}">
                <a16:creationId xmlns:a16="http://schemas.microsoft.com/office/drawing/2014/main" id="{08F95DCF-0470-4027-83DB-67FE192B535C}"/>
              </a:ext>
            </a:extLst>
          </p:cNvPr>
          <p:cNvSpPr/>
          <p:nvPr/>
        </p:nvSpPr>
        <p:spPr>
          <a:xfrm>
            <a:off x="9620461" y="6162040"/>
            <a:ext cx="1371388" cy="520700"/>
          </a:xfrm>
          <a:prstGeom prst="rightArrow">
            <a:avLst/>
          </a:prstGeom>
          <a:solidFill>
            <a:schemeClr val="bg1">
              <a:lumMod val="75000"/>
              <a:alpha val="93333"/>
            </a:scheme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66" name="矢印: 右 65">
            <a:extLst>
              <a:ext uri="{FF2B5EF4-FFF2-40B4-BE49-F238E27FC236}">
                <a16:creationId xmlns:a16="http://schemas.microsoft.com/office/drawing/2014/main" id="{034692D6-33FA-4224-BC94-AEBDF0ACEF64}"/>
              </a:ext>
            </a:extLst>
          </p:cNvPr>
          <p:cNvSpPr/>
          <p:nvPr/>
        </p:nvSpPr>
        <p:spPr>
          <a:xfrm>
            <a:off x="10515600" y="6775554"/>
            <a:ext cx="1896343"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dirty="0"/>
          </a:p>
        </p:txBody>
      </p:sp>
      <p:sp>
        <p:nvSpPr>
          <p:cNvPr id="69" name="矢印: 右 68">
            <a:extLst>
              <a:ext uri="{FF2B5EF4-FFF2-40B4-BE49-F238E27FC236}">
                <a16:creationId xmlns:a16="http://schemas.microsoft.com/office/drawing/2014/main" id="{EAC33907-6CA1-4E71-B9D5-716E2E981F75}"/>
              </a:ext>
            </a:extLst>
          </p:cNvPr>
          <p:cNvSpPr/>
          <p:nvPr/>
        </p:nvSpPr>
        <p:spPr>
          <a:xfrm>
            <a:off x="10558779" y="7429500"/>
            <a:ext cx="2381887"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70" name="矢印: 右 69">
            <a:extLst>
              <a:ext uri="{FF2B5EF4-FFF2-40B4-BE49-F238E27FC236}">
                <a16:creationId xmlns:a16="http://schemas.microsoft.com/office/drawing/2014/main" id="{E72717AE-64DA-45FB-BB23-5FE9D2D1929D}"/>
              </a:ext>
            </a:extLst>
          </p:cNvPr>
          <p:cNvSpPr/>
          <p:nvPr/>
        </p:nvSpPr>
        <p:spPr>
          <a:xfrm>
            <a:off x="13229379" y="8064500"/>
            <a:ext cx="1082675"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71" name="矢印: 右 70">
            <a:extLst>
              <a:ext uri="{FF2B5EF4-FFF2-40B4-BE49-F238E27FC236}">
                <a16:creationId xmlns:a16="http://schemas.microsoft.com/office/drawing/2014/main" id="{73B7A278-A94A-4AF4-AC8E-F2A1B5321EB6}"/>
              </a:ext>
            </a:extLst>
          </p:cNvPr>
          <p:cNvSpPr/>
          <p:nvPr/>
        </p:nvSpPr>
        <p:spPr>
          <a:xfrm>
            <a:off x="14889481" y="8623300"/>
            <a:ext cx="1660102" cy="520700"/>
          </a:xfrm>
          <a:prstGeom prst="rightArrow">
            <a:avLst/>
          </a:prstGeom>
          <a:solidFill>
            <a:srgbClr val="FF9E3D">
              <a:alpha val="93333"/>
            </a:srgbClr>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endParaRPr kumimoji="1" lang="ja-JP" altLang="en-US"/>
          </a:p>
        </p:txBody>
      </p:sp>
      <p:sp>
        <p:nvSpPr>
          <p:cNvPr id="3" name="TextBox 24">
            <a:extLst>
              <a:ext uri="{FF2B5EF4-FFF2-40B4-BE49-F238E27FC236}">
                <a16:creationId xmlns:a16="http://schemas.microsoft.com/office/drawing/2014/main" id="{2A01B58C-24A4-65F3-D0FA-817BFF85E8E3}"/>
              </a:ext>
            </a:extLst>
          </p:cNvPr>
          <p:cNvSpPr txBox="1"/>
          <p:nvPr/>
        </p:nvSpPr>
        <p:spPr>
          <a:xfrm>
            <a:off x="1806795" y="305043"/>
            <a:ext cx="9652000" cy="700576"/>
          </a:xfrm>
          <a:prstGeom prst="rect">
            <a:avLst/>
          </a:prstGeom>
        </p:spPr>
        <p:txBody>
          <a:bodyPr wrap="square" lIns="0" tIns="0" rIns="0" bIns="0" rtlCol="0" anchor="t">
            <a:normAutofit/>
          </a:bodyPr>
          <a:lstStyle/>
          <a:p>
            <a:pPr algn="l">
              <a:lnSpc>
                <a:spcPts val="5880"/>
              </a:lnSpc>
              <a:spcBef>
                <a:spcPct val="0"/>
              </a:spcBef>
            </a:pPr>
            <a:r>
              <a:rPr lang="en-US" altLang="ja-JP" sz="3000" b="1" dirty="0">
                <a:solidFill>
                  <a:srgbClr val="202020"/>
                </a:solidFill>
                <a:latin typeface="Yu Gothic"/>
                <a:ea typeface="Yu Gothic"/>
              </a:rPr>
              <a:t>4. </a:t>
            </a:r>
            <a:r>
              <a:rPr lang="ja-JP" altLang="en-US" sz="3000" b="1" dirty="0">
                <a:solidFill>
                  <a:srgbClr val="202020"/>
                </a:solidFill>
                <a:latin typeface="Yu Gothic"/>
                <a:ea typeface="Yu Gothic"/>
              </a:rPr>
              <a:t>後期の研究計画</a:t>
            </a:r>
          </a:p>
        </p:txBody>
      </p:sp>
      <p:sp>
        <p:nvSpPr>
          <p:cNvPr id="4" name="テキスト ボックス 3">
            <a:extLst>
              <a:ext uri="{FF2B5EF4-FFF2-40B4-BE49-F238E27FC236}">
                <a16:creationId xmlns:a16="http://schemas.microsoft.com/office/drawing/2014/main" id="{095A5FCC-5388-65C1-12BE-4C017000DFAF}"/>
              </a:ext>
            </a:extLst>
          </p:cNvPr>
          <p:cNvSpPr txBox="1"/>
          <p:nvPr/>
        </p:nvSpPr>
        <p:spPr>
          <a:xfrm>
            <a:off x="10125710" y="2479040"/>
            <a:ext cx="1400386" cy="1003300"/>
          </a:xfrm>
          <a:prstGeom prst="rect">
            <a:avLst/>
          </a:prstGeom>
          <a:noFill/>
          <a:ln>
            <a:noFill/>
          </a:ln>
        </p:spPr>
        <p:txBody>
          <a:bodyPr vertOverflow="overflow" vert="horz" wrap="square" rtlCol="0" anchor="ctr" anchorCtr="0">
            <a:noAutofit/>
          </a:bodyPr>
          <a:lstStyle/>
          <a:p>
            <a:r>
              <a:rPr lang="ja-JP" altLang="en-US" sz="2800" b="1" dirty="0">
                <a:latin typeface="游ゴシック" panose="020B0400000000000000" pitchFamily="50" charset="-128"/>
                <a:ea typeface="游ゴシック" panose="020B0400000000000000" pitchFamily="50" charset="-128"/>
              </a:rPr>
              <a:t>今ここ</a:t>
            </a:r>
            <a:endParaRPr lang="ja-JP" altLang="en-US" sz="2800" b="1" dirty="0">
              <a:solidFill>
                <a:srgbClr val="222222"/>
              </a:solidFill>
              <a:latin typeface="游ゴシック" panose="020B0400000000000000" pitchFamily="50" charset="-128"/>
              <a:ea typeface="游ゴシック" panose="020B0400000000000000" pitchFamily="50" charset="-128"/>
            </a:endParaRPr>
          </a:p>
        </p:txBody>
      </p:sp>
      <p:sp>
        <p:nvSpPr>
          <p:cNvPr id="6" name="テキスト ボックス 5">
            <a:extLst>
              <a:ext uri="{FF2B5EF4-FFF2-40B4-BE49-F238E27FC236}">
                <a16:creationId xmlns:a16="http://schemas.microsoft.com/office/drawing/2014/main" id="{B5411C9D-E9FD-84BD-1353-69D239F0FB69}"/>
              </a:ext>
            </a:extLst>
          </p:cNvPr>
          <p:cNvSpPr txBox="1"/>
          <p:nvPr/>
        </p:nvSpPr>
        <p:spPr>
          <a:xfrm>
            <a:off x="10125710" y="5920740"/>
            <a:ext cx="1400386" cy="1003300"/>
          </a:xfrm>
          <a:prstGeom prst="rect">
            <a:avLst/>
          </a:prstGeom>
          <a:noFill/>
          <a:ln>
            <a:noFill/>
          </a:ln>
        </p:spPr>
        <p:txBody>
          <a:bodyPr vertOverflow="overflow" vert="horz" wrap="square" rtlCol="0" anchor="ctr" anchorCtr="0">
            <a:noAutofit/>
          </a:bodyPr>
          <a:lstStyle/>
          <a:p>
            <a:r>
              <a:rPr lang="ja-JP" altLang="en-US" sz="2800" b="1" dirty="0">
                <a:latin typeface="游ゴシック" panose="020B0400000000000000" pitchFamily="50" charset="-128"/>
                <a:ea typeface="游ゴシック" panose="020B0400000000000000" pitchFamily="50" charset="-128"/>
              </a:rPr>
              <a:t>今ここ</a:t>
            </a:r>
            <a:endParaRPr lang="ja-JP" altLang="en-US" sz="2800" b="1" dirty="0">
              <a:solidFill>
                <a:srgbClr val="222222"/>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952502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D7A1B7-69B7-4925-99B8-A306950AE00F}">
  <we:reference id="wa200010001" version="1.0.0.1" store="ja-JP" storeType="OMEX"/>
  <we:alternateReferences>
    <we:reference id="WA200010001" version="1.0.0.1" store="WA200010001" storeType="OMEX"/>
  </we:alternateReferences>
  <we:properties>
    <we:property name="claude.fileId" value="&quot;47c20542-9aa0-420f-8b84-a53bce3b6a3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1E0504D-397B-4E0E-9870-3BF79C012794}">
  <we:reference id="wa200010215" version="2.0.0.1" store="ja-JP" storeType="OMEX"/>
  <we:alternateReferences>
    <we:reference id="WA200010215" version="2.0.0.1" store="WA200010215" storeType="OMEX"/>
  </we:alternateReferences>
  <we:properties>
    <we:property name="bps.codex_control.document_id" value="&quot;923187e9-0861-413e-9a76-03a2dc2aca9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27194</TotalTime>
  <Words>469</Words>
  <Application>Microsoft Office PowerPoint</Application>
  <PresentationFormat>ユーザー設定</PresentationFormat>
  <Paragraphs>100</Paragraphs>
  <Slides>8</Slides>
  <Notes>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8</vt:i4>
      </vt:variant>
    </vt:vector>
  </HeadingPairs>
  <TitlesOfParts>
    <vt:vector size="18" baseType="lpstr">
      <vt:lpstr>游ゴシック</vt:lpstr>
      <vt:lpstr>游ゴシック</vt:lpstr>
      <vt:lpstr>Century Gothic Paneuropean</vt:lpstr>
      <vt:lpstr>Source Han Sans JP Bold</vt:lpstr>
      <vt:lpstr>Arial</vt:lpstr>
      <vt:lpstr>Source Han Sans JP</vt:lpstr>
      <vt:lpstr>ＭＳ Ｐゴシック</vt:lpstr>
      <vt:lpstr>Calibri</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258</cp:revision>
  <dcterms:created xsi:type="dcterms:W3CDTF">2006-08-16T00:00:00Z</dcterms:created>
  <dcterms:modified xsi:type="dcterms:W3CDTF">2026-10-14T11:14:20Z</dcterms:modified>
  <dc:identifier>DAGKJCfN4aw</dc:identifier>
</cp:coreProperties>
</file>