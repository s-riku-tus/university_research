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16"/>
  </p:notesMasterIdLst>
  <p:sldIdLst>
    <p:sldId id="399" r:id="rId2"/>
    <p:sldId id="501" r:id="rId3"/>
    <p:sldId id="401" r:id="rId4"/>
    <p:sldId id="521" r:id="rId5"/>
    <p:sldId id="402" r:id="rId6"/>
    <p:sldId id="520" r:id="rId7"/>
    <p:sldId id="522" r:id="rId8"/>
    <p:sldId id="403" r:id="rId9"/>
    <p:sldId id="404" r:id="rId10"/>
    <p:sldId id="406" r:id="rId11"/>
    <p:sldId id="407" r:id="rId12"/>
    <p:sldId id="523" r:id="rId13"/>
    <p:sldId id="408" r:id="rId14"/>
    <p:sldId id="515" r:id="rId15"/>
  </p:sldIdLst>
  <p:sldSz cx="18288000" cy="10287000"/>
  <p:notesSz cx="6858000" cy="9144000"/>
  <p:embeddedFontLst>
    <p:embeddedFont>
      <p:font typeface="Source Han Sans JP" panose="020B0600070205080204" charset="-128"/>
      <p:regular r:id="rId17"/>
    </p:embeddedFont>
    <p:embeddedFont>
      <p:font typeface="Source Han Sans JP Bold" panose="020B0600070205080204" charset="-128"/>
      <p:regular r:id="rId18"/>
    </p:embeddedFont>
    <p:embeddedFont>
      <p:font typeface="Century Gothic Paneuropean" panose="020B0600070205080204" charset="0"/>
      <p:regular r:id="rId19"/>
    </p:embeddedFont>
    <p:embeddedFont>
      <p:font typeface="游ゴシック" panose="020B0400000000000000" pitchFamily="50" charset="-128"/>
      <p:regular r:id="rId20"/>
      <p:bold r:id="rId21"/>
    </p:embeddedFont>
    <p:embeddedFont>
      <p:font typeface="游ゴシック" panose="020B0400000000000000" pitchFamily="50" charset="-128"/>
      <p:regular r:id="rId20"/>
      <p:bold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17173"/>
    <a:srgbClr val="FEA349"/>
    <a:srgbClr val="ECF1F1"/>
    <a:srgbClr val="BED8D7"/>
    <a:srgbClr val="B3D1D0"/>
    <a:srgbClr val="91BDBC"/>
    <a:srgbClr val="61A3A1"/>
    <a:srgbClr val="95C1C0"/>
    <a:srgbClr val="FFFFFF"/>
    <a:srgbClr val="849A9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1DD41C-0630-45D5-9049-54DFDE666A7F}" v="83" dt="2026-05-22T00:42:41.880"/>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74696" autoAdjust="0"/>
  </p:normalViewPr>
  <p:slideViewPr>
    <p:cSldViewPr>
      <p:cViewPr varScale="1">
        <p:scale>
          <a:sx n="50" d="100"/>
          <a:sy n="50" d="100"/>
        </p:scale>
        <p:origin x="296" y="24"/>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5370"/>
    </p:cViewPr>
  </p:sorterViewPr>
  <p:notesViewPr>
    <p:cSldViewPr>
      <p:cViewPr varScale="1">
        <p:scale>
          <a:sx n="56" d="100"/>
          <a:sy n="56" d="100"/>
        </p:scale>
        <p:origin x="2588" y="5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BFC281-721B-4934-9CCF-260B5135F409}" type="datetimeFigureOut">
              <a:rPr kumimoji="1" lang="ja-JP" altLang="en-US" smtClean="0"/>
              <a:t>2026/10/16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558F7A-9C9F-42E9-83A4-0C372CE5784D}" type="slidenum">
              <a:rPr kumimoji="1" lang="ja-JP" altLang="en-US" smtClean="0"/>
              <a:t>‹#›</a:t>
            </a:fld>
            <a:endParaRPr kumimoji="1" lang="ja-JP" altLang="en-US"/>
          </a:p>
        </p:txBody>
      </p:sp>
    </p:spTree>
    <p:extLst>
      <p:ext uri="{BB962C8B-B14F-4D97-AF65-F5344CB8AC3E}">
        <p14:creationId xmlns:p14="http://schemas.microsoft.com/office/powerpoint/2010/main" val="6092747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a:t>
            </a:fld>
            <a:endParaRPr kumimoji="1" lang="ja-JP" altLang="en-US"/>
          </a:p>
        </p:txBody>
      </p:sp>
    </p:spTree>
    <p:extLst>
      <p:ext uri="{BB962C8B-B14F-4D97-AF65-F5344CB8AC3E}">
        <p14:creationId xmlns:p14="http://schemas.microsoft.com/office/powerpoint/2010/main" val="23299960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ja-JP"/>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ja-JP"/>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7F63B-170D-FCB3-D16C-0FAF53136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C78E76-20E6-9950-3E30-52B8741E05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A9ADB88-C567-4867-93C5-0D9F446485EA}"/>
              </a:ext>
            </a:extLst>
          </p:cNvPr>
          <p:cNvSpPr>
            <a:spLocks noGrp="1"/>
          </p:cNvSpPr>
          <p:nvPr>
            <p:ph type="body" sz="quarter" idx="3"/>
          </p:nvPr>
        </p:nvSpPr>
        <p:spPr/>
        <p:txBody>
          <a:bodyPr/>
          <a:lstStyle/>
          <a:p>
            <a:endParaRPr lang="ja-JP"/>
          </a:p>
        </p:txBody>
      </p:sp>
      <p:sp>
        <p:nvSpPr>
          <p:cNvPr id="4" name="Slide Number Placeholder 3">
            <a:extLst>
              <a:ext uri="{FF2B5EF4-FFF2-40B4-BE49-F238E27FC236}">
                <a16:creationId xmlns:a16="http://schemas.microsoft.com/office/drawing/2014/main" id="{4C2B8279-E027-7FD8-85B4-FCD394F9AFC0}"/>
              </a:ext>
            </a:extLst>
          </p:cNvPr>
          <p:cNvSpPr>
            <a:spLocks noGrp="1"/>
          </p:cNvSpPr>
          <p:nvPr>
            <p:ph type="sldNum" sz="quarter" idx="5"/>
          </p:nvPr>
        </p:nvSpPr>
        <p:spPr/>
      </p:sp>
    </p:spTree>
    <p:extLst>
      <p:ext uri="{BB962C8B-B14F-4D97-AF65-F5344CB8AC3E}">
        <p14:creationId xmlns:p14="http://schemas.microsoft.com/office/powerpoint/2010/main" val="1877668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ja-JP"/>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ja-JP"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ja-JP"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ja-JP"/>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ja-JP"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14</a:t>
            </a:fld>
            <a:endParaRPr kumimoji="1" lang="ja-JP" altLang="en-US"/>
          </a:p>
        </p:txBody>
      </p:sp>
    </p:spTree>
    <p:extLst>
      <p:ext uri="{BB962C8B-B14F-4D97-AF65-F5344CB8AC3E}">
        <p14:creationId xmlns:p14="http://schemas.microsoft.com/office/powerpoint/2010/main" val="9204810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3835141-B1DA-4BCF-9AAA-97947E23424F}" type="datetime1">
              <a:rPr lang="en-US" altLang="ja-JP"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A348189-7185-406F-AF7C-BED606B3670B}" type="datetime1">
              <a:rPr lang="en-US" altLang="ja-JP"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101697-F5F8-4170-8723-96F9EA86E2DC}" type="datetime1">
              <a:rPr lang="en-US" altLang="ja-JP"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A9CCBFD-D654-4967-8B61-A3494FDAD3C3}" type="datetime1">
              <a:rPr lang="en-US" altLang="ja-JP"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9BF7437-43BB-4691-A20F-B3DC80928B9C}" type="datetime1">
              <a:rPr lang="en-US" altLang="ja-JP" smtClean="0"/>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BCDB0C1-09DA-4824-A9FE-04B648356115}" type="datetime1">
              <a:rPr lang="en-US" altLang="ja-JP" smtClean="0"/>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5F59CF7-FBD3-43A8-86EA-1BFF241249A7}" type="datetime1">
              <a:rPr lang="en-US" altLang="ja-JP" smtClean="0"/>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228600" y="9715500"/>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E2D3CE7-97B2-48B0-AAAA-F59DB167F20C}" type="datetime1">
              <a:rPr lang="en-US" altLang="ja-JP"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C42D9E0-6A31-47E1-86F8-E8D32905AA5C}" type="datetime1">
              <a:rPr lang="en-US" altLang="ja-JP"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58458-117C-445C-93D2-58146BCC020C}" type="datetime1">
              <a:rPr lang="en-US" altLang="ja-JP"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A68477-63A2-4B58-B832-4FD9CBB3DB7F}" type="datetime1">
              <a:rPr lang="en-US" altLang="ja-JP"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6446D91-97FF-446E-BDC2-075A4D5370E6}" type="datetime1">
              <a:rPr lang="en-US" altLang="ja-JP" smtClean="0"/>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543800" y="6361199"/>
            <a:ext cx="620097" cy="365125"/>
          </a:xfrm>
          <a:prstGeom prst="rect">
            <a:avLst/>
          </a:prstGeom>
        </p:spPr>
        <p:txBody>
          <a:bodyPr vert="horz" lIns="91440" tIns="45720" rIns="91440" bIns="45720" rtlCol="0" anchor="ctr"/>
          <a:lstStyle>
            <a:lvl1pPr algn="r">
              <a:defRPr sz="2800">
                <a:solidFill>
                  <a:schemeClr val="bg1"/>
                </a:solidFill>
              </a:defRPr>
            </a:lvl1pPr>
          </a:lstStyle>
          <a:p>
            <a:fld id="{B6F15528-21DE-4FAA-801E-634DDDAF4B2B}"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885825" y="495300"/>
            <a:ext cx="16516350" cy="142875"/>
            <a:chOff x="0" y="0"/>
            <a:chExt cx="22021800" cy="190500"/>
          </a:xfrm>
        </p:grpSpPr>
        <p:grpSp>
          <p:nvGrpSpPr>
            <p:cNvPr id="4" name="Group 4"/>
            <p:cNvGrpSpPr/>
            <p:nvPr/>
          </p:nvGrpSpPr>
          <p:grpSpPr>
            <a:xfrm>
              <a:off x="0" y="0"/>
              <a:ext cx="7340600" cy="190500"/>
              <a:chOff x="0" y="0"/>
              <a:chExt cx="1449995" cy="37630"/>
            </a:xfrm>
          </p:grpSpPr>
          <p:sp>
            <p:nvSpPr>
              <p:cNvPr id="5" name="Freeform 5"/>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 name="TextBox 6"/>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7" name="Group 7"/>
            <p:cNvGrpSpPr/>
            <p:nvPr/>
          </p:nvGrpSpPr>
          <p:grpSpPr>
            <a:xfrm>
              <a:off x="7340600" y="0"/>
              <a:ext cx="7340600" cy="190500"/>
              <a:chOff x="0" y="0"/>
              <a:chExt cx="1449995" cy="37630"/>
            </a:xfrm>
          </p:grpSpPr>
          <p:sp>
            <p:nvSpPr>
              <p:cNvPr id="8" name="Freeform 8"/>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9" name="TextBox 9"/>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0" name="Group 10"/>
            <p:cNvGrpSpPr/>
            <p:nvPr/>
          </p:nvGrpSpPr>
          <p:grpSpPr>
            <a:xfrm>
              <a:off x="14681200" y="0"/>
              <a:ext cx="7340600" cy="190500"/>
              <a:chOff x="0" y="0"/>
              <a:chExt cx="1449995" cy="37630"/>
            </a:xfrm>
          </p:grpSpPr>
          <p:sp>
            <p:nvSpPr>
              <p:cNvPr id="11" name="Freeform 11"/>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2" name="TextBox 12"/>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TextBox 17"/>
          <p:cNvSpPr txBox="1"/>
          <p:nvPr/>
        </p:nvSpPr>
        <p:spPr>
          <a:xfrm>
            <a:off x="2226627" y="4242220"/>
            <a:ext cx="13854732" cy="1231106"/>
          </a:xfrm>
          <a:prstGeom prst="rect">
            <a:avLst/>
          </a:prstGeom>
        </p:spPr>
        <p:txBody>
          <a:bodyPr wrap="square" lIns="0" tIns="0" rIns="0" bIns="0" rtlCol="0" anchor="t">
            <a:spAutoFit/>
          </a:bodyPr>
          <a:lstStyle/>
          <a:p>
            <a:pPr algn="ctr">
              <a:spcBef>
                <a:spcPct val="0"/>
              </a:spcBef>
            </a:pPr>
            <a:r>
              <a:rPr lang="ja-JP" altLang="en-US" sz="4000" dirty="0">
                <a:solidFill>
                  <a:srgbClr val="292B2B"/>
                </a:solidFill>
                <a:latin typeface="Source Han Sans JP Bold"/>
                <a:ea typeface="Source Han Sans JP Bold"/>
                <a:cs typeface="Source Han Sans JP Bold"/>
                <a:sym typeface="Source Han Sans JP Bold"/>
              </a:rPr>
              <a:t>アンサンブル学習に基づく音響識別による</a:t>
            </a:r>
            <a:endParaRPr lang="en-US" altLang="ja-JP" sz="4000" dirty="0">
              <a:solidFill>
                <a:srgbClr val="292B2B"/>
              </a:solidFill>
              <a:latin typeface="Source Han Sans JP Bold"/>
              <a:ea typeface="Source Han Sans JP Bold"/>
              <a:cs typeface="Source Han Sans JP Bold"/>
              <a:sym typeface="Source Han Sans JP Bold"/>
            </a:endParaRPr>
          </a:p>
          <a:p>
            <a:pPr algn="ctr">
              <a:spcBef>
                <a:spcPct val="0"/>
              </a:spcBef>
            </a:pPr>
            <a:r>
              <a:rPr lang="ja-JP" altLang="en-US" sz="4000" dirty="0">
                <a:solidFill>
                  <a:srgbClr val="292B2B"/>
                </a:solidFill>
                <a:latin typeface="Source Han Sans JP Bold"/>
                <a:ea typeface="Source Han Sans JP Bold"/>
                <a:cs typeface="Source Han Sans JP Bold"/>
                <a:sym typeface="Source Han Sans JP Bold"/>
              </a:rPr>
              <a:t>プール沸騰の発生検知</a:t>
            </a:r>
          </a:p>
        </p:txBody>
      </p:sp>
      <p:sp>
        <p:nvSpPr>
          <p:cNvPr id="19" name="TextBox 19"/>
          <p:cNvSpPr txBox="1"/>
          <p:nvPr/>
        </p:nvSpPr>
        <p:spPr>
          <a:xfrm>
            <a:off x="885825" y="7729472"/>
            <a:ext cx="16306800" cy="538609"/>
          </a:xfrm>
          <a:prstGeom prst="rect">
            <a:avLst/>
          </a:prstGeom>
        </p:spPr>
        <p:txBody>
          <a:bodyPr wrap="square" lIns="0" tIns="0" rIns="0" bIns="0" rtlCol="0" anchor="t">
            <a:spAutoFit/>
          </a:bodyPr>
          <a:lstStyle/>
          <a:p>
            <a:pPr algn="ctr">
              <a:lnSpc>
                <a:spcPts val="4200"/>
              </a:lnSpc>
              <a:spcBef>
                <a:spcPct val="0"/>
              </a:spcBef>
            </a:pPr>
            <a:r>
              <a:rPr lang="ja-JP" altLang="en-US" sz="4000" dirty="0"/>
              <a:t>植木研究室　　</a:t>
            </a:r>
            <a:r>
              <a:rPr lang="ja-JP" altLang="en-US" sz="4000" dirty="0">
                <a:solidFill>
                  <a:srgbClr val="292B2B"/>
                </a:solidFill>
                <a:latin typeface="+mj-ea"/>
                <a:ea typeface="+mj-ea"/>
                <a:cs typeface="Source Han Sans JP"/>
                <a:sym typeface="Source Han Sans JP"/>
              </a:rPr>
              <a:t>柴崎陸</a:t>
            </a:r>
            <a:endParaRPr lang="en-US" sz="4000" dirty="0">
              <a:solidFill>
                <a:srgbClr val="292B2B"/>
              </a:solidFill>
              <a:latin typeface="+mj-ea"/>
              <a:ea typeface="+mj-ea"/>
              <a:cs typeface="Source Han Sans JP"/>
              <a:sym typeface="Source Han Sans JP"/>
            </a:endParaRPr>
          </a:p>
        </p:txBody>
      </p:sp>
      <p:sp>
        <p:nvSpPr>
          <p:cNvPr id="20" name="TextBox 20"/>
          <p:cNvSpPr txBox="1"/>
          <p:nvPr/>
        </p:nvSpPr>
        <p:spPr>
          <a:xfrm>
            <a:off x="6111044" y="6792441"/>
            <a:ext cx="5785681" cy="496290"/>
          </a:xfrm>
          <a:prstGeom prst="rect">
            <a:avLst/>
          </a:prstGeom>
        </p:spPr>
        <p:txBody>
          <a:bodyPr lIns="0" tIns="0" rIns="0" bIns="0" rtlCol="0" anchor="t">
            <a:spAutoFit/>
          </a:bodyPr>
          <a:lstStyle/>
          <a:p>
            <a:pPr algn="ctr">
              <a:lnSpc>
                <a:spcPts val="4200"/>
              </a:lnSpc>
              <a:spcBef>
                <a:spcPct val="0"/>
              </a:spcBef>
            </a:pPr>
            <a:r>
              <a:rPr lang="en-US" sz="3000" dirty="0">
                <a:solidFill>
                  <a:srgbClr val="292B2B"/>
                </a:solidFill>
                <a:latin typeface="Century Gothic Paneuropean"/>
                <a:ea typeface="Century Gothic Paneuropean"/>
                <a:cs typeface="Century Gothic Paneuropean"/>
                <a:sym typeface="Century Gothic Paneuropean"/>
              </a:rPr>
              <a:t>2026年10月16日</a:t>
            </a:r>
          </a:p>
        </p:txBody>
      </p:sp>
      <p:grpSp>
        <p:nvGrpSpPr>
          <p:cNvPr id="21" name="Group 21"/>
          <p:cNvGrpSpPr/>
          <p:nvPr/>
        </p:nvGrpSpPr>
        <p:grpSpPr>
          <a:xfrm>
            <a:off x="885825" y="9645596"/>
            <a:ext cx="16516350" cy="142875"/>
            <a:chOff x="0" y="0"/>
            <a:chExt cx="22021800" cy="190500"/>
          </a:xfrm>
        </p:grpSpPr>
        <p:grpSp>
          <p:nvGrpSpPr>
            <p:cNvPr id="22" name="Group 22"/>
            <p:cNvGrpSpPr/>
            <p:nvPr/>
          </p:nvGrpSpPr>
          <p:grpSpPr>
            <a:xfrm>
              <a:off x="0" y="0"/>
              <a:ext cx="7340600" cy="190500"/>
              <a:chOff x="0" y="0"/>
              <a:chExt cx="1449995" cy="37630"/>
            </a:xfrm>
          </p:grpSpPr>
          <p:sp>
            <p:nvSpPr>
              <p:cNvPr id="23" name="Freeform 23"/>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24"/>
              <p:cNvSpPr txBox="1"/>
              <p:nvPr/>
            </p:nvSpPr>
            <p:spPr>
              <a:xfrm>
                <a:off x="0" y="-38100"/>
                <a:ext cx="1449995" cy="75730"/>
              </a:xfrm>
              <a:prstGeom prst="rect">
                <a:avLst/>
              </a:prstGeom>
            </p:spPr>
            <p:txBody>
              <a:bodyPr lIns="50800" tIns="50800" rIns="50800" bIns="50800" rtlCol="0" anchor="ctr"/>
              <a:lstStyle/>
              <a:p>
                <a:pPr algn="ctr">
                  <a:lnSpc>
                    <a:spcPts val="2940"/>
                  </a:lnSpc>
                </a:pPr>
                <a:endParaRPr dirty="0"/>
              </a:p>
            </p:txBody>
          </p:sp>
        </p:grpSp>
        <p:grpSp>
          <p:nvGrpSpPr>
            <p:cNvPr id="25" name="Group 25"/>
            <p:cNvGrpSpPr/>
            <p:nvPr/>
          </p:nvGrpSpPr>
          <p:grpSpPr>
            <a:xfrm>
              <a:off x="7340600" y="0"/>
              <a:ext cx="7340600" cy="190500"/>
              <a:chOff x="0" y="0"/>
              <a:chExt cx="1449995" cy="37630"/>
            </a:xfrm>
          </p:grpSpPr>
          <p:sp>
            <p:nvSpPr>
              <p:cNvPr id="26" name="Freeform 26"/>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7" name="TextBox 27"/>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28" name="Group 28"/>
            <p:cNvGrpSpPr/>
            <p:nvPr/>
          </p:nvGrpSpPr>
          <p:grpSpPr>
            <a:xfrm>
              <a:off x="14681200" y="0"/>
              <a:ext cx="7340600" cy="190500"/>
              <a:chOff x="0" y="0"/>
              <a:chExt cx="1449995" cy="37630"/>
            </a:xfrm>
          </p:grpSpPr>
          <p:sp>
            <p:nvSpPr>
              <p:cNvPr id="29" name="Freeform 29"/>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30" name="TextBox 30"/>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 name="スライド番号プレースホルダー 1">
            <a:extLst>
              <a:ext uri="{FF2B5EF4-FFF2-40B4-BE49-F238E27FC236}">
                <a16:creationId xmlns:a16="http://schemas.microsoft.com/office/drawing/2014/main" id="{9D73F52F-7EA5-9483-9209-847FF8564E80}"/>
              </a:ext>
            </a:extLst>
          </p:cNvPr>
          <p:cNvSpPr>
            <a:spLocks noGrp="1"/>
          </p:cNvSpPr>
          <p:nvPr>
            <p:ph type="sldNum" sz="quarter" idx="12"/>
          </p:nvPr>
        </p:nvSpPr>
        <p:spPr/>
        <p:txBody>
          <a:bodyPr/>
          <a:lstStyle/>
          <a:p>
            <a:fld id="{B6F15528-21DE-4FAA-801E-634DDDAF4B2B}" type="slidenum">
              <a:rPr lang="en-US" smtClean="0"/>
              <a:pPr/>
              <a:t>1</a:t>
            </a:fld>
            <a:endParaRPr lang="en-US"/>
          </a:p>
        </p:txBody>
      </p:sp>
      <p:sp>
        <p:nvSpPr>
          <p:cNvPr id="13" name="TextBox 17">
            <a:extLst>
              <a:ext uri="{FF2B5EF4-FFF2-40B4-BE49-F238E27FC236}">
                <a16:creationId xmlns:a16="http://schemas.microsoft.com/office/drawing/2014/main" id="{B2D46370-B0AA-E6EF-7D69-27BC452AE345}"/>
              </a:ext>
            </a:extLst>
          </p:cNvPr>
          <p:cNvSpPr txBox="1"/>
          <p:nvPr/>
        </p:nvSpPr>
        <p:spPr>
          <a:xfrm>
            <a:off x="2111859" y="2538384"/>
            <a:ext cx="13854732" cy="1015663"/>
          </a:xfrm>
          <a:prstGeom prst="rect">
            <a:avLst/>
          </a:prstGeom>
        </p:spPr>
        <p:txBody>
          <a:bodyPr wrap="square" lIns="0" tIns="0" rIns="0" bIns="0" rtlCol="0" anchor="t">
            <a:spAutoFit/>
          </a:bodyPr>
          <a:lstStyle/>
          <a:p>
            <a:pPr algn="ctr">
              <a:spcBef>
                <a:spcPct val="0"/>
              </a:spcBef>
            </a:pPr>
            <a:r>
              <a:rPr lang="ja-JP" altLang="en-US" sz="6600" dirty="0">
                <a:solidFill>
                  <a:srgbClr val="292B2B"/>
                </a:solidFill>
                <a:latin typeface="Source Han Sans JP Bold"/>
                <a:ea typeface="Source Han Sans JP Bold"/>
                <a:cs typeface="Source Han Sans JP Bold"/>
                <a:sym typeface="Source Han Sans JP Bold"/>
              </a:rPr>
              <a:t>研究進捗</a:t>
            </a:r>
            <a:endParaRPr lang="en-US" sz="6600" dirty="0">
              <a:solidFill>
                <a:srgbClr val="292B2B"/>
              </a:solidFill>
              <a:latin typeface="Source Han Sans JP Bold"/>
              <a:ea typeface="Source Han Sans JP Bold"/>
              <a:cs typeface="Source Han Sans JP Bold"/>
              <a:sym typeface="Source Han Sans JP Bold"/>
            </a:endParaRPr>
          </a:p>
        </p:txBody>
      </p:sp>
    </p:spTree>
    <p:extLst>
      <p:ext uri="{BB962C8B-B14F-4D97-AF65-F5344CB8AC3E}">
        <p14:creationId xmlns:p14="http://schemas.microsoft.com/office/powerpoint/2010/main" val="8426765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445F2-7223-B5CD-B0FA-E2CBFD02253E}"/>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A2259C07-BB15-07C7-F819-943AD012C2F8}"/>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400DCC03-CF83-22D8-18D4-9DA52AF4C31E}"/>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C0F2D57F-7531-DA3E-6BF3-0353CEBD1DF8}"/>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BE43119B-75E5-D72B-3AD0-BF7A4D3CBEA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49082854-82F6-2843-A0EA-BBA8A921866B}"/>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EC2AA944-DC22-1CFD-C2D5-2F5E71514D17}"/>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03B3A9B2-A8E6-1A31-18DB-A1AD18A566CB}"/>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64A31E85-8A42-F376-3A7B-6F1C326B6C1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3863B5A0-551B-7FEB-AE5B-F2CCE65321D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635AF864-A98D-7CEE-090A-9273434BFF0A}"/>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A203F7C4-439B-1FC3-3AB0-AA2B74F7FF6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E3D71559-EFF0-1060-1C0A-9AF3B4107F6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0C9E2265-D20C-16B0-E1A0-44C7E011B461}"/>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F2AC8A77-1D31-77CD-B258-47152F91BD6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C70D03FC-3ECA-12EE-F6E8-6C837ECD777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631316DE-5747-E6B1-9CE2-367AC4E2BC6E}"/>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2</a:t>
            </a:fld>
            <a:endParaRPr lang="en-US" sz="2400" dirty="0">
              <a:solidFill>
                <a:schemeClr val="bg1"/>
              </a:solidFill>
            </a:endParaRPr>
          </a:p>
        </p:txBody>
      </p:sp>
      <p:sp>
        <p:nvSpPr>
          <p:cNvPr id="513" name="TextBox 24">
            <a:extLst>
              <a:ext uri="{FF2B5EF4-FFF2-40B4-BE49-F238E27FC236}">
                <a16:creationId xmlns:a16="http://schemas.microsoft.com/office/drawing/2014/main" id="{E16BCA4F-9E1E-5E45-6DFF-B84FC7EE2829}"/>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ja-JP" altLang="en-US" sz="3000" b="1" dirty="0">
                <a:solidFill>
                  <a:srgbClr val="202020"/>
                </a:solidFill>
                <a:latin typeface="Yu Gothic"/>
                <a:ea typeface="Yu Gothic"/>
                <a:cs typeface="Source Han Sans JP Medium"/>
                <a:sym typeface="Source Han Sans JP Medium"/>
              </a:rPr>
              <a:t>今回の発表内容</a:t>
            </a:r>
          </a:p>
        </p:txBody>
      </p:sp>
      <p:sp>
        <p:nvSpPr>
          <p:cNvPr id="2" name="テキスト ボックス 1">
            <a:extLst>
              <a:ext uri="{FF2B5EF4-FFF2-40B4-BE49-F238E27FC236}">
                <a16:creationId xmlns:a16="http://schemas.microsoft.com/office/drawing/2014/main" id="{FE2B92D4-4300-437B-69F2-F2281B6B9907}"/>
              </a:ext>
            </a:extLst>
          </p:cNvPr>
          <p:cNvSpPr txBox="1"/>
          <p:nvPr/>
        </p:nvSpPr>
        <p:spPr>
          <a:xfrm>
            <a:off x="2590800" y="4038600"/>
            <a:ext cx="1143000" cy="2209800"/>
          </a:xfrm>
          <a:prstGeom prst="rect">
            <a:avLst/>
          </a:prstGeom>
          <a:noFill/>
        </p:spPr>
        <p:txBody>
          <a:bodyPr vertOverflow="overflow" vert="horz" wrap="square" rtlCol="0" anchor="t">
            <a:noAutofit/>
          </a:bodyPr>
          <a:lstStyle/>
          <a:p>
            <a:pPr algn="l"/>
            <a:r>
              <a:rPr lang="en-US" altLang="ja-JP" sz="4400" dirty="0">
                <a:solidFill>
                  <a:srgbClr val="202020"/>
                </a:solidFill>
                <a:latin typeface="Yu Gothic"/>
                <a:ea typeface="Yu Gothic"/>
              </a:rPr>
              <a:t>01
02
03</a:t>
            </a:r>
          </a:p>
          <a:p>
            <a:pPr algn="l"/>
            <a:endParaRPr lang="en-US" altLang="ja-JP" sz="4400" dirty="0">
              <a:solidFill>
                <a:srgbClr val="202020"/>
              </a:solidFill>
              <a:latin typeface="Yu Gothic"/>
              <a:ea typeface="Yu Gothic"/>
            </a:endParaRPr>
          </a:p>
          <a:p>
            <a:pPr algn="l"/>
            <a:r>
              <a:rPr lang="en-US" altLang="ja-JP" sz="4400" dirty="0">
                <a:solidFill>
                  <a:srgbClr val="202020"/>
                </a:solidFill>
                <a:latin typeface="Yu Gothic"/>
                <a:ea typeface="Yu Gothic"/>
              </a:rPr>
              <a:t>04</a:t>
            </a:r>
            <a:endParaRPr lang="ja-JP" altLang="en-US" sz="4400" dirty="0">
              <a:solidFill>
                <a:srgbClr val="202020"/>
              </a:solidFill>
              <a:latin typeface="Yu Gothic"/>
              <a:ea typeface="Yu Gothic"/>
            </a:endParaRPr>
          </a:p>
        </p:txBody>
      </p:sp>
      <p:sp>
        <p:nvSpPr>
          <p:cNvPr id="3" name="テキスト ボックス 2">
            <a:extLst>
              <a:ext uri="{FF2B5EF4-FFF2-40B4-BE49-F238E27FC236}">
                <a16:creationId xmlns:a16="http://schemas.microsoft.com/office/drawing/2014/main" id="{7D202A3B-4937-B7D7-BAAE-A0F833781032}"/>
              </a:ext>
            </a:extLst>
          </p:cNvPr>
          <p:cNvSpPr txBox="1"/>
          <p:nvPr/>
        </p:nvSpPr>
        <p:spPr>
          <a:xfrm>
            <a:off x="3886200" y="4038600"/>
            <a:ext cx="13944600" cy="3390900"/>
          </a:xfrm>
          <a:prstGeom prst="rect">
            <a:avLst/>
          </a:prstGeom>
          <a:noFill/>
        </p:spPr>
        <p:txBody>
          <a:bodyPr vertOverflow="overflow" vert="horz" wrap="square" rtlCol="0" anchor="t">
            <a:noAutofit/>
          </a:bodyPr>
          <a:lstStyle/>
          <a:p>
            <a:r>
              <a:rPr lang="ja-JP" altLang="en-US" sz="4400" b="1" dirty="0">
                <a:solidFill>
                  <a:srgbClr val="202020"/>
                </a:solidFill>
                <a:latin typeface="游ゴシック" panose="020B0400000000000000" pitchFamily="50" charset="-128"/>
                <a:ea typeface="游ゴシック" panose="020B0400000000000000" pitchFamily="50" charset="-128"/>
              </a:rPr>
              <a:t>研究概要</a:t>
            </a:r>
          </a:p>
          <a:p>
            <a:r>
              <a:rPr lang="ja-JP" altLang="en-US" sz="4400" b="1" dirty="0">
                <a:solidFill>
                  <a:srgbClr val="202020"/>
                </a:solidFill>
                <a:latin typeface="游ゴシック" panose="020B0400000000000000" pitchFamily="50" charset="-128"/>
                <a:ea typeface="游ゴシック" panose="020B0400000000000000" pitchFamily="50" charset="-128"/>
              </a:rPr>
              <a:t>雑音評価方法の見直し</a:t>
            </a:r>
            <a:endParaRPr lang="en-US" altLang="ja-JP" sz="4400" b="1" dirty="0">
              <a:solidFill>
                <a:srgbClr val="202020"/>
              </a:solidFill>
              <a:latin typeface="游ゴシック" panose="020B0400000000000000" pitchFamily="50" charset="-128"/>
              <a:ea typeface="游ゴシック" panose="020B0400000000000000" pitchFamily="50" charset="-128"/>
            </a:endParaRPr>
          </a:p>
          <a:p>
            <a:r>
              <a:rPr lang="ja-JP" altLang="en-US" sz="4400" b="1" dirty="0">
                <a:solidFill>
                  <a:srgbClr val="202020"/>
                </a:solidFill>
                <a:latin typeface="游ゴシック" panose="020B0400000000000000" pitchFamily="50" charset="-128"/>
                <a:ea typeface="游ゴシック" panose="020B0400000000000000" pitchFamily="50" charset="-128"/>
              </a:rPr>
              <a:t>アンサンブルにモデルを追加して検証＋各モデルの予測誤差を考慮した検証</a:t>
            </a:r>
            <a:endParaRPr lang="en-US" altLang="ja-JP" sz="4400" b="1" dirty="0">
              <a:solidFill>
                <a:srgbClr val="202020"/>
              </a:solidFill>
              <a:latin typeface="游ゴシック" panose="020B0400000000000000" pitchFamily="50" charset="-128"/>
              <a:ea typeface="游ゴシック" panose="020B0400000000000000" pitchFamily="50" charset="-128"/>
            </a:endParaRPr>
          </a:p>
          <a:p>
            <a:r>
              <a:rPr lang="ja-JP" altLang="en-US" sz="4400" b="1" dirty="0">
                <a:solidFill>
                  <a:srgbClr val="202020"/>
                </a:solidFill>
                <a:latin typeface="游ゴシック" panose="020B0400000000000000" pitchFamily="50" charset="-128"/>
                <a:ea typeface="游ゴシック" panose="020B0400000000000000" pitchFamily="50" charset="-128"/>
              </a:rPr>
              <a:t>修士論文の構成と後期計画</a:t>
            </a:r>
          </a:p>
        </p:txBody>
      </p:sp>
    </p:spTree>
    <p:extLst>
      <p:ext uri="{BB962C8B-B14F-4D97-AF65-F5344CB8AC3E}">
        <p14:creationId xmlns:p14="http://schemas.microsoft.com/office/powerpoint/2010/main" val="1010167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56">
            <a:extLst>
              <a:ext uri="{FF2B5EF4-FFF2-40B4-BE49-F238E27FC236}">
                <a16:creationId xmlns:a16="http://schemas.microsoft.com/office/drawing/2014/main" id="{75BFE32B-F018-C4E4-FAB7-80C0D2CDC22E}"/>
              </a:ext>
            </a:extLst>
          </p:cNvPr>
          <p:cNvGrpSpPr/>
          <p:nvPr/>
        </p:nvGrpSpPr>
        <p:grpSpPr>
          <a:xfrm>
            <a:off x="270494" y="246431"/>
            <a:ext cx="698205" cy="10040568"/>
            <a:chOff x="270494" y="246431"/>
            <a:chExt cx="698205" cy="10040568"/>
          </a:xfrm>
        </p:grpSpPr>
        <p:pic>
          <p:nvPicPr>
            <p:cNvPr id="3" name="図 57">
              <a:extLst>
                <a:ext uri="{FF2B5EF4-FFF2-40B4-BE49-F238E27FC236}">
                  <a16:creationId xmlns:a16="http://schemas.microsoft.com/office/drawing/2014/main" id="{1226A433-2043-B47F-E0E8-72C7A0748C7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4" name="テキスト ボックス 58">
              <a:extLst>
                <a:ext uri="{FF2B5EF4-FFF2-40B4-BE49-F238E27FC236}">
                  <a16:creationId xmlns:a16="http://schemas.microsoft.com/office/drawing/2014/main" id="{F53AD6DF-8ABC-58C4-0BDA-981F712C6600}"/>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 name="直線コネクタ 59">
              <a:extLst>
                <a:ext uri="{FF2B5EF4-FFF2-40B4-BE49-F238E27FC236}">
                  <a16:creationId xmlns:a16="http://schemas.microsoft.com/office/drawing/2014/main" id="{583BFE6C-617D-A3DC-D51E-18A6133895A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 name="フローチャート: 論理積ゲート 60">
              <a:extLst>
                <a:ext uri="{FF2B5EF4-FFF2-40B4-BE49-F238E27FC236}">
                  <a16:creationId xmlns:a16="http://schemas.microsoft.com/office/drawing/2014/main" id="{63EE0EEB-3C48-D4D2-9411-176CDF6BB0D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Group 3">
            <a:extLst>
              <a:ext uri="{FF2B5EF4-FFF2-40B4-BE49-F238E27FC236}">
                <a16:creationId xmlns:a16="http://schemas.microsoft.com/office/drawing/2014/main" id="{66CE81F5-9908-5CB9-4AC3-1FCBE2FF3FAA}"/>
              </a:ext>
            </a:extLst>
          </p:cNvPr>
          <p:cNvGrpSpPr/>
          <p:nvPr/>
        </p:nvGrpSpPr>
        <p:grpSpPr>
          <a:xfrm>
            <a:off x="1371600" y="1069258"/>
            <a:ext cx="16064988" cy="125708"/>
            <a:chOff x="0" y="0"/>
            <a:chExt cx="22021800" cy="190500"/>
          </a:xfrm>
        </p:grpSpPr>
        <p:grpSp>
          <p:nvGrpSpPr>
            <p:cNvPr id="8" name="Group 4">
              <a:extLst>
                <a:ext uri="{FF2B5EF4-FFF2-40B4-BE49-F238E27FC236}">
                  <a16:creationId xmlns:a16="http://schemas.microsoft.com/office/drawing/2014/main" id="{F18484CA-1C82-F32C-E492-71BB690B31BD}"/>
                </a:ext>
              </a:extLst>
            </p:cNvPr>
            <p:cNvGrpSpPr/>
            <p:nvPr/>
          </p:nvGrpSpPr>
          <p:grpSpPr>
            <a:xfrm>
              <a:off x="0" y="0"/>
              <a:ext cx="7340600" cy="190500"/>
              <a:chOff x="0" y="0"/>
              <a:chExt cx="1449995" cy="37630"/>
            </a:xfrm>
          </p:grpSpPr>
          <p:sp>
            <p:nvSpPr>
              <p:cNvPr id="9" name="Freeform 5">
                <a:extLst>
                  <a:ext uri="{FF2B5EF4-FFF2-40B4-BE49-F238E27FC236}">
                    <a16:creationId xmlns:a16="http://schemas.microsoft.com/office/drawing/2014/main" id="{99894FA7-D161-F806-1A5F-52AABFBB08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0" name="TextBox 6">
                <a:extLst>
                  <a:ext uri="{FF2B5EF4-FFF2-40B4-BE49-F238E27FC236}">
                    <a16:creationId xmlns:a16="http://schemas.microsoft.com/office/drawing/2014/main" id="{72556C4C-3473-3018-70C4-085FA6F987B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1" name="Group 7">
              <a:extLst>
                <a:ext uri="{FF2B5EF4-FFF2-40B4-BE49-F238E27FC236}">
                  <a16:creationId xmlns:a16="http://schemas.microsoft.com/office/drawing/2014/main" id="{F7A34761-E638-B2A2-9E72-32563CB39D5B}"/>
                </a:ext>
              </a:extLst>
            </p:cNvPr>
            <p:cNvGrpSpPr/>
            <p:nvPr/>
          </p:nvGrpSpPr>
          <p:grpSpPr>
            <a:xfrm>
              <a:off x="7340600" y="0"/>
              <a:ext cx="7340600" cy="190500"/>
              <a:chOff x="0" y="0"/>
              <a:chExt cx="1449995" cy="37630"/>
            </a:xfrm>
          </p:grpSpPr>
          <p:sp>
            <p:nvSpPr>
              <p:cNvPr id="12" name="Freeform 8">
                <a:extLst>
                  <a:ext uri="{FF2B5EF4-FFF2-40B4-BE49-F238E27FC236}">
                    <a16:creationId xmlns:a16="http://schemas.microsoft.com/office/drawing/2014/main" id="{66779A7D-5ECB-D310-B556-EC0E21709BC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13" name="TextBox 9">
                <a:extLst>
                  <a:ext uri="{FF2B5EF4-FFF2-40B4-BE49-F238E27FC236}">
                    <a16:creationId xmlns:a16="http://schemas.microsoft.com/office/drawing/2014/main" id="{96F89EAF-9FB5-76B1-24F0-8313C0D5D3B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4" name="Group 10">
              <a:extLst>
                <a:ext uri="{FF2B5EF4-FFF2-40B4-BE49-F238E27FC236}">
                  <a16:creationId xmlns:a16="http://schemas.microsoft.com/office/drawing/2014/main" id="{0F7B6D61-78D9-D77B-900A-F293F294C432}"/>
                </a:ext>
              </a:extLst>
            </p:cNvPr>
            <p:cNvGrpSpPr/>
            <p:nvPr/>
          </p:nvGrpSpPr>
          <p:grpSpPr>
            <a:xfrm>
              <a:off x="14681200" y="0"/>
              <a:ext cx="7340600" cy="190500"/>
              <a:chOff x="0" y="0"/>
              <a:chExt cx="1449995" cy="37630"/>
            </a:xfrm>
          </p:grpSpPr>
          <p:sp>
            <p:nvSpPr>
              <p:cNvPr id="15" name="Freeform 11">
                <a:extLst>
                  <a:ext uri="{FF2B5EF4-FFF2-40B4-BE49-F238E27FC236}">
                    <a16:creationId xmlns:a16="http://schemas.microsoft.com/office/drawing/2014/main" id="{3CE663F6-1B9A-DFEE-C6F5-CE676E3CD07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6" name="TextBox 12">
                <a:extLst>
                  <a:ext uri="{FF2B5EF4-FFF2-40B4-BE49-F238E27FC236}">
                    <a16:creationId xmlns:a16="http://schemas.microsoft.com/office/drawing/2014/main" id="{509D1305-F68D-3300-CC15-A5584E7FBBA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PAGE_NUMBER"/>
          <p:cNvSpPr txBox="1"/>
          <p:nvPr/>
        </p:nvSpPr>
        <p:spPr>
          <a:xfrm>
            <a:off x="270000" y="9748800"/>
            <a:ext cx="599400" cy="46224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buNone/>
            </a:pPr>
            <a:r>
              <a:rPr lang="ja-JP" sz="2400" b="0">
                <a:solidFill>
                  <a:srgbClr val="FFFFFF"/>
                </a:solidFill>
                <a:latin typeface="Yu Gothic"/>
                <a:ea typeface="Yu Gothic"/>
                <a:cs typeface="Yu Gothic"/>
              </a:rPr>
              <a:t>3</a:t>
            </a:r>
          </a:p>
        </p:txBody>
      </p:sp>
      <p:sp>
        <p:nvSpPr>
          <p:cNvPr id="19" name="MAIN_MESSAGE"/>
          <p:cNvSpPr txBox="1"/>
          <p:nvPr/>
        </p:nvSpPr>
        <p:spPr>
          <a:xfrm>
            <a:off x="1512000" y="1422000"/>
            <a:ext cx="15912000" cy="1044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3200" b="1" dirty="0">
                <a:solidFill>
                  <a:srgbClr val="202427"/>
                </a:solidFill>
                <a:latin typeface="Yu Gothic"/>
              </a:rPr>
              <a:t>沸騰</a:t>
            </a:r>
            <a:r>
              <a:rPr lang="en-US" altLang="ja-JP" sz="3200" b="1" dirty="0">
                <a:solidFill>
                  <a:srgbClr val="202427"/>
                </a:solidFill>
                <a:latin typeface="Yu Gothic"/>
              </a:rPr>
              <a:t>-</a:t>
            </a:r>
            <a:r>
              <a:rPr lang="ja-JP" altLang="en-US" sz="3200" b="1" dirty="0">
                <a:solidFill>
                  <a:srgbClr val="202427"/>
                </a:solidFill>
                <a:latin typeface="Yu Gothic"/>
              </a:rPr>
              <a:t>未沸騰</a:t>
            </a:r>
            <a:r>
              <a:rPr sz="3200" b="1" dirty="0" err="1">
                <a:solidFill>
                  <a:srgbClr val="202427"/>
                </a:solidFill>
                <a:latin typeface="Yu Gothic"/>
              </a:rPr>
              <a:t>音響から熱流束・核沸騰開始</a:t>
            </a:r>
            <a:r>
              <a:rPr lang="ja-JP" altLang="en-US" sz="3200" b="1" dirty="0">
                <a:solidFill>
                  <a:srgbClr val="202427"/>
                </a:solidFill>
                <a:latin typeface="Yu Gothic"/>
              </a:rPr>
              <a:t>点</a:t>
            </a:r>
            <a:r>
              <a:rPr sz="3200" b="1" dirty="0">
                <a:solidFill>
                  <a:srgbClr val="202427"/>
                </a:solidFill>
                <a:latin typeface="Yu Gothic"/>
              </a:rPr>
              <a:t>（</a:t>
            </a:r>
            <a:r>
              <a:rPr sz="3200" b="1" dirty="0" err="1">
                <a:solidFill>
                  <a:srgbClr val="202427"/>
                </a:solidFill>
                <a:latin typeface="Yu Gothic"/>
              </a:rPr>
              <a:t>ONB）を推定し</a:t>
            </a:r>
            <a:r>
              <a:rPr sz="3200" b="1" dirty="0">
                <a:solidFill>
                  <a:srgbClr val="202427"/>
                </a:solidFill>
                <a:latin typeface="Yu Gothic"/>
              </a:rPr>
              <a:t>，</a:t>
            </a:r>
            <a:r>
              <a:rPr lang="ja-JP" altLang="en-US" sz="3200" b="1" dirty="0">
                <a:solidFill>
                  <a:srgbClr val="202427"/>
                </a:solidFill>
                <a:latin typeface="Yu Gothic"/>
              </a:rPr>
              <a:t>アンサンブル</a:t>
            </a:r>
            <a:r>
              <a:rPr sz="3200" b="1" dirty="0" err="1">
                <a:solidFill>
                  <a:srgbClr val="202427"/>
                </a:solidFill>
                <a:latin typeface="Yu Gothic"/>
              </a:rPr>
              <a:t>効果を</a:t>
            </a:r>
            <a:r>
              <a:rPr lang="ja-JP" altLang="en-US" sz="3200" b="1" dirty="0">
                <a:solidFill>
                  <a:srgbClr val="202427"/>
                </a:solidFill>
                <a:latin typeface="Yu Gothic"/>
              </a:rPr>
              <a:t>ノイズ</a:t>
            </a:r>
            <a:r>
              <a:rPr sz="3200" b="1" dirty="0" err="1">
                <a:solidFill>
                  <a:srgbClr val="202427"/>
                </a:solidFill>
                <a:latin typeface="Yu Gothic"/>
              </a:rPr>
              <a:t>下で調べる</a:t>
            </a:r>
            <a:endParaRPr sz="3200" b="1" dirty="0">
              <a:solidFill>
                <a:srgbClr val="202427"/>
              </a:solidFill>
              <a:latin typeface="Yu Gothic"/>
            </a:endParaRPr>
          </a:p>
        </p:txBody>
      </p:sp>
      <p:sp>
        <p:nvSpPr>
          <p:cNvPr id="20" name="PIPELINE_1"/>
          <p:cNvSpPr/>
          <p:nvPr/>
        </p:nvSpPr>
        <p:spPr>
          <a:xfrm>
            <a:off x="1512000" y="3690000"/>
            <a:ext cx="2628000" cy="2232000"/>
          </a:xfrm>
          <a:prstGeom prst="roundRect">
            <a:avLst>
              <a:gd name="adj" fmla="val 12000"/>
            </a:avLst>
          </a:prstGeom>
          <a:solidFill>
            <a:srgbClr val="EDF4F4"/>
          </a:solidFill>
          <a:ln w="17780">
            <a:solidFill>
              <a:srgbClr val="639FA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 name="PIPELINE_1_TITLE"/>
          <p:cNvSpPr txBox="1"/>
          <p:nvPr/>
        </p:nvSpPr>
        <p:spPr>
          <a:xfrm>
            <a:off x="1576800" y="4050000"/>
            <a:ext cx="2498400" cy="72000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buNone/>
            </a:pPr>
            <a:r>
              <a:rPr lang="ja-JP" sz="2600" b="1">
                <a:solidFill>
                  <a:srgbClr val="2F6F73"/>
                </a:solidFill>
                <a:latin typeface="Yu Gothic"/>
                <a:ea typeface="Yu Gothic"/>
                <a:cs typeface="Yu Gothic"/>
              </a:rPr>
              <a:t>音響録音</a:t>
            </a:r>
          </a:p>
        </p:txBody>
      </p:sp>
      <p:sp>
        <p:nvSpPr>
          <p:cNvPr id="22" name="PIPELINE_1_BODY"/>
          <p:cNvSpPr txBox="1"/>
          <p:nvPr/>
        </p:nvSpPr>
        <p:spPr>
          <a:xfrm>
            <a:off x="1566000" y="5040000"/>
            <a:ext cx="2520000" cy="503999"/>
          </a:xfrm>
          <a:prstGeom prst="rect">
            <a:avLst/>
          </a:prstGeom>
          <a:noFill/>
          <a:effectLst/>
        </p:spPr>
        <p:txBody>
          <a:bodyPr wrap="square" lIns="21600" tIns="21600" rIns="21600" bIns="21600" anchor="t">
            <a:noAutofit/>
          </a:bodyPr>
          <a:lstStyle/>
          <a:p>
            <a:pPr algn="ctr">
              <a:lnSpc>
                <a:spcPct val="115000"/>
              </a:lnSpc>
              <a:spcBef>
                <a:spcPts val="0"/>
              </a:spcBef>
              <a:spcAft>
                <a:spcPts val="0"/>
              </a:spcAft>
              <a:buNone/>
            </a:pPr>
            <a:r>
              <a:rPr lang="ja-JP" sz="2300" b="0">
                <a:solidFill>
                  <a:srgbClr val="202427"/>
                </a:solidFill>
                <a:latin typeface="Yu Gothic"/>
                <a:ea typeface="Yu Gothic"/>
                <a:cs typeface="Yu Gothic"/>
              </a:rPr>
              <a:t>1秒区間</a:t>
            </a:r>
          </a:p>
        </p:txBody>
      </p:sp>
      <p:sp>
        <p:nvSpPr>
          <p:cNvPr id="23" name="Right Arrow 22"/>
          <p:cNvSpPr/>
          <p:nvPr/>
        </p:nvSpPr>
        <p:spPr>
          <a:xfrm>
            <a:off x="4194000" y="4554000"/>
            <a:ext cx="251999" cy="306000"/>
          </a:xfrm>
          <a:prstGeom prst="rightArrow">
            <a:avLst/>
          </a:prstGeom>
          <a:solidFill>
            <a:srgbClr val="639FA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PIPELINE_2"/>
          <p:cNvSpPr/>
          <p:nvPr/>
        </p:nvSpPr>
        <p:spPr>
          <a:xfrm>
            <a:off x="4500000" y="3690000"/>
            <a:ext cx="3096000" cy="2232000"/>
          </a:xfrm>
          <a:prstGeom prst="roundRect">
            <a:avLst>
              <a:gd name="adj" fmla="val 12000"/>
            </a:avLst>
          </a:prstGeom>
          <a:solidFill>
            <a:srgbClr val="EDF4F4"/>
          </a:solidFill>
          <a:ln w="17780">
            <a:solidFill>
              <a:srgbClr val="639FA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5" name="PIPELINE_2_TITLE"/>
          <p:cNvSpPr txBox="1"/>
          <p:nvPr/>
        </p:nvSpPr>
        <p:spPr>
          <a:xfrm>
            <a:off x="4564800" y="4050000"/>
            <a:ext cx="2966400" cy="72000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buNone/>
            </a:pPr>
            <a:r>
              <a:rPr lang="ja-JP" sz="2600" b="1" dirty="0">
                <a:solidFill>
                  <a:srgbClr val="2F6F73"/>
                </a:solidFill>
                <a:latin typeface="Yu Gothic"/>
                <a:ea typeface="Yu Gothic"/>
                <a:cs typeface="Yu Gothic"/>
              </a:rPr>
              <a:t>スペクト</a:t>
            </a:r>
            <a:r>
              <a:rPr lang="ja-JP" sz="2600" b="1" dirty="0">
                <a:solidFill>
                  <a:srgbClr val="517173"/>
                </a:solidFill>
                <a:latin typeface="Yu Gothic"/>
                <a:ea typeface="Yu Gothic"/>
                <a:cs typeface="Yu Gothic"/>
              </a:rPr>
              <a:t>ログ</a:t>
            </a:r>
            <a:r>
              <a:rPr lang="ja-JP" sz="2600" b="1" dirty="0">
                <a:solidFill>
                  <a:srgbClr val="2F6F73"/>
                </a:solidFill>
                <a:latin typeface="Yu Gothic"/>
                <a:ea typeface="Yu Gothic"/>
                <a:cs typeface="Yu Gothic"/>
              </a:rPr>
              <a:t>ラム</a:t>
            </a:r>
          </a:p>
        </p:txBody>
      </p:sp>
      <p:sp>
        <p:nvSpPr>
          <p:cNvPr id="26" name="PIPELINE_2_BODY"/>
          <p:cNvSpPr txBox="1"/>
          <p:nvPr/>
        </p:nvSpPr>
        <p:spPr>
          <a:xfrm>
            <a:off x="4554000" y="5040000"/>
            <a:ext cx="2987999" cy="503999"/>
          </a:xfrm>
          <a:prstGeom prst="rect">
            <a:avLst/>
          </a:prstGeom>
          <a:noFill/>
          <a:effectLst/>
        </p:spPr>
        <p:txBody>
          <a:bodyPr wrap="square" lIns="21600" tIns="21600" rIns="21600" bIns="21600" anchor="t">
            <a:noAutofit/>
          </a:bodyPr>
          <a:lstStyle/>
          <a:p>
            <a:pPr algn="ctr">
              <a:lnSpc>
                <a:spcPct val="115000"/>
              </a:lnSpc>
              <a:spcBef>
                <a:spcPts val="0"/>
              </a:spcBef>
              <a:spcAft>
                <a:spcPts val="0"/>
              </a:spcAft>
            </a:pPr>
            <a:r>
              <a:rPr sz="2300" b="0" dirty="0" err="1">
                <a:solidFill>
                  <a:srgbClr val="202427"/>
                </a:solidFill>
                <a:latin typeface="Yu Gothic"/>
              </a:rPr>
              <a:t>画像・周波数別の特徴</a:t>
            </a:r>
            <a:endParaRPr sz="2300" b="0" dirty="0">
              <a:solidFill>
                <a:srgbClr val="202427"/>
              </a:solidFill>
              <a:latin typeface="Yu Gothic"/>
            </a:endParaRPr>
          </a:p>
        </p:txBody>
      </p:sp>
      <p:sp>
        <p:nvSpPr>
          <p:cNvPr id="27" name="Right Arrow 26"/>
          <p:cNvSpPr/>
          <p:nvPr/>
        </p:nvSpPr>
        <p:spPr>
          <a:xfrm>
            <a:off x="7650000" y="4554000"/>
            <a:ext cx="251999" cy="306000"/>
          </a:xfrm>
          <a:prstGeom prst="rightArrow">
            <a:avLst/>
          </a:prstGeom>
          <a:solidFill>
            <a:srgbClr val="639FA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PIPELINE_3"/>
          <p:cNvSpPr/>
          <p:nvPr/>
        </p:nvSpPr>
        <p:spPr>
          <a:xfrm>
            <a:off x="7956000" y="3690000"/>
            <a:ext cx="3420000" cy="2232000"/>
          </a:xfrm>
          <a:prstGeom prst="roundRect">
            <a:avLst>
              <a:gd name="adj" fmla="val 12000"/>
            </a:avLst>
          </a:prstGeom>
          <a:solidFill>
            <a:srgbClr val="EDF4F4"/>
          </a:solidFill>
          <a:ln w="17780">
            <a:solidFill>
              <a:srgbClr val="639FA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PIPELINE_3_TITLE"/>
          <p:cNvSpPr txBox="1"/>
          <p:nvPr/>
        </p:nvSpPr>
        <p:spPr>
          <a:xfrm>
            <a:off x="8020800" y="4050000"/>
            <a:ext cx="3290400" cy="72000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pPr>
            <a:r>
              <a:rPr sz="2600" b="1">
                <a:solidFill>
                  <a:srgbClr val="2F6F73"/>
                </a:solidFill>
                <a:latin typeface="Yu Gothic"/>
              </a:rPr>
              <a:t>複数モデル</a:t>
            </a:r>
          </a:p>
        </p:txBody>
      </p:sp>
      <p:sp>
        <p:nvSpPr>
          <p:cNvPr id="30" name="PIPELINE_3_BODY"/>
          <p:cNvSpPr txBox="1"/>
          <p:nvPr/>
        </p:nvSpPr>
        <p:spPr>
          <a:xfrm>
            <a:off x="8010000" y="5040000"/>
            <a:ext cx="3311999" cy="503999"/>
          </a:xfrm>
          <a:prstGeom prst="rect">
            <a:avLst/>
          </a:prstGeom>
          <a:noFill/>
          <a:effectLst/>
        </p:spPr>
        <p:txBody>
          <a:bodyPr wrap="square" lIns="21600" tIns="21600" rIns="21600" bIns="21600" anchor="t">
            <a:noAutofit/>
          </a:bodyPr>
          <a:lstStyle/>
          <a:p>
            <a:pPr algn="ctr">
              <a:lnSpc>
                <a:spcPct val="115000"/>
              </a:lnSpc>
              <a:spcBef>
                <a:spcPts val="0"/>
              </a:spcBef>
              <a:spcAft>
                <a:spcPts val="0"/>
              </a:spcAft>
            </a:pPr>
            <a:r>
              <a:rPr sz="2300" b="0" dirty="0" err="1">
                <a:solidFill>
                  <a:srgbClr val="202427"/>
                </a:solidFill>
                <a:latin typeface="Yu Gothic"/>
              </a:rPr>
              <a:t>予測を重み付き平均</a:t>
            </a:r>
            <a:endParaRPr sz="2300" b="0" dirty="0">
              <a:solidFill>
                <a:srgbClr val="202427"/>
              </a:solidFill>
              <a:latin typeface="Yu Gothic"/>
            </a:endParaRPr>
          </a:p>
        </p:txBody>
      </p:sp>
      <p:sp>
        <p:nvSpPr>
          <p:cNvPr id="31" name="Right Arrow 30"/>
          <p:cNvSpPr/>
          <p:nvPr/>
        </p:nvSpPr>
        <p:spPr>
          <a:xfrm>
            <a:off x="11430000" y="4554000"/>
            <a:ext cx="251999" cy="306000"/>
          </a:xfrm>
          <a:prstGeom prst="rightArrow">
            <a:avLst/>
          </a:prstGeom>
          <a:solidFill>
            <a:srgbClr val="639FA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PIPELINE_4"/>
          <p:cNvSpPr/>
          <p:nvPr/>
        </p:nvSpPr>
        <p:spPr>
          <a:xfrm>
            <a:off x="11736000" y="3690000"/>
            <a:ext cx="2520000" cy="2232000"/>
          </a:xfrm>
          <a:prstGeom prst="roundRect">
            <a:avLst>
              <a:gd name="adj" fmla="val 12000"/>
            </a:avLst>
          </a:prstGeom>
          <a:solidFill>
            <a:srgbClr val="EDF4F4"/>
          </a:solidFill>
          <a:ln w="17780">
            <a:solidFill>
              <a:srgbClr val="639FA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3" name="PIPELINE_4_TITLE"/>
          <p:cNvSpPr txBox="1"/>
          <p:nvPr/>
        </p:nvSpPr>
        <p:spPr>
          <a:xfrm>
            <a:off x="11800800" y="4050000"/>
            <a:ext cx="2390400" cy="72000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buNone/>
            </a:pPr>
            <a:r>
              <a:rPr lang="ja-JP" sz="2600" b="1" dirty="0">
                <a:solidFill>
                  <a:srgbClr val="2F6F73"/>
                </a:solidFill>
                <a:latin typeface="Yu Gothic"/>
                <a:ea typeface="Yu Gothic"/>
                <a:cs typeface="Yu Gothic"/>
              </a:rPr>
              <a:t>熱流束</a:t>
            </a:r>
          </a:p>
        </p:txBody>
      </p:sp>
      <p:sp>
        <p:nvSpPr>
          <p:cNvPr id="34" name="PIPELINE_4_BODY"/>
          <p:cNvSpPr txBox="1"/>
          <p:nvPr/>
        </p:nvSpPr>
        <p:spPr>
          <a:xfrm>
            <a:off x="11790000" y="5040000"/>
            <a:ext cx="2412000" cy="503999"/>
          </a:xfrm>
          <a:prstGeom prst="rect">
            <a:avLst/>
          </a:prstGeom>
          <a:noFill/>
          <a:effectLst/>
        </p:spPr>
        <p:txBody>
          <a:bodyPr wrap="square" lIns="21600" tIns="21600" rIns="21600" bIns="21600" anchor="t">
            <a:noAutofit/>
          </a:bodyPr>
          <a:lstStyle/>
          <a:p>
            <a:pPr algn="ctr">
              <a:lnSpc>
                <a:spcPct val="115000"/>
              </a:lnSpc>
              <a:spcBef>
                <a:spcPts val="0"/>
              </a:spcBef>
              <a:spcAft>
                <a:spcPts val="0"/>
              </a:spcAft>
              <a:buNone/>
            </a:pPr>
            <a:r>
              <a:rPr lang="ja-JP" sz="2300" b="0" dirty="0">
                <a:solidFill>
                  <a:srgbClr val="202427"/>
                </a:solidFill>
                <a:latin typeface="Yu Gothic"/>
                <a:ea typeface="Yu Gothic"/>
                <a:cs typeface="Yu Gothic"/>
              </a:rPr>
              <a:t>予測</a:t>
            </a:r>
          </a:p>
        </p:txBody>
      </p:sp>
      <p:sp>
        <p:nvSpPr>
          <p:cNvPr id="35" name="Right Arrow 34"/>
          <p:cNvSpPr/>
          <p:nvPr/>
        </p:nvSpPr>
        <p:spPr>
          <a:xfrm>
            <a:off x="14310000" y="4554000"/>
            <a:ext cx="251999" cy="306000"/>
          </a:xfrm>
          <a:prstGeom prst="rightArrow">
            <a:avLst/>
          </a:prstGeom>
          <a:solidFill>
            <a:srgbClr val="639FA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PIPELINE_5"/>
          <p:cNvSpPr/>
          <p:nvPr/>
        </p:nvSpPr>
        <p:spPr>
          <a:xfrm>
            <a:off x="14616000" y="3690000"/>
            <a:ext cx="2592000" cy="2232000"/>
          </a:xfrm>
          <a:prstGeom prst="roundRect">
            <a:avLst>
              <a:gd name="adj" fmla="val 12000"/>
            </a:avLst>
          </a:prstGeom>
          <a:solidFill>
            <a:srgbClr val="EDF4F4"/>
          </a:solidFill>
          <a:ln w="17780">
            <a:solidFill>
              <a:srgbClr val="639FA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7" name="PIPELINE_5_TITLE"/>
          <p:cNvSpPr txBox="1"/>
          <p:nvPr/>
        </p:nvSpPr>
        <p:spPr>
          <a:xfrm>
            <a:off x="14680800" y="4050000"/>
            <a:ext cx="2462400" cy="72000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pPr>
            <a:r>
              <a:rPr sz="2600" b="1" dirty="0" err="1">
                <a:solidFill>
                  <a:srgbClr val="2F6F73"/>
                </a:solidFill>
                <a:latin typeface="Yu Gothic"/>
              </a:rPr>
              <a:t>核沸騰開始</a:t>
            </a:r>
            <a:endParaRPr sz="2600" b="1" dirty="0">
              <a:solidFill>
                <a:srgbClr val="2F6F73"/>
              </a:solidFill>
              <a:latin typeface="Yu Gothic"/>
            </a:endParaRPr>
          </a:p>
        </p:txBody>
      </p:sp>
      <p:sp>
        <p:nvSpPr>
          <p:cNvPr id="38" name="PIPELINE_5_BODY"/>
          <p:cNvSpPr txBox="1"/>
          <p:nvPr/>
        </p:nvSpPr>
        <p:spPr>
          <a:xfrm>
            <a:off x="14670000" y="5040000"/>
            <a:ext cx="2484000" cy="503999"/>
          </a:xfrm>
          <a:prstGeom prst="rect">
            <a:avLst/>
          </a:prstGeom>
          <a:noFill/>
          <a:effectLst/>
        </p:spPr>
        <p:txBody>
          <a:bodyPr wrap="square" lIns="21600" tIns="21600" rIns="21600" bIns="21600" anchor="t">
            <a:noAutofit/>
          </a:bodyPr>
          <a:lstStyle/>
          <a:p>
            <a:pPr algn="ctr">
              <a:lnSpc>
                <a:spcPct val="115000"/>
              </a:lnSpc>
              <a:spcBef>
                <a:spcPts val="0"/>
              </a:spcBef>
              <a:spcAft>
                <a:spcPts val="0"/>
              </a:spcAft>
            </a:pPr>
            <a:r>
              <a:rPr sz="2300" b="0" dirty="0">
                <a:solidFill>
                  <a:srgbClr val="202427"/>
                </a:solidFill>
                <a:latin typeface="Yu Gothic"/>
              </a:rPr>
              <a:t>（</a:t>
            </a:r>
            <a:r>
              <a:rPr sz="2300" b="0" dirty="0" err="1">
                <a:solidFill>
                  <a:srgbClr val="202427"/>
                </a:solidFill>
                <a:latin typeface="Yu Gothic"/>
              </a:rPr>
              <a:t>ONB）判定</a:t>
            </a:r>
            <a:r>
              <a:rPr lang="ja-JP" altLang="en-US" sz="2300" b="0" dirty="0">
                <a:solidFill>
                  <a:srgbClr val="202427"/>
                </a:solidFill>
                <a:latin typeface="Yu Gothic"/>
              </a:rPr>
              <a:t>予測</a:t>
            </a:r>
            <a:endParaRPr sz="2300" b="0" dirty="0">
              <a:solidFill>
                <a:srgbClr val="202427"/>
              </a:solidFill>
              <a:latin typeface="Yu Gothic"/>
            </a:endParaRPr>
          </a:p>
        </p:txBody>
      </p:sp>
      <p:sp>
        <p:nvSpPr>
          <p:cNvPr id="39" name="EVALUATION_TITLE"/>
          <p:cNvSpPr txBox="1"/>
          <p:nvPr/>
        </p:nvSpPr>
        <p:spPr>
          <a:xfrm>
            <a:off x="1602000" y="7002000"/>
            <a:ext cx="4320000" cy="503999"/>
          </a:xfrm>
          <a:prstGeom prst="rect">
            <a:avLst/>
          </a:prstGeom>
          <a:noFill/>
          <a:effectLst/>
        </p:spPr>
        <p:txBody>
          <a:bodyPr wrap="square" lIns="21600" tIns="21600" rIns="21600" bIns="21600" anchor="t">
            <a:noAutofit/>
          </a:bodyPr>
          <a:lstStyle/>
          <a:p>
            <a:pPr algn="l">
              <a:lnSpc>
                <a:spcPct val="115000"/>
              </a:lnSpc>
              <a:spcBef>
                <a:spcPts val="0"/>
              </a:spcBef>
              <a:spcAft>
                <a:spcPts val="0"/>
              </a:spcAft>
              <a:buNone/>
            </a:pPr>
            <a:r>
              <a:rPr lang="ja-JP" sz="2800" b="1">
                <a:solidFill>
                  <a:srgbClr val="2F6F73"/>
                </a:solidFill>
                <a:latin typeface="Yu Gothic"/>
                <a:ea typeface="Yu Gothic"/>
                <a:cs typeface="Yu Gothic"/>
              </a:rPr>
              <a:t>確認する点</a:t>
            </a:r>
          </a:p>
        </p:txBody>
      </p:sp>
      <p:sp>
        <p:nvSpPr>
          <p:cNvPr id="41" name="QUESTION_background"/>
          <p:cNvSpPr/>
          <p:nvPr/>
        </p:nvSpPr>
        <p:spPr>
          <a:xfrm>
            <a:off x="1371600" y="7874041"/>
            <a:ext cx="16319500" cy="1521959"/>
          </a:xfrm>
          <a:prstGeom prst="rect">
            <a:avLst/>
          </a:prstGeom>
          <a:solidFill>
            <a:srgbClr val="ED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QUESTION"/>
          <p:cNvSpPr txBox="1"/>
          <p:nvPr/>
        </p:nvSpPr>
        <p:spPr>
          <a:xfrm>
            <a:off x="1659948" y="7985041"/>
            <a:ext cx="13020852" cy="1332000"/>
          </a:xfrm>
          <a:prstGeom prst="rect">
            <a:avLst/>
          </a:prstGeom>
          <a:noFill/>
          <a:effectLst/>
        </p:spPr>
        <p:txBody>
          <a:bodyPr wrap="square" lIns="21600" tIns="21600" rIns="21600" bIns="21600" anchor="ctr">
            <a:noAutofit/>
          </a:bodyPr>
          <a:lstStyle/>
          <a:p>
            <a:pPr marL="342900" indent="-342900">
              <a:buFont typeface="Wingdings" panose="05000000000000000000" pitchFamily="2" charset="2"/>
              <a:buChar char="l"/>
            </a:pPr>
            <a:r>
              <a:rPr lang="ja-JP" altLang="en-US" sz="2800" b="1" dirty="0">
                <a:solidFill>
                  <a:srgbClr val="517173"/>
                </a:solidFill>
                <a:latin typeface="游ゴシック" panose="020B0400000000000000" pitchFamily="50" charset="-128"/>
                <a:ea typeface="游ゴシック" panose="020B0400000000000000" pitchFamily="50" charset="-128"/>
              </a:rPr>
              <a:t>沸騰開始点をどこまで検知できるか</a:t>
            </a:r>
            <a:endParaRPr lang="en-US" altLang="ja-JP" sz="2800" b="1" dirty="0">
              <a:solidFill>
                <a:srgbClr val="517173"/>
              </a:solidFill>
              <a:latin typeface="游ゴシック" panose="020B0400000000000000" pitchFamily="50" charset="-128"/>
              <a:ea typeface="游ゴシック" panose="020B0400000000000000" pitchFamily="50" charset="-128"/>
            </a:endParaRPr>
          </a:p>
          <a:p>
            <a:pPr marL="342900" indent="-342900">
              <a:buFont typeface="Wingdings" panose="05000000000000000000" pitchFamily="2" charset="2"/>
              <a:buChar char="l"/>
            </a:pPr>
            <a:r>
              <a:rPr lang="ja-JP" altLang="en-US" sz="2800" b="1" dirty="0">
                <a:solidFill>
                  <a:srgbClr val="517173"/>
                </a:solidFill>
                <a:latin typeface="游ゴシック" panose="020B0400000000000000" pitchFamily="50" charset="-128"/>
                <a:ea typeface="游ゴシック" panose="020B0400000000000000" pitchFamily="50" charset="-128"/>
              </a:rPr>
              <a:t>アンサンブルによって雑音下の予測を安定させられるか</a:t>
            </a:r>
            <a:endParaRPr lang="en-US" altLang="ja-JP" sz="2800" b="1" dirty="0">
              <a:solidFill>
                <a:srgbClr val="517173"/>
              </a:solidFill>
              <a:latin typeface="游ゴシック" panose="020B0400000000000000" pitchFamily="50" charset="-128"/>
              <a:ea typeface="游ゴシック" panose="020B0400000000000000" pitchFamily="50" charset="-128"/>
            </a:endParaRPr>
          </a:p>
          <a:p>
            <a:pPr marL="342900" indent="-342900">
              <a:buFont typeface="Wingdings" panose="05000000000000000000" pitchFamily="2" charset="2"/>
              <a:buChar char="l"/>
            </a:pPr>
            <a:r>
              <a:rPr lang="ja-JP" altLang="en-US" sz="2800" b="1" dirty="0">
                <a:solidFill>
                  <a:srgbClr val="517173"/>
                </a:solidFill>
                <a:latin typeface="游ゴシック" panose="020B0400000000000000" pitchFamily="50" charset="-128"/>
                <a:ea typeface="游ゴシック" panose="020B0400000000000000" pitchFamily="50" charset="-128"/>
              </a:rPr>
              <a:t>なぜ有効なのかを音響特徴と誤り方から説明できるか</a:t>
            </a:r>
            <a:endParaRPr sz="2800" b="1" dirty="0">
              <a:solidFill>
                <a:srgbClr val="517173"/>
              </a:solidFill>
              <a:latin typeface="游ゴシック" panose="020B0400000000000000" pitchFamily="50" charset="-128"/>
              <a:ea typeface="游ゴシック" panose="020B0400000000000000" pitchFamily="50" charset="-128"/>
            </a:endParaRPr>
          </a:p>
        </p:txBody>
      </p:sp>
      <p:sp>
        <p:nvSpPr>
          <p:cNvPr id="44" name="TextBox 24">
            <a:extLst>
              <a:ext uri="{FF2B5EF4-FFF2-40B4-BE49-F238E27FC236}">
                <a16:creationId xmlns:a16="http://schemas.microsoft.com/office/drawing/2014/main" id="{401221E2-A7B7-E444-77C5-E89DF6389AB5}"/>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cs typeface="Source Han Sans JP Medium"/>
                <a:sym typeface="Source Han Sans JP Medium"/>
              </a:rPr>
              <a:t>1. </a:t>
            </a:r>
            <a:r>
              <a:rPr lang="ja-JP" altLang="en-US" sz="3000" b="1" dirty="0">
                <a:solidFill>
                  <a:srgbClr val="202020"/>
                </a:solidFill>
                <a:latin typeface="Yu Gothic"/>
                <a:ea typeface="Yu Gothic"/>
                <a:cs typeface="Source Han Sans JP Medium"/>
                <a:sym typeface="Source Han Sans JP Medium"/>
              </a:rPr>
              <a:t>研究概要</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CF3F5-4B2E-36F9-354F-CAA505F056F0}"/>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B20A23BD-0F38-3106-2E6D-E04A5EB855C8}"/>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8C215EB4-1178-C867-7165-B0515D04A1EA}"/>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B90D9F0C-4C7A-3922-6CDB-A329AB118B0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8ADBD06B-E686-9F83-FE49-BF0C98FB87A6}"/>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539EC3B9-367F-D897-48F8-901C29308796}"/>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DF090571-8273-362D-C75B-FFAF521A04C3}"/>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80EB6EFD-82E3-6844-D316-FC4893D68D29}"/>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A3E04185-0D01-F4DC-9991-4E0C6C96B02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4F6EEB25-36DD-BFE0-F172-0032D440637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C89D5582-C53D-ABD7-15C2-7F041C213E7E}"/>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5F44CF72-A49F-3859-D9F7-36BDF46DBEC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81621266-0D52-33D4-FB0F-2DA3EC04C36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5B23D273-8DFF-5BDB-CA6B-0A321BB93B30}"/>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20007EC-510E-0E06-BDC2-09749B61A1A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674377D4-38AE-DD94-560E-1C5338965ED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2EFDD14E-0D87-2412-F74B-B3A74D4A11F3}"/>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4</a:t>
            </a:fld>
            <a:endParaRPr lang="en-US" sz="2400" dirty="0">
              <a:solidFill>
                <a:schemeClr val="bg1"/>
              </a:solidFill>
            </a:endParaRPr>
          </a:p>
        </p:txBody>
      </p:sp>
      <p:sp>
        <p:nvSpPr>
          <p:cNvPr id="513" name="TextBox 24">
            <a:extLst>
              <a:ext uri="{FF2B5EF4-FFF2-40B4-BE49-F238E27FC236}">
                <a16:creationId xmlns:a16="http://schemas.microsoft.com/office/drawing/2014/main" id="{FB9B8D3E-E584-4C81-19CC-E9EA7B833829}"/>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ja-JP" altLang="en-US" sz="3000" b="1" dirty="0">
                <a:solidFill>
                  <a:srgbClr val="202020"/>
                </a:solidFill>
                <a:latin typeface="Yu Gothic"/>
                <a:ea typeface="Yu Gothic"/>
                <a:cs typeface="Source Han Sans JP Medium"/>
                <a:sym typeface="Source Han Sans JP Medium"/>
              </a:rPr>
              <a:t>今回の発表内容</a:t>
            </a:r>
          </a:p>
        </p:txBody>
      </p:sp>
      <p:sp>
        <p:nvSpPr>
          <p:cNvPr id="2" name="テキスト ボックス 1">
            <a:extLst>
              <a:ext uri="{FF2B5EF4-FFF2-40B4-BE49-F238E27FC236}">
                <a16:creationId xmlns:a16="http://schemas.microsoft.com/office/drawing/2014/main" id="{2FC95BD1-8CBC-2CC2-1F75-08DDD44F28FE}"/>
              </a:ext>
            </a:extLst>
          </p:cNvPr>
          <p:cNvSpPr txBox="1"/>
          <p:nvPr/>
        </p:nvSpPr>
        <p:spPr>
          <a:xfrm>
            <a:off x="2590800" y="4038600"/>
            <a:ext cx="1143000" cy="2209800"/>
          </a:xfrm>
          <a:prstGeom prst="rect">
            <a:avLst/>
          </a:prstGeom>
          <a:noFill/>
        </p:spPr>
        <p:txBody>
          <a:bodyPr vertOverflow="overflow" vert="horz" wrap="square" rtlCol="0" anchor="t">
            <a:noAutofit/>
          </a:bodyPr>
          <a:lstStyle/>
          <a:p>
            <a:pPr algn="l"/>
            <a:r>
              <a:rPr lang="en-US" altLang="ja-JP" sz="4400" dirty="0">
                <a:solidFill>
                  <a:srgbClr val="202020"/>
                </a:solidFill>
                <a:latin typeface="Yu Gothic"/>
                <a:ea typeface="Yu Gothic"/>
              </a:rPr>
              <a:t>01
02
03</a:t>
            </a:r>
          </a:p>
          <a:p>
            <a:pPr algn="l"/>
            <a:endParaRPr lang="en-US" altLang="ja-JP" sz="4400" dirty="0">
              <a:solidFill>
                <a:srgbClr val="202020"/>
              </a:solidFill>
              <a:latin typeface="Yu Gothic"/>
              <a:ea typeface="Yu Gothic"/>
            </a:endParaRPr>
          </a:p>
          <a:p>
            <a:pPr algn="l"/>
            <a:r>
              <a:rPr lang="en-US" altLang="ja-JP" sz="4400" dirty="0">
                <a:solidFill>
                  <a:srgbClr val="202020"/>
                </a:solidFill>
                <a:latin typeface="Yu Gothic"/>
                <a:ea typeface="Yu Gothic"/>
              </a:rPr>
              <a:t>04</a:t>
            </a:r>
            <a:endParaRPr lang="ja-JP" altLang="en-US" sz="4400" dirty="0">
              <a:solidFill>
                <a:srgbClr val="202020"/>
              </a:solidFill>
              <a:latin typeface="Yu Gothic"/>
              <a:ea typeface="Yu Gothic"/>
            </a:endParaRPr>
          </a:p>
        </p:txBody>
      </p:sp>
      <p:sp>
        <p:nvSpPr>
          <p:cNvPr id="3" name="テキスト ボックス 2">
            <a:extLst>
              <a:ext uri="{FF2B5EF4-FFF2-40B4-BE49-F238E27FC236}">
                <a16:creationId xmlns:a16="http://schemas.microsoft.com/office/drawing/2014/main" id="{F6DC62F1-A9DF-FF2E-4CF9-3DD2FFE0B8F3}"/>
              </a:ext>
            </a:extLst>
          </p:cNvPr>
          <p:cNvSpPr txBox="1"/>
          <p:nvPr/>
        </p:nvSpPr>
        <p:spPr>
          <a:xfrm>
            <a:off x="3886200" y="4038600"/>
            <a:ext cx="13944600" cy="3390900"/>
          </a:xfrm>
          <a:prstGeom prst="rect">
            <a:avLst/>
          </a:prstGeom>
          <a:noFill/>
        </p:spPr>
        <p:txBody>
          <a:bodyPr vertOverflow="overflow" vert="horz" wrap="square" rtlCol="0" anchor="t">
            <a:noAutofit/>
          </a:bodyPr>
          <a:lstStyle/>
          <a:p>
            <a:r>
              <a:rPr lang="ja-JP" altLang="en-US" sz="4400" b="1" dirty="0">
                <a:solidFill>
                  <a:srgbClr val="202020"/>
                </a:solidFill>
                <a:latin typeface="游ゴシック" panose="020B0400000000000000" pitchFamily="50" charset="-128"/>
                <a:ea typeface="游ゴシック" panose="020B0400000000000000" pitchFamily="50" charset="-128"/>
              </a:rPr>
              <a:t>研究概要</a:t>
            </a:r>
          </a:p>
          <a:p>
            <a:r>
              <a:rPr lang="ja-JP" altLang="en-US" sz="4400" b="1" dirty="0">
                <a:solidFill>
                  <a:srgbClr val="202020"/>
                </a:solidFill>
                <a:latin typeface="游ゴシック" panose="020B0400000000000000" pitchFamily="50" charset="-128"/>
                <a:ea typeface="游ゴシック" panose="020B0400000000000000" pitchFamily="50" charset="-128"/>
              </a:rPr>
              <a:t>雑音評価方法の見直し</a:t>
            </a:r>
            <a:endParaRPr lang="en-US" altLang="ja-JP" sz="4400" b="1" dirty="0">
              <a:solidFill>
                <a:srgbClr val="202020"/>
              </a:solidFill>
              <a:latin typeface="游ゴシック" panose="020B0400000000000000" pitchFamily="50" charset="-128"/>
              <a:ea typeface="游ゴシック" panose="020B0400000000000000" pitchFamily="50" charset="-128"/>
            </a:endParaRPr>
          </a:p>
          <a:p>
            <a:r>
              <a:rPr lang="ja-JP" altLang="en-US" sz="4400" b="1" dirty="0">
                <a:solidFill>
                  <a:srgbClr val="202020"/>
                </a:solidFill>
                <a:latin typeface="游ゴシック" panose="020B0400000000000000" pitchFamily="50" charset="-128"/>
                <a:ea typeface="游ゴシック" panose="020B0400000000000000" pitchFamily="50" charset="-128"/>
              </a:rPr>
              <a:t>アンサンブルにモデルを追加して検証＋各モデルの予測誤差を考慮した検証</a:t>
            </a:r>
            <a:endParaRPr lang="en-US" altLang="ja-JP" sz="4400" b="1" dirty="0">
              <a:solidFill>
                <a:srgbClr val="202020"/>
              </a:solidFill>
              <a:latin typeface="游ゴシック" panose="020B0400000000000000" pitchFamily="50" charset="-128"/>
              <a:ea typeface="游ゴシック" panose="020B0400000000000000" pitchFamily="50" charset="-128"/>
            </a:endParaRPr>
          </a:p>
          <a:p>
            <a:r>
              <a:rPr lang="ja-JP" altLang="en-US" sz="4400" b="1" dirty="0">
                <a:solidFill>
                  <a:srgbClr val="202020"/>
                </a:solidFill>
                <a:latin typeface="游ゴシック" panose="020B0400000000000000" pitchFamily="50" charset="-128"/>
                <a:ea typeface="游ゴシック" panose="020B0400000000000000" pitchFamily="50" charset="-128"/>
              </a:rPr>
              <a:t>修士論文の構成と後期計画</a:t>
            </a:r>
          </a:p>
        </p:txBody>
      </p:sp>
    </p:spTree>
    <p:extLst>
      <p:ext uri="{BB962C8B-B14F-4D97-AF65-F5344CB8AC3E}">
        <p14:creationId xmlns:p14="http://schemas.microsoft.com/office/powerpoint/2010/main" val="576681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56">
            <a:extLst>
              <a:ext uri="{FF2B5EF4-FFF2-40B4-BE49-F238E27FC236}">
                <a16:creationId xmlns:a16="http://schemas.microsoft.com/office/drawing/2014/main" id="{75BFE32B-F018-C4E4-FAB7-80C0D2CDC22E}"/>
              </a:ext>
            </a:extLst>
          </p:cNvPr>
          <p:cNvGrpSpPr/>
          <p:nvPr/>
        </p:nvGrpSpPr>
        <p:grpSpPr>
          <a:xfrm>
            <a:off x="270494" y="246431"/>
            <a:ext cx="698205" cy="10040568"/>
            <a:chOff x="270494" y="246431"/>
            <a:chExt cx="698205" cy="10040568"/>
          </a:xfrm>
        </p:grpSpPr>
        <p:pic>
          <p:nvPicPr>
            <p:cNvPr id="3" name="図 57">
              <a:extLst>
                <a:ext uri="{FF2B5EF4-FFF2-40B4-BE49-F238E27FC236}">
                  <a16:creationId xmlns:a16="http://schemas.microsoft.com/office/drawing/2014/main" id="{1226A433-2043-B47F-E0E8-72C7A0748C7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4" name="テキスト ボックス 58">
              <a:extLst>
                <a:ext uri="{FF2B5EF4-FFF2-40B4-BE49-F238E27FC236}">
                  <a16:creationId xmlns:a16="http://schemas.microsoft.com/office/drawing/2014/main" id="{F53AD6DF-8ABC-58C4-0BDA-981F712C6600}"/>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 name="直線コネクタ 59">
              <a:extLst>
                <a:ext uri="{FF2B5EF4-FFF2-40B4-BE49-F238E27FC236}">
                  <a16:creationId xmlns:a16="http://schemas.microsoft.com/office/drawing/2014/main" id="{583BFE6C-617D-A3DC-D51E-18A6133895A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 name="フローチャート: 論理積ゲート 60">
              <a:extLst>
                <a:ext uri="{FF2B5EF4-FFF2-40B4-BE49-F238E27FC236}">
                  <a16:creationId xmlns:a16="http://schemas.microsoft.com/office/drawing/2014/main" id="{63EE0EEB-3C48-D4D2-9411-176CDF6BB0D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Group 3">
            <a:extLst>
              <a:ext uri="{FF2B5EF4-FFF2-40B4-BE49-F238E27FC236}">
                <a16:creationId xmlns:a16="http://schemas.microsoft.com/office/drawing/2014/main" id="{66CE81F5-9908-5CB9-4AC3-1FCBE2FF3FAA}"/>
              </a:ext>
            </a:extLst>
          </p:cNvPr>
          <p:cNvGrpSpPr/>
          <p:nvPr/>
        </p:nvGrpSpPr>
        <p:grpSpPr>
          <a:xfrm>
            <a:off x="1371600" y="1069258"/>
            <a:ext cx="16064988" cy="125708"/>
            <a:chOff x="0" y="0"/>
            <a:chExt cx="22021800" cy="190500"/>
          </a:xfrm>
        </p:grpSpPr>
        <p:grpSp>
          <p:nvGrpSpPr>
            <p:cNvPr id="8" name="Group 4">
              <a:extLst>
                <a:ext uri="{FF2B5EF4-FFF2-40B4-BE49-F238E27FC236}">
                  <a16:creationId xmlns:a16="http://schemas.microsoft.com/office/drawing/2014/main" id="{F18484CA-1C82-F32C-E492-71BB690B31BD}"/>
                </a:ext>
              </a:extLst>
            </p:cNvPr>
            <p:cNvGrpSpPr/>
            <p:nvPr/>
          </p:nvGrpSpPr>
          <p:grpSpPr>
            <a:xfrm>
              <a:off x="0" y="0"/>
              <a:ext cx="7340600" cy="190500"/>
              <a:chOff x="0" y="0"/>
              <a:chExt cx="1449995" cy="37630"/>
            </a:xfrm>
          </p:grpSpPr>
          <p:sp>
            <p:nvSpPr>
              <p:cNvPr id="9" name="Freeform 5">
                <a:extLst>
                  <a:ext uri="{FF2B5EF4-FFF2-40B4-BE49-F238E27FC236}">
                    <a16:creationId xmlns:a16="http://schemas.microsoft.com/office/drawing/2014/main" id="{99894FA7-D161-F806-1A5F-52AABFBB08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0" name="TextBox 6">
                <a:extLst>
                  <a:ext uri="{FF2B5EF4-FFF2-40B4-BE49-F238E27FC236}">
                    <a16:creationId xmlns:a16="http://schemas.microsoft.com/office/drawing/2014/main" id="{72556C4C-3473-3018-70C4-085FA6F987B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1" name="Group 7">
              <a:extLst>
                <a:ext uri="{FF2B5EF4-FFF2-40B4-BE49-F238E27FC236}">
                  <a16:creationId xmlns:a16="http://schemas.microsoft.com/office/drawing/2014/main" id="{F7A34761-E638-B2A2-9E72-32563CB39D5B}"/>
                </a:ext>
              </a:extLst>
            </p:cNvPr>
            <p:cNvGrpSpPr/>
            <p:nvPr/>
          </p:nvGrpSpPr>
          <p:grpSpPr>
            <a:xfrm>
              <a:off x="7340600" y="0"/>
              <a:ext cx="7340600" cy="190500"/>
              <a:chOff x="0" y="0"/>
              <a:chExt cx="1449995" cy="37630"/>
            </a:xfrm>
          </p:grpSpPr>
          <p:sp>
            <p:nvSpPr>
              <p:cNvPr id="12" name="Freeform 8">
                <a:extLst>
                  <a:ext uri="{FF2B5EF4-FFF2-40B4-BE49-F238E27FC236}">
                    <a16:creationId xmlns:a16="http://schemas.microsoft.com/office/drawing/2014/main" id="{66779A7D-5ECB-D310-B556-EC0E21709BC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13" name="TextBox 9">
                <a:extLst>
                  <a:ext uri="{FF2B5EF4-FFF2-40B4-BE49-F238E27FC236}">
                    <a16:creationId xmlns:a16="http://schemas.microsoft.com/office/drawing/2014/main" id="{96F89EAF-9FB5-76B1-24F0-8313C0D5D3B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4" name="Group 10">
              <a:extLst>
                <a:ext uri="{FF2B5EF4-FFF2-40B4-BE49-F238E27FC236}">
                  <a16:creationId xmlns:a16="http://schemas.microsoft.com/office/drawing/2014/main" id="{0F7B6D61-78D9-D77B-900A-F293F294C432}"/>
                </a:ext>
              </a:extLst>
            </p:cNvPr>
            <p:cNvGrpSpPr/>
            <p:nvPr/>
          </p:nvGrpSpPr>
          <p:grpSpPr>
            <a:xfrm>
              <a:off x="14681200" y="0"/>
              <a:ext cx="7340600" cy="190500"/>
              <a:chOff x="0" y="0"/>
              <a:chExt cx="1449995" cy="37630"/>
            </a:xfrm>
          </p:grpSpPr>
          <p:sp>
            <p:nvSpPr>
              <p:cNvPr id="15" name="Freeform 11">
                <a:extLst>
                  <a:ext uri="{FF2B5EF4-FFF2-40B4-BE49-F238E27FC236}">
                    <a16:creationId xmlns:a16="http://schemas.microsoft.com/office/drawing/2014/main" id="{3CE663F6-1B9A-DFEE-C6F5-CE676E3CD07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6" name="TextBox 12">
                <a:extLst>
                  <a:ext uri="{FF2B5EF4-FFF2-40B4-BE49-F238E27FC236}">
                    <a16:creationId xmlns:a16="http://schemas.microsoft.com/office/drawing/2014/main" id="{509D1305-F68D-3300-CC15-A5584E7FBBA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PAGE_NUMBER"/>
          <p:cNvSpPr txBox="1"/>
          <p:nvPr/>
        </p:nvSpPr>
        <p:spPr>
          <a:xfrm>
            <a:off x="270000" y="9748800"/>
            <a:ext cx="599400" cy="46224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buNone/>
            </a:pPr>
            <a:r>
              <a:rPr lang="ja-JP" sz="2400" b="0">
                <a:solidFill>
                  <a:srgbClr val="FFFFFF"/>
                </a:solidFill>
                <a:latin typeface="Yu Gothic"/>
                <a:ea typeface="Yu Gothic"/>
                <a:cs typeface="Yu Gothic"/>
              </a:rPr>
              <a:t>4</a:t>
            </a:r>
          </a:p>
        </p:txBody>
      </p:sp>
      <p:sp>
        <p:nvSpPr>
          <p:cNvPr id="19" name="MAIN_MESSAGE"/>
          <p:cNvSpPr txBox="1"/>
          <p:nvPr/>
        </p:nvSpPr>
        <p:spPr>
          <a:xfrm>
            <a:off x="1512000" y="1422000"/>
            <a:ext cx="15912000" cy="1044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3200" b="1" dirty="0">
                <a:solidFill>
                  <a:srgbClr val="202427"/>
                </a:solidFill>
                <a:latin typeface="Yu Gothic"/>
              </a:rPr>
              <a:t>ノイズ増加時に精度が上がる問題への対応として，</a:t>
            </a:r>
            <a:r>
              <a:rPr sz="3200" b="1" dirty="0">
                <a:solidFill>
                  <a:srgbClr val="202427"/>
                </a:solidFill>
                <a:latin typeface="Yu Gothic"/>
              </a:rPr>
              <a:t>旧</a:t>
            </a:r>
            <a:r>
              <a:rPr lang="ja-JP" altLang="en-US" sz="3200" b="1" dirty="0">
                <a:solidFill>
                  <a:srgbClr val="202427"/>
                </a:solidFill>
                <a:latin typeface="Yu Gothic"/>
              </a:rPr>
              <a:t>学習方式</a:t>
            </a:r>
            <a:r>
              <a:rPr sz="3200" b="1" dirty="0" err="1">
                <a:solidFill>
                  <a:srgbClr val="202427"/>
                </a:solidFill>
                <a:latin typeface="Yu Gothic"/>
              </a:rPr>
              <a:t>を修正し</a:t>
            </a:r>
            <a:r>
              <a:rPr sz="3200" b="1" dirty="0">
                <a:solidFill>
                  <a:srgbClr val="202427"/>
                </a:solidFill>
                <a:latin typeface="Yu Gothic"/>
              </a:rPr>
              <a:t>，</a:t>
            </a:r>
            <a:r>
              <a:rPr lang="ja-JP" altLang="en-US" sz="3200" b="1" dirty="0">
                <a:solidFill>
                  <a:srgbClr val="202427"/>
                </a:solidFill>
                <a:latin typeface="Yu Gothic"/>
              </a:rPr>
              <a:t>「</a:t>
            </a:r>
            <a:r>
              <a:rPr sz="3200" b="1" dirty="0" err="1">
                <a:solidFill>
                  <a:srgbClr val="202427"/>
                </a:solidFill>
                <a:latin typeface="Yu Gothic"/>
              </a:rPr>
              <a:t>学習済みモデル</a:t>
            </a:r>
            <a:r>
              <a:rPr lang="ja-JP" altLang="en-US" sz="3200" b="1" dirty="0">
                <a:solidFill>
                  <a:srgbClr val="202427"/>
                </a:solidFill>
                <a:latin typeface="Yu Gothic"/>
              </a:rPr>
              <a:t>を固定し評価入力に加えた雑音の影響を調べる方式」を実施</a:t>
            </a:r>
            <a:endParaRPr sz="3200" b="1" dirty="0">
              <a:solidFill>
                <a:srgbClr val="202427"/>
              </a:solidFill>
              <a:latin typeface="Yu Gothic"/>
            </a:endParaRPr>
          </a:p>
        </p:txBody>
      </p:sp>
      <p:sp>
        <p:nvSpPr>
          <p:cNvPr id="21" name="LEFT_TITLE"/>
          <p:cNvSpPr txBox="1"/>
          <p:nvPr/>
        </p:nvSpPr>
        <p:spPr>
          <a:xfrm>
            <a:off x="1575500" y="3009900"/>
            <a:ext cx="8568000" cy="432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2800" b="1" dirty="0" err="1">
                <a:solidFill>
                  <a:srgbClr val="2F6F73"/>
                </a:solidFill>
                <a:latin typeface="Yu Gothic"/>
              </a:rPr>
              <a:t>旧方式に含まれていた問題</a:t>
            </a:r>
            <a:endParaRPr sz="2800" b="1" dirty="0">
              <a:solidFill>
                <a:srgbClr val="2F6F73"/>
              </a:solidFill>
              <a:latin typeface="Yu Gothic"/>
            </a:endParaRPr>
          </a:p>
        </p:txBody>
      </p:sp>
      <p:sp>
        <p:nvSpPr>
          <p:cNvPr id="27" name="RIGHT_TITLE"/>
          <p:cNvSpPr txBox="1"/>
          <p:nvPr/>
        </p:nvSpPr>
        <p:spPr>
          <a:xfrm>
            <a:off x="9829800" y="3009900"/>
            <a:ext cx="6768000" cy="432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2700" b="1">
                <a:solidFill>
                  <a:srgbClr val="2F6F73"/>
                </a:solidFill>
                <a:latin typeface="Yu Gothic"/>
              </a:rPr>
              <a:t>今回の評価方法</a:t>
            </a:r>
          </a:p>
        </p:txBody>
      </p:sp>
      <p:sp>
        <p:nvSpPr>
          <p:cNvPr id="36" name="MATCHED_CAVEAT_background"/>
          <p:cNvSpPr/>
          <p:nvPr/>
        </p:nvSpPr>
        <p:spPr>
          <a:xfrm>
            <a:off x="1588200" y="8880600"/>
            <a:ext cx="15912000" cy="792000"/>
          </a:xfrm>
          <a:prstGeom prst="rect">
            <a:avLst/>
          </a:prstGeom>
          <a:solidFill>
            <a:srgbClr val="ED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7" name="MATCHED_CAVEAT"/>
          <p:cNvSpPr txBox="1"/>
          <p:nvPr/>
        </p:nvSpPr>
        <p:spPr>
          <a:xfrm>
            <a:off x="1696200" y="8898600"/>
            <a:ext cx="15696000" cy="756000"/>
          </a:xfrm>
          <a:prstGeom prst="rect">
            <a:avLst/>
          </a:prstGeom>
          <a:noFill/>
          <a:effectLst/>
        </p:spPr>
        <p:txBody>
          <a:bodyPr wrap="square" lIns="21600" tIns="21600" rIns="21600" bIns="21600" anchor="ctr">
            <a:noAutofit/>
          </a:bodyPr>
          <a:lstStyle/>
          <a:p>
            <a:pPr algn="l">
              <a:lnSpc>
                <a:spcPct val="115000"/>
              </a:lnSpc>
              <a:spcBef>
                <a:spcPts val="0"/>
              </a:spcBef>
              <a:spcAft>
                <a:spcPts val="0"/>
              </a:spcAft>
            </a:pPr>
            <a:r>
              <a:rPr sz="2500" b="1" dirty="0" err="1">
                <a:solidFill>
                  <a:srgbClr val="2F6F73"/>
                </a:solidFill>
                <a:latin typeface="Yu Gothic"/>
              </a:rPr>
              <a:t>各雑音条件で学習し直す評価では一部の精度回復が残ったため，今回は同じモデルを固定して比較する</a:t>
            </a:r>
            <a:endParaRPr sz="2500" b="1" dirty="0">
              <a:solidFill>
                <a:srgbClr val="2F6F73"/>
              </a:solidFill>
              <a:latin typeface="Yu Gothic"/>
            </a:endParaRPr>
          </a:p>
        </p:txBody>
      </p:sp>
      <p:sp>
        <p:nvSpPr>
          <p:cNvPr id="24" name="TextBox 24">
            <a:extLst>
              <a:ext uri="{FF2B5EF4-FFF2-40B4-BE49-F238E27FC236}">
                <a16:creationId xmlns:a16="http://schemas.microsoft.com/office/drawing/2014/main" id="{EBD41ACF-3CFC-80A2-A097-E997DCC34F1B}"/>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cs typeface="Source Han Sans JP Medium"/>
                <a:sym typeface="Source Han Sans JP Medium"/>
              </a:rPr>
              <a:t>1. </a:t>
            </a:r>
            <a:r>
              <a:rPr lang="ja-JP" altLang="en-US" sz="3000" b="1" dirty="0">
                <a:solidFill>
                  <a:srgbClr val="202020"/>
                </a:solidFill>
                <a:latin typeface="Yu Gothic"/>
                <a:ea typeface="Yu Gothic"/>
                <a:cs typeface="Source Han Sans JP Medium"/>
                <a:sym typeface="Source Han Sans JP Medium"/>
              </a:rPr>
              <a:t>雑音評価方法の見直し</a:t>
            </a:r>
          </a:p>
        </p:txBody>
      </p:sp>
      <p:sp>
        <p:nvSpPr>
          <p:cNvPr id="20" name="LEFT_TITLE">
            <a:extLst>
              <a:ext uri="{FF2B5EF4-FFF2-40B4-BE49-F238E27FC236}">
                <a16:creationId xmlns:a16="http://schemas.microsoft.com/office/drawing/2014/main" id="{47680703-1880-4936-1731-9697CB9D8BA8}"/>
              </a:ext>
            </a:extLst>
          </p:cNvPr>
          <p:cNvSpPr txBox="1"/>
          <p:nvPr/>
        </p:nvSpPr>
        <p:spPr>
          <a:xfrm>
            <a:off x="1819495" y="3771900"/>
            <a:ext cx="7758589" cy="5174700"/>
          </a:xfrm>
          <a:prstGeom prst="rect">
            <a:avLst/>
          </a:prstGeom>
          <a:noFill/>
          <a:effectLst/>
        </p:spPr>
        <p:txBody>
          <a:bodyPr wrap="square" lIns="21600" tIns="21600" rIns="21600" bIns="21600" anchor="t">
            <a:noAutofit/>
          </a:bodyPr>
          <a:lstStyle/>
          <a:p>
            <a:pPr marL="457200" indent="-457200" algn="l">
              <a:lnSpc>
                <a:spcPct val="115000"/>
              </a:lnSpc>
              <a:spcBef>
                <a:spcPts val="0"/>
              </a:spcBef>
              <a:spcAft>
                <a:spcPts val="0"/>
              </a:spcAft>
              <a:buFont typeface="Wingdings" panose="05000000000000000000" pitchFamily="2" charset="2"/>
              <a:buChar char="l"/>
            </a:pPr>
            <a:r>
              <a:rPr lang="ja-JP" altLang="en-US" sz="2800" b="1" dirty="0">
                <a:latin typeface="Yu Gothic"/>
              </a:rPr>
              <a:t>ノイズ付加データ作成時の問題</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元の音の強さが付加した雑音の強さにも反映されていた</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→ノイズが大きくなるにつれてノイズ自体を根拠として予測し，高い精度となっていた</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そのため，固定した基準強度を用いる生成へ修正</a:t>
            </a:r>
            <a:endParaRPr lang="en-US" altLang="ja-JP" sz="2800" b="1" dirty="0">
              <a:latin typeface="Yu Gothic"/>
            </a:endParaRPr>
          </a:p>
          <a:p>
            <a:pPr marL="457200" indent="-457200">
              <a:lnSpc>
                <a:spcPct val="115000"/>
              </a:lnSpc>
              <a:buFont typeface="Wingdings" panose="05000000000000000000" pitchFamily="2" charset="2"/>
              <a:buChar char="l"/>
            </a:pPr>
            <a:r>
              <a:rPr lang="ja-JP" altLang="en-US" sz="2800" b="1" dirty="0">
                <a:latin typeface="Yu Gothic"/>
              </a:rPr>
              <a:t>学習と検証時の問題</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どちらも同じノイズ強度で行われていた</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→ノイズが大きくても高精度となっていた</a:t>
            </a:r>
            <a:endParaRPr sz="2800" b="1" dirty="0">
              <a:latin typeface="Yu Gothic"/>
            </a:endParaRPr>
          </a:p>
        </p:txBody>
      </p:sp>
      <p:sp>
        <p:nvSpPr>
          <p:cNvPr id="38" name="LEFT_TITLE">
            <a:extLst>
              <a:ext uri="{FF2B5EF4-FFF2-40B4-BE49-F238E27FC236}">
                <a16:creationId xmlns:a16="http://schemas.microsoft.com/office/drawing/2014/main" id="{AEB597FD-1A88-608C-F7BC-70AE795C68E5}"/>
              </a:ext>
            </a:extLst>
          </p:cNvPr>
          <p:cNvSpPr txBox="1"/>
          <p:nvPr/>
        </p:nvSpPr>
        <p:spPr>
          <a:xfrm>
            <a:off x="10061795" y="3771900"/>
            <a:ext cx="7758589" cy="5174700"/>
          </a:xfrm>
          <a:prstGeom prst="rect">
            <a:avLst/>
          </a:prstGeom>
          <a:noFill/>
          <a:effectLst/>
        </p:spPr>
        <p:txBody>
          <a:bodyPr wrap="square" lIns="21600" tIns="21600" rIns="21600" bIns="21600" anchor="t">
            <a:noAutofit/>
          </a:bodyPr>
          <a:lstStyle/>
          <a:p>
            <a:pPr marL="457200" indent="-457200" algn="l">
              <a:lnSpc>
                <a:spcPct val="115000"/>
              </a:lnSpc>
              <a:spcBef>
                <a:spcPts val="0"/>
              </a:spcBef>
              <a:spcAft>
                <a:spcPts val="0"/>
              </a:spcAft>
              <a:buFont typeface="Wingdings" panose="05000000000000000000" pitchFamily="2" charset="2"/>
              <a:buChar char="l"/>
            </a:pPr>
            <a:r>
              <a:rPr lang="ja-JP" altLang="en-US" sz="2800" b="1" dirty="0">
                <a:latin typeface="Yu Gothic"/>
              </a:rPr>
              <a:t>学習時</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無雑音データのみ</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作成するモデルは上記無雑音データで学習したモデルのみ</a:t>
            </a:r>
            <a:endParaRPr lang="en-US" altLang="ja-JP" sz="2800" b="1" dirty="0">
              <a:latin typeface="Yu Gothic"/>
            </a:endParaRPr>
          </a:p>
          <a:p>
            <a:pPr marL="457200" indent="-457200" algn="l">
              <a:lnSpc>
                <a:spcPct val="115000"/>
              </a:lnSpc>
              <a:spcBef>
                <a:spcPts val="0"/>
              </a:spcBef>
              <a:spcAft>
                <a:spcPts val="0"/>
              </a:spcAft>
              <a:buFont typeface="Wingdings" panose="05000000000000000000" pitchFamily="2" charset="2"/>
              <a:buChar char="l"/>
            </a:pPr>
            <a:r>
              <a:rPr lang="ja-JP" altLang="en-US" sz="2800" b="1" dirty="0">
                <a:latin typeface="Yu Gothic"/>
              </a:rPr>
              <a:t>検証時</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検証データでは，従来と同じく各ノイズ段階のデータを作成する</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無雑音データ学習モデルを，無雑音～</a:t>
            </a:r>
            <a:r>
              <a:rPr lang="en-US" altLang="ja-JP" sz="2800" b="1" dirty="0">
                <a:latin typeface="Yu Gothic"/>
              </a:rPr>
              <a:t>SNR-20</a:t>
            </a:r>
            <a:r>
              <a:rPr lang="ja-JP" altLang="en-US" sz="2800" b="1" dirty="0">
                <a:latin typeface="Yu Gothic"/>
              </a:rPr>
              <a:t>のデータで検証する</a:t>
            </a:r>
            <a:endParaRPr sz="2800" b="1" dirty="0">
              <a:latin typeface="Yu Goth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8C22E-E433-4AF9-DD21-8A6F2A0275F0}"/>
            </a:ext>
          </a:extLst>
        </p:cNvPr>
        <p:cNvGrpSpPr/>
        <p:nvPr/>
      </p:nvGrpSpPr>
      <p:grpSpPr>
        <a:xfrm>
          <a:off x="0" y="0"/>
          <a:ext cx="0" cy="0"/>
          <a:chOff x="0" y="0"/>
          <a:chExt cx="0" cy="0"/>
        </a:xfrm>
      </p:grpSpPr>
      <p:grpSp>
        <p:nvGrpSpPr>
          <p:cNvPr id="2" name="グループ化 56">
            <a:extLst>
              <a:ext uri="{FF2B5EF4-FFF2-40B4-BE49-F238E27FC236}">
                <a16:creationId xmlns:a16="http://schemas.microsoft.com/office/drawing/2014/main" id="{6F4328E0-6360-B547-39B6-C7C8AD395FF6}"/>
              </a:ext>
            </a:extLst>
          </p:cNvPr>
          <p:cNvGrpSpPr/>
          <p:nvPr/>
        </p:nvGrpSpPr>
        <p:grpSpPr>
          <a:xfrm>
            <a:off x="270494" y="246431"/>
            <a:ext cx="698205" cy="10040568"/>
            <a:chOff x="270494" y="246431"/>
            <a:chExt cx="698205" cy="10040568"/>
          </a:xfrm>
        </p:grpSpPr>
        <p:pic>
          <p:nvPicPr>
            <p:cNvPr id="3" name="図 57">
              <a:extLst>
                <a:ext uri="{FF2B5EF4-FFF2-40B4-BE49-F238E27FC236}">
                  <a16:creationId xmlns:a16="http://schemas.microsoft.com/office/drawing/2014/main" id="{2074A33E-E37A-AAA8-BE6E-BD7539475488}"/>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4" name="テキスト ボックス 58">
              <a:extLst>
                <a:ext uri="{FF2B5EF4-FFF2-40B4-BE49-F238E27FC236}">
                  <a16:creationId xmlns:a16="http://schemas.microsoft.com/office/drawing/2014/main" id="{2FF185C6-7A95-4616-2D7B-3E5BAABD20E2}"/>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 name="直線コネクタ 59">
              <a:extLst>
                <a:ext uri="{FF2B5EF4-FFF2-40B4-BE49-F238E27FC236}">
                  <a16:creationId xmlns:a16="http://schemas.microsoft.com/office/drawing/2014/main" id="{B1AE5887-3192-D008-0F70-04717D66A6A1}"/>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 name="フローチャート: 論理積ゲート 60">
              <a:extLst>
                <a:ext uri="{FF2B5EF4-FFF2-40B4-BE49-F238E27FC236}">
                  <a16:creationId xmlns:a16="http://schemas.microsoft.com/office/drawing/2014/main" id="{EF072C5E-BC53-7650-4942-27AE819AB90A}"/>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Group 3">
            <a:extLst>
              <a:ext uri="{FF2B5EF4-FFF2-40B4-BE49-F238E27FC236}">
                <a16:creationId xmlns:a16="http://schemas.microsoft.com/office/drawing/2014/main" id="{0289296E-8235-AE4F-651B-DD45DB88F05E}"/>
              </a:ext>
            </a:extLst>
          </p:cNvPr>
          <p:cNvGrpSpPr/>
          <p:nvPr/>
        </p:nvGrpSpPr>
        <p:grpSpPr>
          <a:xfrm>
            <a:off x="1371600" y="1069258"/>
            <a:ext cx="16064988" cy="125708"/>
            <a:chOff x="0" y="0"/>
            <a:chExt cx="22021800" cy="190500"/>
          </a:xfrm>
        </p:grpSpPr>
        <p:grpSp>
          <p:nvGrpSpPr>
            <p:cNvPr id="8" name="Group 4">
              <a:extLst>
                <a:ext uri="{FF2B5EF4-FFF2-40B4-BE49-F238E27FC236}">
                  <a16:creationId xmlns:a16="http://schemas.microsoft.com/office/drawing/2014/main" id="{CF143E9E-EAB7-A4AA-FE9D-44688717FB71}"/>
                </a:ext>
              </a:extLst>
            </p:cNvPr>
            <p:cNvGrpSpPr/>
            <p:nvPr/>
          </p:nvGrpSpPr>
          <p:grpSpPr>
            <a:xfrm>
              <a:off x="0" y="0"/>
              <a:ext cx="7340600" cy="190500"/>
              <a:chOff x="0" y="0"/>
              <a:chExt cx="1449995" cy="37630"/>
            </a:xfrm>
          </p:grpSpPr>
          <p:sp>
            <p:nvSpPr>
              <p:cNvPr id="9" name="Freeform 5">
                <a:extLst>
                  <a:ext uri="{FF2B5EF4-FFF2-40B4-BE49-F238E27FC236}">
                    <a16:creationId xmlns:a16="http://schemas.microsoft.com/office/drawing/2014/main" id="{4DC30986-A1D3-3153-4F47-C272580BE3B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0" name="TextBox 6">
                <a:extLst>
                  <a:ext uri="{FF2B5EF4-FFF2-40B4-BE49-F238E27FC236}">
                    <a16:creationId xmlns:a16="http://schemas.microsoft.com/office/drawing/2014/main" id="{1F93F540-AA3F-732F-6E87-6389117B9CD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1" name="Group 7">
              <a:extLst>
                <a:ext uri="{FF2B5EF4-FFF2-40B4-BE49-F238E27FC236}">
                  <a16:creationId xmlns:a16="http://schemas.microsoft.com/office/drawing/2014/main" id="{682E6977-0BCB-33C8-20FA-D2B473859C4D}"/>
                </a:ext>
              </a:extLst>
            </p:cNvPr>
            <p:cNvGrpSpPr/>
            <p:nvPr/>
          </p:nvGrpSpPr>
          <p:grpSpPr>
            <a:xfrm>
              <a:off x="7340600" y="0"/>
              <a:ext cx="7340600" cy="190500"/>
              <a:chOff x="0" y="0"/>
              <a:chExt cx="1449995" cy="37630"/>
            </a:xfrm>
          </p:grpSpPr>
          <p:sp>
            <p:nvSpPr>
              <p:cNvPr id="12" name="Freeform 8">
                <a:extLst>
                  <a:ext uri="{FF2B5EF4-FFF2-40B4-BE49-F238E27FC236}">
                    <a16:creationId xmlns:a16="http://schemas.microsoft.com/office/drawing/2014/main" id="{A50A852E-3D5F-1E41-C5EE-9CB1B30D83A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13" name="TextBox 9">
                <a:extLst>
                  <a:ext uri="{FF2B5EF4-FFF2-40B4-BE49-F238E27FC236}">
                    <a16:creationId xmlns:a16="http://schemas.microsoft.com/office/drawing/2014/main" id="{29779A83-A5DF-0513-DE6A-B3761CB69A70}"/>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4" name="Group 10">
              <a:extLst>
                <a:ext uri="{FF2B5EF4-FFF2-40B4-BE49-F238E27FC236}">
                  <a16:creationId xmlns:a16="http://schemas.microsoft.com/office/drawing/2014/main" id="{65B9BF3E-C249-A5FF-A91E-95BFFA66B830}"/>
                </a:ext>
              </a:extLst>
            </p:cNvPr>
            <p:cNvGrpSpPr/>
            <p:nvPr/>
          </p:nvGrpSpPr>
          <p:grpSpPr>
            <a:xfrm>
              <a:off x="14681200" y="0"/>
              <a:ext cx="7340600" cy="190500"/>
              <a:chOff x="0" y="0"/>
              <a:chExt cx="1449995" cy="37630"/>
            </a:xfrm>
          </p:grpSpPr>
          <p:sp>
            <p:nvSpPr>
              <p:cNvPr id="15" name="Freeform 11">
                <a:extLst>
                  <a:ext uri="{FF2B5EF4-FFF2-40B4-BE49-F238E27FC236}">
                    <a16:creationId xmlns:a16="http://schemas.microsoft.com/office/drawing/2014/main" id="{7D92185B-5BDA-5D33-1E6B-60AE7CDB1CF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6" name="TextBox 12">
                <a:extLst>
                  <a:ext uri="{FF2B5EF4-FFF2-40B4-BE49-F238E27FC236}">
                    <a16:creationId xmlns:a16="http://schemas.microsoft.com/office/drawing/2014/main" id="{F6085480-10A1-CF0D-7F05-E6CF7D98040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PAGE_NUMBER">
            <a:extLst>
              <a:ext uri="{FF2B5EF4-FFF2-40B4-BE49-F238E27FC236}">
                <a16:creationId xmlns:a16="http://schemas.microsoft.com/office/drawing/2014/main" id="{CF6B2E7E-6A38-0202-2F2C-FADE7E23FABD}"/>
              </a:ext>
            </a:extLst>
          </p:cNvPr>
          <p:cNvSpPr txBox="1"/>
          <p:nvPr/>
        </p:nvSpPr>
        <p:spPr>
          <a:xfrm>
            <a:off x="270000" y="9748800"/>
            <a:ext cx="599400" cy="46224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buNone/>
            </a:pPr>
            <a:r>
              <a:rPr lang="ja-JP" sz="2400" b="0">
                <a:solidFill>
                  <a:srgbClr val="FFFFFF"/>
                </a:solidFill>
                <a:latin typeface="Yu Gothic"/>
                <a:ea typeface="Yu Gothic"/>
                <a:cs typeface="Yu Gothic"/>
              </a:rPr>
              <a:t>4</a:t>
            </a:r>
          </a:p>
        </p:txBody>
      </p:sp>
      <p:sp>
        <p:nvSpPr>
          <p:cNvPr id="19" name="MAIN_MESSAGE">
            <a:extLst>
              <a:ext uri="{FF2B5EF4-FFF2-40B4-BE49-F238E27FC236}">
                <a16:creationId xmlns:a16="http://schemas.microsoft.com/office/drawing/2014/main" id="{E8DB7B36-0CB7-D808-43C0-7C61CF37CAD1}"/>
              </a:ext>
            </a:extLst>
          </p:cNvPr>
          <p:cNvSpPr txBox="1"/>
          <p:nvPr/>
        </p:nvSpPr>
        <p:spPr>
          <a:xfrm>
            <a:off x="1512000" y="1422000"/>
            <a:ext cx="15912000" cy="1044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3200" b="1" dirty="0">
                <a:solidFill>
                  <a:srgbClr val="202427"/>
                </a:solidFill>
                <a:latin typeface="Yu Gothic"/>
              </a:rPr>
              <a:t>ノイズ増加時に精度が上がる問題への対応として，</a:t>
            </a:r>
            <a:r>
              <a:rPr sz="3200" b="1" dirty="0">
                <a:solidFill>
                  <a:srgbClr val="202427"/>
                </a:solidFill>
                <a:latin typeface="Yu Gothic"/>
              </a:rPr>
              <a:t>旧</a:t>
            </a:r>
            <a:r>
              <a:rPr lang="ja-JP" altLang="en-US" sz="3200" b="1" dirty="0">
                <a:solidFill>
                  <a:srgbClr val="202427"/>
                </a:solidFill>
                <a:latin typeface="Yu Gothic"/>
              </a:rPr>
              <a:t>学習方式</a:t>
            </a:r>
            <a:r>
              <a:rPr sz="3200" b="1" dirty="0" err="1">
                <a:solidFill>
                  <a:srgbClr val="202427"/>
                </a:solidFill>
                <a:latin typeface="Yu Gothic"/>
              </a:rPr>
              <a:t>を修正し</a:t>
            </a:r>
            <a:r>
              <a:rPr sz="3200" b="1" dirty="0">
                <a:solidFill>
                  <a:srgbClr val="202427"/>
                </a:solidFill>
                <a:latin typeface="Yu Gothic"/>
              </a:rPr>
              <a:t>，</a:t>
            </a:r>
            <a:r>
              <a:rPr lang="ja-JP" altLang="en-US" sz="3200" b="1" dirty="0">
                <a:solidFill>
                  <a:srgbClr val="202427"/>
                </a:solidFill>
                <a:latin typeface="Yu Gothic"/>
              </a:rPr>
              <a:t>「</a:t>
            </a:r>
            <a:r>
              <a:rPr sz="3200" b="1" dirty="0" err="1">
                <a:solidFill>
                  <a:srgbClr val="202427"/>
                </a:solidFill>
                <a:latin typeface="Yu Gothic"/>
              </a:rPr>
              <a:t>学習済みモデル</a:t>
            </a:r>
            <a:r>
              <a:rPr lang="ja-JP" altLang="en-US" sz="3200" b="1" dirty="0">
                <a:solidFill>
                  <a:srgbClr val="202427"/>
                </a:solidFill>
                <a:latin typeface="Yu Gothic"/>
              </a:rPr>
              <a:t>を固定し評価入力に加えた雑音の影響を調べる方式」を実施</a:t>
            </a:r>
            <a:endParaRPr sz="3200" b="1" dirty="0">
              <a:solidFill>
                <a:srgbClr val="202427"/>
              </a:solidFill>
              <a:latin typeface="Yu Gothic"/>
            </a:endParaRPr>
          </a:p>
        </p:txBody>
      </p:sp>
      <p:sp>
        <p:nvSpPr>
          <p:cNvPr id="21" name="LEFT_TITLE">
            <a:extLst>
              <a:ext uri="{FF2B5EF4-FFF2-40B4-BE49-F238E27FC236}">
                <a16:creationId xmlns:a16="http://schemas.microsoft.com/office/drawing/2014/main" id="{DEC4483F-3057-D67D-9DA0-C70B6F0DEADD}"/>
              </a:ext>
            </a:extLst>
          </p:cNvPr>
          <p:cNvSpPr txBox="1"/>
          <p:nvPr/>
        </p:nvSpPr>
        <p:spPr>
          <a:xfrm>
            <a:off x="1575500" y="3009900"/>
            <a:ext cx="8568000" cy="432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2800" b="1" dirty="0" err="1">
                <a:solidFill>
                  <a:srgbClr val="2F6F73"/>
                </a:solidFill>
                <a:latin typeface="Yu Gothic"/>
              </a:rPr>
              <a:t>旧方式に含まれていた問題</a:t>
            </a:r>
            <a:endParaRPr sz="2800" b="1" dirty="0">
              <a:solidFill>
                <a:srgbClr val="2F6F73"/>
              </a:solidFill>
              <a:latin typeface="Yu Gothic"/>
            </a:endParaRPr>
          </a:p>
        </p:txBody>
      </p:sp>
      <p:sp>
        <p:nvSpPr>
          <p:cNvPr id="27" name="RIGHT_TITLE">
            <a:extLst>
              <a:ext uri="{FF2B5EF4-FFF2-40B4-BE49-F238E27FC236}">
                <a16:creationId xmlns:a16="http://schemas.microsoft.com/office/drawing/2014/main" id="{2449333A-C0F0-7486-C8F4-784D0AACD53D}"/>
              </a:ext>
            </a:extLst>
          </p:cNvPr>
          <p:cNvSpPr txBox="1"/>
          <p:nvPr/>
        </p:nvSpPr>
        <p:spPr>
          <a:xfrm>
            <a:off x="9829800" y="3009900"/>
            <a:ext cx="6768000" cy="432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2700" b="1">
                <a:solidFill>
                  <a:srgbClr val="2F6F73"/>
                </a:solidFill>
                <a:latin typeface="Yu Gothic"/>
              </a:rPr>
              <a:t>今回の評価方法</a:t>
            </a:r>
          </a:p>
        </p:txBody>
      </p:sp>
      <p:sp>
        <p:nvSpPr>
          <p:cNvPr id="36" name="MATCHED_CAVEAT_background">
            <a:extLst>
              <a:ext uri="{FF2B5EF4-FFF2-40B4-BE49-F238E27FC236}">
                <a16:creationId xmlns:a16="http://schemas.microsoft.com/office/drawing/2014/main" id="{CDE1CEC8-FEB4-167E-B479-FD099FC27D72}"/>
              </a:ext>
            </a:extLst>
          </p:cNvPr>
          <p:cNvSpPr/>
          <p:nvPr/>
        </p:nvSpPr>
        <p:spPr>
          <a:xfrm>
            <a:off x="1588200" y="8880600"/>
            <a:ext cx="15912000" cy="792000"/>
          </a:xfrm>
          <a:prstGeom prst="rect">
            <a:avLst/>
          </a:prstGeom>
          <a:solidFill>
            <a:srgbClr val="ED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7" name="MATCHED_CAVEAT">
            <a:extLst>
              <a:ext uri="{FF2B5EF4-FFF2-40B4-BE49-F238E27FC236}">
                <a16:creationId xmlns:a16="http://schemas.microsoft.com/office/drawing/2014/main" id="{5D21F2B6-CD3D-B52A-793C-C3847D8F50D9}"/>
              </a:ext>
            </a:extLst>
          </p:cNvPr>
          <p:cNvSpPr txBox="1"/>
          <p:nvPr/>
        </p:nvSpPr>
        <p:spPr>
          <a:xfrm>
            <a:off x="1696200" y="8898600"/>
            <a:ext cx="15696000" cy="756000"/>
          </a:xfrm>
          <a:prstGeom prst="rect">
            <a:avLst/>
          </a:prstGeom>
          <a:noFill/>
          <a:effectLst/>
        </p:spPr>
        <p:txBody>
          <a:bodyPr wrap="square" lIns="21600" tIns="21600" rIns="21600" bIns="21600" anchor="ctr">
            <a:noAutofit/>
          </a:bodyPr>
          <a:lstStyle/>
          <a:p>
            <a:pPr algn="l">
              <a:lnSpc>
                <a:spcPct val="115000"/>
              </a:lnSpc>
              <a:spcBef>
                <a:spcPts val="0"/>
              </a:spcBef>
              <a:spcAft>
                <a:spcPts val="0"/>
              </a:spcAft>
            </a:pPr>
            <a:r>
              <a:rPr sz="2500" b="1" dirty="0" err="1">
                <a:solidFill>
                  <a:srgbClr val="2F6F73"/>
                </a:solidFill>
                <a:latin typeface="Yu Gothic"/>
              </a:rPr>
              <a:t>各雑音条件で学習し直す評価では一部の精度回復が残ったため，今回は同じモデルを固定して比較する</a:t>
            </a:r>
            <a:endParaRPr sz="2500" b="1" dirty="0">
              <a:solidFill>
                <a:srgbClr val="2F6F73"/>
              </a:solidFill>
              <a:latin typeface="Yu Gothic"/>
            </a:endParaRPr>
          </a:p>
        </p:txBody>
      </p:sp>
      <p:sp>
        <p:nvSpPr>
          <p:cNvPr id="24" name="TextBox 24">
            <a:extLst>
              <a:ext uri="{FF2B5EF4-FFF2-40B4-BE49-F238E27FC236}">
                <a16:creationId xmlns:a16="http://schemas.microsoft.com/office/drawing/2014/main" id="{F45A5523-F64C-D54B-7279-B70C9CF90FE2}"/>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cs typeface="Source Han Sans JP Medium"/>
                <a:sym typeface="Source Han Sans JP Medium"/>
              </a:rPr>
              <a:t>1. </a:t>
            </a:r>
            <a:r>
              <a:rPr lang="ja-JP" altLang="en-US" sz="3000" b="1" dirty="0">
                <a:solidFill>
                  <a:srgbClr val="202020"/>
                </a:solidFill>
                <a:latin typeface="Yu Gothic"/>
                <a:ea typeface="Yu Gothic"/>
                <a:cs typeface="Source Han Sans JP Medium"/>
                <a:sym typeface="Source Han Sans JP Medium"/>
              </a:rPr>
              <a:t>雑音評価方法の見直し</a:t>
            </a:r>
          </a:p>
        </p:txBody>
      </p:sp>
      <p:sp>
        <p:nvSpPr>
          <p:cNvPr id="20" name="LEFT_TITLE">
            <a:extLst>
              <a:ext uri="{FF2B5EF4-FFF2-40B4-BE49-F238E27FC236}">
                <a16:creationId xmlns:a16="http://schemas.microsoft.com/office/drawing/2014/main" id="{B0563650-C8CE-DACB-5BBE-4E54486B3C58}"/>
              </a:ext>
            </a:extLst>
          </p:cNvPr>
          <p:cNvSpPr txBox="1"/>
          <p:nvPr/>
        </p:nvSpPr>
        <p:spPr>
          <a:xfrm>
            <a:off x="1819495" y="3771900"/>
            <a:ext cx="7758589" cy="5174700"/>
          </a:xfrm>
          <a:prstGeom prst="rect">
            <a:avLst/>
          </a:prstGeom>
          <a:noFill/>
          <a:effectLst/>
        </p:spPr>
        <p:txBody>
          <a:bodyPr wrap="square" lIns="21600" tIns="21600" rIns="21600" bIns="21600" anchor="t">
            <a:noAutofit/>
          </a:bodyPr>
          <a:lstStyle/>
          <a:p>
            <a:pPr marL="457200" indent="-457200" algn="l">
              <a:lnSpc>
                <a:spcPct val="115000"/>
              </a:lnSpc>
              <a:spcBef>
                <a:spcPts val="0"/>
              </a:spcBef>
              <a:spcAft>
                <a:spcPts val="0"/>
              </a:spcAft>
              <a:buFont typeface="Wingdings" panose="05000000000000000000" pitchFamily="2" charset="2"/>
              <a:buChar char="l"/>
            </a:pPr>
            <a:r>
              <a:rPr lang="ja-JP" altLang="en-US" sz="2800" b="1" dirty="0">
                <a:latin typeface="Yu Gothic"/>
              </a:rPr>
              <a:t>ノイズ付加データ作成時の問題</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元の音の強さが付加した雑音の強さにも反映されていた</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→ノイズが大きくなるにつれてノイズ自体を根拠として予測し，高い精度となっていた</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そのため，固定した基準強度を用いる生成へ修正</a:t>
            </a:r>
            <a:endParaRPr lang="en-US" altLang="ja-JP" sz="2800" b="1" dirty="0">
              <a:latin typeface="Yu Gothic"/>
            </a:endParaRPr>
          </a:p>
          <a:p>
            <a:pPr marL="457200" indent="-457200">
              <a:lnSpc>
                <a:spcPct val="115000"/>
              </a:lnSpc>
              <a:buFont typeface="Wingdings" panose="05000000000000000000" pitchFamily="2" charset="2"/>
              <a:buChar char="l"/>
            </a:pPr>
            <a:r>
              <a:rPr lang="ja-JP" altLang="en-US" sz="2800" b="1" dirty="0">
                <a:latin typeface="Yu Gothic"/>
              </a:rPr>
              <a:t>学習と検証時の問題</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どちらも同じノイズ強度で行われていた</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→ノイズが大きくても高精度となっていた</a:t>
            </a:r>
            <a:endParaRPr sz="2800" b="1" dirty="0">
              <a:latin typeface="Yu Gothic"/>
            </a:endParaRPr>
          </a:p>
        </p:txBody>
      </p:sp>
      <p:sp>
        <p:nvSpPr>
          <p:cNvPr id="38" name="LEFT_TITLE">
            <a:extLst>
              <a:ext uri="{FF2B5EF4-FFF2-40B4-BE49-F238E27FC236}">
                <a16:creationId xmlns:a16="http://schemas.microsoft.com/office/drawing/2014/main" id="{B0E37809-DFC6-6487-30AF-D7F10A5ABFDE}"/>
              </a:ext>
            </a:extLst>
          </p:cNvPr>
          <p:cNvSpPr txBox="1"/>
          <p:nvPr/>
        </p:nvSpPr>
        <p:spPr>
          <a:xfrm>
            <a:off x="10061795" y="3771900"/>
            <a:ext cx="7758589" cy="5174700"/>
          </a:xfrm>
          <a:prstGeom prst="rect">
            <a:avLst/>
          </a:prstGeom>
          <a:noFill/>
          <a:effectLst/>
        </p:spPr>
        <p:txBody>
          <a:bodyPr wrap="square" lIns="21600" tIns="21600" rIns="21600" bIns="21600" anchor="t">
            <a:noAutofit/>
          </a:bodyPr>
          <a:lstStyle/>
          <a:p>
            <a:pPr marL="457200" indent="-457200" algn="l">
              <a:lnSpc>
                <a:spcPct val="115000"/>
              </a:lnSpc>
              <a:spcBef>
                <a:spcPts val="0"/>
              </a:spcBef>
              <a:spcAft>
                <a:spcPts val="0"/>
              </a:spcAft>
              <a:buFont typeface="Wingdings" panose="05000000000000000000" pitchFamily="2" charset="2"/>
              <a:buChar char="l"/>
            </a:pPr>
            <a:r>
              <a:rPr lang="ja-JP" altLang="en-US" sz="2800" b="1" dirty="0">
                <a:latin typeface="Yu Gothic"/>
              </a:rPr>
              <a:t>学習時</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無雑音データのみ</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作成するモデルは上記無雑音データで学習したモデルのみ</a:t>
            </a:r>
            <a:endParaRPr lang="en-US" altLang="ja-JP" sz="2800" b="1" dirty="0">
              <a:latin typeface="Yu Gothic"/>
            </a:endParaRPr>
          </a:p>
          <a:p>
            <a:pPr marL="457200" indent="-457200" algn="l">
              <a:lnSpc>
                <a:spcPct val="115000"/>
              </a:lnSpc>
              <a:spcBef>
                <a:spcPts val="0"/>
              </a:spcBef>
              <a:spcAft>
                <a:spcPts val="0"/>
              </a:spcAft>
              <a:buFont typeface="Wingdings" panose="05000000000000000000" pitchFamily="2" charset="2"/>
              <a:buChar char="l"/>
            </a:pPr>
            <a:r>
              <a:rPr lang="ja-JP" altLang="en-US" sz="2800" b="1" dirty="0">
                <a:latin typeface="Yu Gothic"/>
              </a:rPr>
              <a:t>検証時</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検証データでは，従来と同じく各ノイズ段階のデータを作成する</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無雑音データ学習モデルを，無雑音～</a:t>
            </a:r>
            <a:r>
              <a:rPr lang="en-US" altLang="ja-JP" sz="2800" b="1" dirty="0">
                <a:latin typeface="Yu Gothic"/>
              </a:rPr>
              <a:t>SNR-20</a:t>
            </a:r>
            <a:r>
              <a:rPr lang="ja-JP" altLang="en-US" sz="2800" b="1" dirty="0">
                <a:latin typeface="Yu Gothic"/>
              </a:rPr>
              <a:t>のデータで検証する</a:t>
            </a:r>
            <a:endParaRPr sz="2800" b="1" dirty="0">
              <a:latin typeface="Yu Gothic"/>
            </a:endParaRPr>
          </a:p>
        </p:txBody>
      </p:sp>
      <p:pic>
        <p:nvPicPr>
          <p:cNvPr id="22" name="図 21">
            <a:extLst>
              <a:ext uri="{FF2B5EF4-FFF2-40B4-BE49-F238E27FC236}">
                <a16:creationId xmlns:a16="http://schemas.microsoft.com/office/drawing/2014/main" id="{251D3002-2339-7EA2-06F1-D27A8910BED9}"/>
              </a:ext>
            </a:extLst>
          </p:cNvPr>
          <p:cNvPicPr>
            <a:picLocks noChangeAspect="1"/>
          </p:cNvPicPr>
          <p:nvPr/>
        </p:nvPicPr>
        <p:blipFill>
          <a:blip r:embed="rId4"/>
          <a:stretch>
            <a:fillRect/>
          </a:stretch>
        </p:blipFill>
        <p:spPr>
          <a:xfrm>
            <a:off x="3114260" y="1005619"/>
            <a:ext cx="12059479" cy="8132952"/>
          </a:xfrm>
          <a:prstGeom prst="rect">
            <a:avLst/>
          </a:prstGeom>
        </p:spPr>
      </p:pic>
    </p:spTree>
    <p:extLst>
      <p:ext uri="{BB962C8B-B14F-4D97-AF65-F5344CB8AC3E}">
        <p14:creationId xmlns:p14="http://schemas.microsoft.com/office/powerpoint/2010/main" val="23155776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C893-7262-415F-9686-74EC37C5923C}"/>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A4A48FA0-A0BE-D8EF-FFAB-155C13C64273}"/>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AE872478-C76E-37F9-F019-CF37DF76CF91}"/>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0E5F33BD-5A04-FF8C-1D36-E9B8F7106D5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4CD8DCD7-1990-690E-486A-099331896346}"/>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1EAF7B2-4479-4D70-E92C-B1887B1C4274}"/>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5083C557-2F06-5598-1B06-8C033ABE575D}"/>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B254D090-CF81-A400-EBDF-4BDC2217D2AB}"/>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8F8E5EB6-4B6D-7383-21E5-999134480C9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3C5E67CB-8FFD-6558-CDED-463000CF23A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2F04E24B-4C8D-6366-9B1A-B2CA50EE2A68}"/>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9D8C1A8B-7594-2355-F02A-49D2BACD851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0B0BB5A8-D9A3-5E1E-BAE8-E54E47AA552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379568CC-F660-8A53-50B1-F371EA2EAF49}"/>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C84B7CD3-823A-7876-3B44-753C7242D8F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5EFCBB9A-9212-6EF4-BF81-3D58F0F223C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E20177D2-8D38-B81C-C744-D84021552108}"/>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7</a:t>
            </a:fld>
            <a:endParaRPr lang="en-US" sz="2400" dirty="0">
              <a:solidFill>
                <a:schemeClr val="bg1"/>
              </a:solidFill>
            </a:endParaRPr>
          </a:p>
        </p:txBody>
      </p:sp>
      <p:sp>
        <p:nvSpPr>
          <p:cNvPr id="513" name="TextBox 24">
            <a:extLst>
              <a:ext uri="{FF2B5EF4-FFF2-40B4-BE49-F238E27FC236}">
                <a16:creationId xmlns:a16="http://schemas.microsoft.com/office/drawing/2014/main" id="{3AB0744B-5EF4-C34F-934F-3190CE316204}"/>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ja-JP" altLang="en-US" sz="3000" b="1" dirty="0">
                <a:solidFill>
                  <a:srgbClr val="202020"/>
                </a:solidFill>
                <a:latin typeface="Yu Gothic"/>
                <a:ea typeface="Yu Gothic"/>
                <a:cs typeface="Source Han Sans JP Medium"/>
                <a:sym typeface="Source Han Sans JP Medium"/>
              </a:rPr>
              <a:t>今回の発表内容</a:t>
            </a:r>
          </a:p>
        </p:txBody>
      </p:sp>
      <p:sp>
        <p:nvSpPr>
          <p:cNvPr id="2" name="テキスト ボックス 1">
            <a:extLst>
              <a:ext uri="{FF2B5EF4-FFF2-40B4-BE49-F238E27FC236}">
                <a16:creationId xmlns:a16="http://schemas.microsoft.com/office/drawing/2014/main" id="{F219190C-4235-302B-5200-CB167B68DC71}"/>
              </a:ext>
            </a:extLst>
          </p:cNvPr>
          <p:cNvSpPr txBox="1"/>
          <p:nvPr/>
        </p:nvSpPr>
        <p:spPr>
          <a:xfrm>
            <a:off x="2590800" y="4038600"/>
            <a:ext cx="1143000" cy="2209800"/>
          </a:xfrm>
          <a:prstGeom prst="rect">
            <a:avLst/>
          </a:prstGeom>
          <a:noFill/>
        </p:spPr>
        <p:txBody>
          <a:bodyPr vertOverflow="overflow" vert="horz" wrap="square" rtlCol="0" anchor="t">
            <a:noAutofit/>
          </a:bodyPr>
          <a:lstStyle/>
          <a:p>
            <a:pPr algn="l"/>
            <a:r>
              <a:rPr lang="en-US" altLang="ja-JP" sz="4400" dirty="0">
                <a:solidFill>
                  <a:srgbClr val="202020"/>
                </a:solidFill>
                <a:latin typeface="Yu Gothic"/>
                <a:ea typeface="Yu Gothic"/>
              </a:rPr>
              <a:t>01
02
03</a:t>
            </a:r>
          </a:p>
          <a:p>
            <a:pPr algn="l"/>
            <a:endParaRPr lang="en-US" altLang="ja-JP" sz="4400" dirty="0">
              <a:solidFill>
                <a:srgbClr val="202020"/>
              </a:solidFill>
              <a:latin typeface="Yu Gothic"/>
              <a:ea typeface="Yu Gothic"/>
            </a:endParaRPr>
          </a:p>
          <a:p>
            <a:pPr algn="l"/>
            <a:r>
              <a:rPr lang="en-US" altLang="ja-JP" sz="4400" dirty="0">
                <a:solidFill>
                  <a:srgbClr val="202020"/>
                </a:solidFill>
                <a:latin typeface="Yu Gothic"/>
                <a:ea typeface="Yu Gothic"/>
              </a:rPr>
              <a:t>04</a:t>
            </a:r>
            <a:endParaRPr lang="ja-JP" altLang="en-US" sz="4400" dirty="0">
              <a:solidFill>
                <a:srgbClr val="202020"/>
              </a:solidFill>
              <a:latin typeface="Yu Gothic"/>
              <a:ea typeface="Yu Gothic"/>
            </a:endParaRPr>
          </a:p>
        </p:txBody>
      </p:sp>
      <p:sp>
        <p:nvSpPr>
          <p:cNvPr id="3" name="テキスト ボックス 2">
            <a:extLst>
              <a:ext uri="{FF2B5EF4-FFF2-40B4-BE49-F238E27FC236}">
                <a16:creationId xmlns:a16="http://schemas.microsoft.com/office/drawing/2014/main" id="{D922171D-0229-66FC-55B8-6092DDFE3DD1}"/>
              </a:ext>
            </a:extLst>
          </p:cNvPr>
          <p:cNvSpPr txBox="1"/>
          <p:nvPr/>
        </p:nvSpPr>
        <p:spPr>
          <a:xfrm>
            <a:off x="3886200" y="4038600"/>
            <a:ext cx="13944600" cy="3390900"/>
          </a:xfrm>
          <a:prstGeom prst="rect">
            <a:avLst/>
          </a:prstGeom>
          <a:noFill/>
        </p:spPr>
        <p:txBody>
          <a:bodyPr vertOverflow="overflow" vert="horz" wrap="square" rtlCol="0" anchor="t">
            <a:noAutofit/>
          </a:bodyPr>
          <a:lstStyle/>
          <a:p>
            <a:r>
              <a:rPr lang="ja-JP" altLang="en-US" sz="4400" b="1" dirty="0">
                <a:solidFill>
                  <a:srgbClr val="202020"/>
                </a:solidFill>
                <a:latin typeface="游ゴシック" panose="020B0400000000000000" pitchFamily="50" charset="-128"/>
                <a:ea typeface="游ゴシック" panose="020B0400000000000000" pitchFamily="50" charset="-128"/>
              </a:rPr>
              <a:t>研究概要</a:t>
            </a:r>
          </a:p>
          <a:p>
            <a:r>
              <a:rPr lang="ja-JP" altLang="en-US" sz="4400" b="1" dirty="0">
                <a:solidFill>
                  <a:srgbClr val="202020"/>
                </a:solidFill>
                <a:latin typeface="游ゴシック" panose="020B0400000000000000" pitchFamily="50" charset="-128"/>
                <a:ea typeface="游ゴシック" panose="020B0400000000000000" pitchFamily="50" charset="-128"/>
              </a:rPr>
              <a:t>雑音評価方法の見直し</a:t>
            </a:r>
            <a:endParaRPr lang="en-US" altLang="ja-JP" sz="4400" b="1" dirty="0">
              <a:solidFill>
                <a:srgbClr val="202020"/>
              </a:solidFill>
              <a:latin typeface="游ゴシック" panose="020B0400000000000000" pitchFamily="50" charset="-128"/>
              <a:ea typeface="游ゴシック" panose="020B0400000000000000" pitchFamily="50" charset="-128"/>
            </a:endParaRPr>
          </a:p>
          <a:p>
            <a:r>
              <a:rPr lang="ja-JP" altLang="en-US" sz="4400" b="1" dirty="0">
                <a:solidFill>
                  <a:srgbClr val="202020"/>
                </a:solidFill>
                <a:latin typeface="游ゴシック" panose="020B0400000000000000" pitchFamily="50" charset="-128"/>
                <a:ea typeface="游ゴシック" panose="020B0400000000000000" pitchFamily="50" charset="-128"/>
              </a:rPr>
              <a:t>アンサンブルにモデルを追加して検証＋各モデルの予測誤差を考慮した検証</a:t>
            </a:r>
            <a:endParaRPr lang="en-US" altLang="ja-JP" sz="4400" b="1" dirty="0">
              <a:solidFill>
                <a:srgbClr val="202020"/>
              </a:solidFill>
              <a:latin typeface="游ゴシック" panose="020B0400000000000000" pitchFamily="50" charset="-128"/>
              <a:ea typeface="游ゴシック" panose="020B0400000000000000" pitchFamily="50" charset="-128"/>
            </a:endParaRPr>
          </a:p>
          <a:p>
            <a:r>
              <a:rPr lang="ja-JP" altLang="en-US" sz="4400" b="1" dirty="0">
                <a:solidFill>
                  <a:srgbClr val="202020"/>
                </a:solidFill>
                <a:latin typeface="游ゴシック" panose="020B0400000000000000" pitchFamily="50" charset="-128"/>
                <a:ea typeface="游ゴシック" panose="020B0400000000000000" pitchFamily="50" charset="-128"/>
              </a:rPr>
              <a:t>修士論文の構成と後期計画</a:t>
            </a:r>
          </a:p>
        </p:txBody>
      </p:sp>
    </p:spTree>
    <p:extLst>
      <p:ext uri="{BB962C8B-B14F-4D97-AF65-F5344CB8AC3E}">
        <p14:creationId xmlns:p14="http://schemas.microsoft.com/office/powerpoint/2010/main" val="41248157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56">
            <a:extLst>
              <a:ext uri="{FF2B5EF4-FFF2-40B4-BE49-F238E27FC236}">
                <a16:creationId xmlns:a16="http://schemas.microsoft.com/office/drawing/2014/main" id="{75BFE32B-F018-C4E4-FAB7-80C0D2CDC22E}"/>
              </a:ext>
            </a:extLst>
          </p:cNvPr>
          <p:cNvGrpSpPr/>
          <p:nvPr/>
        </p:nvGrpSpPr>
        <p:grpSpPr>
          <a:xfrm>
            <a:off x="270494" y="246431"/>
            <a:ext cx="698205" cy="10040568"/>
            <a:chOff x="270494" y="246431"/>
            <a:chExt cx="698205" cy="10040568"/>
          </a:xfrm>
        </p:grpSpPr>
        <p:pic>
          <p:nvPicPr>
            <p:cNvPr id="3" name="図 57">
              <a:extLst>
                <a:ext uri="{FF2B5EF4-FFF2-40B4-BE49-F238E27FC236}">
                  <a16:creationId xmlns:a16="http://schemas.microsoft.com/office/drawing/2014/main" id="{1226A433-2043-B47F-E0E8-72C7A0748C7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4" name="テキスト ボックス 58">
              <a:extLst>
                <a:ext uri="{FF2B5EF4-FFF2-40B4-BE49-F238E27FC236}">
                  <a16:creationId xmlns:a16="http://schemas.microsoft.com/office/drawing/2014/main" id="{F53AD6DF-8ABC-58C4-0BDA-981F712C6600}"/>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 name="直線コネクタ 59">
              <a:extLst>
                <a:ext uri="{FF2B5EF4-FFF2-40B4-BE49-F238E27FC236}">
                  <a16:creationId xmlns:a16="http://schemas.microsoft.com/office/drawing/2014/main" id="{583BFE6C-617D-A3DC-D51E-18A6133895A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 name="フローチャート: 論理積ゲート 60">
              <a:extLst>
                <a:ext uri="{FF2B5EF4-FFF2-40B4-BE49-F238E27FC236}">
                  <a16:creationId xmlns:a16="http://schemas.microsoft.com/office/drawing/2014/main" id="{63EE0EEB-3C48-D4D2-9411-176CDF6BB0D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Group 3">
            <a:extLst>
              <a:ext uri="{FF2B5EF4-FFF2-40B4-BE49-F238E27FC236}">
                <a16:creationId xmlns:a16="http://schemas.microsoft.com/office/drawing/2014/main" id="{66CE81F5-9908-5CB9-4AC3-1FCBE2FF3FAA}"/>
              </a:ext>
            </a:extLst>
          </p:cNvPr>
          <p:cNvGrpSpPr/>
          <p:nvPr/>
        </p:nvGrpSpPr>
        <p:grpSpPr>
          <a:xfrm>
            <a:off x="1371600" y="1069258"/>
            <a:ext cx="16064988" cy="125708"/>
            <a:chOff x="0" y="0"/>
            <a:chExt cx="22021800" cy="190500"/>
          </a:xfrm>
        </p:grpSpPr>
        <p:grpSp>
          <p:nvGrpSpPr>
            <p:cNvPr id="8" name="Group 4">
              <a:extLst>
                <a:ext uri="{FF2B5EF4-FFF2-40B4-BE49-F238E27FC236}">
                  <a16:creationId xmlns:a16="http://schemas.microsoft.com/office/drawing/2014/main" id="{F18484CA-1C82-F32C-E492-71BB690B31BD}"/>
                </a:ext>
              </a:extLst>
            </p:cNvPr>
            <p:cNvGrpSpPr/>
            <p:nvPr/>
          </p:nvGrpSpPr>
          <p:grpSpPr>
            <a:xfrm>
              <a:off x="0" y="0"/>
              <a:ext cx="7340600" cy="190500"/>
              <a:chOff x="0" y="0"/>
              <a:chExt cx="1449995" cy="37630"/>
            </a:xfrm>
          </p:grpSpPr>
          <p:sp>
            <p:nvSpPr>
              <p:cNvPr id="9" name="Freeform 5">
                <a:extLst>
                  <a:ext uri="{FF2B5EF4-FFF2-40B4-BE49-F238E27FC236}">
                    <a16:creationId xmlns:a16="http://schemas.microsoft.com/office/drawing/2014/main" id="{99894FA7-D161-F806-1A5F-52AABFBB08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0" name="TextBox 6">
                <a:extLst>
                  <a:ext uri="{FF2B5EF4-FFF2-40B4-BE49-F238E27FC236}">
                    <a16:creationId xmlns:a16="http://schemas.microsoft.com/office/drawing/2014/main" id="{72556C4C-3473-3018-70C4-085FA6F987B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1" name="Group 7">
              <a:extLst>
                <a:ext uri="{FF2B5EF4-FFF2-40B4-BE49-F238E27FC236}">
                  <a16:creationId xmlns:a16="http://schemas.microsoft.com/office/drawing/2014/main" id="{F7A34761-E638-B2A2-9E72-32563CB39D5B}"/>
                </a:ext>
              </a:extLst>
            </p:cNvPr>
            <p:cNvGrpSpPr/>
            <p:nvPr/>
          </p:nvGrpSpPr>
          <p:grpSpPr>
            <a:xfrm>
              <a:off x="7340600" y="0"/>
              <a:ext cx="7340600" cy="190500"/>
              <a:chOff x="0" y="0"/>
              <a:chExt cx="1449995" cy="37630"/>
            </a:xfrm>
          </p:grpSpPr>
          <p:sp>
            <p:nvSpPr>
              <p:cNvPr id="12" name="Freeform 8">
                <a:extLst>
                  <a:ext uri="{FF2B5EF4-FFF2-40B4-BE49-F238E27FC236}">
                    <a16:creationId xmlns:a16="http://schemas.microsoft.com/office/drawing/2014/main" id="{66779A7D-5ECB-D310-B556-EC0E21709BC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13" name="TextBox 9">
                <a:extLst>
                  <a:ext uri="{FF2B5EF4-FFF2-40B4-BE49-F238E27FC236}">
                    <a16:creationId xmlns:a16="http://schemas.microsoft.com/office/drawing/2014/main" id="{96F89EAF-9FB5-76B1-24F0-8313C0D5D3B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4" name="Group 10">
              <a:extLst>
                <a:ext uri="{FF2B5EF4-FFF2-40B4-BE49-F238E27FC236}">
                  <a16:creationId xmlns:a16="http://schemas.microsoft.com/office/drawing/2014/main" id="{0F7B6D61-78D9-D77B-900A-F293F294C432}"/>
                </a:ext>
              </a:extLst>
            </p:cNvPr>
            <p:cNvGrpSpPr/>
            <p:nvPr/>
          </p:nvGrpSpPr>
          <p:grpSpPr>
            <a:xfrm>
              <a:off x="14681200" y="0"/>
              <a:ext cx="7340600" cy="190500"/>
              <a:chOff x="0" y="0"/>
              <a:chExt cx="1449995" cy="37630"/>
            </a:xfrm>
          </p:grpSpPr>
          <p:sp>
            <p:nvSpPr>
              <p:cNvPr id="15" name="Freeform 11">
                <a:extLst>
                  <a:ext uri="{FF2B5EF4-FFF2-40B4-BE49-F238E27FC236}">
                    <a16:creationId xmlns:a16="http://schemas.microsoft.com/office/drawing/2014/main" id="{3CE663F6-1B9A-DFEE-C6F5-CE676E3CD07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6" name="TextBox 12">
                <a:extLst>
                  <a:ext uri="{FF2B5EF4-FFF2-40B4-BE49-F238E27FC236}">
                    <a16:creationId xmlns:a16="http://schemas.microsoft.com/office/drawing/2014/main" id="{509D1305-F68D-3300-CC15-A5584E7FBBA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PAGE_NUMBER"/>
          <p:cNvSpPr txBox="1"/>
          <p:nvPr/>
        </p:nvSpPr>
        <p:spPr>
          <a:xfrm>
            <a:off x="270000" y="9748800"/>
            <a:ext cx="599400" cy="46224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buNone/>
            </a:pPr>
            <a:r>
              <a:rPr lang="ja-JP" sz="2400" b="0">
                <a:solidFill>
                  <a:srgbClr val="FFFFFF"/>
                </a:solidFill>
                <a:latin typeface="Yu Gothic"/>
                <a:ea typeface="Yu Gothic"/>
                <a:cs typeface="Yu Gothic"/>
              </a:rPr>
              <a:t>5</a:t>
            </a:r>
          </a:p>
        </p:txBody>
      </p:sp>
      <p:sp>
        <p:nvSpPr>
          <p:cNvPr id="19" name="MAIN_MESSAGE"/>
          <p:cNvSpPr txBox="1"/>
          <p:nvPr/>
        </p:nvSpPr>
        <p:spPr>
          <a:xfrm>
            <a:off x="1512000" y="1422000"/>
            <a:ext cx="15912000" cy="1044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3200" b="1" dirty="0">
                <a:solidFill>
                  <a:srgbClr val="202427"/>
                </a:solidFill>
                <a:latin typeface="Yu Gothic"/>
              </a:rPr>
              <a:t>異なる入力要約と学習方式を加え，従来</a:t>
            </a:r>
            <a:r>
              <a:rPr lang="en-US" altLang="ja-JP" sz="3200" b="1" dirty="0">
                <a:solidFill>
                  <a:srgbClr val="202427"/>
                </a:solidFill>
                <a:latin typeface="Yu Gothic"/>
              </a:rPr>
              <a:t>3</a:t>
            </a:r>
            <a:r>
              <a:rPr lang="ja-JP" altLang="en-US" sz="3200" b="1" dirty="0">
                <a:solidFill>
                  <a:srgbClr val="202427"/>
                </a:solidFill>
                <a:latin typeface="Yu Gothic"/>
              </a:rPr>
              <a:t>モデルとの予測補間効果を検証する</a:t>
            </a:r>
            <a:endParaRPr sz="3200" b="1" dirty="0">
              <a:solidFill>
                <a:srgbClr val="202427"/>
              </a:solidFill>
              <a:latin typeface="Yu Gothic"/>
            </a:endParaRPr>
          </a:p>
        </p:txBody>
      </p:sp>
      <p:sp>
        <p:nvSpPr>
          <p:cNvPr id="30" name="MODEL_TITLE"/>
          <p:cNvSpPr txBox="1"/>
          <p:nvPr/>
        </p:nvSpPr>
        <p:spPr>
          <a:xfrm>
            <a:off x="9391394" y="2247900"/>
            <a:ext cx="8063999" cy="503999"/>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2800" b="1" dirty="0" err="1">
                <a:solidFill>
                  <a:srgbClr val="2F6F73"/>
                </a:solidFill>
                <a:latin typeface="Yu Gothic"/>
              </a:rPr>
              <a:t>比較したモデル構成</a:t>
            </a:r>
            <a:endParaRPr sz="2800" b="1" dirty="0">
              <a:solidFill>
                <a:srgbClr val="2F6F73"/>
              </a:solidFill>
              <a:latin typeface="Yu Gothic"/>
            </a:endParaRPr>
          </a:p>
        </p:txBody>
      </p:sp>
      <p:sp>
        <p:nvSpPr>
          <p:cNvPr id="31" name="ORIGINAL_3"/>
          <p:cNvSpPr/>
          <p:nvPr/>
        </p:nvSpPr>
        <p:spPr>
          <a:xfrm>
            <a:off x="9391394" y="2913900"/>
            <a:ext cx="8063999" cy="1530000"/>
          </a:xfrm>
          <a:prstGeom prst="roundRect">
            <a:avLst>
              <a:gd name="adj" fmla="val 12000"/>
            </a:avLst>
          </a:prstGeom>
          <a:solidFill>
            <a:srgbClr val="EDF4F4"/>
          </a:solidFill>
          <a:ln w="17780">
            <a:solidFill>
              <a:srgbClr val="639FA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ORIGINAL_3_TEXT"/>
          <p:cNvSpPr txBox="1"/>
          <p:nvPr/>
        </p:nvSpPr>
        <p:spPr>
          <a:xfrm>
            <a:off x="9553394" y="3111900"/>
            <a:ext cx="7740000" cy="1152000"/>
          </a:xfrm>
          <a:prstGeom prst="rect">
            <a:avLst/>
          </a:prstGeom>
          <a:noFill/>
          <a:effectLst/>
        </p:spPr>
        <p:txBody>
          <a:bodyPr wrap="square" lIns="21600" tIns="21600" rIns="21600" bIns="21600" anchor="ctr">
            <a:noAutofit/>
          </a:bodyPr>
          <a:lstStyle/>
          <a:p>
            <a:pPr algn="l">
              <a:lnSpc>
                <a:spcPct val="115000"/>
              </a:lnSpc>
              <a:spcBef>
                <a:spcPts val="0"/>
              </a:spcBef>
              <a:spcAft>
                <a:spcPts val="0"/>
              </a:spcAft>
            </a:pPr>
            <a:r>
              <a:rPr sz="2400" b="1" dirty="0">
                <a:solidFill>
                  <a:srgbClr val="202427"/>
                </a:solidFill>
                <a:latin typeface="Yu Gothic"/>
              </a:rPr>
              <a:t>Random </a:t>
            </a:r>
            <a:r>
              <a:rPr sz="2400" b="1" dirty="0" err="1">
                <a:solidFill>
                  <a:srgbClr val="202427"/>
                </a:solidFill>
                <a:latin typeface="Yu Gothic"/>
              </a:rPr>
              <a:t>Forest・Conformer・AlexNet</a:t>
            </a:r>
            <a:endParaRPr sz="2400" b="1" dirty="0">
              <a:solidFill>
                <a:srgbClr val="202427"/>
              </a:solidFill>
              <a:latin typeface="Yu Gothic"/>
            </a:endParaRPr>
          </a:p>
        </p:txBody>
      </p:sp>
      <p:sp>
        <p:nvSpPr>
          <p:cNvPr id="33" name="4モデル①&#10;元3＋HGB"/>
          <p:cNvSpPr/>
          <p:nvPr/>
        </p:nvSpPr>
        <p:spPr>
          <a:xfrm>
            <a:off x="9391394" y="4610100"/>
            <a:ext cx="3870000" cy="1350000"/>
          </a:xfrm>
          <a:prstGeom prst="roundRect">
            <a:avLst>
              <a:gd name="adj" fmla="val 12000"/>
            </a:avLst>
          </a:prstGeom>
          <a:solidFill>
            <a:srgbClr val="EDF4F4"/>
          </a:solidFill>
          <a:ln w="17780">
            <a:solidFill>
              <a:srgbClr val="639FA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4モデル①&#10;元3＋HGB_TEXT"/>
          <p:cNvSpPr txBox="1"/>
          <p:nvPr/>
        </p:nvSpPr>
        <p:spPr>
          <a:xfrm>
            <a:off x="9404094" y="4754099"/>
            <a:ext cx="3708000" cy="106200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pPr>
            <a:r>
              <a:rPr sz="2400" b="1" dirty="0">
                <a:solidFill>
                  <a:srgbClr val="202427"/>
                </a:solidFill>
                <a:latin typeface="Yu Gothic"/>
              </a:rPr>
              <a:t>3モデル＋</a:t>
            </a:r>
          </a:p>
          <a:p>
            <a:pPr algn="ctr">
              <a:lnSpc>
                <a:spcPct val="115000"/>
              </a:lnSpc>
              <a:spcBef>
                <a:spcPts val="0"/>
              </a:spcBef>
              <a:spcAft>
                <a:spcPts val="0"/>
              </a:spcAft>
            </a:pPr>
            <a:r>
              <a:rPr sz="2400" b="1" dirty="0" err="1">
                <a:solidFill>
                  <a:srgbClr val="202427"/>
                </a:solidFill>
                <a:latin typeface="Yu Gothic"/>
              </a:rPr>
              <a:t>HistGradientBoosting</a:t>
            </a:r>
            <a:endParaRPr sz="2400" b="1" dirty="0">
              <a:solidFill>
                <a:srgbClr val="202427"/>
              </a:solidFill>
              <a:latin typeface="Yu Gothic"/>
            </a:endParaRPr>
          </a:p>
        </p:txBody>
      </p:sp>
      <p:sp>
        <p:nvSpPr>
          <p:cNvPr id="35" name="4モデル②&#10;元3＋ET"/>
          <p:cNvSpPr/>
          <p:nvPr/>
        </p:nvSpPr>
        <p:spPr>
          <a:xfrm>
            <a:off x="13585394" y="4610100"/>
            <a:ext cx="3870000" cy="1350000"/>
          </a:xfrm>
          <a:prstGeom prst="roundRect">
            <a:avLst>
              <a:gd name="adj" fmla="val 12000"/>
            </a:avLst>
          </a:prstGeom>
          <a:solidFill>
            <a:srgbClr val="EDF4F4"/>
          </a:solidFill>
          <a:ln w="17780">
            <a:solidFill>
              <a:srgbClr val="639FA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4モデル②&#10;元3＋ET_TEXT"/>
          <p:cNvSpPr txBox="1"/>
          <p:nvPr/>
        </p:nvSpPr>
        <p:spPr>
          <a:xfrm>
            <a:off x="13664594" y="4754099"/>
            <a:ext cx="3708000" cy="106200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pPr>
            <a:r>
              <a:rPr sz="2400" b="1" dirty="0">
                <a:solidFill>
                  <a:srgbClr val="202427"/>
                </a:solidFill>
                <a:latin typeface="Yu Gothic"/>
              </a:rPr>
              <a:t>3モデル＋</a:t>
            </a:r>
          </a:p>
          <a:p>
            <a:pPr algn="ctr">
              <a:lnSpc>
                <a:spcPct val="115000"/>
              </a:lnSpc>
              <a:spcBef>
                <a:spcPts val="0"/>
              </a:spcBef>
              <a:spcAft>
                <a:spcPts val="0"/>
              </a:spcAft>
            </a:pPr>
            <a:r>
              <a:rPr sz="2400" b="1" dirty="0" err="1">
                <a:solidFill>
                  <a:srgbClr val="202427"/>
                </a:solidFill>
                <a:latin typeface="Yu Gothic"/>
              </a:rPr>
              <a:t>ExtraTrees</a:t>
            </a:r>
            <a:endParaRPr sz="2400" b="1" dirty="0">
              <a:solidFill>
                <a:srgbClr val="202427"/>
              </a:solidFill>
              <a:latin typeface="Yu Gothic"/>
            </a:endParaRPr>
          </a:p>
        </p:txBody>
      </p:sp>
      <p:sp>
        <p:nvSpPr>
          <p:cNvPr id="37" name="FIVE"/>
          <p:cNvSpPr/>
          <p:nvPr/>
        </p:nvSpPr>
        <p:spPr>
          <a:xfrm>
            <a:off x="9391394" y="6134100"/>
            <a:ext cx="8063999" cy="1223080"/>
          </a:xfrm>
          <a:prstGeom prst="roundRect">
            <a:avLst>
              <a:gd name="adj" fmla="val 12000"/>
            </a:avLst>
          </a:prstGeom>
          <a:solidFill>
            <a:srgbClr val="2F6F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FIVE_TEXT"/>
          <p:cNvSpPr txBox="1"/>
          <p:nvPr/>
        </p:nvSpPr>
        <p:spPr>
          <a:xfrm>
            <a:off x="9481394" y="6296100"/>
            <a:ext cx="7883999" cy="594000"/>
          </a:xfrm>
          <a:prstGeom prst="rect">
            <a:avLst/>
          </a:prstGeom>
          <a:noFill/>
          <a:effectLst/>
        </p:spPr>
        <p:txBody>
          <a:bodyPr wrap="square" lIns="21600" tIns="21600" rIns="21600" bIns="21600" anchor="t">
            <a:noAutofit/>
          </a:bodyPr>
          <a:lstStyle/>
          <a:p>
            <a:pPr algn="ctr">
              <a:lnSpc>
                <a:spcPct val="115000"/>
              </a:lnSpc>
              <a:spcBef>
                <a:spcPts val="0"/>
              </a:spcBef>
              <a:spcAft>
                <a:spcPts val="0"/>
              </a:spcAft>
            </a:pPr>
            <a:r>
              <a:rPr sz="2400" b="1" dirty="0">
                <a:solidFill>
                  <a:srgbClr val="FFFFFF"/>
                </a:solidFill>
                <a:latin typeface="Yu Gothic"/>
              </a:rPr>
              <a:t>5モデル統合：3モデル＋HistGradientBoosting＋ExtraTrees</a:t>
            </a:r>
          </a:p>
        </p:txBody>
      </p:sp>
      <p:sp>
        <p:nvSpPr>
          <p:cNvPr id="42" name="TextBox 24">
            <a:extLst>
              <a:ext uri="{FF2B5EF4-FFF2-40B4-BE49-F238E27FC236}">
                <a16:creationId xmlns:a16="http://schemas.microsoft.com/office/drawing/2014/main" id="{AA381A5B-FD23-6E5C-E12C-CD1F016C105E}"/>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cs typeface="Source Han Sans JP Medium"/>
                <a:sym typeface="Source Han Sans JP Medium"/>
              </a:rPr>
              <a:t>1. </a:t>
            </a:r>
            <a:r>
              <a:rPr lang="ja-JP" altLang="en-US" sz="3000" b="1" dirty="0">
                <a:solidFill>
                  <a:srgbClr val="202020"/>
                </a:solidFill>
                <a:latin typeface="Yu Gothic"/>
                <a:ea typeface="Yu Gothic"/>
                <a:cs typeface="Source Han Sans JP Medium"/>
                <a:sym typeface="Source Han Sans JP Medium"/>
              </a:rPr>
              <a:t>アンサンブルに追加した回帰モデル</a:t>
            </a:r>
          </a:p>
        </p:txBody>
      </p:sp>
      <p:sp>
        <p:nvSpPr>
          <p:cNvPr id="21" name="MODEL_TITLE">
            <a:extLst>
              <a:ext uri="{FF2B5EF4-FFF2-40B4-BE49-F238E27FC236}">
                <a16:creationId xmlns:a16="http://schemas.microsoft.com/office/drawing/2014/main" id="{4D7A5D56-7BF6-5348-1CA0-2B8694113AE5}"/>
              </a:ext>
            </a:extLst>
          </p:cNvPr>
          <p:cNvSpPr txBox="1"/>
          <p:nvPr/>
        </p:nvSpPr>
        <p:spPr>
          <a:xfrm>
            <a:off x="1512000" y="2268280"/>
            <a:ext cx="8063999" cy="503999"/>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2800" b="1" dirty="0">
                <a:solidFill>
                  <a:srgbClr val="2F6F73"/>
                </a:solidFill>
                <a:latin typeface="Yu Gothic"/>
              </a:rPr>
              <a:t>追加</a:t>
            </a:r>
            <a:r>
              <a:rPr lang="en-US" altLang="ja-JP" sz="2800" b="1" dirty="0">
                <a:solidFill>
                  <a:srgbClr val="2F6F73"/>
                </a:solidFill>
                <a:latin typeface="Yu Gothic"/>
              </a:rPr>
              <a:t>2</a:t>
            </a:r>
            <a:r>
              <a:rPr lang="ja-JP" altLang="en-US" sz="2800" b="1" dirty="0">
                <a:solidFill>
                  <a:srgbClr val="2F6F73"/>
                </a:solidFill>
                <a:latin typeface="Yu Gothic"/>
              </a:rPr>
              <a:t>モデルの概要</a:t>
            </a:r>
            <a:endParaRPr sz="2800" b="1" dirty="0">
              <a:solidFill>
                <a:srgbClr val="2F6F73"/>
              </a:solidFill>
              <a:latin typeface="Yu Gothic"/>
            </a:endParaRPr>
          </a:p>
        </p:txBody>
      </p:sp>
      <p:sp>
        <p:nvSpPr>
          <p:cNvPr id="23" name="LEFT_TITLE">
            <a:extLst>
              <a:ext uri="{FF2B5EF4-FFF2-40B4-BE49-F238E27FC236}">
                <a16:creationId xmlns:a16="http://schemas.microsoft.com/office/drawing/2014/main" id="{2FCEE708-F74C-756A-E56D-9F6CDA4C8A6A}"/>
              </a:ext>
            </a:extLst>
          </p:cNvPr>
          <p:cNvSpPr txBox="1"/>
          <p:nvPr/>
        </p:nvSpPr>
        <p:spPr>
          <a:xfrm>
            <a:off x="1483505" y="2913900"/>
            <a:ext cx="7758589" cy="5174700"/>
          </a:xfrm>
          <a:prstGeom prst="rect">
            <a:avLst/>
          </a:prstGeom>
          <a:noFill/>
          <a:effectLst/>
        </p:spPr>
        <p:txBody>
          <a:bodyPr wrap="square" lIns="21600" tIns="21600" rIns="21600" bIns="21600" anchor="t">
            <a:noAutofit/>
          </a:bodyPr>
          <a:lstStyle/>
          <a:p>
            <a:pPr marL="457200" indent="-457200" algn="l">
              <a:lnSpc>
                <a:spcPct val="115000"/>
              </a:lnSpc>
              <a:spcBef>
                <a:spcPts val="0"/>
              </a:spcBef>
              <a:spcAft>
                <a:spcPts val="0"/>
              </a:spcAft>
              <a:buFont typeface="Wingdings" panose="05000000000000000000" pitchFamily="2" charset="2"/>
              <a:buChar char="l"/>
            </a:pPr>
            <a:r>
              <a:rPr lang="en-US" altLang="ja-JP" sz="2800" b="1" dirty="0">
                <a:latin typeface="Yu Gothic"/>
              </a:rPr>
              <a:t>Hist Gradient Boosting</a:t>
            </a:r>
            <a:r>
              <a:rPr lang="ja-JP" altLang="en-US" sz="2800" b="1" dirty="0">
                <a:latin typeface="Yu Gothic"/>
              </a:rPr>
              <a:t>（</a:t>
            </a:r>
            <a:r>
              <a:rPr lang="en-US" altLang="ja-JP" sz="2800" b="1" dirty="0">
                <a:latin typeface="Yu Gothic"/>
              </a:rPr>
              <a:t>HGB</a:t>
            </a:r>
            <a:r>
              <a:rPr lang="ja-JP" altLang="en-US" sz="2800" b="1" dirty="0">
                <a:latin typeface="Yu Gothic"/>
              </a:rPr>
              <a:t>）</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予測誤差を順に補正する決定木を組み合わせる</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要約特徴と熱流束の非線形な関係を学習</a:t>
            </a:r>
            <a:endParaRPr lang="en-US" altLang="ja-JP" sz="2800" b="1" dirty="0">
              <a:latin typeface="Yu Gothic"/>
            </a:endParaRPr>
          </a:p>
          <a:p>
            <a:pPr marL="457200" indent="-457200" algn="l">
              <a:lnSpc>
                <a:spcPct val="115000"/>
              </a:lnSpc>
              <a:spcBef>
                <a:spcPts val="0"/>
              </a:spcBef>
              <a:spcAft>
                <a:spcPts val="0"/>
              </a:spcAft>
              <a:buFont typeface="Wingdings" panose="05000000000000000000" pitchFamily="2" charset="2"/>
              <a:buChar char="l"/>
            </a:pPr>
            <a:r>
              <a:rPr lang="en-US" sz="2800" b="1" dirty="0">
                <a:latin typeface="Yu Gothic"/>
              </a:rPr>
              <a:t>Extra Trees</a:t>
            </a:r>
            <a:r>
              <a:rPr lang="ja-JP" altLang="en-US" sz="2800" b="1" dirty="0">
                <a:latin typeface="Yu Gothic"/>
              </a:rPr>
              <a:t>（</a:t>
            </a:r>
            <a:r>
              <a:rPr lang="en-US" altLang="ja-JP" sz="2800" b="1" dirty="0">
                <a:latin typeface="Yu Gothic"/>
              </a:rPr>
              <a:t>ET</a:t>
            </a:r>
            <a:r>
              <a:rPr lang="ja-JP" altLang="en-US" sz="2800" b="1" dirty="0">
                <a:latin typeface="Yu Gothic"/>
              </a:rPr>
              <a:t>）</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分岐をランダム化した多数の決定木を平均</a:t>
            </a:r>
            <a:endParaRPr lang="en-US" altLang="ja-JP" sz="2800" b="1" dirty="0">
              <a:latin typeface="Yu Gothic"/>
            </a:endParaRPr>
          </a:p>
          <a:p>
            <a:pPr marL="914400" lvl="1" indent="-457200">
              <a:lnSpc>
                <a:spcPct val="115000"/>
              </a:lnSpc>
              <a:buFont typeface="Wingdings" panose="05000000000000000000" pitchFamily="2" charset="2"/>
              <a:buChar char="l"/>
            </a:pPr>
            <a:r>
              <a:rPr lang="en-US" sz="2800" b="1" dirty="0">
                <a:latin typeface="Yu Gothic"/>
              </a:rPr>
              <a:t>HGB</a:t>
            </a:r>
            <a:r>
              <a:rPr lang="ja-JP" altLang="en-US" sz="2800" b="1" dirty="0">
                <a:latin typeface="Yu Gothic"/>
              </a:rPr>
              <a:t>と異なる学習方式による補完を狙う</a:t>
            </a:r>
            <a:endParaRPr sz="2800" b="1" dirty="0">
              <a:latin typeface="Yu Gothic"/>
            </a:endParaRPr>
          </a:p>
        </p:txBody>
      </p:sp>
      <p:sp>
        <p:nvSpPr>
          <p:cNvPr id="25" name="MODEL_TITLE">
            <a:extLst>
              <a:ext uri="{FF2B5EF4-FFF2-40B4-BE49-F238E27FC236}">
                <a16:creationId xmlns:a16="http://schemas.microsoft.com/office/drawing/2014/main" id="{64220E46-0E06-25AE-9816-6743F7D8940C}"/>
              </a:ext>
            </a:extLst>
          </p:cNvPr>
          <p:cNvSpPr txBox="1"/>
          <p:nvPr/>
        </p:nvSpPr>
        <p:spPr>
          <a:xfrm>
            <a:off x="1483505" y="7112702"/>
            <a:ext cx="8063999" cy="503999"/>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2800" b="1" dirty="0">
                <a:solidFill>
                  <a:srgbClr val="2F6F73"/>
                </a:solidFill>
                <a:latin typeface="Yu Gothic"/>
              </a:rPr>
              <a:t>選んだ理由</a:t>
            </a:r>
            <a:endParaRPr sz="2800" b="1" dirty="0">
              <a:solidFill>
                <a:srgbClr val="2F6F73"/>
              </a:solidFill>
              <a:latin typeface="Yu Gothic"/>
            </a:endParaRPr>
          </a:p>
        </p:txBody>
      </p:sp>
      <p:sp>
        <p:nvSpPr>
          <p:cNvPr id="27" name="LEFT_TITLE">
            <a:extLst>
              <a:ext uri="{FF2B5EF4-FFF2-40B4-BE49-F238E27FC236}">
                <a16:creationId xmlns:a16="http://schemas.microsoft.com/office/drawing/2014/main" id="{D2686A10-9111-FF01-C60E-68E44A44F524}"/>
              </a:ext>
            </a:extLst>
          </p:cNvPr>
          <p:cNvSpPr txBox="1"/>
          <p:nvPr/>
        </p:nvSpPr>
        <p:spPr>
          <a:xfrm>
            <a:off x="1473982" y="7907701"/>
            <a:ext cx="16544018" cy="3560399"/>
          </a:xfrm>
          <a:prstGeom prst="rect">
            <a:avLst/>
          </a:prstGeom>
          <a:noFill/>
          <a:effectLst/>
        </p:spPr>
        <p:txBody>
          <a:bodyPr wrap="square" lIns="21600" tIns="21600" rIns="21600" bIns="21600" anchor="t">
            <a:noAutofit/>
          </a:bodyPr>
          <a:lstStyle/>
          <a:p>
            <a:pPr marL="457200" indent="-457200" algn="l">
              <a:lnSpc>
                <a:spcPct val="115000"/>
              </a:lnSpc>
              <a:spcBef>
                <a:spcPts val="0"/>
              </a:spcBef>
              <a:spcAft>
                <a:spcPts val="0"/>
              </a:spcAft>
              <a:buFont typeface="Wingdings" panose="05000000000000000000" pitchFamily="2" charset="2"/>
              <a:buChar char="l"/>
            </a:pPr>
            <a:r>
              <a:rPr lang="ja-JP" altLang="en-US" sz="2800" b="1" dirty="0">
                <a:latin typeface="Yu Gothic"/>
              </a:rPr>
              <a:t>画像由来の入力データと異なる表現</a:t>
            </a:r>
            <a:endParaRPr lang="en-US" altLang="ja-JP" sz="2800" b="1" dirty="0">
              <a:latin typeface="Yu Gothic"/>
            </a:endParaRPr>
          </a:p>
          <a:p>
            <a:pPr marL="914400" lvl="1" indent="-457200">
              <a:lnSpc>
                <a:spcPct val="115000"/>
              </a:lnSpc>
              <a:buFont typeface="Wingdings" panose="05000000000000000000" pitchFamily="2" charset="2"/>
              <a:buChar char="l"/>
            </a:pPr>
            <a:r>
              <a:rPr lang="ja-JP" altLang="en-US" sz="2800" b="1" dirty="0">
                <a:latin typeface="Yu Gothic"/>
              </a:rPr>
              <a:t>追加</a:t>
            </a:r>
            <a:r>
              <a:rPr lang="en-US" altLang="ja-JP" sz="2800" b="1" dirty="0">
                <a:latin typeface="Yu Gothic"/>
              </a:rPr>
              <a:t>2</a:t>
            </a:r>
            <a:r>
              <a:rPr lang="ja-JP" altLang="en-US" sz="2800" b="1" dirty="0">
                <a:latin typeface="Yu Gothic"/>
              </a:rPr>
              <a:t>モデルでは，音響の強さ・周波数形状などの音響の</a:t>
            </a:r>
            <a:r>
              <a:rPr lang="en-US" altLang="ja-JP" sz="2800" b="1" dirty="0">
                <a:latin typeface="Yu Gothic"/>
              </a:rPr>
              <a:t>34</a:t>
            </a:r>
            <a:r>
              <a:rPr lang="ja-JP" altLang="en-US" sz="2800" b="1" dirty="0">
                <a:latin typeface="Yu Gothic"/>
              </a:rPr>
              <a:t>特徴を直接使う．時間に関する特徴はない</a:t>
            </a:r>
            <a:endParaRPr lang="en-US" altLang="ja-JP" sz="2800" b="1" dirty="0">
              <a:latin typeface="Yu Gothic"/>
            </a:endParaRPr>
          </a:p>
          <a:p>
            <a:pPr marL="457200" indent="-457200">
              <a:lnSpc>
                <a:spcPct val="115000"/>
              </a:lnSpc>
              <a:buFont typeface="Wingdings" panose="05000000000000000000" pitchFamily="2" charset="2"/>
              <a:buChar char="l"/>
            </a:pPr>
            <a:r>
              <a:rPr lang="ja-JP" altLang="en-US" sz="2800" b="1" dirty="0">
                <a:latin typeface="Yu Gothic"/>
              </a:rPr>
              <a:t>学習方式の違い</a:t>
            </a:r>
            <a:endParaRPr lang="en-US" altLang="ja-JP" sz="2800" b="1" dirty="0">
              <a:latin typeface="Yu Gothic"/>
            </a:endParaRPr>
          </a:p>
          <a:p>
            <a:pPr marL="914400" lvl="1" indent="-457200">
              <a:lnSpc>
                <a:spcPct val="115000"/>
              </a:lnSpc>
              <a:buFont typeface="Wingdings" panose="05000000000000000000" pitchFamily="2" charset="2"/>
              <a:buChar char="l"/>
            </a:pPr>
            <a:r>
              <a:rPr lang="en-US" altLang="ja-JP" sz="2800" b="1" dirty="0">
                <a:latin typeface="Yu Gothic"/>
              </a:rPr>
              <a:t>HGB</a:t>
            </a:r>
            <a:r>
              <a:rPr lang="ja-JP" altLang="en-US" sz="2800" b="1" dirty="0">
                <a:latin typeface="Yu Gothic"/>
              </a:rPr>
              <a:t>ではランダムフォレストにはない予測誤差を順に補正する機能があったり従来とは異なる方式</a:t>
            </a:r>
            <a:endParaRPr lang="en-US" altLang="ja-JP" sz="2800" b="1" dirty="0">
              <a:latin typeface="Yu Gothic"/>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56">
            <a:extLst>
              <a:ext uri="{FF2B5EF4-FFF2-40B4-BE49-F238E27FC236}">
                <a16:creationId xmlns:a16="http://schemas.microsoft.com/office/drawing/2014/main" id="{75BFE32B-F018-C4E4-FAB7-80C0D2CDC22E}"/>
              </a:ext>
            </a:extLst>
          </p:cNvPr>
          <p:cNvGrpSpPr/>
          <p:nvPr/>
        </p:nvGrpSpPr>
        <p:grpSpPr>
          <a:xfrm>
            <a:off x="270494" y="246431"/>
            <a:ext cx="698205" cy="10040568"/>
            <a:chOff x="270494" y="246431"/>
            <a:chExt cx="698205" cy="10040568"/>
          </a:xfrm>
        </p:grpSpPr>
        <p:pic>
          <p:nvPicPr>
            <p:cNvPr id="3" name="図 57">
              <a:extLst>
                <a:ext uri="{FF2B5EF4-FFF2-40B4-BE49-F238E27FC236}">
                  <a16:creationId xmlns:a16="http://schemas.microsoft.com/office/drawing/2014/main" id="{1226A433-2043-B47F-E0E8-72C7A0748C7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4" name="テキスト ボックス 58">
              <a:extLst>
                <a:ext uri="{FF2B5EF4-FFF2-40B4-BE49-F238E27FC236}">
                  <a16:creationId xmlns:a16="http://schemas.microsoft.com/office/drawing/2014/main" id="{F53AD6DF-8ABC-58C4-0BDA-981F712C6600}"/>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 name="直線コネクタ 59">
              <a:extLst>
                <a:ext uri="{FF2B5EF4-FFF2-40B4-BE49-F238E27FC236}">
                  <a16:creationId xmlns:a16="http://schemas.microsoft.com/office/drawing/2014/main" id="{583BFE6C-617D-A3DC-D51E-18A6133895A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 name="フローチャート: 論理積ゲート 60">
              <a:extLst>
                <a:ext uri="{FF2B5EF4-FFF2-40B4-BE49-F238E27FC236}">
                  <a16:creationId xmlns:a16="http://schemas.microsoft.com/office/drawing/2014/main" id="{63EE0EEB-3C48-D4D2-9411-176CDF6BB0D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Group 3">
            <a:extLst>
              <a:ext uri="{FF2B5EF4-FFF2-40B4-BE49-F238E27FC236}">
                <a16:creationId xmlns:a16="http://schemas.microsoft.com/office/drawing/2014/main" id="{66CE81F5-9908-5CB9-4AC3-1FCBE2FF3FAA}"/>
              </a:ext>
            </a:extLst>
          </p:cNvPr>
          <p:cNvGrpSpPr/>
          <p:nvPr/>
        </p:nvGrpSpPr>
        <p:grpSpPr>
          <a:xfrm>
            <a:off x="1371600" y="1069258"/>
            <a:ext cx="16064988" cy="125708"/>
            <a:chOff x="0" y="0"/>
            <a:chExt cx="22021800" cy="190500"/>
          </a:xfrm>
        </p:grpSpPr>
        <p:grpSp>
          <p:nvGrpSpPr>
            <p:cNvPr id="8" name="Group 4">
              <a:extLst>
                <a:ext uri="{FF2B5EF4-FFF2-40B4-BE49-F238E27FC236}">
                  <a16:creationId xmlns:a16="http://schemas.microsoft.com/office/drawing/2014/main" id="{F18484CA-1C82-F32C-E492-71BB690B31BD}"/>
                </a:ext>
              </a:extLst>
            </p:cNvPr>
            <p:cNvGrpSpPr/>
            <p:nvPr/>
          </p:nvGrpSpPr>
          <p:grpSpPr>
            <a:xfrm>
              <a:off x="0" y="0"/>
              <a:ext cx="7340600" cy="190500"/>
              <a:chOff x="0" y="0"/>
              <a:chExt cx="1449995" cy="37630"/>
            </a:xfrm>
          </p:grpSpPr>
          <p:sp>
            <p:nvSpPr>
              <p:cNvPr id="9" name="Freeform 5">
                <a:extLst>
                  <a:ext uri="{FF2B5EF4-FFF2-40B4-BE49-F238E27FC236}">
                    <a16:creationId xmlns:a16="http://schemas.microsoft.com/office/drawing/2014/main" id="{99894FA7-D161-F806-1A5F-52AABFBB08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0" name="TextBox 6">
                <a:extLst>
                  <a:ext uri="{FF2B5EF4-FFF2-40B4-BE49-F238E27FC236}">
                    <a16:creationId xmlns:a16="http://schemas.microsoft.com/office/drawing/2014/main" id="{72556C4C-3473-3018-70C4-085FA6F987B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1" name="Group 7">
              <a:extLst>
                <a:ext uri="{FF2B5EF4-FFF2-40B4-BE49-F238E27FC236}">
                  <a16:creationId xmlns:a16="http://schemas.microsoft.com/office/drawing/2014/main" id="{F7A34761-E638-B2A2-9E72-32563CB39D5B}"/>
                </a:ext>
              </a:extLst>
            </p:cNvPr>
            <p:cNvGrpSpPr/>
            <p:nvPr/>
          </p:nvGrpSpPr>
          <p:grpSpPr>
            <a:xfrm>
              <a:off x="7340600" y="0"/>
              <a:ext cx="7340600" cy="190500"/>
              <a:chOff x="0" y="0"/>
              <a:chExt cx="1449995" cy="37630"/>
            </a:xfrm>
          </p:grpSpPr>
          <p:sp>
            <p:nvSpPr>
              <p:cNvPr id="12" name="Freeform 8">
                <a:extLst>
                  <a:ext uri="{FF2B5EF4-FFF2-40B4-BE49-F238E27FC236}">
                    <a16:creationId xmlns:a16="http://schemas.microsoft.com/office/drawing/2014/main" id="{66779A7D-5ECB-D310-B556-EC0E21709BC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13" name="TextBox 9">
                <a:extLst>
                  <a:ext uri="{FF2B5EF4-FFF2-40B4-BE49-F238E27FC236}">
                    <a16:creationId xmlns:a16="http://schemas.microsoft.com/office/drawing/2014/main" id="{96F89EAF-9FB5-76B1-24F0-8313C0D5D3B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4" name="Group 10">
              <a:extLst>
                <a:ext uri="{FF2B5EF4-FFF2-40B4-BE49-F238E27FC236}">
                  <a16:creationId xmlns:a16="http://schemas.microsoft.com/office/drawing/2014/main" id="{0F7B6D61-78D9-D77B-900A-F293F294C432}"/>
                </a:ext>
              </a:extLst>
            </p:cNvPr>
            <p:cNvGrpSpPr/>
            <p:nvPr/>
          </p:nvGrpSpPr>
          <p:grpSpPr>
            <a:xfrm>
              <a:off x="14681200" y="0"/>
              <a:ext cx="7340600" cy="190500"/>
              <a:chOff x="0" y="0"/>
              <a:chExt cx="1449995" cy="37630"/>
            </a:xfrm>
          </p:grpSpPr>
          <p:sp>
            <p:nvSpPr>
              <p:cNvPr id="15" name="Freeform 11">
                <a:extLst>
                  <a:ext uri="{FF2B5EF4-FFF2-40B4-BE49-F238E27FC236}">
                    <a16:creationId xmlns:a16="http://schemas.microsoft.com/office/drawing/2014/main" id="{3CE663F6-1B9A-DFEE-C6F5-CE676E3CD07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6" name="TextBox 12">
                <a:extLst>
                  <a:ext uri="{FF2B5EF4-FFF2-40B4-BE49-F238E27FC236}">
                    <a16:creationId xmlns:a16="http://schemas.microsoft.com/office/drawing/2014/main" id="{509D1305-F68D-3300-CC15-A5584E7FBBA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PAGE_NUMBER"/>
          <p:cNvSpPr txBox="1"/>
          <p:nvPr/>
        </p:nvSpPr>
        <p:spPr>
          <a:xfrm>
            <a:off x="270000" y="9748800"/>
            <a:ext cx="599400" cy="46224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buNone/>
            </a:pPr>
            <a:r>
              <a:rPr lang="ja-JP" sz="2400" b="0">
                <a:solidFill>
                  <a:srgbClr val="FFFFFF"/>
                </a:solidFill>
                <a:latin typeface="Yu Gothic"/>
                <a:ea typeface="Yu Gothic"/>
                <a:cs typeface="Yu Gothic"/>
              </a:rPr>
              <a:t>6</a:t>
            </a:r>
          </a:p>
        </p:txBody>
      </p:sp>
      <p:sp>
        <p:nvSpPr>
          <p:cNvPr id="19" name="MAIN_MESSAGE"/>
          <p:cNvSpPr txBox="1"/>
          <p:nvPr/>
        </p:nvSpPr>
        <p:spPr>
          <a:xfrm>
            <a:off x="1512000" y="1422000"/>
            <a:ext cx="15912000" cy="1044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3200" b="1" dirty="0">
                <a:solidFill>
                  <a:srgbClr val="202427"/>
                </a:solidFill>
                <a:latin typeface="Yu Gothic"/>
              </a:rPr>
              <a:t>5モデル統合は3モデル統合より，全7条件で全評価区間の予測誤差が小さかった</a:t>
            </a:r>
          </a:p>
        </p:txBody>
      </p:sp>
      <p:sp>
        <p:nvSpPr>
          <p:cNvPr id="21" name="REGRESSION_CHART_TITLE"/>
          <p:cNvSpPr txBox="1"/>
          <p:nvPr/>
        </p:nvSpPr>
        <p:spPr>
          <a:xfrm>
            <a:off x="1512000" y="2476500"/>
            <a:ext cx="9720000" cy="432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2800" b="1">
                <a:solidFill>
                  <a:srgbClr val="2F6F73"/>
                </a:solidFill>
                <a:latin typeface="Yu Gothic"/>
              </a:rPr>
              <a:t>雑音の強さごとの予測誤差</a:t>
            </a:r>
          </a:p>
        </p:txBody>
      </p:sp>
      <p:sp>
        <p:nvSpPr>
          <p:cNvPr id="24" name="TextBox 24">
            <a:extLst>
              <a:ext uri="{FF2B5EF4-FFF2-40B4-BE49-F238E27FC236}">
                <a16:creationId xmlns:a16="http://schemas.microsoft.com/office/drawing/2014/main" id="{E9149E5B-CC25-6227-42C0-42BCE8F08878}"/>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cs typeface="Source Han Sans JP Medium"/>
                <a:sym typeface="Source Han Sans JP Medium"/>
              </a:rPr>
              <a:t>2. </a:t>
            </a:r>
            <a:r>
              <a:rPr lang="ja-JP" altLang="en-US" sz="3000" b="1" dirty="0">
                <a:solidFill>
                  <a:srgbClr val="202020"/>
                </a:solidFill>
                <a:latin typeface="Yu Gothic"/>
                <a:ea typeface="Yu Gothic"/>
                <a:cs typeface="Source Han Sans JP Medium"/>
                <a:sym typeface="Source Han Sans JP Medium"/>
              </a:rPr>
              <a:t>熱流束回帰の結果</a:t>
            </a:r>
          </a:p>
        </p:txBody>
      </p:sp>
      <p:pic>
        <p:nvPicPr>
          <p:cNvPr id="20" name="図 19">
            <a:extLst>
              <a:ext uri="{FF2B5EF4-FFF2-40B4-BE49-F238E27FC236}">
                <a16:creationId xmlns:a16="http://schemas.microsoft.com/office/drawing/2014/main" id="{E5E68892-71F8-F8EF-3385-FE5930936DF1}"/>
              </a:ext>
            </a:extLst>
          </p:cNvPr>
          <p:cNvPicPr>
            <a:picLocks noChangeAspect="1"/>
          </p:cNvPicPr>
          <p:nvPr/>
        </p:nvPicPr>
        <p:blipFill>
          <a:blip r:embed="rId4"/>
          <a:stretch>
            <a:fillRect/>
          </a:stretch>
        </p:blipFill>
        <p:spPr>
          <a:xfrm>
            <a:off x="2375416" y="3173383"/>
            <a:ext cx="13537168" cy="6575417"/>
          </a:xfrm>
          <a:prstGeom prst="rect">
            <a:avLst/>
          </a:prstGeom>
        </p:spPr>
      </p:pic>
      <p:sp>
        <p:nvSpPr>
          <p:cNvPr id="33" name="Right Arrow 22">
            <a:extLst>
              <a:ext uri="{FF2B5EF4-FFF2-40B4-BE49-F238E27FC236}">
                <a16:creationId xmlns:a16="http://schemas.microsoft.com/office/drawing/2014/main" id="{8E52E426-96FF-8E87-5190-B67AB8739FC9}"/>
              </a:ext>
            </a:extLst>
          </p:cNvPr>
          <p:cNvSpPr/>
          <p:nvPr/>
        </p:nvSpPr>
        <p:spPr>
          <a:xfrm rot="9208561">
            <a:off x="15431736" y="2904069"/>
            <a:ext cx="641130" cy="614828"/>
          </a:xfrm>
          <a:prstGeom prst="rightArrow">
            <a:avLst/>
          </a:prstGeom>
          <a:solidFill>
            <a:srgbClr val="639FA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Right Arrow 22">
            <a:extLst>
              <a:ext uri="{FF2B5EF4-FFF2-40B4-BE49-F238E27FC236}">
                <a16:creationId xmlns:a16="http://schemas.microsoft.com/office/drawing/2014/main" id="{E76435C6-3C28-5655-4109-C594A4FCE4CC}"/>
              </a:ext>
            </a:extLst>
          </p:cNvPr>
          <p:cNvSpPr/>
          <p:nvPr/>
        </p:nvSpPr>
        <p:spPr>
          <a:xfrm rot="13224730">
            <a:off x="15379098" y="4091434"/>
            <a:ext cx="641130" cy="614828"/>
          </a:xfrm>
          <a:prstGeom prst="rightArrow">
            <a:avLst/>
          </a:prstGeom>
          <a:solidFill>
            <a:srgbClr val="639FA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7" name="LEFT_TITLE">
            <a:extLst>
              <a:ext uri="{FF2B5EF4-FFF2-40B4-BE49-F238E27FC236}">
                <a16:creationId xmlns:a16="http://schemas.microsoft.com/office/drawing/2014/main" id="{FF9654EB-F6D3-1BA6-E672-71B53B7CA72E}"/>
              </a:ext>
            </a:extLst>
          </p:cNvPr>
          <p:cNvSpPr txBox="1"/>
          <p:nvPr/>
        </p:nvSpPr>
        <p:spPr>
          <a:xfrm>
            <a:off x="15316200" y="2322720"/>
            <a:ext cx="2971800" cy="660606"/>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2800" b="1" dirty="0">
                <a:latin typeface="Yu Gothic"/>
              </a:rPr>
              <a:t>従来の</a:t>
            </a:r>
            <a:r>
              <a:rPr lang="en-US" altLang="ja-JP" sz="2800" b="1" dirty="0">
                <a:latin typeface="Yu Gothic"/>
              </a:rPr>
              <a:t>3</a:t>
            </a:r>
            <a:r>
              <a:rPr lang="ja-JP" altLang="en-US" sz="2800" b="1" dirty="0">
                <a:latin typeface="Yu Gothic"/>
              </a:rPr>
              <a:t>モデル</a:t>
            </a:r>
            <a:endParaRPr sz="2800" b="1" dirty="0">
              <a:latin typeface="Yu Gothic"/>
            </a:endParaRPr>
          </a:p>
        </p:txBody>
      </p:sp>
      <p:sp>
        <p:nvSpPr>
          <p:cNvPr id="39" name="LEFT_TITLE">
            <a:extLst>
              <a:ext uri="{FF2B5EF4-FFF2-40B4-BE49-F238E27FC236}">
                <a16:creationId xmlns:a16="http://schemas.microsoft.com/office/drawing/2014/main" id="{F52FB467-E96A-0DA3-9060-FD7F6B688CB6}"/>
              </a:ext>
            </a:extLst>
          </p:cNvPr>
          <p:cNvSpPr txBox="1"/>
          <p:nvPr/>
        </p:nvSpPr>
        <p:spPr>
          <a:xfrm>
            <a:off x="15431737" y="4813197"/>
            <a:ext cx="2971800" cy="660606"/>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2800" b="1" dirty="0">
                <a:latin typeface="Yu Gothic"/>
              </a:rPr>
              <a:t>今回の</a:t>
            </a:r>
            <a:r>
              <a:rPr lang="en-US" altLang="ja-JP" sz="2800" b="1" dirty="0">
                <a:latin typeface="Yu Gothic"/>
              </a:rPr>
              <a:t>4</a:t>
            </a:r>
            <a:r>
              <a:rPr lang="ja-JP" altLang="en-US" sz="2800" b="1" dirty="0">
                <a:latin typeface="Yu Gothic"/>
              </a:rPr>
              <a:t>・</a:t>
            </a:r>
            <a:r>
              <a:rPr lang="en-US" altLang="ja-JP" sz="2800" b="1" dirty="0">
                <a:latin typeface="Yu Gothic"/>
              </a:rPr>
              <a:t>5</a:t>
            </a:r>
            <a:r>
              <a:rPr lang="ja-JP" altLang="en-US" sz="2800" b="1" dirty="0">
                <a:latin typeface="Yu Gothic"/>
              </a:rPr>
              <a:t>モデル</a:t>
            </a:r>
            <a:endParaRPr sz="2800" b="1" dirty="0">
              <a:latin typeface="Yu Gothic"/>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56">
            <a:extLst>
              <a:ext uri="{FF2B5EF4-FFF2-40B4-BE49-F238E27FC236}">
                <a16:creationId xmlns:a16="http://schemas.microsoft.com/office/drawing/2014/main" id="{75BFE32B-F018-C4E4-FAB7-80C0D2CDC22E}"/>
              </a:ext>
            </a:extLst>
          </p:cNvPr>
          <p:cNvGrpSpPr/>
          <p:nvPr/>
        </p:nvGrpSpPr>
        <p:grpSpPr>
          <a:xfrm>
            <a:off x="270494" y="246431"/>
            <a:ext cx="698205" cy="10040568"/>
            <a:chOff x="270494" y="246431"/>
            <a:chExt cx="698205" cy="10040568"/>
          </a:xfrm>
        </p:grpSpPr>
        <p:pic>
          <p:nvPicPr>
            <p:cNvPr id="3" name="図 57">
              <a:extLst>
                <a:ext uri="{FF2B5EF4-FFF2-40B4-BE49-F238E27FC236}">
                  <a16:creationId xmlns:a16="http://schemas.microsoft.com/office/drawing/2014/main" id="{1226A433-2043-B47F-E0E8-72C7A0748C7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4" name="テキスト ボックス 58">
              <a:extLst>
                <a:ext uri="{FF2B5EF4-FFF2-40B4-BE49-F238E27FC236}">
                  <a16:creationId xmlns:a16="http://schemas.microsoft.com/office/drawing/2014/main" id="{F53AD6DF-8ABC-58C4-0BDA-981F712C6600}"/>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 name="直線コネクタ 59">
              <a:extLst>
                <a:ext uri="{FF2B5EF4-FFF2-40B4-BE49-F238E27FC236}">
                  <a16:creationId xmlns:a16="http://schemas.microsoft.com/office/drawing/2014/main" id="{583BFE6C-617D-A3DC-D51E-18A6133895A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 name="フローチャート: 論理積ゲート 60">
              <a:extLst>
                <a:ext uri="{FF2B5EF4-FFF2-40B4-BE49-F238E27FC236}">
                  <a16:creationId xmlns:a16="http://schemas.microsoft.com/office/drawing/2014/main" id="{63EE0EEB-3C48-D4D2-9411-176CDF6BB0D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Group 3">
            <a:extLst>
              <a:ext uri="{FF2B5EF4-FFF2-40B4-BE49-F238E27FC236}">
                <a16:creationId xmlns:a16="http://schemas.microsoft.com/office/drawing/2014/main" id="{66CE81F5-9908-5CB9-4AC3-1FCBE2FF3FAA}"/>
              </a:ext>
            </a:extLst>
          </p:cNvPr>
          <p:cNvGrpSpPr/>
          <p:nvPr/>
        </p:nvGrpSpPr>
        <p:grpSpPr>
          <a:xfrm>
            <a:off x="1371600" y="1069258"/>
            <a:ext cx="16064988" cy="125708"/>
            <a:chOff x="0" y="0"/>
            <a:chExt cx="22021800" cy="190500"/>
          </a:xfrm>
        </p:grpSpPr>
        <p:grpSp>
          <p:nvGrpSpPr>
            <p:cNvPr id="8" name="Group 4">
              <a:extLst>
                <a:ext uri="{FF2B5EF4-FFF2-40B4-BE49-F238E27FC236}">
                  <a16:creationId xmlns:a16="http://schemas.microsoft.com/office/drawing/2014/main" id="{F18484CA-1C82-F32C-E492-71BB690B31BD}"/>
                </a:ext>
              </a:extLst>
            </p:cNvPr>
            <p:cNvGrpSpPr/>
            <p:nvPr/>
          </p:nvGrpSpPr>
          <p:grpSpPr>
            <a:xfrm>
              <a:off x="0" y="0"/>
              <a:ext cx="7340600" cy="190500"/>
              <a:chOff x="0" y="0"/>
              <a:chExt cx="1449995" cy="37630"/>
            </a:xfrm>
          </p:grpSpPr>
          <p:sp>
            <p:nvSpPr>
              <p:cNvPr id="9" name="Freeform 5">
                <a:extLst>
                  <a:ext uri="{FF2B5EF4-FFF2-40B4-BE49-F238E27FC236}">
                    <a16:creationId xmlns:a16="http://schemas.microsoft.com/office/drawing/2014/main" id="{99894FA7-D161-F806-1A5F-52AABFBB08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0" name="TextBox 6">
                <a:extLst>
                  <a:ext uri="{FF2B5EF4-FFF2-40B4-BE49-F238E27FC236}">
                    <a16:creationId xmlns:a16="http://schemas.microsoft.com/office/drawing/2014/main" id="{72556C4C-3473-3018-70C4-085FA6F987B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1" name="Group 7">
              <a:extLst>
                <a:ext uri="{FF2B5EF4-FFF2-40B4-BE49-F238E27FC236}">
                  <a16:creationId xmlns:a16="http://schemas.microsoft.com/office/drawing/2014/main" id="{F7A34761-E638-B2A2-9E72-32563CB39D5B}"/>
                </a:ext>
              </a:extLst>
            </p:cNvPr>
            <p:cNvGrpSpPr/>
            <p:nvPr/>
          </p:nvGrpSpPr>
          <p:grpSpPr>
            <a:xfrm>
              <a:off x="7340600" y="0"/>
              <a:ext cx="7340600" cy="190500"/>
              <a:chOff x="0" y="0"/>
              <a:chExt cx="1449995" cy="37630"/>
            </a:xfrm>
          </p:grpSpPr>
          <p:sp>
            <p:nvSpPr>
              <p:cNvPr id="12" name="Freeform 8">
                <a:extLst>
                  <a:ext uri="{FF2B5EF4-FFF2-40B4-BE49-F238E27FC236}">
                    <a16:creationId xmlns:a16="http://schemas.microsoft.com/office/drawing/2014/main" id="{66779A7D-5ECB-D310-B556-EC0E21709BC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13" name="TextBox 9">
                <a:extLst>
                  <a:ext uri="{FF2B5EF4-FFF2-40B4-BE49-F238E27FC236}">
                    <a16:creationId xmlns:a16="http://schemas.microsoft.com/office/drawing/2014/main" id="{96F89EAF-9FB5-76B1-24F0-8313C0D5D3B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4" name="Group 10">
              <a:extLst>
                <a:ext uri="{FF2B5EF4-FFF2-40B4-BE49-F238E27FC236}">
                  <a16:creationId xmlns:a16="http://schemas.microsoft.com/office/drawing/2014/main" id="{0F7B6D61-78D9-D77B-900A-F293F294C432}"/>
                </a:ext>
              </a:extLst>
            </p:cNvPr>
            <p:cNvGrpSpPr/>
            <p:nvPr/>
          </p:nvGrpSpPr>
          <p:grpSpPr>
            <a:xfrm>
              <a:off x="14681200" y="0"/>
              <a:ext cx="7340600" cy="190500"/>
              <a:chOff x="0" y="0"/>
              <a:chExt cx="1449995" cy="37630"/>
            </a:xfrm>
          </p:grpSpPr>
          <p:sp>
            <p:nvSpPr>
              <p:cNvPr id="15" name="Freeform 11">
                <a:extLst>
                  <a:ext uri="{FF2B5EF4-FFF2-40B4-BE49-F238E27FC236}">
                    <a16:creationId xmlns:a16="http://schemas.microsoft.com/office/drawing/2014/main" id="{3CE663F6-1B9A-DFEE-C6F5-CE676E3CD07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6" name="TextBox 12">
                <a:extLst>
                  <a:ext uri="{FF2B5EF4-FFF2-40B4-BE49-F238E27FC236}">
                    <a16:creationId xmlns:a16="http://schemas.microsoft.com/office/drawing/2014/main" id="{509D1305-F68D-3300-CC15-A5584E7FBBA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PAGE_NUMBER"/>
          <p:cNvSpPr txBox="1"/>
          <p:nvPr/>
        </p:nvSpPr>
        <p:spPr>
          <a:xfrm>
            <a:off x="270000" y="9748800"/>
            <a:ext cx="599400" cy="46224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buNone/>
            </a:pPr>
            <a:r>
              <a:rPr lang="ja-JP" sz="2400" b="0">
                <a:solidFill>
                  <a:srgbClr val="FFFFFF"/>
                </a:solidFill>
                <a:latin typeface="Yu Gothic"/>
                <a:ea typeface="Yu Gothic"/>
                <a:cs typeface="Yu Gothic"/>
              </a:rPr>
              <a:t>8</a:t>
            </a:r>
          </a:p>
        </p:txBody>
      </p:sp>
      <p:sp>
        <p:nvSpPr>
          <p:cNvPr id="19" name="MAIN_MESSAGE"/>
          <p:cNvSpPr txBox="1"/>
          <p:nvPr/>
        </p:nvSpPr>
        <p:spPr>
          <a:xfrm>
            <a:off x="1512000" y="1422000"/>
            <a:ext cx="15912000" cy="1044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2900" b="1" dirty="0">
                <a:solidFill>
                  <a:srgbClr val="202427"/>
                </a:solidFill>
                <a:latin typeface="Yu Gothic"/>
              </a:rPr>
              <a:t>改善には，過大・過小予測の相殺だけでなく，3つの予測群が同じ側に外れた場合の誤差縮小も含まれる</a:t>
            </a:r>
          </a:p>
        </p:txBody>
      </p:sp>
      <p:sp>
        <p:nvSpPr>
          <p:cNvPr id="20" name="REGION_TITLE"/>
          <p:cNvSpPr txBox="1"/>
          <p:nvPr/>
        </p:nvSpPr>
        <p:spPr>
          <a:xfrm>
            <a:off x="6977400" y="2521975"/>
            <a:ext cx="8496000" cy="432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2700" b="1" dirty="0" err="1">
                <a:solidFill>
                  <a:srgbClr val="2F6F73"/>
                </a:solidFill>
                <a:latin typeface="Yu Gothic"/>
              </a:rPr>
              <a:t>どの熱流束領域で改善したか</a:t>
            </a:r>
            <a:endParaRPr sz="2700" b="1" dirty="0">
              <a:solidFill>
                <a:srgbClr val="2F6F73"/>
              </a:solidFill>
              <a:latin typeface="Yu Gothic"/>
            </a:endParaRPr>
          </a:p>
        </p:txBody>
      </p:sp>
      <p:sp>
        <p:nvSpPr>
          <p:cNvPr id="31" name="REGION_CAVEAT"/>
          <p:cNvSpPr txBox="1"/>
          <p:nvPr/>
        </p:nvSpPr>
        <p:spPr>
          <a:xfrm>
            <a:off x="14554200" y="6794713"/>
            <a:ext cx="3124200" cy="2093188"/>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2800" b="1" dirty="0">
                <a:solidFill>
                  <a:srgbClr val="202427"/>
                </a:solidFill>
                <a:latin typeface="Yu Gothic"/>
              </a:rPr>
              <a:t>→</a:t>
            </a:r>
            <a:r>
              <a:rPr sz="2800" b="1" dirty="0" err="1">
                <a:solidFill>
                  <a:srgbClr val="202427"/>
                </a:solidFill>
                <a:latin typeface="Yu Gothic"/>
              </a:rPr>
              <a:t>強い雑音下では核沸騰開始付近の誤差が悪化</a:t>
            </a:r>
            <a:endParaRPr sz="2800" b="1" dirty="0">
              <a:solidFill>
                <a:srgbClr val="202427"/>
              </a:solidFill>
              <a:latin typeface="Yu Gothic"/>
            </a:endParaRPr>
          </a:p>
        </p:txBody>
      </p:sp>
      <p:sp>
        <p:nvSpPr>
          <p:cNvPr id="24" name="TextBox 24">
            <a:extLst>
              <a:ext uri="{FF2B5EF4-FFF2-40B4-BE49-F238E27FC236}">
                <a16:creationId xmlns:a16="http://schemas.microsoft.com/office/drawing/2014/main" id="{C1893BB9-023C-059F-867C-D27E6F25A83D}"/>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cs typeface="Source Han Sans JP Medium"/>
                <a:sym typeface="Source Han Sans JP Medium"/>
              </a:rPr>
              <a:t>3. </a:t>
            </a:r>
            <a:r>
              <a:rPr lang="ja-JP" altLang="en-US" sz="3000" b="1" dirty="0">
                <a:solidFill>
                  <a:srgbClr val="202020"/>
                </a:solidFill>
                <a:latin typeface="Yu Gothic"/>
                <a:ea typeface="Yu Gothic"/>
                <a:cs typeface="Source Han Sans JP Medium"/>
                <a:sym typeface="Source Han Sans JP Medium"/>
              </a:rPr>
              <a:t>統合が誤差を減らす仕組み</a:t>
            </a:r>
          </a:p>
        </p:txBody>
      </p:sp>
      <p:pic>
        <p:nvPicPr>
          <p:cNvPr id="23" name="図 22">
            <a:extLst>
              <a:ext uri="{FF2B5EF4-FFF2-40B4-BE49-F238E27FC236}">
                <a16:creationId xmlns:a16="http://schemas.microsoft.com/office/drawing/2014/main" id="{4DEE5952-2A10-D660-0BC9-8506C01A4849}"/>
              </a:ext>
            </a:extLst>
          </p:cNvPr>
          <p:cNvPicPr>
            <a:picLocks noChangeAspect="1"/>
          </p:cNvPicPr>
          <p:nvPr/>
        </p:nvPicPr>
        <p:blipFill>
          <a:blip r:embed="rId4"/>
          <a:stretch>
            <a:fillRect/>
          </a:stretch>
        </p:blipFill>
        <p:spPr>
          <a:xfrm>
            <a:off x="2971800" y="3474000"/>
            <a:ext cx="10451400" cy="6208827"/>
          </a:xfrm>
          <a:prstGeom prst="rect">
            <a:avLst/>
          </a:prstGeom>
        </p:spPr>
      </p:pic>
      <p:sp>
        <p:nvSpPr>
          <p:cNvPr id="35" name="REGION_CAVEAT">
            <a:extLst>
              <a:ext uri="{FF2B5EF4-FFF2-40B4-BE49-F238E27FC236}">
                <a16:creationId xmlns:a16="http://schemas.microsoft.com/office/drawing/2014/main" id="{32867C88-608C-6C68-6288-84D7F5FFDEE7}"/>
              </a:ext>
            </a:extLst>
          </p:cNvPr>
          <p:cNvSpPr txBox="1"/>
          <p:nvPr/>
        </p:nvSpPr>
        <p:spPr>
          <a:xfrm>
            <a:off x="4504500" y="3057750"/>
            <a:ext cx="2511000" cy="8545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3200" b="1" dirty="0">
                <a:solidFill>
                  <a:srgbClr val="FF0000"/>
                </a:solidFill>
                <a:latin typeface="Yu Gothic"/>
              </a:rPr>
              <a:t>改善</a:t>
            </a:r>
            <a:endParaRPr sz="3200" b="1" dirty="0">
              <a:solidFill>
                <a:srgbClr val="FF0000"/>
              </a:solidFill>
              <a:latin typeface="Yu Gothic"/>
            </a:endParaRPr>
          </a:p>
        </p:txBody>
      </p:sp>
      <p:sp>
        <p:nvSpPr>
          <p:cNvPr id="37" name="REGION_CAVEAT">
            <a:extLst>
              <a:ext uri="{FF2B5EF4-FFF2-40B4-BE49-F238E27FC236}">
                <a16:creationId xmlns:a16="http://schemas.microsoft.com/office/drawing/2014/main" id="{C5F414E2-9FF9-E5FF-95E7-33C57EC9B479}"/>
              </a:ext>
            </a:extLst>
          </p:cNvPr>
          <p:cNvSpPr txBox="1"/>
          <p:nvPr/>
        </p:nvSpPr>
        <p:spPr>
          <a:xfrm>
            <a:off x="4419600" y="9217742"/>
            <a:ext cx="2511000" cy="8545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3200" b="1" dirty="0">
                <a:solidFill>
                  <a:srgbClr val="FF0000"/>
                </a:solidFill>
                <a:latin typeface="Yu Gothic"/>
              </a:rPr>
              <a:t>悪化</a:t>
            </a:r>
            <a:endParaRPr sz="3200" b="1" dirty="0">
              <a:solidFill>
                <a:srgbClr val="FF0000"/>
              </a:solidFill>
              <a:latin typeface="Yu Gothic"/>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56">
            <a:extLst>
              <a:ext uri="{FF2B5EF4-FFF2-40B4-BE49-F238E27FC236}">
                <a16:creationId xmlns:a16="http://schemas.microsoft.com/office/drawing/2014/main" id="{75BFE32B-F018-C4E4-FAB7-80C0D2CDC22E}"/>
              </a:ext>
            </a:extLst>
          </p:cNvPr>
          <p:cNvGrpSpPr/>
          <p:nvPr/>
        </p:nvGrpSpPr>
        <p:grpSpPr>
          <a:xfrm>
            <a:off x="270494" y="246431"/>
            <a:ext cx="698205" cy="10040568"/>
            <a:chOff x="270494" y="246431"/>
            <a:chExt cx="698205" cy="10040568"/>
          </a:xfrm>
        </p:grpSpPr>
        <p:pic>
          <p:nvPicPr>
            <p:cNvPr id="3" name="図 57">
              <a:extLst>
                <a:ext uri="{FF2B5EF4-FFF2-40B4-BE49-F238E27FC236}">
                  <a16:creationId xmlns:a16="http://schemas.microsoft.com/office/drawing/2014/main" id="{1226A433-2043-B47F-E0E8-72C7A0748C7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4" name="テキスト ボックス 58">
              <a:extLst>
                <a:ext uri="{FF2B5EF4-FFF2-40B4-BE49-F238E27FC236}">
                  <a16:creationId xmlns:a16="http://schemas.microsoft.com/office/drawing/2014/main" id="{F53AD6DF-8ABC-58C4-0BDA-981F712C6600}"/>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 name="直線コネクタ 59">
              <a:extLst>
                <a:ext uri="{FF2B5EF4-FFF2-40B4-BE49-F238E27FC236}">
                  <a16:creationId xmlns:a16="http://schemas.microsoft.com/office/drawing/2014/main" id="{583BFE6C-617D-A3DC-D51E-18A6133895A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 name="フローチャート: 論理積ゲート 60">
              <a:extLst>
                <a:ext uri="{FF2B5EF4-FFF2-40B4-BE49-F238E27FC236}">
                  <a16:creationId xmlns:a16="http://schemas.microsoft.com/office/drawing/2014/main" id="{63EE0EEB-3C48-D4D2-9411-176CDF6BB0D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Group 3">
            <a:extLst>
              <a:ext uri="{FF2B5EF4-FFF2-40B4-BE49-F238E27FC236}">
                <a16:creationId xmlns:a16="http://schemas.microsoft.com/office/drawing/2014/main" id="{66CE81F5-9908-5CB9-4AC3-1FCBE2FF3FAA}"/>
              </a:ext>
            </a:extLst>
          </p:cNvPr>
          <p:cNvGrpSpPr/>
          <p:nvPr/>
        </p:nvGrpSpPr>
        <p:grpSpPr>
          <a:xfrm>
            <a:off x="1371600" y="1069258"/>
            <a:ext cx="16064988" cy="125708"/>
            <a:chOff x="0" y="0"/>
            <a:chExt cx="22021800" cy="190500"/>
          </a:xfrm>
        </p:grpSpPr>
        <p:grpSp>
          <p:nvGrpSpPr>
            <p:cNvPr id="8" name="Group 4">
              <a:extLst>
                <a:ext uri="{FF2B5EF4-FFF2-40B4-BE49-F238E27FC236}">
                  <a16:creationId xmlns:a16="http://schemas.microsoft.com/office/drawing/2014/main" id="{F18484CA-1C82-F32C-E492-71BB690B31BD}"/>
                </a:ext>
              </a:extLst>
            </p:cNvPr>
            <p:cNvGrpSpPr/>
            <p:nvPr/>
          </p:nvGrpSpPr>
          <p:grpSpPr>
            <a:xfrm>
              <a:off x="0" y="0"/>
              <a:ext cx="7340600" cy="190500"/>
              <a:chOff x="0" y="0"/>
              <a:chExt cx="1449995" cy="37630"/>
            </a:xfrm>
          </p:grpSpPr>
          <p:sp>
            <p:nvSpPr>
              <p:cNvPr id="9" name="Freeform 5">
                <a:extLst>
                  <a:ext uri="{FF2B5EF4-FFF2-40B4-BE49-F238E27FC236}">
                    <a16:creationId xmlns:a16="http://schemas.microsoft.com/office/drawing/2014/main" id="{99894FA7-D161-F806-1A5F-52AABFBB08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0" name="TextBox 6">
                <a:extLst>
                  <a:ext uri="{FF2B5EF4-FFF2-40B4-BE49-F238E27FC236}">
                    <a16:creationId xmlns:a16="http://schemas.microsoft.com/office/drawing/2014/main" id="{72556C4C-3473-3018-70C4-085FA6F987B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1" name="Group 7">
              <a:extLst>
                <a:ext uri="{FF2B5EF4-FFF2-40B4-BE49-F238E27FC236}">
                  <a16:creationId xmlns:a16="http://schemas.microsoft.com/office/drawing/2014/main" id="{F7A34761-E638-B2A2-9E72-32563CB39D5B}"/>
                </a:ext>
              </a:extLst>
            </p:cNvPr>
            <p:cNvGrpSpPr/>
            <p:nvPr/>
          </p:nvGrpSpPr>
          <p:grpSpPr>
            <a:xfrm>
              <a:off x="7340600" y="0"/>
              <a:ext cx="7340600" cy="190500"/>
              <a:chOff x="0" y="0"/>
              <a:chExt cx="1449995" cy="37630"/>
            </a:xfrm>
          </p:grpSpPr>
          <p:sp>
            <p:nvSpPr>
              <p:cNvPr id="12" name="Freeform 8">
                <a:extLst>
                  <a:ext uri="{FF2B5EF4-FFF2-40B4-BE49-F238E27FC236}">
                    <a16:creationId xmlns:a16="http://schemas.microsoft.com/office/drawing/2014/main" id="{66779A7D-5ECB-D310-B556-EC0E21709BC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13" name="TextBox 9">
                <a:extLst>
                  <a:ext uri="{FF2B5EF4-FFF2-40B4-BE49-F238E27FC236}">
                    <a16:creationId xmlns:a16="http://schemas.microsoft.com/office/drawing/2014/main" id="{96F89EAF-9FB5-76B1-24F0-8313C0D5D3B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4" name="Group 10">
              <a:extLst>
                <a:ext uri="{FF2B5EF4-FFF2-40B4-BE49-F238E27FC236}">
                  <a16:creationId xmlns:a16="http://schemas.microsoft.com/office/drawing/2014/main" id="{0F7B6D61-78D9-D77B-900A-F293F294C432}"/>
                </a:ext>
              </a:extLst>
            </p:cNvPr>
            <p:cNvGrpSpPr/>
            <p:nvPr/>
          </p:nvGrpSpPr>
          <p:grpSpPr>
            <a:xfrm>
              <a:off x="14681200" y="0"/>
              <a:ext cx="7340600" cy="190500"/>
              <a:chOff x="0" y="0"/>
              <a:chExt cx="1449995" cy="37630"/>
            </a:xfrm>
          </p:grpSpPr>
          <p:sp>
            <p:nvSpPr>
              <p:cNvPr id="15" name="Freeform 11">
                <a:extLst>
                  <a:ext uri="{FF2B5EF4-FFF2-40B4-BE49-F238E27FC236}">
                    <a16:creationId xmlns:a16="http://schemas.microsoft.com/office/drawing/2014/main" id="{3CE663F6-1B9A-DFEE-C6F5-CE676E3CD07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6" name="TextBox 12">
                <a:extLst>
                  <a:ext uri="{FF2B5EF4-FFF2-40B4-BE49-F238E27FC236}">
                    <a16:creationId xmlns:a16="http://schemas.microsoft.com/office/drawing/2014/main" id="{509D1305-F68D-3300-CC15-A5584E7FBBA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PAGE_NUMBER"/>
          <p:cNvSpPr txBox="1"/>
          <p:nvPr/>
        </p:nvSpPr>
        <p:spPr>
          <a:xfrm>
            <a:off x="270000" y="9748800"/>
            <a:ext cx="599400" cy="46224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buNone/>
            </a:pPr>
            <a:r>
              <a:rPr lang="ja-JP" sz="2400" b="0">
                <a:solidFill>
                  <a:srgbClr val="FFFFFF"/>
                </a:solidFill>
                <a:latin typeface="Yu Gothic"/>
                <a:ea typeface="Yu Gothic"/>
                <a:cs typeface="Yu Gothic"/>
              </a:rPr>
              <a:t>9</a:t>
            </a:r>
          </a:p>
        </p:txBody>
      </p:sp>
      <p:sp>
        <p:nvSpPr>
          <p:cNvPr id="19" name="MAIN_MESSAGE"/>
          <p:cNvSpPr txBox="1"/>
          <p:nvPr/>
        </p:nvSpPr>
        <p:spPr>
          <a:xfrm>
            <a:off x="1512000" y="1422000"/>
            <a:ext cx="15912000" cy="1044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lang="ja-JP" altLang="en-US" sz="3200" b="1" dirty="0">
                <a:solidFill>
                  <a:srgbClr val="202427"/>
                </a:solidFill>
                <a:latin typeface="Yu Gothic"/>
              </a:rPr>
              <a:t>共通入力加工による性能変化から，モデルの入力依存の違いを比較した</a:t>
            </a:r>
            <a:endParaRPr sz="3200" b="1" dirty="0">
              <a:solidFill>
                <a:srgbClr val="202427"/>
              </a:solidFill>
              <a:latin typeface="Yu Gothic"/>
            </a:endParaRPr>
          </a:p>
        </p:txBody>
      </p:sp>
      <p:sp>
        <p:nvSpPr>
          <p:cNvPr id="23" name="PERTURBATION_TITLE"/>
          <p:cNvSpPr txBox="1"/>
          <p:nvPr/>
        </p:nvSpPr>
        <p:spPr>
          <a:xfrm>
            <a:off x="1512000" y="2705100"/>
            <a:ext cx="9180000" cy="432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2700" b="1" dirty="0" err="1">
                <a:solidFill>
                  <a:srgbClr val="2F6F73"/>
                </a:solidFill>
                <a:latin typeface="Yu Gothic"/>
              </a:rPr>
              <a:t>共通加工：時間順序の入れ替え</a:t>
            </a:r>
            <a:endParaRPr sz="2700" b="1" dirty="0">
              <a:solidFill>
                <a:srgbClr val="2F6F73"/>
              </a:solidFill>
              <a:latin typeface="Yu Gothic"/>
            </a:endParaRPr>
          </a:p>
        </p:txBody>
      </p:sp>
      <p:sp>
        <p:nvSpPr>
          <p:cNvPr id="28" name="ENSEMBLE_CHANGE_TITLE"/>
          <p:cNvSpPr txBox="1"/>
          <p:nvPr/>
        </p:nvSpPr>
        <p:spPr>
          <a:xfrm>
            <a:off x="11589070" y="3274601"/>
            <a:ext cx="6263999" cy="432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2500" b="1">
                <a:solidFill>
                  <a:srgbClr val="2F6F73"/>
                </a:solidFill>
                <a:latin typeface="Yu Gothic"/>
              </a:rPr>
              <a:t>統合後の予測誤差［kW/m²］</a:t>
            </a:r>
          </a:p>
        </p:txBody>
      </p:sp>
      <p:graphicFrame>
        <p:nvGraphicFramePr>
          <p:cNvPr id="29" name="PERTURBATION_TABLE"/>
          <p:cNvGraphicFramePr>
            <a:graphicFrameLocks noGrp="1"/>
          </p:cNvGraphicFramePr>
          <p:nvPr>
            <p:extLst>
              <p:ext uri="{D42A27DB-BD31-4B8C-83A1-F6EECF244321}">
                <p14:modId xmlns:p14="http://schemas.microsoft.com/office/powerpoint/2010/main" val="1887122719"/>
              </p:ext>
            </p:extLst>
          </p:nvPr>
        </p:nvGraphicFramePr>
        <p:xfrm>
          <a:off x="11589070" y="3886602"/>
          <a:ext cx="6264000" cy="2052000"/>
        </p:xfrm>
        <a:graphic>
          <a:graphicData uri="http://schemas.openxmlformats.org/drawingml/2006/table">
            <a:tbl>
              <a:tblPr>
                <a:tableStyleId>{5C22544A-7EE6-4342-B048-85BDC9FD1C3A}</a:tableStyleId>
              </a:tblPr>
              <a:tblGrid>
                <a:gridCol w="2160000">
                  <a:extLst>
                    <a:ext uri="{9D8B030D-6E8A-4147-A177-3AD203B41FA5}">
                      <a16:colId xmlns:a16="http://schemas.microsoft.com/office/drawing/2014/main" val="20000"/>
                    </a:ext>
                  </a:extLst>
                </a:gridCol>
                <a:gridCol w="2052000">
                  <a:extLst>
                    <a:ext uri="{9D8B030D-6E8A-4147-A177-3AD203B41FA5}">
                      <a16:colId xmlns:a16="http://schemas.microsoft.com/office/drawing/2014/main" val="20001"/>
                    </a:ext>
                  </a:extLst>
                </a:gridCol>
                <a:gridCol w="2052000">
                  <a:extLst>
                    <a:ext uri="{9D8B030D-6E8A-4147-A177-3AD203B41FA5}">
                      <a16:colId xmlns:a16="http://schemas.microsoft.com/office/drawing/2014/main" val="20002"/>
                    </a:ext>
                  </a:extLst>
                </a:gridCol>
              </a:tblGrid>
              <a:tr h="540000">
                <a:tc>
                  <a:txBody>
                    <a:bodyPr/>
                    <a:lstStyle/>
                    <a:p>
                      <a:pPr algn="l"/>
                      <a:r>
                        <a:rPr sz="2100" b="1">
                          <a:solidFill>
                            <a:srgbClr val="FFFFFF"/>
                          </a:solidFill>
                          <a:latin typeface="Yu Gothic"/>
                        </a:rPr>
                        <a:t>構成</a:t>
                      </a:r>
                    </a:p>
                  </a:txBody>
                  <a:tcPr marL="64800" marR="64800" marT="36000" marB="36000" anchor="ctr">
                    <a:solidFill>
                      <a:srgbClr val="2F6F73"/>
                    </a:solidFill>
                  </a:tcPr>
                </a:tc>
                <a:tc>
                  <a:txBody>
                    <a:bodyPr/>
                    <a:lstStyle/>
                    <a:p>
                      <a:pPr algn="ctr"/>
                      <a:r>
                        <a:rPr sz="2100" b="1">
                          <a:solidFill>
                            <a:srgbClr val="FFFFFF"/>
                          </a:solidFill>
                          <a:latin typeface="Yu Gothic"/>
                        </a:rPr>
                        <a:t>加工前</a:t>
                      </a:r>
                    </a:p>
                  </a:txBody>
                  <a:tcPr marL="64800" marR="64800" marT="36000" marB="36000" anchor="ctr">
                    <a:solidFill>
                      <a:srgbClr val="2F6F73"/>
                    </a:solidFill>
                  </a:tcPr>
                </a:tc>
                <a:tc>
                  <a:txBody>
                    <a:bodyPr/>
                    <a:lstStyle/>
                    <a:p>
                      <a:pPr algn="ctr"/>
                      <a:r>
                        <a:rPr sz="2100" b="1">
                          <a:solidFill>
                            <a:srgbClr val="FFFFFF"/>
                          </a:solidFill>
                          <a:latin typeface="Yu Gothic"/>
                        </a:rPr>
                        <a:t>加工後</a:t>
                      </a:r>
                    </a:p>
                  </a:txBody>
                  <a:tcPr marL="64800" marR="64800" marT="36000" marB="36000" anchor="ctr">
                    <a:solidFill>
                      <a:srgbClr val="2F6F73"/>
                    </a:solidFill>
                  </a:tcPr>
                </a:tc>
                <a:extLst>
                  <a:ext uri="{0D108BD9-81ED-4DB2-BD59-A6C34878D82A}">
                    <a16:rowId xmlns:a16="http://schemas.microsoft.com/office/drawing/2014/main" val="10000"/>
                  </a:ext>
                </a:extLst>
              </a:tr>
              <a:tr h="756000">
                <a:tc>
                  <a:txBody>
                    <a:bodyPr/>
                    <a:lstStyle/>
                    <a:p>
                      <a:pPr algn="l"/>
                      <a:r>
                        <a:rPr sz="2000" b="0">
                          <a:solidFill>
                            <a:srgbClr val="202427"/>
                          </a:solidFill>
                          <a:latin typeface="Yu Gothic"/>
                        </a:rPr>
                        <a:t>3モデル統合</a:t>
                      </a:r>
                    </a:p>
                  </a:txBody>
                  <a:tcPr marL="64800" marR="64800" marT="36000" marB="36000" anchor="ctr">
                    <a:solidFill>
                      <a:srgbClr val="FFFFFF"/>
                    </a:solidFill>
                  </a:tcPr>
                </a:tc>
                <a:tc>
                  <a:txBody>
                    <a:bodyPr/>
                    <a:lstStyle/>
                    <a:p>
                      <a:pPr algn="ctr">
                        <a:lnSpc>
                          <a:spcPct val="106000"/>
                        </a:lnSpc>
                        <a:spcBef>
                          <a:spcPts val="0"/>
                        </a:spcBef>
                        <a:spcAft>
                          <a:spcPts val="0"/>
                        </a:spcAft>
                        <a:buNone/>
                      </a:pPr>
                      <a:r>
                        <a:rPr lang="ja-JP" sz="2600" b="0">
                          <a:solidFill>
                            <a:srgbClr val="202427"/>
                          </a:solidFill>
                          <a:latin typeface="Yu Gothic"/>
                          <a:ea typeface="Yu Gothic"/>
                          <a:cs typeface="Yu Gothic"/>
                        </a:rPr>
                        <a:t>34.07</a:t>
                      </a:r>
                    </a:p>
                  </a:txBody>
                  <a:tcPr marL="64800" marR="64800" marT="36000" marB="36000" anchor="ctr">
                    <a:solidFill>
                      <a:srgbClr val="FFFFFF"/>
                    </a:solidFill>
                  </a:tcPr>
                </a:tc>
                <a:tc>
                  <a:txBody>
                    <a:bodyPr/>
                    <a:lstStyle/>
                    <a:p>
                      <a:pPr algn="ctr">
                        <a:lnSpc>
                          <a:spcPct val="106000"/>
                        </a:lnSpc>
                        <a:spcBef>
                          <a:spcPts val="0"/>
                        </a:spcBef>
                        <a:spcAft>
                          <a:spcPts val="0"/>
                        </a:spcAft>
                        <a:buNone/>
                      </a:pPr>
                      <a:r>
                        <a:rPr lang="ja-JP" sz="2600" b="0">
                          <a:solidFill>
                            <a:srgbClr val="202427"/>
                          </a:solidFill>
                          <a:latin typeface="Yu Gothic"/>
                          <a:ea typeface="Yu Gothic"/>
                          <a:cs typeface="Yu Gothic"/>
                        </a:rPr>
                        <a:t>47.52</a:t>
                      </a:r>
                    </a:p>
                  </a:txBody>
                  <a:tcPr marL="64800" marR="64800" marT="36000" marB="36000" anchor="ctr">
                    <a:solidFill>
                      <a:srgbClr val="FFFFFF"/>
                    </a:solidFill>
                  </a:tcPr>
                </a:tc>
                <a:extLst>
                  <a:ext uri="{0D108BD9-81ED-4DB2-BD59-A6C34878D82A}">
                    <a16:rowId xmlns:a16="http://schemas.microsoft.com/office/drawing/2014/main" val="10001"/>
                  </a:ext>
                </a:extLst>
              </a:tr>
              <a:tr h="756000">
                <a:tc>
                  <a:txBody>
                    <a:bodyPr/>
                    <a:lstStyle/>
                    <a:p>
                      <a:pPr algn="l"/>
                      <a:r>
                        <a:rPr sz="2000" b="0">
                          <a:solidFill>
                            <a:srgbClr val="202427"/>
                          </a:solidFill>
                          <a:latin typeface="Yu Gothic"/>
                        </a:rPr>
                        <a:t>5モデル統合</a:t>
                      </a:r>
                    </a:p>
                  </a:txBody>
                  <a:tcPr marL="64800" marR="64800" marT="36000" marB="36000" anchor="ctr">
                    <a:solidFill>
                      <a:srgbClr val="F4F7F7"/>
                    </a:solidFill>
                  </a:tcPr>
                </a:tc>
                <a:tc>
                  <a:txBody>
                    <a:bodyPr/>
                    <a:lstStyle/>
                    <a:p>
                      <a:pPr algn="ctr">
                        <a:lnSpc>
                          <a:spcPct val="106000"/>
                        </a:lnSpc>
                        <a:spcBef>
                          <a:spcPts val="0"/>
                        </a:spcBef>
                        <a:spcAft>
                          <a:spcPts val="0"/>
                        </a:spcAft>
                        <a:buNone/>
                      </a:pPr>
                      <a:r>
                        <a:rPr lang="ja-JP" sz="2600" b="0">
                          <a:solidFill>
                            <a:srgbClr val="202427"/>
                          </a:solidFill>
                          <a:latin typeface="Yu Gothic"/>
                          <a:ea typeface="Yu Gothic"/>
                          <a:cs typeface="Yu Gothic"/>
                        </a:rPr>
                        <a:t>27.80</a:t>
                      </a:r>
                    </a:p>
                  </a:txBody>
                  <a:tcPr marL="64800" marR="64800" marT="36000" marB="36000" anchor="ctr">
                    <a:solidFill>
                      <a:srgbClr val="F4F7F7"/>
                    </a:solidFill>
                  </a:tcPr>
                </a:tc>
                <a:tc>
                  <a:txBody>
                    <a:bodyPr/>
                    <a:lstStyle/>
                    <a:p>
                      <a:pPr algn="ctr">
                        <a:lnSpc>
                          <a:spcPct val="106000"/>
                        </a:lnSpc>
                        <a:spcBef>
                          <a:spcPts val="0"/>
                        </a:spcBef>
                        <a:spcAft>
                          <a:spcPts val="0"/>
                        </a:spcAft>
                        <a:buNone/>
                      </a:pPr>
                      <a:r>
                        <a:rPr lang="ja-JP" sz="2600" b="0" dirty="0">
                          <a:solidFill>
                            <a:srgbClr val="202427"/>
                          </a:solidFill>
                          <a:latin typeface="Yu Gothic"/>
                          <a:ea typeface="Yu Gothic"/>
                          <a:cs typeface="Yu Gothic"/>
                        </a:rPr>
                        <a:t>31.10</a:t>
                      </a:r>
                    </a:p>
                  </a:txBody>
                  <a:tcPr marL="64800" marR="64800" marT="36000" marB="36000" anchor="ctr">
                    <a:solidFill>
                      <a:srgbClr val="F4F7F7"/>
                    </a:solidFill>
                  </a:tcPr>
                </a:tc>
                <a:extLst>
                  <a:ext uri="{0D108BD9-81ED-4DB2-BD59-A6C34878D82A}">
                    <a16:rowId xmlns:a16="http://schemas.microsoft.com/office/drawing/2014/main" val="10002"/>
                  </a:ext>
                </a:extLst>
              </a:tr>
            </a:tbl>
          </a:graphicData>
        </a:graphic>
      </p:graphicFrame>
      <p:sp>
        <p:nvSpPr>
          <p:cNvPr id="30" name="PERTURBATION_RIGHT_TAKEAWAY"/>
          <p:cNvSpPr txBox="1"/>
          <p:nvPr/>
        </p:nvSpPr>
        <p:spPr>
          <a:xfrm>
            <a:off x="11589070" y="6442602"/>
            <a:ext cx="6263999" cy="1278000"/>
          </a:xfrm>
          <a:prstGeom prst="rect">
            <a:avLst/>
          </a:prstGeom>
          <a:noFill/>
          <a:effectLst/>
        </p:spPr>
        <p:txBody>
          <a:bodyPr wrap="square" lIns="21600" tIns="21600" rIns="21600" bIns="21600" anchor="t">
            <a:noAutofit/>
          </a:bodyPr>
          <a:lstStyle/>
          <a:p>
            <a:pPr algn="l">
              <a:lnSpc>
                <a:spcPct val="115000"/>
              </a:lnSpc>
              <a:spcBef>
                <a:spcPts val="0"/>
              </a:spcBef>
              <a:spcAft>
                <a:spcPts val="0"/>
              </a:spcAft>
            </a:pPr>
            <a:r>
              <a:rPr sz="2100" b="1" dirty="0" err="1">
                <a:solidFill>
                  <a:srgbClr val="2F6F73"/>
                </a:solidFill>
                <a:latin typeface="Yu Gothic"/>
              </a:rPr>
              <a:t>同じ加工でも</a:t>
            </a:r>
            <a:endParaRPr sz="2100" b="1" dirty="0">
              <a:solidFill>
                <a:srgbClr val="2F6F73"/>
              </a:solidFill>
              <a:latin typeface="Yu Gothic"/>
            </a:endParaRPr>
          </a:p>
          <a:p>
            <a:pPr algn="l">
              <a:lnSpc>
                <a:spcPct val="115000"/>
              </a:lnSpc>
              <a:spcBef>
                <a:spcPts val="0"/>
              </a:spcBef>
              <a:spcAft>
                <a:spcPts val="0"/>
              </a:spcAft>
            </a:pPr>
            <a:r>
              <a:rPr sz="2100" b="1" dirty="0" err="1">
                <a:solidFill>
                  <a:srgbClr val="2F6F73"/>
                </a:solidFill>
                <a:latin typeface="Yu Gothic"/>
              </a:rPr>
              <a:t>モデルによって影響の大きさが異なる</a:t>
            </a:r>
            <a:endParaRPr sz="2100" b="1" dirty="0">
              <a:solidFill>
                <a:srgbClr val="2F6F73"/>
              </a:solidFill>
              <a:latin typeface="Yu Gothic"/>
            </a:endParaRPr>
          </a:p>
        </p:txBody>
      </p:sp>
      <p:sp>
        <p:nvSpPr>
          <p:cNvPr id="32" name="XAI_TO_THESIS_background"/>
          <p:cNvSpPr/>
          <p:nvPr/>
        </p:nvSpPr>
        <p:spPr>
          <a:xfrm>
            <a:off x="1524588" y="8708165"/>
            <a:ext cx="15912000" cy="1012474"/>
          </a:xfrm>
          <a:prstGeom prst="rect">
            <a:avLst/>
          </a:prstGeom>
          <a:solidFill>
            <a:srgbClr val="EDF4F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3" name="XAI_TO_THESIS"/>
          <p:cNvSpPr txBox="1"/>
          <p:nvPr/>
        </p:nvSpPr>
        <p:spPr>
          <a:xfrm>
            <a:off x="1632588" y="8923356"/>
            <a:ext cx="15696000" cy="612000"/>
          </a:xfrm>
          <a:prstGeom prst="rect">
            <a:avLst/>
          </a:prstGeom>
          <a:noFill/>
          <a:effectLst/>
        </p:spPr>
        <p:txBody>
          <a:bodyPr wrap="square" lIns="21600" tIns="21600" rIns="21600" bIns="21600" anchor="ctr">
            <a:noAutofit/>
          </a:bodyPr>
          <a:lstStyle/>
          <a:p>
            <a:pPr algn="l">
              <a:lnSpc>
                <a:spcPct val="115000"/>
              </a:lnSpc>
              <a:spcBef>
                <a:spcPts val="0"/>
              </a:spcBef>
              <a:spcAft>
                <a:spcPts val="0"/>
              </a:spcAft>
            </a:pPr>
            <a:r>
              <a:rPr lang="ja-JP" altLang="en-US" sz="2500" b="1" dirty="0">
                <a:solidFill>
                  <a:srgbClr val="2F6F73"/>
                </a:solidFill>
                <a:latin typeface="Yu Gothic"/>
              </a:rPr>
              <a:t>画像を扱う</a:t>
            </a:r>
            <a:r>
              <a:rPr lang="en-US" altLang="ja-JP" sz="2500" b="1" dirty="0">
                <a:solidFill>
                  <a:srgbClr val="2F6F73"/>
                </a:solidFill>
                <a:latin typeface="Yu Gothic"/>
              </a:rPr>
              <a:t>2</a:t>
            </a:r>
            <a:r>
              <a:rPr lang="ja-JP" altLang="en-US" sz="2500" b="1" dirty="0">
                <a:solidFill>
                  <a:srgbClr val="2F6F73"/>
                </a:solidFill>
                <a:latin typeface="Yu Gothic"/>
              </a:rPr>
              <a:t>モデルのみ悪影響が出た．このような形で，説明指標など</a:t>
            </a:r>
            <a:r>
              <a:rPr sz="2500" b="1" dirty="0" err="1">
                <a:solidFill>
                  <a:srgbClr val="2F6F73"/>
                </a:solidFill>
                <a:latin typeface="Yu Gothic"/>
              </a:rPr>
              <a:t>で性能変化を比較</a:t>
            </a:r>
            <a:r>
              <a:rPr sz="2500" b="1" dirty="0">
                <a:solidFill>
                  <a:srgbClr val="2F6F73"/>
                </a:solidFill>
                <a:latin typeface="Yu Gothic"/>
              </a:rPr>
              <a:t> → </a:t>
            </a:r>
            <a:r>
              <a:rPr sz="2500" b="1" dirty="0" err="1">
                <a:solidFill>
                  <a:srgbClr val="2F6F73"/>
                </a:solidFill>
                <a:latin typeface="Yu Gothic"/>
              </a:rPr>
              <a:t>誤差改善と対応づける</a:t>
            </a:r>
            <a:endParaRPr sz="2500" b="1" dirty="0">
              <a:solidFill>
                <a:srgbClr val="2F6F73"/>
              </a:solidFill>
              <a:latin typeface="Yu Gothic"/>
            </a:endParaRPr>
          </a:p>
        </p:txBody>
      </p:sp>
      <p:sp>
        <p:nvSpPr>
          <p:cNvPr id="26" name="TextBox 24">
            <a:extLst>
              <a:ext uri="{FF2B5EF4-FFF2-40B4-BE49-F238E27FC236}">
                <a16:creationId xmlns:a16="http://schemas.microsoft.com/office/drawing/2014/main" id="{97C3BB6B-9930-AA8F-3031-46D451EC8277}"/>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cs typeface="Source Han Sans JP Medium"/>
                <a:sym typeface="Source Han Sans JP Medium"/>
              </a:rPr>
              <a:t>3. </a:t>
            </a:r>
            <a:r>
              <a:rPr lang="ja-JP" altLang="en-US" sz="3000" b="1" dirty="0">
                <a:solidFill>
                  <a:srgbClr val="202020"/>
                </a:solidFill>
                <a:latin typeface="Yu Gothic"/>
                <a:ea typeface="Yu Gothic"/>
                <a:cs typeface="Source Han Sans JP Medium"/>
                <a:sym typeface="Source Han Sans JP Medium"/>
              </a:rPr>
              <a:t>説明性の活用に関して</a:t>
            </a:r>
          </a:p>
        </p:txBody>
      </p:sp>
      <p:pic>
        <p:nvPicPr>
          <p:cNvPr id="20" name="図 19">
            <a:extLst>
              <a:ext uri="{FF2B5EF4-FFF2-40B4-BE49-F238E27FC236}">
                <a16:creationId xmlns:a16="http://schemas.microsoft.com/office/drawing/2014/main" id="{B4370836-AF94-AAEF-911B-B64760D3F082}"/>
              </a:ext>
            </a:extLst>
          </p:cNvPr>
          <p:cNvPicPr>
            <a:picLocks noChangeAspect="1"/>
          </p:cNvPicPr>
          <p:nvPr/>
        </p:nvPicPr>
        <p:blipFill>
          <a:blip r:embed="rId4"/>
          <a:stretch>
            <a:fillRect/>
          </a:stretch>
        </p:blipFill>
        <p:spPr>
          <a:xfrm>
            <a:off x="1220025" y="3327027"/>
            <a:ext cx="9705975" cy="49655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64F7C-A56C-839B-C504-B9270B1F22A0}"/>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32E56CB4-2CDF-199C-7E17-EBA6C3E077F1}"/>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675DD478-FE32-E997-8B69-BBABDCD13B99}"/>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D54E7337-90EB-DAD3-3BBF-AB59A4682DD3}"/>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8BE38683-AA41-4684-6F8E-5600324F544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2B4CEBE3-DC9F-0F9D-EB26-FB8BC0219AF6}"/>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54C15485-4475-CAD4-5380-0E64EE224BB4}"/>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026BD03E-9BF3-CA6D-AA8C-43697010AD1E}"/>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A15A729F-4E93-06B0-7761-51ED7F53E67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34BFA928-9CC5-CE03-8D1E-C4639CBE0BC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DDB104AD-819E-F739-7F33-CECBAFD51557}"/>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E0270DCB-5BAE-9194-428B-4D7CB67AB43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7B427647-8AD8-12D0-6D67-8503D495347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25639F7A-B425-9E2D-3654-D9F0EF0DB1DD}"/>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40BED006-2450-3704-3C49-99C29A921BA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7DAFC6EC-CA3D-F71C-A898-1DA31DEBA70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1D3BE8AA-97A5-6450-77B1-125D49C7E0B7}"/>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12</a:t>
            </a:fld>
            <a:endParaRPr lang="en-US" sz="2400" dirty="0">
              <a:solidFill>
                <a:schemeClr val="bg1"/>
              </a:solidFill>
            </a:endParaRPr>
          </a:p>
        </p:txBody>
      </p:sp>
      <p:sp>
        <p:nvSpPr>
          <p:cNvPr id="513" name="TextBox 24">
            <a:extLst>
              <a:ext uri="{FF2B5EF4-FFF2-40B4-BE49-F238E27FC236}">
                <a16:creationId xmlns:a16="http://schemas.microsoft.com/office/drawing/2014/main" id="{80E736B8-C94C-3108-F055-03800759D37A}"/>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ja-JP" altLang="en-US" sz="3000" b="1" dirty="0">
                <a:solidFill>
                  <a:srgbClr val="202020"/>
                </a:solidFill>
                <a:latin typeface="Yu Gothic"/>
                <a:ea typeface="Yu Gothic"/>
                <a:cs typeface="Source Han Sans JP Medium"/>
                <a:sym typeface="Source Han Sans JP Medium"/>
              </a:rPr>
              <a:t>今回の発表内容</a:t>
            </a:r>
          </a:p>
        </p:txBody>
      </p:sp>
      <p:sp>
        <p:nvSpPr>
          <p:cNvPr id="2" name="テキスト ボックス 1">
            <a:extLst>
              <a:ext uri="{FF2B5EF4-FFF2-40B4-BE49-F238E27FC236}">
                <a16:creationId xmlns:a16="http://schemas.microsoft.com/office/drawing/2014/main" id="{F624DF8D-1A22-FFE3-DC69-03262A4C59FE}"/>
              </a:ext>
            </a:extLst>
          </p:cNvPr>
          <p:cNvSpPr txBox="1"/>
          <p:nvPr/>
        </p:nvSpPr>
        <p:spPr>
          <a:xfrm>
            <a:off x="2590800" y="4038600"/>
            <a:ext cx="1143000" cy="2209800"/>
          </a:xfrm>
          <a:prstGeom prst="rect">
            <a:avLst/>
          </a:prstGeom>
          <a:noFill/>
        </p:spPr>
        <p:txBody>
          <a:bodyPr vertOverflow="overflow" vert="horz" wrap="square" rtlCol="0" anchor="t">
            <a:noAutofit/>
          </a:bodyPr>
          <a:lstStyle/>
          <a:p>
            <a:pPr algn="l"/>
            <a:r>
              <a:rPr lang="en-US" altLang="ja-JP" sz="4400" dirty="0">
                <a:solidFill>
                  <a:srgbClr val="202020"/>
                </a:solidFill>
                <a:latin typeface="Yu Gothic"/>
                <a:ea typeface="Yu Gothic"/>
              </a:rPr>
              <a:t>01
02
03</a:t>
            </a:r>
          </a:p>
          <a:p>
            <a:pPr algn="l"/>
            <a:endParaRPr lang="en-US" altLang="ja-JP" sz="4400" dirty="0">
              <a:solidFill>
                <a:srgbClr val="202020"/>
              </a:solidFill>
              <a:latin typeface="Yu Gothic"/>
              <a:ea typeface="Yu Gothic"/>
            </a:endParaRPr>
          </a:p>
          <a:p>
            <a:pPr algn="l"/>
            <a:r>
              <a:rPr lang="en-US" altLang="ja-JP" sz="4400" dirty="0">
                <a:solidFill>
                  <a:srgbClr val="202020"/>
                </a:solidFill>
                <a:latin typeface="Yu Gothic"/>
                <a:ea typeface="Yu Gothic"/>
              </a:rPr>
              <a:t>04</a:t>
            </a:r>
            <a:endParaRPr lang="ja-JP" altLang="en-US" sz="4400" dirty="0">
              <a:solidFill>
                <a:srgbClr val="202020"/>
              </a:solidFill>
              <a:latin typeface="Yu Gothic"/>
              <a:ea typeface="Yu Gothic"/>
            </a:endParaRPr>
          </a:p>
        </p:txBody>
      </p:sp>
      <p:sp>
        <p:nvSpPr>
          <p:cNvPr id="3" name="テキスト ボックス 2">
            <a:extLst>
              <a:ext uri="{FF2B5EF4-FFF2-40B4-BE49-F238E27FC236}">
                <a16:creationId xmlns:a16="http://schemas.microsoft.com/office/drawing/2014/main" id="{170B266D-10F4-A52C-4F3D-B2DD340E8ED1}"/>
              </a:ext>
            </a:extLst>
          </p:cNvPr>
          <p:cNvSpPr txBox="1"/>
          <p:nvPr/>
        </p:nvSpPr>
        <p:spPr>
          <a:xfrm>
            <a:off x="3886200" y="4038600"/>
            <a:ext cx="13944600" cy="3390900"/>
          </a:xfrm>
          <a:prstGeom prst="rect">
            <a:avLst/>
          </a:prstGeom>
          <a:noFill/>
        </p:spPr>
        <p:txBody>
          <a:bodyPr vertOverflow="overflow" vert="horz" wrap="square" rtlCol="0" anchor="t">
            <a:noAutofit/>
          </a:bodyPr>
          <a:lstStyle/>
          <a:p>
            <a:r>
              <a:rPr lang="ja-JP" altLang="en-US" sz="4400" b="1" dirty="0">
                <a:solidFill>
                  <a:srgbClr val="202020"/>
                </a:solidFill>
                <a:latin typeface="游ゴシック" panose="020B0400000000000000" pitchFamily="50" charset="-128"/>
                <a:ea typeface="游ゴシック" panose="020B0400000000000000" pitchFamily="50" charset="-128"/>
              </a:rPr>
              <a:t>研究概要</a:t>
            </a:r>
          </a:p>
          <a:p>
            <a:r>
              <a:rPr lang="ja-JP" altLang="en-US" sz="4400" b="1" dirty="0">
                <a:solidFill>
                  <a:srgbClr val="202020"/>
                </a:solidFill>
                <a:latin typeface="游ゴシック" panose="020B0400000000000000" pitchFamily="50" charset="-128"/>
                <a:ea typeface="游ゴシック" panose="020B0400000000000000" pitchFamily="50" charset="-128"/>
              </a:rPr>
              <a:t>雑音評価方法の見直し</a:t>
            </a:r>
            <a:endParaRPr lang="en-US" altLang="ja-JP" sz="4400" b="1" dirty="0">
              <a:solidFill>
                <a:srgbClr val="202020"/>
              </a:solidFill>
              <a:latin typeface="游ゴシック" panose="020B0400000000000000" pitchFamily="50" charset="-128"/>
              <a:ea typeface="游ゴシック" panose="020B0400000000000000" pitchFamily="50" charset="-128"/>
            </a:endParaRPr>
          </a:p>
          <a:p>
            <a:r>
              <a:rPr lang="ja-JP" altLang="en-US" sz="4400" b="1" dirty="0">
                <a:solidFill>
                  <a:srgbClr val="202020"/>
                </a:solidFill>
                <a:latin typeface="游ゴシック" panose="020B0400000000000000" pitchFamily="50" charset="-128"/>
                <a:ea typeface="游ゴシック" panose="020B0400000000000000" pitchFamily="50" charset="-128"/>
              </a:rPr>
              <a:t>アンサンブルにモデルを追加して検証＋各モデルの予測誤差を考慮した検証</a:t>
            </a:r>
            <a:endParaRPr lang="en-US" altLang="ja-JP" sz="4400" b="1" dirty="0">
              <a:solidFill>
                <a:srgbClr val="202020"/>
              </a:solidFill>
              <a:latin typeface="游ゴシック" panose="020B0400000000000000" pitchFamily="50" charset="-128"/>
              <a:ea typeface="游ゴシック" panose="020B0400000000000000" pitchFamily="50" charset="-128"/>
            </a:endParaRPr>
          </a:p>
          <a:p>
            <a:r>
              <a:rPr lang="ja-JP" altLang="en-US" sz="4400" b="1" dirty="0">
                <a:solidFill>
                  <a:srgbClr val="202020"/>
                </a:solidFill>
                <a:latin typeface="游ゴシック" panose="020B0400000000000000" pitchFamily="50" charset="-128"/>
                <a:ea typeface="游ゴシック" panose="020B0400000000000000" pitchFamily="50" charset="-128"/>
              </a:rPr>
              <a:t>修士論文の構成と後期計画</a:t>
            </a:r>
          </a:p>
        </p:txBody>
      </p:sp>
    </p:spTree>
    <p:extLst>
      <p:ext uri="{BB962C8B-B14F-4D97-AF65-F5344CB8AC3E}">
        <p14:creationId xmlns:p14="http://schemas.microsoft.com/office/powerpoint/2010/main" val="11568448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56">
            <a:extLst>
              <a:ext uri="{FF2B5EF4-FFF2-40B4-BE49-F238E27FC236}">
                <a16:creationId xmlns:a16="http://schemas.microsoft.com/office/drawing/2014/main" id="{75BFE32B-F018-C4E4-FAB7-80C0D2CDC22E}"/>
              </a:ext>
            </a:extLst>
          </p:cNvPr>
          <p:cNvGrpSpPr/>
          <p:nvPr/>
        </p:nvGrpSpPr>
        <p:grpSpPr>
          <a:xfrm>
            <a:off x="270494" y="246431"/>
            <a:ext cx="698205" cy="10040568"/>
            <a:chOff x="270494" y="246431"/>
            <a:chExt cx="698205" cy="10040568"/>
          </a:xfrm>
        </p:grpSpPr>
        <p:pic>
          <p:nvPicPr>
            <p:cNvPr id="3" name="図 57">
              <a:extLst>
                <a:ext uri="{FF2B5EF4-FFF2-40B4-BE49-F238E27FC236}">
                  <a16:creationId xmlns:a16="http://schemas.microsoft.com/office/drawing/2014/main" id="{1226A433-2043-B47F-E0E8-72C7A0748C7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4" name="テキスト ボックス 58">
              <a:extLst>
                <a:ext uri="{FF2B5EF4-FFF2-40B4-BE49-F238E27FC236}">
                  <a16:creationId xmlns:a16="http://schemas.microsoft.com/office/drawing/2014/main" id="{F53AD6DF-8ABC-58C4-0BDA-981F712C6600}"/>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 name="直線コネクタ 59">
              <a:extLst>
                <a:ext uri="{FF2B5EF4-FFF2-40B4-BE49-F238E27FC236}">
                  <a16:creationId xmlns:a16="http://schemas.microsoft.com/office/drawing/2014/main" id="{583BFE6C-617D-A3DC-D51E-18A6133895A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 name="フローチャート: 論理積ゲート 60">
              <a:extLst>
                <a:ext uri="{FF2B5EF4-FFF2-40B4-BE49-F238E27FC236}">
                  <a16:creationId xmlns:a16="http://schemas.microsoft.com/office/drawing/2014/main" id="{63EE0EEB-3C48-D4D2-9411-176CDF6BB0D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Group 3">
            <a:extLst>
              <a:ext uri="{FF2B5EF4-FFF2-40B4-BE49-F238E27FC236}">
                <a16:creationId xmlns:a16="http://schemas.microsoft.com/office/drawing/2014/main" id="{66CE81F5-9908-5CB9-4AC3-1FCBE2FF3FAA}"/>
              </a:ext>
            </a:extLst>
          </p:cNvPr>
          <p:cNvGrpSpPr/>
          <p:nvPr/>
        </p:nvGrpSpPr>
        <p:grpSpPr>
          <a:xfrm>
            <a:off x="1371600" y="1069258"/>
            <a:ext cx="16064988" cy="125708"/>
            <a:chOff x="0" y="0"/>
            <a:chExt cx="22021800" cy="190500"/>
          </a:xfrm>
        </p:grpSpPr>
        <p:grpSp>
          <p:nvGrpSpPr>
            <p:cNvPr id="8" name="Group 4">
              <a:extLst>
                <a:ext uri="{FF2B5EF4-FFF2-40B4-BE49-F238E27FC236}">
                  <a16:creationId xmlns:a16="http://schemas.microsoft.com/office/drawing/2014/main" id="{F18484CA-1C82-F32C-E492-71BB690B31BD}"/>
                </a:ext>
              </a:extLst>
            </p:cNvPr>
            <p:cNvGrpSpPr/>
            <p:nvPr/>
          </p:nvGrpSpPr>
          <p:grpSpPr>
            <a:xfrm>
              <a:off x="0" y="0"/>
              <a:ext cx="7340600" cy="190500"/>
              <a:chOff x="0" y="0"/>
              <a:chExt cx="1449995" cy="37630"/>
            </a:xfrm>
          </p:grpSpPr>
          <p:sp>
            <p:nvSpPr>
              <p:cNvPr id="9" name="Freeform 5">
                <a:extLst>
                  <a:ext uri="{FF2B5EF4-FFF2-40B4-BE49-F238E27FC236}">
                    <a16:creationId xmlns:a16="http://schemas.microsoft.com/office/drawing/2014/main" id="{99894FA7-D161-F806-1A5F-52AABFBB08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0" name="TextBox 6">
                <a:extLst>
                  <a:ext uri="{FF2B5EF4-FFF2-40B4-BE49-F238E27FC236}">
                    <a16:creationId xmlns:a16="http://schemas.microsoft.com/office/drawing/2014/main" id="{72556C4C-3473-3018-70C4-085FA6F987B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1" name="Group 7">
              <a:extLst>
                <a:ext uri="{FF2B5EF4-FFF2-40B4-BE49-F238E27FC236}">
                  <a16:creationId xmlns:a16="http://schemas.microsoft.com/office/drawing/2014/main" id="{F7A34761-E638-B2A2-9E72-32563CB39D5B}"/>
                </a:ext>
              </a:extLst>
            </p:cNvPr>
            <p:cNvGrpSpPr/>
            <p:nvPr/>
          </p:nvGrpSpPr>
          <p:grpSpPr>
            <a:xfrm>
              <a:off x="7340600" y="0"/>
              <a:ext cx="7340600" cy="190500"/>
              <a:chOff x="0" y="0"/>
              <a:chExt cx="1449995" cy="37630"/>
            </a:xfrm>
          </p:grpSpPr>
          <p:sp>
            <p:nvSpPr>
              <p:cNvPr id="12" name="Freeform 8">
                <a:extLst>
                  <a:ext uri="{FF2B5EF4-FFF2-40B4-BE49-F238E27FC236}">
                    <a16:creationId xmlns:a16="http://schemas.microsoft.com/office/drawing/2014/main" id="{66779A7D-5ECB-D310-B556-EC0E21709BC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13" name="TextBox 9">
                <a:extLst>
                  <a:ext uri="{FF2B5EF4-FFF2-40B4-BE49-F238E27FC236}">
                    <a16:creationId xmlns:a16="http://schemas.microsoft.com/office/drawing/2014/main" id="{96F89EAF-9FB5-76B1-24F0-8313C0D5D3B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4" name="Group 10">
              <a:extLst>
                <a:ext uri="{FF2B5EF4-FFF2-40B4-BE49-F238E27FC236}">
                  <a16:creationId xmlns:a16="http://schemas.microsoft.com/office/drawing/2014/main" id="{0F7B6D61-78D9-D77B-900A-F293F294C432}"/>
                </a:ext>
              </a:extLst>
            </p:cNvPr>
            <p:cNvGrpSpPr/>
            <p:nvPr/>
          </p:nvGrpSpPr>
          <p:grpSpPr>
            <a:xfrm>
              <a:off x="14681200" y="0"/>
              <a:ext cx="7340600" cy="190500"/>
              <a:chOff x="0" y="0"/>
              <a:chExt cx="1449995" cy="37630"/>
            </a:xfrm>
          </p:grpSpPr>
          <p:sp>
            <p:nvSpPr>
              <p:cNvPr id="15" name="Freeform 11">
                <a:extLst>
                  <a:ext uri="{FF2B5EF4-FFF2-40B4-BE49-F238E27FC236}">
                    <a16:creationId xmlns:a16="http://schemas.microsoft.com/office/drawing/2014/main" id="{3CE663F6-1B9A-DFEE-C6F5-CE676E3CD07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6" name="TextBox 12">
                <a:extLst>
                  <a:ext uri="{FF2B5EF4-FFF2-40B4-BE49-F238E27FC236}">
                    <a16:creationId xmlns:a16="http://schemas.microsoft.com/office/drawing/2014/main" id="{509D1305-F68D-3300-CC15-A5584E7FBBA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PAGE_NUMBER"/>
          <p:cNvSpPr txBox="1"/>
          <p:nvPr/>
        </p:nvSpPr>
        <p:spPr>
          <a:xfrm>
            <a:off x="270000" y="9748800"/>
            <a:ext cx="599400" cy="462240"/>
          </a:xfrm>
          <a:prstGeom prst="rect">
            <a:avLst/>
          </a:prstGeom>
          <a:noFill/>
          <a:effectLst/>
        </p:spPr>
        <p:txBody>
          <a:bodyPr wrap="square" lIns="21600" tIns="21600" rIns="21600" bIns="21600" anchor="ctr">
            <a:noAutofit/>
          </a:bodyPr>
          <a:lstStyle/>
          <a:p>
            <a:pPr algn="ctr">
              <a:lnSpc>
                <a:spcPct val="115000"/>
              </a:lnSpc>
              <a:spcBef>
                <a:spcPts val="0"/>
              </a:spcBef>
              <a:spcAft>
                <a:spcPts val="0"/>
              </a:spcAft>
              <a:buNone/>
            </a:pPr>
            <a:r>
              <a:rPr lang="ja-JP" sz="2400" b="0">
                <a:solidFill>
                  <a:srgbClr val="FFFFFF"/>
                </a:solidFill>
                <a:latin typeface="Yu Gothic"/>
                <a:ea typeface="Yu Gothic"/>
                <a:cs typeface="Yu Gothic"/>
              </a:rPr>
              <a:t>10</a:t>
            </a:r>
          </a:p>
        </p:txBody>
      </p:sp>
      <p:sp>
        <p:nvSpPr>
          <p:cNvPr id="24" name="TextBox 24">
            <a:extLst>
              <a:ext uri="{FF2B5EF4-FFF2-40B4-BE49-F238E27FC236}">
                <a16:creationId xmlns:a16="http://schemas.microsoft.com/office/drawing/2014/main" id="{DB578208-7713-FC95-AD36-2F4B81648604}"/>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cs typeface="Source Han Sans JP Medium"/>
                <a:sym typeface="Source Han Sans JP Medium"/>
              </a:rPr>
              <a:t>4. </a:t>
            </a:r>
            <a:r>
              <a:rPr lang="ja-JP" altLang="en-US" sz="3000" b="1" dirty="0">
                <a:solidFill>
                  <a:srgbClr val="202020"/>
                </a:solidFill>
                <a:latin typeface="Yu Gothic"/>
                <a:ea typeface="Yu Gothic"/>
                <a:cs typeface="Source Han Sans JP Medium"/>
                <a:sym typeface="Source Han Sans JP Medium"/>
              </a:rPr>
              <a:t>修士論文の構成案</a:t>
            </a:r>
          </a:p>
        </p:txBody>
      </p:sp>
      <p:pic>
        <p:nvPicPr>
          <p:cNvPr id="23" name="図 22">
            <a:extLst>
              <a:ext uri="{FF2B5EF4-FFF2-40B4-BE49-F238E27FC236}">
                <a16:creationId xmlns:a16="http://schemas.microsoft.com/office/drawing/2014/main" id="{3A50256F-6869-07CB-DD3E-6E021B8C85FD}"/>
              </a:ext>
            </a:extLst>
          </p:cNvPr>
          <p:cNvPicPr>
            <a:picLocks noChangeAspect="1"/>
          </p:cNvPicPr>
          <p:nvPr/>
        </p:nvPicPr>
        <p:blipFill>
          <a:blip r:embed="rId4"/>
          <a:stretch>
            <a:fillRect/>
          </a:stretch>
        </p:blipFill>
        <p:spPr>
          <a:xfrm>
            <a:off x="2095421" y="1833335"/>
            <a:ext cx="7061279" cy="7915465"/>
          </a:xfrm>
          <a:prstGeom prst="rect">
            <a:avLst/>
          </a:prstGeom>
        </p:spPr>
      </p:pic>
      <p:pic>
        <p:nvPicPr>
          <p:cNvPr id="19" name="図 18">
            <a:extLst>
              <a:ext uri="{FF2B5EF4-FFF2-40B4-BE49-F238E27FC236}">
                <a16:creationId xmlns:a16="http://schemas.microsoft.com/office/drawing/2014/main" id="{176D0646-FAD5-E94A-204D-CB2771709FBC}"/>
              </a:ext>
            </a:extLst>
          </p:cNvPr>
          <p:cNvPicPr>
            <a:picLocks noChangeAspect="1"/>
          </p:cNvPicPr>
          <p:nvPr/>
        </p:nvPicPr>
        <p:blipFill>
          <a:blip r:embed="rId5"/>
          <a:stretch>
            <a:fillRect/>
          </a:stretch>
        </p:blipFill>
        <p:spPr>
          <a:xfrm>
            <a:off x="10036395" y="1906291"/>
            <a:ext cx="5711605" cy="56829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9BD478F2-93FB-7553-E103-A6B3839A5A0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7D11835D-57AA-BE86-BCDE-68226B602566}"/>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3B78E05A-DEF5-2D6B-B55B-DB82EC5920C4}"/>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EEE9B645-6430-60ED-1258-90350A0DD8B6}"/>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7D062015-C78C-B7BE-0F9C-81E88D230C46}"/>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60F8FF6D-0F13-7307-815B-B6A9447179C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41D664AF-D53E-642F-86FD-B1A855E2DB9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39CA5124-E45E-0CB1-1810-EE57DA2A98C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0A1028B-7828-4E23-A025-A2A2D2431AD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C17D89E3-8887-6561-DC46-CE8A5DF780C6}"/>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5489C4AE-4A0B-0D6B-1EBE-B87B0D43218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322874F-AD47-9232-CAC5-BCBEFE78F56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A393E3CE-4414-5AEF-237E-CCB155796221}"/>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340D6A49-4FDE-F2E2-098C-1B68ABAF617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D07D97A3-99DD-DF89-C8F5-40F48C6E3FF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99EC6C07-FABB-D71C-DE41-019BC555F7B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dirty="0"/>
              <a:t>9</a:t>
            </a:r>
          </a:p>
        </p:txBody>
      </p:sp>
      <p:graphicFrame>
        <p:nvGraphicFramePr>
          <p:cNvPr id="47" name="表 46">
            <a:extLst>
              <a:ext uri="{FF2B5EF4-FFF2-40B4-BE49-F238E27FC236}">
                <a16:creationId xmlns:a16="http://schemas.microsoft.com/office/drawing/2014/main" id="{CA17F5A5-19DF-44BA-8312-DB8A65D330AB}"/>
              </a:ext>
            </a:extLst>
          </p:cNvPr>
          <p:cNvGraphicFramePr>
            <a:graphicFrameLocks noGrp="1"/>
          </p:cNvGraphicFramePr>
          <p:nvPr>
            <p:extLst>
              <p:ext uri="{D42A27DB-BD31-4B8C-83A1-F6EECF244321}">
                <p14:modId xmlns:p14="http://schemas.microsoft.com/office/powerpoint/2010/main" val="2847709430"/>
              </p:ext>
            </p:extLst>
          </p:nvPr>
        </p:nvGraphicFramePr>
        <p:xfrm>
          <a:off x="1219200" y="1808480"/>
          <a:ext cx="16268702" cy="7368540"/>
        </p:xfrm>
        <a:graphic>
          <a:graphicData uri="http://schemas.openxmlformats.org/drawingml/2006/table">
            <a:tbl>
              <a:tblPr firstRow="1" bandRow="1">
                <a:tableStyleId>{5C22544A-7EE6-4342-B048-85BDC9FD1C3A}</a:tableStyleId>
              </a:tblPr>
              <a:tblGrid>
                <a:gridCol w="3162300">
                  <a:extLst>
                    <a:ext uri="{9D8B030D-6E8A-4147-A177-3AD203B41FA5}">
                      <a16:colId xmlns:a16="http://schemas.microsoft.com/office/drawing/2014/main" val="20000"/>
                    </a:ext>
                  </a:extLst>
                </a:gridCol>
                <a:gridCol w="4445000">
                  <a:extLst>
                    <a:ext uri="{9D8B030D-6E8A-4147-A177-3AD203B41FA5}">
                      <a16:colId xmlns:a16="http://schemas.microsoft.com/office/drawing/2014/main" val="2949312998"/>
                    </a:ext>
                  </a:extLst>
                </a:gridCol>
                <a:gridCol w="1443567">
                  <a:extLst>
                    <a:ext uri="{9D8B030D-6E8A-4147-A177-3AD203B41FA5}">
                      <a16:colId xmlns:a16="http://schemas.microsoft.com/office/drawing/2014/main" val="1609288016"/>
                    </a:ext>
                  </a:extLst>
                </a:gridCol>
                <a:gridCol w="1443567">
                  <a:extLst>
                    <a:ext uri="{9D8B030D-6E8A-4147-A177-3AD203B41FA5}">
                      <a16:colId xmlns:a16="http://schemas.microsoft.com/office/drawing/2014/main" val="4226321308"/>
                    </a:ext>
                  </a:extLst>
                </a:gridCol>
                <a:gridCol w="1443567">
                  <a:extLst>
                    <a:ext uri="{9D8B030D-6E8A-4147-A177-3AD203B41FA5}">
                      <a16:colId xmlns:a16="http://schemas.microsoft.com/office/drawing/2014/main" val="997688572"/>
                    </a:ext>
                  </a:extLst>
                </a:gridCol>
                <a:gridCol w="1443567">
                  <a:extLst>
                    <a:ext uri="{9D8B030D-6E8A-4147-A177-3AD203B41FA5}">
                      <a16:colId xmlns:a16="http://schemas.microsoft.com/office/drawing/2014/main" val="1418800255"/>
                    </a:ext>
                  </a:extLst>
                </a:gridCol>
                <a:gridCol w="1443567">
                  <a:extLst>
                    <a:ext uri="{9D8B030D-6E8A-4147-A177-3AD203B41FA5}">
                      <a16:colId xmlns:a16="http://schemas.microsoft.com/office/drawing/2014/main" val="4099334226"/>
                    </a:ext>
                  </a:extLst>
                </a:gridCol>
                <a:gridCol w="1443567">
                  <a:extLst>
                    <a:ext uri="{9D8B030D-6E8A-4147-A177-3AD203B41FA5}">
                      <a16:colId xmlns:a16="http://schemas.microsoft.com/office/drawing/2014/main" val="3902824841"/>
                    </a:ext>
                  </a:extLst>
                </a:gridCol>
              </a:tblGrid>
              <a:tr h="571500">
                <a:tc>
                  <a:txBody>
                    <a:bodyPr/>
                    <a:lstStyle/>
                    <a:p>
                      <a:pPr algn="ctr"/>
                      <a:r>
                        <a:rPr lang="ja-JP" sz="2400" b="1" dirty="0">
                          <a:solidFill>
                            <a:srgbClr val="FFFFFF"/>
                          </a:solidFill>
                          <a:latin typeface="游ゴシック" panose="020B0400000000000000" pitchFamily="50" charset="-128"/>
                          <a:ea typeface="游ゴシック" panose="020B0400000000000000" pitchFamily="50" charset="-128"/>
                        </a:rPr>
                        <a:t>大項目</a:t>
                      </a:r>
                      <a:endParaRPr lang="ja-JP" sz="2400" dirty="0">
                        <a:latin typeface="游ゴシック" panose="020B0400000000000000" pitchFamily="50" charset="-128"/>
                        <a:ea typeface="游ゴシック" panose="020B0400000000000000" pitchFamily="50" charset="-128"/>
                      </a:endParaRPr>
                    </a:p>
                  </a:txBody>
                  <a:tcPr marL="127000" marR="76200" anchor="ctr">
                    <a:solidFill>
                      <a:srgbClr val="70A9AA"/>
                    </a:solidFill>
                  </a:tcPr>
                </a:tc>
                <a:tc>
                  <a:txBody>
                    <a:bodyPr/>
                    <a:lstStyle/>
                    <a:p>
                      <a:pPr algn="ctr"/>
                      <a:r>
                        <a:rPr lang="ja-JP" altLang="en-US" sz="2400" b="1" dirty="0">
                          <a:solidFill>
                            <a:srgbClr val="FFFFFF"/>
                          </a:solidFill>
                          <a:latin typeface="Yu Gothic"/>
                          <a:ea typeface="Yu Gothic"/>
                        </a:rPr>
                        <a:t>小項目</a:t>
                      </a:r>
                    </a:p>
                  </a:txBody>
                  <a:tcPr anchor="ctr">
                    <a:solidFill>
                      <a:srgbClr val="6FA7A8"/>
                    </a:solidFill>
                  </a:tcPr>
                </a:tc>
                <a:tc>
                  <a:txBody>
                    <a:bodyPr/>
                    <a:lstStyle/>
                    <a:p>
                      <a:pPr algn="ctr"/>
                      <a:r>
                        <a:rPr lang="ja-JP" altLang="en-US" sz="2400" b="1" dirty="0">
                          <a:solidFill>
                            <a:srgbClr val="FFFFFF"/>
                          </a:solidFill>
                          <a:latin typeface="Yu Gothic"/>
                          <a:ea typeface="Yu Gothic"/>
                        </a:rPr>
                        <a:t>9月</a:t>
                      </a:r>
                    </a:p>
                  </a:txBody>
                  <a:tcPr anchor="ctr">
                    <a:solidFill>
                      <a:srgbClr val="6FA7A8"/>
                    </a:solidFill>
                  </a:tcPr>
                </a:tc>
                <a:tc>
                  <a:txBody>
                    <a:bodyPr/>
                    <a:lstStyle/>
                    <a:p>
                      <a:pPr algn="ctr"/>
                      <a:r>
                        <a:rPr lang="ja-JP" altLang="en-US" sz="2400" b="1" dirty="0">
                          <a:solidFill>
                            <a:srgbClr val="FFFFFF"/>
                          </a:solidFill>
                          <a:latin typeface="Yu Gothic"/>
                          <a:ea typeface="Yu Gothic"/>
                        </a:rPr>
                        <a:t>10月</a:t>
                      </a:r>
                    </a:p>
                  </a:txBody>
                  <a:tcPr anchor="ctr">
                    <a:solidFill>
                      <a:srgbClr val="6FA7A8"/>
                    </a:solidFill>
                  </a:tcPr>
                </a:tc>
                <a:tc>
                  <a:txBody>
                    <a:bodyPr/>
                    <a:lstStyle/>
                    <a:p>
                      <a:pPr algn="ctr"/>
                      <a:r>
                        <a:rPr lang="ja-JP" altLang="en-US" sz="2400" b="1" dirty="0">
                          <a:solidFill>
                            <a:srgbClr val="FFFFFF"/>
                          </a:solidFill>
                          <a:latin typeface="Yu Gothic"/>
                          <a:ea typeface="Yu Gothic"/>
                        </a:rPr>
                        <a:t>11月</a:t>
                      </a:r>
                    </a:p>
                  </a:txBody>
                  <a:tcPr anchor="ctr">
                    <a:solidFill>
                      <a:srgbClr val="6FA7A8"/>
                    </a:solidFill>
                  </a:tcPr>
                </a:tc>
                <a:tc>
                  <a:txBody>
                    <a:bodyPr/>
                    <a:lstStyle/>
                    <a:p>
                      <a:pPr algn="ctr"/>
                      <a:r>
                        <a:rPr lang="ja-JP" altLang="en-US" sz="2400" b="1" dirty="0">
                          <a:solidFill>
                            <a:srgbClr val="FFFFFF"/>
                          </a:solidFill>
                          <a:latin typeface="Yu Gothic"/>
                          <a:ea typeface="Yu Gothic"/>
                        </a:rPr>
                        <a:t>12月</a:t>
                      </a:r>
                    </a:p>
                  </a:txBody>
                  <a:tcPr anchor="ctr">
                    <a:solidFill>
                      <a:srgbClr val="6FA7A8"/>
                    </a:solidFill>
                  </a:tcPr>
                </a:tc>
                <a:tc>
                  <a:txBody>
                    <a:bodyPr/>
                    <a:lstStyle/>
                    <a:p>
                      <a:pPr algn="ctr"/>
                      <a:r>
                        <a:rPr lang="ja-JP" altLang="en-US" sz="2400" b="1" dirty="0">
                          <a:solidFill>
                            <a:srgbClr val="FFFFFF"/>
                          </a:solidFill>
                          <a:latin typeface="Yu Gothic"/>
                          <a:ea typeface="Yu Gothic"/>
                        </a:rPr>
                        <a:t>1月</a:t>
                      </a:r>
                    </a:p>
                  </a:txBody>
                  <a:tcPr anchor="ctr">
                    <a:solidFill>
                      <a:srgbClr val="6FA7A8"/>
                    </a:solidFill>
                  </a:tcPr>
                </a:tc>
                <a:tc>
                  <a:txBody>
                    <a:bodyPr/>
                    <a:lstStyle/>
                    <a:p>
                      <a:pPr algn="ctr"/>
                      <a:r>
                        <a:rPr lang="ja-JP" altLang="en-US" sz="2400" b="1" dirty="0">
                          <a:solidFill>
                            <a:srgbClr val="FFFFFF"/>
                          </a:solidFill>
                          <a:latin typeface="Yu Gothic"/>
                          <a:ea typeface="Yu Gothic"/>
                        </a:rPr>
                        <a:t>2月</a:t>
                      </a:r>
                    </a:p>
                  </a:txBody>
                  <a:tcPr anchor="ctr">
                    <a:solidFill>
                      <a:srgbClr val="6FA7A8"/>
                    </a:solidFill>
                  </a:tcPr>
                </a:tc>
                <a:extLst>
                  <a:ext uri="{0D108BD9-81ED-4DB2-BD59-A6C34878D82A}">
                    <a16:rowId xmlns:a16="http://schemas.microsoft.com/office/drawing/2014/main" val="332735817"/>
                  </a:ext>
                </a:extLst>
              </a:tr>
              <a:tr h="558800">
                <a:tc rowSpan="3">
                  <a:txBody>
                    <a:bodyPr/>
                    <a:lstStyle/>
                    <a:p>
                      <a:pPr algn="l"/>
                      <a:r>
                        <a:rPr lang="ja-JP" sz="2400" b="1" dirty="0">
                          <a:solidFill>
                            <a:srgbClr val="17333A"/>
                          </a:solidFill>
                          <a:latin typeface="游ゴシック" panose="020B0400000000000000" pitchFamily="50" charset="-128"/>
                          <a:ea typeface="游ゴシック" panose="020B0400000000000000" pitchFamily="50" charset="-128"/>
                        </a:rPr>
                        <a:t>① 評価設計・学習</a:t>
                      </a:r>
                      <a:endParaRPr lang="ja-JP" sz="2400" dirty="0">
                        <a:latin typeface="游ゴシック" panose="020B0400000000000000" pitchFamily="50" charset="-128"/>
                        <a:ea typeface="游ゴシック" panose="020B0400000000000000" pitchFamily="50" charset="-128"/>
                      </a:endParaRPr>
                    </a:p>
                    <a:p>
                      <a:pPr algn="l"/>
                      <a:r>
                        <a:rPr lang="ja-JP" sz="2400" b="1" dirty="0">
                          <a:solidFill>
                            <a:srgbClr val="17333A"/>
                          </a:solidFill>
                          <a:latin typeface="游ゴシック" panose="020B0400000000000000" pitchFamily="50" charset="-128"/>
                          <a:ea typeface="游ゴシック" panose="020B0400000000000000" pitchFamily="50" charset="-128"/>
                        </a:rPr>
                        <a:t>データの確定</a:t>
                      </a:r>
                      <a:endParaRPr lang="ja-JP" sz="2400" dirty="0">
                        <a:latin typeface="游ゴシック" panose="020B0400000000000000" pitchFamily="50" charset="-128"/>
                        <a:ea typeface="游ゴシック" panose="020B0400000000000000" pitchFamily="50" charset="-128"/>
                      </a:endParaRPr>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実験別に学習／テストデータを分割の実装</a:t>
                      </a: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extLst>
                  <a:ext uri="{0D108BD9-81ED-4DB2-BD59-A6C34878D82A}">
                    <a16:rowId xmlns:a16="http://schemas.microsoft.com/office/drawing/2014/main" val="1572772760"/>
                  </a:ext>
                </a:extLst>
              </a:tr>
              <a:tr h="558800">
                <a:tc vMerge="1">
                  <a:txBody>
                    <a:bodyPr/>
                    <a:lstStyle/>
                    <a:p>
                      <a:pPr algn="l"/>
                      <a:endParaRPr lang="ja-JP" sz="2000"/>
                    </a:p>
                  </a:txBody>
                  <a:tcPr marL="127000" marR="76200" anchor="ctr">
                    <a:solidFill>
                      <a:srgbClr val="9EC5C5"/>
                    </a:solidFill>
                  </a:tcPr>
                </a:tc>
                <a:tc>
                  <a:txBody>
                    <a:bodyPr/>
                    <a:lstStyle/>
                    <a:p>
                      <a:pPr algn="l"/>
                      <a:r>
                        <a:rPr lang="ja-JP" altLang="en-US" sz="1800" b="1">
                          <a:solidFill>
                            <a:srgbClr val="1B1F23"/>
                          </a:solidFill>
                          <a:latin typeface="Yu Gothic"/>
                          <a:ea typeface="Yu Gothic"/>
                        </a:rPr>
                        <a:t>沸騰後のデータで閾値を設定・スクリーニング実装</a:t>
                      </a: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extLst>
                  <a:ext uri="{0D108BD9-81ED-4DB2-BD59-A6C34878D82A}">
                    <a16:rowId xmlns:a16="http://schemas.microsoft.com/office/drawing/2014/main" val="781850233"/>
                  </a:ext>
                </a:extLst>
              </a:tr>
              <a:tr h="558800">
                <a:tc vMerge="1">
                  <a:txBody>
                    <a:bodyPr/>
                    <a:lstStyle/>
                    <a:p>
                      <a:pPr algn="l"/>
                      <a:endParaRPr lang="ja-JP" sz="2000"/>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上記実装でアンサンブル検証（全条件）</a:t>
                      </a: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extLst>
                  <a:ext uri="{0D108BD9-81ED-4DB2-BD59-A6C34878D82A}">
                    <a16:rowId xmlns:a16="http://schemas.microsoft.com/office/drawing/2014/main" val="2509159921"/>
                  </a:ext>
                </a:extLst>
              </a:tr>
              <a:tr h="558800">
                <a:tc rowSpan="3">
                  <a:txBody>
                    <a:bodyPr/>
                    <a:lstStyle/>
                    <a:p>
                      <a:pPr algn="l"/>
                      <a:r>
                        <a:rPr lang="ja-JP" sz="2400" b="1" dirty="0">
                          <a:solidFill>
                            <a:srgbClr val="17333A"/>
                          </a:solidFill>
                          <a:latin typeface="游ゴシック" panose="020B0400000000000000" pitchFamily="50" charset="-128"/>
                          <a:ea typeface="游ゴシック" panose="020B0400000000000000" pitchFamily="50" charset="-128"/>
                        </a:rPr>
                        <a:t>② アンサンブル手法</a:t>
                      </a:r>
                      <a:endParaRPr lang="ja-JP" sz="2400" dirty="0">
                        <a:latin typeface="游ゴシック" panose="020B0400000000000000" pitchFamily="50" charset="-128"/>
                        <a:ea typeface="游ゴシック" panose="020B0400000000000000" pitchFamily="50" charset="-128"/>
                      </a:endParaRPr>
                    </a:p>
                    <a:p>
                      <a:pPr algn="l"/>
                      <a:r>
                        <a:rPr lang="ja-JP" sz="2400" b="1" dirty="0">
                          <a:solidFill>
                            <a:srgbClr val="17333A"/>
                          </a:solidFill>
                          <a:latin typeface="游ゴシック" panose="020B0400000000000000" pitchFamily="50" charset="-128"/>
                          <a:ea typeface="游ゴシック" panose="020B0400000000000000" pitchFamily="50" charset="-128"/>
                        </a:rPr>
                        <a:t>の確立</a:t>
                      </a:r>
                      <a:endParaRPr lang="ja-JP" sz="2400" dirty="0">
                        <a:latin typeface="游ゴシック" panose="020B0400000000000000" pitchFamily="50" charset="-128"/>
                        <a:ea typeface="游ゴシック" panose="020B0400000000000000" pitchFamily="50" charset="-128"/>
                      </a:endParaRPr>
                    </a:p>
                  </a:txBody>
                  <a:tcPr marL="127000" marR="76200" anchor="ctr">
                    <a:solidFill>
                      <a:srgbClr val="9EC5C5"/>
                    </a:solidFill>
                  </a:tcPr>
                </a:tc>
                <a:tc>
                  <a:txBody>
                    <a:bodyPr/>
                    <a:lstStyle/>
                    <a:p>
                      <a:pPr algn="l"/>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必要なら</a:t>
                      </a:r>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単体モデルを下回る条件・要因を調査・整理</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4062821586"/>
                  </a:ext>
                </a:extLst>
              </a:tr>
              <a:tr h="558800">
                <a:tc vMerge="1">
                  <a:txBody>
                    <a:bodyPr/>
                    <a:lstStyle/>
                    <a:p>
                      <a:pPr algn="l"/>
                      <a:endParaRPr lang="ja-JP" sz="2000"/>
                    </a:p>
                  </a:txBody>
                  <a:tcPr marL="127000" marR="76200" anchor="ctr">
                    <a:solidFill>
                      <a:srgbClr val="9EC5C5"/>
                    </a:solidFill>
                  </a:tcPr>
                </a:tc>
                <a:tc>
                  <a:txBody>
                    <a:bodyPr/>
                    <a:lstStyle/>
                    <a:p>
                      <a:pPr algn="l"/>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必要なら</a:t>
                      </a:r>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必要に応じて新たなアンサンブルモデル・手法を調査・実装</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dirty="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1586278673"/>
                  </a:ext>
                </a:extLst>
              </a:tr>
              <a:tr h="558800">
                <a:tc vMerge="1">
                  <a:txBody>
                    <a:bodyPr/>
                    <a:lstStyle/>
                    <a:p>
                      <a:pPr algn="l"/>
                      <a:endParaRPr lang="ja-JP" sz="2000"/>
                    </a:p>
                  </a:txBody>
                  <a:tcPr marL="127000" marR="76200" anchor="ctr">
                    <a:solidFill>
                      <a:srgbClr val="9EC5C5"/>
                    </a:solidFill>
                  </a:tcPr>
                </a:tc>
                <a:tc>
                  <a:txBody>
                    <a:bodyPr/>
                    <a:lstStyle/>
                    <a:p>
                      <a:pPr algn="l"/>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必要なら</a:t>
                      </a:r>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複数手法の比較でアンサンブル方法を確定・検証・結果をまとめる</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1272385712"/>
                  </a:ext>
                </a:extLst>
              </a:tr>
              <a:tr h="558800">
                <a:tc rowSpan="2">
                  <a:txBody>
                    <a:bodyPr/>
                    <a:lstStyle/>
                    <a:p>
                      <a:pPr algn="l"/>
                      <a:r>
                        <a:rPr lang="ja-JP" sz="2400" b="1">
                          <a:solidFill>
                            <a:srgbClr val="17333A"/>
                          </a:solidFill>
                          <a:latin typeface="游ゴシック" panose="020B0400000000000000" pitchFamily="50" charset="-128"/>
                          <a:ea typeface="游ゴシック" panose="020B0400000000000000" pitchFamily="50" charset="-128"/>
                        </a:rPr>
                        <a:t>③ 説明性を用いた要</a:t>
                      </a:r>
                      <a:endParaRPr lang="ja-JP" sz="2400">
                        <a:latin typeface="游ゴシック" panose="020B0400000000000000" pitchFamily="50" charset="-128"/>
                        <a:ea typeface="游ゴシック" panose="020B0400000000000000" pitchFamily="50" charset="-128"/>
                      </a:endParaRPr>
                    </a:p>
                    <a:p>
                      <a:pPr algn="l"/>
                      <a:r>
                        <a:rPr lang="ja-JP" sz="2400" b="1">
                          <a:solidFill>
                            <a:srgbClr val="17333A"/>
                          </a:solidFill>
                          <a:latin typeface="游ゴシック" panose="020B0400000000000000" pitchFamily="50" charset="-128"/>
                          <a:ea typeface="游ゴシック" panose="020B0400000000000000" pitchFamily="50" charset="-128"/>
                        </a:rPr>
                        <a:t>因分析・検証</a:t>
                      </a:r>
                      <a:endParaRPr lang="ja-JP" sz="2400">
                        <a:latin typeface="游ゴシック" panose="020B0400000000000000" pitchFamily="50" charset="-128"/>
                        <a:ea typeface="游ゴシック" panose="020B0400000000000000" pitchFamily="50" charset="-128"/>
                      </a:endParaRPr>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説明性指標で特徴利用を可視化・比較</a:t>
                      </a: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extLst>
                  <a:ext uri="{0D108BD9-81ED-4DB2-BD59-A6C34878D82A}">
                    <a16:rowId xmlns:a16="http://schemas.microsoft.com/office/drawing/2014/main" val="3067697552"/>
                  </a:ext>
                </a:extLst>
              </a:tr>
              <a:tr h="558800">
                <a:tc vMerge="1">
                  <a:txBody>
                    <a:bodyPr/>
                    <a:lstStyle/>
                    <a:p>
                      <a:pPr algn="l"/>
                      <a:endParaRPr lang="ja-JP" sz="2000"/>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各指標を踏まえて学習・推論パイプラインに活用できるか模索・実装・考察</a:t>
                      </a: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dirty="0">
                        <a:solidFill>
                          <a:srgbClr val="1B1F23"/>
                        </a:solidFill>
                        <a:latin typeface="Yu Gothic"/>
                        <a:ea typeface="Yu Gothic"/>
                      </a:endParaRPr>
                    </a:p>
                  </a:txBody>
                  <a:tcPr anchor="ctr">
                    <a:solidFill>
                      <a:srgbClr val="E5EEEE"/>
                    </a:solidFill>
                  </a:tcPr>
                </a:tc>
                <a:extLst>
                  <a:ext uri="{0D108BD9-81ED-4DB2-BD59-A6C34878D82A}">
                    <a16:rowId xmlns:a16="http://schemas.microsoft.com/office/drawing/2014/main" val="1711701246"/>
                  </a:ext>
                </a:extLst>
              </a:tr>
              <a:tr h="558800">
                <a:tc rowSpan="3">
                  <a:txBody>
                    <a:bodyPr/>
                    <a:lstStyle/>
                    <a:p>
                      <a:pPr algn="l"/>
                      <a:r>
                        <a:rPr lang="ja-JP" sz="2400" b="1" dirty="0">
                          <a:solidFill>
                            <a:srgbClr val="17333A"/>
                          </a:solidFill>
                          <a:latin typeface="游ゴシック" panose="020B0400000000000000" pitchFamily="50" charset="-128"/>
                          <a:ea typeface="游ゴシック" panose="020B0400000000000000" pitchFamily="50" charset="-128"/>
                        </a:rPr>
                        <a:t>④ 修論執筆・発表準</a:t>
                      </a:r>
                      <a:endParaRPr lang="ja-JP" sz="2400" dirty="0">
                        <a:latin typeface="游ゴシック" panose="020B0400000000000000" pitchFamily="50" charset="-128"/>
                        <a:ea typeface="游ゴシック" panose="020B0400000000000000" pitchFamily="50" charset="-128"/>
                      </a:endParaRPr>
                    </a:p>
                    <a:p>
                      <a:pPr algn="l"/>
                      <a:r>
                        <a:rPr lang="ja-JP" sz="2400" b="1" dirty="0">
                          <a:solidFill>
                            <a:srgbClr val="17333A"/>
                          </a:solidFill>
                          <a:latin typeface="游ゴシック" panose="020B0400000000000000" pitchFamily="50" charset="-128"/>
                          <a:ea typeface="游ゴシック" panose="020B0400000000000000" pitchFamily="50" charset="-128"/>
                        </a:rPr>
                        <a:t>備</a:t>
                      </a:r>
                      <a:endParaRPr lang="ja-JP" sz="2400" dirty="0">
                        <a:latin typeface="游ゴシック" panose="020B0400000000000000" pitchFamily="50" charset="-128"/>
                        <a:ea typeface="游ゴシック" panose="020B0400000000000000" pitchFamily="50" charset="-128"/>
                      </a:endParaRPr>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背景・実験方法（など書ける範囲から進めたい）</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dirty="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4189449433"/>
                  </a:ext>
                </a:extLst>
              </a:tr>
              <a:tr h="558800">
                <a:tc vMerge="1">
                  <a:txBody>
                    <a:bodyPr/>
                    <a:lstStyle/>
                    <a:p>
                      <a:pPr algn="l"/>
                      <a:endParaRPr lang="ja-JP" sz="2000"/>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結果・考察・結論の整理</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dirty="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2180864456"/>
                  </a:ext>
                </a:extLst>
              </a:tr>
              <a:tr h="558800">
                <a:tc vMerge="1">
                  <a:txBody>
                    <a:bodyPr/>
                    <a:lstStyle/>
                    <a:p>
                      <a:pPr algn="l"/>
                      <a:endParaRPr lang="ja-JP" sz="2000"/>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論文執筆完了・発表資料作成・発表練習など</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dirty="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3473157597"/>
                  </a:ext>
                </a:extLst>
              </a:tr>
            </a:tbl>
          </a:graphicData>
        </a:graphic>
      </p:graphicFrame>
      <p:sp>
        <p:nvSpPr>
          <p:cNvPr id="59" name="矢印: 右 58">
            <a:extLst>
              <a:ext uri="{FF2B5EF4-FFF2-40B4-BE49-F238E27FC236}">
                <a16:creationId xmlns:a16="http://schemas.microsoft.com/office/drawing/2014/main" id="{D34DF569-FC79-4BB4-8B5E-7C19524629EA}"/>
              </a:ext>
            </a:extLst>
          </p:cNvPr>
          <p:cNvSpPr/>
          <p:nvPr/>
        </p:nvSpPr>
        <p:spPr>
          <a:xfrm>
            <a:off x="9620461" y="2418080"/>
            <a:ext cx="938318" cy="520700"/>
          </a:xfrm>
          <a:prstGeom prst="rightArrow">
            <a:avLst/>
          </a:prstGeom>
          <a:solidFill>
            <a:schemeClr val="bg1">
              <a:lumMod val="75000"/>
              <a:alpha val="93333"/>
            </a:scheme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0" name="矢印: 右 59">
            <a:extLst>
              <a:ext uri="{FF2B5EF4-FFF2-40B4-BE49-F238E27FC236}">
                <a16:creationId xmlns:a16="http://schemas.microsoft.com/office/drawing/2014/main" id="{8236D079-26BE-4267-B3E8-D7B70D31F6EA}"/>
              </a:ext>
            </a:extLst>
          </p:cNvPr>
          <p:cNvSpPr/>
          <p:nvPr/>
        </p:nvSpPr>
        <p:spPr>
          <a:xfrm>
            <a:off x="9620461" y="3022600"/>
            <a:ext cx="938318" cy="520700"/>
          </a:xfrm>
          <a:prstGeom prst="rightArrow">
            <a:avLst/>
          </a:prstGeom>
          <a:solidFill>
            <a:schemeClr val="bg1">
              <a:lumMod val="75000"/>
              <a:alpha val="93333"/>
            </a:scheme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1" name="矢印: 右 60">
            <a:extLst>
              <a:ext uri="{FF2B5EF4-FFF2-40B4-BE49-F238E27FC236}">
                <a16:creationId xmlns:a16="http://schemas.microsoft.com/office/drawing/2014/main" id="{598DB384-3834-4A6E-88C7-56ED64B1610A}"/>
              </a:ext>
            </a:extLst>
          </p:cNvPr>
          <p:cNvSpPr/>
          <p:nvPr/>
        </p:nvSpPr>
        <p:spPr>
          <a:xfrm>
            <a:off x="9982200" y="3713480"/>
            <a:ext cx="576579" cy="520700"/>
          </a:xfrm>
          <a:prstGeom prst="rightArrow">
            <a:avLst/>
          </a:prstGeom>
          <a:solidFill>
            <a:schemeClr val="bg1">
              <a:lumMod val="75000"/>
              <a:alpha val="93333"/>
            </a:scheme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2" name="矢印: 右 61">
            <a:extLst>
              <a:ext uri="{FF2B5EF4-FFF2-40B4-BE49-F238E27FC236}">
                <a16:creationId xmlns:a16="http://schemas.microsoft.com/office/drawing/2014/main" id="{4938EDE1-97DD-420B-AF51-448FC8A8F529}"/>
              </a:ext>
            </a:extLst>
          </p:cNvPr>
          <p:cNvSpPr/>
          <p:nvPr/>
        </p:nvSpPr>
        <p:spPr>
          <a:xfrm>
            <a:off x="9981353" y="4331970"/>
            <a:ext cx="1010496" cy="520700"/>
          </a:xfrm>
          <a:prstGeom prst="rightArrow">
            <a:avLst/>
          </a:prstGeom>
          <a:solidFill>
            <a:schemeClr val="bg1">
              <a:lumMod val="75000"/>
              <a:alpha val="93333"/>
            </a:scheme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3" name="矢印: 右 62">
            <a:extLst>
              <a:ext uri="{FF2B5EF4-FFF2-40B4-BE49-F238E27FC236}">
                <a16:creationId xmlns:a16="http://schemas.microsoft.com/office/drawing/2014/main" id="{0AE1CEB5-7EBA-4989-96FD-CBE69C6CF335}"/>
              </a:ext>
            </a:extLst>
          </p:cNvPr>
          <p:cNvSpPr/>
          <p:nvPr/>
        </p:nvSpPr>
        <p:spPr>
          <a:xfrm>
            <a:off x="10744200" y="4911090"/>
            <a:ext cx="938318" cy="520700"/>
          </a:xfrm>
          <a:prstGeom prst="rightArrow">
            <a:avLst/>
          </a:prstGeom>
          <a:solidFill>
            <a:srgbClr val="FEA349">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4" name="矢印: 右 63">
            <a:extLst>
              <a:ext uri="{FF2B5EF4-FFF2-40B4-BE49-F238E27FC236}">
                <a16:creationId xmlns:a16="http://schemas.microsoft.com/office/drawing/2014/main" id="{EA5FB593-F8A7-47ED-8FE0-2DEC3D5FBF3D}"/>
              </a:ext>
            </a:extLst>
          </p:cNvPr>
          <p:cNvSpPr/>
          <p:nvPr/>
        </p:nvSpPr>
        <p:spPr>
          <a:xfrm>
            <a:off x="11706331" y="5582972"/>
            <a:ext cx="692912" cy="520700"/>
          </a:xfrm>
          <a:prstGeom prst="rightArrow">
            <a:avLst/>
          </a:prstGeom>
          <a:solidFill>
            <a:srgbClr val="FEA349"/>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5" name="矢印: 右 64">
            <a:extLst>
              <a:ext uri="{FF2B5EF4-FFF2-40B4-BE49-F238E27FC236}">
                <a16:creationId xmlns:a16="http://schemas.microsoft.com/office/drawing/2014/main" id="{08F95DCF-0470-4027-83DB-67FE192B535C}"/>
              </a:ext>
            </a:extLst>
          </p:cNvPr>
          <p:cNvSpPr/>
          <p:nvPr/>
        </p:nvSpPr>
        <p:spPr>
          <a:xfrm>
            <a:off x="9620461" y="6162040"/>
            <a:ext cx="1371388" cy="520700"/>
          </a:xfrm>
          <a:prstGeom prst="rightArrow">
            <a:avLst/>
          </a:prstGeom>
          <a:solidFill>
            <a:schemeClr val="bg1">
              <a:lumMod val="75000"/>
              <a:alpha val="93333"/>
            </a:scheme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6" name="矢印: 右 65">
            <a:extLst>
              <a:ext uri="{FF2B5EF4-FFF2-40B4-BE49-F238E27FC236}">
                <a16:creationId xmlns:a16="http://schemas.microsoft.com/office/drawing/2014/main" id="{034692D6-33FA-4224-BC94-AEBDF0ACEF64}"/>
              </a:ext>
            </a:extLst>
          </p:cNvPr>
          <p:cNvSpPr/>
          <p:nvPr/>
        </p:nvSpPr>
        <p:spPr>
          <a:xfrm>
            <a:off x="10515600" y="6775554"/>
            <a:ext cx="1896343" cy="520700"/>
          </a:xfrm>
          <a:prstGeom prst="rightArrow">
            <a:avLst/>
          </a:prstGeom>
          <a:solidFill>
            <a:srgbClr val="FEA349">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dirty="0"/>
          </a:p>
        </p:txBody>
      </p:sp>
      <p:sp>
        <p:nvSpPr>
          <p:cNvPr id="69" name="矢印: 右 68">
            <a:extLst>
              <a:ext uri="{FF2B5EF4-FFF2-40B4-BE49-F238E27FC236}">
                <a16:creationId xmlns:a16="http://schemas.microsoft.com/office/drawing/2014/main" id="{EAC33907-6CA1-4E71-B9D5-716E2E981F75}"/>
              </a:ext>
            </a:extLst>
          </p:cNvPr>
          <p:cNvSpPr/>
          <p:nvPr/>
        </p:nvSpPr>
        <p:spPr>
          <a:xfrm>
            <a:off x="10558779" y="7429500"/>
            <a:ext cx="2381887" cy="520700"/>
          </a:xfrm>
          <a:prstGeom prst="rightArrow">
            <a:avLst/>
          </a:prstGeom>
          <a:solidFill>
            <a:srgbClr val="FF9E3D">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70" name="矢印: 右 69">
            <a:extLst>
              <a:ext uri="{FF2B5EF4-FFF2-40B4-BE49-F238E27FC236}">
                <a16:creationId xmlns:a16="http://schemas.microsoft.com/office/drawing/2014/main" id="{E72717AE-64DA-45FB-BB23-5FE9D2D1929D}"/>
              </a:ext>
            </a:extLst>
          </p:cNvPr>
          <p:cNvSpPr/>
          <p:nvPr/>
        </p:nvSpPr>
        <p:spPr>
          <a:xfrm>
            <a:off x="13258800" y="8039100"/>
            <a:ext cx="701675" cy="520700"/>
          </a:xfrm>
          <a:prstGeom prst="rightArrow">
            <a:avLst/>
          </a:prstGeom>
          <a:solidFill>
            <a:srgbClr val="FF9E3D">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71" name="矢印: 右 70">
            <a:extLst>
              <a:ext uri="{FF2B5EF4-FFF2-40B4-BE49-F238E27FC236}">
                <a16:creationId xmlns:a16="http://schemas.microsoft.com/office/drawing/2014/main" id="{73B7A278-A94A-4AF4-AC8E-F2A1B5321EB6}"/>
              </a:ext>
            </a:extLst>
          </p:cNvPr>
          <p:cNvSpPr/>
          <p:nvPr/>
        </p:nvSpPr>
        <p:spPr>
          <a:xfrm>
            <a:off x="13960474" y="8608060"/>
            <a:ext cx="2346325" cy="520700"/>
          </a:xfrm>
          <a:prstGeom prst="rightArrow">
            <a:avLst/>
          </a:prstGeom>
          <a:solidFill>
            <a:srgbClr val="FF9E3D">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3" name="TextBox 24">
            <a:extLst>
              <a:ext uri="{FF2B5EF4-FFF2-40B4-BE49-F238E27FC236}">
                <a16:creationId xmlns:a16="http://schemas.microsoft.com/office/drawing/2014/main" id="{2A01B58C-24A4-65F3-D0FA-817BFF85E8E3}"/>
              </a:ext>
            </a:extLst>
          </p:cNvPr>
          <p:cNvSpPr txBox="1"/>
          <p:nvPr/>
        </p:nvSpPr>
        <p:spPr>
          <a:xfrm>
            <a:off x="1806795" y="305043"/>
            <a:ext cx="9652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rPr>
              <a:t>4. </a:t>
            </a:r>
            <a:r>
              <a:rPr lang="ja-JP" altLang="en-US" sz="3000" b="1" dirty="0">
                <a:solidFill>
                  <a:srgbClr val="202020"/>
                </a:solidFill>
                <a:latin typeface="Yu Gothic"/>
                <a:ea typeface="Yu Gothic"/>
              </a:rPr>
              <a:t>後期の研究計画</a:t>
            </a:r>
          </a:p>
        </p:txBody>
      </p:sp>
      <p:sp>
        <p:nvSpPr>
          <p:cNvPr id="4" name="テキスト ボックス 3">
            <a:extLst>
              <a:ext uri="{FF2B5EF4-FFF2-40B4-BE49-F238E27FC236}">
                <a16:creationId xmlns:a16="http://schemas.microsoft.com/office/drawing/2014/main" id="{095A5FCC-5388-65C1-12BE-4C017000DFAF}"/>
              </a:ext>
            </a:extLst>
          </p:cNvPr>
          <p:cNvSpPr txBox="1"/>
          <p:nvPr/>
        </p:nvSpPr>
        <p:spPr>
          <a:xfrm>
            <a:off x="10468185" y="3480383"/>
            <a:ext cx="1400386" cy="1003300"/>
          </a:xfrm>
          <a:prstGeom prst="rect">
            <a:avLst/>
          </a:prstGeom>
          <a:noFill/>
          <a:ln>
            <a:noFill/>
          </a:ln>
        </p:spPr>
        <p:txBody>
          <a:bodyPr vertOverflow="overflow" vert="horz" wrap="square" rtlCol="0" anchor="ctr" anchorCtr="0">
            <a:noAutofit/>
          </a:bodyPr>
          <a:lstStyle/>
          <a:p>
            <a:r>
              <a:rPr lang="ja-JP" altLang="en-US" sz="2800" b="1" dirty="0">
                <a:latin typeface="游ゴシック" panose="020B0400000000000000" pitchFamily="50" charset="-128"/>
                <a:ea typeface="游ゴシック" panose="020B0400000000000000" pitchFamily="50" charset="-128"/>
              </a:rPr>
              <a:t>完了</a:t>
            </a:r>
            <a:endParaRPr lang="ja-JP" altLang="en-US" sz="2800" b="1" dirty="0">
              <a:solidFill>
                <a:srgbClr val="222222"/>
              </a:solidFill>
              <a:latin typeface="游ゴシック" panose="020B0400000000000000" pitchFamily="50" charset="-128"/>
              <a:ea typeface="游ゴシック" panose="020B0400000000000000" pitchFamily="50" charset="-128"/>
            </a:endParaRPr>
          </a:p>
        </p:txBody>
      </p:sp>
      <p:sp>
        <p:nvSpPr>
          <p:cNvPr id="6" name="テキスト ボックス 5">
            <a:extLst>
              <a:ext uri="{FF2B5EF4-FFF2-40B4-BE49-F238E27FC236}">
                <a16:creationId xmlns:a16="http://schemas.microsoft.com/office/drawing/2014/main" id="{B5411C9D-E9FD-84BD-1353-69D239F0FB69}"/>
              </a:ext>
            </a:extLst>
          </p:cNvPr>
          <p:cNvSpPr txBox="1"/>
          <p:nvPr/>
        </p:nvSpPr>
        <p:spPr>
          <a:xfrm>
            <a:off x="12423880" y="6534254"/>
            <a:ext cx="1400386" cy="1003300"/>
          </a:xfrm>
          <a:prstGeom prst="rect">
            <a:avLst/>
          </a:prstGeom>
          <a:noFill/>
          <a:ln>
            <a:noFill/>
          </a:ln>
        </p:spPr>
        <p:txBody>
          <a:bodyPr vertOverflow="overflow" vert="horz" wrap="square" rtlCol="0" anchor="ctr" anchorCtr="0">
            <a:noAutofit/>
          </a:bodyPr>
          <a:lstStyle/>
          <a:p>
            <a:r>
              <a:rPr lang="ja-JP" altLang="en-US" sz="2800" b="1" dirty="0">
                <a:latin typeface="游ゴシック" panose="020B0400000000000000" pitchFamily="50" charset="-128"/>
                <a:ea typeface="游ゴシック" panose="020B0400000000000000" pitchFamily="50" charset="-128"/>
              </a:rPr>
              <a:t>検証中</a:t>
            </a:r>
            <a:endParaRPr lang="ja-JP" altLang="en-US" sz="2800" b="1" dirty="0">
              <a:solidFill>
                <a:srgbClr val="222222"/>
              </a:solidFill>
              <a:latin typeface="游ゴシック" panose="020B0400000000000000" pitchFamily="50" charset="-128"/>
              <a:ea typeface="游ゴシック" panose="020B0400000000000000" pitchFamily="50" charset="-128"/>
            </a:endParaRPr>
          </a:p>
        </p:txBody>
      </p:sp>
      <p:sp>
        <p:nvSpPr>
          <p:cNvPr id="5" name="テキスト ボックス 4">
            <a:extLst>
              <a:ext uri="{FF2B5EF4-FFF2-40B4-BE49-F238E27FC236}">
                <a16:creationId xmlns:a16="http://schemas.microsoft.com/office/drawing/2014/main" id="{402DEB58-EC74-B96F-7BF8-3E7A93C5B670}"/>
              </a:ext>
            </a:extLst>
          </p:cNvPr>
          <p:cNvSpPr txBox="1"/>
          <p:nvPr/>
        </p:nvSpPr>
        <p:spPr>
          <a:xfrm>
            <a:off x="10973716" y="4124960"/>
            <a:ext cx="1400386" cy="1003300"/>
          </a:xfrm>
          <a:prstGeom prst="rect">
            <a:avLst/>
          </a:prstGeom>
          <a:noFill/>
          <a:ln>
            <a:noFill/>
          </a:ln>
        </p:spPr>
        <p:txBody>
          <a:bodyPr vertOverflow="overflow" vert="horz" wrap="square" rtlCol="0" anchor="ctr" anchorCtr="0">
            <a:noAutofit/>
          </a:bodyPr>
          <a:lstStyle/>
          <a:p>
            <a:r>
              <a:rPr lang="ja-JP" altLang="en-US" sz="2800" b="1" dirty="0">
                <a:latin typeface="游ゴシック" panose="020B0400000000000000" pitchFamily="50" charset="-128"/>
                <a:ea typeface="游ゴシック" panose="020B0400000000000000" pitchFamily="50" charset="-128"/>
              </a:rPr>
              <a:t>完了</a:t>
            </a:r>
            <a:endParaRPr lang="ja-JP" altLang="en-US" sz="2800" b="1" dirty="0">
              <a:solidFill>
                <a:srgbClr val="222222"/>
              </a:solidFill>
              <a:latin typeface="游ゴシック" panose="020B0400000000000000" pitchFamily="50" charset="-128"/>
              <a:ea typeface="游ゴシック" panose="020B0400000000000000" pitchFamily="50" charset="-128"/>
            </a:endParaRPr>
          </a:p>
        </p:txBody>
      </p:sp>
      <p:sp>
        <p:nvSpPr>
          <p:cNvPr id="8" name="テキスト ボックス 7">
            <a:extLst>
              <a:ext uri="{FF2B5EF4-FFF2-40B4-BE49-F238E27FC236}">
                <a16:creationId xmlns:a16="http://schemas.microsoft.com/office/drawing/2014/main" id="{76799F26-C4E0-AAF5-6F94-1B7F85623918}"/>
              </a:ext>
            </a:extLst>
          </p:cNvPr>
          <p:cNvSpPr txBox="1"/>
          <p:nvPr/>
        </p:nvSpPr>
        <p:spPr>
          <a:xfrm>
            <a:off x="11682518" y="4722547"/>
            <a:ext cx="1400386" cy="1003300"/>
          </a:xfrm>
          <a:prstGeom prst="rect">
            <a:avLst/>
          </a:prstGeom>
          <a:noFill/>
          <a:ln>
            <a:noFill/>
          </a:ln>
        </p:spPr>
        <p:txBody>
          <a:bodyPr vertOverflow="overflow" vert="horz" wrap="square" rtlCol="0" anchor="ctr" anchorCtr="0">
            <a:noAutofit/>
          </a:bodyPr>
          <a:lstStyle/>
          <a:p>
            <a:r>
              <a:rPr lang="ja-JP" altLang="en-US" sz="2800" b="1" dirty="0">
                <a:solidFill>
                  <a:srgbClr val="222222"/>
                </a:solidFill>
                <a:latin typeface="游ゴシック" panose="020B0400000000000000" pitchFamily="50" charset="-128"/>
                <a:ea typeface="游ゴシック" panose="020B0400000000000000" pitchFamily="50" charset="-128"/>
              </a:rPr>
              <a:t>検証中</a:t>
            </a:r>
          </a:p>
        </p:txBody>
      </p:sp>
    </p:spTree>
    <p:extLst>
      <p:ext uri="{BB962C8B-B14F-4D97-AF65-F5344CB8AC3E}">
        <p14:creationId xmlns:p14="http://schemas.microsoft.com/office/powerpoint/2010/main" val="29525020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1482E6">
            <a:alpha val="94000"/>
          </a:srgbClr>
        </a:solidFill>
      </a:spPr>
      <a:bodyPr rtlCol="0" anchor="ctr"/>
      <a:lstStyle>
        <a:defPPr algn="ctr">
          <a:defRPr kumimoji="1"/>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 dockstate="right" visibility="0" width="525"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E5D7A1B7-69B7-4925-99B8-A306950AE00F}">
  <we:reference id="wa200010001" version="1.0.0.1" store="ja-JP" storeType="OMEX"/>
  <we:alternateReferences>
    <we:reference id="WA200010001" version="1.0.0.1" store="WA200010001" storeType="OMEX"/>
  </we:alternateReferences>
  <we:properties>
    <we:property name="claude.fileId" value="&quot;47c20542-9aa0-420f-8b84-a53bce3b6a32&quot;"/>
  </we:properties>
  <we:bindings/>
  <we:snapshot xmlns:r="http://schemas.openxmlformats.org/officeDocument/2006/relationships"/>
</we:webextension>
</file>

<file path=ppt/webextensions/webextension2.xml><?xml version="1.0" encoding="utf-8"?>
<we:webextension xmlns:we="http://schemas.microsoft.com/office/webextensions/webextension/2010/11" id="{C1E0504D-397B-4E0E-9870-3BF79C012794}">
  <we:reference id="wa200010215" version="2.0.0.1" store="ja-JP" storeType="OMEX"/>
  <we:alternateReferences>
    <we:reference id="WA200010215" version="2.0.0.1" store="WA200010215" storeType="OMEX"/>
  </we:alternateReferences>
  <we:properties>
    <we:property name="bps.codex_control.document_id" value="&quot;923187e9-0861-413e-9a76-03a2dc2aca9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27474</TotalTime>
  <Words>1151</Words>
  <Application>Microsoft Office PowerPoint</Application>
  <PresentationFormat>ユーザー設定</PresentationFormat>
  <Paragraphs>199</Paragraphs>
  <Slides>14</Slides>
  <Notes>10</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14</vt:i4>
      </vt:variant>
    </vt:vector>
  </HeadingPairs>
  <TitlesOfParts>
    <vt:vector size="24" baseType="lpstr">
      <vt:lpstr>Source Han Sans JP Bold</vt:lpstr>
      <vt:lpstr>游ゴシック</vt:lpstr>
      <vt:lpstr>Wingdings</vt:lpstr>
      <vt:lpstr>Calibri</vt:lpstr>
      <vt:lpstr>游ゴシック</vt:lpstr>
      <vt:lpstr>Arial</vt:lpstr>
      <vt:lpstr>Source Han Sans JP</vt:lpstr>
      <vt:lpstr>Century Gothic Paneuropean</vt:lpstr>
      <vt:lpstr>ＭＳ Ｐゴシック</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研究進捗 2026年10月16日：図差し替え用11枚</dc:title>
  <dc:subject>本人の再検討案を基にした編集用スライド。実験グラフは挿入枠。</dc:subject>
  <dc:creator>柴崎陸</dc:creator>
  <cp:keywords>研究進捗, アンサンブル, ONB, 編集用, 2026-10-16</cp:keywords>
  <dc:description>添付PPTXの表紙・大学装飾を保持。グラフは後挿入。原ファイル未変更。</dc:description>
  <cp:lastModifiedBy>陸 柴崎</cp:lastModifiedBy>
  <cp:revision>341</cp:revision>
  <dcterms:created xsi:type="dcterms:W3CDTF">2006-08-16T00:00:00Z</dcterms:created>
  <dcterms:modified xsi:type="dcterms:W3CDTF">2026-10-16T06:10:17Z</dcterms:modified>
  <dc:identifier>DAGKJCfN4aw</dc:identifier>
</cp:coreProperties>
</file>