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0"/>
  </p:notesMasterIdLst>
  <p:sldIdLst>
    <p:sldId id="399" r:id="rId2"/>
    <p:sldId id="400" r:id="rId9"/>
    <p:sldId id="401" r:id="rId8"/>
    <p:sldId id="402" r:id="rId7"/>
    <p:sldId id="403" r:id="rId6"/>
    <p:sldId id="404" r:id="rId5"/>
    <p:sldId id="405" r:id="rId4"/>
    <p:sldId id="406" r:id="rId3"/>
    <p:sldId id="407" r:id="rId21"/>
    <p:sldId id="408" r:id="rId22"/>
    <p:sldId id="409" r:id="rId23"/>
  </p:sldIdLst>
  <p:sldSz cx="18288000" cy="10287000"/>
  <p:notesSz cx="6858000" cy="9144000"/>
  <p:embeddedFontLst>
    <p:embeddedFont>
      <p:font typeface="Source Han Sans JP" panose="020B0600070205080204" charset="-128"/>
      <p:regular r:id="rId11"/>
    </p:embeddedFont>
    <p:embeddedFont>
      <p:font typeface="Source Han Sans JP Bold" panose="020B0600070205080204" charset="-128"/>
      <p:regular r:id="rId12"/>
    </p:embeddedFont>
    <p:embeddedFont>
      <p:font typeface="Century Gothic Paneuropean" panose="020B0600070205080204" charset="0"/>
      <p:regular r:id="rId13"/>
    </p:embeddedFont>
    <p:embeddedFont>
      <p:font typeface="游ゴシック" panose="020B0400000000000000" pitchFamily="50" charset="-128"/>
      <p:regular r:id="rId14"/>
      <p:bold r:id="rId15"/>
    </p:embeddedFont>
    <p:embeddedFont>
      <p:font typeface="游ゴシック" panose="020B0400000000000000" pitchFamily="50" charset="-128"/>
      <p:regular r:id="rId14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2026/10/14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424222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496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292B2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2026年10月16日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538384"/>
            <a:ext cx="13854732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66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研究進捗</a:t>
            </a:r>
            <a:endParaRPr lang="en-US" sz="66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84267653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8255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</a:pPr>
            <a:r>
              <a:rPr sz="3000" b="1">
                <a:solidFill>
                  <a:srgbClr val="202020"/>
                </a:solidFill>
                <a:latin typeface="Yu Gothic"/>
              </a:rPr>
              <a:t>今回の発表内容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7244F5-E118-40AC-BF88-DDF28BFD2529}"/>
              </a:ext>
            </a:extLst>
          </p:cNvPr>
          <p:cNvSpPr txBox="1"/>
          <p:nvPr/>
        </p:nvSpPr>
        <p:spPr>
          <a:xfrm>
            <a:off x="3708400" y="4457700"/>
            <a:ext cx="1143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sz="4000" b="0">
                <a:solidFill>
                  <a:srgbClr val="202020"/>
                </a:solidFill>
                <a:latin typeface="Yu Gothic"/>
              </a:rPr>
              <a:t>01</a:t>
            </a:r>
          </a:p>
          <a:p>
            <a:pPr algn="l"/>
            <a:r>
              <a:rPr sz="4000" b="0">
                <a:solidFill>
                  <a:srgbClr val="202020"/>
                </a:solidFill>
                <a:latin typeface="Yu Gothic"/>
              </a:rPr>
              <a:t>02</a:t>
            </a:r>
          </a:p>
          <a:p>
            <a:pPr algn="l"/>
            <a:r>
              <a:rPr sz="4000" b="0">
                <a:solidFill>
                  <a:srgbClr val="202020"/>
                </a:solidFill>
                <a:latin typeface="Yu Gothic"/>
              </a:rPr>
              <a:t>03</a:t>
            </a:r>
          </a:p>
          <a:p>
            <a:pPr algn="l"/>
            <a:r>
              <a:rPr sz="4000" b="0">
                <a:solidFill>
                  <a:srgbClr val="202020"/>
                </a:solidFill>
                <a:latin typeface="Yu Gothic"/>
              </a:rPr>
              <a:t>04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89934-D289-4A29-82F5-A8B268DA4E80}"/>
              </a:ext>
            </a:extLst>
          </p:cNvPr>
          <p:cNvSpPr txBox="1"/>
          <p:nvPr/>
        </p:nvSpPr>
        <p:spPr>
          <a:xfrm>
            <a:off x="5105400" y="4457700"/>
            <a:ext cx="10795000" cy="297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sz="3600" b="1">
                <a:solidFill>
                  <a:srgbClr val="202020"/>
                </a:solidFill>
                <a:latin typeface="Yu Gothic"/>
              </a:rPr>
              <a:t>研究概要と雑音評価方法</a:t>
            </a:r>
          </a:p>
          <a:p>
            <a:pPr algn="l"/>
            <a:r>
              <a:rPr sz="3600" b="1">
                <a:solidFill>
                  <a:srgbClr val="202020"/>
                </a:solidFill>
                <a:latin typeface="Yu Gothic"/>
              </a:rPr>
              <a:t>熱流束回帰と沸騰開始判定</a:t>
            </a:r>
          </a:p>
          <a:p>
            <a:pPr algn="l"/>
            <a:r>
              <a:rPr sz="3600" b="1">
                <a:solidFill>
                  <a:srgbClr val="202020"/>
                </a:solidFill>
                <a:latin typeface="Yu Gothic"/>
              </a:rPr>
              <a:t>統合の働きと説明性</a:t>
            </a:r>
          </a:p>
          <a:p>
            <a:pPr algn="l"/>
            <a:r>
              <a:rPr sz="3600" b="1">
                <a:solidFill>
                  <a:srgbClr val="202020"/>
                </a:solidFill>
                <a:latin typeface="Yu Gothic"/>
              </a:rPr>
              <a:t>修士論文の構成と後期計画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研究の概要と今回の問い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音響から熱流束・核沸騰開始（ONB）を推定し，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複数モデルを組み合わせる効果を雑音下で調べる</a:t>
            </a:r>
          </a:p>
        </p:txBody>
      </p:sp>
      <p:sp>
        <p:nvSpPr>
          <p:cNvPr id="20" name="PIPELINE_1"/>
          <p:cNvSpPr/>
          <p:nvPr/>
        </p:nvSpPr>
        <p:spPr>
          <a:xfrm>
            <a:off x="1512000" y="3690000"/>
            <a:ext cx="2628000" cy="2232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IPELINE_1_TITLE"/>
          <p:cNvSpPr txBox="1"/>
          <p:nvPr/>
        </p:nvSpPr>
        <p:spPr>
          <a:xfrm>
            <a:off x="1576800" y="4050000"/>
            <a:ext cx="2498400" cy="72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音響録音</a:t>
            </a:r>
          </a:p>
        </p:txBody>
      </p:sp>
      <p:sp>
        <p:nvSpPr>
          <p:cNvPr id="22" name="PIPELINE_1_BODY"/>
          <p:cNvSpPr txBox="1"/>
          <p:nvPr/>
        </p:nvSpPr>
        <p:spPr>
          <a:xfrm>
            <a:off x="1566000" y="5040000"/>
            <a:ext cx="2520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1秒区間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94000" y="4554000"/>
            <a:ext cx="251999" cy="306000"/>
          </a:xfrm>
          <a:prstGeom prst="right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IPELINE_2"/>
          <p:cNvSpPr/>
          <p:nvPr/>
        </p:nvSpPr>
        <p:spPr>
          <a:xfrm>
            <a:off x="4500000" y="3690000"/>
            <a:ext cx="3096000" cy="2232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IPELINE_2_TITLE"/>
          <p:cNvSpPr txBox="1"/>
          <p:nvPr/>
        </p:nvSpPr>
        <p:spPr>
          <a:xfrm>
            <a:off x="4564800" y="4050000"/>
            <a:ext cx="2966400" cy="72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スペクトログラム</a:t>
            </a:r>
          </a:p>
        </p:txBody>
      </p:sp>
      <p:sp>
        <p:nvSpPr>
          <p:cNvPr id="26" name="PIPELINE_2_BODY"/>
          <p:cNvSpPr txBox="1"/>
          <p:nvPr/>
        </p:nvSpPr>
        <p:spPr>
          <a:xfrm>
            <a:off x="4554000" y="5040000"/>
            <a:ext cx="2987999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202427"/>
                </a:solidFill>
                <a:latin typeface="Yu Gothic"/>
              </a:rPr>
              <a:t>画像・周波数別の特徴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50000" y="4554000"/>
            <a:ext cx="251999" cy="306000"/>
          </a:xfrm>
          <a:prstGeom prst="right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IPELINE_3"/>
          <p:cNvSpPr/>
          <p:nvPr/>
        </p:nvSpPr>
        <p:spPr>
          <a:xfrm>
            <a:off x="7956000" y="3690000"/>
            <a:ext cx="3420000" cy="2232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IPELINE_3_TITLE"/>
          <p:cNvSpPr txBox="1"/>
          <p:nvPr/>
        </p:nvSpPr>
        <p:spPr>
          <a:xfrm>
            <a:off x="8020800" y="4050000"/>
            <a:ext cx="3290400" cy="72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6F73"/>
                </a:solidFill>
                <a:latin typeface="Yu Gothic"/>
              </a:rPr>
              <a:t>複数モデル</a:t>
            </a:r>
          </a:p>
        </p:txBody>
      </p:sp>
      <p:sp>
        <p:nvSpPr>
          <p:cNvPr id="30" name="PIPELINE_3_BODY"/>
          <p:cNvSpPr txBox="1"/>
          <p:nvPr/>
        </p:nvSpPr>
        <p:spPr>
          <a:xfrm>
            <a:off x="8010000" y="5040000"/>
            <a:ext cx="3311999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202427"/>
                </a:solidFill>
                <a:latin typeface="Yu Gothic"/>
              </a:rPr>
              <a:t>予測を重み付き平均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1430000" y="4554000"/>
            <a:ext cx="251999" cy="306000"/>
          </a:xfrm>
          <a:prstGeom prst="right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IPELINE_4"/>
          <p:cNvSpPr/>
          <p:nvPr/>
        </p:nvSpPr>
        <p:spPr>
          <a:xfrm>
            <a:off x="11736000" y="3690000"/>
            <a:ext cx="2520000" cy="2232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IPELINE_4_TITLE"/>
          <p:cNvSpPr txBox="1"/>
          <p:nvPr/>
        </p:nvSpPr>
        <p:spPr>
          <a:xfrm>
            <a:off x="11800800" y="4050000"/>
            <a:ext cx="2390400" cy="72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熱流束</a:t>
            </a:r>
          </a:p>
        </p:txBody>
      </p:sp>
      <p:sp>
        <p:nvSpPr>
          <p:cNvPr id="34" name="PIPELINE_4_BODY"/>
          <p:cNvSpPr txBox="1"/>
          <p:nvPr/>
        </p:nvSpPr>
        <p:spPr>
          <a:xfrm>
            <a:off x="11790000" y="5040000"/>
            <a:ext cx="2412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の予測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4310000" y="4554000"/>
            <a:ext cx="251999" cy="306000"/>
          </a:xfrm>
          <a:prstGeom prst="right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IPELINE_5"/>
          <p:cNvSpPr/>
          <p:nvPr/>
        </p:nvSpPr>
        <p:spPr>
          <a:xfrm>
            <a:off x="14616000" y="3690000"/>
            <a:ext cx="2592000" cy="2232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IPELINE_5_TITLE"/>
          <p:cNvSpPr txBox="1"/>
          <p:nvPr/>
        </p:nvSpPr>
        <p:spPr>
          <a:xfrm>
            <a:off x="14680800" y="4050000"/>
            <a:ext cx="2462400" cy="72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6F73"/>
                </a:solidFill>
                <a:latin typeface="Yu Gothic"/>
              </a:rPr>
              <a:t>核沸騰開始</a:t>
            </a:r>
          </a:p>
        </p:txBody>
      </p:sp>
      <p:sp>
        <p:nvSpPr>
          <p:cNvPr id="38" name="PIPELINE_5_BODY"/>
          <p:cNvSpPr txBox="1"/>
          <p:nvPr/>
        </p:nvSpPr>
        <p:spPr>
          <a:xfrm>
            <a:off x="14670000" y="5040000"/>
            <a:ext cx="2484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202427"/>
                </a:solidFill>
                <a:latin typeface="Yu Gothic"/>
              </a:rPr>
              <a:t>（ONB）判定</a:t>
            </a:r>
          </a:p>
        </p:txBody>
      </p:sp>
      <p:sp>
        <p:nvSpPr>
          <p:cNvPr id="39" name="EVALUATION_TITLE"/>
          <p:cNvSpPr txBox="1"/>
          <p:nvPr/>
        </p:nvSpPr>
        <p:spPr>
          <a:xfrm>
            <a:off x="1602000" y="7002000"/>
            <a:ext cx="4320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確認する点</a:t>
            </a:r>
          </a:p>
        </p:txBody>
      </p:sp>
      <p:sp>
        <p:nvSpPr>
          <p:cNvPr id="40" name="EVALUATION_BODY"/>
          <p:cNvSpPr txBox="1"/>
          <p:nvPr/>
        </p:nvSpPr>
        <p:spPr>
          <a:xfrm>
            <a:off x="1602000" y="7686000"/>
            <a:ext cx="15732000" cy="63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202427"/>
                </a:solidFill>
                <a:latin typeface="Yu Gothic"/>
              </a:rPr>
              <a:t>予測誤差 ／ 見逃し・誤報 ／ 各モデルが利用する特徴と誤り方</a:t>
            </a:r>
          </a:p>
        </p:txBody>
      </p:sp>
      <p:sp>
        <p:nvSpPr>
          <p:cNvPr id="41" name="QUESTION_background"/>
          <p:cNvSpPr/>
          <p:nvPr/>
        </p:nvSpPr>
        <p:spPr>
          <a:xfrm>
            <a:off x="1512000" y="8640000"/>
            <a:ext cx="15912000" cy="648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QUESTION"/>
          <p:cNvSpPr txBox="1"/>
          <p:nvPr/>
        </p:nvSpPr>
        <p:spPr>
          <a:xfrm>
            <a:off x="1620000" y="8658000"/>
            <a:ext cx="15696000" cy="61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F6F73"/>
                </a:solidFill>
                <a:latin typeface="Yu Gothic"/>
              </a:rPr>
              <a:t>どの性能が改善し，どの条件では改善しないかを明らかにする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1. 雑音評価方法の見直し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旧雑音生成を修正し，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同じ学習済みモデルに雑音を加えて影響を調べる</a:t>
            </a:r>
          </a:p>
        </p:txBody>
      </p:sp>
      <p:sp>
        <p:nvSpPr>
          <p:cNvPr id="21" name="LEFT_TITLE"/>
          <p:cNvSpPr txBox="1"/>
          <p:nvPr/>
        </p:nvSpPr>
        <p:spPr>
          <a:xfrm>
            <a:off x="1512000" y="2754000"/>
            <a:ext cx="8568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F6F73"/>
                </a:solidFill>
                <a:latin typeface="Yu Gothic"/>
              </a:rPr>
              <a:t>旧方式に含まれていた問題</a:t>
            </a:r>
          </a:p>
        </p:txBody>
      </p:sp>
      <p:sp>
        <p:nvSpPr>
          <p:cNvPr id="22" name="FIG_04_DIAGNOSIS"/>
          <p:cNvSpPr/>
          <p:nvPr/>
        </p:nvSpPr>
        <p:spPr>
          <a:xfrm>
            <a:off x="1512000" y="3258000"/>
            <a:ext cx="8568000" cy="4176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IG_04_DIAGNOSIS_label"/>
          <p:cNvSpPr txBox="1"/>
          <p:nvPr/>
        </p:nvSpPr>
        <p:spPr>
          <a:xfrm>
            <a:off x="1656000" y="4552560"/>
            <a:ext cx="8280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97477"/>
                </a:solidFill>
                <a:latin typeface="Yu Gothic"/>
              </a:rPr>
              <a:t>旧方式の診断結果の図を挿入</a:t>
            </a:r>
          </a:p>
        </p:txBody>
      </p:sp>
      <p:sp>
        <p:nvSpPr>
          <p:cNvPr id="26" name="LEFT_TAKEAWAY"/>
          <p:cNvSpPr txBox="1"/>
          <p:nvPr/>
        </p:nvSpPr>
        <p:spPr>
          <a:xfrm>
            <a:off x="1512000" y="7560000"/>
            <a:ext cx="8568000" cy="468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02427"/>
                </a:solidFill>
                <a:latin typeface="Yu Gothic"/>
              </a:rPr>
              <a:t>元の音の強さが，付加した雑音の強さにも反映されていた</a:t>
            </a:r>
          </a:p>
        </p:txBody>
      </p:sp>
      <p:sp>
        <p:nvSpPr>
          <p:cNvPr id="27" name="RIGHT_TITLE"/>
          <p:cNvSpPr txBox="1"/>
          <p:nvPr/>
        </p:nvSpPr>
        <p:spPr>
          <a:xfrm>
            <a:off x="10656000" y="2754000"/>
            <a:ext cx="6768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F6F73"/>
                </a:solidFill>
                <a:latin typeface="Yu Gothic"/>
              </a:rPr>
              <a:t>今回の評価方法</a:t>
            </a:r>
          </a:p>
        </p:txBody>
      </p:sp>
      <p:sp>
        <p:nvSpPr>
          <p:cNvPr id="28" name="FIXED_STEP_1"/>
          <p:cNvSpPr/>
          <p:nvPr/>
        </p:nvSpPr>
        <p:spPr>
          <a:xfrm>
            <a:off x="10656000" y="3384000"/>
            <a:ext cx="6768000" cy="108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IXED_STEP_1_TEXT"/>
          <p:cNvSpPr txBox="1"/>
          <p:nvPr/>
        </p:nvSpPr>
        <p:spPr>
          <a:xfrm>
            <a:off x="10746000" y="3420000"/>
            <a:ext cx="6588000" cy="100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02427"/>
                </a:solidFill>
                <a:latin typeface="Yu Gothic"/>
              </a:rPr>
              <a:t>無雑音データだけで学習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3842000" y="4518000"/>
            <a:ext cx="396000" cy="234000"/>
          </a:xfrm>
          <a:prstGeom prst="down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IXED_STEP_2"/>
          <p:cNvSpPr/>
          <p:nvPr/>
        </p:nvSpPr>
        <p:spPr>
          <a:xfrm>
            <a:off x="10656000" y="4824000"/>
            <a:ext cx="6768000" cy="108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IXED_STEP_2_TEXT"/>
          <p:cNvSpPr txBox="1"/>
          <p:nvPr/>
        </p:nvSpPr>
        <p:spPr>
          <a:xfrm>
            <a:off x="10746000" y="4860000"/>
            <a:ext cx="6588000" cy="100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02427"/>
                </a:solidFill>
                <a:latin typeface="Yu Gothic"/>
              </a:rPr>
              <a:t>学習済みモデル・前処理・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02427"/>
                </a:solidFill>
                <a:latin typeface="Yu Gothic"/>
              </a:rPr>
              <a:t>統合比率を固定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13842000" y="5958000"/>
            <a:ext cx="396000" cy="234000"/>
          </a:xfrm>
          <a:prstGeom prst="downArrow">
            <a:avLst/>
          </a:prstGeom>
          <a:solidFill>
            <a:srgbClr val="639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IXED_STEP_3"/>
          <p:cNvSpPr/>
          <p:nvPr/>
        </p:nvSpPr>
        <p:spPr>
          <a:xfrm>
            <a:off x="10656000" y="6263999"/>
            <a:ext cx="6768000" cy="108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IXED_STEP_3_TEXT"/>
          <p:cNvSpPr txBox="1"/>
          <p:nvPr/>
        </p:nvSpPr>
        <p:spPr>
          <a:xfrm>
            <a:off x="10746000" y="6300000"/>
            <a:ext cx="6588000" cy="100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02427"/>
                </a:solidFill>
                <a:latin typeface="Yu Gothic"/>
              </a:rPr>
              <a:t>同じ評価データに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02427"/>
                </a:solidFill>
                <a:latin typeface="Yu Gothic"/>
              </a:rPr>
              <a:t>6段階の雑音を付加</a:t>
            </a:r>
          </a:p>
        </p:txBody>
      </p:sp>
      <p:sp>
        <p:nvSpPr>
          <p:cNvPr id="36" name="MATCHED_CAVEAT_background"/>
          <p:cNvSpPr/>
          <p:nvPr/>
        </p:nvSpPr>
        <p:spPr>
          <a:xfrm>
            <a:off x="1512000" y="8406000"/>
            <a:ext cx="15912000" cy="792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ATCHED_CAVEAT"/>
          <p:cNvSpPr txBox="1"/>
          <p:nvPr/>
        </p:nvSpPr>
        <p:spPr>
          <a:xfrm>
            <a:off x="1620000" y="8424000"/>
            <a:ext cx="15696000" cy="756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6F73"/>
                </a:solidFill>
                <a:latin typeface="Yu Gothic"/>
              </a:rPr>
              <a:t>各雑音条件で学習し直す評価では一部の精度回復が残ったため，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6F73"/>
                </a:solidFill>
                <a:latin typeface="Yu Gothic"/>
              </a:rPr>
              <a:t>今回は同じモデルを固定して比較する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02427"/>
                </a:solidFill>
                <a:latin typeface="Yu Gothic"/>
              </a:rPr>
              <a:t>1. 現在の評価条件とモデル構成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同じ録音の未使用区間で，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3モデル・2種類の4モデル・5モデル構成を比較する</a:t>
            </a:r>
          </a:p>
        </p:txBody>
      </p:sp>
      <p:sp>
        <p:nvSpPr>
          <p:cNvPr id="21" name="SPLIT_PANEL"/>
          <p:cNvSpPr/>
          <p:nvPr/>
        </p:nvSpPr>
        <p:spPr>
          <a:xfrm>
            <a:off x="1512000" y="3078000"/>
            <a:ext cx="7380000" cy="5148000"/>
          </a:xfrm>
          <a:prstGeom prst="rect">
            <a:avLst/>
          </a:prstGeom>
          <a:solidFill>
            <a:srgbClr val="F8FAFA"/>
          </a:solidFill>
          <a:ln w="17780">
            <a:solidFill>
              <a:srgbClr val="CDD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PLIT_TITLE"/>
          <p:cNvSpPr txBox="1"/>
          <p:nvPr/>
        </p:nvSpPr>
        <p:spPr>
          <a:xfrm>
            <a:off x="1728000" y="3276000"/>
            <a:ext cx="6948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評価分割</a:t>
            </a:r>
          </a:p>
        </p:txBody>
      </p:sp>
      <p:sp>
        <p:nvSpPr>
          <p:cNvPr id="23" name="SPLIT_RECORD"/>
          <p:cNvSpPr txBox="1"/>
          <p:nvPr/>
        </p:nvSpPr>
        <p:spPr>
          <a:xfrm>
            <a:off x="1728000" y="4014000"/>
            <a:ext cx="6948000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0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1録音＝60区間（各1秒）</a:t>
            </a:r>
          </a:p>
        </p:txBody>
      </p:sp>
      <p:sp>
        <p:nvSpPr>
          <p:cNvPr id="24" name="COUNT_BOX"/>
          <p:cNvSpPr/>
          <p:nvPr/>
        </p:nvSpPr>
        <p:spPr>
          <a:xfrm>
            <a:off x="1782000" y="4788000"/>
            <a:ext cx="3168000" cy="1548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OUNT_LABEL"/>
          <p:cNvSpPr txBox="1"/>
          <p:nvPr/>
        </p:nvSpPr>
        <p:spPr>
          <a:xfrm>
            <a:off x="1854000" y="4932000"/>
            <a:ext cx="3024000" cy="126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学習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45区間</a:t>
            </a:r>
          </a:p>
        </p:txBody>
      </p:sp>
      <p:sp>
        <p:nvSpPr>
          <p:cNvPr id="26" name="COUNT_BOX"/>
          <p:cNvSpPr/>
          <p:nvPr/>
        </p:nvSpPr>
        <p:spPr>
          <a:xfrm>
            <a:off x="5382000" y="4788000"/>
            <a:ext cx="3168000" cy="1548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UNT_LABEL"/>
          <p:cNvSpPr txBox="1"/>
          <p:nvPr/>
        </p:nvSpPr>
        <p:spPr>
          <a:xfrm>
            <a:off x="5453999" y="4932000"/>
            <a:ext cx="3024000" cy="126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評価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15区間</a:t>
            </a:r>
          </a:p>
        </p:txBody>
      </p:sp>
      <p:sp>
        <p:nvSpPr>
          <p:cNvPr id="28" name="SPLIT_NOT_TIME"/>
          <p:cNvSpPr txBox="1"/>
          <p:nvPr/>
        </p:nvSpPr>
        <p:spPr>
          <a:xfrm>
            <a:off x="1728000" y="6552000"/>
            <a:ext cx="6948000" cy="486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97477"/>
                </a:solidFill>
                <a:latin typeface="Yu Gothic"/>
              </a:rPr>
              <a:t>各録音から無作為に分割（連続した最後の15秒ではない）</a:t>
            </a:r>
          </a:p>
        </p:txBody>
      </p:sp>
      <p:sp>
        <p:nvSpPr>
          <p:cNvPr id="29" name="SPLIT_TOTAL"/>
          <p:cNvSpPr txBox="1"/>
          <p:nvPr/>
        </p:nvSpPr>
        <p:spPr>
          <a:xfrm>
            <a:off x="1728000" y="7200000"/>
            <a:ext cx="6948000" cy="936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36録音の合計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学習1620 ／ 評価540</a:t>
            </a:r>
          </a:p>
        </p:txBody>
      </p:sp>
      <p:sp>
        <p:nvSpPr>
          <p:cNvPr id="30" name="MODEL_TITLE"/>
          <p:cNvSpPr txBox="1"/>
          <p:nvPr/>
        </p:nvSpPr>
        <p:spPr>
          <a:xfrm>
            <a:off x="9360000" y="3114000"/>
            <a:ext cx="8063999" cy="503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F6F73"/>
                </a:solidFill>
                <a:latin typeface="Yu Gothic"/>
              </a:rPr>
              <a:t>比較したモデル構成</a:t>
            </a:r>
          </a:p>
        </p:txBody>
      </p:sp>
      <p:sp>
        <p:nvSpPr>
          <p:cNvPr id="31" name="ORIGINAL_3"/>
          <p:cNvSpPr/>
          <p:nvPr/>
        </p:nvSpPr>
        <p:spPr>
          <a:xfrm>
            <a:off x="9360000" y="3780000"/>
            <a:ext cx="8063999" cy="153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RIGINAL_3_TEXT"/>
          <p:cNvSpPr txBox="1"/>
          <p:nvPr/>
        </p:nvSpPr>
        <p:spPr>
          <a:xfrm>
            <a:off x="9522000" y="3978000"/>
            <a:ext cx="7740000" cy="115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02427"/>
                </a:solidFill>
                <a:latin typeface="Yu Gothic"/>
              </a:rPr>
              <a:t>3モデル統合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02427"/>
                </a:solidFill>
                <a:latin typeface="Yu Gothic"/>
              </a:rPr>
              <a:t>Random Forest・Conformer・AlexNet</a:t>
            </a:r>
          </a:p>
        </p:txBody>
      </p:sp>
      <p:sp>
        <p:nvSpPr>
          <p:cNvPr id="33" name="4モデル①&#10;元3＋HGB"/>
          <p:cNvSpPr/>
          <p:nvPr/>
        </p:nvSpPr>
        <p:spPr>
          <a:xfrm>
            <a:off x="9360000" y="5760000"/>
            <a:ext cx="3870000" cy="135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4モデル①&#10;元3＋HGB_TEXT"/>
          <p:cNvSpPr txBox="1"/>
          <p:nvPr/>
        </p:nvSpPr>
        <p:spPr>
          <a:xfrm>
            <a:off x="9439200" y="5903999"/>
            <a:ext cx="3708000" cy="106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4モデルA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3モデル＋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HistGradientBoosting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（勾配ブースティング）</a:t>
            </a:r>
          </a:p>
        </p:txBody>
      </p:sp>
      <p:sp>
        <p:nvSpPr>
          <p:cNvPr id="35" name="4モデル②&#10;元3＋ET"/>
          <p:cNvSpPr/>
          <p:nvPr/>
        </p:nvSpPr>
        <p:spPr>
          <a:xfrm>
            <a:off x="13554000" y="5760000"/>
            <a:ext cx="3870000" cy="1350000"/>
          </a:xfrm>
          <a:prstGeom prst="roundRect">
            <a:avLst>
              <a:gd name="adj" fmla="val 12000"/>
            </a:avLst>
          </a:prstGeom>
          <a:solidFill>
            <a:srgbClr val="EDF4F4"/>
          </a:solidFill>
          <a:ln w="17780">
            <a:solidFill>
              <a:srgbClr val="639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4モデル②&#10;元3＋ET_TEXT"/>
          <p:cNvSpPr txBox="1"/>
          <p:nvPr/>
        </p:nvSpPr>
        <p:spPr>
          <a:xfrm>
            <a:off x="13633200" y="5903999"/>
            <a:ext cx="3708000" cy="106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4モデルB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3モデル＋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ExtraTrees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02427"/>
                </a:solidFill>
                <a:latin typeface="Yu Gothic"/>
              </a:rPr>
              <a:t>（ランダム化決定木）</a:t>
            </a:r>
          </a:p>
        </p:txBody>
      </p:sp>
      <p:sp>
        <p:nvSpPr>
          <p:cNvPr id="37" name="FIVE"/>
          <p:cNvSpPr/>
          <p:nvPr/>
        </p:nvSpPr>
        <p:spPr>
          <a:xfrm>
            <a:off x="9360000" y="7560000"/>
            <a:ext cx="8063999" cy="917999"/>
          </a:xfrm>
          <a:prstGeom prst="roundRect">
            <a:avLst>
              <a:gd name="adj" fmla="val 12000"/>
            </a:avLst>
          </a:prstGeom>
          <a:solidFill>
            <a:srgbClr val="2F6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IVE_TEXT"/>
          <p:cNvSpPr txBox="1"/>
          <p:nvPr/>
        </p:nvSpPr>
        <p:spPr>
          <a:xfrm>
            <a:off x="9450000" y="7722000"/>
            <a:ext cx="7883999" cy="59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Yu Gothic"/>
              </a:rPr>
              <a:t>5モデル統合：3モデル＋HistGradientBoosting＋ExtraTrees</a:t>
            </a:r>
          </a:p>
        </p:txBody>
      </p:sp>
      <p:sp>
        <p:nvSpPr>
          <p:cNvPr id="39" name="WEIGHT_RULE"/>
          <p:cNvSpPr txBox="1"/>
          <p:nvPr/>
        </p:nvSpPr>
        <p:spPr>
          <a:xfrm>
            <a:off x="1512000" y="8712000"/>
            <a:ext cx="15912000" cy="558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73"/>
                </a:solidFill>
                <a:latin typeface="Yu Gothic"/>
              </a:rPr>
              <a:t>統合比率は，学習データ内の予測誤差が小さくなるように決定し，評価時は固定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lang="ja-JP">
                <a:solidFill>
                  <a:srgbClr val="202427"/>
                </a:solidFill>
                <a:latin typeface="Yu Gothic"/>
                <a:ea typeface="Yu Gothic"/>
                <a:cs typeface="Yu Gothic"/>
              </a:rPr>
              <a:t>2. 熱流束回帰の結果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5モデル統合は3モデル統合より，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全7条件で全評価区間の予測誤差が小さかった</a:t>
            </a:r>
          </a:p>
        </p:txBody>
      </p:sp>
      <p:sp>
        <p:nvSpPr>
          <p:cNvPr id="21" name="REGRESSION_CHART_TITLE"/>
          <p:cNvSpPr txBox="1"/>
          <p:nvPr/>
        </p:nvSpPr>
        <p:spPr>
          <a:xfrm>
            <a:off x="1512000" y="2754000"/>
            <a:ext cx="9720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F6F73"/>
                </a:solidFill>
                <a:latin typeface="Yu Gothic"/>
              </a:rPr>
              <a:t>雑音の強さごとの予測誤差</a:t>
            </a:r>
          </a:p>
        </p:txBody>
      </p:sp>
      <p:sp>
        <p:nvSpPr>
          <p:cNvPr id="22" name="FIG_06_RMSE"/>
          <p:cNvSpPr/>
          <p:nvPr/>
        </p:nvSpPr>
        <p:spPr>
          <a:xfrm>
            <a:off x="1512000" y="3258000"/>
            <a:ext cx="9720000" cy="4716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IG_06_RMSE_label"/>
          <p:cNvSpPr txBox="1"/>
          <p:nvPr/>
        </p:nvSpPr>
        <p:spPr>
          <a:xfrm>
            <a:off x="1656000" y="4719960"/>
            <a:ext cx="9432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97477"/>
                </a:solidFill>
                <a:latin typeface="Yu Gothic"/>
              </a:rPr>
              <a:t>全7条件の予測誤差を示す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97477"/>
                </a:solidFill>
                <a:latin typeface="Yu Gothic"/>
              </a:rPr>
              <a:t>折れ線グラフを挿入</a:t>
            </a:r>
          </a:p>
        </p:txBody>
      </p:sp>
      <p:sp>
        <p:nvSpPr>
          <p:cNvPr id="26" name="RMSE_TABLE_CAPTION"/>
          <p:cNvSpPr txBox="1"/>
          <p:nvPr/>
        </p:nvSpPr>
        <p:spPr>
          <a:xfrm>
            <a:off x="11700000" y="2754000"/>
            <a:ext cx="5724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F6F73"/>
                </a:solidFill>
                <a:latin typeface="Yu Gothic"/>
              </a:rPr>
              <a:t>予測誤差（RMSE）［kW/m²］</a:t>
            </a:r>
          </a:p>
        </p:txBody>
      </p:sp>
      <p:graphicFrame>
        <p:nvGraphicFramePr>
          <p:cNvPr id="27" name="RMSE_TABLE"/>
          <p:cNvGraphicFramePr>
            <a:graphicFrameLocks noGrp="1"/>
          </p:cNvGraphicFramePr>
          <p:nvPr/>
        </p:nvGraphicFramePr>
        <p:xfrm>
          <a:off x="11700000" y="3276000"/>
          <a:ext cx="5724000" cy="190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8000"/>
                <a:gridCol w="1908000"/>
                <a:gridCol w="1908000"/>
              </a:tblGrid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条件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</a:rPr>
                        <a:t>3モデル統合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</a:rPr>
                        <a:t>5モデル統合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68400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無雑音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34.07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27.80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68400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−20 dB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81.14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75.23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INCREMENT_CAPTION"/>
          <p:cNvSpPr txBox="1"/>
          <p:nvPr/>
        </p:nvSpPr>
        <p:spPr>
          <a:xfrm>
            <a:off x="11700000" y="5580000"/>
            <a:ext cx="5724000" cy="59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F6F73"/>
                </a:solidFill>
                <a:latin typeface="Yu Gothic"/>
              </a:rPr>
              <a:t>無雑音から−20 dBまでの誤差増加</a:t>
            </a:r>
          </a:p>
        </p:txBody>
      </p:sp>
      <p:sp>
        <p:nvSpPr>
          <p:cNvPr id="29" name="INCREMENT_VALUES"/>
          <p:cNvSpPr txBox="1"/>
          <p:nvPr/>
        </p:nvSpPr>
        <p:spPr>
          <a:xfrm>
            <a:off x="11700000" y="6318000"/>
            <a:ext cx="5724000" cy="1206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02427"/>
                </a:solidFill>
                <a:latin typeface="Yu Gothic"/>
              </a:rPr>
              <a:t>3モデル統合：＋47.07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02427"/>
                </a:solidFill>
                <a:latin typeface="Yu Gothic"/>
              </a:rPr>
              <a:t>5モデル統合：＋47.43</a:t>
            </a:r>
          </a:p>
        </p:txBody>
      </p:sp>
      <p:sp>
        <p:nvSpPr>
          <p:cNvPr id="30" name="RANKING_CAVEAT"/>
          <p:cNvSpPr txBox="1"/>
          <p:nvPr/>
        </p:nvSpPr>
        <p:spPr>
          <a:xfrm>
            <a:off x="1512000" y="8208000"/>
            <a:ext cx="15912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202427"/>
                </a:solidFill>
                <a:latin typeface="Yu Gothic"/>
              </a:rPr>
              <a:t>4モデル構成・単体モデルとの順位は雑音条件で異なる</a:t>
            </a:r>
          </a:p>
        </p:txBody>
      </p:sp>
      <p:sp>
        <p:nvSpPr>
          <p:cNvPr id="31" name="ABSOLUTE_VS_DEGRADATION_background"/>
          <p:cNvSpPr/>
          <p:nvPr/>
        </p:nvSpPr>
        <p:spPr>
          <a:xfrm>
            <a:off x="1512000" y="8676000"/>
            <a:ext cx="15912000" cy="648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BSOLUTE_VS_DEGRADATION"/>
          <p:cNvSpPr txBox="1"/>
          <p:nvPr/>
        </p:nvSpPr>
        <p:spPr>
          <a:xfrm>
            <a:off x="1620000" y="8694000"/>
            <a:ext cx="15696000" cy="61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73"/>
                </a:solidFill>
                <a:latin typeface="Yu Gothic"/>
              </a:rPr>
              <a:t>強い雑音下でも3モデル統合より誤差は小さいが，無雑音からの悪化量はほぼ同じ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02427"/>
                </a:solidFill>
                <a:latin typeface="Yu Gothic"/>
              </a:rPr>
              <a:t>2. 核沸騰開始の判定結果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見逃しは減少したが，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全区間を検知できるようになる熱流束は実験日で異なった</a:t>
            </a:r>
          </a:p>
        </p:txBody>
      </p:sp>
      <p:sp>
        <p:nvSpPr>
          <p:cNvPr id="20" name="FN_TITLE"/>
          <p:cNvSpPr txBox="1"/>
          <p:nvPr/>
        </p:nvSpPr>
        <p:spPr>
          <a:xfrm>
            <a:off x="1512000" y="2754000"/>
            <a:ext cx="9540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F6F73"/>
                </a:solidFill>
                <a:latin typeface="Yu Gothic"/>
              </a:rPr>
              <a:t>見逃し件数</a:t>
            </a:r>
          </a:p>
        </p:txBody>
      </p:sp>
      <p:sp>
        <p:nvSpPr>
          <p:cNvPr id="21" name="FIG_07_FN"/>
          <p:cNvSpPr/>
          <p:nvPr/>
        </p:nvSpPr>
        <p:spPr>
          <a:xfrm>
            <a:off x="1512000" y="3258000"/>
            <a:ext cx="9540000" cy="4716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IG_07_FN_label"/>
          <p:cNvSpPr txBox="1"/>
          <p:nvPr/>
        </p:nvSpPr>
        <p:spPr>
          <a:xfrm>
            <a:off x="1656000" y="4719960"/>
            <a:ext cx="9252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697477"/>
                </a:solidFill>
                <a:latin typeface="Yu Gothic"/>
              </a:rPr>
              <a:t>3・4・5モデル構成の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697477"/>
                </a:solidFill>
                <a:latin typeface="Yu Gothic"/>
              </a:rPr>
              <a:t>見逃し件数の比較グラフを挿入</a:t>
            </a:r>
          </a:p>
        </p:txBody>
      </p:sp>
      <p:sp>
        <p:nvSpPr>
          <p:cNvPr id="25" name="Q100_CAPTION"/>
          <p:cNvSpPr txBox="1"/>
          <p:nvPr/>
        </p:nvSpPr>
        <p:spPr>
          <a:xfrm>
            <a:off x="11664000" y="2754000"/>
            <a:ext cx="5760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73"/>
                </a:solidFill>
                <a:latin typeface="Yu Gothic"/>
              </a:rPr>
              <a:t>全区間を検知できた最初の熱流束［kW/m²］</a:t>
            </a:r>
          </a:p>
        </p:txBody>
      </p:sp>
      <p:graphicFrame>
        <p:nvGraphicFramePr>
          <p:cNvPr id="26" name="Q100_TABLE"/>
          <p:cNvGraphicFramePr>
            <a:graphicFrameLocks noGrp="1"/>
          </p:cNvGraphicFramePr>
          <p:nvPr/>
        </p:nvGraphicFramePr>
        <p:xfrm>
          <a:off x="11664000" y="3276000"/>
          <a:ext cx="5760000" cy="190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8000"/>
                <a:gridCol w="2106000"/>
                <a:gridCol w="2106000"/>
              </a:tblGrid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実験日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</a:rPr>
                        <a:t>3モデル統合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</a:rPr>
                        <a:t>5モデル統合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68400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6/11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368.98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368.98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68400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6/18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434.02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376.32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FP_CAPTION"/>
          <p:cNvSpPr txBox="1"/>
          <p:nvPr/>
        </p:nvSpPr>
        <p:spPr>
          <a:xfrm>
            <a:off x="11664000" y="5634000"/>
            <a:ext cx="5760000" cy="61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73"/>
                </a:solidFill>
                <a:latin typeface="Yu Gothic"/>
              </a:rPr>
              <a:t>誤報件数（3モデル統合 → 5モデル統合）</a:t>
            </a:r>
          </a:p>
        </p:txBody>
      </p:sp>
      <p:sp>
        <p:nvSpPr>
          <p:cNvPr id="28" name="FP_VALUES"/>
          <p:cNvSpPr txBox="1"/>
          <p:nvPr/>
        </p:nvSpPr>
        <p:spPr>
          <a:xfrm>
            <a:off x="11664000" y="6353999"/>
            <a:ext cx="5760000" cy="13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202427"/>
                </a:solidFill>
                <a:latin typeface="Yu Gothic"/>
              </a:rPr>
              <a:t>無雑音：1 → 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202427"/>
                </a:solidFill>
                <a:latin typeface="Yu Gothic"/>
              </a:rPr>
              <a:t>−20 dB：0 → 0</a:t>
            </a:r>
          </a:p>
        </p:txBody>
      </p:sp>
      <p:sp>
        <p:nvSpPr>
          <p:cNvPr id="29" name="FN_TAKEAWAY_background"/>
          <p:cNvSpPr/>
          <p:nvPr/>
        </p:nvSpPr>
        <p:spPr>
          <a:xfrm>
            <a:off x="1512000" y="8280000"/>
            <a:ext cx="15912000" cy="648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N_TAKEAWAY"/>
          <p:cNvSpPr txBox="1"/>
          <p:nvPr/>
        </p:nvSpPr>
        <p:spPr>
          <a:xfrm>
            <a:off x="1620000" y="8298000"/>
            <a:ext cx="15696000" cy="61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6F73"/>
                </a:solidFill>
                <a:latin typeface="Yu Gothic"/>
              </a:rPr>
              <a:t>見逃し件数：無雑音 42 → 27 ／ −20 dB 65 →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02427"/>
                </a:solidFill>
                <a:latin typeface="Yu Gothic"/>
              </a:rPr>
              <a:t>3. 統合が誤差を減らす仕組み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2427"/>
                </a:solidFill>
                <a:latin typeface="Yu Gothic"/>
              </a:rPr>
              <a:t>改善には，過大・過小予測の相殺だけでなく，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2427"/>
                </a:solidFill>
                <a:latin typeface="Yu Gothic"/>
              </a:rPr>
              <a:t>3つの予測群が同じ側に外れた場合の誤差縮小も含まれる</a:t>
            </a:r>
          </a:p>
        </p:txBody>
      </p:sp>
      <p:sp>
        <p:nvSpPr>
          <p:cNvPr id="20" name="REGION_TITLE"/>
          <p:cNvSpPr txBox="1"/>
          <p:nvPr/>
        </p:nvSpPr>
        <p:spPr>
          <a:xfrm>
            <a:off x="1512000" y="2754000"/>
            <a:ext cx="8496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F6F73"/>
                </a:solidFill>
                <a:latin typeface="Yu Gothic"/>
              </a:rPr>
              <a:t>どの熱流束領域で改善したか</a:t>
            </a:r>
          </a:p>
        </p:txBody>
      </p:sp>
      <p:sp>
        <p:nvSpPr>
          <p:cNvPr id="21" name="FIG_08_REGION"/>
          <p:cNvSpPr/>
          <p:nvPr/>
        </p:nvSpPr>
        <p:spPr>
          <a:xfrm>
            <a:off x="1512000" y="3258000"/>
            <a:ext cx="8496000" cy="4446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IG_08_REGION_label"/>
          <p:cNvSpPr txBox="1"/>
          <p:nvPr/>
        </p:nvSpPr>
        <p:spPr>
          <a:xfrm>
            <a:off x="1656000" y="4636260"/>
            <a:ext cx="8208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97477"/>
                </a:solidFill>
                <a:latin typeface="Yu Gothic"/>
              </a:rPr>
              <a:t>熱流束領域ごとの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97477"/>
                </a:solidFill>
                <a:latin typeface="Yu Gothic"/>
              </a:rPr>
              <a:t>予測誤差の変化を示すグラフを挿入</a:t>
            </a:r>
          </a:p>
        </p:txBody>
      </p:sp>
      <p:sp>
        <p:nvSpPr>
          <p:cNvPr id="25" name="DIRECTION_TITLE"/>
          <p:cNvSpPr txBox="1"/>
          <p:nvPr/>
        </p:nvSpPr>
        <p:spPr>
          <a:xfrm>
            <a:off x="10548000" y="2754000"/>
            <a:ext cx="6876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/>
            <a:r>
              <a:rPr sz="2200" b="1">
                <a:solidFill>
                  <a:srgbClr val="2F6F73"/>
                </a:solidFill>
                <a:latin typeface="Yu Gothic"/>
              </a:rPr>
              <a:t>同じ側に外れた予測の寄与</a:t>
            </a:r>
          </a:p>
        </p:txBody>
      </p:sp>
      <p:sp>
        <p:nvSpPr>
          <p:cNvPr id="26" name="FIG_08_DIRECTION"/>
          <p:cNvSpPr/>
          <p:nvPr/>
        </p:nvSpPr>
        <p:spPr>
          <a:xfrm>
            <a:off x="10548000" y="3258000"/>
            <a:ext cx="6876000" cy="4446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IG_08_DIRECTION_label"/>
          <p:cNvSpPr txBox="1"/>
          <p:nvPr/>
        </p:nvSpPr>
        <p:spPr>
          <a:xfrm>
            <a:off x="10692000" y="4636260"/>
            <a:ext cx="6588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97477"/>
                </a:solidFill>
                <a:latin typeface="Yu Gothic"/>
              </a:rPr>
              <a:t>誤差の方向別に，改善への寄与を示す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97477"/>
                </a:solidFill>
                <a:latin typeface="Yu Gothic"/>
              </a:rPr>
              <a:t>グラフを挿入</a:t>
            </a:r>
          </a:p>
        </p:txBody>
      </p:sp>
      <p:sp>
        <p:nvSpPr>
          <p:cNvPr id="30" name="REGION_SIGN"/>
          <p:cNvSpPr txBox="1"/>
          <p:nvPr/>
        </p:nvSpPr>
        <p:spPr>
          <a:xfrm>
            <a:off x="1512000" y="7848000"/>
            <a:ext cx="8820000" cy="45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02427"/>
                </a:solidFill>
                <a:latin typeface="Yu Gothic"/>
              </a:rPr>
              <a:t>正の棒：改善 ／ 負の棒：悪化</a:t>
            </a:r>
          </a:p>
        </p:txBody>
      </p:sp>
      <p:sp>
        <p:nvSpPr>
          <p:cNvPr id="31" name="REGION_CAVEAT"/>
          <p:cNvSpPr txBox="1"/>
          <p:nvPr/>
        </p:nvSpPr>
        <p:spPr>
          <a:xfrm>
            <a:off x="1512000" y="8333999"/>
            <a:ext cx="8820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2427"/>
                </a:solidFill>
                <a:latin typeface="Yu Gothic"/>
              </a:rPr>
              <a:t>強い雑音下では核沸騰開始付近の誤差が悪化</a:t>
            </a:r>
          </a:p>
        </p:txBody>
      </p:sp>
      <p:sp>
        <p:nvSpPr>
          <p:cNvPr id="32" name="DIRECTION_TAKEAWAY_background"/>
          <p:cNvSpPr/>
          <p:nvPr/>
        </p:nvSpPr>
        <p:spPr>
          <a:xfrm>
            <a:off x="10548000" y="7920000"/>
            <a:ext cx="6876000" cy="774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RECTION_TAKEAWAY"/>
          <p:cNvSpPr txBox="1"/>
          <p:nvPr/>
        </p:nvSpPr>
        <p:spPr>
          <a:xfrm>
            <a:off x="10656000" y="7938000"/>
            <a:ext cx="6660000" cy="73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73"/>
                </a:solidFill>
                <a:latin typeface="Yu Gothic"/>
              </a:rPr>
              <a:t>−20 dBでは，同じ側に外れた区間が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73"/>
                </a:solidFill>
                <a:latin typeface="Yu Gothic"/>
              </a:rPr>
              <a:t>全体の誤差減少の87.15%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02427"/>
                </a:solidFill>
                <a:latin typeface="Yu Gothic"/>
              </a:rPr>
              <a:t>3. 教授からの指摘への対応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同じ入力加工を全モデルに与え，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利用する情報の違いを予測誤差の変化で確かめた</a:t>
            </a:r>
          </a:p>
        </p:txBody>
      </p:sp>
      <p:sp>
        <p:nvSpPr>
          <p:cNvPr id="21" name="PROFESSOR_FEEDBACK_background"/>
          <p:cNvSpPr/>
          <p:nvPr/>
        </p:nvSpPr>
        <p:spPr>
          <a:xfrm>
            <a:off x="1512000" y="2664000"/>
            <a:ext cx="15912000" cy="558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ROFESSOR_FEEDBACK"/>
          <p:cNvSpPr txBox="1"/>
          <p:nvPr/>
        </p:nvSpPr>
        <p:spPr>
          <a:xfrm>
            <a:off x="1620000" y="2682000"/>
            <a:ext cx="15696000" cy="52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ja-JP">
                <a:solidFill>
                  <a:srgbClr val="2F6F73"/>
                </a:solidFill>
                <a:latin typeface="Yu Gothic"/>
                <a:ea typeface="Yu Gothic"/>
                <a:cs typeface="Yu Gothic"/>
              </a:rPr>
              <a:t>前回の指摘：何を意味するか ／ 修士研究にどう活用するか</a:t>
            </a:r>
          </a:p>
        </p:txBody>
      </p:sp>
      <p:sp>
        <p:nvSpPr>
          <p:cNvPr id="23" name="PERTURBATION_TITLE"/>
          <p:cNvSpPr txBox="1"/>
          <p:nvPr/>
        </p:nvSpPr>
        <p:spPr>
          <a:xfrm>
            <a:off x="1512000" y="3491999"/>
            <a:ext cx="9180000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F6F73"/>
                </a:solidFill>
                <a:latin typeface="Yu Gothic"/>
              </a:rPr>
              <a:t>共通加工：時間順序の入れ替え</a:t>
            </a:r>
          </a:p>
        </p:txBody>
      </p:sp>
      <p:sp>
        <p:nvSpPr>
          <p:cNvPr id="24" name="FIG_09_PERTURBATION"/>
          <p:cNvSpPr/>
          <p:nvPr/>
        </p:nvSpPr>
        <p:spPr>
          <a:xfrm>
            <a:off x="1512000" y="4014000"/>
            <a:ext cx="9180000" cy="3924000"/>
          </a:xfrm>
          <a:prstGeom prst="rect">
            <a:avLst/>
          </a:prstGeom>
          <a:solidFill>
            <a:srgbClr val="F8FAFA"/>
          </a:solidFill>
          <a:ln w="17780">
            <a:solidFill>
              <a:srgbClr val="A9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IG_09_PERTURBATION_label"/>
          <p:cNvSpPr txBox="1"/>
          <p:nvPr/>
        </p:nvSpPr>
        <p:spPr>
          <a:xfrm>
            <a:off x="1656000" y="5230440"/>
            <a:ext cx="8892000" cy="82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97477"/>
                </a:solidFill>
                <a:latin typeface="Yu Gothic"/>
              </a:rPr>
              <a:t>各モデルの加工前後の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97477"/>
                </a:solidFill>
                <a:latin typeface="Yu Gothic"/>
              </a:rPr>
              <a:t>予測誤差を示すグラフを挿入</a:t>
            </a:r>
          </a:p>
        </p:txBody>
      </p:sp>
      <p:sp>
        <p:nvSpPr>
          <p:cNvPr id="28" name="ENSEMBLE_CHANGE_TITLE"/>
          <p:cNvSpPr txBox="1"/>
          <p:nvPr/>
        </p:nvSpPr>
        <p:spPr>
          <a:xfrm>
            <a:off x="11160000" y="3491999"/>
            <a:ext cx="6263999" cy="43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F6F73"/>
                </a:solidFill>
                <a:latin typeface="Yu Gothic"/>
              </a:rPr>
              <a:t>統合後の予測誤差［kW/m²］</a:t>
            </a:r>
          </a:p>
        </p:txBody>
      </p:sp>
      <p:graphicFrame>
        <p:nvGraphicFramePr>
          <p:cNvPr id="29" name="PERTURBATION_TABLE"/>
          <p:cNvGraphicFramePr>
            <a:graphicFrameLocks noGrp="1"/>
          </p:cNvGraphicFramePr>
          <p:nvPr/>
        </p:nvGraphicFramePr>
        <p:xfrm>
          <a:off x="11160000" y="4104000"/>
          <a:ext cx="6264000" cy="20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2052000"/>
                <a:gridCol w="2052000"/>
              </a:tblGrid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構成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加工前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加工後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560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3モデル統合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34.07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47.52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560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5モデル統合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27.80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600" b="0" lang="ja-JP">
                          <a:solidFill>
                            <a:srgbClr val="202427"/>
                          </a:solidFill>
                          <a:latin typeface="Yu Gothic"/>
                          <a:ea typeface="Yu Gothic"/>
                          <a:cs typeface="Yu Gothic"/>
                        </a:rPr>
                        <a:t>31.10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PERTURBATION_RIGHT_TAKEAWAY"/>
          <p:cNvSpPr txBox="1"/>
          <p:nvPr/>
        </p:nvSpPr>
        <p:spPr>
          <a:xfrm>
            <a:off x="11160000" y="6660000"/>
            <a:ext cx="6263999" cy="1278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F6F73"/>
                </a:solidFill>
                <a:latin typeface="Yu Gothic"/>
              </a:rPr>
              <a:t>同じ加工でも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F6F73"/>
                </a:solidFill>
                <a:latin typeface="Yu Gothic"/>
              </a:rPr>
              <a:t>モデルによって影響の大きさが異なる</a:t>
            </a:r>
          </a:p>
        </p:txBody>
      </p:sp>
      <p:sp>
        <p:nvSpPr>
          <p:cNvPr id="31" name="PERTURBATION_LEFT_TAKEAWAY"/>
          <p:cNvSpPr txBox="1"/>
          <p:nvPr/>
        </p:nvSpPr>
        <p:spPr>
          <a:xfrm>
            <a:off x="1512000" y="8063999"/>
            <a:ext cx="9360000" cy="450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2427"/>
                </a:solidFill>
                <a:latin typeface="Yu Gothic"/>
              </a:rPr>
              <a:t>画像を扱う2モデルは変化 ／ 周波数統計量を使う2モデルは変化なし</a:t>
            </a:r>
          </a:p>
        </p:txBody>
      </p:sp>
      <p:sp>
        <p:nvSpPr>
          <p:cNvPr id="32" name="XAI_TO_THESIS_background"/>
          <p:cNvSpPr/>
          <p:nvPr/>
        </p:nvSpPr>
        <p:spPr>
          <a:xfrm>
            <a:off x="1512000" y="8658000"/>
            <a:ext cx="15912000" cy="648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XAI_TO_THESIS"/>
          <p:cNvSpPr txBox="1"/>
          <p:nvPr/>
        </p:nvSpPr>
        <p:spPr>
          <a:xfrm>
            <a:off x="1620000" y="8676000"/>
            <a:ext cx="15696000" cy="612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73"/>
                </a:solidFill>
                <a:latin typeface="Yu Gothic"/>
              </a:rPr>
              <a:t>前回：特徴を可視化 → 今回：同じ入力加工で性能変化を比較 → 修論：誤差改善と対応づける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lang="ja-JP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8" name="SLIDE_TITLE"/>
          <p:cNvSpPr txBox="1"/>
          <p:nvPr/>
        </p:nvSpPr>
        <p:spPr>
          <a:xfrm>
            <a:off x="1807199" y="306000"/>
            <a:ext cx="15480000" cy="6912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02427"/>
                </a:solidFill>
                <a:latin typeface="Yu Gothic"/>
              </a:rPr>
              <a:t>4. 修士論文の構成と現在の成果</a:t>
            </a:r>
          </a:p>
        </p:txBody>
      </p:sp>
      <p:sp>
        <p:nvSpPr>
          <p:cNvPr id="19" name="MAIN_MESSAGE"/>
          <p:cNvSpPr txBox="1"/>
          <p:nvPr/>
        </p:nvSpPr>
        <p:spPr>
          <a:xfrm>
            <a:off x="1512000" y="1422000"/>
            <a:ext cx="15912000" cy="104400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性能結果と改善理由の分析を中心に，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02427"/>
                </a:solidFill>
                <a:latin typeface="Yu Gothic"/>
              </a:rPr>
              <a:t>これまでの成果を修士論文へ配置する</a:t>
            </a:r>
          </a:p>
        </p:txBody>
      </p:sp>
      <p:graphicFrame>
        <p:nvGraphicFramePr>
          <p:cNvPr id="21" name="THESIS_TABLE"/>
          <p:cNvGraphicFramePr>
            <a:graphicFrameLocks noGrp="1"/>
          </p:cNvGraphicFramePr>
          <p:nvPr/>
        </p:nvGraphicFramePr>
        <p:xfrm>
          <a:off x="1512000" y="3006000"/>
          <a:ext cx="15912000" cy="549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6300000"/>
                <a:gridCol w="8460000"/>
              </a:tblGrid>
              <a:tr h="558000">
                <a:tc>
                  <a:txBody>
                    <a:bodyPr wrap="square"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章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現在配置できる成果</a:t>
                      </a:r>
                    </a:p>
                  </a:txBody>
                  <a:tcPr marL="64800" marR="64800" marT="36000" marB="36000" anchor="ctr">
                    <a:solidFill>
                      <a:srgbClr val="2F6F73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1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緒論・研究目的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目的と研究の問いを整理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実験・音響データ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実験条件とデータの説明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3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熱流束回帰・沸騰開始判定方法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現在のモデル・評価方法を整理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4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雑音評価方法の検討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旧方式の問題と現在の方法を整理</a:t>
                      </a:r>
                    </a:p>
                  </a:txBody>
                  <a:tcPr marL="64800" marR="64800" marT="36000" marB="36000" anchor="ctr">
                    <a:solidFill>
                      <a:srgbClr val="F4F7F7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5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単体モデル・統合モデルの性能評価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3・4・5モデルの回帰・判定結果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6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誤差と特徴利用の要因分析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202427"/>
                          </a:solidFill>
                          <a:latin typeface="Yu Gothic"/>
                        </a:rPr>
                        <a:t>誤差の減り方と入力依存の違いを整理</a:t>
                      </a:r>
                    </a:p>
                  </a:txBody>
                  <a:tcPr marL="64800" marR="64800" marT="36000" marB="36000" anchor="ctr">
                    <a:solidFill>
                      <a:srgbClr val="E2F0F1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  <a:tr h="705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7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総合考察・結言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202427"/>
                          </a:solidFill>
                          <a:latin typeface="Yu Gothic"/>
                        </a:rPr>
                        <a:t>成果・限界・今後の課題をまとめる</a:t>
                      </a:r>
                    </a:p>
                  </a:txBody>
                  <a:tcPr marL="64800" marR="64800" marT="36000" marB="36000" anchor="ctr">
                    <a:solidFill>
                      <a:srgbClr val="FFFFFF"/>
                    </a:solidFill>
                    <a:lnL w="7000">
                      <a:solidFill>
                        <a:srgbClr val="D4DFE0"/>
                      </a:solidFill>
                    </a:lnL>
                    <a:lnR w="7000">
                      <a:solidFill>
                        <a:srgbClr val="D4DFE0"/>
                      </a:solidFill>
                    </a:lnR>
                    <a:lnT w="7000">
                      <a:solidFill>
                        <a:srgbClr val="D4DFE0"/>
                      </a:solidFill>
                    </a:lnT>
                    <a:lnB w="7000">
                      <a:solidFill>
                        <a:srgbClr val="D4DF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HESIS_KEY_background"/>
          <p:cNvSpPr/>
          <p:nvPr/>
        </p:nvSpPr>
        <p:spPr>
          <a:xfrm>
            <a:off x="1512000" y="8712000"/>
            <a:ext cx="15912000" cy="594000"/>
          </a:xfrm>
          <a:prstGeom prst="rect">
            <a:avLst/>
          </a:prstGeom>
          <a:solidFill>
            <a:srgbClr val="E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HESIS_KEY"/>
          <p:cNvSpPr txBox="1"/>
          <p:nvPr/>
        </p:nvSpPr>
        <p:spPr>
          <a:xfrm>
            <a:off x="1620000" y="8730000"/>
            <a:ext cx="15696000" cy="557999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6F73"/>
                </a:solidFill>
                <a:latin typeface="Yu Gothic"/>
              </a:rPr>
              <a:t>第5章：何が改善したか ／ 第6章：なぜ改善し，どこに限界があるか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3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4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0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1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3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6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PAGE_NUMBER"/>
          <p:cNvSpPr txBox="1"/>
          <p:nvPr/>
        </p:nvSpPr>
        <p:spPr>
          <a:xfrm>
            <a:off x="270000" y="9748800"/>
            <a:ext cx="599400" cy="462240"/>
          </a:xfrm>
          <a:prstGeom prst="rect">
            <a:avLst/>
          </a:prstGeom>
          <a:noFill/>
          <a:effectLst/>
        </p:spPr>
        <p:txBody>
          <a:bodyPr wrap="square" lIns="21600" rIns="21600" tIns="21600" bIns="216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Yu Gothic"/>
              </a:rPr>
              <a:t>11</a:t>
            </a:r>
          </a:p>
        </p:txBody>
      </p:sp>
      <p:graphicFrame>
        <p:nvGraphicFramePr>
          <p:cNvPr id="47" name="表 46">
            <a:extLst>
              <a:ext uri="{FF2B5EF4-FFF2-40B4-BE49-F238E27FC236}">
                <a16:creationId xmlns:a16="http://schemas.microsoft.com/office/drawing/2014/main" id="{CA17F5A5-19DF-44BA-8312-DB8A65D33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346370"/>
              </p:ext>
            </p:extLst>
          </p:nvPr>
        </p:nvGraphicFramePr>
        <p:xfrm>
          <a:off x="1219200" y="1808480"/>
          <a:ext cx="16268702" cy="7368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5000">
                  <a:extLst>
                    <a:ext uri="{9D8B030D-6E8A-4147-A177-3AD203B41FA5}">
                      <a16:colId xmlns:a16="http://schemas.microsoft.com/office/drawing/2014/main" val="2949312998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1609288016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4226321308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997688572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1418800255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4099334226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390282484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ja-JP" sz="2400" b="1" dirty="0">
                          <a:solidFill>
                            <a:srgbClr val="FFFFFF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大項目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70A9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9月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10月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11月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12月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2月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35817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① 評価設計・学習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データの確定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実験別に学習／テストデータを分割の実装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772760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沸騰後のデータで閾値を設定・スクリーニング実装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85023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上記実装でアンサンブル検証（全条件）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159921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② アンサンブル手法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の確立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【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必要なら</a:t>
                      </a:r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】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単体モデルを下回る条件・要因を調査・整理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82158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【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必要なら</a:t>
                      </a:r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】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必要に応じて新たなアンサンブル手法を調査・実装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27867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【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必要なら</a:t>
                      </a:r>
                      <a:r>
                        <a:rPr lang="en-US" altLang="ja-JP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】</a:t>
                      </a:r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複数手法の比較でアンサンブル方法を確定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2385712"/>
                  </a:ext>
                </a:extLst>
              </a:tr>
              <a:tr h="558800">
                <a:tc rowSpan="2">
                  <a:txBody>
                    <a:bodyPr/>
                    <a:lstStyle/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③ 説明性を用いた要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因分析・検証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説明性指標で特徴利用を可視化・比較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697552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各指標を踏まえて学習・推論パイプラインに活用できるか模索・実装・考察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 dirty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701246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④ 修論執筆・発表準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備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背景・実験方法（など書ける範囲から進める）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 dirty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44943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結果・考察・結論の整理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 dirty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6445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論文執筆完了・発表資料作成・発表練習など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 dirty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157597"/>
                  </a:ext>
                </a:extLst>
              </a:tr>
            </a:tbl>
          </a:graphicData>
        </a:graphic>
      </p:graphicFrame>
      <p:sp>
        <p:nvSpPr>
          <p:cNvPr id="59" name="矢印: 右 58">
            <a:extLst>
              <a:ext uri="{FF2B5EF4-FFF2-40B4-BE49-F238E27FC236}">
                <a16:creationId xmlns:a16="http://schemas.microsoft.com/office/drawing/2014/main" id="{D34DF569-FC79-4BB4-8B5E-7C19524629EA}"/>
              </a:ext>
            </a:extLst>
          </p:cNvPr>
          <p:cNvSpPr/>
          <p:nvPr/>
        </p:nvSpPr>
        <p:spPr>
          <a:xfrm>
            <a:off x="10602000" y="2418080"/>
            <a:ext cx="917999" cy="520700"/>
          </a:xfrm>
          <a:prstGeom prst="rightArrow">
            <a:avLst/>
          </a:prstGeom>
          <a:solidFill>
            <a:schemeClr val="bg1">
              <a:lumMod val="75000"/>
              <a:alpha val="93333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0" name="矢印: 右 59">
            <a:extLst>
              <a:ext uri="{FF2B5EF4-FFF2-40B4-BE49-F238E27FC236}">
                <a16:creationId xmlns:a16="http://schemas.microsoft.com/office/drawing/2014/main" id="{8236D079-26BE-4267-B3E8-D7B70D31F6EA}"/>
              </a:ext>
            </a:extLst>
          </p:cNvPr>
          <p:cNvSpPr/>
          <p:nvPr/>
        </p:nvSpPr>
        <p:spPr>
          <a:xfrm>
            <a:off x="10602000" y="3022600"/>
            <a:ext cx="917999" cy="520700"/>
          </a:xfrm>
          <a:prstGeom prst="rightArrow">
            <a:avLst/>
          </a:prstGeom>
          <a:solidFill>
            <a:schemeClr val="bg1">
              <a:lumMod val="75000"/>
              <a:alpha val="93333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598DB384-3834-4A6E-88C7-56ED64B1610A}"/>
              </a:ext>
            </a:extLst>
          </p:cNvPr>
          <p:cNvSpPr/>
          <p:nvPr/>
        </p:nvSpPr>
        <p:spPr>
          <a:xfrm>
            <a:off x="9982200" y="3713480"/>
            <a:ext cx="576579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2" name="矢印: 右 61">
            <a:extLst>
              <a:ext uri="{FF2B5EF4-FFF2-40B4-BE49-F238E27FC236}">
                <a16:creationId xmlns:a16="http://schemas.microsoft.com/office/drawing/2014/main" id="{4938EDE1-97DD-420B-AF51-448FC8A8F529}"/>
              </a:ext>
            </a:extLst>
          </p:cNvPr>
          <p:cNvSpPr/>
          <p:nvPr/>
        </p:nvSpPr>
        <p:spPr>
          <a:xfrm>
            <a:off x="9981353" y="4331970"/>
            <a:ext cx="1010496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3" name="矢印: 右 62">
            <a:extLst>
              <a:ext uri="{FF2B5EF4-FFF2-40B4-BE49-F238E27FC236}">
                <a16:creationId xmlns:a16="http://schemas.microsoft.com/office/drawing/2014/main" id="{0AE1CEB5-7EBA-4989-96FD-CBE69C6CF335}"/>
              </a:ext>
            </a:extLst>
          </p:cNvPr>
          <p:cNvSpPr/>
          <p:nvPr/>
        </p:nvSpPr>
        <p:spPr>
          <a:xfrm>
            <a:off x="11485562" y="491109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4" name="矢印: 右 63">
            <a:extLst>
              <a:ext uri="{FF2B5EF4-FFF2-40B4-BE49-F238E27FC236}">
                <a16:creationId xmlns:a16="http://schemas.microsoft.com/office/drawing/2014/main" id="{EA5FB593-F8A7-47ED-8FE0-2DEC3D5FBF3D}"/>
              </a:ext>
            </a:extLst>
          </p:cNvPr>
          <p:cNvSpPr/>
          <p:nvPr/>
        </p:nvSpPr>
        <p:spPr>
          <a:xfrm>
            <a:off x="11706331" y="5582972"/>
            <a:ext cx="692912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5" name="矢印: 右 64">
            <a:extLst>
              <a:ext uri="{FF2B5EF4-FFF2-40B4-BE49-F238E27FC236}">
                <a16:creationId xmlns:a16="http://schemas.microsoft.com/office/drawing/2014/main" id="{08F95DCF-0470-4027-83DB-67FE192B535C}"/>
              </a:ext>
            </a:extLst>
          </p:cNvPr>
          <p:cNvSpPr/>
          <p:nvPr/>
        </p:nvSpPr>
        <p:spPr>
          <a:xfrm>
            <a:off x="10602000" y="6162040"/>
            <a:ext cx="917999" cy="520700"/>
          </a:xfrm>
          <a:prstGeom prst="rightArrow">
            <a:avLst/>
          </a:prstGeom>
          <a:solidFill>
            <a:schemeClr val="bg1">
              <a:lumMod val="75000"/>
              <a:alpha val="93333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6" name="矢印: 右 65">
            <a:extLst>
              <a:ext uri="{FF2B5EF4-FFF2-40B4-BE49-F238E27FC236}">
                <a16:creationId xmlns:a16="http://schemas.microsoft.com/office/drawing/2014/main" id="{034692D6-33FA-4224-BC94-AEBDF0ACEF64}"/>
              </a:ext>
            </a:extLst>
          </p:cNvPr>
          <p:cNvSpPr/>
          <p:nvPr/>
        </p:nvSpPr>
        <p:spPr>
          <a:xfrm>
            <a:off x="10515600" y="6775554"/>
            <a:ext cx="1896343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 dirty="0"/>
          </a:p>
        </p:txBody>
      </p:sp>
      <p:sp>
        <p:nvSpPr>
          <p:cNvPr id="69" name="矢印: 右 68">
            <a:extLst>
              <a:ext uri="{FF2B5EF4-FFF2-40B4-BE49-F238E27FC236}">
                <a16:creationId xmlns:a16="http://schemas.microsoft.com/office/drawing/2014/main" id="{EAC33907-6CA1-4E71-B9D5-716E2E981F75}"/>
              </a:ext>
            </a:extLst>
          </p:cNvPr>
          <p:cNvSpPr/>
          <p:nvPr/>
        </p:nvSpPr>
        <p:spPr>
          <a:xfrm>
            <a:off x="10558779" y="7429500"/>
            <a:ext cx="2381887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0" name="矢印: 右 69">
            <a:extLst>
              <a:ext uri="{FF2B5EF4-FFF2-40B4-BE49-F238E27FC236}">
                <a16:creationId xmlns:a16="http://schemas.microsoft.com/office/drawing/2014/main" id="{E72717AE-64DA-45FB-BB23-5FE9D2D1929D}"/>
              </a:ext>
            </a:extLst>
          </p:cNvPr>
          <p:cNvSpPr/>
          <p:nvPr/>
        </p:nvSpPr>
        <p:spPr>
          <a:xfrm>
            <a:off x="13229379" y="8064500"/>
            <a:ext cx="1082675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1" name="矢印: 右 70">
            <a:extLst>
              <a:ext uri="{FF2B5EF4-FFF2-40B4-BE49-F238E27FC236}">
                <a16:creationId xmlns:a16="http://schemas.microsoft.com/office/drawing/2014/main" id="{73B7A278-A94A-4AF4-AC8E-F2A1B5321EB6}"/>
              </a:ext>
            </a:extLst>
          </p:cNvPr>
          <p:cNvSpPr/>
          <p:nvPr/>
        </p:nvSpPr>
        <p:spPr>
          <a:xfrm>
            <a:off x="14889481" y="8623300"/>
            <a:ext cx="1660102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" name="TextBox 24">
            <a:extLst>
              <a:ext uri="{FF2B5EF4-FFF2-40B4-BE49-F238E27FC236}">
                <a16:creationId xmlns:a16="http://schemas.microsoft.com/office/drawing/2014/main" id="{2A01B58C-24A4-65F3-D0FA-817BFF85E8E3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4.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後期の研究計画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95A5FCC-5388-65C1-12BE-4C017000DFAF}"/>
              </a:ext>
            </a:extLst>
          </p:cNvPr>
          <p:cNvSpPr txBox="1"/>
          <p:nvPr/>
        </p:nvSpPr>
        <p:spPr>
          <a:xfrm>
            <a:off x="10854000" y="2479040"/>
            <a:ext cx="1400386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ja-JP" altLang="en-US" sz="2800" b="1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今ここ</a:t>
            </a:r>
            <a:endParaRPr lang="ja-JP" altLang="en-US" sz="2800" b="1" dirty="0">
              <a:solidFill>
                <a:srgbClr val="22222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5411C9D-E9FD-84BD-1353-69D239F0FB69}"/>
              </a:ext>
            </a:extLst>
          </p:cNvPr>
          <p:cNvSpPr txBox="1"/>
          <p:nvPr/>
        </p:nvSpPr>
        <p:spPr>
          <a:xfrm>
            <a:off x="10854000" y="5920740"/>
            <a:ext cx="1400386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ja-JP" altLang="en-US" sz="2800" b="1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今ここ</a:t>
            </a:r>
            <a:endParaRPr lang="ja-JP" altLang="en-US" sz="2800" b="1" dirty="0">
              <a:solidFill>
                <a:srgbClr val="22222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1E0504D-397B-4E0E-9870-3BF79C012794}">
  <we:reference id="wa200010215" version="2.0.0.1" store="ja-JP" storeType="OMEX"/>
  <we:alternateReferences>
    <we:reference id="WA200010215" version="2.0.0.1" store="WA200010215" storeType="OMEX"/>
  </we:alternateReferences>
  <we:properties>
    <we:property name="bps.codex_control.document_id" value="&quot;923187e9-0861-413e-9a76-03a2dc2aca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27194</TotalTime>
  <Words>469</Words>
  <Application>Microsoft Office PowerPoint</Application>
  <PresentationFormat>ユーザー設定</PresentationFormat>
  <Paragraphs>100</Paragraphs>
  <Slides>8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8" baseType="lpstr">
      <vt:lpstr>游ゴシック</vt:lpstr>
      <vt:lpstr>游ゴシック</vt:lpstr>
      <vt:lpstr>Century Gothic Paneuropean</vt:lpstr>
      <vt:lpstr>Source Han Sans JP Bold</vt:lpstr>
      <vt:lpstr>Arial</vt:lpstr>
      <vt:lpstr>Source Han Sans JP</vt:lpstr>
      <vt:lpstr>ＭＳ Ｐゴシック</vt:lpstr>
      <vt:lpstr>Calibri</vt:lpstr>
      <vt:lpstr>Wingdings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研究進捗 2026年10月16日：図差し替え用11枚</dc:title>
  <dc:creator>柴崎陸</dc:creator>
  <cp:lastModifiedBy>陸 柴崎</cp:lastModifiedBy>
  <cp:revision>258</cp:revision>
  <dcterms:created xsi:type="dcterms:W3CDTF">2006-08-16T00:00:00Z</dcterms:created>
  <dcterms:modified xsi:type="dcterms:W3CDTF">2026-10-14T11:14:20Z</dcterms:modified>
  <dc:identifier>DAGKJCfN4aw</dc:identifier>
  <dc:subject>本人の再検討案を基にした編集用スライド。実験グラフは挿入枠。</dc:subject>
  <cp:keywords>研究進捗, アンサンブル, ONB, 編集用, 2026-10-16</cp:keywords>
  <dc:description>添付PPTXの表紙・大学装飾を保持。グラフは後挿入。原ファイル未変更。</dc:description>
</cp:coreProperties>
</file>