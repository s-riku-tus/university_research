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662" r:id="rId5"/>
    <p:sldMasterId id="2147483688" r:id="rId6"/>
  </p:sldMasterIdLst>
  <p:notesMasterIdLst>
    <p:notesMasterId r:id="rId32"/>
  </p:notesMasterIdLst>
  <p:sldIdLst>
    <p:sldId id="2146847170" r:id="rId7"/>
    <p:sldId id="2146847138" r:id="rId8"/>
    <p:sldId id="2146847174" r:id="rId9"/>
    <p:sldId id="2146847175" r:id="rId10"/>
    <p:sldId id="2146847176" r:id="rId11"/>
    <p:sldId id="2146847178" r:id="rId12"/>
    <p:sldId id="2146847179" r:id="rId13"/>
    <p:sldId id="2146847193" r:id="rId14"/>
    <p:sldId id="2146847183" r:id="rId15"/>
    <p:sldId id="2146847189" r:id="rId16"/>
    <p:sldId id="2146847190" r:id="rId17"/>
    <p:sldId id="2146847191" r:id="rId18"/>
    <p:sldId id="2146847172" r:id="rId19"/>
    <p:sldId id="2146847029" r:id="rId20"/>
    <p:sldId id="2146847171" r:id="rId21"/>
    <p:sldId id="2146847173" r:id="rId22"/>
    <p:sldId id="2146847092" r:id="rId23"/>
    <p:sldId id="2146847135" r:id="rId24"/>
    <p:sldId id="2146847186" r:id="rId25"/>
    <p:sldId id="2146847184" r:id="rId26"/>
    <p:sldId id="2146847187" r:id="rId27"/>
    <p:sldId id="2146847188" r:id="rId28"/>
    <p:sldId id="2146847182" r:id="rId29"/>
    <p:sldId id="2146847194" r:id="rId30"/>
    <p:sldId id="2146847185" r:id="rId31"/>
  </p:sldIdLst>
  <p:sldSz cx="9906000" cy="6858000" type="A4"/>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FFDCBFE-A8FB-46D1-972F-1EA087983174}">
          <p14:sldIdLst>
            <p14:sldId id="2146847170"/>
            <p14:sldId id="2146847138"/>
            <p14:sldId id="2146847174"/>
            <p14:sldId id="2146847175"/>
          </p14:sldIdLst>
        </p14:section>
        <p14:section name="プール沸騰実験" id="{2AE7471A-9095-4734-A284-0669E6A3A2CB}">
          <p14:sldIdLst>
            <p14:sldId id="2146847176"/>
            <p14:sldId id="2146847178"/>
          </p14:sldIdLst>
        </p14:section>
        <p14:section name="回帰分析による熱流束予測の手法" id="{C4250813-C753-49AE-BBE7-255F278E4A41}">
          <p14:sldIdLst>
            <p14:sldId id="2146847179"/>
            <p14:sldId id="2146847193"/>
            <p14:sldId id="2146847183"/>
            <p14:sldId id="2146847189"/>
            <p14:sldId id="2146847190"/>
            <p14:sldId id="2146847191"/>
            <p14:sldId id="2146847172"/>
            <p14:sldId id="2146847029"/>
            <p14:sldId id="2146847171"/>
            <p14:sldId id="2146847173"/>
            <p14:sldId id="2146847092"/>
            <p14:sldId id="2146847135"/>
            <p14:sldId id="2146847186"/>
            <p14:sldId id="2146847184"/>
            <p14:sldId id="2146847187"/>
            <p14:sldId id="2146847188"/>
            <p14:sldId id="2146847182"/>
            <p14:sldId id="2146847194"/>
            <p14:sldId id="21468471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399DA3-8720-AE08-1881-9720CCA5303C}" name="Cosmo" initials="k" userId="Cosm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im Trah" initials="JT" lastIdx="3" clrIdx="0">
    <p:extLst>
      <p:ext uri="{19B8F6BF-5375-455C-9EA6-DF929625EA0E}">
        <p15:presenceInfo xmlns:p15="http://schemas.microsoft.com/office/powerpoint/2012/main" userId="2dda245442fd21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B3B"/>
    <a:srgbClr val="7A0C36"/>
    <a:srgbClr val="E3E8F1"/>
    <a:srgbClr val="EFF2F7"/>
    <a:srgbClr val="FFA557"/>
    <a:srgbClr val="FF0000"/>
    <a:srgbClr val="FFFFFF"/>
    <a:srgbClr val="6969FF"/>
    <a:srgbClr val="5757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A472A-F322-4251-AE82-7880AE8B5045}" v="395" dt="2025-03-14T01:09:19.10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43" autoAdjust="0"/>
    <p:restoredTop sz="86736" autoAdjust="0"/>
  </p:normalViewPr>
  <p:slideViewPr>
    <p:cSldViewPr snapToGrid="0" showGuides="1">
      <p:cViewPr varScale="1">
        <p:scale>
          <a:sx n="79" d="100"/>
          <a:sy n="79" d="100"/>
        </p:scale>
        <p:origin x="84" y="324"/>
      </p:cViewPr>
      <p:guideLst/>
    </p:cSldViewPr>
  </p:slideViewPr>
  <p:outlineViewPr>
    <p:cViewPr>
      <p:scale>
        <a:sx n="20" d="100"/>
        <a:sy n="20" d="100"/>
      </p:scale>
      <p:origin x="0" y="-1944"/>
    </p:cViewPr>
  </p:outlineViewPr>
  <p:notesTextViewPr>
    <p:cViewPr>
      <p:scale>
        <a:sx n="99" d="100"/>
        <a:sy n="99" d="100"/>
      </p:scale>
      <p:origin x="0" y="0"/>
    </p:cViewPr>
  </p:notesTextViewPr>
  <p:sorterViewPr>
    <p:cViewPr>
      <p:scale>
        <a:sx n="90" d="100"/>
        <a:sy n="90" d="100"/>
      </p:scale>
      <p:origin x="0" y="-1245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053A472A-F322-4251-AE82-7880AE8B5045}"/>
    <pc:docChg chg="undo custSel modSld">
      <pc:chgData name="shibariku0623@icloud.com" userId="47b6e960b06a1f92" providerId="LiveId" clId="{053A472A-F322-4251-AE82-7880AE8B5045}" dt="2025-03-14T01:25:43.060" v="3387" actId="20577"/>
      <pc:docMkLst>
        <pc:docMk/>
      </pc:docMkLst>
      <pc:sldChg chg="modNotesTx">
        <pc:chgData name="shibariku0623@icloud.com" userId="47b6e960b06a1f92" providerId="LiveId" clId="{053A472A-F322-4251-AE82-7880AE8B5045}" dt="2025-03-14T01:25:43.060" v="3387" actId="20577"/>
        <pc:sldMkLst>
          <pc:docMk/>
          <pc:sldMk cId="821577977" sldId="2146847138"/>
        </pc:sldMkLst>
      </pc:sldChg>
      <pc:sldChg chg="modNotesTx">
        <pc:chgData name="shibariku0623@icloud.com" userId="47b6e960b06a1f92" providerId="LiveId" clId="{053A472A-F322-4251-AE82-7880AE8B5045}" dt="2025-03-13T12:30:50.255" v="801" actId="5793"/>
        <pc:sldMkLst>
          <pc:docMk/>
          <pc:sldMk cId="1232625381" sldId="2146847170"/>
        </pc:sldMkLst>
      </pc:sldChg>
      <pc:sldChg chg="modSp mod">
        <pc:chgData name="shibariku0623@icloud.com" userId="47b6e960b06a1f92" providerId="LiveId" clId="{053A472A-F322-4251-AE82-7880AE8B5045}" dt="2025-03-13T04:40:29.879" v="12" actId="1076"/>
        <pc:sldMkLst>
          <pc:docMk/>
          <pc:sldMk cId="3105605421" sldId="2146847172"/>
        </pc:sldMkLst>
        <pc:spChg chg="mod">
          <ac:chgData name="shibariku0623@icloud.com" userId="47b6e960b06a1f92" providerId="LiveId" clId="{053A472A-F322-4251-AE82-7880AE8B5045}" dt="2025-03-13T04:40:29.879" v="12" actId="1076"/>
          <ac:spMkLst>
            <pc:docMk/>
            <pc:sldMk cId="3105605421" sldId="2146847172"/>
            <ac:spMk id="3" creationId="{26B55119-B016-90D3-E960-7A21A536D53A}"/>
          </ac:spMkLst>
        </pc:spChg>
      </pc:sldChg>
      <pc:sldChg chg="modSp mod modNotesTx">
        <pc:chgData name="shibariku0623@icloud.com" userId="47b6e960b06a1f92" providerId="LiveId" clId="{053A472A-F322-4251-AE82-7880AE8B5045}" dt="2025-03-14T00:46:38.544" v="2129" actId="20577"/>
        <pc:sldMkLst>
          <pc:docMk/>
          <pc:sldMk cId="1697968803" sldId="2146847174"/>
        </pc:sldMkLst>
        <pc:spChg chg="mod">
          <ac:chgData name="shibariku0623@icloud.com" userId="47b6e960b06a1f92" providerId="LiveId" clId="{053A472A-F322-4251-AE82-7880AE8B5045}" dt="2025-03-13T08:36:23.731" v="47" actId="20577"/>
          <ac:spMkLst>
            <pc:docMk/>
            <pc:sldMk cId="1697968803" sldId="2146847174"/>
            <ac:spMk id="20" creationId="{8FF58F49-35C6-D3BD-4E7F-806FF2D3EED0}"/>
          </ac:spMkLst>
        </pc:spChg>
        <pc:grpChg chg="mod">
          <ac:chgData name="shibariku0623@icloud.com" userId="47b6e960b06a1f92" providerId="LiveId" clId="{053A472A-F322-4251-AE82-7880AE8B5045}" dt="2025-03-13T09:05:05.963" v="383" actId="14100"/>
          <ac:grpSpMkLst>
            <pc:docMk/>
            <pc:sldMk cId="1697968803" sldId="2146847174"/>
            <ac:grpSpMk id="27" creationId="{E782C8D3-8681-7E5D-3B16-8C0F40B025EE}"/>
          </ac:grpSpMkLst>
        </pc:grpChg>
      </pc:sldChg>
      <pc:sldChg chg="addSp delSp modSp mod modNotesTx">
        <pc:chgData name="shibariku0623@icloud.com" userId="47b6e960b06a1f92" providerId="LiveId" clId="{053A472A-F322-4251-AE82-7880AE8B5045}" dt="2025-03-14T00:52:08.193" v="2369" actId="20577"/>
        <pc:sldMkLst>
          <pc:docMk/>
          <pc:sldMk cId="1413763018" sldId="2146847175"/>
        </pc:sldMkLst>
        <pc:spChg chg="add mod">
          <ac:chgData name="shibariku0623@icloud.com" userId="47b6e960b06a1f92" providerId="LiveId" clId="{053A472A-F322-4251-AE82-7880AE8B5045}" dt="2025-03-13T08:35:51.600" v="40" actId="1076"/>
          <ac:spMkLst>
            <pc:docMk/>
            <pc:sldMk cId="1413763018" sldId="2146847175"/>
            <ac:spMk id="2" creationId="{5A2F3414-33D0-81DF-7600-941E5FD9809D}"/>
          </ac:spMkLst>
        </pc:spChg>
        <pc:spChg chg="add mod">
          <ac:chgData name="shibariku0623@icloud.com" userId="47b6e960b06a1f92" providerId="LiveId" clId="{053A472A-F322-4251-AE82-7880AE8B5045}" dt="2025-03-13T08:35:51.600" v="40" actId="1076"/>
          <ac:spMkLst>
            <pc:docMk/>
            <pc:sldMk cId="1413763018" sldId="2146847175"/>
            <ac:spMk id="8" creationId="{5A025566-0634-BEEB-E81D-B15DFC2C32F7}"/>
          </ac:spMkLst>
        </pc:spChg>
        <pc:spChg chg="add mod">
          <ac:chgData name="shibariku0623@icloud.com" userId="47b6e960b06a1f92" providerId="LiveId" clId="{053A472A-F322-4251-AE82-7880AE8B5045}" dt="2025-03-13T08:35:51.600" v="40" actId="1076"/>
          <ac:spMkLst>
            <pc:docMk/>
            <pc:sldMk cId="1413763018" sldId="2146847175"/>
            <ac:spMk id="9" creationId="{0E1C4871-4146-5C53-2F9A-2D82407A4EBC}"/>
          </ac:spMkLst>
        </pc:spChg>
        <pc:spChg chg="add mod">
          <ac:chgData name="shibariku0623@icloud.com" userId="47b6e960b06a1f92" providerId="LiveId" clId="{053A472A-F322-4251-AE82-7880AE8B5045}" dt="2025-03-13T08:35:51.600" v="40" actId="1076"/>
          <ac:spMkLst>
            <pc:docMk/>
            <pc:sldMk cId="1413763018" sldId="2146847175"/>
            <ac:spMk id="10" creationId="{6081D9D3-46A9-E65A-66B1-4F9DC7F96C3A}"/>
          </ac:spMkLst>
        </pc:spChg>
        <pc:spChg chg="add mod">
          <ac:chgData name="shibariku0623@icloud.com" userId="47b6e960b06a1f92" providerId="LiveId" clId="{053A472A-F322-4251-AE82-7880AE8B5045}" dt="2025-03-13T08:35:51.600" v="40" actId="1076"/>
          <ac:spMkLst>
            <pc:docMk/>
            <pc:sldMk cId="1413763018" sldId="2146847175"/>
            <ac:spMk id="12" creationId="{F1DBB2E9-C85D-6B9E-15A2-85E2B131349E}"/>
          </ac:spMkLst>
        </pc:spChg>
        <pc:spChg chg="add mod">
          <ac:chgData name="shibariku0623@icloud.com" userId="47b6e960b06a1f92" providerId="LiveId" clId="{053A472A-F322-4251-AE82-7880AE8B5045}" dt="2025-03-13T08:35:51.600" v="40" actId="1076"/>
          <ac:spMkLst>
            <pc:docMk/>
            <pc:sldMk cId="1413763018" sldId="2146847175"/>
            <ac:spMk id="16" creationId="{024945BE-90A1-7A4F-F14E-6D60B246C17A}"/>
          </ac:spMkLst>
        </pc:spChg>
        <pc:spChg chg="add mod">
          <ac:chgData name="shibariku0623@icloud.com" userId="47b6e960b06a1f92" providerId="LiveId" clId="{053A472A-F322-4251-AE82-7880AE8B5045}" dt="2025-03-13T08:35:51.600" v="40" actId="1076"/>
          <ac:spMkLst>
            <pc:docMk/>
            <pc:sldMk cId="1413763018" sldId="2146847175"/>
            <ac:spMk id="19" creationId="{1FCF78F8-E31B-2047-6753-AB30E8F610D9}"/>
          </ac:spMkLst>
        </pc:spChg>
        <pc:spChg chg="add mod">
          <ac:chgData name="shibariku0623@icloud.com" userId="47b6e960b06a1f92" providerId="LiveId" clId="{053A472A-F322-4251-AE82-7880AE8B5045}" dt="2025-03-13T08:35:51.600" v="40" actId="1076"/>
          <ac:spMkLst>
            <pc:docMk/>
            <pc:sldMk cId="1413763018" sldId="2146847175"/>
            <ac:spMk id="21" creationId="{69C30CD8-B5A5-FBAA-6D8A-38713CCA332A}"/>
          </ac:spMkLst>
        </pc:spChg>
        <pc:spChg chg="add mod">
          <ac:chgData name="shibariku0623@icloud.com" userId="47b6e960b06a1f92" providerId="LiveId" clId="{053A472A-F322-4251-AE82-7880AE8B5045}" dt="2025-03-13T08:35:51.600" v="40" actId="1076"/>
          <ac:spMkLst>
            <pc:docMk/>
            <pc:sldMk cId="1413763018" sldId="2146847175"/>
            <ac:spMk id="22" creationId="{444C0BF4-B71F-FE3F-CBF5-77E21867992C}"/>
          </ac:spMkLst>
        </pc:spChg>
        <pc:spChg chg="add mod">
          <ac:chgData name="shibariku0623@icloud.com" userId="47b6e960b06a1f92" providerId="LiveId" clId="{053A472A-F322-4251-AE82-7880AE8B5045}" dt="2025-03-13T08:35:51.600" v="40" actId="1076"/>
          <ac:spMkLst>
            <pc:docMk/>
            <pc:sldMk cId="1413763018" sldId="2146847175"/>
            <ac:spMk id="26" creationId="{57FA15F6-92D6-C46F-9A15-69A11CFAEE66}"/>
          </ac:spMkLst>
        </pc:spChg>
        <pc:picChg chg="del">
          <ac:chgData name="shibariku0623@icloud.com" userId="47b6e960b06a1f92" providerId="LiveId" clId="{053A472A-F322-4251-AE82-7880AE8B5045}" dt="2025-03-13T08:35:46.680" v="38" actId="478"/>
          <ac:picMkLst>
            <pc:docMk/>
            <pc:sldMk cId="1413763018" sldId="2146847175"/>
            <ac:picMk id="6" creationId="{4B827F2D-E065-FC1A-1C82-68ECDEC6CF19}"/>
          </ac:picMkLst>
        </pc:picChg>
        <pc:cxnChg chg="mod">
          <ac:chgData name="shibariku0623@icloud.com" userId="47b6e960b06a1f92" providerId="LiveId" clId="{053A472A-F322-4251-AE82-7880AE8B5045}" dt="2025-03-13T11:12:20.547" v="384" actId="14100"/>
          <ac:cxnSpMkLst>
            <pc:docMk/>
            <pc:sldMk cId="1413763018" sldId="2146847175"/>
            <ac:cxnSpMk id="44" creationId="{CFE34E20-9B10-958B-BAF0-12D735834DC6}"/>
          </ac:cxnSpMkLst>
        </pc:cxnChg>
      </pc:sldChg>
      <pc:sldChg chg="addSp delSp modSp mod modNotesTx">
        <pc:chgData name="shibariku0623@icloud.com" userId="47b6e960b06a1f92" providerId="LiveId" clId="{053A472A-F322-4251-AE82-7880AE8B5045}" dt="2025-03-14T00:55:08.405" v="2371" actId="20577"/>
        <pc:sldMkLst>
          <pc:docMk/>
          <pc:sldMk cId="567971650" sldId="2146847176"/>
        </pc:sldMkLst>
        <pc:spChg chg="add mod">
          <ac:chgData name="shibariku0623@icloud.com" userId="47b6e960b06a1f92" providerId="LiveId" clId="{053A472A-F322-4251-AE82-7880AE8B5045}" dt="2025-03-13T13:25:45.290" v="1907"/>
          <ac:spMkLst>
            <pc:docMk/>
            <pc:sldMk cId="567971650" sldId="2146847176"/>
            <ac:spMk id="3" creationId="{88EE02FF-9C0E-BC36-B013-48E1884471F9}"/>
          </ac:spMkLst>
        </pc:spChg>
        <pc:spChg chg="add mod">
          <ac:chgData name="shibariku0623@icloud.com" userId="47b6e960b06a1f92" providerId="LiveId" clId="{053A472A-F322-4251-AE82-7880AE8B5045}" dt="2025-03-13T13:25:45.290" v="1907"/>
          <ac:spMkLst>
            <pc:docMk/>
            <pc:sldMk cId="567971650" sldId="2146847176"/>
            <ac:spMk id="8" creationId="{7BBC96CD-CD1F-4F34-6024-288C5C57EE95}"/>
          </ac:spMkLst>
        </pc:spChg>
        <pc:spChg chg="add mod">
          <ac:chgData name="shibariku0623@icloud.com" userId="47b6e960b06a1f92" providerId="LiveId" clId="{053A472A-F322-4251-AE82-7880AE8B5045}" dt="2025-03-13T13:25:45.290" v="1907"/>
          <ac:spMkLst>
            <pc:docMk/>
            <pc:sldMk cId="567971650" sldId="2146847176"/>
            <ac:spMk id="10" creationId="{9AEEC1AB-EC47-2C5F-BA90-E0B260E33940}"/>
          </ac:spMkLst>
        </pc:spChg>
        <pc:spChg chg="mod">
          <ac:chgData name="shibariku0623@icloud.com" userId="47b6e960b06a1f92" providerId="LiveId" clId="{053A472A-F322-4251-AE82-7880AE8B5045}" dt="2025-03-13T13:25:45.290" v="1907"/>
          <ac:spMkLst>
            <pc:docMk/>
            <pc:sldMk cId="567971650" sldId="2146847176"/>
            <ac:spMk id="25" creationId="{6796EC0D-06C3-C2FD-30E8-F0905A4D6DD5}"/>
          </ac:spMkLst>
        </pc:spChg>
        <pc:spChg chg="mod">
          <ac:chgData name="shibariku0623@icloud.com" userId="47b6e960b06a1f92" providerId="LiveId" clId="{053A472A-F322-4251-AE82-7880AE8B5045}" dt="2025-03-13T13:25:45.290" v="1907"/>
          <ac:spMkLst>
            <pc:docMk/>
            <pc:sldMk cId="567971650" sldId="2146847176"/>
            <ac:spMk id="26" creationId="{EA139ED9-547E-6D5E-8AE8-F94E129D55C1}"/>
          </ac:spMkLst>
        </pc:spChg>
        <pc:spChg chg="mod">
          <ac:chgData name="shibariku0623@icloud.com" userId="47b6e960b06a1f92" providerId="LiveId" clId="{053A472A-F322-4251-AE82-7880AE8B5045}" dt="2025-03-13T13:25:45.290" v="1907"/>
          <ac:spMkLst>
            <pc:docMk/>
            <pc:sldMk cId="567971650" sldId="2146847176"/>
            <ac:spMk id="31" creationId="{16A6E32F-8E29-4361-337A-EF74FB2AB603}"/>
          </ac:spMkLst>
        </pc:spChg>
        <pc:spChg chg="add mod">
          <ac:chgData name="shibariku0623@icloud.com" userId="47b6e960b06a1f92" providerId="LiveId" clId="{053A472A-F322-4251-AE82-7880AE8B5045}" dt="2025-03-13T13:25:45.290" v="1907"/>
          <ac:spMkLst>
            <pc:docMk/>
            <pc:sldMk cId="567971650" sldId="2146847176"/>
            <ac:spMk id="63" creationId="{E35DBB1F-B07C-90BC-753C-63AA381E39FC}"/>
          </ac:spMkLst>
        </pc:spChg>
        <pc:spChg chg="add mod">
          <ac:chgData name="shibariku0623@icloud.com" userId="47b6e960b06a1f92" providerId="LiveId" clId="{053A472A-F322-4251-AE82-7880AE8B5045}" dt="2025-03-13T13:25:45.290" v="1907"/>
          <ac:spMkLst>
            <pc:docMk/>
            <pc:sldMk cId="567971650" sldId="2146847176"/>
            <ac:spMk id="93" creationId="{08ED6DE1-F7E1-73C5-FC67-FE2F892E1226}"/>
          </ac:spMkLst>
        </pc:spChg>
        <pc:spChg chg="add mod">
          <ac:chgData name="shibariku0623@icloud.com" userId="47b6e960b06a1f92" providerId="LiveId" clId="{053A472A-F322-4251-AE82-7880AE8B5045}" dt="2025-03-13T13:25:45.290" v="1907"/>
          <ac:spMkLst>
            <pc:docMk/>
            <pc:sldMk cId="567971650" sldId="2146847176"/>
            <ac:spMk id="95" creationId="{FC15C357-349D-5A3F-6A49-4E5B86522EF7}"/>
          </ac:spMkLst>
        </pc:spChg>
        <pc:spChg chg="add mod">
          <ac:chgData name="shibariku0623@icloud.com" userId="47b6e960b06a1f92" providerId="LiveId" clId="{053A472A-F322-4251-AE82-7880AE8B5045}" dt="2025-03-13T13:25:45.290" v="1907"/>
          <ac:spMkLst>
            <pc:docMk/>
            <pc:sldMk cId="567971650" sldId="2146847176"/>
            <ac:spMk id="112" creationId="{E2CD4BD1-1915-C33C-0172-0F940EB04755}"/>
          </ac:spMkLst>
        </pc:spChg>
        <pc:spChg chg="mod">
          <ac:chgData name="shibariku0623@icloud.com" userId="47b6e960b06a1f92" providerId="LiveId" clId="{053A472A-F322-4251-AE82-7880AE8B5045}" dt="2025-03-13T13:27:40.925" v="1910"/>
          <ac:spMkLst>
            <pc:docMk/>
            <pc:sldMk cId="567971650" sldId="2146847176"/>
            <ac:spMk id="125" creationId="{378643FB-4D13-EDEB-4D8B-17E26D7F32A9}"/>
          </ac:spMkLst>
        </pc:spChg>
        <pc:spChg chg="mod">
          <ac:chgData name="shibariku0623@icloud.com" userId="47b6e960b06a1f92" providerId="LiveId" clId="{053A472A-F322-4251-AE82-7880AE8B5045}" dt="2025-03-13T13:27:40.925" v="1910"/>
          <ac:spMkLst>
            <pc:docMk/>
            <pc:sldMk cId="567971650" sldId="2146847176"/>
            <ac:spMk id="135" creationId="{DFCAB4EC-3BDE-7030-75FF-24C70F25AD4E}"/>
          </ac:spMkLst>
        </pc:spChg>
        <pc:spChg chg="mod">
          <ac:chgData name="shibariku0623@icloud.com" userId="47b6e960b06a1f92" providerId="LiveId" clId="{053A472A-F322-4251-AE82-7880AE8B5045}" dt="2025-03-13T13:27:40.925" v="1910"/>
          <ac:spMkLst>
            <pc:docMk/>
            <pc:sldMk cId="567971650" sldId="2146847176"/>
            <ac:spMk id="136" creationId="{965C992E-B3ED-4B2F-7AE1-90776B7F32D6}"/>
          </ac:spMkLst>
        </pc:spChg>
        <pc:spChg chg="mod">
          <ac:chgData name="shibariku0623@icloud.com" userId="47b6e960b06a1f92" providerId="LiveId" clId="{053A472A-F322-4251-AE82-7880AE8B5045}" dt="2025-03-13T13:27:40.925" v="1910"/>
          <ac:spMkLst>
            <pc:docMk/>
            <pc:sldMk cId="567971650" sldId="2146847176"/>
            <ac:spMk id="137" creationId="{80FAA6FD-ACCF-A2AC-DEAD-A3A2A96B45E4}"/>
          </ac:spMkLst>
        </pc:spChg>
        <pc:spChg chg="mod">
          <ac:chgData name="shibariku0623@icloud.com" userId="47b6e960b06a1f92" providerId="LiveId" clId="{053A472A-F322-4251-AE82-7880AE8B5045}" dt="2025-03-13T13:27:40.925" v="1910"/>
          <ac:spMkLst>
            <pc:docMk/>
            <pc:sldMk cId="567971650" sldId="2146847176"/>
            <ac:spMk id="150" creationId="{7E0A31DF-9A3C-6C87-A480-58DA06852AFE}"/>
          </ac:spMkLst>
        </pc:spChg>
        <pc:spChg chg="mod">
          <ac:chgData name="shibariku0623@icloud.com" userId="47b6e960b06a1f92" providerId="LiveId" clId="{053A472A-F322-4251-AE82-7880AE8B5045}" dt="2025-03-13T13:27:40.925" v="1910"/>
          <ac:spMkLst>
            <pc:docMk/>
            <pc:sldMk cId="567971650" sldId="2146847176"/>
            <ac:spMk id="154" creationId="{4FC14B50-E552-ED7A-A421-7952A362FAA0}"/>
          </ac:spMkLst>
        </pc:spChg>
        <pc:spChg chg="mod">
          <ac:chgData name="shibariku0623@icloud.com" userId="47b6e960b06a1f92" providerId="LiveId" clId="{053A472A-F322-4251-AE82-7880AE8B5045}" dt="2025-03-13T13:27:40.925" v="1910"/>
          <ac:spMkLst>
            <pc:docMk/>
            <pc:sldMk cId="567971650" sldId="2146847176"/>
            <ac:spMk id="159" creationId="{B5DA015C-D158-4FBC-013C-CF922CB9C0B0}"/>
          </ac:spMkLst>
        </pc:spChg>
        <pc:spChg chg="mod">
          <ac:chgData name="shibariku0623@icloud.com" userId="47b6e960b06a1f92" providerId="LiveId" clId="{053A472A-F322-4251-AE82-7880AE8B5045}" dt="2025-03-13T13:27:40.925" v="1910"/>
          <ac:spMkLst>
            <pc:docMk/>
            <pc:sldMk cId="567971650" sldId="2146847176"/>
            <ac:spMk id="180" creationId="{FB288FC9-2EDF-409A-B35C-81576264739D}"/>
          </ac:spMkLst>
        </pc:spChg>
        <pc:spChg chg="mod">
          <ac:chgData name="shibariku0623@icloud.com" userId="47b6e960b06a1f92" providerId="LiveId" clId="{053A472A-F322-4251-AE82-7880AE8B5045}" dt="2025-03-13T13:27:40.925" v="1910"/>
          <ac:spMkLst>
            <pc:docMk/>
            <pc:sldMk cId="567971650" sldId="2146847176"/>
            <ac:spMk id="185" creationId="{AE2A1D8B-BAA1-E01E-E08D-2B5EDFAC757C}"/>
          </ac:spMkLst>
        </pc:spChg>
        <pc:spChg chg="mod">
          <ac:chgData name="shibariku0623@icloud.com" userId="47b6e960b06a1f92" providerId="LiveId" clId="{053A472A-F322-4251-AE82-7880AE8B5045}" dt="2025-03-13T13:27:40.925" v="1910"/>
          <ac:spMkLst>
            <pc:docMk/>
            <pc:sldMk cId="567971650" sldId="2146847176"/>
            <ac:spMk id="188" creationId="{E3A7EEC9-5EA5-8254-9C82-75B4E7D6C3CD}"/>
          </ac:spMkLst>
        </pc:spChg>
        <pc:grpChg chg="mod">
          <ac:chgData name="shibariku0623@icloud.com" userId="47b6e960b06a1f92" providerId="LiveId" clId="{053A472A-F322-4251-AE82-7880AE8B5045}" dt="2025-03-13T13:27:52.799" v="1912" actId="14100"/>
          <ac:grpSpMkLst>
            <pc:docMk/>
            <pc:sldMk cId="567971650" sldId="2146847176"/>
            <ac:grpSpMk id="115" creationId="{10637352-0B19-566D-DC91-3D60326071A4}"/>
          </ac:grpSpMkLst>
        </pc:grpChg>
        <pc:picChg chg="add del mod">
          <ac:chgData name="shibariku0623@icloud.com" userId="47b6e960b06a1f92" providerId="LiveId" clId="{053A472A-F322-4251-AE82-7880AE8B5045}" dt="2025-03-13T13:28:03.960" v="1914" actId="478"/>
          <ac:picMkLst>
            <pc:docMk/>
            <pc:sldMk cId="567971650" sldId="2146847176"/>
            <ac:picMk id="11" creationId="{1748DD5E-FB4C-7719-ECBC-67641C338874}"/>
          </ac:picMkLst>
        </pc:picChg>
        <pc:picChg chg="add mod">
          <ac:chgData name="shibariku0623@icloud.com" userId="47b6e960b06a1f92" providerId="LiveId" clId="{053A472A-F322-4251-AE82-7880AE8B5045}" dt="2025-03-13T13:28:32.279" v="1919" actId="1076"/>
          <ac:picMkLst>
            <pc:docMk/>
            <pc:sldMk cId="567971650" sldId="2146847176"/>
            <ac:picMk id="217" creationId="{BFCC5D8C-F573-C8F4-4DF4-310DED929D6F}"/>
          </ac:picMkLst>
        </pc:picChg>
      </pc:sldChg>
      <pc:sldChg chg="modSp mod modNotesTx">
        <pc:chgData name="shibariku0623@icloud.com" userId="47b6e960b06a1f92" providerId="LiveId" clId="{053A472A-F322-4251-AE82-7880AE8B5045}" dt="2025-03-14T00:58:30.902" v="2459" actId="5793"/>
        <pc:sldMkLst>
          <pc:docMk/>
          <pc:sldMk cId="2654229848" sldId="2146847178"/>
        </pc:sldMkLst>
        <pc:picChg chg="mod">
          <ac:chgData name="shibariku0623@icloud.com" userId="47b6e960b06a1f92" providerId="LiveId" clId="{053A472A-F322-4251-AE82-7880AE8B5045}" dt="2025-03-13T13:24:29.211" v="1905" actId="1076"/>
          <ac:picMkLst>
            <pc:docMk/>
            <pc:sldMk cId="2654229848" sldId="2146847178"/>
            <ac:picMk id="11" creationId="{CE2708C9-FC54-15C2-802B-C4DF847F426F}"/>
          </ac:picMkLst>
        </pc:picChg>
      </pc:sldChg>
      <pc:sldChg chg="addSp modSp modNotesTx">
        <pc:chgData name="shibariku0623@icloud.com" userId="47b6e960b06a1f92" providerId="LiveId" clId="{053A472A-F322-4251-AE82-7880AE8B5045}" dt="2025-03-14T01:02:29.929" v="2522" actId="20577"/>
        <pc:sldMkLst>
          <pc:docMk/>
          <pc:sldMk cId="2266308301" sldId="2146847179"/>
        </pc:sldMkLst>
        <pc:spChg chg="add mod">
          <ac:chgData name="shibariku0623@icloud.com" userId="47b6e960b06a1f92" providerId="LiveId" clId="{053A472A-F322-4251-AE82-7880AE8B5045}" dt="2025-03-13T03:19:57.762" v="0"/>
          <ac:spMkLst>
            <pc:docMk/>
            <pc:sldMk cId="2266308301" sldId="2146847179"/>
            <ac:spMk id="2" creationId="{7724F5F0-57A1-B7CA-ED88-6F7B4EB753D4}"/>
          </ac:spMkLst>
        </pc:spChg>
      </pc:sldChg>
      <pc:sldChg chg="addSp modSp mod modNotesTx">
        <pc:chgData name="shibariku0623@icloud.com" userId="47b6e960b06a1f92" providerId="LiveId" clId="{053A472A-F322-4251-AE82-7880AE8B5045}" dt="2025-03-14T01:14:35.262" v="3291" actId="5793"/>
        <pc:sldMkLst>
          <pc:docMk/>
          <pc:sldMk cId="3862261580" sldId="2146847183"/>
        </pc:sldMkLst>
        <pc:spChg chg="mod">
          <ac:chgData name="shibariku0623@icloud.com" userId="47b6e960b06a1f92" providerId="LiveId" clId="{053A472A-F322-4251-AE82-7880AE8B5045}" dt="2025-03-13T03:33:42.130" v="2" actId="164"/>
          <ac:spMkLst>
            <pc:docMk/>
            <pc:sldMk cId="3862261580" sldId="2146847183"/>
            <ac:spMk id="7" creationId="{1F412281-CD22-AFD0-0522-D4670D66EB0F}"/>
          </ac:spMkLst>
        </pc:spChg>
        <pc:spChg chg="mod">
          <ac:chgData name="shibariku0623@icloud.com" userId="47b6e960b06a1f92" providerId="LiveId" clId="{053A472A-F322-4251-AE82-7880AE8B5045}" dt="2025-03-13T03:33:42.130" v="2" actId="164"/>
          <ac:spMkLst>
            <pc:docMk/>
            <pc:sldMk cId="3862261580" sldId="2146847183"/>
            <ac:spMk id="8" creationId="{669DA2E8-9AD0-4A3F-3740-589EB828163D}"/>
          </ac:spMkLst>
        </pc:spChg>
        <pc:spChg chg="mod">
          <ac:chgData name="shibariku0623@icloud.com" userId="47b6e960b06a1f92" providerId="LiveId" clId="{053A472A-F322-4251-AE82-7880AE8B5045}" dt="2025-03-13T03:33:42.130" v="2" actId="164"/>
          <ac:spMkLst>
            <pc:docMk/>
            <pc:sldMk cId="3862261580" sldId="2146847183"/>
            <ac:spMk id="33" creationId="{3BE7ABB7-5999-C3AB-8639-5059F5BF38D9}"/>
          </ac:spMkLst>
        </pc:spChg>
        <pc:spChg chg="mod">
          <ac:chgData name="shibariku0623@icloud.com" userId="47b6e960b06a1f92" providerId="LiveId" clId="{053A472A-F322-4251-AE82-7880AE8B5045}" dt="2025-03-14T01:07:34.832" v="2762" actId="1076"/>
          <ac:spMkLst>
            <pc:docMk/>
            <pc:sldMk cId="3862261580" sldId="2146847183"/>
            <ac:spMk id="35" creationId="{BD540F19-FD42-1CC1-E05C-DBA5DB323B0E}"/>
          </ac:spMkLst>
        </pc:spChg>
        <pc:spChg chg="mod">
          <ac:chgData name="shibariku0623@icloud.com" userId="47b6e960b06a1f92" providerId="LiveId" clId="{053A472A-F322-4251-AE82-7880AE8B5045}" dt="2025-03-13T03:33:42.130" v="2" actId="164"/>
          <ac:spMkLst>
            <pc:docMk/>
            <pc:sldMk cId="3862261580" sldId="2146847183"/>
            <ac:spMk id="36" creationId="{BE9E6208-5DC4-7380-B99A-2237CDF8843C}"/>
          </ac:spMkLst>
        </pc:spChg>
        <pc:spChg chg="mod">
          <ac:chgData name="shibariku0623@icloud.com" userId="47b6e960b06a1f92" providerId="LiveId" clId="{053A472A-F322-4251-AE82-7880AE8B5045}" dt="2025-03-13T03:33:42.130" v="2" actId="164"/>
          <ac:spMkLst>
            <pc:docMk/>
            <pc:sldMk cId="3862261580" sldId="2146847183"/>
            <ac:spMk id="37" creationId="{256893A6-892B-1DB0-41ED-7BB901165BF3}"/>
          </ac:spMkLst>
        </pc:spChg>
        <pc:spChg chg="mod">
          <ac:chgData name="shibariku0623@icloud.com" userId="47b6e960b06a1f92" providerId="LiveId" clId="{053A472A-F322-4251-AE82-7880AE8B5045}" dt="2025-03-13T03:33:42.130" v="2" actId="164"/>
          <ac:spMkLst>
            <pc:docMk/>
            <pc:sldMk cId="3862261580" sldId="2146847183"/>
            <ac:spMk id="38" creationId="{E4DB490D-4B4D-24CC-FF0A-FCD1310C7E06}"/>
          </ac:spMkLst>
        </pc:spChg>
        <pc:spChg chg="mod">
          <ac:chgData name="shibariku0623@icloud.com" userId="47b6e960b06a1f92" providerId="LiveId" clId="{053A472A-F322-4251-AE82-7880AE8B5045}" dt="2025-03-13T03:33:42.130" v="2" actId="164"/>
          <ac:spMkLst>
            <pc:docMk/>
            <pc:sldMk cId="3862261580" sldId="2146847183"/>
            <ac:spMk id="41" creationId="{D2D081A0-77AC-51E0-FBE7-89EB2E04A6E2}"/>
          </ac:spMkLst>
        </pc:spChg>
        <pc:spChg chg="mod">
          <ac:chgData name="shibariku0623@icloud.com" userId="47b6e960b06a1f92" providerId="LiveId" clId="{053A472A-F322-4251-AE82-7880AE8B5045}" dt="2025-03-13T03:33:42.130" v="2" actId="164"/>
          <ac:spMkLst>
            <pc:docMk/>
            <pc:sldMk cId="3862261580" sldId="2146847183"/>
            <ac:spMk id="43" creationId="{34BC8975-FA31-362A-01AC-79681723433B}"/>
          </ac:spMkLst>
        </pc:spChg>
        <pc:spChg chg="mod">
          <ac:chgData name="shibariku0623@icloud.com" userId="47b6e960b06a1f92" providerId="LiveId" clId="{053A472A-F322-4251-AE82-7880AE8B5045}" dt="2025-03-13T03:33:42.130" v="2" actId="164"/>
          <ac:spMkLst>
            <pc:docMk/>
            <pc:sldMk cId="3862261580" sldId="2146847183"/>
            <ac:spMk id="50" creationId="{14907D08-995A-91E4-68C0-C0DD3E1F99A0}"/>
          </ac:spMkLst>
        </pc:spChg>
        <pc:spChg chg="mod">
          <ac:chgData name="shibariku0623@icloud.com" userId="47b6e960b06a1f92" providerId="LiveId" clId="{053A472A-F322-4251-AE82-7880AE8B5045}" dt="2025-03-13T08:45:22.692" v="135" actId="207"/>
          <ac:spMkLst>
            <pc:docMk/>
            <pc:sldMk cId="3862261580" sldId="2146847183"/>
            <ac:spMk id="60" creationId="{431EA612-B220-8490-9AA5-2FD77EC2E39C}"/>
          </ac:spMkLst>
        </pc:spChg>
      </pc:sldChg>
      <pc:sldChg chg="modSp mod modNotesTx">
        <pc:chgData name="shibariku0623@icloud.com" userId="47b6e960b06a1f92" providerId="LiveId" clId="{053A472A-F322-4251-AE82-7880AE8B5045}" dt="2025-03-14T01:16:09.950" v="3333" actId="20577"/>
        <pc:sldMkLst>
          <pc:docMk/>
          <pc:sldMk cId="1189505194" sldId="2146847191"/>
        </pc:sldMkLst>
        <pc:spChg chg="mod">
          <ac:chgData name="shibariku0623@icloud.com" userId="47b6e960b06a1f92" providerId="LiveId" clId="{053A472A-F322-4251-AE82-7880AE8B5045}" dt="2025-03-13T05:05:08.762" v="34" actId="20577"/>
          <ac:spMkLst>
            <pc:docMk/>
            <pc:sldMk cId="1189505194" sldId="2146847191"/>
            <ac:spMk id="14" creationId="{E910D501-7F97-8F21-0301-E7C534BA4B40}"/>
          </ac:spMkLst>
        </pc:spChg>
        <pc:grpChg chg="mod">
          <ac:chgData name="shibariku0623@icloud.com" userId="47b6e960b06a1f92" providerId="LiveId" clId="{053A472A-F322-4251-AE82-7880AE8B5045}" dt="2025-03-13T05:05:15.604" v="36" actId="1076"/>
          <ac:grpSpMkLst>
            <pc:docMk/>
            <pc:sldMk cId="1189505194" sldId="2146847191"/>
            <ac:grpSpMk id="19" creationId="{D96A5993-1A12-653D-C7F5-560DA08BA28A}"/>
          </ac:grpSpMkLst>
        </pc:grpChg>
      </pc:sldChg>
      <pc:sldChg chg="addSp modSp modNotesTx">
        <pc:chgData name="shibariku0623@icloud.com" userId="47b6e960b06a1f92" providerId="LiveId" clId="{053A472A-F322-4251-AE82-7880AE8B5045}" dt="2025-03-14T01:03:45.026" v="2630" actId="5793"/>
        <pc:sldMkLst>
          <pc:docMk/>
          <pc:sldMk cId="269875097" sldId="2146847193"/>
        </pc:sldMkLst>
        <pc:spChg chg="add mod">
          <ac:chgData name="shibariku0623@icloud.com" userId="47b6e960b06a1f92" providerId="LiveId" clId="{053A472A-F322-4251-AE82-7880AE8B5045}" dt="2025-03-13T03:22:05.921" v="1"/>
          <ac:spMkLst>
            <pc:docMk/>
            <pc:sldMk cId="269875097" sldId="2146847193"/>
            <ac:spMk id="6" creationId="{333F94A8-6327-4E6C-AA25-F391BEB6E7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3076363" cy="513508"/>
          </a:xfrm>
          <a:prstGeom prst="rect">
            <a:avLst/>
          </a:prstGeom>
        </p:spPr>
        <p:txBody>
          <a:bodyPr vert="horz" lIns="99040" tIns="49520" rIns="99040" bIns="49520"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1295" y="0"/>
            <a:ext cx="3076363" cy="513508"/>
          </a:xfrm>
          <a:prstGeom prst="rect">
            <a:avLst/>
          </a:prstGeom>
        </p:spPr>
        <p:txBody>
          <a:bodyPr vert="horz" lIns="99040" tIns="49520" rIns="99040" bIns="49520" rtlCol="0"/>
          <a:lstStyle>
            <a:lvl1pPr algn="r">
              <a:defRPr sz="1300"/>
            </a:lvl1pPr>
          </a:lstStyle>
          <a:p>
            <a:fld id="{0E5C6A7A-4523-49D1-8442-187F32AD7AE8}" type="datetimeFigureOut">
              <a:rPr kumimoji="1" lang="ja-JP" altLang="en-US" smtClean="0"/>
              <a:t>2025/3/14</a:t>
            </a:fld>
            <a:endParaRPr kumimoji="1" lang="ja-JP" altLang="en-US"/>
          </a:p>
        </p:txBody>
      </p:sp>
      <p:sp>
        <p:nvSpPr>
          <p:cNvPr id="4" name="スライド イメージ プレースホルダー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9040" tIns="49520" rIns="99040" bIns="49520" rtlCol="0" anchor="ctr"/>
          <a:lstStyle/>
          <a:p>
            <a:endParaRPr lang="ja-JP" altLang="en-US"/>
          </a:p>
        </p:txBody>
      </p:sp>
      <p:sp>
        <p:nvSpPr>
          <p:cNvPr id="5" name="ノート プレースホルダー 4"/>
          <p:cNvSpPr>
            <a:spLocks noGrp="1"/>
          </p:cNvSpPr>
          <p:nvPr>
            <p:ph type="body" sz="quarter" idx="3"/>
          </p:nvPr>
        </p:nvSpPr>
        <p:spPr>
          <a:xfrm>
            <a:off x="709931" y="4925407"/>
            <a:ext cx="5679440" cy="4029879"/>
          </a:xfrm>
          <a:prstGeom prst="rect">
            <a:avLst/>
          </a:prstGeom>
        </p:spPr>
        <p:txBody>
          <a:bodyPr vert="horz" lIns="99040" tIns="49520" rIns="99040" bIns="495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108"/>
            <a:ext cx="3076363" cy="513507"/>
          </a:xfrm>
          <a:prstGeom prst="rect">
            <a:avLst/>
          </a:prstGeom>
        </p:spPr>
        <p:txBody>
          <a:bodyPr vert="horz" lIns="99040" tIns="49520" rIns="99040" bIns="49520"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1295" y="9721108"/>
            <a:ext cx="3076363" cy="513507"/>
          </a:xfrm>
          <a:prstGeom prst="rect">
            <a:avLst/>
          </a:prstGeom>
        </p:spPr>
        <p:txBody>
          <a:bodyPr vert="horz" lIns="99040" tIns="49520" rIns="99040" bIns="49520" rtlCol="0" anchor="b"/>
          <a:lstStyle>
            <a:lvl1pPr algn="r">
              <a:defRPr sz="1300"/>
            </a:lvl1pPr>
          </a:lstStyle>
          <a:p>
            <a:fld id="{4F1171DB-6521-40C8-9DD8-7809C63F9BE3}" type="slidenum">
              <a:rPr kumimoji="1" lang="ja-JP" altLang="en-US" smtClean="0"/>
              <a:t>‹#›</a:t>
            </a:fld>
            <a:endParaRPr kumimoji="1" lang="ja-JP" altLang="en-US"/>
          </a:p>
        </p:txBody>
      </p:sp>
    </p:spTree>
    <p:extLst>
      <p:ext uri="{BB962C8B-B14F-4D97-AF65-F5344CB8AC3E}">
        <p14:creationId xmlns:p14="http://schemas.microsoft.com/office/powerpoint/2010/main" val="1613208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1055688" y="1279525"/>
            <a:ext cx="4987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709930" y="4925407"/>
            <a:ext cx="5679440" cy="4029879"/>
          </a:xfrm>
          <a:prstGeom prst="rect">
            <a:avLst/>
          </a:prstGeom>
          <a:noFill/>
          <a:ln>
            <a:noFill/>
          </a:ln>
        </p:spPr>
        <p:txBody>
          <a:bodyPr spcFirstLastPara="1" wrap="square" lIns="99032" tIns="49502" rIns="99032" bIns="49502" anchor="t" anchorCtr="0">
            <a:noAutofit/>
          </a:bodyPr>
          <a:lstStyle/>
          <a:p>
            <a:pPr>
              <a:buClr>
                <a:schemeClr val="dk1"/>
              </a:buClr>
              <a:buSzPts val="1200"/>
            </a:pPr>
            <a:r>
              <a:rPr lang="ja-JP" altLang="en-US" dirty="0"/>
              <a:t>沸騰検知技術の検討のパートに入りたいと思います．</a:t>
            </a:r>
            <a:endParaRPr lang="en-US" altLang="ja-JP" dirty="0"/>
          </a:p>
          <a:p>
            <a:pPr>
              <a:buClr>
                <a:schemeClr val="dk1"/>
              </a:buClr>
              <a:buSzPts val="1200"/>
            </a:pPr>
            <a:r>
              <a:rPr lang="ja-JP" altLang="en-US" dirty="0"/>
              <a:t>柴崎ですよろしくお願いいたします．</a:t>
            </a:r>
            <a:endParaRPr dirty="0"/>
          </a:p>
        </p:txBody>
      </p:sp>
      <p:sp>
        <p:nvSpPr>
          <p:cNvPr id="84" name="Google Shape;84;p1:notes"/>
          <p:cNvSpPr txBox="1">
            <a:spLocks noGrp="1"/>
          </p:cNvSpPr>
          <p:nvPr>
            <p:ph type="sldNum" idx="12"/>
          </p:nvPr>
        </p:nvSpPr>
        <p:spPr>
          <a:xfrm>
            <a:off x="4021294" y="9721107"/>
            <a:ext cx="3076363" cy="513507"/>
          </a:xfrm>
          <a:prstGeom prst="rect">
            <a:avLst/>
          </a:prstGeom>
          <a:noFill/>
          <a:ln>
            <a:noFill/>
          </a:ln>
        </p:spPr>
        <p:txBody>
          <a:bodyPr spcFirstLastPara="1" wrap="square" lIns="99032" tIns="49502" rIns="99032" bIns="49502" anchor="b" anchorCtr="0">
            <a:noAutofit/>
          </a:bodyPr>
          <a:lstStyle/>
          <a:p>
            <a:pPr marL="0" marR="0" lvl="0" indent="0" algn="r" defTabSz="914400" rtl="0" eaLnBrk="1" fontAlgn="auto" latinLnBrk="0" hangingPunct="1">
              <a:lnSpc>
                <a:spcPct val="100000"/>
              </a:lnSpc>
              <a:spcBef>
                <a:spcPts val="0"/>
              </a:spcBef>
              <a:spcAft>
                <a:spcPts val="0"/>
              </a:spcAft>
              <a:buClr>
                <a:prstClr val="black"/>
              </a:buClr>
              <a:buSzPts val="1200"/>
              <a:buFontTx/>
              <a:buNone/>
              <a:tabLst/>
              <a:defRPr/>
            </a:pPr>
            <a:fld id="{00000000-1234-1234-1234-123412341234}" type="slidenum">
              <a:rPr kumimoji="1" lang="en-US" sz="1300" b="0" i="0" u="none" strike="noStrike" kern="1200" cap="none" spc="0" normalizeH="0" baseline="0" noProof="0">
                <a:ln>
                  <a:noFill/>
                </a:ln>
                <a:solidFill>
                  <a:prstClr val="black"/>
                </a:solidFill>
                <a:effectLst/>
                <a:uLnTx/>
                <a:uFillTx/>
                <a:latin typeface="游ゴシック" panose="020F0502020204030204"/>
                <a:ea typeface="+mn-ea"/>
                <a:cs typeface="+mn-cs"/>
              </a:rPr>
              <a:pPr marL="0" marR="0" lvl="0" indent="0" algn="r" defTabSz="914400" rtl="0" eaLnBrk="1" fontAlgn="auto" latinLnBrk="0" hangingPunct="1">
                <a:lnSpc>
                  <a:spcPct val="100000"/>
                </a:lnSpc>
                <a:spcBef>
                  <a:spcPts val="0"/>
                </a:spcBef>
                <a:spcAft>
                  <a:spcPts val="0"/>
                </a:spcAft>
                <a:buClr>
                  <a:prstClr val="black"/>
                </a:buClr>
                <a:buSzPts val="1200"/>
                <a:buFontTx/>
                <a:buNone/>
                <a:tabLst/>
                <a:defRPr/>
              </a:pPr>
              <a:t>1</a:t>
            </a:fld>
            <a:endParaRPr kumimoji="1" sz="1300" b="0" i="0" u="none" strike="noStrike" kern="1200" cap="none" spc="0" normalizeH="0" baseline="0" noProof="0">
              <a:ln>
                <a:noFill/>
              </a:ln>
              <a:solidFill>
                <a:prstClr val="black"/>
              </a:solidFill>
              <a:effectLst/>
              <a:uLnTx/>
              <a:uFillTx/>
              <a:latin typeface="游ゴシック" panose="020F0502020204030204"/>
              <a:ea typeface="+mn-ea"/>
              <a:cs typeface="+mn-cs"/>
            </a:endParaRPr>
          </a:p>
        </p:txBody>
      </p:sp>
    </p:spTree>
    <p:extLst>
      <p:ext uri="{BB962C8B-B14F-4D97-AF65-F5344CB8AC3E}">
        <p14:creationId xmlns:p14="http://schemas.microsoft.com/office/powerpoint/2010/main" val="3581280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沸騰</a:t>
            </a:r>
            <a:r>
              <a:rPr lang="ja-JP" altLang="en-US" dirty="0"/>
              <a:t>の初期段階に生じる蒸気泡の生成・消滅がもたらす</a:t>
            </a:r>
            <a:r>
              <a:rPr lang="en-US" altLang="ja-JP" dirty="0"/>
              <a:t>(</a:t>
            </a:r>
            <a:r>
              <a:rPr lang="ja-JP" altLang="en-US" dirty="0"/>
              <a:t>きゅうしゅん</a:t>
            </a:r>
            <a:r>
              <a:rPr lang="en-US" altLang="ja-JP" dirty="0"/>
              <a:t>)</a:t>
            </a:r>
            <a:r>
              <a:rPr lang="ja-JP" altLang="en-US" dirty="0"/>
              <a:t>急峻な圧力変化に着目し、その特徴を深層学習に活かすことで沸騰現象を検知するアルゴリズムを構築することを目指しています。</a:t>
            </a:r>
            <a:endParaRPr lang="en-US" altLang="ja-JP" dirty="0"/>
          </a:p>
          <a:p>
            <a:endParaRPr lang="en-US" altLang="ja-JP" dirty="0"/>
          </a:p>
          <a:p>
            <a:r>
              <a:rPr lang="ja-JP" altLang="en-US" dirty="0"/>
              <a:t>より具体的に言うと，</a:t>
            </a:r>
            <a:endParaRPr lang="en-US" altLang="ja-JP" dirty="0"/>
          </a:p>
        </p:txBody>
      </p:sp>
      <p:sp>
        <p:nvSpPr>
          <p:cNvPr id="4" name="スライド番号プレースホルダー 3"/>
          <p:cNvSpPr>
            <a:spLocks noGrp="1"/>
          </p:cNvSpPr>
          <p:nvPr>
            <p:ph type="sldNum" sz="quarter" idx="5"/>
          </p:nvPr>
        </p:nvSpPr>
        <p:spPr/>
        <p:txBody>
          <a:bodyPr/>
          <a:lstStyle/>
          <a:p>
            <a:fld id="{4F1171DB-6521-40C8-9DD8-7809C63F9BE3}" type="slidenum">
              <a:rPr kumimoji="1" lang="ja-JP" altLang="en-US" smtClean="0"/>
              <a:t>2</a:t>
            </a:fld>
            <a:endParaRPr kumimoji="1" lang="ja-JP" altLang="en-US"/>
          </a:p>
        </p:txBody>
      </p:sp>
    </p:spTree>
    <p:extLst>
      <p:ext uri="{BB962C8B-B14F-4D97-AF65-F5344CB8AC3E}">
        <p14:creationId xmlns:p14="http://schemas.microsoft.com/office/powerpoint/2010/main" val="1476952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先行研究では、</a:t>
            </a:r>
            <a:r>
              <a:rPr lang="en-US" altLang="ja-JP" dirty="0"/>
              <a:t>STFT</a:t>
            </a:r>
            <a:r>
              <a:rPr lang="ja-JP" altLang="en-US" dirty="0"/>
              <a:t>や</a:t>
            </a:r>
            <a:r>
              <a:rPr lang="en-US" altLang="ja-JP" dirty="0"/>
              <a:t>CWT</a:t>
            </a:r>
            <a:r>
              <a:rPr lang="ja-JP" altLang="en-US" dirty="0"/>
              <a:t>などの周波数解析手法と深層学習の一種である</a:t>
            </a:r>
            <a:r>
              <a:rPr lang="en-US" altLang="ja-JP" dirty="0"/>
              <a:t>CNN</a:t>
            </a:r>
            <a:r>
              <a:rPr lang="ja-JP" altLang="en-US" dirty="0"/>
              <a:t>を組み合わせることで、沸騰・未沸騰状態の検出を試みています。しかし、単一モデルでは騒音やノイズに対する耐性が十分でなく、予測の安定性も課題となっています。また、閾値の設定がラベルの境界条件に依存しやすい点も問題です。そこで、本研究ではラベル付与に左右されにくい新たな分類手法を検討し、より頑健で安定した沸騰検出モデルの構築を目指し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4F1171DB-6521-40C8-9DD8-7809C63F9BE3}" type="slidenum">
              <a:rPr kumimoji="1" lang="ja-JP" altLang="en-US" smtClean="0"/>
              <a:t>3</a:t>
            </a:fld>
            <a:endParaRPr kumimoji="1" lang="ja-JP" altLang="en-US"/>
          </a:p>
        </p:txBody>
      </p:sp>
    </p:spTree>
    <p:extLst>
      <p:ext uri="{BB962C8B-B14F-4D97-AF65-F5344CB8AC3E}">
        <p14:creationId xmlns:p14="http://schemas.microsoft.com/office/powerpoint/2010/main" val="2311951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u="none" dirty="0"/>
              <a:t>1</a:t>
            </a:r>
            <a:r>
              <a:rPr lang="ja-JP" altLang="en-US" u="none" dirty="0"/>
              <a:t>つ目に，</a:t>
            </a:r>
            <a:r>
              <a:rPr lang="ja-JP" altLang="en-US" u="sng" dirty="0"/>
              <a:t>ラベル付与に依存しない</a:t>
            </a:r>
            <a:r>
              <a:rPr lang="ja-JP" altLang="en-US" dirty="0"/>
              <a:t>ような，熱流束ベースの沸騰発生検知手法を構築しました．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右の図にあるように，</a:t>
            </a:r>
            <a:r>
              <a:rPr lang="ja-JP" altLang="en-US" b="1" dirty="0"/>
              <a:t>熱流束による回帰分析</a:t>
            </a:r>
            <a:r>
              <a:rPr lang="ja-JP" altLang="en-US" dirty="0"/>
              <a:t>と</a:t>
            </a:r>
            <a:r>
              <a:rPr lang="ja-JP" altLang="en-US" b="1" dirty="0"/>
              <a:t>実測した核沸騰開始時点の熱流束</a:t>
            </a:r>
            <a:r>
              <a:rPr lang="ja-JP" altLang="en-US" dirty="0"/>
              <a:t>を用いて，</a:t>
            </a:r>
            <a:r>
              <a:rPr lang="ja-JP" altLang="en-US" u="sng" dirty="0"/>
              <a:t>沸騰開始近傍における</a:t>
            </a:r>
            <a:r>
              <a:rPr lang="ja-JP" altLang="en-US" b="1" dirty="0"/>
              <a:t>沸騰発生の</a:t>
            </a:r>
            <a:r>
              <a:rPr lang="en-US" altLang="ja-JP" b="1" dirty="0"/>
              <a:t>100%</a:t>
            </a:r>
            <a:r>
              <a:rPr lang="ja-JP" altLang="en-US" b="1" dirty="0"/>
              <a:t>検知可能な熱流束</a:t>
            </a:r>
            <a:r>
              <a:rPr lang="ja-JP" altLang="en-US" dirty="0"/>
              <a:t>を評価しました．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2</a:t>
            </a:r>
            <a:r>
              <a:rPr lang="ja-JP" altLang="en-US" dirty="0"/>
              <a:t>つ目に，単一モデルのみを用いていた課題に対して，</a:t>
            </a:r>
            <a:r>
              <a:rPr lang="ja-JP" altLang="en-US" b="1" u="sng" dirty="0"/>
              <a:t>複数モデル活用手法の検討</a:t>
            </a:r>
            <a:r>
              <a:rPr lang="ja-JP" altLang="en-US" dirty="0"/>
              <a:t>をしました．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その手法として，</a:t>
            </a:r>
            <a:r>
              <a:rPr lang="ja-JP" altLang="en-US" sz="1200" b="1" dirty="0">
                <a:latin typeface="メイリオ" panose="020B0604030504040204" pitchFamily="50" charset="-128"/>
                <a:ea typeface="メイリオ" panose="020B0604030504040204" pitchFamily="50" charset="-128"/>
              </a:rPr>
              <a:t>アンサンブル学習に基づく複数モデルを活用し，</a:t>
            </a:r>
            <a:r>
              <a:rPr lang="ja-JP" altLang="en-US" sz="1200" dirty="0">
                <a:latin typeface="メイリオ" panose="020B0604030504040204" pitchFamily="50" charset="-128"/>
                <a:ea typeface="メイリオ" panose="020B0604030504040204" pitchFamily="50" charset="-128"/>
              </a:rPr>
              <a:t>一例的な環境雑音として</a:t>
            </a:r>
            <a:r>
              <a:rPr lang="ja-JP" altLang="en-US" sz="1200" b="1" dirty="0">
                <a:latin typeface="メイリオ" panose="020B0604030504040204" pitchFamily="50" charset="-128"/>
                <a:ea typeface="メイリオ" panose="020B0604030504040204" pitchFamily="50" charset="-128"/>
              </a:rPr>
              <a:t>水流動音を適用</a:t>
            </a:r>
            <a:r>
              <a:rPr lang="ja-JP" altLang="en-US" sz="1200" b="0" dirty="0">
                <a:latin typeface="メイリオ" panose="020B0604030504040204" pitchFamily="50" charset="-128"/>
                <a:ea typeface="メイリオ" panose="020B0604030504040204" pitchFamily="50" charset="-128"/>
              </a:rPr>
              <a:t>した環境下でも安定した検知が行えるかを検証しました．</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5"/>
          </p:nvPr>
        </p:nvSpPr>
        <p:spPr/>
        <p:txBody>
          <a:bodyPr/>
          <a:lstStyle/>
          <a:p>
            <a:fld id="{4F1171DB-6521-40C8-9DD8-7809C63F9BE3}" type="slidenum">
              <a:rPr kumimoji="1" lang="ja-JP" altLang="en-US" smtClean="0"/>
              <a:t>4</a:t>
            </a:fld>
            <a:endParaRPr kumimoji="1" lang="ja-JP" altLang="en-US"/>
          </a:p>
        </p:txBody>
      </p:sp>
    </p:spTree>
    <p:extLst>
      <p:ext uri="{BB962C8B-B14F-4D97-AF65-F5344CB8AC3E}">
        <p14:creationId xmlns:p14="http://schemas.microsoft.com/office/powerpoint/2010/main" val="1915533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サブクール沸騰実験では、機械学習用に沸騰・未沸騰状態の音響データを取得するため、白金細線（長さ</a:t>
            </a:r>
            <a:r>
              <a:rPr lang="en-US" altLang="ja-JP" dirty="0"/>
              <a:t>4.0cm</a:t>
            </a:r>
            <a:r>
              <a:rPr lang="ja-JP" altLang="en-US" dirty="0"/>
              <a:t>、直径</a:t>
            </a:r>
            <a:r>
              <a:rPr lang="en-US" altLang="ja-JP" dirty="0"/>
              <a:t>0.3mm</a:t>
            </a:r>
            <a:r>
              <a:rPr lang="ja-JP" altLang="en-US" dirty="0"/>
              <a:t>）を水槽内に張り、超純水を加熱・脱気してから目標液温</a:t>
            </a:r>
            <a:r>
              <a:rPr lang="en-US" altLang="ja-JP" dirty="0"/>
              <a:t>80℃</a:t>
            </a:r>
            <a:r>
              <a:rPr lang="ja-JP" altLang="en-US" dirty="0"/>
              <a:t>（サブクール度</a:t>
            </a:r>
            <a:r>
              <a:rPr lang="en-US" altLang="ja-JP" dirty="0"/>
              <a:t>20</a:t>
            </a:r>
            <a:r>
              <a:rPr lang="ja-JP" altLang="en-US" dirty="0"/>
              <a:t>）に自然冷却後、温度を</a:t>
            </a:r>
            <a:r>
              <a:rPr lang="en-US" altLang="ja-JP" dirty="0"/>
              <a:t>±1℃</a:t>
            </a:r>
            <a:r>
              <a:rPr lang="ja-JP" altLang="en-US" dirty="0"/>
              <a:t>に安定させました。</a:t>
            </a:r>
            <a:endParaRPr lang="en-US" altLang="ja-JP" dirty="0"/>
          </a:p>
          <a:p>
            <a:r>
              <a:rPr lang="ja-JP" altLang="en-US" dirty="0"/>
              <a:t>録音用マイクなどを設置し、同一条件で</a:t>
            </a:r>
            <a:r>
              <a:rPr lang="en-US" altLang="ja-JP" dirty="0"/>
              <a:t>3</a:t>
            </a:r>
            <a:r>
              <a:rPr lang="ja-JP" altLang="en-US" dirty="0"/>
              <a:t>回実験を行うことで再現性を確保し、可視化を伴う基礎データとして解析に用いています。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4F1171DB-6521-40C8-9DD8-7809C63F9BE3}" type="slidenum">
              <a:rPr kumimoji="1" lang="ja-JP" altLang="en-US" smtClean="0"/>
              <a:t>5</a:t>
            </a:fld>
            <a:endParaRPr kumimoji="1" lang="ja-JP" altLang="en-US"/>
          </a:p>
        </p:txBody>
      </p:sp>
    </p:spTree>
    <p:extLst>
      <p:ext uri="{BB962C8B-B14F-4D97-AF65-F5344CB8AC3E}">
        <p14:creationId xmlns:p14="http://schemas.microsoft.com/office/powerpoint/2010/main" val="1488442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5097-487D-1E94-5B96-5251DFB5C26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462DFC-A648-BD42-17B4-CECB9539542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0E83D56A-3655-0A6E-A2C3-7EE9804C9F2B}"/>
                  </a:ext>
                </a:extLst>
              </p:cNvPr>
              <p:cNvSpPr>
                <a:spLocks noGrp="1"/>
              </p:cNvSpPr>
              <p:nvPr>
                <p:ph type="body" idx="1"/>
              </p:nvPr>
            </p:nvSpPr>
            <p:spPr/>
            <p:txBody>
              <a:bodyPr/>
              <a:lstStyle/>
              <a:p>
                <a:r>
                  <a:rPr lang="ja-JP" altLang="en-US" dirty="0"/>
                  <a:t>実験では、白金細線に</a:t>
                </a:r>
                <a:r>
                  <a:rPr lang="en-US" altLang="ja-JP" dirty="0"/>
                  <a:t>0.0V</a:t>
                </a:r>
                <a:r>
                  <a:rPr lang="ja-JP" altLang="en-US" dirty="0"/>
                  <a:t>から</a:t>
                </a:r>
                <a:r>
                  <a:rPr lang="en-US" altLang="ja-JP" dirty="0"/>
                  <a:t>2.5V</a:t>
                </a:r>
                <a:r>
                  <a:rPr lang="ja-JP" altLang="en-US" dirty="0"/>
                  <a:t>まで</a:t>
                </a:r>
                <a:r>
                  <a:rPr lang="en-US" altLang="ja-JP" dirty="0"/>
                  <a:t>0.1V</a:t>
                </a:r>
                <a:r>
                  <a:rPr lang="ja-JP" altLang="en-US" dirty="0"/>
                  <a:t>刻みで電圧を印加し、各条件で</a:t>
                </a:r>
                <a:r>
                  <a:rPr lang="en-US" altLang="ja-JP" dirty="0"/>
                  <a:t>60</a:t>
                </a:r>
                <a:r>
                  <a:rPr lang="ja-JP" altLang="en-US" dirty="0"/>
                  <a:t>秒間の沸騰音をサンプリングレート</a:t>
                </a:r>
                <a:r>
                  <a:rPr lang="en-US" altLang="ja-JP" dirty="0"/>
                  <a:t>44100Hz</a:t>
                </a:r>
                <a:r>
                  <a:rPr lang="ja-JP" altLang="en-US" dirty="0"/>
                  <a:t>で録音しています。</a:t>
                </a:r>
                <a:r>
                  <a:rPr kumimoji="1" lang="ja-JP" altLang="en-US" dirty="0"/>
                  <a:t>電圧の変化に応じて，</a:t>
                </a:r>
                <a:r>
                  <a:rPr kumimoji="1" lang="ja-JP" altLang="en-US" b="1" dirty="0"/>
                  <a:t>白金細線が発熱することで未沸騰</a:t>
                </a:r>
                <a:r>
                  <a:rPr kumimoji="1" lang="en-US" altLang="ja-JP" b="1" dirty="0"/>
                  <a:t>-</a:t>
                </a:r>
                <a:r>
                  <a:rPr kumimoji="1" lang="ja-JP" altLang="en-US" b="1" dirty="0"/>
                  <a:t>沸騰までの現象を段階的に発生させ，</a:t>
                </a:r>
                <a:r>
                  <a:rPr kumimoji="1" lang="ja-JP" altLang="en-US" dirty="0"/>
                  <a:t>核沸騰開始点周りの音響データを取得します．</a:t>
                </a:r>
                <a:endParaRPr kumimoji="1" lang="en-US" altLang="ja-JP" dirty="0"/>
              </a:p>
              <a:p>
                <a:r>
                  <a:rPr kumimoji="1" lang="ja-JP" altLang="en-US" dirty="0"/>
                  <a:t>また，</a:t>
                </a:r>
                <a:r>
                  <a:rPr lang="ja-JP" altLang="en-US" dirty="0"/>
                  <a:t>同時に</a:t>
                </a:r>
                <a:r>
                  <a:rPr kumimoji="1"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水温，</a:t>
                </a:r>
                <a:r>
                  <a:rPr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シャント電圧 </a:t>
                </a:r>
                <a14:m>
                  <m:oMath xmlns:m="http://schemas.openxmlformats.org/officeDocument/2006/math">
                    <m:sSub>
                      <m:sSubPr>
                        <m:ctrlP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t>𝑽</m:t>
                        </m:r>
                      </m:e>
                      <m:sub>
                        <m: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t>𝒔𝒉𝒖𝒏𝒕</m:t>
                        </m:r>
                      </m:sub>
                    </m:sSub>
                  </m:oMath>
                </a14:m>
                <a:r>
                  <a:rPr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白金電圧 </a:t>
                </a:r>
                <a14:m>
                  <m:oMath xmlns:m="http://schemas.openxmlformats.org/officeDocument/2006/math">
                    <m:sSub>
                      <m:sSubPr>
                        <m:ctrlP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t>𝑽</m:t>
                        </m:r>
                      </m:e>
                      <m:sub>
                        <m:r>
                          <a:rPr lang="en-US" altLang="ja-JP" sz="1200" b="1" i="1" u="sng" smtClean="0">
                            <a:solidFill>
                              <a:srgbClr val="292B2B"/>
                            </a:solidFill>
                            <a:latin typeface="Cambria Math" panose="02040503050406030204" pitchFamily="18" charset="0"/>
                            <a:ea typeface="メイリオ" panose="020B0604030504040204" pitchFamily="50" charset="-128"/>
                            <a:sym typeface="Source Han Sans JP"/>
                          </a:rPr>
                          <m:t>𝑷𝒕</m:t>
                        </m:r>
                      </m:sub>
                    </m:sSub>
                  </m:oMath>
                </a14:m>
                <a:r>
                  <a:rPr kumimoji="1" lang="ja-JP" altLang="en-US" dirty="0"/>
                  <a:t>の</a:t>
                </a:r>
                <a:r>
                  <a:rPr kumimoji="1" lang="en-US" altLang="ja-JP" dirty="0"/>
                  <a:t>3</a:t>
                </a:r>
                <a:r>
                  <a:rPr kumimoji="1" lang="ja-JP" altLang="en-US" dirty="0"/>
                  <a:t>つも計測し，熱流束の計算に用いました．これにより，実験時は電圧値がラベルとなっていた音響データが，熱流束をラベルとして対応することになります．</a:t>
                </a:r>
                <a:endParaRPr kumimoji="1" lang="en-US" altLang="ja-JP" dirty="0"/>
              </a:p>
              <a:p>
                <a:endParaRPr kumimoji="1" lang="en-US" altLang="ja-JP" dirty="0"/>
              </a:p>
              <a:p>
                <a:r>
                  <a:rPr kumimoji="1" lang="ja-JP" altLang="en-US" dirty="0"/>
                  <a:t>下の図は，本実験で実際に得られた沸騰曲線の一例です．</a:t>
                </a:r>
              </a:p>
            </p:txBody>
          </p:sp>
        </mc:Choice>
        <mc:Fallback xmlns="">
          <p:sp>
            <p:nvSpPr>
              <p:cNvPr id="3" name="ノート プレースホルダー 2">
                <a:extLst>
                  <a:ext uri="{FF2B5EF4-FFF2-40B4-BE49-F238E27FC236}">
                    <a16:creationId xmlns:a16="http://schemas.microsoft.com/office/drawing/2014/main" id="{0E83D56A-3655-0A6E-A2C3-7EE9804C9F2B}"/>
                  </a:ext>
                </a:extLst>
              </p:cNvPr>
              <p:cNvSpPr>
                <a:spLocks noGrp="1"/>
              </p:cNvSpPr>
              <p:nvPr>
                <p:ph type="body" idx="1"/>
              </p:nvPr>
            </p:nvSpPr>
            <p:spPr/>
            <p:txBody>
              <a:bodyPr/>
              <a:lstStyle/>
              <a:p>
                <a:r>
                  <a:rPr kumimoji="1" lang="ja-JP" altLang="en-US" dirty="0"/>
                  <a:t>電圧の変化に応じて，</a:t>
                </a:r>
                <a:r>
                  <a:rPr kumimoji="1" lang="ja-JP" altLang="en-US" b="1" dirty="0"/>
                  <a:t>白金細線が発熱することで未沸騰</a:t>
                </a:r>
                <a:r>
                  <a:rPr kumimoji="1" lang="en-US" altLang="ja-JP" b="1" dirty="0"/>
                  <a:t>-</a:t>
                </a:r>
                <a:r>
                  <a:rPr kumimoji="1" lang="ja-JP" altLang="en-US" b="1" dirty="0"/>
                  <a:t>沸騰までの現象を段階的に発生させ，</a:t>
                </a:r>
                <a:r>
                  <a:rPr kumimoji="1" lang="ja-JP" altLang="en-US" dirty="0"/>
                  <a:t>核沸騰開始点周りの音響データを取得します．</a:t>
                </a:r>
                <a:endParaRPr kumimoji="1" lang="en-US" altLang="ja-JP" dirty="0"/>
              </a:p>
              <a:p>
                <a:r>
                  <a:rPr kumimoji="1" lang="ja-JP" altLang="en-US" dirty="0"/>
                  <a:t>また，その他の測定したものとしては，</a:t>
                </a:r>
                <a:r>
                  <a:rPr kumimoji="1"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水温，</a:t>
                </a:r>
                <a:r>
                  <a:rPr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シャント電圧 </a:t>
                </a:r>
                <a:r>
                  <a:rPr lang="en-US" altLang="ja-JP" sz="1200" b="1" i="0" u="sng">
                    <a:solidFill>
                      <a:srgbClr val="292B2B"/>
                    </a:solidFill>
                    <a:latin typeface="Cambria Math" panose="02040503050406030204" pitchFamily="18" charset="0"/>
                    <a:ea typeface="メイリオ" panose="020B0604030504040204" pitchFamily="50" charset="-128"/>
                    <a:sym typeface="Source Han Sans JP"/>
                  </a:rPr>
                  <a:t>𝑽_𝒔𝒉𝒖𝒏𝒕</a:t>
                </a:r>
                <a:r>
                  <a:rPr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1200" b="1" u="sng" dirty="0">
                    <a:solidFill>
                      <a:srgbClr val="292B2B"/>
                    </a:solidFill>
                    <a:latin typeface="メイリオ" panose="020B0604030504040204" pitchFamily="50" charset="-128"/>
                    <a:ea typeface="メイリオ" panose="020B0604030504040204" pitchFamily="50" charset="-128"/>
                    <a:sym typeface="Source Han Sans JP"/>
                  </a:rPr>
                  <a:t>白金電圧 </a:t>
                </a:r>
                <a:r>
                  <a:rPr lang="en-US" altLang="ja-JP" sz="1200" b="1" i="0" u="sng">
                    <a:solidFill>
                      <a:srgbClr val="292B2B"/>
                    </a:solidFill>
                    <a:latin typeface="Cambria Math" panose="02040503050406030204" pitchFamily="18" charset="0"/>
                    <a:ea typeface="メイリオ" panose="020B0604030504040204" pitchFamily="50" charset="-128"/>
                    <a:sym typeface="Source Han Sans JP"/>
                  </a:rPr>
                  <a:t>𝑽_𝑷𝒕</a:t>
                </a:r>
                <a:r>
                  <a:rPr kumimoji="1" lang="ja-JP" altLang="en-US" dirty="0"/>
                  <a:t>の</a:t>
                </a:r>
                <a:r>
                  <a:rPr kumimoji="1" lang="en-US" altLang="ja-JP" dirty="0"/>
                  <a:t>3</a:t>
                </a:r>
                <a:r>
                  <a:rPr kumimoji="1" lang="ja-JP" altLang="en-US" dirty="0"/>
                  <a:t>つがあります．</a:t>
                </a:r>
              </a:p>
            </p:txBody>
          </p:sp>
        </mc:Fallback>
      </mc:AlternateContent>
      <p:sp>
        <p:nvSpPr>
          <p:cNvPr id="4" name="スライド番号プレースホルダー 3">
            <a:extLst>
              <a:ext uri="{FF2B5EF4-FFF2-40B4-BE49-F238E27FC236}">
                <a16:creationId xmlns:a16="http://schemas.microsoft.com/office/drawing/2014/main" id="{87F5FA56-054C-9492-8392-DDB2EA67E2A3}"/>
              </a:ext>
            </a:extLst>
          </p:cNvPr>
          <p:cNvSpPr>
            <a:spLocks noGrp="1"/>
          </p:cNvSpPr>
          <p:nvPr>
            <p:ph type="sldNum" sz="quarter" idx="5"/>
          </p:nvPr>
        </p:nvSpPr>
        <p:spPr/>
        <p:txBody>
          <a:bodyPr/>
          <a:lstStyle/>
          <a:p>
            <a:fld id="{4F1171DB-6521-40C8-9DD8-7809C63F9BE3}" type="slidenum">
              <a:rPr kumimoji="1" lang="ja-JP" altLang="en-US" smtClean="0"/>
              <a:t>6</a:t>
            </a:fld>
            <a:endParaRPr kumimoji="1" lang="ja-JP" altLang="en-US"/>
          </a:p>
        </p:txBody>
      </p:sp>
    </p:spTree>
    <p:extLst>
      <p:ext uri="{BB962C8B-B14F-4D97-AF65-F5344CB8AC3E}">
        <p14:creationId xmlns:p14="http://schemas.microsoft.com/office/powerpoint/2010/main" val="1738974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9ECE-EB92-34AC-2C51-20A8BA6D36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754A3C-9BF5-AEDF-EB1A-DCD5FF4CF5B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0A8C496E-FDD2-F4C0-53C7-82BF95B0A0AE}"/>
                  </a:ext>
                </a:extLst>
              </p:cNvPr>
              <p:cNvSpPr>
                <a:spLocks noGrp="1"/>
              </p:cNvSpPr>
              <p:nvPr>
                <p:ph type="body" idx="1"/>
              </p:nvPr>
            </p:nvSpPr>
            <p:spPr/>
            <p:txBody>
              <a:bodyPr/>
              <a:lstStyle/>
              <a:p>
                <a:r>
                  <a:rPr lang="ja-JP" altLang="en-US" dirty="0"/>
                  <a:t>機械学習では、各電圧条件で録音した沸騰音を周波数スペクトル化し、スペクトログラムといった画像データとして扱い，入力データとします。</a:t>
                </a:r>
                <a:endParaRPr lang="en-US" altLang="ja-JP" dirty="0"/>
              </a:p>
              <a:p>
                <a:r>
                  <a:rPr lang="ja-JP" altLang="en-US" dirty="0"/>
                  <a:t>また，測定した沸騰音に対して人工的にノイズを付加し、さまざまな</a:t>
                </a:r>
                <a:r>
                  <a:rPr lang="en-US" altLang="ja-JP" dirty="0"/>
                  <a:t>SNR</a:t>
                </a:r>
                <a:r>
                  <a:rPr lang="ja-JP" altLang="en-US" dirty="0"/>
                  <a:t>条件を再現しています。</a:t>
                </a:r>
                <a:endParaRPr lang="en-US" altLang="ja-JP" dirty="0"/>
              </a:p>
              <a:p>
                <a:r>
                  <a:rPr lang="ja-JP" altLang="en-US" dirty="0"/>
                  <a:t>具体的には、観測</a:t>
                </a:r>
                <a14:m>
                  <m:oMath xmlns:m="http://schemas.openxmlformats.org/officeDocument/2006/math">
                    <m:sSub>
                      <m:sSubPr>
                        <m:ctrlPr>
                          <a:rPr lang="en-US" altLang="ja-JP" sz="1200" b="1" i="1" smtClean="0">
                            <a:latin typeface="Cambria Math" panose="02040503050406030204" pitchFamily="18" charset="0"/>
                            <a:ea typeface="Cambria Math" panose="02040503050406030204" pitchFamily="18" charset="0"/>
                          </a:rPr>
                        </m:ctrlPr>
                      </m:sSubPr>
                      <m:e>
                        <m:r>
                          <a:rPr lang="en-US" altLang="ja-JP" sz="1200" b="1" i="1">
                            <a:latin typeface="Cambria Math" panose="02040503050406030204" pitchFamily="18" charset="0"/>
                            <a:ea typeface="Cambria Math" panose="02040503050406030204" pitchFamily="18" charset="0"/>
                          </a:rPr>
                          <m:t>𝒚</m:t>
                        </m:r>
                      </m:e>
                      <m:sub>
                        <m:r>
                          <a:rPr lang="en-US" altLang="ja-JP" sz="1200" b="1" i="1">
                            <a:latin typeface="Cambria Math" panose="02040503050406030204" pitchFamily="18" charset="0"/>
                            <a:ea typeface="Cambria Math" panose="02040503050406030204" pitchFamily="18" charset="0"/>
                          </a:rPr>
                          <m:t>𝒐𝒃𝒔𝒆𝒓𝒗𝒆𝒅</m:t>
                        </m:r>
                      </m:sub>
                    </m:sSub>
                    <m:r>
                      <a:rPr lang="en-US" altLang="ja-JP" sz="1200" b="1" i="1">
                        <a:latin typeface="Cambria Math" panose="02040503050406030204" pitchFamily="18" charset="0"/>
                        <a:ea typeface="Cambria Math" panose="02040503050406030204" pitchFamily="18" charset="0"/>
                      </a:rPr>
                      <m:t>(</m:t>
                    </m:r>
                    <m:r>
                      <a:rPr lang="en-US" altLang="ja-JP" sz="1200" b="1" i="1">
                        <a:latin typeface="Cambria Math" panose="02040503050406030204" pitchFamily="18" charset="0"/>
                        <a:ea typeface="Cambria Math" panose="02040503050406030204" pitchFamily="18" charset="0"/>
                      </a:rPr>
                      <m:t>𝒊</m:t>
                    </m:r>
                    <m:r>
                      <a:rPr lang="en-US" altLang="ja-JP" sz="1200" b="1" i="1">
                        <a:latin typeface="Cambria Math" panose="02040503050406030204" pitchFamily="18" charset="0"/>
                        <a:ea typeface="Cambria Math" panose="02040503050406030204" pitchFamily="18" charset="0"/>
                      </a:rPr>
                      <m:t>)</m:t>
                    </m:r>
                  </m:oMath>
                </a14:m>
                <a:r>
                  <a:rPr lang="ja-JP" altLang="en-US" dirty="0"/>
                  <a:t>を、元の沸騰</a:t>
                </a:r>
                <a14:m>
                  <m:oMath xmlns:m="http://schemas.openxmlformats.org/officeDocument/2006/math">
                    <m:sSub>
                      <m:sSubPr>
                        <m:ctrlPr>
                          <a:rPr lang="en-US" altLang="ja-JP" sz="1200" b="1" i="1" smtClean="0">
                            <a:latin typeface="Cambria Math" panose="02040503050406030204" pitchFamily="18" charset="0"/>
                            <a:ea typeface="Cambria Math" panose="02040503050406030204" pitchFamily="18" charset="0"/>
                          </a:rPr>
                        </m:ctrlPr>
                      </m:sSubPr>
                      <m:e>
                        <m:r>
                          <a:rPr lang="en-US" altLang="ja-JP" sz="1200" b="1" i="1">
                            <a:latin typeface="Cambria Math" panose="02040503050406030204" pitchFamily="18" charset="0"/>
                            <a:ea typeface="Cambria Math" panose="02040503050406030204" pitchFamily="18" charset="0"/>
                          </a:rPr>
                          <m:t>𝒚</m:t>
                        </m:r>
                      </m:e>
                      <m:sub>
                        <m:r>
                          <a:rPr lang="en-US" altLang="ja-JP" sz="1200" b="1" i="1">
                            <a:latin typeface="Cambria Math" panose="02040503050406030204" pitchFamily="18" charset="0"/>
                            <a:ea typeface="Cambria Math" panose="02040503050406030204" pitchFamily="18" charset="0"/>
                          </a:rPr>
                          <m:t>𝒔𝒊𝒈𝒏𝒂𝒍</m:t>
                        </m:r>
                      </m:sub>
                    </m:sSub>
                    <m:d>
                      <m:dPr>
                        <m:ctrlPr>
                          <a:rPr lang="en-US" altLang="ja-JP" sz="1200" b="1" i="1">
                            <a:latin typeface="Cambria Math" panose="02040503050406030204" pitchFamily="18" charset="0"/>
                            <a:ea typeface="Cambria Math" panose="02040503050406030204" pitchFamily="18" charset="0"/>
                          </a:rPr>
                        </m:ctrlPr>
                      </m:dPr>
                      <m:e>
                        <m:r>
                          <a:rPr lang="en-US" altLang="ja-JP" sz="1200" b="1" i="1">
                            <a:latin typeface="Cambria Math" panose="02040503050406030204" pitchFamily="18" charset="0"/>
                            <a:ea typeface="Cambria Math" panose="02040503050406030204" pitchFamily="18" charset="0"/>
                          </a:rPr>
                          <m:t>𝒊</m:t>
                        </m:r>
                      </m:e>
                    </m:d>
                  </m:oMath>
                </a14:m>
                <a:r>
                  <a:rPr lang="ja-JP" altLang="en-US" dirty="0"/>
                  <a:t>に、</a:t>
                </a:r>
                <a14:m>
                  <m:oMath xmlns:m="http://schemas.openxmlformats.org/officeDocument/2006/math">
                    <m:r>
                      <a:rPr lang="ja-JP" altLang="en-US" sz="1200" b="1" i="1" smtClean="0">
                        <a:latin typeface="Cambria Math" panose="02040503050406030204" pitchFamily="18" charset="0"/>
                        <a:ea typeface="Cambria Math" panose="02040503050406030204" pitchFamily="18" charset="0"/>
                      </a:rPr>
                      <m:t>𝜶</m:t>
                    </m:r>
                  </m:oMath>
                </a14:m>
                <a:r>
                  <a:rPr lang="ja-JP" altLang="en-US" dirty="0"/>
                  <a:t>倍の</a:t>
                </a:r>
                <a14:m>
                  <m:oMath xmlns:m="http://schemas.openxmlformats.org/officeDocument/2006/math">
                    <m:sSub>
                      <m:sSubPr>
                        <m:ctrlPr>
                          <a:rPr lang="en-US" altLang="ja-JP" sz="1200" b="1" i="1" smtClean="0">
                            <a:latin typeface="Cambria Math" panose="02040503050406030204" pitchFamily="18" charset="0"/>
                            <a:ea typeface="Cambria Math" panose="02040503050406030204" pitchFamily="18" charset="0"/>
                          </a:rPr>
                        </m:ctrlPr>
                      </m:sSubPr>
                      <m:e>
                        <m:r>
                          <a:rPr lang="en-US" altLang="ja-JP" sz="1200" b="1" i="1">
                            <a:latin typeface="Cambria Math" panose="02040503050406030204" pitchFamily="18" charset="0"/>
                            <a:ea typeface="Cambria Math" panose="02040503050406030204" pitchFamily="18" charset="0"/>
                          </a:rPr>
                          <m:t>𝑷</m:t>
                        </m:r>
                      </m:e>
                      <m:sub>
                        <m:r>
                          <a:rPr lang="en-US" altLang="ja-JP" sz="1200" b="1" i="1">
                            <a:latin typeface="Cambria Math" panose="02040503050406030204" pitchFamily="18" charset="0"/>
                            <a:ea typeface="Cambria Math" panose="02040503050406030204" pitchFamily="18" charset="0"/>
                          </a:rPr>
                          <m:t>𝒏𝒐𝒊𝒔𝒆</m:t>
                        </m:r>
                      </m:sub>
                    </m:sSub>
                    <m:r>
                      <a:rPr lang="en-US" altLang="ja-JP" sz="1200" b="1" i="1">
                        <a:latin typeface="Cambria Math" panose="02040503050406030204" pitchFamily="18" charset="0"/>
                        <a:ea typeface="Cambria Math" panose="02040503050406030204" pitchFamily="18" charset="0"/>
                      </a:rPr>
                      <m:t>(</m:t>
                    </m:r>
                    <m:r>
                      <a:rPr lang="en-US" altLang="ja-JP" sz="1200" b="1" i="1">
                        <a:latin typeface="Cambria Math" panose="02040503050406030204" pitchFamily="18" charset="0"/>
                        <a:ea typeface="Cambria Math" panose="02040503050406030204" pitchFamily="18" charset="0"/>
                      </a:rPr>
                      <m:t>𝒊</m:t>
                    </m:r>
                    <m:r>
                      <a:rPr lang="en-US" altLang="ja-JP" sz="1200" b="1" i="1">
                        <a:latin typeface="Cambria Math" panose="02040503050406030204" pitchFamily="18" charset="0"/>
                        <a:ea typeface="Cambria Math" panose="02040503050406030204" pitchFamily="18" charset="0"/>
                      </a:rPr>
                      <m:t>)</m:t>
                    </m:r>
                  </m:oMath>
                </a14:m>
                <a:r>
                  <a:rPr lang="ja-JP" altLang="en-US" dirty="0"/>
                  <a:t>を加算する形で生成しています。</a:t>
                </a:r>
                <a:endParaRPr lang="en-US" altLang="ja-JP" dirty="0"/>
              </a:p>
              <a:p>
                <a14:m>
                  <m:oMath xmlns:m="http://schemas.openxmlformats.org/officeDocument/2006/math">
                    <m:r>
                      <a:rPr lang="ja-JP" altLang="en-US" sz="1200" b="1" i="1" smtClean="0">
                        <a:latin typeface="Cambria Math" panose="02040503050406030204" pitchFamily="18" charset="0"/>
                        <a:ea typeface="Cambria Math" panose="02040503050406030204" pitchFamily="18" charset="0"/>
                      </a:rPr>
                      <m:t>𝜶</m:t>
                    </m:r>
                  </m:oMath>
                </a14:m>
                <a:r>
                  <a:rPr lang="ja-JP" altLang="en-US" dirty="0"/>
                  <a:t>の値は，付加する</a:t>
                </a:r>
                <a:r>
                  <a:rPr lang="en-US" altLang="ja-JP" dirty="0"/>
                  <a:t>SNR</a:t>
                </a:r>
                <a:r>
                  <a:rPr lang="ja-JP" altLang="en-US" dirty="0"/>
                  <a:t>によって計算式から算出しています．</a:t>
                </a:r>
                <a:endParaRPr kumimoji="1" lang="en-US" altLang="ja-JP" dirty="0"/>
              </a:p>
              <a:p>
                <a:endParaRPr kumimoji="1" lang="en-US" altLang="ja-JP" dirty="0"/>
              </a:p>
              <a:p>
                <a:r>
                  <a:rPr lang="ja-JP" altLang="en-US" dirty="0"/>
                  <a:t>下のスペクトログラム例では、</a:t>
                </a:r>
                <a:r>
                  <a:rPr lang="en-US" altLang="ja-JP" dirty="0"/>
                  <a:t>SNR</a:t>
                </a:r>
                <a:r>
                  <a:rPr lang="ja-JP" altLang="en-US" dirty="0"/>
                  <a:t>が低下すると特徴が見えにくくなり、雑音の影響を考慮した学習が重要であることが分かります。</a:t>
                </a:r>
                <a:endParaRPr kumimoji="1" lang="ja-JP" altLang="en-US" dirty="0"/>
              </a:p>
            </p:txBody>
          </p:sp>
        </mc:Choice>
        <mc:Fallback xmlns="">
          <p:sp>
            <p:nvSpPr>
              <p:cNvPr id="3" name="ノート プレースホルダー 2">
                <a:extLst>
                  <a:ext uri="{FF2B5EF4-FFF2-40B4-BE49-F238E27FC236}">
                    <a16:creationId xmlns:a16="http://schemas.microsoft.com/office/drawing/2014/main" id="{0A8C496E-FDD2-F4C0-53C7-82BF95B0A0AE}"/>
                  </a:ext>
                </a:extLst>
              </p:cNvPr>
              <p:cNvSpPr>
                <a:spLocks noGrp="1"/>
              </p:cNvSpPr>
              <p:nvPr>
                <p:ph type="body" idx="1"/>
              </p:nvPr>
            </p:nvSpPr>
            <p:spPr/>
            <p:txBody>
              <a:bodyPr/>
              <a:lstStyle/>
              <a:p>
                <a:r>
                  <a:rPr lang="ja-JP" altLang="en-US" dirty="0"/>
                  <a:t>測定した沸騰音に対して人工的にノイズを付加し、さまざまな</a:t>
                </a:r>
                <a:r>
                  <a:rPr lang="en-US" altLang="ja-JP" dirty="0"/>
                  <a:t>SNR</a:t>
                </a:r>
                <a:r>
                  <a:rPr lang="ja-JP" altLang="en-US" dirty="0"/>
                  <a:t>条件を再現しています。</a:t>
                </a:r>
                <a:endParaRPr lang="en-US" altLang="ja-JP" dirty="0"/>
              </a:p>
              <a:p>
                <a:r>
                  <a:rPr lang="ja-JP" altLang="en-US" dirty="0"/>
                  <a:t>具体的には、観測</a:t>
                </a:r>
                <a:r>
                  <a:rPr lang="en-US" altLang="ja-JP" sz="1200" b="1" i="0">
                    <a:latin typeface="Cambria Math" panose="02040503050406030204" pitchFamily="18" charset="0"/>
                    <a:ea typeface="Cambria Math" panose="02040503050406030204" pitchFamily="18" charset="0"/>
                  </a:rPr>
                  <a:t>𝒚_𝒐𝒃𝒔𝒆𝒓𝒗𝒆𝒅 (𝒊)</a:t>
                </a:r>
                <a:r>
                  <a:rPr lang="ja-JP" altLang="en-US" dirty="0"/>
                  <a:t>を、元の沸騰</a:t>
                </a:r>
                <a:r>
                  <a:rPr lang="en-US" altLang="ja-JP" sz="1200" b="1" i="0">
                    <a:latin typeface="Cambria Math" panose="02040503050406030204" pitchFamily="18" charset="0"/>
                    <a:ea typeface="Cambria Math" panose="02040503050406030204" pitchFamily="18" charset="0"/>
                  </a:rPr>
                  <a:t>𝒚_𝒔𝒊𝒈𝒏𝒂𝒍 (𝒊)</a:t>
                </a:r>
                <a:r>
                  <a:rPr lang="ja-JP" altLang="en-US" dirty="0"/>
                  <a:t>に、</a:t>
                </a:r>
                <a:r>
                  <a:rPr lang="ja-JP" altLang="en-US" sz="1200" b="1" i="0">
                    <a:latin typeface="Cambria Math" panose="02040503050406030204" pitchFamily="18" charset="0"/>
                    <a:ea typeface="Cambria Math" panose="02040503050406030204" pitchFamily="18" charset="0"/>
                  </a:rPr>
                  <a:t>𝜶</a:t>
                </a:r>
                <a:r>
                  <a:rPr lang="ja-JP" altLang="en-US" dirty="0"/>
                  <a:t>倍の</a:t>
                </a:r>
                <a:r>
                  <a:rPr lang="en-US" altLang="ja-JP" sz="1200" b="1" i="0">
                    <a:latin typeface="Cambria Math" panose="02040503050406030204" pitchFamily="18" charset="0"/>
                    <a:ea typeface="Cambria Math" panose="02040503050406030204" pitchFamily="18" charset="0"/>
                  </a:rPr>
                  <a:t>𝑷_𝒏𝒐𝒊𝒔𝒆 (𝒊)</a:t>
                </a:r>
                <a:r>
                  <a:rPr lang="ja-JP" altLang="en-US" dirty="0"/>
                  <a:t>を加算する形で生成しています。</a:t>
                </a:r>
                <a:endParaRPr lang="en-US" altLang="ja-JP" dirty="0"/>
              </a:p>
              <a:p>
                <a:r>
                  <a:rPr lang="ja-JP" altLang="en-US" sz="1200" b="1" i="0">
                    <a:latin typeface="Cambria Math" panose="02040503050406030204" pitchFamily="18" charset="0"/>
                    <a:ea typeface="Cambria Math" panose="02040503050406030204" pitchFamily="18" charset="0"/>
                  </a:rPr>
                  <a:t>𝜶</a:t>
                </a:r>
                <a:r>
                  <a:rPr lang="ja-JP" altLang="en-US" dirty="0"/>
                  <a:t>の値は，付加する</a:t>
                </a:r>
                <a:r>
                  <a:rPr lang="en-US" altLang="ja-JP" dirty="0"/>
                  <a:t>SNR</a:t>
                </a:r>
                <a:r>
                  <a:rPr lang="ja-JP" altLang="en-US" dirty="0"/>
                  <a:t>によって計算式から算出しています．</a:t>
                </a:r>
                <a:endParaRPr kumimoji="1" lang="en-US" altLang="ja-JP" dirty="0"/>
              </a:p>
              <a:p>
                <a:endParaRPr kumimoji="1" lang="en-US" altLang="ja-JP" dirty="0"/>
              </a:p>
              <a:p>
                <a:r>
                  <a:rPr kumimoji="1" lang="en-US" altLang="ja-JP" dirty="0"/>
                  <a:t>SNR</a:t>
                </a:r>
                <a:r>
                  <a:rPr kumimoji="1" lang="ja-JP" altLang="en-US" dirty="0"/>
                  <a:t>→ノイズ強度</a:t>
                </a:r>
              </a:p>
            </p:txBody>
          </p:sp>
        </mc:Fallback>
      </mc:AlternateContent>
      <p:sp>
        <p:nvSpPr>
          <p:cNvPr id="4" name="スライド番号プレースホルダー 3">
            <a:extLst>
              <a:ext uri="{FF2B5EF4-FFF2-40B4-BE49-F238E27FC236}">
                <a16:creationId xmlns:a16="http://schemas.microsoft.com/office/drawing/2014/main" id="{43D70A61-D033-9592-7C44-44098BD8E0D8}"/>
              </a:ext>
            </a:extLst>
          </p:cNvPr>
          <p:cNvSpPr>
            <a:spLocks noGrp="1"/>
          </p:cNvSpPr>
          <p:nvPr>
            <p:ph type="sldNum" sz="quarter" idx="5"/>
          </p:nvPr>
        </p:nvSpPr>
        <p:spPr/>
        <p:txBody>
          <a:bodyPr/>
          <a:lstStyle/>
          <a:p>
            <a:fld id="{4F1171DB-6521-40C8-9DD8-7809C63F9BE3}" type="slidenum">
              <a:rPr kumimoji="1" lang="ja-JP" altLang="en-US" smtClean="0"/>
              <a:t>7</a:t>
            </a:fld>
            <a:endParaRPr kumimoji="1" lang="ja-JP" altLang="en-US"/>
          </a:p>
        </p:txBody>
      </p:sp>
    </p:spTree>
    <p:extLst>
      <p:ext uri="{BB962C8B-B14F-4D97-AF65-F5344CB8AC3E}">
        <p14:creationId xmlns:p14="http://schemas.microsoft.com/office/powerpoint/2010/main" val="233929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0FF32-6558-2FC0-8F72-8549E91A2B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48AFE2-4311-9032-E809-02C9904920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07E272D-BE02-00C4-7870-332A7566B68B}"/>
              </a:ext>
            </a:extLst>
          </p:cNvPr>
          <p:cNvSpPr>
            <a:spLocks noGrp="1"/>
          </p:cNvSpPr>
          <p:nvPr>
            <p:ph type="body" idx="1"/>
          </p:nvPr>
        </p:nvSpPr>
        <p:spPr/>
        <p:txBody>
          <a:bodyPr/>
          <a:lstStyle/>
          <a:p>
            <a:r>
              <a:rPr kumimoji="1" lang="ja-JP" altLang="en-US" dirty="0"/>
              <a:t>また，</a:t>
            </a:r>
            <a:r>
              <a:rPr lang="ja-JP" altLang="en-US" dirty="0"/>
              <a:t>機械学習では、沸騰音から予測した熱流束値を出力とし、決定係数（</a:t>
            </a:r>
            <a:r>
              <a:rPr lang="en-US" altLang="ja-JP" dirty="0"/>
              <a:t>R²</a:t>
            </a:r>
            <a:r>
              <a:rPr lang="ja-JP" altLang="en-US" dirty="0"/>
              <a:t>）や</a:t>
            </a:r>
            <a:r>
              <a:rPr lang="en-US" altLang="ja-JP" dirty="0"/>
              <a:t>AUC</a:t>
            </a:r>
            <a:r>
              <a:rPr lang="ja-JP" altLang="en-US" dirty="0"/>
              <a:t>で性能を評価します。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決定係数と</a:t>
            </a:r>
            <a:r>
              <a:rPr kumimoji="1" lang="en-US" altLang="ja-JP" dirty="0"/>
              <a:t>AUC</a:t>
            </a:r>
            <a:r>
              <a:rPr kumimoji="1" lang="ja-JP" altLang="en-US" dirty="0"/>
              <a:t>は，どちらも</a:t>
            </a:r>
            <a:r>
              <a:rPr kumimoji="1" lang="en-US" altLang="ja-JP" dirty="0"/>
              <a:t>0~1</a:t>
            </a:r>
            <a:r>
              <a:rPr kumimoji="1" lang="ja-JP" altLang="en-US" dirty="0"/>
              <a:t>の値で評価され，</a:t>
            </a:r>
            <a:r>
              <a:rPr kumimoji="1" lang="en-US" altLang="ja-JP" dirty="0"/>
              <a:t>1</a:t>
            </a:r>
            <a:r>
              <a:rPr kumimoji="1" lang="ja-JP" altLang="en-US" dirty="0"/>
              <a:t>に近づくほど良い評価となります．</a:t>
            </a:r>
            <a:endParaRPr lang="en-US" altLang="ja-JP" dirty="0"/>
          </a:p>
          <a:p>
            <a:r>
              <a:rPr lang="ja-JP" altLang="en-US" dirty="0"/>
              <a:t>さらに、</a:t>
            </a:r>
            <a:r>
              <a:rPr lang="en-US" altLang="ja-JP" dirty="0"/>
              <a:t>3</a:t>
            </a:r>
            <a:r>
              <a:rPr lang="ja-JP" altLang="en-US" dirty="0"/>
              <a:t>つの</a:t>
            </a:r>
            <a:r>
              <a:rPr lang="en-US" altLang="ja-JP" dirty="0"/>
              <a:t>CNN</a:t>
            </a:r>
            <a:r>
              <a:rPr lang="ja-JP" altLang="en-US" dirty="0"/>
              <a:t>モデルを重み付き平均で組み合わせるアンサンブル手法を導入し、それぞれの強みを活かすことで、雑音の影響が大きい状況でもより安定した予測を実現することを目指しています。</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004F3FE4-3A6B-0F9C-072F-1297E84A3095}"/>
              </a:ext>
            </a:extLst>
          </p:cNvPr>
          <p:cNvSpPr>
            <a:spLocks noGrp="1"/>
          </p:cNvSpPr>
          <p:nvPr>
            <p:ph type="sldNum" sz="quarter" idx="5"/>
          </p:nvPr>
        </p:nvSpPr>
        <p:spPr/>
        <p:txBody>
          <a:bodyPr/>
          <a:lstStyle/>
          <a:p>
            <a:fld id="{4F1171DB-6521-40C8-9DD8-7809C63F9BE3}" type="slidenum">
              <a:rPr kumimoji="1" lang="ja-JP" altLang="en-US" smtClean="0"/>
              <a:t>8</a:t>
            </a:fld>
            <a:endParaRPr kumimoji="1" lang="ja-JP" altLang="en-US"/>
          </a:p>
        </p:txBody>
      </p:sp>
    </p:spTree>
    <p:extLst>
      <p:ext uri="{BB962C8B-B14F-4D97-AF65-F5344CB8AC3E}">
        <p14:creationId xmlns:p14="http://schemas.microsoft.com/office/powerpoint/2010/main" val="2521971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9BB4B-2EAD-E0B8-D58E-1273CB7477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95F39F-4998-E838-4232-A422D1AC2C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405C5D-512D-4937-3ECA-4FC524E0569A}"/>
              </a:ext>
            </a:extLst>
          </p:cNvPr>
          <p:cNvSpPr>
            <a:spLocks noGrp="1"/>
          </p:cNvSpPr>
          <p:nvPr>
            <p:ph type="body" idx="1"/>
          </p:nvPr>
        </p:nvSpPr>
        <p:spPr/>
        <p:txBody>
          <a:bodyPr/>
          <a:lstStyle/>
          <a:p>
            <a:r>
              <a:rPr lang="ja-JP" altLang="en-US" dirty="0"/>
              <a:t>最後に，</a:t>
            </a:r>
            <a:r>
              <a:rPr lang="en-US" altLang="ja-JP" dirty="0"/>
              <a:t>100%</a:t>
            </a:r>
            <a:r>
              <a:rPr lang="ja-JP" altLang="en-US" dirty="0"/>
              <a:t>分類可能な熱流束値の評価手法について説明します．</a:t>
            </a:r>
            <a:endParaRPr lang="en-US" altLang="ja-JP" dirty="0"/>
          </a:p>
          <a:p>
            <a:r>
              <a:rPr lang="ja-JP" altLang="en-US" dirty="0"/>
              <a:t>この手法では、まず実験で得られた沸騰開始点の熱流束を“閾値”として設定し、データを複数のグループに分けます。</a:t>
            </a:r>
            <a:endParaRPr lang="en-US" altLang="ja-JP" dirty="0"/>
          </a:p>
          <a:p>
            <a:r>
              <a:rPr lang="ja-JP" altLang="en-US" dirty="0"/>
              <a:t>各グループ内の全予測値が閾値を上回っているかを順に確認していきます．この時，データの左下の熱流束が小さなところから測定されるので，左下から確認します．そして，確認していく中で，一番初めに各グループ内とそれ以降の全予測値が閾値を上回っていたら，最小のグループが</a:t>
            </a:r>
            <a:r>
              <a:rPr lang="en-US" altLang="ja-JP" dirty="0"/>
              <a:t>『100%</a:t>
            </a:r>
            <a:r>
              <a:rPr lang="ja-JP" altLang="en-US" dirty="0"/>
              <a:t>分類可能な熱流束値</a:t>
            </a:r>
            <a:r>
              <a:rPr lang="en-US" altLang="ja-JP" dirty="0"/>
              <a:t>』</a:t>
            </a:r>
            <a:r>
              <a:rPr lang="ja-JP" altLang="en-US" dirty="0"/>
              <a:t>となります．</a:t>
            </a:r>
            <a:endParaRPr lang="en-US" altLang="ja-JP" dirty="0"/>
          </a:p>
          <a:p>
            <a:r>
              <a:rPr lang="ja-JP" altLang="en-US" dirty="0"/>
              <a:t>これにより、沸騰開始点を確実に捉える下限熱流束の定量的な評価が可能になります。</a:t>
            </a:r>
            <a:endParaRPr lang="en-US" altLang="ja-JP" dirty="0"/>
          </a:p>
          <a:p>
            <a:endParaRPr lang="en-US" altLang="ja-JP" dirty="0"/>
          </a:p>
          <a:p>
            <a:endParaRPr lang="en-US" altLang="ja-JP" dirty="0"/>
          </a:p>
          <a:p>
            <a:r>
              <a:rPr lang="ja-JP" altLang="en-US" dirty="0"/>
              <a:t>横軸の各実測熱流束に対応する複数の予測値（縦軸）をプロットし、閾値（青点線）を上回るかどうかで評価した。すべてが閾値を上回り，それ以降全ての予測が閾値を上回っていたグループにおいて、その最小予測値を </a:t>
            </a:r>
            <a:r>
              <a:rPr lang="en-US" altLang="ja-JP" dirty="0"/>
              <a:t>100%</a:t>
            </a:r>
            <a:r>
              <a:rPr lang="ja-JP" altLang="en-US" dirty="0"/>
              <a:t>分類可能な熱流束値として記録する。</a:t>
            </a:r>
            <a:endParaRPr lang="en-US" altLang="ja-JP" dirty="0"/>
          </a:p>
          <a:p>
            <a:endParaRPr kumimoji="1" lang="en-US" altLang="ja-JP" dirty="0"/>
          </a:p>
          <a:p>
            <a:r>
              <a:rPr kumimoji="1" lang="ja-JP" altLang="en-US" dirty="0"/>
              <a:t>ここでは，実際の沸騰開始地点と予測可能な沸騰の下限の差異があるかを評価している</a:t>
            </a:r>
          </a:p>
        </p:txBody>
      </p:sp>
      <p:sp>
        <p:nvSpPr>
          <p:cNvPr id="4" name="スライド番号プレースホルダー 3">
            <a:extLst>
              <a:ext uri="{FF2B5EF4-FFF2-40B4-BE49-F238E27FC236}">
                <a16:creationId xmlns:a16="http://schemas.microsoft.com/office/drawing/2014/main" id="{33ABFD58-8E42-B8B0-18A4-36735DEDDECB}"/>
              </a:ext>
            </a:extLst>
          </p:cNvPr>
          <p:cNvSpPr>
            <a:spLocks noGrp="1"/>
          </p:cNvSpPr>
          <p:nvPr>
            <p:ph type="sldNum" sz="quarter" idx="5"/>
          </p:nvPr>
        </p:nvSpPr>
        <p:spPr/>
        <p:txBody>
          <a:bodyPr/>
          <a:lstStyle/>
          <a:p>
            <a:fld id="{4F1171DB-6521-40C8-9DD8-7809C63F9BE3}" type="slidenum">
              <a:rPr kumimoji="1" lang="ja-JP" altLang="en-US" smtClean="0"/>
              <a:t>9</a:t>
            </a:fld>
            <a:endParaRPr kumimoji="1" lang="ja-JP" altLang="en-US"/>
          </a:p>
        </p:txBody>
      </p:sp>
    </p:spTree>
    <p:extLst>
      <p:ext uri="{BB962C8B-B14F-4D97-AF65-F5344CB8AC3E}">
        <p14:creationId xmlns:p14="http://schemas.microsoft.com/office/powerpoint/2010/main" val="2384958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878E-0A12-8EC1-6715-C59956604E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CEF62C-BDEB-9A8D-AC95-E8617A8ABA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1CDC09-2F02-A52A-35EB-35C435C7524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8C0714A-4FCB-3A6E-1FAC-8D794DCF3766}"/>
              </a:ext>
            </a:extLst>
          </p:cNvPr>
          <p:cNvSpPr>
            <a:spLocks noGrp="1"/>
          </p:cNvSpPr>
          <p:nvPr>
            <p:ph type="sldNum" sz="quarter" idx="5"/>
          </p:nvPr>
        </p:nvSpPr>
        <p:spPr/>
        <p:txBody>
          <a:bodyPr/>
          <a:lstStyle/>
          <a:p>
            <a:fld id="{4F1171DB-6521-40C8-9DD8-7809C63F9BE3}" type="slidenum">
              <a:rPr kumimoji="1" lang="ja-JP" altLang="en-US" smtClean="0"/>
              <a:t>10</a:t>
            </a:fld>
            <a:endParaRPr kumimoji="1" lang="ja-JP" altLang="en-US"/>
          </a:p>
        </p:txBody>
      </p:sp>
    </p:spTree>
    <p:extLst>
      <p:ext uri="{BB962C8B-B14F-4D97-AF65-F5344CB8AC3E}">
        <p14:creationId xmlns:p14="http://schemas.microsoft.com/office/powerpoint/2010/main" val="2624725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5DD01-0ABB-2543-2C3E-15685CAD96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0545F8-2A46-B4B1-E29C-8632825F09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E55E5C-CAD9-E8FF-2276-8CA67BCD6D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0A1BE2-D8A5-1846-DD6C-71482F246B47}"/>
              </a:ext>
            </a:extLst>
          </p:cNvPr>
          <p:cNvSpPr>
            <a:spLocks noGrp="1"/>
          </p:cNvSpPr>
          <p:nvPr>
            <p:ph type="sldNum" sz="quarter" idx="5"/>
          </p:nvPr>
        </p:nvSpPr>
        <p:spPr/>
        <p:txBody>
          <a:bodyPr/>
          <a:lstStyle/>
          <a:p>
            <a:fld id="{4F1171DB-6521-40C8-9DD8-7809C63F9BE3}" type="slidenum">
              <a:rPr kumimoji="1" lang="ja-JP" altLang="en-US" smtClean="0"/>
              <a:t>11</a:t>
            </a:fld>
            <a:endParaRPr kumimoji="1" lang="ja-JP" altLang="en-US"/>
          </a:p>
        </p:txBody>
      </p:sp>
    </p:spTree>
    <p:extLst>
      <p:ext uri="{BB962C8B-B14F-4D97-AF65-F5344CB8AC3E}">
        <p14:creationId xmlns:p14="http://schemas.microsoft.com/office/powerpoint/2010/main" val="3852077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64E93-77E2-0180-8898-2A8B0935A6E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812990-0384-7B0B-86F2-1429BDD7B7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5EC81D-7997-C145-404E-02DA6CDD43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この図は、沸騰開始点（相対位置</a:t>
            </a:r>
            <a:r>
              <a:rPr lang="en-US" altLang="ja-JP" dirty="0"/>
              <a:t>0%</a:t>
            </a:r>
            <a:r>
              <a:rPr lang="ja-JP" altLang="en-US" dirty="0"/>
              <a:t>）から限界熱流束（相対位置</a:t>
            </a:r>
            <a:r>
              <a:rPr lang="en-US" altLang="ja-JP" dirty="0"/>
              <a:t>100%</a:t>
            </a:r>
            <a:r>
              <a:rPr lang="ja-JP" altLang="en-US" dirty="0"/>
              <a:t>）の間で、どの熱流束までなら</a:t>
            </a:r>
            <a:r>
              <a:rPr lang="en-US" altLang="ja-JP" dirty="0"/>
              <a:t>100%</a:t>
            </a:r>
            <a:r>
              <a:rPr lang="ja-JP" altLang="en-US" dirty="0"/>
              <a:t>の確率で検知可能かを示しています。</a:t>
            </a:r>
            <a:endParaRPr kumimoji="1" lang="en-US" altLang="ja-JP" sz="1200" dirty="0">
              <a:solidFill>
                <a:srgbClr val="292B2B"/>
              </a:solidFill>
              <a:latin typeface="メイリオ" panose="020B0604030504040204" pitchFamily="50" charset="-128"/>
              <a:ea typeface="メイリオ" panose="020B0604030504040204" pitchFamily="50" charset="-128"/>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rgbClr val="292B2B"/>
                </a:solidFill>
                <a:latin typeface="メイリオ" panose="020B0604030504040204" pitchFamily="50" charset="-128"/>
                <a:ea typeface="メイリオ" panose="020B0604030504040204" pitchFamily="50" charset="-128"/>
                <a:sym typeface="Source Han Sans JP"/>
              </a:rPr>
              <a:t>その沸騰開始点の予測位置が限界熱流束までどれくらい余裕があるかを調べました．</a:t>
            </a:r>
            <a:endParaRPr kumimoji="1" lang="ja-JP" altLang="en-US" sz="1200" dirty="0">
              <a:latin typeface="メイリオ" panose="020B0604030504040204" pitchFamily="50" charset="-128"/>
              <a:ea typeface="メイリオ" panose="020B0604030504040204" pitchFamily="50" charset="-128"/>
            </a:endParaRPr>
          </a:p>
          <a:p>
            <a:r>
              <a:rPr lang="ja-JP" altLang="en-US" dirty="0"/>
              <a:t>結果として、</a:t>
            </a:r>
            <a:r>
              <a:rPr lang="en-US" altLang="ja-JP" dirty="0"/>
              <a:t>SNR=0</a:t>
            </a:r>
            <a:r>
              <a:rPr lang="ja-JP" altLang="en-US" dirty="0"/>
              <a:t>の場合は約</a:t>
            </a:r>
            <a:r>
              <a:rPr lang="en-US" altLang="ja-JP" dirty="0"/>
              <a:t>4.8%</a:t>
            </a:r>
            <a:r>
              <a:rPr lang="ja-JP" altLang="en-US" dirty="0"/>
              <a:t>、ノイズが大きい場合でも約</a:t>
            </a:r>
            <a:r>
              <a:rPr lang="en-US" altLang="ja-JP" dirty="0"/>
              <a:t>16%</a:t>
            </a:r>
            <a:r>
              <a:rPr lang="ja-JP" altLang="en-US" dirty="0"/>
              <a:t>の位置で沸騰発生を確実に捉えられることが確認されました。</a:t>
            </a:r>
            <a:endParaRPr lang="en-US" altLang="ja-JP" dirty="0"/>
          </a:p>
          <a:p>
            <a:r>
              <a:rPr lang="ja-JP" altLang="en-US" dirty="0"/>
              <a:t>これは、限界熱流束に対して数％の範囲で沸騰を早期に検知できることを意味します。</a:t>
            </a:r>
            <a:endParaRPr kumimoji="1" lang="ja-JP" altLang="en-US" dirty="0"/>
          </a:p>
        </p:txBody>
      </p:sp>
      <p:sp>
        <p:nvSpPr>
          <p:cNvPr id="4" name="スライド番号プレースホルダー 3">
            <a:extLst>
              <a:ext uri="{FF2B5EF4-FFF2-40B4-BE49-F238E27FC236}">
                <a16:creationId xmlns:a16="http://schemas.microsoft.com/office/drawing/2014/main" id="{F135C5A4-2C8B-3F3A-4024-036D7BB648A8}"/>
              </a:ext>
            </a:extLst>
          </p:cNvPr>
          <p:cNvSpPr>
            <a:spLocks noGrp="1"/>
          </p:cNvSpPr>
          <p:nvPr>
            <p:ph type="sldNum" sz="quarter" idx="5"/>
          </p:nvPr>
        </p:nvSpPr>
        <p:spPr/>
        <p:txBody>
          <a:bodyPr/>
          <a:lstStyle/>
          <a:p>
            <a:fld id="{4F1171DB-6521-40C8-9DD8-7809C63F9BE3}" type="slidenum">
              <a:rPr kumimoji="1" lang="ja-JP" altLang="en-US" smtClean="0"/>
              <a:t>12</a:t>
            </a:fld>
            <a:endParaRPr kumimoji="1" lang="ja-JP" altLang="en-US"/>
          </a:p>
        </p:txBody>
      </p:sp>
    </p:spTree>
    <p:extLst>
      <p:ext uri="{BB962C8B-B14F-4D97-AF65-F5344CB8AC3E}">
        <p14:creationId xmlns:p14="http://schemas.microsoft.com/office/powerpoint/2010/main" val="2917230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F1171DB-6521-40C8-9DD8-7809C63F9BE3}" type="slidenum">
              <a:rPr kumimoji="1" lang="ja-JP" altLang="en-US" smtClean="0"/>
              <a:t>17</a:t>
            </a:fld>
            <a:endParaRPr kumimoji="1" lang="ja-JP" altLang="en-US"/>
          </a:p>
        </p:txBody>
      </p:sp>
    </p:spTree>
    <p:extLst>
      <p:ext uri="{BB962C8B-B14F-4D97-AF65-F5344CB8AC3E}">
        <p14:creationId xmlns:p14="http://schemas.microsoft.com/office/powerpoint/2010/main" val="1755406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F1171DB-6521-40C8-9DD8-7809C63F9BE3}" type="slidenum">
              <a:rPr kumimoji="1" lang="ja-JP" altLang="en-US" smtClean="0"/>
              <a:t>18</a:t>
            </a:fld>
            <a:endParaRPr kumimoji="1" lang="ja-JP" altLang="en-US"/>
          </a:p>
        </p:txBody>
      </p:sp>
    </p:spTree>
    <p:extLst>
      <p:ext uri="{BB962C8B-B14F-4D97-AF65-F5344CB8AC3E}">
        <p14:creationId xmlns:p14="http://schemas.microsoft.com/office/powerpoint/2010/main" val="358666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66349-ED1A-FB63-FAAA-EDEFC55B8A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E1F162-6AC4-D48F-CCED-591C1FDD56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5F3550-B4F4-E89F-5561-214C3D3D39A8}"/>
              </a:ext>
            </a:extLst>
          </p:cNvPr>
          <p:cNvSpPr>
            <a:spLocks noGrp="1"/>
          </p:cNvSpPr>
          <p:nvPr>
            <p:ph type="body" idx="1"/>
          </p:nvPr>
        </p:nvSpPr>
        <p:spPr/>
        <p:txBody>
          <a:bodyPr/>
          <a:lstStyle/>
          <a:p>
            <a:r>
              <a:rPr kumimoji="1" lang="ja-JP" altLang="en-US" dirty="0"/>
              <a:t>初期温度・・・電気伝導率を測った時の初期温度</a:t>
            </a:r>
          </a:p>
        </p:txBody>
      </p:sp>
      <p:sp>
        <p:nvSpPr>
          <p:cNvPr id="4" name="スライド番号プレースホルダー 3">
            <a:extLst>
              <a:ext uri="{FF2B5EF4-FFF2-40B4-BE49-F238E27FC236}">
                <a16:creationId xmlns:a16="http://schemas.microsoft.com/office/drawing/2014/main" id="{5DA809AB-9B49-D164-40E0-0CEB808FE9E4}"/>
              </a:ext>
            </a:extLst>
          </p:cNvPr>
          <p:cNvSpPr>
            <a:spLocks noGrp="1"/>
          </p:cNvSpPr>
          <p:nvPr>
            <p:ph type="sldNum" sz="quarter" idx="5"/>
          </p:nvPr>
        </p:nvSpPr>
        <p:spPr/>
        <p:txBody>
          <a:bodyPr/>
          <a:lstStyle/>
          <a:p>
            <a:fld id="{4F1171DB-6521-40C8-9DD8-7809C63F9BE3}" type="slidenum">
              <a:rPr kumimoji="1" lang="ja-JP" altLang="en-US" smtClean="0"/>
              <a:t>19</a:t>
            </a:fld>
            <a:endParaRPr kumimoji="1" lang="ja-JP" altLang="en-US"/>
          </a:p>
        </p:txBody>
      </p:sp>
    </p:spTree>
    <p:extLst>
      <p:ext uri="{BB962C8B-B14F-4D97-AF65-F5344CB8AC3E}">
        <p14:creationId xmlns:p14="http://schemas.microsoft.com/office/powerpoint/2010/main" val="974271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BEC61-0966-AE3E-7479-FD834326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54429-62CF-6122-7810-364E58964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75127-F41F-86AB-F4D7-210F415667AA}"/>
              </a:ext>
            </a:extLst>
          </p:cNvPr>
          <p:cNvSpPr>
            <a:spLocks noGrp="1"/>
          </p:cNvSpPr>
          <p:nvPr>
            <p:ph type="body" idx="1"/>
          </p:nvPr>
        </p:nvSpPr>
        <p:spPr/>
        <p:txBody>
          <a:bodyPr/>
          <a:lstStyle/>
          <a:p>
            <a:endParaRPr lang="en-JP" dirty="0"/>
          </a:p>
        </p:txBody>
      </p:sp>
      <p:sp>
        <p:nvSpPr>
          <p:cNvPr id="4" name="Slide Number Placeholder 3">
            <a:extLst>
              <a:ext uri="{FF2B5EF4-FFF2-40B4-BE49-F238E27FC236}">
                <a16:creationId xmlns:a16="http://schemas.microsoft.com/office/drawing/2014/main" id="{8279DEC8-77B3-F73C-2FAF-0908CF0F3A3D}"/>
              </a:ext>
            </a:extLst>
          </p:cNvPr>
          <p:cNvSpPr>
            <a:spLocks noGrp="1"/>
          </p:cNvSpPr>
          <p:nvPr>
            <p:ph type="sldNum" sz="quarter" idx="5"/>
          </p:nvPr>
        </p:nvSpPr>
        <p:spPr/>
        <p:txBody>
          <a:bodyPr/>
          <a:lstStyle/>
          <a:p>
            <a:fld id="{4F1171DB-6521-40C8-9DD8-7809C63F9BE3}" type="slidenum">
              <a:rPr kumimoji="1" lang="ja-JP" altLang="en-US" smtClean="0"/>
              <a:t>20</a:t>
            </a:fld>
            <a:endParaRPr kumimoji="1" lang="ja-JP" altLang="en-US"/>
          </a:p>
        </p:txBody>
      </p:sp>
    </p:spTree>
    <p:extLst>
      <p:ext uri="{BB962C8B-B14F-4D97-AF65-F5344CB8AC3E}">
        <p14:creationId xmlns:p14="http://schemas.microsoft.com/office/powerpoint/2010/main" val="1669851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B1D63-1AD0-4045-1ABC-128F773C69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1FEE0C-0C1C-FE2D-D903-11EA8B6A9F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1D382C-ECCA-72E5-394F-02E06D6EDA7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258BAD8-091A-F3E3-4B1A-FB40D910578C}"/>
              </a:ext>
            </a:extLst>
          </p:cNvPr>
          <p:cNvSpPr>
            <a:spLocks noGrp="1"/>
          </p:cNvSpPr>
          <p:nvPr>
            <p:ph type="sldNum" sz="quarter" idx="5"/>
          </p:nvPr>
        </p:nvSpPr>
        <p:spPr/>
        <p:txBody>
          <a:bodyPr/>
          <a:lstStyle/>
          <a:p>
            <a:fld id="{4F1171DB-6521-40C8-9DD8-7809C63F9BE3}" type="slidenum">
              <a:rPr kumimoji="1" lang="ja-JP" altLang="en-US" smtClean="0"/>
              <a:t>21</a:t>
            </a:fld>
            <a:endParaRPr kumimoji="1" lang="ja-JP" altLang="en-US"/>
          </a:p>
        </p:txBody>
      </p:sp>
    </p:spTree>
    <p:extLst>
      <p:ext uri="{BB962C8B-B14F-4D97-AF65-F5344CB8AC3E}">
        <p14:creationId xmlns:p14="http://schemas.microsoft.com/office/powerpoint/2010/main" val="333021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0538-65A2-DEEE-1CAB-9D6C905D3BF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B90CC5-17D0-3542-EA0C-0C7618BA81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2EC7A38-0264-37E7-2F4E-D445DBDE06F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AB445D7-8A30-34FA-BD81-A8206D5CBBBC}"/>
              </a:ext>
            </a:extLst>
          </p:cNvPr>
          <p:cNvSpPr>
            <a:spLocks noGrp="1"/>
          </p:cNvSpPr>
          <p:nvPr>
            <p:ph type="sldNum" sz="quarter" idx="5"/>
          </p:nvPr>
        </p:nvSpPr>
        <p:spPr/>
        <p:txBody>
          <a:bodyPr/>
          <a:lstStyle/>
          <a:p>
            <a:fld id="{4F1171DB-6521-40C8-9DD8-7809C63F9BE3}" type="slidenum">
              <a:rPr kumimoji="1" lang="ja-JP" altLang="en-US" smtClean="0"/>
              <a:t>22</a:t>
            </a:fld>
            <a:endParaRPr kumimoji="1" lang="ja-JP" altLang="en-US"/>
          </a:p>
        </p:txBody>
      </p:sp>
    </p:spTree>
    <p:extLst>
      <p:ext uri="{BB962C8B-B14F-4D97-AF65-F5344CB8AC3E}">
        <p14:creationId xmlns:p14="http://schemas.microsoft.com/office/powerpoint/2010/main" val="2493519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3D233-2C57-4F4E-4536-1F4AE9CA94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6C4CA6-667E-41A7-94E0-5200A81CFD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1E0D61-9FAE-7AC5-EFD0-56A252F87C2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7CA269B-2467-E4D6-59E3-A60124DEE019}"/>
              </a:ext>
            </a:extLst>
          </p:cNvPr>
          <p:cNvSpPr>
            <a:spLocks noGrp="1"/>
          </p:cNvSpPr>
          <p:nvPr>
            <p:ph type="sldNum" sz="quarter" idx="5"/>
          </p:nvPr>
        </p:nvSpPr>
        <p:spPr/>
        <p:txBody>
          <a:bodyPr/>
          <a:lstStyle/>
          <a:p>
            <a:fld id="{4F1171DB-6521-40C8-9DD8-7809C63F9BE3}" type="slidenum">
              <a:rPr kumimoji="1" lang="ja-JP" altLang="en-US" smtClean="0"/>
              <a:t>23</a:t>
            </a:fld>
            <a:endParaRPr kumimoji="1" lang="ja-JP" altLang="en-US"/>
          </a:p>
        </p:txBody>
      </p:sp>
    </p:spTree>
    <p:extLst>
      <p:ext uri="{BB962C8B-B14F-4D97-AF65-F5344CB8AC3E}">
        <p14:creationId xmlns:p14="http://schemas.microsoft.com/office/powerpoint/2010/main" val="1373729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95713-F45C-520E-306B-91687F31A2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9D61A1-ADDD-CC86-55F2-93830F4B8A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07B1B2F-4141-7CB4-CB36-00FF06648D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C9503EA-5AE9-B03E-098C-6C3DF6EEABB6}"/>
              </a:ext>
            </a:extLst>
          </p:cNvPr>
          <p:cNvSpPr>
            <a:spLocks noGrp="1"/>
          </p:cNvSpPr>
          <p:nvPr>
            <p:ph type="sldNum" sz="quarter" idx="5"/>
          </p:nvPr>
        </p:nvSpPr>
        <p:spPr/>
        <p:txBody>
          <a:bodyPr/>
          <a:lstStyle/>
          <a:p>
            <a:fld id="{4F1171DB-6521-40C8-9DD8-7809C63F9BE3}" type="slidenum">
              <a:rPr kumimoji="1" lang="ja-JP" altLang="en-US" smtClean="0"/>
              <a:t>24</a:t>
            </a:fld>
            <a:endParaRPr kumimoji="1" lang="ja-JP" altLang="en-US"/>
          </a:p>
        </p:txBody>
      </p:sp>
    </p:spTree>
    <p:extLst>
      <p:ext uri="{BB962C8B-B14F-4D97-AF65-F5344CB8AC3E}">
        <p14:creationId xmlns:p14="http://schemas.microsoft.com/office/powerpoint/2010/main" val="553794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F4A4-78EE-B5F3-A217-6C6B21579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311FF-18E2-C99E-D791-414F05A7A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B82CC-9958-CB52-C23E-11464556F869}"/>
              </a:ext>
            </a:extLst>
          </p:cNvPr>
          <p:cNvSpPr>
            <a:spLocks noGrp="1"/>
          </p:cNvSpPr>
          <p:nvPr>
            <p:ph type="body" idx="1"/>
          </p:nvPr>
        </p:nvSpPr>
        <p:spPr/>
        <p:txBody>
          <a:bodyPr/>
          <a:lstStyle/>
          <a:p>
            <a:endParaRPr lang="en-JP" dirty="0"/>
          </a:p>
        </p:txBody>
      </p:sp>
      <p:sp>
        <p:nvSpPr>
          <p:cNvPr id="4" name="Slide Number Placeholder 3">
            <a:extLst>
              <a:ext uri="{FF2B5EF4-FFF2-40B4-BE49-F238E27FC236}">
                <a16:creationId xmlns:a16="http://schemas.microsoft.com/office/drawing/2014/main" id="{ECCFD9D2-E075-D2AC-37AF-975988B09FF2}"/>
              </a:ext>
            </a:extLst>
          </p:cNvPr>
          <p:cNvSpPr>
            <a:spLocks noGrp="1"/>
          </p:cNvSpPr>
          <p:nvPr>
            <p:ph type="sldNum" sz="quarter" idx="5"/>
          </p:nvPr>
        </p:nvSpPr>
        <p:spPr/>
        <p:txBody>
          <a:bodyPr/>
          <a:lstStyle/>
          <a:p>
            <a:fld id="{4F1171DB-6521-40C8-9DD8-7809C63F9BE3}" type="slidenum">
              <a:rPr kumimoji="1" lang="ja-JP" altLang="en-US" smtClean="0"/>
              <a:t>25</a:t>
            </a:fld>
            <a:endParaRPr kumimoji="1" lang="ja-JP" altLang="en-US"/>
          </a:p>
        </p:txBody>
      </p:sp>
    </p:spTree>
    <p:extLst>
      <p:ext uri="{BB962C8B-B14F-4D97-AF65-F5344CB8AC3E}">
        <p14:creationId xmlns:p14="http://schemas.microsoft.com/office/powerpoint/2010/main" val="18105804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age" preserve="1" userDrawn="1">
  <p:cSld name="cover-page">
    <p:spTree>
      <p:nvGrpSpPr>
        <p:cNvPr id="1" name="Shape 16"/>
        <p:cNvGrpSpPr/>
        <p:nvPr/>
      </p:nvGrpSpPr>
      <p:grpSpPr>
        <a:xfrm>
          <a:off x="0" y="0"/>
          <a:ext cx="0" cy="0"/>
          <a:chOff x="0" y="0"/>
          <a:chExt cx="0" cy="0"/>
        </a:xfrm>
      </p:grpSpPr>
      <p:sp>
        <p:nvSpPr>
          <p:cNvPr id="17" name="タイトル 16">
            <a:extLst>
              <a:ext uri="{FF2B5EF4-FFF2-40B4-BE49-F238E27FC236}">
                <a16:creationId xmlns:a16="http://schemas.microsoft.com/office/drawing/2014/main" id="{FA2A7922-CAFC-6608-73AB-7B57B7024185}"/>
              </a:ext>
            </a:extLst>
          </p:cNvPr>
          <p:cNvSpPr>
            <a:spLocks noGrp="1"/>
          </p:cNvSpPr>
          <p:nvPr>
            <p:ph type="title"/>
          </p:nvPr>
        </p:nvSpPr>
        <p:spPr>
          <a:xfrm>
            <a:off x="2330135" y="1693847"/>
            <a:ext cx="6984686" cy="523605"/>
          </a:xfrm>
        </p:spPr>
        <p:txBody>
          <a:bodyPr/>
          <a:lstStyle>
            <a:lvl1pPr>
              <a:lnSpc>
                <a:spcPct val="110000"/>
              </a:lnSpc>
              <a:spcBef>
                <a:spcPts val="0"/>
              </a:spcBef>
              <a:defRPr sz="3600">
                <a:latin typeface="+mj-ea"/>
                <a:ea typeface="+mj-ea"/>
              </a:defRPr>
            </a:lvl1pPr>
          </a:lstStyle>
          <a:p>
            <a:r>
              <a:rPr kumimoji="1" lang="ja-JP" altLang="en-US"/>
              <a:t>マスター タイトルの書式設定</a:t>
            </a:r>
            <a:endParaRPr kumimoji="1" lang="en-US" altLang="ja-JP" dirty="0"/>
          </a:p>
        </p:txBody>
      </p:sp>
      <p:sp>
        <p:nvSpPr>
          <p:cNvPr id="3" name="四角形: 上の 2 つの角を丸める 2">
            <a:extLst>
              <a:ext uri="{FF2B5EF4-FFF2-40B4-BE49-F238E27FC236}">
                <a16:creationId xmlns:a16="http://schemas.microsoft.com/office/drawing/2014/main" id="{B45C9CBD-284C-7AA1-5EFE-6D6201A45A64}"/>
              </a:ext>
            </a:extLst>
          </p:cNvPr>
          <p:cNvSpPr/>
          <p:nvPr userDrawn="1"/>
        </p:nvSpPr>
        <p:spPr>
          <a:xfrm rot="16200000">
            <a:off x="2780821" y="554565"/>
            <a:ext cx="36000" cy="936000"/>
          </a:xfrm>
          <a:prstGeom prst="round2SameRect">
            <a:avLst>
              <a:gd name="adj1" fmla="val 50000"/>
              <a:gd name="adj2" fmla="val 0"/>
            </a:avLst>
          </a:prstGeom>
          <a:solidFill>
            <a:srgbClr val="00994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a:ln>
                <a:noFill/>
              </a:ln>
              <a:solidFill>
                <a:prstClr val="white"/>
              </a:solidFill>
              <a:effectLst/>
              <a:uLnTx/>
              <a:uFillTx/>
              <a:latin typeface="BIZ UDPゴシック"/>
              <a:ea typeface="BIZ UDPゴシック"/>
              <a:cs typeface="+mn-cs"/>
            </a:endParaRPr>
          </a:p>
        </p:txBody>
      </p:sp>
      <p:sp>
        <p:nvSpPr>
          <p:cNvPr id="4" name="四角形: 上の 2 つの角を丸める 3">
            <a:extLst>
              <a:ext uri="{FF2B5EF4-FFF2-40B4-BE49-F238E27FC236}">
                <a16:creationId xmlns:a16="http://schemas.microsoft.com/office/drawing/2014/main" id="{6C2B6FA1-CF1D-E5E5-B4BD-5083336DE353}"/>
              </a:ext>
            </a:extLst>
          </p:cNvPr>
          <p:cNvSpPr/>
          <p:nvPr userDrawn="1"/>
        </p:nvSpPr>
        <p:spPr>
          <a:xfrm rot="5400000">
            <a:off x="6272821" y="-2001435"/>
            <a:ext cx="36000" cy="6048000"/>
          </a:xfrm>
          <a:prstGeom prst="round2SameRect">
            <a:avLst>
              <a:gd name="adj1" fmla="val 50000"/>
              <a:gd name="adj2" fmla="val 0"/>
            </a:avLst>
          </a:prstGeom>
          <a:solidFill>
            <a:srgbClr val="7A0C3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dirty="0">
              <a:ln>
                <a:noFill/>
              </a:ln>
              <a:solidFill>
                <a:prstClr val="white"/>
              </a:solidFill>
              <a:effectLst/>
              <a:uLnTx/>
              <a:uFillTx/>
              <a:latin typeface="BIZ UDPゴシック"/>
              <a:ea typeface="BIZ UDPゴシック"/>
              <a:cs typeface="+mn-cs"/>
            </a:endParaRPr>
          </a:p>
        </p:txBody>
      </p:sp>
      <p:grpSp>
        <p:nvGrpSpPr>
          <p:cNvPr id="13" name="グループ化 12">
            <a:extLst>
              <a:ext uri="{FF2B5EF4-FFF2-40B4-BE49-F238E27FC236}">
                <a16:creationId xmlns:a16="http://schemas.microsoft.com/office/drawing/2014/main" id="{A704898B-E489-38F7-0A3A-B7703F0C68CE}"/>
              </a:ext>
            </a:extLst>
          </p:cNvPr>
          <p:cNvGrpSpPr/>
          <p:nvPr/>
        </p:nvGrpSpPr>
        <p:grpSpPr>
          <a:xfrm>
            <a:off x="2330135" y="5142393"/>
            <a:ext cx="36000" cy="1198800"/>
            <a:chOff x="3000911" y="5142393"/>
            <a:chExt cx="36000" cy="1350400"/>
          </a:xfrm>
        </p:grpSpPr>
        <p:sp>
          <p:nvSpPr>
            <p:cNvPr id="15" name="四角形: 上の 2 つの角を丸める 14">
              <a:extLst>
                <a:ext uri="{FF2B5EF4-FFF2-40B4-BE49-F238E27FC236}">
                  <a16:creationId xmlns:a16="http://schemas.microsoft.com/office/drawing/2014/main" id="{654FF871-29E5-65FB-8F23-D663543CE480}"/>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上の 2 つの角を丸める 15">
              <a:extLst>
                <a:ext uri="{FF2B5EF4-FFF2-40B4-BE49-F238E27FC236}">
                  <a16:creationId xmlns:a16="http://schemas.microsoft.com/office/drawing/2014/main" id="{2E2DCBA2-ECA3-B1D1-1ECF-FF61F1FA09C9}"/>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2" name="グラフィックス 21">
            <a:extLst>
              <a:ext uri="{FF2B5EF4-FFF2-40B4-BE49-F238E27FC236}">
                <a16:creationId xmlns:a16="http://schemas.microsoft.com/office/drawing/2014/main" id="{25C7E559-39C5-731C-434C-07DC629CBA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3393" y="1762708"/>
            <a:ext cx="341776" cy="2620284"/>
          </a:xfrm>
          <a:prstGeom prst="rect">
            <a:avLst/>
          </a:prstGeom>
        </p:spPr>
      </p:pic>
      <p:sp>
        <p:nvSpPr>
          <p:cNvPr id="5" name="テキスト プレースホルダー 25">
            <a:extLst>
              <a:ext uri="{FF2B5EF4-FFF2-40B4-BE49-F238E27FC236}">
                <a16:creationId xmlns:a16="http://schemas.microsoft.com/office/drawing/2014/main" id="{698CC850-444B-3A1F-2828-244C0F9617DB}"/>
              </a:ext>
            </a:extLst>
          </p:cNvPr>
          <p:cNvSpPr>
            <a:spLocks noGrp="1"/>
          </p:cNvSpPr>
          <p:nvPr>
            <p:ph type="body" sz="quarter" idx="11" hasCustomPrompt="1"/>
          </p:nvPr>
        </p:nvSpPr>
        <p:spPr>
          <a:xfrm>
            <a:off x="2330135" y="689794"/>
            <a:ext cx="6984000" cy="174535"/>
          </a:xfrm>
        </p:spPr>
        <p:txBody>
          <a:bodyPr wrap="square">
            <a:spAutoFit/>
          </a:bodyPr>
          <a:lstStyle>
            <a:lvl1pPr>
              <a:lnSpc>
                <a:spcPct val="110000"/>
              </a:lnSpc>
              <a:spcBef>
                <a:spcPts val="0"/>
              </a:spcBef>
              <a:defRPr sz="1200" b="1">
                <a:latin typeface="+mj-ea"/>
                <a:ea typeface="+mj-ea"/>
              </a:defRPr>
            </a:lvl1pPr>
          </a:lstStyle>
          <a:p>
            <a:pPr lvl="0"/>
            <a:r>
              <a:rPr kumimoji="1" lang="en-US" altLang="ja-JP" dirty="0"/>
              <a:t>XXXXXX</a:t>
            </a:r>
            <a:r>
              <a:rPr kumimoji="1" lang="ja-JP" altLang="en-US" dirty="0"/>
              <a:t>御中 必要ない場合は削除</a:t>
            </a:r>
          </a:p>
        </p:txBody>
      </p:sp>
      <p:pic>
        <p:nvPicPr>
          <p:cNvPr id="8" name="グラフィックス 7">
            <a:extLst>
              <a:ext uri="{FF2B5EF4-FFF2-40B4-BE49-F238E27FC236}">
                <a16:creationId xmlns:a16="http://schemas.microsoft.com/office/drawing/2014/main" id="{6B6FDD36-C766-0873-907E-39E17937F05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70048" y="538534"/>
            <a:ext cx="1008000" cy="1008000"/>
          </a:xfrm>
          <a:prstGeom prst="rect">
            <a:avLst/>
          </a:prstGeom>
        </p:spPr>
      </p:pic>
    </p:spTree>
    <p:extLst>
      <p:ext uri="{BB962C8B-B14F-4D97-AF65-F5344CB8AC3E}">
        <p14:creationId xmlns:p14="http://schemas.microsoft.com/office/powerpoint/2010/main" val="11875538"/>
      </p:ext>
    </p:extLst>
  </p:cSld>
  <p:clrMapOvr>
    <a:masterClrMapping/>
  </p:clrMapOvr>
  <p:transition spd="slow">
    <p:push/>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0" name="四角形: 角を丸くする 9">
            <a:extLst>
              <a:ext uri="{FF2B5EF4-FFF2-40B4-BE49-F238E27FC236}">
                <a16:creationId xmlns:a16="http://schemas.microsoft.com/office/drawing/2014/main" id="{414C8DE6-B80E-EC4B-1C07-BAF01FC21FE3}"/>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Google Shape;10;p1">
            <a:extLst>
              <a:ext uri="{FF2B5EF4-FFF2-40B4-BE49-F238E27FC236}">
                <a16:creationId xmlns:a16="http://schemas.microsoft.com/office/drawing/2014/main" id="{A8358F5E-CE0F-F5C4-6144-8A96FD6370E3}"/>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17" name="Google Shape;10;p1">
            <a:extLst>
              <a:ext uri="{FF2B5EF4-FFF2-40B4-BE49-F238E27FC236}">
                <a16:creationId xmlns:a16="http://schemas.microsoft.com/office/drawing/2014/main" id="{AAE98BF4-426E-E6B2-5AA5-D2646A620A67}"/>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sp>
        <p:nvSpPr>
          <p:cNvPr id="20" name="テキスト プレースホルダー 13">
            <a:extLst>
              <a:ext uri="{FF2B5EF4-FFF2-40B4-BE49-F238E27FC236}">
                <a16:creationId xmlns:a16="http://schemas.microsoft.com/office/drawing/2014/main" id="{D5A4CE46-03F2-C037-139F-967BCEF5E5AB}"/>
              </a:ext>
            </a:extLst>
          </p:cNvPr>
          <p:cNvSpPr txBox="1">
            <a:spLocks/>
          </p:cNvSpPr>
          <p:nvPr userDrawn="1"/>
        </p:nvSpPr>
        <p:spPr>
          <a:xfrm>
            <a:off x="857250" y="463352"/>
            <a:ext cx="2020887" cy="553998"/>
          </a:xfrm>
          <a:prstGeom prst="rect">
            <a:avLst/>
          </a:prstGeom>
        </p:spPr>
        <p:txBody>
          <a:bodyPr vert="horz" wrap="square" lIns="0" tIns="0" rIns="0" bIns="0" rtlCol="0">
            <a:spAutoFit/>
          </a:bodyPr>
          <a:lstStyle>
            <a:lvl1pPr marL="0" indent="0" algn="r" defTabSz="914400" rtl="0" eaLnBrk="1" latinLnBrk="0" hangingPunct="1">
              <a:lnSpc>
                <a:spcPct val="100000"/>
              </a:lnSpc>
              <a:spcBef>
                <a:spcPts val="0"/>
              </a:spcBef>
              <a:buFontTx/>
              <a:buNone/>
              <a:defRPr kumimoji="1" sz="30000" kern="1200">
                <a:ln w="19050">
                  <a:solidFill>
                    <a:schemeClr val="tx2"/>
                  </a:solidFill>
                </a:ln>
                <a:no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2pPr>
            <a:lvl3pPr marL="9144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3pPr>
            <a:lvl4pPr marL="13716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4pPr>
            <a:lvl5pPr marL="18288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en-US" altLang="ja-JP" sz="3600" dirty="0">
                <a:ln w="12700">
                  <a:noFill/>
                </a:ln>
                <a:solidFill>
                  <a:schemeClr val="tx2"/>
                </a:solidFill>
                <a:latin typeface="Bahnschrift" panose="020B0502040204020203" pitchFamily="34" charset="0"/>
              </a:rPr>
              <a:t>Contents</a:t>
            </a:r>
          </a:p>
        </p:txBody>
      </p:sp>
      <p:grpSp>
        <p:nvGrpSpPr>
          <p:cNvPr id="21" name="グループ化 20">
            <a:extLst>
              <a:ext uri="{FF2B5EF4-FFF2-40B4-BE49-F238E27FC236}">
                <a16:creationId xmlns:a16="http://schemas.microsoft.com/office/drawing/2014/main" id="{70F69DDF-6CB2-90E5-6858-69460B9ED411}"/>
              </a:ext>
            </a:extLst>
          </p:cNvPr>
          <p:cNvGrpSpPr/>
          <p:nvPr userDrawn="1"/>
        </p:nvGrpSpPr>
        <p:grpSpPr>
          <a:xfrm rot="16200000">
            <a:off x="1775250" y="217946"/>
            <a:ext cx="36000" cy="1872000"/>
            <a:chOff x="3000911" y="5142393"/>
            <a:chExt cx="36000" cy="1350400"/>
          </a:xfrm>
        </p:grpSpPr>
        <p:sp>
          <p:nvSpPr>
            <p:cNvPr id="22" name="四角形: 上の 2 つの角を丸める 21">
              <a:extLst>
                <a:ext uri="{FF2B5EF4-FFF2-40B4-BE49-F238E27FC236}">
                  <a16:creationId xmlns:a16="http://schemas.microsoft.com/office/drawing/2014/main" id="{D28EF4F6-37DA-476A-D721-8E9B34D18C12}"/>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上の 2 つの角を丸める 22">
              <a:extLst>
                <a:ext uri="{FF2B5EF4-FFF2-40B4-BE49-F238E27FC236}">
                  <a16:creationId xmlns:a16="http://schemas.microsoft.com/office/drawing/2014/main" id="{C86596E3-477E-A679-5C2A-8510ED4DD058}"/>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 name="グラフィックス 1">
            <a:extLst>
              <a:ext uri="{FF2B5EF4-FFF2-40B4-BE49-F238E27FC236}">
                <a16:creationId xmlns:a16="http://schemas.microsoft.com/office/drawing/2014/main" id="{78869CD3-21C0-C44C-49C8-1A9CF9AB61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3403" y="605860"/>
            <a:ext cx="90000" cy="690003"/>
          </a:xfrm>
          <a:prstGeom prst="rect">
            <a:avLst/>
          </a:prstGeom>
        </p:spPr>
      </p:pic>
      <p:cxnSp>
        <p:nvCxnSpPr>
          <p:cNvPr id="3" name="直線コネクタ 2">
            <a:extLst>
              <a:ext uri="{FF2B5EF4-FFF2-40B4-BE49-F238E27FC236}">
                <a16:creationId xmlns:a16="http://schemas.microsoft.com/office/drawing/2014/main" id="{E13B6EDD-E302-892B-EB69-D9F7A83F891F}"/>
              </a:ext>
            </a:extLst>
          </p:cNvPr>
          <p:cNvCxnSpPr>
            <a:cxnSpLocks/>
          </p:cNvCxnSpPr>
          <p:nvPr userDrawn="1"/>
        </p:nvCxnSpPr>
        <p:spPr>
          <a:xfrm>
            <a:off x="338403" y="1367576"/>
            <a:ext cx="0" cy="4860000"/>
          </a:xfrm>
          <a:prstGeom prst="line">
            <a:avLst/>
          </a:prstGeom>
          <a:noFill/>
          <a:ln w="3175" cap="flat" cmpd="sng">
            <a:solidFill>
              <a:schemeClr val="bg2">
                <a:lumMod val="90000"/>
              </a:schemeClr>
            </a:solidFill>
            <a:prstDash val="solid"/>
            <a:miter lim="800000"/>
            <a:headEnd type="none" w="sm" len="sm"/>
            <a:tailEnd type="none" w="sm" len="sm"/>
          </a:ln>
        </p:spPr>
      </p:cxnSp>
      <p:pic>
        <p:nvPicPr>
          <p:cNvPr id="5" name="グラフィックス 4">
            <a:extLst>
              <a:ext uri="{FF2B5EF4-FFF2-40B4-BE49-F238E27FC236}">
                <a16:creationId xmlns:a16="http://schemas.microsoft.com/office/drawing/2014/main" id="{A0515E26-3479-F343-2355-99581DC52C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4117298849"/>
      </p:ext>
    </p:extLst>
  </p:cSld>
  <p:clrMapOvr>
    <a:masterClrMapping/>
  </p:clrMapOvr>
  <p:extLst>
    <p:ext uri="{DCECCB84-F9BA-43D5-87BE-67443E8EF086}">
      <p15:sldGuideLst xmlns:p15="http://schemas.microsoft.com/office/powerpoint/2012/main">
        <p15:guide id="2" pos="540">
          <p15:clr>
            <a:srgbClr val="FBAE40"/>
          </p15:clr>
        </p15:guide>
        <p15:guide id="3" pos="5939">
          <p15:clr>
            <a:srgbClr val="FBAE40"/>
          </p15:clr>
        </p15:guide>
        <p15:guide id="4" orient="horz" pos="40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bira">
    <p:spTree>
      <p:nvGrpSpPr>
        <p:cNvPr id="1" name=""/>
        <p:cNvGrpSpPr/>
        <p:nvPr/>
      </p:nvGrpSpPr>
      <p:grpSpPr>
        <a:xfrm>
          <a:off x="0" y="0"/>
          <a:ext cx="0" cy="0"/>
          <a:chOff x="0" y="0"/>
          <a:chExt cx="0" cy="0"/>
        </a:xfrm>
      </p:grpSpPr>
      <p:sp>
        <p:nvSpPr>
          <p:cNvPr id="17" name="テキスト プレースホルダー 5">
            <a:extLst>
              <a:ext uri="{FF2B5EF4-FFF2-40B4-BE49-F238E27FC236}">
                <a16:creationId xmlns:a16="http://schemas.microsoft.com/office/drawing/2014/main" id="{DD0336DE-AA62-6947-41C1-57A498FF63FA}"/>
              </a:ext>
            </a:extLst>
          </p:cNvPr>
          <p:cNvSpPr>
            <a:spLocks noGrp="1"/>
          </p:cNvSpPr>
          <p:nvPr>
            <p:ph type="body" sz="quarter" idx="15" hasCustomPrompt="1"/>
          </p:nvPr>
        </p:nvSpPr>
        <p:spPr>
          <a:xfrm>
            <a:off x="5872163" y="2414602"/>
            <a:ext cx="3556000" cy="4308872"/>
          </a:xfrm>
        </p:spPr>
        <p:txBody>
          <a:bodyPr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a:t>1</a:t>
            </a:r>
            <a:endParaRPr kumimoji="1" lang="ja-JP" altLang="en-US"/>
          </a:p>
        </p:txBody>
      </p:sp>
      <p:sp>
        <p:nvSpPr>
          <p:cNvPr id="10" name="テキスト プレースホルダー 9">
            <a:extLst>
              <a:ext uri="{FF2B5EF4-FFF2-40B4-BE49-F238E27FC236}">
                <a16:creationId xmlns:a16="http://schemas.microsoft.com/office/drawing/2014/main" id="{D6E06191-E30E-43B9-FE4F-5689EDC6CA7F}"/>
              </a:ext>
            </a:extLst>
          </p:cNvPr>
          <p:cNvSpPr>
            <a:spLocks noGrp="1"/>
          </p:cNvSpPr>
          <p:nvPr>
            <p:ph type="body" sz="quarter" idx="11"/>
          </p:nvPr>
        </p:nvSpPr>
        <p:spPr>
          <a:xfrm>
            <a:off x="1605001" y="1620272"/>
            <a:ext cx="7854867" cy="502382"/>
          </a:xfrm>
        </p:spPr>
        <p:txBody>
          <a:bodyPr wrap="square" lIns="0" tIns="0" rIns="0" bIns="0" anchor="b" anchorCtr="0">
            <a:spAutoFit/>
          </a:bodyPr>
          <a:lstStyle>
            <a:lvl1pPr marL="0" indent="0">
              <a:lnSpc>
                <a:spcPct val="120000"/>
              </a:lnSpc>
              <a:spcBef>
                <a:spcPts val="0"/>
              </a:spcBef>
              <a:buFontTx/>
              <a:buNone/>
              <a:defRPr sz="3200" b="1">
                <a:solidFill>
                  <a:schemeClr val="tx2"/>
                </a:solidFill>
                <a:latin typeface="+mj-ea"/>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kumimoji="1" lang="ja-JP" altLang="en-US"/>
              <a:t>マスター テキストの書式設定</a:t>
            </a:r>
          </a:p>
        </p:txBody>
      </p:sp>
      <p:sp>
        <p:nvSpPr>
          <p:cNvPr id="12" name="テキスト プレースホルダー 9">
            <a:extLst>
              <a:ext uri="{FF2B5EF4-FFF2-40B4-BE49-F238E27FC236}">
                <a16:creationId xmlns:a16="http://schemas.microsoft.com/office/drawing/2014/main" id="{4AA1B98C-39AF-E8E8-B0D3-BDD8EAE57CF4}"/>
              </a:ext>
            </a:extLst>
          </p:cNvPr>
          <p:cNvSpPr>
            <a:spLocks noGrp="1"/>
          </p:cNvSpPr>
          <p:nvPr>
            <p:ph type="body" sz="quarter" idx="12" hasCustomPrompt="1"/>
          </p:nvPr>
        </p:nvSpPr>
        <p:spPr>
          <a:xfrm>
            <a:off x="1605001" y="2570611"/>
            <a:ext cx="7854867" cy="313932"/>
          </a:xfrm>
        </p:spPr>
        <p:txBody>
          <a:bodyPr wrap="square" lIns="0" tIns="0" rIns="0" bIns="0">
            <a:spAutoFit/>
          </a:bodyPr>
          <a:lstStyle>
            <a:lvl1pPr marL="0" indent="0">
              <a:buFontTx/>
              <a:buNone/>
              <a:defRPr sz="2000" b="1">
                <a:solidFill>
                  <a:schemeClr val="tx2"/>
                </a:solidFill>
                <a:latin typeface="+mj-ea"/>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kumimoji="1" lang="ja-JP" altLang="en-US" dirty="0"/>
              <a:t>サブタイトル</a:t>
            </a:r>
          </a:p>
        </p:txBody>
      </p:sp>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3" name="四角形: 上の 2 つの角を丸める 12">
            <a:extLst>
              <a:ext uri="{FF2B5EF4-FFF2-40B4-BE49-F238E27FC236}">
                <a16:creationId xmlns:a16="http://schemas.microsoft.com/office/drawing/2014/main" id="{6B0F0D73-1766-0FE0-3812-133EAF14B5E4}"/>
              </a:ext>
            </a:extLst>
          </p:cNvPr>
          <p:cNvSpPr/>
          <p:nvPr userDrawn="1"/>
        </p:nvSpPr>
        <p:spPr>
          <a:xfrm rot="16200000">
            <a:off x="1982068" y="2025497"/>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4" name="四角形: 上の 2 つの角を丸める 13">
            <a:extLst>
              <a:ext uri="{FF2B5EF4-FFF2-40B4-BE49-F238E27FC236}">
                <a16:creationId xmlns:a16="http://schemas.microsoft.com/office/drawing/2014/main" id="{9C37F7C3-3AF5-3274-BB37-6E68B397BEB6}"/>
              </a:ext>
            </a:extLst>
          </p:cNvPr>
          <p:cNvSpPr/>
          <p:nvPr userDrawn="1"/>
        </p:nvSpPr>
        <p:spPr>
          <a:xfrm rot="5400000">
            <a:off x="5954163" y="-1050253"/>
            <a:ext cx="36000" cy="6912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5" name="四角形: 上の 2 つの角を丸める 14">
            <a:extLst>
              <a:ext uri="{FF2B5EF4-FFF2-40B4-BE49-F238E27FC236}">
                <a16:creationId xmlns:a16="http://schemas.microsoft.com/office/drawing/2014/main" id="{14F7C796-A2F5-488E-3680-38B56F49049B}"/>
              </a:ext>
            </a:extLst>
          </p:cNvPr>
          <p:cNvSpPr/>
          <p:nvPr userDrawn="1"/>
        </p:nvSpPr>
        <p:spPr>
          <a:xfrm rot="16200000">
            <a:off x="2055002" y="1937747"/>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04329B18-B8DD-3D73-946C-EF030A18859E}"/>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Google Shape;10;p1">
            <a:extLst>
              <a:ext uri="{FF2B5EF4-FFF2-40B4-BE49-F238E27FC236}">
                <a16:creationId xmlns:a16="http://schemas.microsoft.com/office/drawing/2014/main" id="{EFDA896C-6E55-4C37-D943-047F25213DAA}"/>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16" name="Google Shape;10;p1">
            <a:extLst>
              <a:ext uri="{FF2B5EF4-FFF2-40B4-BE49-F238E27FC236}">
                <a16:creationId xmlns:a16="http://schemas.microsoft.com/office/drawing/2014/main" id="{4DA3DBB5-6261-BA5F-4BEF-D8FF650353AC}"/>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pic>
        <p:nvPicPr>
          <p:cNvPr id="18" name="グラフィックス 17">
            <a:extLst>
              <a:ext uri="{FF2B5EF4-FFF2-40B4-BE49-F238E27FC236}">
                <a16:creationId xmlns:a16="http://schemas.microsoft.com/office/drawing/2014/main" id="{8543CF5F-E7F9-1FFD-296A-16093C4FA4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3403" y="605860"/>
            <a:ext cx="90000" cy="690003"/>
          </a:xfrm>
          <a:prstGeom prst="rect">
            <a:avLst/>
          </a:prstGeom>
        </p:spPr>
      </p:pic>
      <p:cxnSp>
        <p:nvCxnSpPr>
          <p:cNvPr id="19" name="直線コネクタ 18">
            <a:extLst>
              <a:ext uri="{FF2B5EF4-FFF2-40B4-BE49-F238E27FC236}">
                <a16:creationId xmlns:a16="http://schemas.microsoft.com/office/drawing/2014/main" id="{96DFB9FD-A340-433D-93BD-06DE66FCE008}"/>
              </a:ext>
            </a:extLst>
          </p:cNvPr>
          <p:cNvCxnSpPr>
            <a:cxnSpLocks/>
          </p:cNvCxnSpPr>
          <p:nvPr userDrawn="1"/>
        </p:nvCxnSpPr>
        <p:spPr>
          <a:xfrm>
            <a:off x="338403" y="1367576"/>
            <a:ext cx="0" cy="4860000"/>
          </a:xfrm>
          <a:prstGeom prst="line">
            <a:avLst/>
          </a:prstGeom>
          <a:noFill/>
          <a:ln w="3175" cap="flat" cmpd="sng">
            <a:solidFill>
              <a:schemeClr val="bg2">
                <a:lumMod val="90000"/>
              </a:schemeClr>
            </a:solidFill>
            <a:prstDash val="solid"/>
            <a:miter lim="800000"/>
            <a:headEnd type="none" w="sm" len="sm"/>
            <a:tailEnd type="none" w="sm" len="sm"/>
          </a:ln>
        </p:spPr>
      </p:cxnSp>
      <p:pic>
        <p:nvPicPr>
          <p:cNvPr id="3" name="グラフィックス 2">
            <a:extLst>
              <a:ext uri="{FF2B5EF4-FFF2-40B4-BE49-F238E27FC236}">
                <a16:creationId xmlns:a16="http://schemas.microsoft.com/office/drawing/2014/main" id="{3294E188-D4B7-EE92-BD14-C1CC669DE47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4102775020"/>
      </p:ext>
    </p:extLst>
  </p:cSld>
  <p:clrMapOvr>
    <a:masterClrMapping/>
  </p:clrMapOvr>
  <p:extLst>
    <p:ext uri="{DCECCB84-F9BA-43D5-87BE-67443E8EF086}">
      <p15:sldGuideLst xmlns:p15="http://schemas.microsoft.com/office/powerpoint/2012/main">
        <p15:guide id="2" pos="540">
          <p15:clr>
            <a:srgbClr val="FBAE40"/>
          </p15:clr>
        </p15:guide>
        <p15:guide id="3" pos="5939">
          <p15:clr>
            <a:srgbClr val="FBAE40"/>
          </p15:clr>
        </p15:guide>
        <p15:guide id="4" orient="horz" pos="40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e-A">
    <p:spTree>
      <p:nvGrpSpPr>
        <p:cNvPr id="1" name=""/>
        <p:cNvGrpSpPr/>
        <p:nvPr/>
      </p:nvGrpSpPr>
      <p:grpSpPr>
        <a:xfrm>
          <a:off x="0" y="0"/>
          <a:ext cx="0" cy="0"/>
          <a:chOff x="0" y="0"/>
          <a:chExt cx="0" cy="0"/>
        </a:xfrm>
      </p:grpSpPr>
      <p:sp>
        <p:nvSpPr>
          <p:cNvPr id="37" name="テキスト プレースホルダー 3">
            <a:extLst>
              <a:ext uri="{FF2B5EF4-FFF2-40B4-BE49-F238E27FC236}">
                <a16:creationId xmlns:a16="http://schemas.microsoft.com/office/drawing/2014/main" id="{4EC2F0A7-7B11-2C83-F3E4-212B02AA0A32}"/>
              </a:ext>
            </a:extLst>
          </p:cNvPr>
          <p:cNvSpPr>
            <a:spLocks noGrp="1"/>
          </p:cNvSpPr>
          <p:nvPr>
            <p:ph type="body" sz="half" idx="12" hasCustomPrompt="1"/>
          </p:nvPr>
        </p:nvSpPr>
        <p:spPr>
          <a:xfrm>
            <a:off x="857747" y="1224000"/>
            <a:ext cx="8659316" cy="271036"/>
          </a:xfrm>
        </p:spPr>
        <p:txBody>
          <a:bodyPr wrap="square" lIns="0" tIns="0" rIns="0" bIns="0">
            <a:spAutoFit/>
          </a:bodyPr>
          <a:lstStyle>
            <a:lvl1pPr marL="0" indent="0">
              <a:lnSpc>
                <a:spcPct val="120000"/>
              </a:lnSpc>
              <a:spcBef>
                <a:spcPts val="0"/>
              </a:spcBef>
              <a:spcAft>
                <a:spcPts val="300"/>
              </a:spcAft>
              <a:buNone/>
              <a:defRPr sz="1600">
                <a:solidFill>
                  <a:schemeClr val="tx1"/>
                </a:solidFill>
                <a:latin typeface="+mn-lt"/>
                <a:ea typeface="+mn-ea"/>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kumimoji="1" lang="ja-JP" altLang="en-US" dirty="0"/>
              <a:t>リード文を入力する</a:t>
            </a:r>
          </a:p>
        </p:txBody>
      </p:sp>
      <p:sp>
        <p:nvSpPr>
          <p:cNvPr id="38" name="テキスト プレースホルダー 3">
            <a:extLst>
              <a:ext uri="{FF2B5EF4-FFF2-40B4-BE49-F238E27FC236}">
                <a16:creationId xmlns:a16="http://schemas.microsoft.com/office/drawing/2014/main" id="{4E4E4F13-1F21-6EB9-6A6A-8A4905E86E4C}"/>
              </a:ext>
            </a:extLst>
          </p:cNvPr>
          <p:cNvSpPr>
            <a:spLocks noGrp="1"/>
          </p:cNvSpPr>
          <p:nvPr>
            <p:ph type="body" sz="half" idx="13" hasCustomPrompt="1"/>
          </p:nvPr>
        </p:nvSpPr>
        <p:spPr>
          <a:xfrm>
            <a:off x="857747" y="6535369"/>
            <a:ext cx="6230250" cy="89383"/>
          </a:xfrm>
        </p:spPr>
        <p:txBody>
          <a:bodyPr wrap="square" lIns="0" tIns="0" rIns="0" bIns="0">
            <a:spAutoFit/>
          </a:bodyPr>
          <a:lstStyle>
            <a:lvl1pPr marL="0" indent="0">
              <a:lnSpc>
                <a:spcPct val="120000"/>
              </a:lnSpc>
              <a:spcBef>
                <a:spcPts val="0"/>
              </a:spcBef>
              <a:spcAft>
                <a:spcPts val="0"/>
              </a:spcAft>
              <a:buNone/>
              <a:defRPr sz="569">
                <a:solidFill>
                  <a:schemeClr val="tx1"/>
                </a:solidFill>
                <a:latin typeface="+mn-ea"/>
                <a:ea typeface="+mn-ea"/>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r>
              <a:rPr kumimoji="1" lang="ja-JP" altLang="en-US" dirty="0"/>
              <a:t>脚注・注釈テキストを入力する</a:t>
            </a:r>
          </a:p>
        </p:txBody>
      </p:sp>
      <p:sp>
        <p:nvSpPr>
          <p:cNvPr id="24" name="テキスト プレースホルダー 5">
            <a:extLst>
              <a:ext uri="{FF2B5EF4-FFF2-40B4-BE49-F238E27FC236}">
                <a16:creationId xmlns:a16="http://schemas.microsoft.com/office/drawing/2014/main" id="{677C479B-DDD6-603F-9425-E6F8F5C68D1B}"/>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9" name="四角形: 上の 2 つの角を丸める 18">
            <a:extLst>
              <a:ext uri="{FF2B5EF4-FFF2-40B4-BE49-F238E27FC236}">
                <a16:creationId xmlns:a16="http://schemas.microsoft.com/office/drawing/2014/main" id="{167E0FE0-2FD7-C239-0E50-4B0E106C9A46}"/>
              </a:ext>
            </a:extLst>
          </p:cNvPr>
          <p:cNvSpPr/>
          <p:nvPr userDrawn="1"/>
        </p:nvSpPr>
        <p:spPr>
          <a:xfrm rot="16200000">
            <a:off x="1219997" y="642802"/>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1" name="四角形: 上の 2 つの角を丸める 20">
            <a:extLst>
              <a:ext uri="{FF2B5EF4-FFF2-40B4-BE49-F238E27FC236}">
                <a16:creationId xmlns:a16="http://schemas.microsoft.com/office/drawing/2014/main" id="{A12A5D09-263D-B3B0-0202-9A3642DBAEF1}"/>
              </a:ext>
            </a:extLst>
          </p:cNvPr>
          <p:cNvSpPr/>
          <p:nvPr userDrawn="1"/>
        </p:nvSpPr>
        <p:spPr>
          <a:xfrm rot="5400000">
            <a:off x="5548997" y="-2925698"/>
            <a:ext cx="36000" cy="78975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5" name="タイトル 14">
            <a:extLst>
              <a:ext uri="{FF2B5EF4-FFF2-40B4-BE49-F238E27FC236}">
                <a16:creationId xmlns:a16="http://schemas.microsoft.com/office/drawing/2014/main" id="{562C4C28-E9D2-6B6F-6821-FF9ED54DF1D7}"/>
              </a:ext>
            </a:extLst>
          </p:cNvPr>
          <p:cNvSpPr>
            <a:spLocks noGrp="1"/>
          </p:cNvSpPr>
          <p:nvPr>
            <p:ph type="title" hasCustomPrompt="1"/>
          </p:nvPr>
        </p:nvSpPr>
        <p:spPr>
          <a:xfrm>
            <a:off x="857746" y="493713"/>
            <a:ext cx="8658001" cy="376770"/>
          </a:xfrm>
        </p:spPr>
        <p:txBody>
          <a:bodyPr/>
          <a:lstStyle>
            <a:lvl1pPr>
              <a:defRPr sz="2400">
                <a:solidFill>
                  <a:schemeClr val="tx2"/>
                </a:solidFill>
                <a:latin typeface="+mj-ea"/>
                <a:ea typeface="+mj-ea"/>
              </a:defRPr>
            </a:lvl1pPr>
          </a:lstStyle>
          <a:p>
            <a:r>
              <a:rPr lang="ja-JP" altLang="en-US" dirty="0"/>
              <a:t>タイトルを入力する</a:t>
            </a:r>
          </a:p>
        </p:txBody>
      </p:sp>
      <p:sp>
        <p:nvSpPr>
          <p:cNvPr id="3" name="四角形: 角を丸くする 2">
            <a:extLst>
              <a:ext uri="{FF2B5EF4-FFF2-40B4-BE49-F238E27FC236}">
                <a16:creationId xmlns:a16="http://schemas.microsoft.com/office/drawing/2014/main" id="{EE8042B6-0ECB-CA70-EDE4-D67A0108185F}"/>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Google Shape;10;p1">
            <a:extLst>
              <a:ext uri="{FF2B5EF4-FFF2-40B4-BE49-F238E27FC236}">
                <a16:creationId xmlns:a16="http://schemas.microsoft.com/office/drawing/2014/main" id="{CA25E6D1-8817-8437-7D6A-EC1914E196D2}"/>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5" name="Google Shape;10;p1">
            <a:extLst>
              <a:ext uri="{FF2B5EF4-FFF2-40B4-BE49-F238E27FC236}">
                <a16:creationId xmlns:a16="http://schemas.microsoft.com/office/drawing/2014/main" id="{AE5B993B-AA94-6240-8405-E11FE71A872F}"/>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pic>
        <p:nvPicPr>
          <p:cNvPr id="16" name="グラフィックス 15">
            <a:extLst>
              <a:ext uri="{FF2B5EF4-FFF2-40B4-BE49-F238E27FC236}">
                <a16:creationId xmlns:a16="http://schemas.microsoft.com/office/drawing/2014/main" id="{359BDFF8-08B5-5BA2-B975-3546866C15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3403" y="605860"/>
            <a:ext cx="90000" cy="690003"/>
          </a:xfrm>
          <a:prstGeom prst="rect">
            <a:avLst/>
          </a:prstGeom>
        </p:spPr>
      </p:pic>
      <p:cxnSp>
        <p:nvCxnSpPr>
          <p:cNvPr id="17" name="直線コネクタ 16">
            <a:extLst>
              <a:ext uri="{FF2B5EF4-FFF2-40B4-BE49-F238E27FC236}">
                <a16:creationId xmlns:a16="http://schemas.microsoft.com/office/drawing/2014/main" id="{D6443733-85B1-0B9E-FDF1-11C994F93C38}"/>
              </a:ext>
            </a:extLst>
          </p:cNvPr>
          <p:cNvCxnSpPr>
            <a:cxnSpLocks/>
          </p:cNvCxnSpPr>
          <p:nvPr userDrawn="1"/>
        </p:nvCxnSpPr>
        <p:spPr>
          <a:xfrm>
            <a:off x="338403" y="1367576"/>
            <a:ext cx="0" cy="4860000"/>
          </a:xfrm>
          <a:prstGeom prst="line">
            <a:avLst/>
          </a:prstGeom>
          <a:noFill/>
          <a:ln w="3175" cap="flat" cmpd="sng">
            <a:solidFill>
              <a:schemeClr val="bg2">
                <a:lumMod val="90000"/>
              </a:schemeClr>
            </a:solidFill>
            <a:prstDash val="solid"/>
            <a:miter lim="800000"/>
            <a:headEnd type="none" w="sm" len="sm"/>
            <a:tailEnd type="none" w="sm" len="sm"/>
          </a:ln>
        </p:spPr>
      </p:cxnSp>
      <p:pic>
        <p:nvPicPr>
          <p:cNvPr id="2" name="グラフィックス 1">
            <a:extLst>
              <a:ext uri="{FF2B5EF4-FFF2-40B4-BE49-F238E27FC236}">
                <a16:creationId xmlns:a16="http://schemas.microsoft.com/office/drawing/2014/main" id="{A3008974-9FD8-4655-3413-8847F974FA0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2436191991"/>
      </p:ext>
    </p:extLst>
  </p:cSld>
  <p:clrMapOvr>
    <a:masterClrMapping/>
  </p:clrMapOvr>
  <p:extLst>
    <p:ext uri="{DCECCB84-F9BA-43D5-87BE-67443E8EF086}">
      <p15:sldGuideLst xmlns:p15="http://schemas.microsoft.com/office/powerpoint/2012/main">
        <p15:guide id="1" orient="horz" pos="323">
          <p15:clr>
            <a:srgbClr val="FBAE40"/>
          </p15:clr>
        </p15:guide>
        <p15:guide id="2" pos="540">
          <p15:clr>
            <a:srgbClr val="FBAE40"/>
          </p15:clr>
        </p15:guide>
        <p15:guide id="3" pos="5995">
          <p15:clr>
            <a:srgbClr val="FBAE40"/>
          </p15:clr>
        </p15:guide>
        <p15:guide id="4" orient="horz" pos="3997">
          <p15:clr>
            <a:srgbClr val="FBAE40"/>
          </p15:clr>
        </p15:guide>
        <p15:guide id="5" pos="326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5932C5D0-5665-2ED4-ADCF-11708EB864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15391" y="3092747"/>
            <a:ext cx="3038400" cy="574186"/>
          </a:xfrm>
          <a:prstGeom prst="rect">
            <a:avLst/>
          </a:prstGeom>
        </p:spPr>
      </p:pic>
      <p:pic>
        <p:nvPicPr>
          <p:cNvPr id="8" name="グラフィックス 7">
            <a:extLst>
              <a:ext uri="{FF2B5EF4-FFF2-40B4-BE49-F238E27FC236}">
                <a16:creationId xmlns:a16="http://schemas.microsoft.com/office/drawing/2014/main" id="{3F8FCC47-9460-1540-E32D-F296453201D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257626" y="3045940"/>
            <a:ext cx="666000" cy="666000"/>
          </a:xfrm>
          <a:prstGeom prst="rect">
            <a:avLst/>
          </a:prstGeom>
        </p:spPr>
      </p:pic>
    </p:spTree>
    <p:extLst>
      <p:ext uri="{BB962C8B-B14F-4D97-AF65-F5344CB8AC3E}">
        <p14:creationId xmlns:p14="http://schemas.microsoft.com/office/powerpoint/2010/main" val="2461353320"/>
      </p:ext>
    </p:extLst>
  </p:cSld>
  <p:clrMapOvr>
    <a:masterClrMapping/>
  </p:clrMapOvr>
  <p:extLst>
    <p:ext uri="{DCECCB84-F9BA-43D5-87BE-67443E8EF086}">
      <p15:sldGuideLst xmlns:p15="http://schemas.microsoft.com/office/powerpoint/2012/main">
        <p15:guide id="1" orient="horz" pos="323">
          <p15:clr>
            <a:srgbClr val="FBAE40"/>
          </p15:clr>
        </p15:guide>
        <p15:guide id="2" pos="540">
          <p15:clr>
            <a:srgbClr val="FBAE40"/>
          </p15:clr>
        </p15:guide>
        <p15:guide id="3" pos="5995">
          <p15:clr>
            <a:srgbClr val="FBAE40"/>
          </p15:clr>
        </p15:guide>
        <p15:guide id="4" orient="horz" pos="3997">
          <p15:clr>
            <a:srgbClr val="FBAE40"/>
          </p15:clr>
        </p15:guide>
        <p15:guide id="5" pos="326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ver-page" preserve="1" userDrawn="1">
  <p:cSld name="cover-page">
    <p:spTree>
      <p:nvGrpSpPr>
        <p:cNvPr id="1" name="Shape 16"/>
        <p:cNvGrpSpPr/>
        <p:nvPr/>
      </p:nvGrpSpPr>
      <p:grpSpPr>
        <a:xfrm>
          <a:off x="0" y="0"/>
          <a:ext cx="0" cy="0"/>
          <a:chOff x="0" y="0"/>
          <a:chExt cx="0" cy="0"/>
        </a:xfrm>
      </p:grpSpPr>
      <p:sp>
        <p:nvSpPr>
          <p:cNvPr id="17" name="タイトル 16">
            <a:extLst>
              <a:ext uri="{FF2B5EF4-FFF2-40B4-BE49-F238E27FC236}">
                <a16:creationId xmlns:a16="http://schemas.microsoft.com/office/drawing/2014/main" id="{FA2A7922-CAFC-6608-73AB-7B57B7024185}"/>
              </a:ext>
            </a:extLst>
          </p:cNvPr>
          <p:cNvSpPr>
            <a:spLocks noGrp="1"/>
          </p:cNvSpPr>
          <p:nvPr>
            <p:ph type="title" hasCustomPrompt="1"/>
          </p:nvPr>
        </p:nvSpPr>
        <p:spPr>
          <a:xfrm>
            <a:off x="2330135" y="1606759"/>
            <a:ext cx="6984686" cy="1290610"/>
          </a:xfrm>
        </p:spPr>
        <p:txBody>
          <a:bodyPr/>
          <a:lstStyle>
            <a:lvl1pPr>
              <a:lnSpc>
                <a:spcPct val="110000"/>
              </a:lnSpc>
              <a:spcBef>
                <a:spcPts val="0"/>
              </a:spcBef>
              <a:defRPr sz="4000"/>
            </a:lvl1pPr>
          </a:lstStyle>
          <a:p>
            <a:r>
              <a:rPr kumimoji="1" lang="en-US" altLang="ja-JP" dirty="0"/>
              <a:t>Enter your title here</a:t>
            </a:r>
            <a:br>
              <a:rPr kumimoji="1" lang="en-US" altLang="ja-JP" dirty="0"/>
            </a:br>
            <a:r>
              <a:rPr kumimoji="1" lang="en-US" altLang="ja-JP" dirty="0"/>
              <a:t>Enter your title here</a:t>
            </a:r>
          </a:p>
        </p:txBody>
      </p:sp>
      <p:sp>
        <p:nvSpPr>
          <p:cNvPr id="3" name="四角形: 上の 2 つの角を丸める 2">
            <a:extLst>
              <a:ext uri="{FF2B5EF4-FFF2-40B4-BE49-F238E27FC236}">
                <a16:creationId xmlns:a16="http://schemas.microsoft.com/office/drawing/2014/main" id="{B45C9CBD-284C-7AA1-5EFE-6D6201A45A64}"/>
              </a:ext>
            </a:extLst>
          </p:cNvPr>
          <p:cNvSpPr/>
          <p:nvPr userDrawn="1"/>
        </p:nvSpPr>
        <p:spPr>
          <a:xfrm rot="16200000">
            <a:off x="2780821" y="554565"/>
            <a:ext cx="36000" cy="936000"/>
          </a:xfrm>
          <a:prstGeom prst="round2SameRect">
            <a:avLst>
              <a:gd name="adj1" fmla="val 50000"/>
              <a:gd name="adj2" fmla="val 0"/>
            </a:avLst>
          </a:prstGeom>
          <a:solidFill>
            <a:srgbClr val="00994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a:ln>
                <a:noFill/>
              </a:ln>
              <a:solidFill>
                <a:prstClr val="white"/>
              </a:solidFill>
              <a:effectLst/>
              <a:uLnTx/>
              <a:uFillTx/>
              <a:latin typeface="BIZ UDPゴシック"/>
              <a:ea typeface="BIZ UDPゴシック"/>
              <a:cs typeface="+mn-cs"/>
            </a:endParaRPr>
          </a:p>
        </p:txBody>
      </p:sp>
      <p:sp>
        <p:nvSpPr>
          <p:cNvPr id="4" name="四角形: 上の 2 つの角を丸める 3">
            <a:extLst>
              <a:ext uri="{FF2B5EF4-FFF2-40B4-BE49-F238E27FC236}">
                <a16:creationId xmlns:a16="http://schemas.microsoft.com/office/drawing/2014/main" id="{6C2B6FA1-CF1D-E5E5-B4BD-5083336DE353}"/>
              </a:ext>
            </a:extLst>
          </p:cNvPr>
          <p:cNvSpPr/>
          <p:nvPr userDrawn="1"/>
        </p:nvSpPr>
        <p:spPr>
          <a:xfrm rot="5400000">
            <a:off x="6272821" y="-2001435"/>
            <a:ext cx="36000" cy="6048000"/>
          </a:xfrm>
          <a:prstGeom prst="round2SameRect">
            <a:avLst>
              <a:gd name="adj1" fmla="val 50000"/>
              <a:gd name="adj2" fmla="val 0"/>
            </a:avLst>
          </a:prstGeom>
          <a:solidFill>
            <a:srgbClr val="7A0C3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dirty="0">
              <a:ln>
                <a:noFill/>
              </a:ln>
              <a:solidFill>
                <a:prstClr val="white"/>
              </a:solidFill>
              <a:effectLst/>
              <a:uLnTx/>
              <a:uFillTx/>
              <a:latin typeface="BIZ UDPゴシック"/>
              <a:ea typeface="BIZ UDPゴシック"/>
              <a:cs typeface="+mn-cs"/>
            </a:endParaRPr>
          </a:p>
        </p:txBody>
      </p:sp>
      <p:grpSp>
        <p:nvGrpSpPr>
          <p:cNvPr id="13" name="グループ化 12">
            <a:extLst>
              <a:ext uri="{FF2B5EF4-FFF2-40B4-BE49-F238E27FC236}">
                <a16:creationId xmlns:a16="http://schemas.microsoft.com/office/drawing/2014/main" id="{A704898B-E489-38F7-0A3A-B7703F0C68CE}"/>
              </a:ext>
            </a:extLst>
          </p:cNvPr>
          <p:cNvGrpSpPr/>
          <p:nvPr/>
        </p:nvGrpSpPr>
        <p:grpSpPr>
          <a:xfrm>
            <a:off x="2330135" y="5142393"/>
            <a:ext cx="36000" cy="1198800"/>
            <a:chOff x="3000911" y="5142393"/>
            <a:chExt cx="36000" cy="1350400"/>
          </a:xfrm>
        </p:grpSpPr>
        <p:sp>
          <p:nvSpPr>
            <p:cNvPr id="15" name="四角形: 上の 2 つの角を丸める 14">
              <a:extLst>
                <a:ext uri="{FF2B5EF4-FFF2-40B4-BE49-F238E27FC236}">
                  <a16:creationId xmlns:a16="http://schemas.microsoft.com/office/drawing/2014/main" id="{654FF871-29E5-65FB-8F23-D663543CE480}"/>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上の 2 つの角を丸める 15">
              <a:extLst>
                <a:ext uri="{FF2B5EF4-FFF2-40B4-BE49-F238E27FC236}">
                  <a16:creationId xmlns:a16="http://schemas.microsoft.com/office/drawing/2014/main" id="{2E2DCBA2-ECA3-B1D1-1ECF-FF61F1FA09C9}"/>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6" name="テキスト プレースホルダー 25">
            <a:extLst>
              <a:ext uri="{FF2B5EF4-FFF2-40B4-BE49-F238E27FC236}">
                <a16:creationId xmlns:a16="http://schemas.microsoft.com/office/drawing/2014/main" id="{0ED01E97-4DCF-9C60-082D-AAB5251C15F2}"/>
              </a:ext>
            </a:extLst>
          </p:cNvPr>
          <p:cNvSpPr>
            <a:spLocks noGrp="1"/>
          </p:cNvSpPr>
          <p:nvPr>
            <p:ph type="body" sz="quarter" idx="11" hasCustomPrompt="1"/>
          </p:nvPr>
        </p:nvSpPr>
        <p:spPr>
          <a:xfrm>
            <a:off x="2330135" y="689794"/>
            <a:ext cx="6984000" cy="214739"/>
          </a:xfrm>
        </p:spPr>
        <p:txBody>
          <a:bodyPr wrap="square">
            <a:spAutoFit/>
          </a:bodyPr>
          <a:lstStyle>
            <a:lvl1pPr>
              <a:lnSpc>
                <a:spcPct val="110000"/>
              </a:lnSpc>
              <a:spcBef>
                <a:spcPts val="0"/>
              </a:spcBef>
              <a:defRPr sz="1400" b="1"/>
            </a:lvl1pPr>
          </a:lstStyle>
          <a:p>
            <a:pPr lvl="0"/>
            <a:r>
              <a:rPr kumimoji="1" lang="en-US" altLang="ja-JP" dirty="0"/>
              <a:t>Enter your subtitle here</a:t>
            </a:r>
          </a:p>
        </p:txBody>
      </p:sp>
      <p:pic>
        <p:nvPicPr>
          <p:cNvPr id="6" name="グラフィックス 5">
            <a:extLst>
              <a:ext uri="{FF2B5EF4-FFF2-40B4-BE49-F238E27FC236}">
                <a16:creationId xmlns:a16="http://schemas.microsoft.com/office/drawing/2014/main" id="{D308C6F2-5B68-8AB9-4392-4BD0107C5A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048" y="538534"/>
            <a:ext cx="1008000" cy="1008000"/>
          </a:xfrm>
          <a:prstGeom prst="rect">
            <a:avLst/>
          </a:prstGeom>
        </p:spPr>
      </p:pic>
    </p:spTree>
    <p:extLst>
      <p:ext uri="{BB962C8B-B14F-4D97-AF65-F5344CB8AC3E}">
        <p14:creationId xmlns:p14="http://schemas.microsoft.com/office/powerpoint/2010/main" val="703352457"/>
      </p:ext>
    </p:extLst>
  </p:cSld>
  <p:clrMapOvr>
    <a:masterClrMapping/>
  </p:clrMapOvr>
  <p:transition spd="slow">
    <p:push/>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0" name="四角形: 角を丸くする 9">
            <a:extLst>
              <a:ext uri="{FF2B5EF4-FFF2-40B4-BE49-F238E27FC236}">
                <a16:creationId xmlns:a16="http://schemas.microsoft.com/office/drawing/2014/main" id="{414C8DE6-B80E-EC4B-1C07-BAF01FC21FE3}"/>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Google Shape;10;p1">
            <a:extLst>
              <a:ext uri="{FF2B5EF4-FFF2-40B4-BE49-F238E27FC236}">
                <a16:creationId xmlns:a16="http://schemas.microsoft.com/office/drawing/2014/main" id="{A8358F5E-CE0F-F5C4-6144-8A96FD6370E3}"/>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17" name="Google Shape;10;p1">
            <a:extLst>
              <a:ext uri="{FF2B5EF4-FFF2-40B4-BE49-F238E27FC236}">
                <a16:creationId xmlns:a16="http://schemas.microsoft.com/office/drawing/2014/main" id="{AAE98BF4-426E-E6B2-5AA5-D2646A620A67}"/>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18" name="直線コネクタ 17">
            <a:extLst>
              <a:ext uri="{FF2B5EF4-FFF2-40B4-BE49-F238E27FC236}">
                <a16:creationId xmlns:a16="http://schemas.microsoft.com/office/drawing/2014/main" id="{21AAC256-990E-4DCF-65E0-67C1DE73FA15}"/>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19" name="Google Shape;11;p1">
            <a:extLst>
              <a:ext uri="{FF2B5EF4-FFF2-40B4-BE49-F238E27FC236}">
                <a16:creationId xmlns:a16="http://schemas.microsoft.com/office/drawing/2014/main" id="{A9C3E310-B439-1E52-DE47-BF6F26E607DC}"/>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sp>
        <p:nvSpPr>
          <p:cNvPr id="20" name="テキスト プレースホルダー 13">
            <a:extLst>
              <a:ext uri="{FF2B5EF4-FFF2-40B4-BE49-F238E27FC236}">
                <a16:creationId xmlns:a16="http://schemas.microsoft.com/office/drawing/2014/main" id="{D5A4CE46-03F2-C037-139F-967BCEF5E5AB}"/>
              </a:ext>
            </a:extLst>
          </p:cNvPr>
          <p:cNvSpPr txBox="1">
            <a:spLocks/>
          </p:cNvSpPr>
          <p:nvPr userDrawn="1"/>
        </p:nvSpPr>
        <p:spPr>
          <a:xfrm>
            <a:off x="857250" y="463352"/>
            <a:ext cx="2020887" cy="553998"/>
          </a:xfrm>
          <a:prstGeom prst="rect">
            <a:avLst/>
          </a:prstGeom>
        </p:spPr>
        <p:txBody>
          <a:bodyPr vert="horz" wrap="square" lIns="0" tIns="0" rIns="0" bIns="0" rtlCol="0">
            <a:spAutoFit/>
          </a:bodyPr>
          <a:lstStyle>
            <a:lvl1pPr marL="0" indent="0" algn="r" defTabSz="914400" rtl="0" eaLnBrk="1" latinLnBrk="0" hangingPunct="1">
              <a:lnSpc>
                <a:spcPct val="100000"/>
              </a:lnSpc>
              <a:spcBef>
                <a:spcPts val="0"/>
              </a:spcBef>
              <a:buFontTx/>
              <a:buNone/>
              <a:defRPr kumimoji="1" sz="30000" kern="1200">
                <a:ln w="19050">
                  <a:solidFill>
                    <a:schemeClr val="tx2"/>
                  </a:solidFill>
                </a:ln>
                <a:no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2pPr>
            <a:lvl3pPr marL="9144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3pPr>
            <a:lvl4pPr marL="13716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4pPr>
            <a:lvl5pPr marL="18288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en-US" altLang="ja-JP" sz="3600" dirty="0">
                <a:ln w="12700">
                  <a:noFill/>
                </a:ln>
                <a:solidFill>
                  <a:schemeClr val="tx2"/>
                </a:solidFill>
                <a:latin typeface="Bahnschrift" panose="020B0502040204020203" pitchFamily="34" charset="0"/>
              </a:rPr>
              <a:t>Contents</a:t>
            </a:r>
          </a:p>
        </p:txBody>
      </p:sp>
      <p:grpSp>
        <p:nvGrpSpPr>
          <p:cNvPr id="21" name="グループ化 20">
            <a:extLst>
              <a:ext uri="{FF2B5EF4-FFF2-40B4-BE49-F238E27FC236}">
                <a16:creationId xmlns:a16="http://schemas.microsoft.com/office/drawing/2014/main" id="{70F69DDF-6CB2-90E5-6858-69460B9ED411}"/>
              </a:ext>
            </a:extLst>
          </p:cNvPr>
          <p:cNvGrpSpPr/>
          <p:nvPr userDrawn="1"/>
        </p:nvGrpSpPr>
        <p:grpSpPr>
          <a:xfrm rot="16200000">
            <a:off x="1775250" y="217946"/>
            <a:ext cx="36000" cy="1872000"/>
            <a:chOff x="3000911" y="5142393"/>
            <a:chExt cx="36000" cy="1350400"/>
          </a:xfrm>
        </p:grpSpPr>
        <p:sp>
          <p:nvSpPr>
            <p:cNvPr id="22" name="四角形: 上の 2 つの角を丸める 21">
              <a:extLst>
                <a:ext uri="{FF2B5EF4-FFF2-40B4-BE49-F238E27FC236}">
                  <a16:creationId xmlns:a16="http://schemas.microsoft.com/office/drawing/2014/main" id="{D28EF4F6-37DA-476A-D721-8E9B34D18C12}"/>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上の 2 つの角を丸める 22">
              <a:extLst>
                <a:ext uri="{FF2B5EF4-FFF2-40B4-BE49-F238E27FC236}">
                  <a16:creationId xmlns:a16="http://schemas.microsoft.com/office/drawing/2014/main" id="{C86596E3-477E-A679-5C2A-8510ED4DD058}"/>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 name="グラフィックス 2">
            <a:extLst>
              <a:ext uri="{FF2B5EF4-FFF2-40B4-BE49-F238E27FC236}">
                <a16:creationId xmlns:a16="http://schemas.microsoft.com/office/drawing/2014/main" id="{1754F0C6-5224-1DED-E7C0-059906B4C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3710488792"/>
      </p:ext>
    </p:extLst>
  </p:cSld>
  <p:clrMapOvr>
    <a:masterClrMapping/>
  </p:clrMapOvr>
  <p:extLst>
    <p:ext uri="{DCECCB84-F9BA-43D5-87BE-67443E8EF086}">
      <p15:sldGuideLst xmlns:p15="http://schemas.microsoft.com/office/powerpoint/2012/main">
        <p15:guide id="2" pos="540" userDrawn="1">
          <p15:clr>
            <a:srgbClr val="FBAE40"/>
          </p15:clr>
        </p15:guide>
        <p15:guide id="3" pos="5939" userDrawn="1">
          <p15:clr>
            <a:srgbClr val="FBAE40"/>
          </p15:clr>
        </p15:guide>
        <p15:guide id="4" orient="horz" pos="404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bira">
    <p:spTree>
      <p:nvGrpSpPr>
        <p:cNvPr id="1" name=""/>
        <p:cNvGrpSpPr/>
        <p:nvPr/>
      </p:nvGrpSpPr>
      <p:grpSpPr>
        <a:xfrm>
          <a:off x="0" y="0"/>
          <a:ext cx="0" cy="0"/>
          <a:chOff x="0" y="0"/>
          <a:chExt cx="0" cy="0"/>
        </a:xfrm>
      </p:grpSpPr>
      <p:sp>
        <p:nvSpPr>
          <p:cNvPr id="17" name="テキスト プレースホルダー 5">
            <a:extLst>
              <a:ext uri="{FF2B5EF4-FFF2-40B4-BE49-F238E27FC236}">
                <a16:creationId xmlns:a16="http://schemas.microsoft.com/office/drawing/2014/main" id="{DD0336DE-AA62-6947-41C1-57A498FF63FA}"/>
              </a:ext>
            </a:extLst>
          </p:cNvPr>
          <p:cNvSpPr>
            <a:spLocks noGrp="1"/>
          </p:cNvSpPr>
          <p:nvPr>
            <p:ph type="body" sz="quarter" idx="15" hasCustomPrompt="1"/>
          </p:nvPr>
        </p:nvSpPr>
        <p:spPr>
          <a:xfrm>
            <a:off x="5872163" y="2414602"/>
            <a:ext cx="3556000" cy="4308872"/>
          </a:xfrm>
        </p:spPr>
        <p:txBody>
          <a:bodyPr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a:t>1</a:t>
            </a:r>
            <a:endParaRPr kumimoji="1" lang="ja-JP" altLang="en-US"/>
          </a:p>
        </p:txBody>
      </p:sp>
      <p:sp>
        <p:nvSpPr>
          <p:cNvPr id="10" name="テキスト プレースホルダー 9">
            <a:extLst>
              <a:ext uri="{FF2B5EF4-FFF2-40B4-BE49-F238E27FC236}">
                <a16:creationId xmlns:a16="http://schemas.microsoft.com/office/drawing/2014/main" id="{D6E06191-E30E-43B9-FE4F-5689EDC6CA7F}"/>
              </a:ext>
            </a:extLst>
          </p:cNvPr>
          <p:cNvSpPr>
            <a:spLocks noGrp="1"/>
          </p:cNvSpPr>
          <p:nvPr>
            <p:ph type="body" sz="quarter" idx="11" hasCustomPrompt="1"/>
          </p:nvPr>
        </p:nvSpPr>
        <p:spPr>
          <a:xfrm>
            <a:off x="1605001" y="1594881"/>
            <a:ext cx="7854867" cy="527773"/>
          </a:xfrm>
        </p:spPr>
        <p:txBody>
          <a:bodyPr wrap="square" lIns="0" tIns="0" rIns="0" bIns="0" anchor="b" anchorCtr="0">
            <a:spAutoFit/>
          </a:bodyPr>
          <a:lstStyle>
            <a:lvl1pPr marL="0" indent="0">
              <a:lnSpc>
                <a:spcPct val="120000"/>
              </a:lnSpc>
              <a:spcBef>
                <a:spcPts val="0"/>
              </a:spcBef>
              <a:buFontTx/>
              <a:buNone/>
              <a:defRPr sz="3200" b="0">
                <a:solidFill>
                  <a:schemeClr val="tx2"/>
                </a:solidFill>
                <a:latin typeface="+mj-lt"/>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lang="en-US" altLang="ja-JP" dirty="0"/>
              <a:t>Enter your title here</a:t>
            </a:r>
            <a:endParaRPr kumimoji="1" lang="ja-JP" altLang="en-US" dirty="0"/>
          </a:p>
        </p:txBody>
      </p:sp>
      <p:sp>
        <p:nvSpPr>
          <p:cNvPr id="12" name="テキスト プレースホルダー 9">
            <a:extLst>
              <a:ext uri="{FF2B5EF4-FFF2-40B4-BE49-F238E27FC236}">
                <a16:creationId xmlns:a16="http://schemas.microsoft.com/office/drawing/2014/main" id="{4AA1B98C-39AF-E8E8-B0D3-BDD8EAE57CF4}"/>
              </a:ext>
            </a:extLst>
          </p:cNvPr>
          <p:cNvSpPr>
            <a:spLocks noGrp="1"/>
          </p:cNvSpPr>
          <p:nvPr>
            <p:ph type="body" sz="quarter" idx="12" hasCustomPrompt="1"/>
          </p:nvPr>
        </p:nvSpPr>
        <p:spPr>
          <a:xfrm>
            <a:off x="1605001" y="2570611"/>
            <a:ext cx="7854867" cy="341376"/>
          </a:xfrm>
        </p:spPr>
        <p:txBody>
          <a:bodyPr wrap="square" lIns="0" tIns="0" rIns="0" bIns="0">
            <a:spAutoFit/>
          </a:bodyPr>
          <a:lstStyle>
            <a:lvl1pPr marL="0" indent="0">
              <a:buFontTx/>
              <a:buNone/>
              <a:defRPr sz="2000" b="0">
                <a:solidFill>
                  <a:schemeClr val="tx2"/>
                </a:solidFill>
                <a:latin typeface="+mj-ea"/>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kumimoji="1" lang="en-US" altLang="ja-JP" dirty="0"/>
              <a:t>Enter your subtitle here</a:t>
            </a:r>
          </a:p>
        </p:txBody>
      </p:sp>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3" name="四角形: 上の 2 つの角を丸める 12">
            <a:extLst>
              <a:ext uri="{FF2B5EF4-FFF2-40B4-BE49-F238E27FC236}">
                <a16:creationId xmlns:a16="http://schemas.microsoft.com/office/drawing/2014/main" id="{6B0F0D73-1766-0FE0-3812-133EAF14B5E4}"/>
              </a:ext>
            </a:extLst>
          </p:cNvPr>
          <p:cNvSpPr/>
          <p:nvPr userDrawn="1"/>
        </p:nvSpPr>
        <p:spPr>
          <a:xfrm rot="16200000">
            <a:off x="1982068" y="2025497"/>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4" name="四角形: 上の 2 つの角を丸める 13">
            <a:extLst>
              <a:ext uri="{FF2B5EF4-FFF2-40B4-BE49-F238E27FC236}">
                <a16:creationId xmlns:a16="http://schemas.microsoft.com/office/drawing/2014/main" id="{9C37F7C3-3AF5-3274-BB37-6E68B397BEB6}"/>
              </a:ext>
            </a:extLst>
          </p:cNvPr>
          <p:cNvSpPr/>
          <p:nvPr userDrawn="1"/>
        </p:nvSpPr>
        <p:spPr>
          <a:xfrm rot="5400000">
            <a:off x="5954163" y="-1050253"/>
            <a:ext cx="36000" cy="6912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4" name="四角形: 角を丸くする 3">
            <a:extLst>
              <a:ext uri="{FF2B5EF4-FFF2-40B4-BE49-F238E27FC236}">
                <a16:creationId xmlns:a16="http://schemas.microsoft.com/office/drawing/2014/main" id="{D5CF5459-CEC0-257E-F9D7-0521C6E95B36}"/>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Google Shape;10;p1">
            <a:extLst>
              <a:ext uri="{FF2B5EF4-FFF2-40B4-BE49-F238E27FC236}">
                <a16:creationId xmlns:a16="http://schemas.microsoft.com/office/drawing/2014/main" id="{90CD3336-9520-8DA3-5D08-E5F5BA2F5B9A}"/>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6" name="Google Shape;10;p1">
            <a:extLst>
              <a:ext uri="{FF2B5EF4-FFF2-40B4-BE49-F238E27FC236}">
                <a16:creationId xmlns:a16="http://schemas.microsoft.com/office/drawing/2014/main" id="{1900B4BF-3FF8-DEAD-1FE8-F90D4759A2EA}"/>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7" name="直線コネクタ 6">
            <a:extLst>
              <a:ext uri="{FF2B5EF4-FFF2-40B4-BE49-F238E27FC236}">
                <a16:creationId xmlns:a16="http://schemas.microsoft.com/office/drawing/2014/main" id="{61C4E729-AA8C-7238-720C-F840EAB4B529}"/>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8" name="Google Shape;11;p1">
            <a:extLst>
              <a:ext uri="{FF2B5EF4-FFF2-40B4-BE49-F238E27FC236}">
                <a16:creationId xmlns:a16="http://schemas.microsoft.com/office/drawing/2014/main" id="{87A203C3-0406-5185-FCFE-9283E0F880FE}"/>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sp>
        <p:nvSpPr>
          <p:cNvPr id="15" name="四角形: 上の 2 つの角を丸める 14">
            <a:extLst>
              <a:ext uri="{FF2B5EF4-FFF2-40B4-BE49-F238E27FC236}">
                <a16:creationId xmlns:a16="http://schemas.microsoft.com/office/drawing/2014/main" id="{14F7C796-A2F5-488E-3680-38B56F49049B}"/>
              </a:ext>
            </a:extLst>
          </p:cNvPr>
          <p:cNvSpPr/>
          <p:nvPr userDrawn="1"/>
        </p:nvSpPr>
        <p:spPr>
          <a:xfrm rot="16200000">
            <a:off x="2055002" y="1937747"/>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 name="グラフィックス 1">
            <a:extLst>
              <a:ext uri="{FF2B5EF4-FFF2-40B4-BE49-F238E27FC236}">
                <a16:creationId xmlns:a16="http://schemas.microsoft.com/office/drawing/2014/main" id="{13E573E9-72C8-4BB4-B153-B88E95DBCB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3755232056"/>
      </p:ext>
    </p:extLst>
  </p:cSld>
  <p:clrMapOvr>
    <a:masterClrMapping/>
  </p:clrMapOvr>
  <p:extLst>
    <p:ext uri="{DCECCB84-F9BA-43D5-87BE-67443E8EF086}">
      <p15:sldGuideLst xmlns:p15="http://schemas.microsoft.com/office/powerpoint/2012/main">
        <p15:guide id="2" pos="540" userDrawn="1">
          <p15:clr>
            <a:srgbClr val="FBAE40"/>
          </p15:clr>
        </p15:guide>
        <p15:guide id="3" pos="5939" userDrawn="1">
          <p15:clr>
            <a:srgbClr val="FBAE40"/>
          </p15:clr>
        </p15:guide>
        <p15:guide id="4" orient="horz" pos="40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e-A">
    <p:spTree>
      <p:nvGrpSpPr>
        <p:cNvPr id="1" name=""/>
        <p:cNvGrpSpPr/>
        <p:nvPr/>
      </p:nvGrpSpPr>
      <p:grpSpPr>
        <a:xfrm>
          <a:off x="0" y="0"/>
          <a:ext cx="0" cy="0"/>
          <a:chOff x="0" y="0"/>
          <a:chExt cx="0" cy="0"/>
        </a:xfrm>
      </p:grpSpPr>
      <p:sp>
        <p:nvSpPr>
          <p:cNvPr id="37" name="テキスト プレースホルダー 3">
            <a:extLst>
              <a:ext uri="{FF2B5EF4-FFF2-40B4-BE49-F238E27FC236}">
                <a16:creationId xmlns:a16="http://schemas.microsoft.com/office/drawing/2014/main" id="{4EC2F0A7-7B11-2C83-F3E4-212B02AA0A32}"/>
              </a:ext>
            </a:extLst>
          </p:cNvPr>
          <p:cNvSpPr>
            <a:spLocks noGrp="1"/>
          </p:cNvSpPr>
          <p:nvPr>
            <p:ph type="body" sz="half" idx="12" hasCustomPrompt="1"/>
          </p:nvPr>
        </p:nvSpPr>
        <p:spPr>
          <a:xfrm>
            <a:off x="857747" y="1122396"/>
            <a:ext cx="8659316" cy="580865"/>
          </a:xfrm>
        </p:spPr>
        <p:txBody>
          <a:bodyPr wrap="square" lIns="0" tIns="0" rIns="0" bIns="0">
            <a:spAutoFit/>
          </a:bodyPr>
          <a:lstStyle>
            <a:lvl1pPr marL="0" indent="0">
              <a:lnSpc>
                <a:spcPct val="120000"/>
              </a:lnSpc>
              <a:spcBef>
                <a:spcPts val="0"/>
              </a:spcBef>
              <a:spcAft>
                <a:spcPts val="300"/>
              </a:spcAft>
              <a:buNone/>
              <a:defRPr sz="1600">
                <a:solidFill>
                  <a:schemeClr val="tx1"/>
                </a:solidFill>
                <a:latin typeface="+mn-lt"/>
                <a:ea typeface="+mn-ea"/>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kumimoji="1" lang="en-US" altLang="ja-JP" dirty="0"/>
              <a:t>Subheading text (optional)</a:t>
            </a:r>
            <a:br>
              <a:rPr kumimoji="1" lang="en-US" altLang="ja-JP" dirty="0"/>
            </a:br>
            <a:r>
              <a:rPr kumimoji="1" lang="en-US" altLang="ja-JP" dirty="0"/>
              <a:t>Subheading text (optional)</a:t>
            </a:r>
          </a:p>
        </p:txBody>
      </p:sp>
      <p:sp>
        <p:nvSpPr>
          <p:cNvPr id="38" name="テキスト プレースホルダー 3">
            <a:extLst>
              <a:ext uri="{FF2B5EF4-FFF2-40B4-BE49-F238E27FC236}">
                <a16:creationId xmlns:a16="http://schemas.microsoft.com/office/drawing/2014/main" id="{4E4E4F13-1F21-6EB9-6A6A-8A4905E86E4C}"/>
              </a:ext>
            </a:extLst>
          </p:cNvPr>
          <p:cNvSpPr>
            <a:spLocks noGrp="1"/>
          </p:cNvSpPr>
          <p:nvPr>
            <p:ph type="body" sz="half" idx="13" hasCustomPrompt="1"/>
          </p:nvPr>
        </p:nvSpPr>
        <p:spPr>
          <a:xfrm>
            <a:off x="857747" y="6535369"/>
            <a:ext cx="6230250" cy="93872"/>
          </a:xfrm>
        </p:spPr>
        <p:txBody>
          <a:bodyPr wrap="square" lIns="0" tIns="0" rIns="0" bIns="0">
            <a:spAutoFit/>
          </a:bodyPr>
          <a:lstStyle>
            <a:lvl1pPr marL="0" indent="0">
              <a:lnSpc>
                <a:spcPct val="120000"/>
              </a:lnSpc>
              <a:spcBef>
                <a:spcPts val="0"/>
              </a:spcBef>
              <a:spcAft>
                <a:spcPts val="0"/>
              </a:spcAft>
              <a:buNone/>
              <a:defRPr sz="569">
                <a:solidFill>
                  <a:schemeClr val="tx1"/>
                </a:solidFill>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marL="0" marR="0" lvl="0" indent="0" algn="l" defTabSz="742950" rtl="0" eaLnBrk="1" fontAlgn="auto" latinLnBrk="0" hangingPunct="1">
              <a:lnSpc>
                <a:spcPct val="120000"/>
              </a:lnSpc>
              <a:spcBef>
                <a:spcPts val="0"/>
              </a:spcBef>
              <a:spcAft>
                <a:spcPts val="0"/>
              </a:spcAft>
              <a:buClrTx/>
              <a:buSzTx/>
              <a:buFontTx/>
              <a:buNone/>
              <a:tabLst/>
              <a:defRPr/>
            </a:pPr>
            <a:r>
              <a:rPr kumimoji="1" lang="en-US" altLang="ja-JP" dirty="0"/>
              <a:t>Source / Disclaimer / Annotations: </a:t>
            </a:r>
          </a:p>
        </p:txBody>
      </p:sp>
      <p:sp>
        <p:nvSpPr>
          <p:cNvPr id="24" name="テキスト プレースホルダー 5">
            <a:extLst>
              <a:ext uri="{FF2B5EF4-FFF2-40B4-BE49-F238E27FC236}">
                <a16:creationId xmlns:a16="http://schemas.microsoft.com/office/drawing/2014/main" id="{677C479B-DDD6-603F-9425-E6F8F5C68D1B}"/>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9" name="四角形: 上の 2 つの角を丸める 18">
            <a:extLst>
              <a:ext uri="{FF2B5EF4-FFF2-40B4-BE49-F238E27FC236}">
                <a16:creationId xmlns:a16="http://schemas.microsoft.com/office/drawing/2014/main" id="{167E0FE0-2FD7-C239-0E50-4B0E106C9A46}"/>
              </a:ext>
            </a:extLst>
          </p:cNvPr>
          <p:cNvSpPr/>
          <p:nvPr userDrawn="1"/>
        </p:nvSpPr>
        <p:spPr>
          <a:xfrm rot="16200000">
            <a:off x="1219997" y="543456"/>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1" name="四角形: 上の 2 つの角を丸める 20">
            <a:extLst>
              <a:ext uri="{FF2B5EF4-FFF2-40B4-BE49-F238E27FC236}">
                <a16:creationId xmlns:a16="http://schemas.microsoft.com/office/drawing/2014/main" id="{A12A5D09-263D-B3B0-0202-9A3642DBAEF1}"/>
              </a:ext>
            </a:extLst>
          </p:cNvPr>
          <p:cNvSpPr/>
          <p:nvPr userDrawn="1"/>
        </p:nvSpPr>
        <p:spPr>
          <a:xfrm rot="5400000">
            <a:off x="5548997" y="-3025044"/>
            <a:ext cx="36000" cy="78975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5" name="タイトル 14">
            <a:extLst>
              <a:ext uri="{FF2B5EF4-FFF2-40B4-BE49-F238E27FC236}">
                <a16:creationId xmlns:a16="http://schemas.microsoft.com/office/drawing/2014/main" id="{562C4C28-E9D2-6B6F-6821-FF9ED54DF1D7}"/>
              </a:ext>
            </a:extLst>
          </p:cNvPr>
          <p:cNvSpPr>
            <a:spLocks noGrp="1"/>
          </p:cNvSpPr>
          <p:nvPr>
            <p:ph type="title" hasCustomPrompt="1"/>
          </p:nvPr>
        </p:nvSpPr>
        <p:spPr>
          <a:xfrm>
            <a:off x="857746" y="410449"/>
            <a:ext cx="8658001" cy="411653"/>
          </a:xfrm>
        </p:spPr>
        <p:txBody>
          <a:bodyPr/>
          <a:lstStyle>
            <a:lvl1pPr>
              <a:defRPr sz="2400">
                <a:solidFill>
                  <a:schemeClr val="tx2"/>
                </a:solidFill>
              </a:defRPr>
            </a:lvl1pPr>
          </a:lstStyle>
          <a:p>
            <a:r>
              <a:rPr kumimoji="1" lang="en-US" altLang="ja-JP" dirty="0"/>
              <a:t>Enter your title here</a:t>
            </a:r>
          </a:p>
        </p:txBody>
      </p:sp>
      <p:sp>
        <p:nvSpPr>
          <p:cNvPr id="3" name="四角形: 角を丸くする 2">
            <a:extLst>
              <a:ext uri="{FF2B5EF4-FFF2-40B4-BE49-F238E27FC236}">
                <a16:creationId xmlns:a16="http://schemas.microsoft.com/office/drawing/2014/main" id="{EE8042B6-0ECB-CA70-EDE4-D67A0108185F}"/>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Google Shape;10;p1">
            <a:extLst>
              <a:ext uri="{FF2B5EF4-FFF2-40B4-BE49-F238E27FC236}">
                <a16:creationId xmlns:a16="http://schemas.microsoft.com/office/drawing/2014/main" id="{CA25E6D1-8817-8437-7D6A-EC1914E196D2}"/>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5" name="Google Shape;10;p1">
            <a:extLst>
              <a:ext uri="{FF2B5EF4-FFF2-40B4-BE49-F238E27FC236}">
                <a16:creationId xmlns:a16="http://schemas.microsoft.com/office/drawing/2014/main" id="{AE5B993B-AA94-6240-8405-E11FE71A872F}"/>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6" name="直線コネクタ 5">
            <a:extLst>
              <a:ext uri="{FF2B5EF4-FFF2-40B4-BE49-F238E27FC236}">
                <a16:creationId xmlns:a16="http://schemas.microsoft.com/office/drawing/2014/main" id="{EFF90A98-2AB2-6CAC-B969-C925E6B59E8B}"/>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7" name="Google Shape;11;p1">
            <a:extLst>
              <a:ext uri="{FF2B5EF4-FFF2-40B4-BE49-F238E27FC236}">
                <a16:creationId xmlns:a16="http://schemas.microsoft.com/office/drawing/2014/main" id="{F90D8561-D06D-EC48-3BBF-115A62D20C6A}"/>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pic>
        <p:nvPicPr>
          <p:cNvPr id="8" name="グラフィックス 7">
            <a:extLst>
              <a:ext uri="{FF2B5EF4-FFF2-40B4-BE49-F238E27FC236}">
                <a16:creationId xmlns:a16="http://schemas.microsoft.com/office/drawing/2014/main" id="{C0DA6A8A-F106-9A3C-F87C-78428752A4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2207313274"/>
      </p:ext>
    </p:extLst>
  </p:cSld>
  <p:clrMapOvr>
    <a:masterClrMapping/>
  </p:clrMapOvr>
  <p:extLst>
    <p:ext uri="{DCECCB84-F9BA-43D5-87BE-67443E8EF086}">
      <p15:sldGuideLst xmlns:p15="http://schemas.microsoft.com/office/powerpoint/2012/main">
        <p15:guide id="1" orient="horz" pos="323" userDrawn="1">
          <p15:clr>
            <a:srgbClr val="FBAE40"/>
          </p15:clr>
        </p15:guide>
        <p15:guide id="2" pos="540" userDrawn="1">
          <p15:clr>
            <a:srgbClr val="FBAE40"/>
          </p15:clr>
        </p15:guide>
        <p15:guide id="3" pos="5995" userDrawn="1">
          <p15:clr>
            <a:srgbClr val="FBAE40"/>
          </p15:clr>
        </p15:guide>
        <p15:guide id="4" orient="horz" pos="3997" userDrawn="1">
          <p15:clr>
            <a:srgbClr val="FBAE40"/>
          </p15:clr>
        </p15:guide>
        <p15:guide id="5" pos="326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10" name="Google Shape;11;p1">
            <a:extLst>
              <a:ext uri="{FF2B5EF4-FFF2-40B4-BE49-F238E27FC236}">
                <a16:creationId xmlns:a16="http://schemas.microsoft.com/office/drawing/2014/main" id="{DE5B1AA3-48CD-1485-A369-87F949991FBA}"/>
              </a:ext>
            </a:extLst>
          </p:cNvPr>
          <p:cNvSpPr txBox="1"/>
          <p:nvPr userDrawn="1"/>
        </p:nvSpPr>
        <p:spPr>
          <a:xfrm>
            <a:off x="2804318" y="3052496"/>
            <a:ext cx="561600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pic>
        <p:nvPicPr>
          <p:cNvPr id="3" name="グラフィックス 2">
            <a:extLst>
              <a:ext uri="{FF2B5EF4-FFF2-40B4-BE49-F238E27FC236}">
                <a16:creationId xmlns:a16="http://schemas.microsoft.com/office/drawing/2014/main" id="{CE75E190-E168-CEC6-85B0-2F0B3F7FB9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13635" y="3045940"/>
            <a:ext cx="666000" cy="666000"/>
          </a:xfrm>
          <a:prstGeom prst="rect">
            <a:avLst/>
          </a:prstGeom>
        </p:spPr>
      </p:pic>
    </p:spTree>
    <p:extLst>
      <p:ext uri="{BB962C8B-B14F-4D97-AF65-F5344CB8AC3E}">
        <p14:creationId xmlns:p14="http://schemas.microsoft.com/office/powerpoint/2010/main" val="3572105834"/>
      </p:ext>
    </p:extLst>
  </p:cSld>
  <p:clrMapOvr>
    <a:masterClrMapping/>
  </p:clrMapOvr>
  <p:extLst>
    <p:ext uri="{DCECCB84-F9BA-43D5-87BE-67443E8EF086}">
      <p15:sldGuideLst xmlns:p15="http://schemas.microsoft.com/office/powerpoint/2012/main">
        <p15:guide id="1" orient="horz" pos="323">
          <p15:clr>
            <a:srgbClr val="FBAE40"/>
          </p15:clr>
        </p15:guide>
        <p15:guide id="2" pos="540">
          <p15:clr>
            <a:srgbClr val="FBAE40"/>
          </p15:clr>
        </p15:guide>
        <p15:guide id="3" pos="5995">
          <p15:clr>
            <a:srgbClr val="FBAE40"/>
          </p15:clr>
        </p15:guide>
        <p15:guide id="4" orient="horz" pos="3997">
          <p15:clr>
            <a:srgbClr val="FBAE40"/>
          </p15:clr>
        </p15:guide>
        <p15:guide id="5" pos="326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ver-page" preserve="1" userDrawn="1">
  <p:cSld name="cover-page">
    <p:spTree>
      <p:nvGrpSpPr>
        <p:cNvPr id="1" name="Shape 16"/>
        <p:cNvGrpSpPr/>
        <p:nvPr/>
      </p:nvGrpSpPr>
      <p:grpSpPr>
        <a:xfrm>
          <a:off x="0" y="0"/>
          <a:ext cx="0" cy="0"/>
          <a:chOff x="0" y="0"/>
          <a:chExt cx="0" cy="0"/>
        </a:xfrm>
      </p:grpSpPr>
      <p:sp>
        <p:nvSpPr>
          <p:cNvPr id="17" name="タイトル 16">
            <a:extLst>
              <a:ext uri="{FF2B5EF4-FFF2-40B4-BE49-F238E27FC236}">
                <a16:creationId xmlns:a16="http://schemas.microsoft.com/office/drawing/2014/main" id="{FA2A7922-CAFC-6608-73AB-7B57B7024185}"/>
              </a:ext>
            </a:extLst>
          </p:cNvPr>
          <p:cNvSpPr>
            <a:spLocks noGrp="1"/>
          </p:cNvSpPr>
          <p:nvPr>
            <p:ph type="title" hasCustomPrompt="1"/>
          </p:nvPr>
        </p:nvSpPr>
        <p:spPr>
          <a:xfrm>
            <a:off x="2330135" y="1606759"/>
            <a:ext cx="6984686" cy="1290610"/>
          </a:xfrm>
        </p:spPr>
        <p:txBody>
          <a:bodyPr/>
          <a:lstStyle>
            <a:lvl1pPr>
              <a:lnSpc>
                <a:spcPct val="110000"/>
              </a:lnSpc>
              <a:spcBef>
                <a:spcPts val="0"/>
              </a:spcBef>
              <a:defRPr sz="4000"/>
            </a:lvl1pPr>
          </a:lstStyle>
          <a:p>
            <a:r>
              <a:rPr kumimoji="1" lang="en-US" altLang="ja-JP" dirty="0"/>
              <a:t>Enter your title here</a:t>
            </a:r>
            <a:br>
              <a:rPr kumimoji="1" lang="en-US" altLang="ja-JP" dirty="0"/>
            </a:br>
            <a:r>
              <a:rPr kumimoji="1" lang="en-US" altLang="ja-JP" dirty="0"/>
              <a:t>Enter your title here</a:t>
            </a:r>
          </a:p>
        </p:txBody>
      </p:sp>
      <p:sp>
        <p:nvSpPr>
          <p:cNvPr id="3" name="四角形: 上の 2 つの角を丸める 2">
            <a:extLst>
              <a:ext uri="{FF2B5EF4-FFF2-40B4-BE49-F238E27FC236}">
                <a16:creationId xmlns:a16="http://schemas.microsoft.com/office/drawing/2014/main" id="{B45C9CBD-284C-7AA1-5EFE-6D6201A45A64}"/>
              </a:ext>
            </a:extLst>
          </p:cNvPr>
          <p:cNvSpPr/>
          <p:nvPr userDrawn="1"/>
        </p:nvSpPr>
        <p:spPr>
          <a:xfrm rot="16200000">
            <a:off x="2780821" y="554565"/>
            <a:ext cx="36000" cy="936000"/>
          </a:xfrm>
          <a:prstGeom prst="round2SameRect">
            <a:avLst>
              <a:gd name="adj1" fmla="val 50000"/>
              <a:gd name="adj2" fmla="val 0"/>
            </a:avLst>
          </a:prstGeom>
          <a:solidFill>
            <a:srgbClr val="00994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a:ln>
                <a:noFill/>
              </a:ln>
              <a:solidFill>
                <a:prstClr val="white"/>
              </a:solidFill>
              <a:effectLst/>
              <a:uLnTx/>
              <a:uFillTx/>
              <a:latin typeface="BIZ UDPゴシック"/>
              <a:ea typeface="BIZ UDPゴシック"/>
              <a:cs typeface="+mn-cs"/>
            </a:endParaRPr>
          </a:p>
        </p:txBody>
      </p:sp>
      <p:sp>
        <p:nvSpPr>
          <p:cNvPr id="4" name="四角形: 上の 2 つの角を丸める 3">
            <a:extLst>
              <a:ext uri="{FF2B5EF4-FFF2-40B4-BE49-F238E27FC236}">
                <a16:creationId xmlns:a16="http://schemas.microsoft.com/office/drawing/2014/main" id="{6C2B6FA1-CF1D-E5E5-B4BD-5083336DE353}"/>
              </a:ext>
            </a:extLst>
          </p:cNvPr>
          <p:cNvSpPr/>
          <p:nvPr userDrawn="1"/>
        </p:nvSpPr>
        <p:spPr>
          <a:xfrm rot="5400000">
            <a:off x="6272821" y="-2001435"/>
            <a:ext cx="36000" cy="6048000"/>
          </a:xfrm>
          <a:prstGeom prst="round2SameRect">
            <a:avLst>
              <a:gd name="adj1" fmla="val 50000"/>
              <a:gd name="adj2" fmla="val 0"/>
            </a:avLst>
          </a:prstGeom>
          <a:solidFill>
            <a:srgbClr val="7A0C3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1" b="0" i="0" u="none" strike="noStrike" kern="0" cap="none" spc="0" normalizeH="0" baseline="0" noProof="0" dirty="0">
              <a:ln>
                <a:noFill/>
              </a:ln>
              <a:solidFill>
                <a:prstClr val="white"/>
              </a:solidFill>
              <a:effectLst/>
              <a:uLnTx/>
              <a:uFillTx/>
              <a:latin typeface="BIZ UDPゴシック"/>
              <a:ea typeface="BIZ UDPゴシック"/>
              <a:cs typeface="+mn-cs"/>
            </a:endParaRPr>
          </a:p>
        </p:txBody>
      </p:sp>
      <p:grpSp>
        <p:nvGrpSpPr>
          <p:cNvPr id="13" name="グループ化 12">
            <a:extLst>
              <a:ext uri="{FF2B5EF4-FFF2-40B4-BE49-F238E27FC236}">
                <a16:creationId xmlns:a16="http://schemas.microsoft.com/office/drawing/2014/main" id="{A704898B-E489-38F7-0A3A-B7703F0C68CE}"/>
              </a:ext>
            </a:extLst>
          </p:cNvPr>
          <p:cNvGrpSpPr/>
          <p:nvPr/>
        </p:nvGrpSpPr>
        <p:grpSpPr>
          <a:xfrm>
            <a:off x="2330135" y="5142393"/>
            <a:ext cx="36000" cy="1198800"/>
            <a:chOff x="3000911" y="5142393"/>
            <a:chExt cx="36000" cy="1350400"/>
          </a:xfrm>
        </p:grpSpPr>
        <p:sp>
          <p:nvSpPr>
            <p:cNvPr id="15" name="四角形: 上の 2 つの角を丸める 14">
              <a:extLst>
                <a:ext uri="{FF2B5EF4-FFF2-40B4-BE49-F238E27FC236}">
                  <a16:creationId xmlns:a16="http://schemas.microsoft.com/office/drawing/2014/main" id="{654FF871-29E5-65FB-8F23-D663543CE480}"/>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上の 2 つの角を丸める 15">
              <a:extLst>
                <a:ext uri="{FF2B5EF4-FFF2-40B4-BE49-F238E27FC236}">
                  <a16:creationId xmlns:a16="http://schemas.microsoft.com/office/drawing/2014/main" id="{2E2DCBA2-ECA3-B1D1-1ECF-FF61F1FA09C9}"/>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6" name="テキスト プレースホルダー 25">
            <a:extLst>
              <a:ext uri="{FF2B5EF4-FFF2-40B4-BE49-F238E27FC236}">
                <a16:creationId xmlns:a16="http://schemas.microsoft.com/office/drawing/2014/main" id="{0ED01E97-4DCF-9C60-082D-AAB5251C15F2}"/>
              </a:ext>
            </a:extLst>
          </p:cNvPr>
          <p:cNvSpPr>
            <a:spLocks noGrp="1"/>
          </p:cNvSpPr>
          <p:nvPr>
            <p:ph type="body" sz="quarter" idx="11" hasCustomPrompt="1"/>
          </p:nvPr>
        </p:nvSpPr>
        <p:spPr>
          <a:xfrm>
            <a:off x="2330135" y="689794"/>
            <a:ext cx="6984000" cy="214739"/>
          </a:xfrm>
        </p:spPr>
        <p:txBody>
          <a:bodyPr wrap="square">
            <a:spAutoFit/>
          </a:bodyPr>
          <a:lstStyle>
            <a:lvl1pPr>
              <a:lnSpc>
                <a:spcPct val="110000"/>
              </a:lnSpc>
              <a:spcBef>
                <a:spcPts val="0"/>
              </a:spcBef>
              <a:defRPr sz="1400" b="1"/>
            </a:lvl1pPr>
          </a:lstStyle>
          <a:p>
            <a:pPr lvl="0"/>
            <a:r>
              <a:rPr kumimoji="1" lang="en-US" altLang="ja-JP" dirty="0"/>
              <a:t>Enter your subtitle here</a:t>
            </a:r>
          </a:p>
        </p:txBody>
      </p:sp>
      <p:pic>
        <p:nvPicPr>
          <p:cNvPr id="6" name="グラフィックス 5">
            <a:extLst>
              <a:ext uri="{FF2B5EF4-FFF2-40B4-BE49-F238E27FC236}">
                <a16:creationId xmlns:a16="http://schemas.microsoft.com/office/drawing/2014/main" id="{D308C6F2-5B68-8AB9-4392-4BD0107C5A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048" y="538534"/>
            <a:ext cx="1008000" cy="1008000"/>
          </a:xfrm>
          <a:prstGeom prst="rect">
            <a:avLst/>
          </a:prstGeom>
        </p:spPr>
      </p:pic>
    </p:spTree>
    <p:extLst>
      <p:ext uri="{BB962C8B-B14F-4D97-AF65-F5344CB8AC3E}">
        <p14:creationId xmlns:p14="http://schemas.microsoft.com/office/powerpoint/2010/main" val="1241283725"/>
      </p:ext>
    </p:extLst>
  </p:cSld>
  <p:clrMapOvr>
    <a:masterClrMapping/>
  </p:clrMapOvr>
  <p:transition spd="slow">
    <p:push/>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0" name="四角形: 角を丸くする 9">
            <a:extLst>
              <a:ext uri="{FF2B5EF4-FFF2-40B4-BE49-F238E27FC236}">
                <a16:creationId xmlns:a16="http://schemas.microsoft.com/office/drawing/2014/main" id="{414C8DE6-B80E-EC4B-1C07-BAF01FC21FE3}"/>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Google Shape;10;p1">
            <a:extLst>
              <a:ext uri="{FF2B5EF4-FFF2-40B4-BE49-F238E27FC236}">
                <a16:creationId xmlns:a16="http://schemas.microsoft.com/office/drawing/2014/main" id="{A8358F5E-CE0F-F5C4-6144-8A96FD6370E3}"/>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17" name="Google Shape;10;p1">
            <a:extLst>
              <a:ext uri="{FF2B5EF4-FFF2-40B4-BE49-F238E27FC236}">
                <a16:creationId xmlns:a16="http://schemas.microsoft.com/office/drawing/2014/main" id="{AAE98BF4-426E-E6B2-5AA5-D2646A620A67}"/>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18" name="直線コネクタ 17">
            <a:extLst>
              <a:ext uri="{FF2B5EF4-FFF2-40B4-BE49-F238E27FC236}">
                <a16:creationId xmlns:a16="http://schemas.microsoft.com/office/drawing/2014/main" id="{21AAC256-990E-4DCF-65E0-67C1DE73FA15}"/>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19" name="Google Shape;11;p1">
            <a:extLst>
              <a:ext uri="{FF2B5EF4-FFF2-40B4-BE49-F238E27FC236}">
                <a16:creationId xmlns:a16="http://schemas.microsoft.com/office/drawing/2014/main" id="{A9C3E310-B439-1E52-DE47-BF6F26E607DC}"/>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sp>
        <p:nvSpPr>
          <p:cNvPr id="20" name="テキスト プレースホルダー 13">
            <a:extLst>
              <a:ext uri="{FF2B5EF4-FFF2-40B4-BE49-F238E27FC236}">
                <a16:creationId xmlns:a16="http://schemas.microsoft.com/office/drawing/2014/main" id="{D5A4CE46-03F2-C037-139F-967BCEF5E5AB}"/>
              </a:ext>
            </a:extLst>
          </p:cNvPr>
          <p:cNvSpPr txBox="1">
            <a:spLocks/>
          </p:cNvSpPr>
          <p:nvPr userDrawn="1"/>
        </p:nvSpPr>
        <p:spPr>
          <a:xfrm>
            <a:off x="857250" y="463352"/>
            <a:ext cx="2020887" cy="553998"/>
          </a:xfrm>
          <a:prstGeom prst="rect">
            <a:avLst/>
          </a:prstGeom>
        </p:spPr>
        <p:txBody>
          <a:bodyPr vert="horz" wrap="square" lIns="0" tIns="0" rIns="0" bIns="0" rtlCol="0">
            <a:spAutoFit/>
          </a:bodyPr>
          <a:lstStyle>
            <a:lvl1pPr marL="0" indent="0" algn="r" defTabSz="914400" rtl="0" eaLnBrk="1" latinLnBrk="0" hangingPunct="1">
              <a:lnSpc>
                <a:spcPct val="100000"/>
              </a:lnSpc>
              <a:spcBef>
                <a:spcPts val="0"/>
              </a:spcBef>
              <a:buFontTx/>
              <a:buNone/>
              <a:defRPr kumimoji="1" sz="30000" kern="1200">
                <a:ln w="19050">
                  <a:solidFill>
                    <a:schemeClr val="tx2"/>
                  </a:solidFill>
                </a:ln>
                <a:no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2pPr>
            <a:lvl3pPr marL="9144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3pPr>
            <a:lvl4pPr marL="13716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4pPr>
            <a:lvl5pPr marL="18288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en-US" altLang="ja-JP" sz="3600" dirty="0">
                <a:ln w="12700">
                  <a:noFill/>
                </a:ln>
                <a:solidFill>
                  <a:schemeClr val="tx2"/>
                </a:solidFill>
                <a:latin typeface="Bahnschrift" panose="020B0502040204020203" pitchFamily="34" charset="0"/>
              </a:rPr>
              <a:t>Contents</a:t>
            </a:r>
          </a:p>
        </p:txBody>
      </p:sp>
      <p:grpSp>
        <p:nvGrpSpPr>
          <p:cNvPr id="21" name="グループ化 20">
            <a:extLst>
              <a:ext uri="{FF2B5EF4-FFF2-40B4-BE49-F238E27FC236}">
                <a16:creationId xmlns:a16="http://schemas.microsoft.com/office/drawing/2014/main" id="{70F69DDF-6CB2-90E5-6858-69460B9ED411}"/>
              </a:ext>
            </a:extLst>
          </p:cNvPr>
          <p:cNvGrpSpPr/>
          <p:nvPr userDrawn="1"/>
        </p:nvGrpSpPr>
        <p:grpSpPr>
          <a:xfrm rot="16200000">
            <a:off x="1775250" y="217946"/>
            <a:ext cx="36000" cy="1872000"/>
            <a:chOff x="3000911" y="5142393"/>
            <a:chExt cx="36000" cy="1350400"/>
          </a:xfrm>
        </p:grpSpPr>
        <p:sp>
          <p:nvSpPr>
            <p:cNvPr id="22" name="四角形: 上の 2 つの角を丸める 21">
              <a:extLst>
                <a:ext uri="{FF2B5EF4-FFF2-40B4-BE49-F238E27FC236}">
                  <a16:creationId xmlns:a16="http://schemas.microsoft.com/office/drawing/2014/main" id="{D28EF4F6-37DA-476A-D721-8E9B34D18C12}"/>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上の 2 つの角を丸める 22">
              <a:extLst>
                <a:ext uri="{FF2B5EF4-FFF2-40B4-BE49-F238E27FC236}">
                  <a16:creationId xmlns:a16="http://schemas.microsoft.com/office/drawing/2014/main" id="{C86596E3-477E-A679-5C2A-8510ED4DD058}"/>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 name="グラフィックス 2">
            <a:extLst>
              <a:ext uri="{FF2B5EF4-FFF2-40B4-BE49-F238E27FC236}">
                <a16:creationId xmlns:a16="http://schemas.microsoft.com/office/drawing/2014/main" id="{1754F0C6-5224-1DED-E7C0-059906B4C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1584455236"/>
      </p:ext>
    </p:extLst>
  </p:cSld>
  <p:clrMapOvr>
    <a:masterClrMapping/>
  </p:clrMapOvr>
  <p:extLst>
    <p:ext uri="{DCECCB84-F9BA-43D5-87BE-67443E8EF086}">
      <p15:sldGuideLst xmlns:p15="http://schemas.microsoft.com/office/powerpoint/2012/main">
        <p15:guide id="2" pos="540">
          <p15:clr>
            <a:srgbClr val="FBAE40"/>
          </p15:clr>
        </p15:guide>
        <p15:guide id="3" pos="5939">
          <p15:clr>
            <a:srgbClr val="FBAE40"/>
          </p15:clr>
        </p15:guide>
        <p15:guide id="4" orient="horz" pos="404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bira">
    <p:spTree>
      <p:nvGrpSpPr>
        <p:cNvPr id="1" name=""/>
        <p:cNvGrpSpPr/>
        <p:nvPr/>
      </p:nvGrpSpPr>
      <p:grpSpPr>
        <a:xfrm>
          <a:off x="0" y="0"/>
          <a:ext cx="0" cy="0"/>
          <a:chOff x="0" y="0"/>
          <a:chExt cx="0" cy="0"/>
        </a:xfrm>
      </p:grpSpPr>
      <p:sp>
        <p:nvSpPr>
          <p:cNvPr id="17" name="テキスト プレースホルダー 5">
            <a:extLst>
              <a:ext uri="{FF2B5EF4-FFF2-40B4-BE49-F238E27FC236}">
                <a16:creationId xmlns:a16="http://schemas.microsoft.com/office/drawing/2014/main" id="{DD0336DE-AA62-6947-41C1-57A498FF63FA}"/>
              </a:ext>
            </a:extLst>
          </p:cNvPr>
          <p:cNvSpPr>
            <a:spLocks noGrp="1"/>
          </p:cNvSpPr>
          <p:nvPr>
            <p:ph type="body" sz="quarter" idx="15" hasCustomPrompt="1"/>
          </p:nvPr>
        </p:nvSpPr>
        <p:spPr>
          <a:xfrm>
            <a:off x="5872163" y="2414602"/>
            <a:ext cx="3556000" cy="4308872"/>
          </a:xfrm>
        </p:spPr>
        <p:txBody>
          <a:bodyPr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a:t>1</a:t>
            </a:r>
            <a:endParaRPr kumimoji="1" lang="ja-JP" altLang="en-US"/>
          </a:p>
        </p:txBody>
      </p:sp>
      <p:sp>
        <p:nvSpPr>
          <p:cNvPr id="10" name="テキスト プレースホルダー 9">
            <a:extLst>
              <a:ext uri="{FF2B5EF4-FFF2-40B4-BE49-F238E27FC236}">
                <a16:creationId xmlns:a16="http://schemas.microsoft.com/office/drawing/2014/main" id="{D6E06191-E30E-43B9-FE4F-5689EDC6CA7F}"/>
              </a:ext>
            </a:extLst>
          </p:cNvPr>
          <p:cNvSpPr>
            <a:spLocks noGrp="1"/>
          </p:cNvSpPr>
          <p:nvPr>
            <p:ph type="body" sz="quarter" idx="11" hasCustomPrompt="1"/>
          </p:nvPr>
        </p:nvSpPr>
        <p:spPr>
          <a:xfrm>
            <a:off x="1605001" y="1594881"/>
            <a:ext cx="7854867" cy="527773"/>
          </a:xfrm>
        </p:spPr>
        <p:txBody>
          <a:bodyPr wrap="square" lIns="0" tIns="0" rIns="0" bIns="0" anchor="b" anchorCtr="0">
            <a:spAutoFit/>
          </a:bodyPr>
          <a:lstStyle>
            <a:lvl1pPr marL="0" indent="0">
              <a:lnSpc>
                <a:spcPct val="120000"/>
              </a:lnSpc>
              <a:spcBef>
                <a:spcPts val="0"/>
              </a:spcBef>
              <a:buFontTx/>
              <a:buNone/>
              <a:defRPr sz="3200" b="0">
                <a:solidFill>
                  <a:schemeClr val="tx2"/>
                </a:solidFill>
                <a:latin typeface="+mj-lt"/>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lang="en-US" altLang="ja-JP" dirty="0"/>
              <a:t>Enter your title here</a:t>
            </a:r>
            <a:endParaRPr kumimoji="1" lang="ja-JP" altLang="en-US" dirty="0"/>
          </a:p>
        </p:txBody>
      </p:sp>
      <p:sp>
        <p:nvSpPr>
          <p:cNvPr id="12" name="テキスト プレースホルダー 9">
            <a:extLst>
              <a:ext uri="{FF2B5EF4-FFF2-40B4-BE49-F238E27FC236}">
                <a16:creationId xmlns:a16="http://schemas.microsoft.com/office/drawing/2014/main" id="{4AA1B98C-39AF-E8E8-B0D3-BDD8EAE57CF4}"/>
              </a:ext>
            </a:extLst>
          </p:cNvPr>
          <p:cNvSpPr>
            <a:spLocks noGrp="1"/>
          </p:cNvSpPr>
          <p:nvPr>
            <p:ph type="body" sz="quarter" idx="12" hasCustomPrompt="1"/>
          </p:nvPr>
        </p:nvSpPr>
        <p:spPr>
          <a:xfrm>
            <a:off x="1605001" y="2570611"/>
            <a:ext cx="7854867" cy="341376"/>
          </a:xfrm>
        </p:spPr>
        <p:txBody>
          <a:bodyPr wrap="square" lIns="0" tIns="0" rIns="0" bIns="0">
            <a:spAutoFit/>
          </a:bodyPr>
          <a:lstStyle>
            <a:lvl1pPr marL="0" indent="0">
              <a:buFontTx/>
              <a:buNone/>
              <a:defRPr sz="2000" b="0">
                <a:solidFill>
                  <a:schemeClr val="tx2"/>
                </a:solidFill>
                <a:latin typeface="+mj-ea"/>
                <a:ea typeface="+mj-ea"/>
              </a:defRPr>
            </a:lvl1pPr>
            <a:lvl2pPr marL="371475" indent="0">
              <a:buFontTx/>
              <a:buNone/>
              <a:defRPr b="1">
                <a:solidFill>
                  <a:schemeClr val="bg1"/>
                </a:solidFill>
                <a:latin typeface="+mj-ea"/>
                <a:ea typeface="+mj-ea"/>
              </a:defRPr>
            </a:lvl2pPr>
            <a:lvl3pPr marL="742950" indent="0">
              <a:buFontTx/>
              <a:buNone/>
              <a:defRPr b="1">
                <a:solidFill>
                  <a:schemeClr val="bg1"/>
                </a:solidFill>
                <a:latin typeface="+mj-ea"/>
                <a:ea typeface="+mj-ea"/>
              </a:defRPr>
            </a:lvl3pPr>
            <a:lvl4pPr marL="1114425" indent="0">
              <a:buFontTx/>
              <a:buNone/>
              <a:defRPr b="1">
                <a:solidFill>
                  <a:schemeClr val="bg1"/>
                </a:solidFill>
                <a:latin typeface="+mj-ea"/>
                <a:ea typeface="+mj-ea"/>
              </a:defRPr>
            </a:lvl4pPr>
            <a:lvl5pPr marL="1485900" indent="0">
              <a:buFontTx/>
              <a:buNone/>
              <a:defRPr b="1">
                <a:solidFill>
                  <a:schemeClr val="bg1"/>
                </a:solidFill>
                <a:latin typeface="+mj-ea"/>
                <a:ea typeface="+mj-ea"/>
              </a:defRPr>
            </a:lvl5pPr>
          </a:lstStyle>
          <a:p>
            <a:pPr lvl="0"/>
            <a:r>
              <a:rPr kumimoji="1" lang="en-US" altLang="ja-JP" dirty="0"/>
              <a:t>Enter your subtitle here</a:t>
            </a:r>
          </a:p>
        </p:txBody>
      </p:sp>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3" name="四角形: 上の 2 つの角を丸める 12">
            <a:extLst>
              <a:ext uri="{FF2B5EF4-FFF2-40B4-BE49-F238E27FC236}">
                <a16:creationId xmlns:a16="http://schemas.microsoft.com/office/drawing/2014/main" id="{6B0F0D73-1766-0FE0-3812-133EAF14B5E4}"/>
              </a:ext>
            </a:extLst>
          </p:cNvPr>
          <p:cNvSpPr/>
          <p:nvPr userDrawn="1"/>
        </p:nvSpPr>
        <p:spPr>
          <a:xfrm rot="16200000">
            <a:off x="1982068" y="2025497"/>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4" name="四角形: 上の 2 つの角を丸める 13">
            <a:extLst>
              <a:ext uri="{FF2B5EF4-FFF2-40B4-BE49-F238E27FC236}">
                <a16:creationId xmlns:a16="http://schemas.microsoft.com/office/drawing/2014/main" id="{9C37F7C3-3AF5-3274-BB37-6E68B397BEB6}"/>
              </a:ext>
            </a:extLst>
          </p:cNvPr>
          <p:cNvSpPr/>
          <p:nvPr userDrawn="1"/>
        </p:nvSpPr>
        <p:spPr>
          <a:xfrm rot="5400000">
            <a:off x="5954163" y="-1050253"/>
            <a:ext cx="36000" cy="6912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4" name="四角形: 角を丸くする 3">
            <a:extLst>
              <a:ext uri="{FF2B5EF4-FFF2-40B4-BE49-F238E27FC236}">
                <a16:creationId xmlns:a16="http://schemas.microsoft.com/office/drawing/2014/main" id="{D5CF5459-CEC0-257E-F9D7-0521C6E95B36}"/>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Google Shape;10;p1">
            <a:extLst>
              <a:ext uri="{FF2B5EF4-FFF2-40B4-BE49-F238E27FC236}">
                <a16:creationId xmlns:a16="http://schemas.microsoft.com/office/drawing/2014/main" id="{90CD3336-9520-8DA3-5D08-E5F5BA2F5B9A}"/>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6" name="Google Shape;10;p1">
            <a:extLst>
              <a:ext uri="{FF2B5EF4-FFF2-40B4-BE49-F238E27FC236}">
                <a16:creationId xmlns:a16="http://schemas.microsoft.com/office/drawing/2014/main" id="{1900B4BF-3FF8-DEAD-1FE8-F90D4759A2EA}"/>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7" name="直線コネクタ 6">
            <a:extLst>
              <a:ext uri="{FF2B5EF4-FFF2-40B4-BE49-F238E27FC236}">
                <a16:creationId xmlns:a16="http://schemas.microsoft.com/office/drawing/2014/main" id="{61C4E729-AA8C-7238-720C-F840EAB4B529}"/>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8" name="Google Shape;11;p1">
            <a:extLst>
              <a:ext uri="{FF2B5EF4-FFF2-40B4-BE49-F238E27FC236}">
                <a16:creationId xmlns:a16="http://schemas.microsoft.com/office/drawing/2014/main" id="{87A203C3-0406-5185-FCFE-9283E0F880FE}"/>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sp>
        <p:nvSpPr>
          <p:cNvPr id="15" name="四角形: 上の 2 つの角を丸める 14">
            <a:extLst>
              <a:ext uri="{FF2B5EF4-FFF2-40B4-BE49-F238E27FC236}">
                <a16:creationId xmlns:a16="http://schemas.microsoft.com/office/drawing/2014/main" id="{14F7C796-A2F5-488E-3680-38B56F49049B}"/>
              </a:ext>
            </a:extLst>
          </p:cNvPr>
          <p:cNvSpPr/>
          <p:nvPr userDrawn="1"/>
        </p:nvSpPr>
        <p:spPr>
          <a:xfrm rot="16200000">
            <a:off x="2055002" y="1937747"/>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 name="グラフィックス 1">
            <a:extLst>
              <a:ext uri="{FF2B5EF4-FFF2-40B4-BE49-F238E27FC236}">
                <a16:creationId xmlns:a16="http://schemas.microsoft.com/office/drawing/2014/main" id="{13E573E9-72C8-4BB4-B153-B88E95DBCB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1538377132"/>
      </p:ext>
    </p:extLst>
  </p:cSld>
  <p:clrMapOvr>
    <a:masterClrMapping/>
  </p:clrMapOvr>
  <p:extLst>
    <p:ext uri="{DCECCB84-F9BA-43D5-87BE-67443E8EF086}">
      <p15:sldGuideLst xmlns:p15="http://schemas.microsoft.com/office/powerpoint/2012/main">
        <p15:guide id="2" pos="540">
          <p15:clr>
            <a:srgbClr val="FBAE40"/>
          </p15:clr>
        </p15:guide>
        <p15:guide id="3" pos="5939">
          <p15:clr>
            <a:srgbClr val="FBAE40"/>
          </p15:clr>
        </p15:guide>
        <p15:guide id="4" orient="horz" pos="40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e-A">
    <p:spTree>
      <p:nvGrpSpPr>
        <p:cNvPr id="1" name=""/>
        <p:cNvGrpSpPr/>
        <p:nvPr/>
      </p:nvGrpSpPr>
      <p:grpSpPr>
        <a:xfrm>
          <a:off x="0" y="0"/>
          <a:ext cx="0" cy="0"/>
          <a:chOff x="0" y="0"/>
          <a:chExt cx="0" cy="0"/>
        </a:xfrm>
      </p:grpSpPr>
      <p:sp>
        <p:nvSpPr>
          <p:cNvPr id="37" name="テキスト プレースホルダー 3">
            <a:extLst>
              <a:ext uri="{FF2B5EF4-FFF2-40B4-BE49-F238E27FC236}">
                <a16:creationId xmlns:a16="http://schemas.microsoft.com/office/drawing/2014/main" id="{4EC2F0A7-7B11-2C83-F3E4-212B02AA0A32}"/>
              </a:ext>
            </a:extLst>
          </p:cNvPr>
          <p:cNvSpPr>
            <a:spLocks noGrp="1"/>
          </p:cNvSpPr>
          <p:nvPr>
            <p:ph type="body" sz="half" idx="12" hasCustomPrompt="1"/>
          </p:nvPr>
        </p:nvSpPr>
        <p:spPr>
          <a:xfrm>
            <a:off x="857747" y="1122396"/>
            <a:ext cx="8659316" cy="580865"/>
          </a:xfrm>
        </p:spPr>
        <p:txBody>
          <a:bodyPr wrap="square" lIns="0" tIns="0" rIns="0" bIns="0">
            <a:spAutoFit/>
          </a:bodyPr>
          <a:lstStyle>
            <a:lvl1pPr marL="0" indent="0">
              <a:lnSpc>
                <a:spcPct val="120000"/>
              </a:lnSpc>
              <a:spcBef>
                <a:spcPts val="0"/>
              </a:spcBef>
              <a:spcAft>
                <a:spcPts val="300"/>
              </a:spcAft>
              <a:buNone/>
              <a:defRPr sz="1600">
                <a:solidFill>
                  <a:schemeClr val="tx1"/>
                </a:solidFill>
                <a:latin typeface="+mn-lt"/>
                <a:ea typeface="+mn-ea"/>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kumimoji="1" lang="en-US" altLang="ja-JP" dirty="0"/>
              <a:t>Subheading text (optional)</a:t>
            </a:r>
            <a:br>
              <a:rPr kumimoji="1" lang="en-US" altLang="ja-JP" dirty="0"/>
            </a:br>
            <a:r>
              <a:rPr kumimoji="1" lang="en-US" altLang="ja-JP" dirty="0"/>
              <a:t>Subheading text (optional)</a:t>
            </a:r>
          </a:p>
        </p:txBody>
      </p:sp>
      <p:sp>
        <p:nvSpPr>
          <p:cNvPr id="38" name="テキスト プレースホルダー 3">
            <a:extLst>
              <a:ext uri="{FF2B5EF4-FFF2-40B4-BE49-F238E27FC236}">
                <a16:creationId xmlns:a16="http://schemas.microsoft.com/office/drawing/2014/main" id="{4E4E4F13-1F21-6EB9-6A6A-8A4905E86E4C}"/>
              </a:ext>
            </a:extLst>
          </p:cNvPr>
          <p:cNvSpPr>
            <a:spLocks noGrp="1"/>
          </p:cNvSpPr>
          <p:nvPr>
            <p:ph type="body" sz="half" idx="13" hasCustomPrompt="1"/>
          </p:nvPr>
        </p:nvSpPr>
        <p:spPr>
          <a:xfrm>
            <a:off x="857747" y="6535369"/>
            <a:ext cx="6230250" cy="93872"/>
          </a:xfrm>
        </p:spPr>
        <p:txBody>
          <a:bodyPr wrap="square" lIns="0" tIns="0" rIns="0" bIns="0">
            <a:spAutoFit/>
          </a:bodyPr>
          <a:lstStyle>
            <a:lvl1pPr marL="0" indent="0">
              <a:lnSpc>
                <a:spcPct val="120000"/>
              </a:lnSpc>
              <a:spcBef>
                <a:spcPts val="0"/>
              </a:spcBef>
              <a:spcAft>
                <a:spcPts val="0"/>
              </a:spcAft>
              <a:buNone/>
              <a:defRPr sz="569">
                <a:solidFill>
                  <a:schemeClr val="tx1"/>
                </a:solidFill>
              </a:defRPr>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marL="0" marR="0" lvl="0" indent="0" algn="l" defTabSz="742950" rtl="0" eaLnBrk="1" fontAlgn="auto" latinLnBrk="0" hangingPunct="1">
              <a:lnSpc>
                <a:spcPct val="120000"/>
              </a:lnSpc>
              <a:spcBef>
                <a:spcPts val="0"/>
              </a:spcBef>
              <a:spcAft>
                <a:spcPts val="0"/>
              </a:spcAft>
              <a:buClrTx/>
              <a:buSzTx/>
              <a:buFontTx/>
              <a:buNone/>
              <a:tabLst/>
              <a:defRPr/>
            </a:pPr>
            <a:r>
              <a:rPr kumimoji="1" lang="en-US" altLang="ja-JP" dirty="0"/>
              <a:t>Source / Disclaimer / Annotations: </a:t>
            </a:r>
          </a:p>
        </p:txBody>
      </p:sp>
      <p:sp>
        <p:nvSpPr>
          <p:cNvPr id="24" name="テキスト プレースホルダー 5">
            <a:extLst>
              <a:ext uri="{FF2B5EF4-FFF2-40B4-BE49-F238E27FC236}">
                <a16:creationId xmlns:a16="http://schemas.microsoft.com/office/drawing/2014/main" id="{677C479B-DDD6-603F-9425-E6F8F5C68D1B}"/>
              </a:ext>
            </a:extLst>
          </p:cNvPr>
          <p:cNvSpPr txBox="1">
            <a:spLocks/>
          </p:cNvSpPr>
          <p:nvPr userDrawn="1"/>
        </p:nvSpPr>
        <p:spPr>
          <a:xfrm>
            <a:off x="7946760" y="6701771"/>
            <a:ext cx="1905837"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300" b="0" i="0">
                <a:effectLst/>
                <a:latin typeface="Bahnschrift" panose="020B0502040204020203" pitchFamily="34" charset="0"/>
                <a:cs typeface="Arial" panose="020B0604020202020204" pitchFamily="34" charset="0"/>
              </a:rPr>
              <a:t>Copyright © Tokyo University of Science All Rights Reserved.</a:t>
            </a:r>
            <a:endParaRPr lang="ja-JP" altLang="en-US" sz="1300">
              <a:latin typeface="Bahnschrift" panose="020B0502040204020203" pitchFamily="34" charset="0"/>
              <a:cs typeface="Arial" panose="020B0604020202020204" pitchFamily="34" charset="0"/>
            </a:endParaRPr>
          </a:p>
        </p:txBody>
      </p:sp>
      <p:sp>
        <p:nvSpPr>
          <p:cNvPr id="19" name="四角形: 上の 2 つの角を丸める 18">
            <a:extLst>
              <a:ext uri="{FF2B5EF4-FFF2-40B4-BE49-F238E27FC236}">
                <a16:creationId xmlns:a16="http://schemas.microsoft.com/office/drawing/2014/main" id="{167E0FE0-2FD7-C239-0E50-4B0E106C9A46}"/>
              </a:ext>
            </a:extLst>
          </p:cNvPr>
          <p:cNvSpPr/>
          <p:nvPr userDrawn="1"/>
        </p:nvSpPr>
        <p:spPr>
          <a:xfrm rot="16200000">
            <a:off x="1219997" y="543456"/>
            <a:ext cx="36000" cy="7605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1" name="四角形: 上の 2 つの角を丸める 20">
            <a:extLst>
              <a:ext uri="{FF2B5EF4-FFF2-40B4-BE49-F238E27FC236}">
                <a16:creationId xmlns:a16="http://schemas.microsoft.com/office/drawing/2014/main" id="{A12A5D09-263D-B3B0-0202-9A3642DBAEF1}"/>
              </a:ext>
            </a:extLst>
          </p:cNvPr>
          <p:cNvSpPr/>
          <p:nvPr userDrawn="1"/>
        </p:nvSpPr>
        <p:spPr>
          <a:xfrm rot="5400000">
            <a:off x="5548997" y="-3025044"/>
            <a:ext cx="36000" cy="78975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15" name="タイトル 14">
            <a:extLst>
              <a:ext uri="{FF2B5EF4-FFF2-40B4-BE49-F238E27FC236}">
                <a16:creationId xmlns:a16="http://schemas.microsoft.com/office/drawing/2014/main" id="{562C4C28-E9D2-6B6F-6821-FF9ED54DF1D7}"/>
              </a:ext>
            </a:extLst>
          </p:cNvPr>
          <p:cNvSpPr>
            <a:spLocks noGrp="1"/>
          </p:cNvSpPr>
          <p:nvPr>
            <p:ph type="title" hasCustomPrompt="1"/>
          </p:nvPr>
        </p:nvSpPr>
        <p:spPr>
          <a:xfrm>
            <a:off x="857746" y="410449"/>
            <a:ext cx="8658001" cy="411653"/>
          </a:xfrm>
        </p:spPr>
        <p:txBody>
          <a:bodyPr/>
          <a:lstStyle>
            <a:lvl1pPr>
              <a:defRPr sz="2400">
                <a:solidFill>
                  <a:schemeClr val="tx2"/>
                </a:solidFill>
              </a:defRPr>
            </a:lvl1pPr>
          </a:lstStyle>
          <a:p>
            <a:r>
              <a:rPr kumimoji="1" lang="en-US" altLang="ja-JP" dirty="0"/>
              <a:t>Enter your title here</a:t>
            </a:r>
          </a:p>
        </p:txBody>
      </p:sp>
      <p:sp>
        <p:nvSpPr>
          <p:cNvPr id="3" name="四角形: 角を丸くする 2">
            <a:extLst>
              <a:ext uri="{FF2B5EF4-FFF2-40B4-BE49-F238E27FC236}">
                <a16:creationId xmlns:a16="http://schemas.microsoft.com/office/drawing/2014/main" id="{EE8042B6-0ECB-CA70-EDE4-D67A0108185F}"/>
              </a:ext>
            </a:extLst>
          </p:cNvPr>
          <p:cNvSpPr/>
          <p:nvPr userDrawn="1"/>
        </p:nvSpPr>
        <p:spPr>
          <a:xfrm rot="5400000">
            <a:off x="158403" y="6343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Google Shape;10;p1">
            <a:extLst>
              <a:ext uri="{FF2B5EF4-FFF2-40B4-BE49-F238E27FC236}">
                <a16:creationId xmlns:a16="http://schemas.microsoft.com/office/drawing/2014/main" id="{CA25E6D1-8817-8437-7D6A-EC1914E196D2}"/>
              </a:ext>
            </a:extLst>
          </p:cNvPr>
          <p:cNvSpPr txBox="1"/>
          <p:nvPr userDrawn="1"/>
        </p:nvSpPr>
        <p:spPr>
          <a:xfrm>
            <a:off x="212403" y="6470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endParaRPr sz="800" b="0" i="0" u="none" strike="noStrike" cap="none">
              <a:solidFill>
                <a:schemeClr val="bg1"/>
              </a:solidFill>
              <a:latin typeface="+mj-lt"/>
              <a:ea typeface="Lato Light"/>
              <a:cs typeface="Lato Light"/>
              <a:sym typeface="Lato Light"/>
            </a:endParaRPr>
          </a:p>
        </p:txBody>
      </p:sp>
      <p:sp>
        <p:nvSpPr>
          <p:cNvPr id="5" name="Google Shape;10;p1">
            <a:extLst>
              <a:ext uri="{FF2B5EF4-FFF2-40B4-BE49-F238E27FC236}">
                <a16:creationId xmlns:a16="http://schemas.microsoft.com/office/drawing/2014/main" id="{AE5B993B-AA94-6240-8405-E11FE71A872F}"/>
              </a:ext>
            </a:extLst>
          </p:cNvPr>
          <p:cNvSpPr txBox="1"/>
          <p:nvPr userDrawn="1"/>
        </p:nvSpPr>
        <p:spPr>
          <a:xfrm>
            <a:off x="219395" y="6424979"/>
            <a:ext cx="238016" cy="2754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3838"/>
              </a:buClr>
              <a:buSzPts val="700"/>
              <a:buFont typeface="Lato Light"/>
              <a:buNone/>
            </a:pPr>
            <a:fld id="{00000000-1234-1234-1234-123412341234}" type="slidenum">
              <a:rPr lang="en-US" sz="800" b="0" i="0" u="none" strike="noStrike" cap="none">
                <a:solidFill>
                  <a:schemeClr val="bg1"/>
                </a:solidFill>
                <a:latin typeface="+mj-lt"/>
                <a:ea typeface="Lato Light"/>
                <a:cs typeface="Lato Light"/>
                <a:sym typeface="Lato Light"/>
              </a:rPr>
              <a:pPr marL="0" marR="0" lvl="0" indent="0" algn="ctr" rtl="0">
                <a:spcBef>
                  <a:spcPts val="0"/>
                </a:spcBef>
                <a:spcAft>
                  <a:spcPts val="0"/>
                </a:spcAft>
                <a:buClr>
                  <a:srgbClr val="3A3838"/>
                </a:buClr>
                <a:buSzPts val="700"/>
                <a:buFont typeface="Lato Light"/>
                <a:buNone/>
              </a:pPr>
              <a:t>‹#›</a:t>
            </a:fld>
            <a:endParaRPr sz="800" b="0" i="0" u="none" strike="noStrike" cap="none" dirty="0">
              <a:solidFill>
                <a:schemeClr val="bg1"/>
              </a:solidFill>
              <a:latin typeface="+mj-lt"/>
              <a:ea typeface="Lato Light"/>
              <a:cs typeface="Lato Light"/>
              <a:sym typeface="Lato Light"/>
            </a:endParaRPr>
          </a:p>
        </p:txBody>
      </p:sp>
      <p:cxnSp>
        <p:nvCxnSpPr>
          <p:cNvPr id="6" name="直線コネクタ 5">
            <a:extLst>
              <a:ext uri="{FF2B5EF4-FFF2-40B4-BE49-F238E27FC236}">
                <a16:creationId xmlns:a16="http://schemas.microsoft.com/office/drawing/2014/main" id="{EFF90A98-2AB2-6CAC-B969-C925E6B59E8B}"/>
              </a:ext>
            </a:extLst>
          </p:cNvPr>
          <p:cNvCxnSpPr>
            <a:cxnSpLocks/>
          </p:cNvCxnSpPr>
          <p:nvPr userDrawn="1"/>
        </p:nvCxnSpPr>
        <p:spPr>
          <a:xfrm>
            <a:off x="338403" y="1667933"/>
            <a:ext cx="0" cy="4559643"/>
          </a:xfrm>
          <a:prstGeom prst="line">
            <a:avLst/>
          </a:prstGeom>
          <a:noFill/>
          <a:ln w="3175" cap="flat" cmpd="sng">
            <a:solidFill>
              <a:schemeClr val="bg2">
                <a:lumMod val="90000"/>
              </a:schemeClr>
            </a:solidFill>
            <a:prstDash val="solid"/>
            <a:miter lim="800000"/>
            <a:headEnd type="none" w="sm" len="sm"/>
            <a:tailEnd type="none" w="sm" len="sm"/>
          </a:ln>
        </p:spPr>
      </p:cxnSp>
      <p:sp>
        <p:nvSpPr>
          <p:cNvPr id="7" name="Google Shape;11;p1">
            <a:extLst>
              <a:ext uri="{FF2B5EF4-FFF2-40B4-BE49-F238E27FC236}">
                <a16:creationId xmlns:a16="http://schemas.microsoft.com/office/drawing/2014/main" id="{F90D8561-D06D-EC48-3BBF-115A62D20C6A}"/>
              </a:ext>
            </a:extLst>
          </p:cNvPr>
          <p:cNvSpPr txBox="1"/>
          <p:nvPr userDrawn="1"/>
        </p:nvSpPr>
        <p:spPr>
          <a:xfrm rot="5400000">
            <a:off x="-183598" y="1073999"/>
            <a:ext cx="1044000" cy="107722"/>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7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pic>
        <p:nvPicPr>
          <p:cNvPr id="8" name="グラフィックス 7">
            <a:extLst>
              <a:ext uri="{FF2B5EF4-FFF2-40B4-BE49-F238E27FC236}">
                <a16:creationId xmlns:a16="http://schemas.microsoft.com/office/drawing/2014/main" id="{C0DA6A8A-F106-9A3C-F87C-78428752A4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006" y="145347"/>
            <a:ext cx="388800" cy="388800"/>
          </a:xfrm>
          <a:prstGeom prst="rect">
            <a:avLst/>
          </a:prstGeom>
        </p:spPr>
      </p:pic>
    </p:spTree>
    <p:extLst>
      <p:ext uri="{BB962C8B-B14F-4D97-AF65-F5344CB8AC3E}">
        <p14:creationId xmlns:p14="http://schemas.microsoft.com/office/powerpoint/2010/main" val="3592585561"/>
      </p:ext>
    </p:extLst>
  </p:cSld>
  <p:clrMapOvr>
    <a:masterClrMapping/>
  </p:clrMapOvr>
  <p:extLst>
    <p:ext uri="{DCECCB84-F9BA-43D5-87BE-67443E8EF086}">
      <p15:sldGuideLst xmlns:p15="http://schemas.microsoft.com/office/powerpoint/2012/main">
        <p15:guide id="1" orient="horz" pos="323">
          <p15:clr>
            <a:srgbClr val="FBAE40"/>
          </p15:clr>
        </p15:guide>
        <p15:guide id="2" pos="540">
          <p15:clr>
            <a:srgbClr val="FBAE40"/>
          </p15:clr>
        </p15:guide>
        <p15:guide id="3" pos="5995">
          <p15:clr>
            <a:srgbClr val="FBAE40"/>
          </p15:clr>
        </p15:guide>
        <p15:guide id="4" orient="horz" pos="3997">
          <p15:clr>
            <a:srgbClr val="FBAE40"/>
          </p15:clr>
        </p15:guide>
        <p15:guide id="5" pos="326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10" name="Google Shape;11;p1">
            <a:extLst>
              <a:ext uri="{FF2B5EF4-FFF2-40B4-BE49-F238E27FC236}">
                <a16:creationId xmlns:a16="http://schemas.microsoft.com/office/drawing/2014/main" id="{DE5B1AA3-48CD-1485-A369-87F949991FBA}"/>
              </a:ext>
            </a:extLst>
          </p:cNvPr>
          <p:cNvSpPr txBox="1"/>
          <p:nvPr userDrawn="1"/>
        </p:nvSpPr>
        <p:spPr>
          <a:xfrm>
            <a:off x="2804318" y="3052496"/>
            <a:ext cx="561600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pic>
        <p:nvPicPr>
          <p:cNvPr id="3" name="グラフィックス 2">
            <a:extLst>
              <a:ext uri="{FF2B5EF4-FFF2-40B4-BE49-F238E27FC236}">
                <a16:creationId xmlns:a16="http://schemas.microsoft.com/office/drawing/2014/main" id="{CE75E190-E168-CEC6-85B0-2F0B3F7FB9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13635" y="3045940"/>
            <a:ext cx="666000" cy="666000"/>
          </a:xfrm>
          <a:prstGeom prst="rect">
            <a:avLst/>
          </a:prstGeom>
        </p:spPr>
      </p:pic>
    </p:spTree>
    <p:extLst>
      <p:ext uri="{BB962C8B-B14F-4D97-AF65-F5344CB8AC3E}">
        <p14:creationId xmlns:p14="http://schemas.microsoft.com/office/powerpoint/2010/main" val="961249053"/>
      </p:ext>
    </p:extLst>
  </p:cSld>
  <p:clrMapOvr>
    <a:masterClrMapping/>
  </p:clrMapOvr>
  <p:extLst>
    <p:ext uri="{DCECCB84-F9BA-43D5-87BE-67443E8EF086}">
      <p15:sldGuideLst xmlns:p15="http://schemas.microsoft.com/office/powerpoint/2012/main">
        <p15:guide id="1" orient="horz" pos="323">
          <p15:clr>
            <a:srgbClr val="FBAE40"/>
          </p15:clr>
        </p15:guide>
        <p15:guide id="2" pos="540">
          <p15:clr>
            <a:srgbClr val="FBAE40"/>
          </p15:clr>
        </p15:guide>
        <p15:guide id="3" pos="5995">
          <p15:clr>
            <a:srgbClr val="FBAE40"/>
          </p15:clr>
        </p15:guide>
        <p15:guide id="4" orient="horz" pos="3997">
          <p15:clr>
            <a:srgbClr val="FBAE40"/>
          </p15:clr>
        </p15:guide>
        <p15:guide id="5" pos="326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pPr>
              <a:defRPr/>
            </a:pPr>
            <a:fld id="{52CE787A-AE24-4A30-B5F0-5557587EB947}" type="datetime1">
              <a:rPr lang="ja-JP" altLang="en-US" smtClean="0"/>
              <a:t>2025/3/14</a:t>
            </a:fld>
            <a:endParaRPr lang="ja-JP" altLang="en-US"/>
          </a:p>
        </p:txBody>
      </p:sp>
      <p:sp>
        <p:nvSpPr>
          <p:cNvPr id="5" name="フッター プレースホルダー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p:cNvSpPr>
            <a:spLocks noGrp="1"/>
          </p:cNvSpPr>
          <p:nvPr>
            <p:ph type="sldNum" sz="quarter" idx="12"/>
          </p:nvPr>
        </p:nvSpPr>
        <p:spPr/>
        <p:txBody>
          <a:bodyPr/>
          <a:lstStyle>
            <a:lvl1pPr>
              <a:defRPr/>
            </a:lvl1pPr>
          </a:lstStyle>
          <a:p>
            <a:fld id="{0B544D1E-9F94-410D-9F00-BE07B20F008B}" type="slidenum">
              <a:rPr lang="ja-JP" altLang="en-US"/>
              <a:pPr/>
              <a:t>‹#›</a:t>
            </a:fld>
            <a:endParaRPr lang="ja-JP" altLang="en-US"/>
          </a:p>
        </p:txBody>
      </p:sp>
    </p:spTree>
    <p:extLst>
      <p:ext uri="{BB962C8B-B14F-4D97-AF65-F5344CB8AC3E}">
        <p14:creationId xmlns:p14="http://schemas.microsoft.com/office/powerpoint/2010/main" val="1471650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857746" y="518400"/>
            <a:ext cx="8688388" cy="395814"/>
          </a:xfrm>
          <a:prstGeom prst="rect">
            <a:avLst/>
          </a:prstGeom>
        </p:spPr>
        <p:txBody>
          <a:bodyPr vert="horz" wrap="square" lIns="0" tIns="0" rIns="0" bIns="0" rtlCol="0" anchor="t" anchorCtr="0">
            <a:spAutoFit/>
          </a:bodyPr>
          <a:lstStyle/>
          <a:p>
            <a:r>
              <a:rPr kumimoji="1" lang="ja-JP" altLang="en-US" dirty="0"/>
              <a:t>マスター タイトルの書式設定</a:t>
            </a:r>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857746" y="1224000"/>
            <a:ext cx="8688387" cy="1844608"/>
          </a:xfrm>
          <a:prstGeom prst="rect">
            <a:avLst/>
          </a:prstGeom>
        </p:spPr>
        <p:txBody>
          <a:bodyPr vert="horz" wrap="square"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object 16">
            <a:extLst>
              <a:ext uri="{FF2B5EF4-FFF2-40B4-BE49-F238E27FC236}">
                <a16:creationId xmlns:a16="http://schemas.microsoft.com/office/drawing/2014/main" id="{BEA763DE-CC2E-C9C2-0652-B818C97B8FF2}"/>
              </a:ext>
            </a:extLst>
          </p:cNvPr>
          <p:cNvSpPr txBox="1"/>
          <p:nvPr userDrawn="1"/>
        </p:nvSpPr>
        <p:spPr>
          <a:xfrm>
            <a:off x="8726862" y="161274"/>
            <a:ext cx="1008000" cy="180000"/>
          </a:xfrm>
          <a:prstGeom prst="rect">
            <a:avLst/>
          </a:prstGeom>
          <a:solidFill>
            <a:schemeClr val="bg1"/>
          </a:solidFill>
          <a:ln w="12700">
            <a:solidFill>
              <a:schemeClr val="accent1"/>
            </a:solidFill>
          </a:ln>
        </p:spPr>
        <p:txBody>
          <a:bodyPr vert="horz" wrap="square" lIns="0" tIns="0" rIns="0" bIns="0" rtlCol="0" anchor="ctr" anchorCtr="0">
            <a:noAutofit/>
          </a:bodyPr>
          <a:lstStyle/>
          <a:p>
            <a:pPr marL="6350" algn="ctr">
              <a:spcBef>
                <a:spcPts val="170"/>
              </a:spcBef>
            </a:pPr>
            <a:r>
              <a:rPr sz="900" b="1" spc="10" dirty="0">
                <a:solidFill>
                  <a:schemeClr val="accent1"/>
                </a:solidFill>
                <a:latin typeface="Bahnschrift SemiBold" panose="020B0502040204020203" pitchFamily="34" charset="0"/>
                <a:ea typeface="源真ゴシックP Bold" panose="020B0602020203020207" pitchFamily="50" charset="-128"/>
                <a:cs typeface="Neue Haas Unica Pro"/>
              </a:rPr>
              <a:t>CONFIDENTIAL</a:t>
            </a:r>
            <a:endParaRPr sz="900" dirty="0">
              <a:solidFill>
                <a:schemeClr val="accent1"/>
              </a:solidFill>
              <a:latin typeface="Bahnschrift SemiBold" panose="020B0502040204020203" pitchFamily="34" charset="0"/>
              <a:ea typeface="源真ゴシックP Bold" panose="020B0602020203020207" pitchFamily="50" charset="-128"/>
              <a:cs typeface="Neue Haas Unica Pro"/>
            </a:endParaRPr>
          </a:p>
        </p:txBody>
      </p:sp>
    </p:spTree>
    <p:extLst>
      <p:ext uri="{BB962C8B-B14F-4D97-AF65-F5344CB8AC3E}">
        <p14:creationId xmlns:p14="http://schemas.microsoft.com/office/powerpoint/2010/main" val="44489615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Lst>
  <p:txStyles>
    <p:titleStyle>
      <a:lvl1pPr algn="l" defTabSz="742950" rtl="0" eaLnBrk="1" latinLnBrk="0" hangingPunct="1">
        <a:lnSpc>
          <a:spcPct val="120000"/>
        </a:lnSpc>
        <a:spcBef>
          <a:spcPct val="0"/>
        </a:spcBef>
        <a:buNone/>
        <a:defRPr kumimoji="1" sz="2400" b="1" kern="1200">
          <a:solidFill>
            <a:schemeClr val="tx1"/>
          </a:solidFill>
          <a:latin typeface="+mj-lt"/>
          <a:ea typeface="+mj-ea"/>
          <a:cs typeface="+mj-cs"/>
        </a:defRPr>
      </a:lvl1pPr>
    </p:titleStyle>
    <p:body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144463"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2pPr>
      <a:lvl3pPr marL="434678"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3pPr>
      <a:lvl4pPr marL="652661"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4pPr>
      <a:lvl5pPr marL="878384"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857746" y="518400"/>
            <a:ext cx="8688388" cy="395814"/>
          </a:xfrm>
          <a:prstGeom prst="rect">
            <a:avLst/>
          </a:prstGeom>
        </p:spPr>
        <p:txBody>
          <a:bodyPr vert="horz" wrap="square" lIns="0" tIns="0" rIns="0" bIns="0" rtlCol="0" anchor="t" anchorCtr="0">
            <a:spAutoFit/>
          </a:bodyPr>
          <a:lstStyle/>
          <a:p>
            <a:r>
              <a:rPr lang="en-US" altLang="ja-JP" dirty="0"/>
              <a:t>Enter your title here</a:t>
            </a:r>
            <a:endParaRPr kumimoji="1" lang="ja-JP" altLang="en-US" dirty="0"/>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857746" y="1224000"/>
            <a:ext cx="8688387" cy="1844608"/>
          </a:xfrm>
          <a:prstGeom prst="rect">
            <a:avLst/>
          </a:prstGeom>
        </p:spPr>
        <p:txBody>
          <a:bodyPr vert="horz" wrap="square" lIns="0" tIns="0" rIns="0" bIns="0" rtlCol="0">
            <a:noAutofit/>
          </a:bodyPr>
          <a:lstStyle/>
          <a:p>
            <a:pPr lvl="0"/>
            <a:r>
              <a:rPr kumimoji="1" lang="en-US" altLang="ja-JP" dirty="0"/>
              <a:t>Master Text</a:t>
            </a:r>
            <a:endParaRPr kumimoji="1" lang="ja-JP" altLang="en-US" dirty="0"/>
          </a:p>
          <a:p>
            <a:pPr lvl="1"/>
            <a:r>
              <a:rPr kumimoji="1" lang="en-US" altLang="ja-JP" dirty="0"/>
              <a:t>level2</a:t>
            </a:r>
            <a:endParaRPr kumimoji="1" lang="ja-JP" altLang="en-US" dirty="0"/>
          </a:p>
          <a:p>
            <a:pPr lvl="2"/>
            <a:r>
              <a:rPr kumimoji="1" lang="en-US" altLang="ja-JP" dirty="0"/>
              <a:t>level3</a:t>
            </a:r>
            <a:endParaRPr kumimoji="1" lang="ja-JP" altLang="en-US" dirty="0"/>
          </a:p>
          <a:p>
            <a:pPr lvl="3"/>
            <a:r>
              <a:rPr kumimoji="1" lang="en-US" altLang="ja-JP" dirty="0"/>
              <a:t>level4</a:t>
            </a:r>
            <a:endParaRPr kumimoji="1" lang="ja-JP" altLang="en-US" dirty="0"/>
          </a:p>
          <a:p>
            <a:pPr lvl="4"/>
            <a:r>
              <a:rPr kumimoji="1" lang="en-US" altLang="ja-JP" dirty="0"/>
              <a:t>level5</a:t>
            </a:r>
            <a:endParaRPr kumimoji="1" lang="ja-JP" altLang="en-US" dirty="0"/>
          </a:p>
        </p:txBody>
      </p:sp>
      <p:sp>
        <p:nvSpPr>
          <p:cNvPr id="2" name="object 16">
            <a:extLst>
              <a:ext uri="{FF2B5EF4-FFF2-40B4-BE49-F238E27FC236}">
                <a16:creationId xmlns:a16="http://schemas.microsoft.com/office/drawing/2014/main" id="{4B5EA722-AF1C-846A-F793-AB3A53F5028D}"/>
              </a:ext>
            </a:extLst>
          </p:cNvPr>
          <p:cNvSpPr txBox="1"/>
          <p:nvPr userDrawn="1"/>
        </p:nvSpPr>
        <p:spPr>
          <a:xfrm>
            <a:off x="8726862" y="161274"/>
            <a:ext cx="1008000" cy="180000"/>
          </a:xfrm>
          <a:prstGeom prst="rect">
            <a:avLst/>
          </a:prstGeom>
          <a:solidFill>
            <a:schemeClr val="bg1"/>
          </a:solidFill>
          <a:ln w="12700">
            <a:solidFill>
              <a:schemeClr val="accent1"/>
            </a:solidFill>
          </a:ln>
        </p:spPr>
        <p:txBody>
          <a:bodyPr vert="horz" wrap="square" lIns="0" tIns="0" rIns="0" bIns="0" rtlCol="0" anchor="ctr" anchorCtr="0">
            <a:noAutofit/>
          </a:bodyPr>
          <a:lstStyle/>
          <a:p>
            <a:pPr marL="6350" algn="ctr">
              <a:spcBef>
                <a:spcPts val="170"/>
              </a:spcBef>
            </a:pPr>
            <a:r>
              <a:rPr sz="900" b="1" spc="10" dirty="0">
                <a:solidFill>
                  <a:schemeClr val="accent1"/>
                </a:solidFill>
                <a:latin typeface="Bahnschrift SemiBold" panose="020B0502040204020203" pitchFamily="34" charset="0"/>
                <a:ea typeface="源真ゴシックP Bold" panose="020B0602020203020207" pitchFamily="50" charset="-128"/>
                <a:cs typeface="Neue Haas Unica Pro"/>
              </a:rPr>
              <a:t>CONFIDENTIAL</a:t>
            </a:r>
            <a:endParaRPr sz="900" dirty="0">
              <a:solidFill>
                <a:schemeClr val="accent1"/>
              </a:solidFill>
              <a:latin typeface="Bahnschrift SemiBold" panose="020B0502040204020203" pitchFamily="34" charset="0"/>
              <a:ea typeface="源真ゴシックP Bold" panose="020B0602020203020207" pitchFamily="50" charset="-128"/>
              <a:cs typeface="Neue Haas Unica Pro"/>
            </a:endParaRPr>
          </a:p>
        </p:txBody>
      </p:sp>
    </p:spTree>
    <p:extLst>
      <p:ext uri="{BB962C8B-B14F-4D97-AF65-F5344CB8AC3E}">
        <p14:creationId xmlns:p14="http://schemas.microsoft.com/office/powerpoint/2010/main" val="226645469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txStyles>
    <p:titleStyle>
      <a:lvl1pPr algn="l" defTabSz="742950" rtl="0" eaLnBrk="1" latinLnBrk="0" hangingPunct="1">
        <a:lnSpc>
          <a:spcPct val="120000"/>
        </a:lnSpc>
        <a:spcBef>
          <a:spcPct val="0"/>
        </a:spcBef>
        <a:buNone/>
        <a:defRPr kumimoji="1" sz="2400" b="0" kern="1200">
          <a:solidFill>
            <a:schemeClr val="tx1"/>
          </a:solidFill>
          <a:latin typeface="+mj-lt"/>
          <a:ea typeface="+mj-ea"/>
          <a:cs typeface="+mj-cs"/>
        </a:defRPr>
      </a:lvl1pPr>
    </p:titleStyle>
    <p:body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1pPr>
      <a:lvl2pPr marL="144463"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2pPr>
      <a:lvl3pPr marL="434678"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3pPr>
      <a:lvl4pPr marL="652661"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4pPr>
      <a:lvl5pPr marL="878384"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857746" y="518400"/>
            <a:ext cx="8688388" cy="395814"/>
          </a:xfrm>
          <a:prstGeom prst="rect">
            <a:avLst/>
          </a:prstGeom>
        </p:spPr>
        <p:txBody>
          <a:bodyPr vert="horz" wrap="square" lIns="0" tIns="0" rIns="0" bIns="0" rtlCol="0" anchor="t" anchorCtr="0">
            <a:spAutoFit/>
          </a:bodyPr>
          <a:lstStyle/>
          <a:p>
            <a:r>
              <a:rPr lang="en-US" altLang="ja-JP" dirty="0"/>
              <a:t>Enter your title here</a:t>
            </a:r>
            <a:endParaRPr kumimoji="1" lang="ja-JP" altLang="en-US" dirty="0"/>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857746" y="1224000"/>
            <a:ext cx="8688387" cy="1844608"/>
          </a:xfrm>
          <a:prstGeom prst="rect">
            <a:avLst/>
          </a:prstGeom>
        </p:spPr>
        <p:txBody>
          <a:bodyPr vert="horz" wrap="square" lIns="0" tIns="0" rIns="0" bIns="0" rtlCol="0">
            <a:noAutofit/>
          </a:bodyPr>
          <a:lstStyle/>
          <a:p>
            <a:pPr lvl="0"/>
            <a:r>
              <a:rPr kumimoji="1" lang="en-US" altLang="ja-JP" dirty="0"/>
              <a:t>Master Text</a:t>
            </a:r>
            <a:endParaRPr kumimoji="1" lang="ja-JP" altLang="en-US" dirty="0"/>
          </a:p>
          <a:p>
            <a:pPr lvl="1"/>
            <a:r>
              <a:rPr kumimoji="1" lang="en-US" altLang="ja-JP" dirty="0"/>
              <a:t>level2</a:t>
            </a:r>
            <a:endParaRPr kumimoji="1" lang="ja-JP" altLang="en-US" dirty="0"/>
          </a:p>
          <a:p>
            <a:pPr lvl="2"/>
            <a:r>
              <a:rPr kumimoji="1" lang="en-US" altLang="ja-JP" dirty="0"/>
              <a:t>level3</a:t>
            </a:r>
            <a:endParaRPr kumimoji="1" lang="ja-JP" altLang="en-US" dirty="0"/>
          </a:p>
          <a:p>
            <a:pPr lvl="3"/>
            <a:r>
              <a:rPr kumimoji="1" lang="en-US" altLang="ja-JP" dirty="0"/>
              <a:t>level4</a:t>
            </a:r>
            <a:endParaRPr kumimoji="1" lang="ja-JP" altLang="en-US" dirty="0"/>
          </a:p>
          <a:p>
            <a:pPr lvl="4"/>
            <a:r>
              <a:rPr kumimoji="1" lang="en-US" altLang="ja-JP" dirty="0"/>
              <a:t>level5</a:t>
            </a:r>
            <a:endParaRPr kumimoji="1" lang="ja-JP" altLang="en-US" dirty="0"/>
          </a:p>
        </p:txBody>
      </p:sp>
      <p:sp>
        <p:nvSpPr>
          <p:cNvPr id="2" name="object 16">
            <a:extLst>
              <a:ext uri="{FF2B5EF4-FFF2-40B4-BE49-F238E27FC236}">
                <a16:creationId xmlns:a16="http://schemas.microsoft.com/office/drawing/2014/main" id="{4B5EA722-AF1C-846A-F793-AB3A53F5028D}"/>
              </a:ext>
            </a:extLst>
          </p:cNvPr>
          <p:cNvSpPr txBox="1"/>
          <p:nvPr userDrawn="1"/>
        </p:nvSpPr>
        <p:spPr>
          <a:xfrm>
            <a:off x="8726862" y="161274"/>
            <a:ext cx="1008000" cy="180000"/>
          </a:xfrm>
          <a:prstGeom prst="rect">
            <a:avLst/>
          </a:prstGeom>
          <a:solidFill>
            <a:schemeClr val="bg1"/>
          </a:solidFill>
          <a:ln w="12700">
            <a:solidFill>
              <a:schemeClr val="accent1"/>
            </a:solidFill>
          </a:ln>
        </p:spPr>
        <p:txBody>
          <a:bodyPr vert="horz" wrap="square" lIns="0" tIns="0" rIns="0" bIns="0" rtlCol="0" anchor="ctr" anchorCtr="0">
            <a:noAutofit/>
          </a:bodyPr>
          <a:lstStyle/>
          <a:p>
            <a:pPr marL="6350" algn="ctr">
              <a:spcBef>
                <a:spcPts val="170"/>
              </a:spcBef>
            </a:pPr>
            <a:r>
              <a:rPr sz="900" b="1" spc="10" dirty="0">
                <a:solidFill>
                  <a:schemeClr val="accent1"/>
                </a:solidFill>
                <a:latin typeface="Bahnschrift SemiBold" panose="020B0502040204020203" pitchFamily="34" charset="0"/>
                <a:ea typeface="源真ゴシックP Bold" panose="020B0602020203020207" pitchFamily="50" charset="-128"/>
                <a:cs typeface="Neue Haas Unica Pro"/>
              </a:rPr>
              <a:t>CONFIDENTIAL</a:t>
            </a:r>
            <a:endParaRPr sz="900" dirty="0">
              <a:solidFill>
                <a:schemeClr val="accent1"/>
              </a:solidFill>
              <a:latin typeface="Bahnschrift SemiBold" panose="020B0502040204020203" pitchFamily="34" charset="0"/>
              <a:ea typeface="源真ゴシックP Bold" panose="020B0602020203020207" pitchFamily="50" charset="-128"/>
              <a:cs typeface="Neue Haas Unica Pro"/>
            </a:endParaRPr>
          </a:p>
        </p:txBody>
      </p:sp>
    </p:spTree>
    <p:extLst>
      <p:ext uri="{BB962C8B-B14F-4D97-AF65-F5344CB8AC3E}">
        <p14:creationId xmlns:p14="http://schemas.microsoft.com/office/powerpoint/2010/main" val="128085828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Lst>
  <p:txStyles>
    <p:titleStyle>
      <a:lvl1pPr algn="l" defTabSz="742950" rtl="0" eaLnBrk="1" latinLnBrk="0" hangingPunct="1">
        <a:lnSpc>
          <a:spcPct val="120000"/>
        </a:lnSpc>
        <a:spcBef>
          <a:spcPct val="0"/>
        </a:spcBef>
        <a:buNone/>
        <a:defRPr kumimoji="1" sz="2400" b="0" kern="1200">
          <a:solidFill>
            <a:schemeClr val="tx1"/>
          </a:solidFill>
          <a:latin typeface="+mj-lt"/>
          <a:ea typeface="+mj-ea"/>
          <a:cs typeface="+mj-cs"/>
        </a:defRPr>
      </a:lvl1pPr>
    </p:titleStyle>
    <p:body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1pPr>
      <a:lvl2pPr marL="144463"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2pPr>
      <a:lvl3pPr marL="434678"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3pPr>
      <a:lvl4pPr marL="652661"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4pPr>
      <a:lvl5pPr marL="878384" indent="0" algn="l" defTabSz="742950" rtl="0" eaLnBrk="1" latinLnBrk="0" hangingPunct="1">
        <a:lnSpc>
          <a:spcPct val="120000"/>
        </a:lnSpc>
        <a:spcBef>
          <a:spcPts val="0"/>
        </a:spcBef>
        <a:spcAft>
          <a:spcPts val="300"/>
        </a:spcAft>
        <a:buFontTx/>
        <a:buNone/>
        <a:defRPr kumimoji="1" sz="1600" b="0" kern="1200">
          <a:solidFill>
            <a:schemeClr val="tx1"/>
          </a:solidFill>
          <a:latin typeface="+mn-ea"/>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2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2.tif"/><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60.png"/><Relationship Id="rId7" Type="http://schemas.openxmlformats.org/officeDocument/2006/relationships/image" Target="../media/image200.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s>
</file>

<file path=ppt/slides/_rels/slide2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261.png"/><Relationship Id="rId4" Type="http://schemas.openxmlformats.org/officeDocument/2006/relationships/image" Target="../media/image25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0.png"/><Relationship Id="rId7" Type="http://schemas.openxmlformats.org/officeDocument/2006/relationships/image" Target="../media/image260.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2" name="タイトル 1">
            <a:extLst>
              <a:ext uri="{FF2B5EF4-FFF2-40B4-BE49-F238E27FC236}">
                <a16:creationId xmlns:a16="http://schemas.microsoft.com/office/drawing/2014/main" id="{40004D01-97F1-C3CD-E526-8DCFB9CF54C4}"/>
              </a:ext>
            </a:extLst>
          </p:cNvPr>
          <p:cNvSpPr>
            <a:spLocks noGrp="1"/>
          </p:cNvSpPr>
          <p:nvPr>
            <p:ph type="title"/>
          </p:nvPr>
        </p:nvSpPr>
        <p:spPr>
          <a:xfrm>
            <a:off x="713985" y="1949042"/>
            <a:ext cx="8906004" cy="1204945"/>
          </a:xfrm>
        </p:spPr>
        <p:txBody>
          <a:bodyPr/>
          <a:lstStyle/>
          <a:p>
            <a:r>
              <a:rPr lang="ja-JP" altLang="en-US" sz="3600" kern="100" spc="-1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データ駆動型音響診断を基盤とした</a:t>
            </a:r>
            <a:br>
              <a:rPr lang="en-US" altLang="ja-JP" sz="3600" kern="100" spc="-10" dirty="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br>
            <a:r>
              <a:rPr lang="en" altLang="ja-JP" sz="3600" kern="100" spc="-10" dirty="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Na</a:t>
            </a:r>
            <a:r>
              <a:rPr lang="ja-JP" altLang="en-US" sz="3600" kern="100" spc="-1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冷却高速炉の炉内異常の早期検知の検討</a:t>
            </a:r>
            <a:endParaRPr lang="ja-JP" altLang="en-US" sz="3600" b="1" dirty="0">
              <a:solidFill>
                <a:srgbClr val="25140F"/>
              </a:solidFill>
              <a:latin typeface="Arial" panose="020B0604020202020204" pitchFamily="34" charset="0"/>
              <a:ea typeface="メイリオ" panose="020B0604030504040204" pitchFamily="50" charset="-128"/>
              <a:cs typeface="Arial" panose="020B0604020202020204" pitchFamily="34" charset="0"/>
            </a:endParaRPr>
          </a:p>
        </p:txBody>
      </p:sp>
      <p:sp>
        <p:nvSpPr>
          <p:cNvPr id="8" name="正方形/長方形 7">
            <a:extLst>
              <a:ext uri="{FF2B5EF4-FFF2-40B4-BE49-F238E27FC236}">
                <a16:creationId xmlns:a16="http://schemas.microsoft.com/office/drawing/2014/main" id="{08D17A85-B784-0600-ABD7-02BAE5F92163}"/>
              </a:ext>
            </a:extLst>
          </p:cNvPr>
          <p:cNvSpPr/>
          <p:nvPr/>
        </p:nvSpPr>
        <p:spPr>
          <a:xfrm>
            <a:off x="8616875" y="89005"/>
            <a:ext cx="1172879" cy="3599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ahnschrift"/>
              <a:cs typeface="+mn-cs"/>
            </a:endParaRPr>
          </a:p>
        </p:txBody>
      </p:sp>
      <p:sp>
        <p:nvSpPr>
          <p:cNvPr id="11" name="字幕 2">
            <a:extLst>
              <a:ext uri="{FF2B5EF4-FFF2-40B4-BE49-F238E27FC236}">
                <a16:creationId xmlns:a16="http://schemas.microsoft.com/office/drawing/2014/main" id="{63B7426B-2DDC-C7BC-EA96-4CF2D04D9712}"/>
              </a:ext>
            </a:extLst>
          </p:cNvPr>
          <p:cNvSpPr txBox="1">
            <a:spLocks/>
          </p:cNvSpPr>
          <p:nvPr/>
        </p:nvSpPr>
        <p:spPr>
          <a:xfrm>
            <a:off x="2518738" y="5237965"/>
            <a:ext cx="7314973" cy="1015663"/>
          </a:xfrm>
          <a:prstGeom prst="rect">
            <a:avLst/>
          </a:prstGeom>
        </p:spPr>
        <p:txBody>
          <a:bodyPr vert="horz" wrap="square" lIns="0" tIns="0" rIns="0" bIns="0" rtlCol="0" anchor="ctr" anchorCtr="0">
            <a:sp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eiryo" panose="020B0604030504040204" pitchFamily="34" charset="-128"/>
                <a:ea typeface="Meiryo" panose="020B0604030504040204" pitchFamily="34" charset="-128"/>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eiryo" panose="020B0604030504040204" pitchFamily="34" charset="-128"/>
                <a:ea typeface="Meiryo" panose="020B0604030504040204" pitchFamily="34" charset="-128"/>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eiryo" panose="020B0604030504040204" pitchFamily="34" charset="-128"/>
                <a:ea typeface="Meiryo" panose="020B0604030504040204" pitchFamily="34" charset="-128"/>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eiryo" panose="020B0604030504040204" pitchFamily="34" charset="-128"/>
                <a:ea typeface="Meiryo" panose="020B0604030504040204" pitchFamily="34" charset="-128"/>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eiryo" panose="020B0604030504040204" pitchFamily="34" charset="-128"/>
                <a:ea typeface="Meiryo" panose="020B0604030504040204" pitchFamily="34"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lnSpc>
                <a:spcPct val="100000"/>
              </a:lnSpc>
              <a:spcBef>
                <a:spcPts val="0"/>
              </a:spcBef>
              <a:spcAft>
                <a:spcPts val="1200"/>
              </a:spcAft>
              <a:defRPr/>
            </a:pPr>
            <a:r>
              <a:rPr kumimoji="1" lang="ja-JP" altLang="en-US" sz="2800" b="0" i="0" u="none" strike="noStrike" kern="1200" cap="none" spc="0" normalizeH="0" baseline="0" noProof="0">
                <a:ln>
                  <a:noFill/>
                </a:ln>
                <a:solidFill>
                  <a:srgbClr val="25140F"/>
                </a:solidFill>
                <a:effectLst/>
                <a:uLnTx/>
                <a:uFillTx/>
              </a:rPr>
              <a:t>柴崎</a:t>
            </a:r>
            <a:r>
              <a:rPr kumimoji="1" lang="en-US" altLang="ja-JP" sz="2800" b="0" i="0" u="none" strike="noStrike" kern="1200" cap="none" spc="0" normalizeH="0" baseline="0" noProof="0" dirty="0">
                <a:ln>
                  <a:noFill/>
                </a:ln>
                <a:solidFill>
                  <a:srgbClr val="25140F"/>
                </a:solidFill>
                <a:effectLst/>
                <a:uLnTx/>
                <a:uFillTx/>
              </a:rPr>
              <a:t> </a:t>
            </a:r>
            <a:r>
              <a:rPr kumimoji="1" lang="ja-JP" altLang="en-US" sz="2800" b="0" i="0" u="none" strike="noStrike" kern="1200" cap="none" spc="0" normalizeH="0" baseline="0" noProof="0">
                <a:ln>
                  <a:noFill/>
                </a:ln>
                <a:solidFill>
                  <a:srgbClr val="25140F"/>
                </a:solidFill>
                <a:effectLst/>
                <a:uLnTx/>
                <a:uFillTx/>
              </a:rPr>
              <a:t>陸，植木 祥高（東京理科大</a:t>
            </a:r>
            <a:r>
              <a:rPr lang="ja-JP" altLang="en-US" sz="2800">
                <a:solidFill>
                  <a:srgbClr val="25140F"/>
                </a:solidFill>
              </a:rPr>
              <a:t>）</a:t>
            </a:r>
            <a:endParaRPr lang="en-US" altLang="ja-JP" sz="2800" dirty="0">
              <a:solidFill>
                <a:srgbClr val="25140F"/>
              </a:solidFill>
            </a:endParaRPr>
          </a:p>
          <a:p>
            <a:pPr algn="l">
              <a:lnSpc>
                <a:spcPct val="100000"/>
              </a:lnSpc>
              <a:spcBef>
                <a:spcPts val="0"/>
              </a:spcBef>
              <a:spcAft>
                <a:spcPts val="1200"/>
              </a:spcAft>
              <a:defRPr/>
            </a:pPr>
            <a:r>
              <a:rPr kumimoji="1" lang="ja-JP" altLang="en-US" sz="2800" b="0" i="0" u="none" strike="noStrike" kern="1200" cap="none" spc="0" normalizeH="0" baseline="0" noProof="0">
                <a:ln>
                  <a:noFill/>
                </a:ln>
                <a:solidFill>
                  <a:srgbClr val="25140F"/>
                </a:solidFill>
                <a:effectLst/>
                <a:uLnTx/>
                <a:uFillTx/>
              </a:rPr>
              <a:t>相澤</a:t>
            </a:r>
            <a:r>
              <a:rPr kumimoji="1" lang="en-US" altLang="ja-JP" sz="2800" b="0" i="0" u="none" strike="noStrike" kern="1200" cap="none" spc="0" normalizeH="0" baseline="0" noProof="0" dirty="0">
                <a:ln>
                  <a:noFill/>
                </a:ln>
                <a:solidFill>
                  <a:srgbClr val="25140F"/>
                </a:solidFill>
                <a:effectLst/>
                <a:uLnTx/>
                <a:uFillTx/>
              </a:rPr>
              <a:t> </a:t>
            </a:r>
            <a:r>
              <a:rPr lang="ja-JP" altLang="en-US" sz="2800">
                <a:solidFill>
                  <a:srgbClr val="25140F"/>
                </a:solidFill>
              </a:rPr>
              <a:t>康介</a:t>
            </a:r>
            <a:r>
              <a:rPr kumimoji="1" lang="ja-JP" altLang="en-US" sz="2800" b="0" i="0" u="none" strike="noStrike" kern="1200" cap="none" spc="0" normalizeH="0" baseline="0" noProof="0">
                <a:ln>
                  <a:noFill/>
                </a:ln>
                <a:solidFill>
                  <a:srgbClr val="25140F"/>
                </a:solidFill>
                <a:effectLst/>
                <a:uLnTx/>
                <a:uFillTx/>
              </a:rPr>
              <a:t>（</a:t>
            </a:r>
            <a:r>
              <a:rPr lang="en-US" altLang="ja-JP" sz="2800" dirty="0">
                <a:solidFill>
                  <a:srgbClr val="25140F"/>
                </a:solidFill>
              </a:rPr>
              <a:t>JAEA</a:t>
            </a:r>
            <a:r>
              <a:rPr lang="ja-JP" altLang="en-US" sz="2800">
                <a:solidFill>
                  <a:srgbClr val="25140F"/>
                </a:solidFill>
              </a:rPr>
              <a:t>）</a:t>
            </a:r>
            <a:endParaRPr lang="en-US" altLang="ja-JP" sz="2800" dirty="0">
              <a:solidFill>
                <a:srgbClr val="25140F"/>
              </a:solidFill>
            </a:endParaRPr>
          </a:p>
        </p:txBody>
      </p:sp>
      <p:sp>
        <p:nvSpPr>
          <p:cNvPr id="12" name="テキスト ボックス 11">
            <a:extLst>
              <a:ext uri="{FF2B5EF4-FFF2-40B4-BE49-F238E27FC236}">
                <a16:creationId xmlns:a16="http://schemas.microsoft.com/office/drawing/2014/main" id="{A499E79D-037C-81BB-B615-6ABD34781E7D}"/>
              </a:ext>
            </a:extLst>
          </p:cNvPr>
          <p:cNvSpPr txBox="1"/>
          <p:nvPr/>
        </p:nvSpPr>
        <p:spPr>
          <a:xfrm>
            <a:off x="2264097" y="218974"/>
            <a:ext cx="7133771"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ja-JP" altLang="en-US">
                <a:solidFill>
                  <a:srgbClr val="3C3C3C"/>
                </a:solidFill>
                <a:latin typeface="Meiryo" panose="020B0604030504040204" pitchFamily="34" charset="-128"/>
                <a:ea typeface="Meiryo" panose="020B0604030504040204" pitchFamily="34" charset="-128"/>
              </a:rPr>
              <a:t>日本原子力学会</a:t>
            </a:r>
            <a:r>
              <a:rPr lang="en-US" altLang="ja-JP" dirty="0">
                <a:solidFill>
                  <a:srgbClr val="3C3C3C"/>
                </a:solidFill>
                <a:latin typeface="Meiryo" panose="020B0604030504040204" pitchFamily="34" charset="-128"/>
                <a:ea typeface="Meiryo" panose="020B0604030504040204" pitchFamily="34" charset="-128"/>
              </a:rPr>
              <a:t> 2025</a:t>
            </a:r>
            <a:r>
              <a:rPr lang="ja-JP" altLang="en-US">
                <a:solidFill>
                  <a:srgbClr val="3C3C3C"/>
                </a:solidFill>
                <a:latin typeface="Meiryo" panose="020B0604030504040204" pitchFamily="34" charset="-128"/>
                <a:ea typeface="Meiryo" panose="020B0604030504040204" pitchFamily="34" charset="-128"/>
              </a:rPr>
              <a:t>年春の年会</a:t>
            </a:r>
            <a:r>
              <a:rPr lang="en-US" altLang="ja-JP" dirty="0">
                <a:solidFill>
                  <a:srgbClr val="3C3C3C"/>
                </a:solidFill>
                <a:latin typeface="Meiryo" panose="020B0604030504040204" pitchFamily="34" charset="-128"/>
                <a:ea typeface="Meiryo" panose="020B0604030504040204" pitchFamily="34" charset="-128"/>
              </a:rPr>
              <a:t> </a:t>
            </a:r>
          </a:p>
          <a:p>
            <a:pPr marL="0" marR="0" lvl="0" indent="0" algn="r" defTabSz="914400" rtl="0" eaLnBrk="1" fontAlgn="auto" latinLnBrk="0" hangingPunct="1">
              <a:lnSpc>
                <a:spcPct val="100000"/>
              </a:lnSpc>
              <a:spcBef>
                <a:spcPts val="0"/>
              </a:spcBef>
              <a:spcAft>
                <a:spcPts val="0"/>
              </a:spcAft>
              <a:buClrTx/>
              <a:buSzTx/>
              <a:buFontTx/>
              <a:buNone/>
              <a:tabLst/>
              <a:defRPr/>
            </a:pPr>
            <a:r>
              <a:rPr lang="en-US" i="0" dirty="0">
                <a:solidFill>
                  <a:srgbClr val="2B2B2B"/>
                </a:solidFill>
                <a:effectLst/>
                <a:latin typeface="Meiryo" panose="020B0604030504040204" pitchFamily="34" charset="-128"/>
                <a:ea typeface="Meiryo" panose="020B0604030504040204" pitchFamily="34" charset="-128"/>
              </a:rPr>
              <a:t>3D02</a:t>
            </a:r>
            <a:endParaRPr kumimoji="1" lang="ja-JP" altLang="en-US" sz="1800" i="0" u="none" strike="noStrike" kern="1200" cap="none" spc="0" normalizeH="0" baseline="0" noProof="0" dirty="0">
              <a:ln>
                <a:noFill/>
              </a:ln>
              <a:solidFill>
                <a:srgbClr val="3C3C3C"/>
              </a:solidFill>
              <a:effectLst/>
              <a:uLnTx/>
              <a:uFillTx/>
              <a:latin typeface="Meiryo" panose="020B0604030504040204" pitchFamily="34" charset="-128"/>
              <a:ea typeface="Meiryo" panose="020B0604030504040204" pitchFamily="34" charset="-128"/>
            </a:endParaRPr>
          </a:p>
        </p:txBody>
      </p:sp>
      <p:sp>
        <p:nvSpPr>
          <p:cNvPr id="3" name="タイトル 1">
            <a:extLst>
              <a:ext uri="{FF2B5EF4-FFF2-40B4-BE49-F238E27FC236}">
                <a16:creationId xmlns:a16="http://schemas.microsoft.com/office/drawing/2014/main" id="{B4D21DFA-45E1-8E64-1571-297C5F698D82}"/>
              </a:ext>
            </a:extLst>
          </p:cNvPr>
          <p:cNvSpPr txBox="1">
            <a:spLocks/>
          </p:cNvSpPr>
          <p:nvPr/>
        </p:nvSpPr>
        <p:spPr>
          <a:xfrm>
            <a:off x="713985" y="3436634"/>
            <a:ext cx="8906004" cy="595548"/>
          </a:xfrm>
          <a:prstGeom prst="rect">
            <a:avLst/>
          </a:prstGeom>
        </p:spPr>
        <p:txBody>
          <a:bodyPr vert="horz" wrap="square" lIns="0" tIns="0" rIns="0" bIns="0" rtlCol="0" anchor="t" anchorCtr="0">
            <a:spAutoFit/>
          </a:bodyPr>
          <a:lstStyle>
            <a:lvl1pPr algn="l" defTabSz="742950" rtl="0" eaLnBrk="1" latinLnBrk="0" hangingPunct="1">
              <a:lnSpc>
                <a:spcPct val="110000"/>
              </a:lnSpc>
              <a:spcBef>
                <a:spcPts val="0"/>
              </a:spcBef>
              <a:buNone/>
              <a:defRPr kumimoji="1" sz="4000" b="0" kern="1200">
                <a:solidFill>
                  <a:schemeClr val="tx1"/>
                </a:solidFill>
                <a:latin typeface="+mj-lt"/>
                <a:ea typeface="+mj-ea"/>
                <a:cs typeface="+mj-cs"/>
              </a:defRPr>
            </a:lvl1pPr>
          </a:lstStyle>
          <a:p>
            <a:r>
              <a:rPr lang="en-US" altLang="ja-JP" sz="3600" kern="100" spc="-10" dirty="0">
                <a:solidFill>
                  <a:srgbClr val="25140F"/>
                </a:solidFill>
                <a:latin typeface="Meiryo" panose="020B0604030504040204" pitchFamily="34" charset="-128"/>
                <a:ea typeface="Meiryo" panose="020B0604030504040204" pitchFamily="34" charset="-128"/>
                <a:cs typeface="Times New Roman" panose="02020603050405020304" pitchFamily="18" charset="0"/>
              </a:rPr>
              <a:t>(2) </a:t>
            </a:r>
            <a:r>
              <a:rPr lang="ja-JP" altLang="en-US" sz="3600" kern="100" spc="-10">
                <a:solidFill>
                  <a:srgbClr val="25140F"/>
                </a:solidFill>
                <a:latin typeface="Meiryo" panose="020B0604030504040204" pitchFamily="34" charset="-128"/>
                <a:ea typeface="Meiryo" panose="020B0604030504040204" pitchFamily="34" charset="-128"/>
                <a:cs typeface="Times New Roman" panose="02020603050405020304" pitchFamily="18" charset="0"/>
              </a:rPr>
              <a:t>沸騰検知技術の検討</a:t>
            </a:r>
            <a:endParaRPr lang="ja-JP" altLang="en-US" sz="3600" b="1" dirty="0">
              <a:solidFill>
                <a:srgbClr val="25140F"/>
              </a:solidFill>
              <a:latin typeface="Arial" panose="020B0604020202020204" pitchFamily="34" charset="0"/>
              <a:ea typeface="メイリオ" panose="020B0604030504040204" pitchFamily="50" charset="-128"/>
              <a:cs typeface="Arial" panose="020B0604020202020204" pitchFamily="34" charset="0"/>
            </a:endParaRPr>
          </a:p>
        </p:txBody>
      </p:sp>
    </p:spTree>
    <p:extLst>
      <p:ext uri="{BB962C8B-B14F-4D97-AF65-F5344CB8AC3E}">
        <p14:creationId xmlns:p14="http://schemas.microsoft.com/office/powerpoint/2010/main" val="1232625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EE93698-2AD1-819F-EEC7-6C875CBE3BE7}"/>
              </a:ext>
            </a:extLst>
          </p:cNvPr>
          <p:cNvSpPr>
            <a:spLocks noGrp="1"/>
          </p:cNvSpPr>
          <p:nvPr>
            <p:ph type="title"/>
          </p:nvPr>
        </p:nvSpPr>
        <p:spPr>
          <a:xfrm>
            <a:off x="857746" y="410449"/>
            <a:ext cx="8658001" cy="424732"/>
          </a:xfrm>
        </p:spPr>
        <p:txBody>
          <a:bodyPr>
            <a:normAutofit/>
          </a:bodyPr>
          <a:lstStyle/>
          <a:p>
            <a:r>
              <a:rPr kumimoji="1" lang="ja-JP" altLang="en-US">
                <a:solidFill>
                  <a:schemeClr val="tx1"/>
                </a:solidFill>
                <a:latin typeface="Meiryo" panose="020B0604030504040204" pitchFamily="34" charset="-128"/>
                <a:ea typeface="Meiryo" panose="020B0604030504040204" pitchFamily="34" charset="-128"/>
              </a:rPr>
              <a:t>研究目標・発表内容</a:t>
            </a:r>
            <a:endParaRPr kumimoji="1" lang="ja-JP" altLang="en-US" dirty="0">
              <a:solidFill>
                <a:schemeClr val="tx1"/>
              </a:solidFill>
              <a:latin typeface="Meiryo" panose="020B0604030504040204" pitchFamily="34" charset="-128"/>
              <a:ea typeface="Meiryo" panose="020B0604030504040204" pitchFamily="34" charset="-128"/>
            </a:endParaRPr>
          </a:p>
        </p:txBody>
      </p:sp>
      <p:sp>
        <p:nvSpPr>
          <p:cNvPr id="2" name="Rectangle 1">
            <a:extLst>
              <a:ext uri="{FF2B5EF4-FFF2-40B4-BE49-F238E27FC236}">
                <a16:creationId xmlns:a16="http://schemas.microsoft.com/office/drawing/2014/main" id="{4734FD9A-26D9-1746-F58A-7F8BDC951EA6}"/>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タイトル 3">
            <a:extLst>
              <a:ext uri="{FF2B5EF4-FFF2-40B4-BE49-F238E27FC236}">
                <a16:creationId xmlns:a16="http://schemas.microsoft.com/office/drawing/2014/main" id="{53595907-B9C6-C93D-69D1-161514F227D6}"/>
              </a:ext>
            </a:extLst>
          </p:cNvPr>
          <p:cNvSpPr txBox="1">
            <a:spLocks/>
          </p:cNvSpPr>
          <p:nvPr/>
        </p:nvSpPr>
        <p:spPr>
          <a:xfrm>
            <a:off x="489612" y="1050238"/>
            <a:ext cx="8658001" cy="424732"/>
          </a:xfrm>
          <a:prstGeom prst="rect">
            <a:avLst/>
          </a:prstGeom>
        </p:spPr>
        <p:txBody>
          <a:bodyPr vert="horz" lIns="91440" tIns="45720" rIns="91440" bIns="45720" rtlCol="0" anchor="ctr">
            <a:normAutofit fontScale="97500"/>
          </a:bodyPr>
          <a:lstStyle>
            <a:lvl1pPr algn="l" defTabSz="742950" rtl="0" eaLnBrk="1" latinLnBrk="0" hangingPunct="1">
              <a:lnSpc>
                <a:spcPct val="90000"/>
              </a:lnSpc>
              <a:spcBef>
                <a:spcPct val="0"/>
              </a:spcBef>
              <a:buNone/>
              <a:defRPr sz="2400" kern="1200">
                <a:solidFill>
                  <a:schemeClr val="tx2"/>
                </a:solidFill>
                <a:latin typeface="+mj-lt"/>
                <a:ea typeface="+mj-ea"/>
                <a:cs typeface="+mj-cs"/>
              </a:defRPr>
            </a:lvl1pPr>
          </a:lstStyle>
          <a:p>
            <a:r>
              <a:rPr kumimoji="1" lang="en-US" altLang="ja-JP" dirty="0">
                <a:solidFill>
                  <a:schemeClr val="tx1"/>
                </a:solidFill>
                <a:latin typeface="Meiryo" panose="020B0604030504040204" pitchFamily="34" charset="-128"/>
                <a:ea typeface="Meiryo" panose="020B0604030504040204" pitchFamily="34" charset="-128"/>
              </a:rPr>
              <a:t>【</a:t>
            </a:r>
            <a:r>
              <a:rPr kumimoji="1" lang="ja-JP" altLang="en-US" dirty="0">
                <a:solidFill>
                  <a:schemeClr val="tx1"/>
                </a:solidFill>
                <a:latin typeface="Meiryo" panose="020B0604030504040204" pitchFamily="34" charset="-128"/>
                <a:ea typeface="Meiryo" panose="020B0604030504040204" pitchFamily="34" charset="-128"/>
              </a:rPr>
              <a:t>目標</a:t>
            </a:r>
            <a:r>
              <a:rPr kumimoji="1" lang="en-US" altLang="ja-JP" dirty="0">
                <a:solidFill>
                  <a:schemeClr val="tx1"/>
                </a:solidFill>
                <a:latin typeface="Meiryo" panose="020B0604030504040204" pitchFamily="34" charset="-128"/>
                <a:ea typeface="Meiryo" panose="020B0604030504040204" pitchFamily="34" charset="-128"/>
              </a:rPr>
              <a:t>】</a:t>
            </a:r>
            <a:r>
              <a:rPr kumimoji="1" lang="ja-JP" altLang="en-US" dirty="0">
                <a:solidFill>
                  <a:schemeClr val="tx1"/>
                </a:solidFill>
                <a:latin typeface="Meiryo" panose="020B0604030504040204" pitchFamily="34" charset="-128"/>
                <a:ea typeface="Meiryo" panose="020B0604030504040204" pitchFamily="34" charset="-128"/>
              </a:rPr>
              <a:t>　</a:t>
            </a:r>
            <a:endParaRPr kumimoji="1" lang="en-US" altLang="ja-JP" dirty="0">
              <a:solidFill>
                <a:schemeClr val="tx1"/>
              </a:solidFill>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5A9A385E-A286-9440-DEFE-923DE73BDE43}"/>
              </a:ext>
            </a:extLst>
          </p:cNvPr>
          <p:cNvSpPr txBox="1"/>
          <p:nvPr/>
        </p:nvSpPr>
        <p:spPr>
          <a:xfrm>
            <a:off x="623999" y="1513898"/>
            <a:ext cx="8658001" cy="1569660"/>
          </a:xfrm>
          <a:prstGeom prst="rect">
            <a:avLst/>
          </a:prstGeom>
          <a:noFill/>
        </p:spPr>
        <p:txBody>
          <a:bodyPr wrap="square">
            <a:spAutoFit/>
          </a:bodyPr>
          <a:lstStyle/>
          <a:p>
            <a:pPr algn="ctr"/>
            <a:r>
              <a:rPr lang="en-JP" sz="2000" dirty="0">
                <a:latin typeface="Meiryo" panose="020B0604030504040204" pitchFamily="34" charset="-128"/>
                <a:ea typeface="Meiryo" panose="020B0604030504040204" pitchFamily="34" charset="-128"/>
              </a:rPr>
              <a:t>本シリーズ報告（１）で示した</a:t>
            </a:r>
            <a:r>
              <a:rPr lang="en-JP" sz="2000" dirty="0">
                <a:solidFill>
                  <a:srgbClr val="0000FF"/>
                </a:solidFill>
                <a:latin typeface="Meiryo" panose="020B0604030504040204" pitchFamily="34" charset="-128"/>
                <a:ea typeface="Meiryo" panose="020B0604030504040204" pitchFamily="34" charset="-128"/>
              </a:rPr>
              <a:t>深層学習に課すべき</a:t>
            </a:r>
            <a:r>
              <a:rPr lang="en-JP" sz="2000" dirty="0">
                <a:latin typeface="Meiryo" panose="020B0604030504040204" pitchFamily="34" charset="-128"/>
                <a:ea typeface="Meiryo" panose="020B0604030504040204" pitchFamily="34" charset="-128"/>
              </a:rPr>
              <a:t>とした</a:t>
            </a:r>
            <a:r>
              <a:rPr lang="en-JP" sz="2000" dirty="0">
                <a:solidFill>
                  <a:srgbClr val="0000FF"/>
                </a:solidFill>
                <a:latin typeface="Meiryo" panose="020B0604030504040204" pitchFamily="34" charset="-128"/>
                <a:ea typeface="Meiryo" panose="020B0604030504040204" pitchFamily="34" charset="-128"/>
              </a:rPr>
              <a:t>沸騰現象の特徴</a:t>
            </a:r>
          </a:p>
          <a:p>
            <a:pPr algn="ctr"/>
            <a:endParaRPr lang="en-JP" sz="800" dirty="0">
              <a:solidFill>
                <a:srgbClr val="0000FF"/>
              </a:solidFill>
              <a:latin typeface="Meiryo" panose="020B0604030504040204" pitchFamily="34" charset="-128"/>
              <a:ea typeface="Meiryo" panose="020B0604030504040204" pitchFamily="34" charset="-128"/>
            </a:endParaRPr>
          </a:p>
          <a:p>
            <a:pPr algn="ctr"/>
            <a:r>
              <a:rPr lang="en-US" altLang="ja-JP" sz="2000" dirty="0">
                <a:latin typeface="Meiryo" panose="020B0604030504040204" pitchFamily="34" charset="-128"/>
                <a:ea typeface="Meiryo" panose="020B0604030504040204" pitchFamily="34" charset="-128"/>
              </a:rPr>
              <a:t>||</a:t>
            </a:r>
          </a:p>
          <a:p>
            <a:pPr algn="ctr"/>
            <a:endParaRPr lang="en-US" altLang="ja-JP" sz="800" dirty="0">
              <a:latin typeface="Meiryo" panose="020B0604030504040204" pitchFamily="34" charset="-128"/>
              <a:ea typeface="Meiryo" panose="020B0604030504040204" pitchFamily="34" charset="-128"/>
            </a:endParaRPr>
          </a:p>
          <a:p>
            <a:pPr algn="ctr"/>
            <a:r>
              <a:rPr lang="ja-JP" altLang="en-US" sz="2000" dirty="0">
                <a:latin typeface="Meiryo" panose="020B0604030504040204" pitchFamily="34" charset="-128"/>
                <a:ea typeface="Meiryo" panose="020B0604030504040204" pitchFamily="34" charset="-128"/>
              </a:rPr>
              <a:t>「沸騰初期に発生する</a:t>
            </a:r>
            <a:r>
              <a:rPr lang="ja-JP" altLang="en-US" sz="2000" dirty="0">
                <a:solidFill>
                  <a:srgbClr val="0000FF"/>
                </a:solidFill>
                <a:latin typeface="Meiryo" panose="020B0604030504040204" pitchFamily="34" charset="-128"/>
                <a:ea typeface="Meiryo" panose="020B0604030504040204" pitchFamily="34" charset="-128"/>
              </a:rPr>
              <a:t>蒸気泡の生成消滅</a:t>
            </a:r>
            <a:r>
              <a:rPr lang="ja-JP" altLang="en-US" sz="2000" dirty="0">
                <a:latin typeface="Meiryo" panose="020B0604030504040204" pitchFamily="34" charset="-128"/>
                <a:ea typeface="Meiryo" panose="020B0604030504040204" pitchFamily="34" charset="-128"/>
              </a:rPr>
              <a:t>による</a:t>
            </a:r>
            <a:r>
              <a:rPr lang="ja-JP" altLang="en-US" sz="2000" dirty="0">
                <a:solidFill>
                  <a:srgbClr val="0000FF"/>
                </a:solidFill>
                <a:latin typeface="Meiryo" panose="020B0604030504040204" pitchFamily="34" charset="-128"/>
                <a:ea typeface="Meiryo" panose="020B0604030504040204" pitchFamily="34" charset="-128"/>
              </a:rPr>
              <a:t>急峻な圧力変化</a:t>
            </a:r>
            <a:r>
              <a:rPr lang="ja-JP" altLang="en-US" sz="2000" dirty="0">
                <a:latin typeface="Meiryo" panose="020B0604030504040204" pitchFamily="34" charset="-128"/>
                <a:ea typeface="Meiryo" panose="020B0604030504040204" pitchFamily="34" charset="-128"/>
              </a:rPr>
              <a:t>」 　　　　　　　　　　　　　　　</a:t>
            </a:r>
            <a:endParaRPr lang="en-JP"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p:txBody>
      </p:sp>
      <p:grpSp>
        <p:nvGrpSpPr>
          <p:cNvPr id="35" name="Group 34">
            <a:extLst>
              <a:ext uri="{FF2B5EF4-FFF2-40B4-BE49-F238E27FC236}">
                <a16:creationId xmlns:a16="http://schemas.microsoft.com/office/drawing/2014/main" id="{437CB370-EF53-E225-F20A-3EDFFEC90421}"/>
              </a:ext>
            </a:extLst>
          </p:cNvPr>
          <p:cNvGrpSpPr/>
          <p:nvPr/>
        </p:nvGrpSpPr>
        <p:grpSpPr>
          <a:xfrm>
            <a:off x="501487" y="5791437"/>
            <a:ext cx="8646126" cy="710940"/>
            <a:chOff x="398368" y="5705993"/>
            <a:chExt cx="8646126" cy="710940"/>
          </a:xfrm>
        </p:grpSpPr>
        <p:sp>
          <p:nvSpPr>
            <p:cNvPr id="17" name="タイトル 3">
              <a:extLst>
                <a:ext uri="{FF2B5EF4-FFF2-40B4-BE49-F238E27FC236}">
                  <a16:creationId xmlns:a16="http://schemas.microsoft.com/office/drawing/2014/main" id="{1CFEFC63-B999-E71E-FF2B-657BF68CCD74}"/>
                </a:ext>
              </a:extLst>
            </p:cNvPr>
            <p:cNvSpPr txBox="1">
              <a:spLocks/>
            </p:cNvSpPr>
            <p:nvPr/>
          </p:nvSpPr>
          <p:spPr>
            <a:xfrm>
              <a:off x="398368" y="5705993"/>
              <a:ext cx="2134836" cy="507504"/>
            </a:xfrm>
            <a:prstGeom prst="rect">
              <a:avLst/>
            </a:prstGeom>
          </p:spPr>
          <p:txBody>
            <a:bodyPr vert="horz" lIns="91440" tIns="45720" rIns="91440" bIns="45720" rtlCol="0" anchor="ctr">
              <a:normAutofit fontScale="97500"/>
            </a:bodyPr>
            <a:lstStyle>
              <a:lvl1pPr algn="l" defTabSz="742950" rtl="0" eaLnBrk="1" latinLnBrk="0" hangingPunct="1">
                <a:lnSpc>
                  <a:spcPct val="90000"/>
                </a:lnSpc>
                <a:spcBef>
                  <a:spcPct val="0"/>
                </a:spcBef>
                <a:buNone/>
                <a:defRPr sz="2400" kern="1200">
                  <a:solidFill>
                    <a:schemeClr val="tx2"/>
                  </a:solidFill>
                  <a:latin typeface="+mj-lt"/>
                  <a:ea typeface="+mj-ea"/>
                  <a:cs typeface="+mj-cs"/>
                </a:defRPr>
              </a:lvl1pPr>
            </a:lstStyle>
            <a:p>
              <a:r>
                <a:rPr kumimoji="1" lang="en-US" altLang="ja-JP"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内容</a:t>
              </a:r>
              <a:r>
                <a:rPr kumimoji="1" lang="en-US" altLang="ja-JP" dirty="0">
                  <a:solidFill>
                    <a:schemeClr val="tx1"/>
                  </a:solidFill>
                  <a:latin typeface="Meiryo" panose="020B0604030504040204" pitchFamily="34" charset="-128"/>
                  <a:ea typeface="Meiryo" panose="020B0604030504040204" pitchFamily="34" charset="-128"/>
                </a:rPr>
                <a:t>】 </a:t>
              </a:r>
              <a:r>
                <a:rPr kumimoji="1" lang="ja-JP" altLang="en-US">
                  <a:solidFill>
                    <a:schemeClr val="tx1"/>
                  </a:solidFill>
                  <a:latin typeface="Meiryo" panose="020B0604030504040204" pitchFamily="34" charset="-128"/>
                  <a:ea typeface="Meiryo" panose="020B0604030504040204" pitchFamily="34" charset="-128"/>
                </a:rPr>
                <a:t>　</a:t>
              </a:r>
              <a:endParaRPr kumimoji="1" lang="en-US" altLang="ja-JP" dirty="0">
                <a:solidFill>
                  <a:schemeClr val="tx1"/>
                </a:solidFill>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1B6B5C51-850C-B9AD-5373-E46292284008}"/>
                </a:ext>
              </a:extLst>
            </p:cNvPr>
            <p:cNvSpPr txBox="1"/>
            <p:nvPr/>
          </p:nvSpPr>
          <p:spPr>
            <a:xfrm>
              <a:off x="1640773" y="5709047"/>
              <a:ext cx="7403721" cy="707886"/>
            </a:xfrm>
            <a:prstGeom prst="rect">
              <a:avLst/>
            </a:prstGeom>
            <a:noFill/>
          </p:spPr>
          <p:txBody>
            <a:bodyPr wrap="square">
              <a:spAutoFit/>
            </a:bodyPr>
            <a:lstStyle/>
            <a:p>
              <a:pPr algn="just"/>
              <a:r>
                <a:rPr lang="ja-JP" altLang="en-US" sz="2000" kern="100" dirty="0">
                  <a:effectLst/>
                  <a:latin typeface="Meiryo" panose="020B0604030504040204" pitchFamily="34" charset="-128"/>
                  <a:ea typeface="Meiryo" panose="020B0604030504040204" pitchFamily="34" charset="-128"/>
                  <a:cs typeface="Times New Roman" panose="02020603050405020304" pitchFamily="18" charset="0"/>
                </a:rPr>
                <a:t>音響識別によるサブクール沸騰の発生検知に適合する深層学習活用手法の構築及び検知精度向上手法の検証を行った。</a:t>
              </a:r>
              <a:endParaRPr lang="en-JP" sz="2000" dirty="0">
                <a:latin typeface="Meiryo" panose="020B0604030504040204" pitchFamily="34" charset="-128"/>
                <a:ea typeface="Meiryo" panose="020B0604030504040204" pitchFamily="34" charset="-128"/>
              </a:endParaRPr>
            </a:p>
          </p:txBody>
        </p:sp>
      </p:grpSp>
      <p:grpSp>
        <p:nvGrpSpPr>
          <p:cNvPr id="20" name="Group 19">
            <a:extLst>
              <a:ext uri="{FF2B5EF4-FFF2-40B4-BE49-F238E27FC236}">
                <a16:creationId xmlns:a16="http://schemas.microsoft.com/office/drawing/2014/main" id="{A00D8BBB-4A2F-DEF4-A5C8-CB7A6EBE02D5}"/>
              </a:ext>
            </a:extLst>
          </p:cNvPr>
          <p:cNvGrpSpPr/>
          <p:nvPr/>
        </p:nvGrpSpPr>
        <p:grpSpPr>
          <a:xfrm>
            <a:off x="1002754" y="4800121"/>
            <a:ext cx="8357505" cy="723275"/>
            <a:chOff x="936298" y="3413611"/>
            <a:chExt cx="8357505" cy="723275"/>
          </a:xfrm>
        </p:grpSpPr>
        <p:sp>
          <p:nvSpPr>
            <p:cNvPr id="16" name="TextBox 15">
              <a:extLst>
                <a:ext uri="{FF2B5EF4-FFF2-40B4-BE49-F238E27FC236}">
                  <a16:creationId xmlns:a16="http://schemas.microsoft.com/office/drawing/2014/main" id="{EB706478-5FD7-69C1-94FD-BDFBDF67B883}"/>
                </a:ext>
              </a:extLst>
            </p:cNvPr>
            <p:cNvSpPr txBox="1"/>
            <p:nvPr/>
          </p:nvSpPr>
          <p:spPr>
            <a:xfrm>
              <a:off x="936298" y="3429000"/>
              <a:ext cx="8357505" cy="707886"/>
            </a:xfrm>
            <a:prstGeom prst="rect">
              <a:avLst/>
            </a:prstGeom>
            <a:noFill/>
          </p:spPr>
          <p:txBody>
            <a:bodyPr wrap="square">
              <a:spAutoFit/>
            </a:bodyPr>
            <a:lstStyle/>
            <a:p>
              <a:pPr marL="498475" algn="just">
                <a:tabLst>
                  <a:tab pos="82550" algn="l"/>
                </a:tabLst>
              </a:pPr>
              <a:r>
                <a:rPr lang="ja-JP" altLang="en-US" sz="2000" kern="100" dirty="0">
                  <a:latin typeface="Meiryo" panose="020B0604030504040204" pitchFamily="34" charset="-128"/>
                  <a:ea typeface="Meiryo" panose="020B0604030504040204" pitchFamily="34" charset="-128"/>
                  <a:cs typeface="Times New Roman" panose="02020603050405020304" pitchFamily="18" charset="0"/>
                </a:rPr>
                <a:t>本特徴を踏まえて，音響計測信号から特徴量の抽出手法を検討し、</a:t>
              </a:r>
              <a:r>
                <a:rPr lang="ja-JP" altLang="en-US" sz="2000" kern="100" dirty="0">
                  <a:solidFill>
                    <a:srgbClr val="0000FF"/>
                  </a:solidFill>
                  <a:latin typeface="Meiryo" panose="020B0604030504040204" pitchFamily="34" charset="-128"/>
                  <a:ea typeface="Meiryo" panose="020B0604030504040204" pitchFamily="34" charset="-128"/>
                  <a:cs typeface="Times New Roman" panose="02020603050405020304" pitchFamily="18" charset="0"/>
                </a:rPr>
                <a:t>沸騰現象の発現</a:t>
              </a:r>
              <a:r>
                <a:rPr lang="ja-JP" altLang="en-US" sz="2000" kern="100" dirty="0">
                  <a:latin typeface="Meiryo" panose="020B0604030504040204" pitchFamily="34" charset="-128"/>
                  <a:ea typeface="Meiryo" panose="020B0604030504040204" pitchFamily="34" charset="-128"/>
                  <a:cs typeface="Times New Roman" panose="02020603050405020304" pitchFamily="18" charset="0"/>
                </a:rPr>
                <a:t>を</a:t>
              </a:r>
              <a:r>
                <a:rPr lang="ja-JP" altLang="en-US" sz="2000" kern="100" dirty="0">
                  <a:solidFill>
                    <a:srgbClr val="0000FF"/>
                  </a:solidFill>
                  <a:latin typeface="Meiryo" panose="020B0604030504040204" pitchFamily="34" charset="-128"/>
                  <a:ea typeface="Meiryo" panose="020B0604030504040204" pitchFamily="34" charset="-128"/>
                  <a:cs typeface="Times New Roman" panose="02020603050405020304" pitchFamily="18" charset="0"/>
                </a:rPr>
                <a:t>検知</a:t>
              </a:r>
              <a:r>
                <a:rPr lang="ja-JP" altLang="en-US" sz="2000" kern="100" dirty="0">
                  <a:latin typeface="Meiryo" panose="020B0604030504040204" pitchFamily="34" charset="-128"/>
                  <a:ea typeface="Meiryo" panose="020B0604030504040204" pitchFamily="34" charset="-128"/>
                  <a:cs typeface="Times New Roman" panose="02020603050405020304" pitchFamily="18" charset="0"/>
                </a:rPr>
                <a:t>するアルゴリズムを構築する</a:t>
              </a:r>
              <a:endParaRPr lang="en-JP" sz="2000" dirty="0">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9298C5BE-77F5-FC36-0986-685FED23102C}"/>
                </a:ext>
              </a:extLst>
            </p:cNvPr>
            <p:cNvSpPr txBox="1"/>
            <p:nvPr/>
          </p:nvSpPr>
          <p:spPr>
            <a:xfrm>
              <a:off x="936298" y="3413611"/>
              <a:ext cx="383438" cy="369332"/>
            </a:xfrm>
            <a:prstGeom prst="rect">
              <a:avLst/>
            </a:prstGeom>
            <a:noFill/>
          </p:spPr>
          <p:txBody>
            <a:bodyPr wrap="none" rtlCol="0">
              <a:spAutoFit/>
            </a:bodyPr>
            <a:lstStyle/>
            <a:p>
              <a:r>
                <a:rPr lang="en-JP" dirty="0"/>
                <a:t>▶︎</a:t>
              </a:r>
            </a:p>
          </p:txBody>
        </p:sp>
      </p:grpSp>
      <p:pic>
        <p:nvPicPr>
          <p:cNvPr id="34" name="Picture 33">
            <a:extLst>
              <a:ext uri="{FF2B5EF4-FFF2-40B4-BE49-F238E27FC236}">
                <a16:creationId xmlns:a16="http://schemas.microsoft.com/office/drawing/2014/main" id="{31956494-FF87-D938-64CB-E97A98DC5BE8}"/>
              </a:ext>
            </a:extLst>
          </p:cNvPr>
          <p:cNvPicPr>
            <a:picLocks noChangeAspect="1"/>
          </p:cNvPicPr>
          <p:nvPr/>
        </p:nvPicPr>
        <p:blipFill>
          <a:blip r:embed="rId3"/>
          <a:stretch>
            <a:fillRect/>
          </a:stretch>
        </p:blipFill>
        <p:spPr>
          <a:xfrm>
            <a:off x="2847725" y="2929309"/>
            <a:ext cx="4210547" cy="1750654"/>
          </a:xfrm>
          <a:prstGeom prst="rect">
            <a:avLst/>
          </a:prstGeom>
        </p:spPr>
      </p:pic>
    </p:spTree>
    <p:extLst>
      <p:ext uri="{BB962C8B-B14F-4D97-AF65-F5344CB8AC3E}">
        <p14:creationId xmlns:p14="http://schemas.microsoft.com/office/powerpoint/2010/main" val="821577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四角形: 角を丸くする 20">
            <a:extLst>
              <a:ext uri="{FF2B5EF4-FFF2-40B4-BE49-F238E27FC236}">
                <a16:creationId xmlns:a16="http://schemas.microsoft.com/office/drawing/2014/main" id="{1C5BB8D9-36E5-48E8-FE06-AF2EB2A16879}"/>
              </a:ext>
            </a:extLst>
          </p:cNvPr>
          <p:cNvSpPr/>
          <p:nvPr/>
        </p:nvSpPr>
        <p:spPr>
          <a:xfrm>
            <a:off x="857731" y="1144080"/>
            <a:ext cx="8658001" cy="2529063"/>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ext Placeholder 1">
            <a:extLst>
              <a:ext uri="{FF2B5EF4-FFF2-40B4-BE49-F238E27FC236}">
                <a16:creationId xmlns:a16="http://schemas.microsoft.com/office/drawing/2014/main" id="{A0406632-F1AA-D39A-0A57-5376694C88BA}"/>
              </a:ext>
            </a:extLst>
          </p:cNvPr>
          <p:cNvSpPr>
            <a:spLocks noGrp="1"/>
          </p:cNvSpPr>
          <p:nvPr>
            <p:ph type="body" sz="half" idx="12"/>
          </p:nvPr>
        </p:nvSpPr>
        <p:spPr>
          <a:xfrm>
            <a:off x="1077331" y="3908070"/>
            <a:ext cx="1336173" cy="407035"/>
          </a:xfrm>
        </p:spPr>
        <p:txBody>
          <a:bodyPr/>
          <a:lstStyle/>
          <a:p>
            <a:r>
              <a:rPr lang="ja-JP" altLang="en-US" sz="2300" b="1" dirty="0">
                <a:latin typeface="メイリオ" panose="020B0604030504040204" pitchFamily="50" charset="-128"/>
                <a:ea typeface="メイリオ" panose="020B0604030504040204" pitchFamily="50" charset="-128"/>
              </a:rPr>
              <a:t>課題</a:t>
            </a:r>
            <a:endParaRPr lang="en-JP" sz="2300" b="1" dirty="0">
              <a:latin typeface="メイリオ" panose="020B0604030504040204" pitchFamily="50" charset="-128"/>
              <a:ea typeface="メイリオ" panose="020B0604030504040204" pitchFamily="50" charset="-128"/>
            </a:endParaRPr>
          </a:p>
        </p:txBody>
      </p:sp>
      <p:sp>
        <p:nvSpPr>
          <p:cNvPr id="3" name="Text Placeholder 2">
            <a:extLst>
              <a:ext uri="{FF2B5EF4-FFF2-40B4-BE49-F238E27FC236}">
                <a16:creationId xmlns:a16="http://schemas.microsoft.com/office/drawing/2014/main" id="{B4935127-7A14-5191-3565-A82CB0CA2B4E}"/>
              </a:ext>
            </a:extLst>
          </p:cNvPr>
          <p:cNvSpPr>
            <a:spLocks noGrp="1"/>
          </p:cNvSpPr>
          <p:nvPr>
            <p:ph type="body" sz="half" idx="13"/>
          </p:nvPr>
        </p:nvSpPr>
        <p:spPr>
          <a:xfrm>
            <a:off x="1138190" y="6412263"/>
            <a:ext cx="7223571" cy="361637"/>
          </a:xfrm>
        </p:spPr>
        <p:txBody>
          <a:bodyPr/>
          <a:lstStyle/>
          <a:p>
            <a:r>
              <a:rPr lang="en-US" altLang="ja-JP" sz="1000" b="0" i="0" dirty="0">
                <a:solidFill>
                  <a:srgbClr val="1D1C1D"/>
                </a:solidFill>
                <a:effectLst/>
                <a:latin typeface="メイリオ" panose="020B0604030504040204" pitchFamily="50" charset="-128"/>
                <a:ea typeface="メイリオ" panose="020B0604030504040204" pitchFamily="50" charset="-128"/>
              </a:rPr>
              <a:t>[1]Y. Ueki et al., "Acoustic detection of boiling states by deep convolutional neural networks: Visual explanation of identification basis", submitted</a:t>
            </a:r>
            <a:r>
              <a:rPr lang="en-US" altLang="ja-JP" b="0" i="0" dirty="0">
                <a:solidFill>
                  <a:srgbClr val="1D1C1D"/>
                </a:solidFill>
                <a:effectLst/>
                <a:latin typeface="メイリオ" panose="020B0604030504040204" pitchFamily="50" charset="-128"/>
                <a:ea typeface="メイリオ" panose="020B0604030504040204" pitchFamily="50" charset="-128"/>
              </a:rPr>
              <a:t>.</a:t>
            </a:r>
            <a:endParaRPr lang="en-JP"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38C38421-354E-0E63-F73E-9685753110C1}"/>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先行研究</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715CE829-22ED-177D-051F-1AC1864ACE4C}"/>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AFA11391-838B-D14F-CCC1-A0DB1FC64DDD}"/>
              </a:ext>
            </a:extLst>
          </p:cNvPr>
          <p:cNvCxnSpPr>
            <a:cxnSpLocks/>
          </p:cNvCxnSpPr>
          <p:nvPr/>
        </p:nvCxnSpPr>
        <p:spPr>
          <a:xfrm>
            <a:off x="963279" y="3885359"/>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0F6E755D-20EC-84FC-13E1-8A0B18020FB3}"/>
              </a:ext>
            </a:extLst>
          </p:cNvPr>
          <p:cNvSpPr txBox="1"/>
          <p:nvPr/>
        </p:nvSpPr>
        <p:spPr>
          <a:xfrm>
            <a:off x="1077331" y="1316538"/>
            <a:ext cx="8328585" cy="1015663"/>
          </a:xfrm>
          <a:prstGeom prst="rect">
            <a:avLst/>
          </a:prstGeom>
          <a:noFill/>
        </p:spPr>
        <p:txBody>
          <a:bodyPr wrap="square" rtlCol="0">
            <a:spAutoFit/>
          </a:bodyPr>
          <a:lstStyle/>
          <a:p>
            <a:pPr marL="342900" indent="-342900">
              <a:buFont typeface="Wingdings" panose="05000000000000000000" pitchFamily="2" charset="2"/>
              <a:buChar char="l"/>
            </a:pPr>
            <a:r>
              <a:rPr lang="en-US" altLang="ja-JP" sz="2000" dirty="0">
                <a:latin typeface="メイリオ" panose="020B0604030504040204" pitchFamily="50" charset="-128"/>
                <a:ea typeface="メイリオ" panose="020B0604030504040204" pitchFamily="50" charset="-128"/>
              </a:rPr>
              <a:t>STFT</a:t>
            </a:r>
            <a:r>
              <a:rPr lang="ja-JP" altLang="en-US" sz="2000" dirty="0">
                <a:latin typeface="メイリオ" panose="020B0604030504040204" pitchFamily="50" charset="-128"/>
                <a:ea typeface="メイリオ" panose="020B0604030504040204" pitchFamily="50" charset="-128"/>
              </a:rPr>
              <a:t>（短時間フーリエ変換），</a:t>
            </a:r>
            <a:r>
              <a:rPr lang="en-US" altLang="ja-JP" sz="2000" dirty="0">
                <a:latin typeface="メイリオ" panose="020B0604030504040204" pitchFamily="50" charset="-128"/>
                <a:ea typeface="メイリオ" panose="020B0604030504040204" pitchFamily="50" charset="-128"/>
              </a:rPr>
              <a:t>CWT</a:t>
            </a:r>
            <a:r>
              <a:rPr lang="ja-JP" altLang="en-US" sz="2000" dirty="0">
                <a:latin typeface="メイリオ" panose="020B0604030504040204" pitchFamily="50" charset="-128"/>
                <a:ea typeface="メイリオ" panose="020B0604030504040204" pitchFamily="50" charset="-128"/>
              </a:rPr>
              <a:t>（連続ウェーブレット変換）の</a:t>
            </a:r>
            <a:r>
              <a:rPr lang="en-US" altLang="ja-JP" sz="2000" dirty="0">
                <a:latin typeface="メイリオ" panose="020B0604030504040204" pitchFamily="50" charset="-128"/>
                <a:ea typeface="メイリオ" panose="020B0604030504040204" pitchFamily="50" charset="-128"/>
              </a:rPr>
              <a:t>2</a:t>
            </a:r>
            <a:r>
              <a:rPr lang="ja-JP" altLang="en-US" sz="2000" dirty="0">
                <a:latin typeface="メイリオ" panose="020B0604030504040204" pitchFamily="50" charset="-128"/>
                <a:ea typeface="メイリオ" panose="020B0604030504040204" pitchFamily="50" charset="-128"/>
              </a:rPr>
              <a:t>つの周波数解析手法を活用し，機械学習手法として</a:t>
            </a:r>
            <a:r>
              <a:rPr lang="en-US" altLang="ja-JP" sz="2000" dirty="0">
                <a:latin typeface="メイリオ" panose="020B0604030504040204" pitchFamily="50" charset="-128"/>
                <a:ea typeface="メイリオ" panose="020B0604030504040204" pitchFamily="50" charset="-128"/>
              </a:rPr>
              <a:t>CNN</a:t>
            </a:r>
            <a:r>
              <a:rPr lang="ja-JP" altLang="en-US" sz="2000" dirty="0">
                <a:latin typeface="メイリオ" panose="020B0604030504040204" pitchFamily="50" charset="-128"/>
                <a:ea typeface="メイリオ" panose="020B0604030504040204" pitchFamily="50" charset="-128"/>
              </a:rPr>
              <a:t>（畳み込みニューラルネットワーク）モデルを使用</a:t>
            </a:r>
            <a:endParaRPr kumimoji="1" lang="ja-JP" altLang="en-US" sz="2000" b="1"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9064BD2A-0443-F357-DDD8-3B2B7541395C}"/>
              </a:ext>
            </a:extLst>
          </p:cNvPr>
          <p:cNvSpPr txBox="1"/>
          <p:nvPr/>
        </p:nvSpPr>
        <p:spPr>
          <a:xfrm>
            <a:off x="1101310" y="2858592"/>
            <a:ext cx="8426528" cy="707886"/>
          </a:xfrm>
          <a:prstGeom prst="rect">
            <a:avLst/>
          </a:prstGeom>
          <a:noFill/>
        </p:spPr>
        <p:txBody>
          <a:bodyPr wrap="square" rtlCol="0">
            <a:spAutoFit/>
          </a:bodyPr>
          <a:lstStyle/>
          <a:p>
            <a:r>
              <a:rPr lang="ja-JP" altLang="en-US" sz="2000" dirty="0">
                <a:latin typeface="メイリオ" panose="020B0604030504040204" pitchFamily="50" charset="-128"/>
                <a:ea typeface="メイリオ" panose="020B0604030504040204" pitchFamily="50" charset="-128"/>
              </a:rPr>
              <a:t>ラベル分類型深層学習に基づく未沸騰・沸騰状態の検出手法の試構築と基本的成立性を検討</a:t>
            </a:r>
            <a:r>
              <a:rPr lang="en-US" altLang="ja-JP" sz="2000" dirty="0">
                <a:latin typeface="メイリオ" panose="020B0604030504040204" pitchFamily="50" charset="-128"/>
                <a:ea typeface="メイリオ" panose="020B0604030504040204" pitchFamily="50" charset="-128"/>
              </a:rPr>
              <a:t>[1]</a:t>
            </a:r>
            <a:endParaRPr kumimoji="1" lang="ja-JP" altLang="en-US" sz="2000" dirty="0">
              <a:latin typeface="メイリオ" panose="020B0604030504040204" pitchFamily="50" charset="-128"/>
              <a:ea typeface="メイリオ" panose="020B0604030504040204" pitchFamily="50" charset="-128"/>
            </a:endParaRPr>
          </a:p>
        </p:txBody>
      </p:sp>
      <p:sp>
        <p:nvSpPr>
          <p:cNvPr id="7" name="矢印: 下 6">
            <a:extLst>
              <a:ext uri="{FF2B5EF4-FFF2-40B4-BE49-F238E27FC236}">
                <a16:creationId xmlns:a16="http://schemas.microsoft.com/office/drawing/2014/main" id="{044B1543-BA61-F57C-B44E-B42B2C697F82}"/>
              </a:ext>
            </a:extLst>
          </p:cNvPr>
          <p:cNvSpPr/>
          <p:nvPr/>
        </p:nvSpPr>
        <p:spPr>
          <a:xfrm>
            <a:off x="4836162" y="2393271"/>
            <a:ext cx="701167" cy="392686"/>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8636A574-9650-3419-F30C-7ABDF68FF63C}"/>
              </a:ext>
            </a:extLst>
          </p:cNvPr>
          <p:cNvGrpSpPr/>
          <p:nvPr/>
        </p:nvGrpSpPr>
        <p:grpSpPr>
          <a:xfrm>
            <a:off x="1651139" y="4815125"/>
            <a:ext cx="7071183" cy="451388"/>
            <a:chOff x="1270207" y="4830720"/>
            <a:chExt cx="7071183" cy="451388"/>
          </a:xfrm>
        </p:grpSpPr>
        <p:sp>
          <p:nvSpPr>
            <p:cNvPr id="22" name="四角形: 角を丸くする 21">
              <a:extLst>
                <a:ext uri="{FF2B5EF4-FFF2-40B4-BE49-F238E27FC236}">
                  <a16:creationId xmlns:a16="http://schemas.microsoft.com/office/drawing/2014/main" id="{D1B48BA8-546C-1C7B-5F45-EB6FEC0A51FE}"/>
                </a:ext>
              </a:extLst>
            </p:cNvPr>
            <p:cNvSpPr/>
            <p:nvPr/>
          </p:nvSpPr>
          <p:spPr>
            <a:xfrm>
              <a:off x="1270207" y="4830720"/>
              <a:ext cx="6834265" cy="436303"/>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BA106D2-B8D8-F4E0-ED09-F2629E8B63AB}"/>
                </a:ext>
              </a:extLst>
            </p:cNvPr>
            <p:cNvSpPr txBox="1"/>
            <p:nvPr/>
          </p:nvSpPr>
          <p:spPr>
            <a:xfrm>
              <a:off x="1330933" y="4881998"/>
              <a:ext cx="7010457" cy="400110"/>
            </a:xfrm>
            <a:prstGeom prst="rect">
              <a:avLst/>
            </a:prstGeom>
            <a:noFill/>
          </p:spPr>
          <p:txBody>
            <a:bodyPr wrap="square" rtlCol="0">
              <a:spAutoFit/>
            </a:bodyPr>
            <a:lstStyle/>
            <a:p>
              <a:r>
                <a:rPr lang="en-US" altLang="ja-JP" sz="2000" b="1" dirty="0">
                  <a:latin typeface="メイリオ" panose="020B0604030504040204" pitchFamily="50" charset="-128"/>
                  <a:ea typeface="メイリオ" panose="020B0604030504040204" pitchFamily="50" charset="-128"/>
                </a:rPr>
                <a:t>NEXT</a:t>
              </a:r>
              <a:r>
                <a:rPr lang="ja-JP" altLang="en-US" sz="2000" b="1" dirty="0">
                  <a:latin typeface="メイリオ" panose="020B0604030504040204" pitchFamily="50" charset="-128"/>
                  <a:ea typeface="メイリオ" panose="020B0604030504040204" pitchFamily="50" charset="-128"/>
                </a:rPr>
                <a:t>：背景</a:t>
              </a:r>
              <a:r>
                <a:rPr kumimoji="1" lang="ja-JP" altLang="en-US" sz="2000" b="1" dirty="0">
                  <a:latin typeface="メイリオ" panose="020B0604030504040204" pitchFamily="50" charset="-128"/>
                  <a:ea typeface="メイリオ" panose="020B0604030504040204" pitchFamily="50" charset="-128"/>
                </a:rPr>
                <a:t>ノイズへの耐性</a:t>
              </a:r>
              <a:r>
                <a:rPr kumimoji="1" lang="ja-JP" altLang="en-US" sz="2000" dirty="0">
                  <a:latin typeface="メイリオ" panose="020B0604030504040204" pitchFamily="50" charset="-128"/>
                  <a:ea typeface="メイリオ" panose="020B0604030504040204" pitchFamily="50" charset="-128"/>
                </a:rPr>
                <a:t>や</a:t>
              </a:r>
              <a:r>
                <a:rPr kumimoji="1" lang="ja-JP" altLang="en-US" sz="2000" b="1" dirty="0">
                  <a:latin typeface="メイリオ" panose="020B0604030504040204" pitchFamily="50" charset="-128"/>
                  <a:ea typeface="メイリオ" panose="020B0604030504040204" pitchFamily="50" charset="-128"/>
                </a:rPr>
                <a:t>予測の安定性</a:t>
              </a:r>
              <a:r>
                <a:rPr kumimoji="1" lang="ja-JP" altLang="en-US" sz="2000" dirty="0">
                  <a:latin typeface="メイリオ" panose="020B0604030504040204" pitchFamily="50" charset="-128"/>
                  <a:ea typeface="メイリオ" panose="020B0604030504040204" pitchFamily="50" charset="-128"/>
                </a:rPr>
                <a:t>の更なる向上</a:t>
              </a:r>
            </a:p>
          </p:txBody>
        </p:sp>
      </p:grpSp>
      <p:sp>
        <p:nvSpPr>
          <p:cNvPr id="18" name="テキスト ボックス 17">
            <a:extLst>
              <a:ext uri="{FF2B5EF4-FFF2-40B4-BE49-F238E27FC236}">
                <a16:creationId xmlns:a16="http://schemas.microsoft.com/office/drawing/2014/main" id="{0FD6A0B8-B30A-7A02-88B1-FC8798247CC1}"/>
              </a:ext>
            </a:extLst>
          </p:cNvPr>
          <p:cNvSpPr txBox="1"/>
          <p:nvPr/>
        </p:nvSpPr>
        <p:spPr>
          <a:xfrm>
            <a:off x="1077330" y="4428242"/>
            <a:ext cx="8328585" cy="400110"/>
          </a:xfrm>
          <a:prstGeom prst="rect">
            <a:avLst/>
          </a:prstGeom>
          <a:noFill/>
        </p:spPr>
        <p:txBody>
          <a:bodyPr wrap="square" rtlCol="0">
            <a:spAutoFit/>
          </a:bodyPr>
          <a:lstStyle/>
          <a:p>
            <a:pPr marL="342900" indent="-342900">
              <a:buFont typeface="Wingdings" panose="05000000000000000000" pitchFamily="2" charset="2"/>
              <a:buChar char="l"/>
            </a:pPr>
            <a:r>
              <a:rPr lang="ja-JP" altLang="en-US" sz="2000" b="1">
                <a:solidFill>
                  <a:srgbClr val="6969FF"/>
                </a:solidFill>
                <a:latin typeface="メイリオ" panose="020B0604030504040204" pitchFamily="50" charset="-128"/>
                <a:ea typeface="メイリオ" panose="020B0604030504040204" pitchFamily="50" charset="-128"/>
              </a:rPr>
              <a:t>単一モデル</a:t>
            </a:r>
            <a:r>
              <a:rPr lang="ja-JP" altLang="en-US" sz="2000">
                <a:latin typeface="メイリオ" panose="020B0604030504040204" pitchFamily="50" charset="-128"/>
                <a:ea typeface="メイリオ" panose="020B0604030504040204" pitchFamily="50" charset="-128"/>
              </a:rPr>
              <a:t>を用いた識別手法</a:t>
            </a:r>
            <a:endParaRPr lang="en-US" altLang="ja-JP" sz="20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856C56C9-94DC-89D1-A1A0-CEEBBD3DEC76}"/>
              </a:ext>
            </a:extLst>
          </p:cNvPr>
          <p:cNvSpPr txBox="1"/>
          <p:nvPr/>
        </p:nvSpPr>
        <p:spPr>
          <a:xfrm>
            <a:off x="1101310" y="5380160"/>
            <a:ext cx="8718839" cy="400110"/>
          </a:xfrm>
          <a:prstGeom prst="rect">
            <a:avLst/>
          </a:prstGeom>
          <a:noFill/>
        </p:spPr>
        <p:txBody>
          <a:bodyPr wrap="square" rtlCol="0">
            <a:spAutoFit/>
          </a:bodyPr>
          <a:lstStyle/>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熱流束のラベル付け時の</a:t>
            </a:r>
            <a:r>
              <a:rPr lang="ja-JP" altLang="en-US" sz="2000" b="1" dirty="0">
                <a:solidFill>
                  <a:srgbClr val="6969FF"/>
                </a:solidFill>
                <a:latin typeface="メイリオ" panose="020B0604030504040204" pitchFamily="50" charset="-128"/>
                <a:ea typeface="メイリオ" panose="020B0604030504040204" pitchFamily="50" charset="-128"/>
              </a:rPr>
              <a:t>ラベルの境界設定に分類精度が依存</a:t>
            </a:r>
            <a:endParaRPr lang="en-US" altLang="ja-JP" sz="2000" b="1" dirty="0">
              <a:solidFill>
                <a:srgbClr val="6969FF"/>
              </a:solidFill>
              <a:latin typeface="メイリオ" panose="020B0604030504040204" pitchFamily="50" charset="-128"/>
              <a:ea typeface="メイリオ" panose="020B0604030504040204" pitchFamily="50" charset="-128"/>
            </a:endParaRPr>
          </a:p>
        </p:txBody>
      </p:sp>
      <p:grpSp>
        <p:nvGrpSpPr>
          <p:cNvPr id="27" name="グループ化 26">
            <a:extLst>
              <a:ext uri="{FF2B5EF4-FFF2-40B4-BE49-F238E27FC236}">
                <a16:creationId xmlns:a16="http://schemas.microsoft.com/office/drawing/2014/main" id="{E782C8D3-8681-7E5D-3B16-8C0F40B025EE}"/>
              </a:ext>
            </a:extLst>
          </p:cNvPr>
          <p:cNvGrpSpPr/>
          <p:nvPr/>
        </p:nvGrpSpPr>
        <p:grpSpPr>
          <a:xfrm>
            <a:off x="1516733" y="5833771"/>
            <a:ext cx="8303416" cy="475448"/>
            <a:chOff x="1577727" y="6021612"/>
            <a:chExt cx="7309721" cy="475448"/>
          </a:xfrm>
        </p:grpSpPr>
        <p:grpSp>
          <p:nvGrpSpPr>
            <p:cNvPr id="24" name="グループ化 23">
              <a:extLst>
                <a:ext uri="{FF2B5EF4-FFF2-40B4-BE49-F238E27FC236}">
                  <a16:creationId xmlns:a16="http://schemas.microsoft.com/office/drawing/2014/main" id="{2FCEAC37-361F-1912-0337-E6F334C269B8}"/>
                </a:ext>
              </a:extLst>
            </p:cNvPr>
            <p:cNvGrpSpPr/>
            <p:nvPr/>
          </p:nvGrpSpPr>
          <p:grpSpPr>
            <a:xfrm>
              <a:off x="1577727" y="6021612"/>
              <a:ext cx="6794025" cy="451388"/>
              <a:chOff x="1547364" y="4830720"/>
              <a:chExt cx="6794025" cy="451388"/>
            </a:xfrm>
          </p:grpSpPr>
          <p:sp>
            <p:nvSpPr>
              <p:cNvPr id="25" name="四角形: 角を丸くする 24">
                <a:extLst>
                  <a:ext uri="{FF2B5EF4-FFF2-40B4-BE49-F238E27FC236}">
                    <a16:creationId xmlns:a16="http://schemas.microsoft.com/office/drawing/2014/main" id="{45BDBFF5-0245-86EA-947E-C43DF503312F}"/>
                  </a:ext>
                </a:extLst>
              </p:cNvPr>
              <p:cNvSpPr/>
              <p:nvPr/>
            </p:nvSpPr>
            <p:spPr>
              <a:xfrm>
                <a:off x="1547364" y="4830720"/>
                <a:ext cx="6478661" cy="436303"/>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64A28D64-98CA-EB33-62BC-6DC604ED0249}"/>
                  </a:ext>
                </a:extLst>
              </p:cNvPr>
              <p:cNvSpPr txBox="1"/>
              <p:nvPr/>
            </p:nvSpPr>
            <p:spPr>
              <a:xfrm>
                <a:off x="1668210" y="4881998"/>
                <a:ext cx="6673179" cy="400110"/>
              </a:xfrm>
              <a:prstGeom prst="rect">
                <a:avLst/>
              </a:prstGeom>
              <a:noFill/>
            </p:spPr>
            <p:txBody>
              <a:bodyPr wrap="square" rtlCol="0">
                <a:spAutoFit/>
              </a:bodyPr>
              <a:lstStyle/>
              <a:p>
                <a:endParaRPr kumimoji="1" lang="ja-JP" altLang="en-US" sz="2000" dirty="0">
                  <a:latin typeface="メイリオ" panose="020B0604030504040204" pitchFamily="50" charset="-128"/>
                  <a:ea typeface="メイリオ" panose="020B0604030504040204" pitchFamily="50" charset="-128"/>
                </a:endParaRPr>
              </a:p>
            </p:txBody>
          </p:sp>
        </p:grpSp>
        <p:sp>
          <p:nvSpPr>
            <p:cNvPr id="20" name="テキスト ボックス 19">
              <a:extLst>
                <a:ext uri="{FF2B5EF4-FFF2-40B4-BE49-F238E27FC236}">
                  <a16:creationId xmlns:a16="http://schemas.microsoft.com/office/drawing/2014/main" id="{8FF58F49-35C6-D3BD-4E7F-806FF2D3EED0}"/>
                </a:ext>
              </a:extLst>
            </p:cNvPr>
            <p:cNvSpPr txBox="1"/>
            <p:nvPr/>
          </p:nvSpPr>
          <p:spPr>
            <a:xfrm>
              <a:off x="1657486" y="6096950"/>
              <a:ext cx="7229962" cy="400110"/>
            </a:xfrm>
            <a:prstGeom prst="rect">
              <a:avLst/>
            </a:prstGeom>
            <a:noFill/>
          </p:spPr>
          <p:txBody>
            <a:bodyPr wrap="square" rtlCol="0">
              <a:spAutoFit/>
            </a:bodyPr>
            <a:lstStyle/>
            <a:p>
              <a:r>
                <a:rPr lang="en-US" altLang="ja-JP" sz="2000" b="1" dirty="0">
                  <a:latin typeface="メイリオ" panose="020B0604030504040204" pitchFamily="50" charset="-128"/>
                  <a:ea typeface="メイリオ" panose="020B0604030504040204" pitchFamily="50" charset="-128"/>
                </a:rPr>
                <a:t>NEXT</a:t>
              </a:r>
              <a:r>
                <a:rPr lang="ja-JP" altLang="en-US" sz="2000" b="1" dirty="0">
                  <a:latin typeface="メイリオ" panose="020B0604030504040204" pitchFamily="50" charset="-128"/>
                  <a:ea typeface="メイリオ" panose="020B0604030504040204" pitchFamily="50" charset="-128"/>
                </a:rPr>
                <a:t>：ラベル付与に依らない</a:t>
              </a:r>
              <a:r>
                <a:rPr kumimoji="1" lang="ja-JP" altLang="en-US" sz="2000" b="1" dirty="0">
                  <a:latin typeface="メイリオ" panose="020B0604030504040204" pitchFamily="50" charset="-128"/>
                  <a:ea typeface="メイリオ" panose="020B0604030504040204" pitchFamily="50" charset="-128"/>
                </a:rPr>
                <a:t>沸騰発生</a:t>
              </a:r>
              <a:r>
                <a:rPr lang="ja-JP" altLang="en-US" sz="2000" b="1" dirty="0">
                  <a:latin typeface="メイリオ" panose="020B0604030504040204" pitchFamily="50" charset="-128"/>
                  <a:ea typeface="メイリオ" panose="020B0604030504040204" pitchFamily="50" charset="-128"/>
                </a:rPr>
                <a:t>を検知する手法</a:t>
              </a:r>
              <a:r>
                <a:rPr lang="ja-JP" altLang="en-US" sz="2000" dirty="0">
                  <a:latin typeface="メイリオ" panose="020B0604030504040204" pitchFamily="50" charset="-128"/>
                  <a:ea typeface="メイリオ" panose="020B0604030504040204" pitchFamily="50" charset="-128"/>
                </a:rPr>
                <a:t>の構築</a:t>
              </a:r>
              <a:endParaRPr kumimoji="1" lang="ja-JP" altLang="en-US" sz="2000" dirty="0">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1697968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F1AEE-3FEB-B45F-CE1A-0A6662D66C6A}"/>
            </a:ext>
          </a:extLst>
        </p:cNvPr>
        <p:cNvGrpSpPr/>
        <p:nvPr/>
      </p:nvGrpSpPr>
      <p:grpSpPr>
        <a:xfrm>
          <a:off x="0" y="0"/>
          <a:ext cx="0" cy="0"/>
          <a:chOff x="0" y="0"/>
          <a:chExt cx="0" cy="0"/>
        </a:xfrm>
      </p:grpSpPr>
      <p:sp>
        <p:nvSpPr>
          <p:cNvPr id="41" name="四角形: 角を丸くする 40">
            <a:extLst>
              <a:ext uri="{FF2B5EF4-FFF2-40B4-BE49-F238E27FC236}">
                <a16:creationId xmlns:a16="http://schemas.microsoft.com/office/drawing/2014/main" id="{E7D367B7-1FA2-875C-1A1A-15BF5C19EA92}"/>
              </a:ext>
            </a:extLst>
          </p:cNvPr>
          <p:cNvSpPr/>
          <p:nvPr/>
        </p:nvSpPr>
        <p:spPr>
          <a:xfrm>
            <a:off x="644028" y="1380856"/>
            <a:ext cx="4804466" cy="4860684"/>
          </a:xfrm>
          <a:prstGeom prst="roundRect">
            <a:avLst>
              <a:gd name="adj" fmla="val 7814"/>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itle 3">
            <a:extLst>
              <a:ext uri="{FF2B5EF4-FFF2-40B4-BE49-F238E27FC236}">
                <a16:creationId xmlns:a16="http://schemas.microsoft.com/office/drawing/2014/main" id="{FF2417D0-A800-52E8-086F-0E61D435B697}"/>
              </a:ext>
            </a:extLst>
          </p:cNvPr>
          <p:cNvSpPr>
            <a:spLocks noGrp="1"/>
          </p:cNvSpPr>
          <p:nvPr>
            <p:ph type="title"/>
          </p:nvPr>
        </p:nvSpPr>
        <p:spPr>
          <a:xfrm>
            <a:off x="857746" y="410449"/>
            <a:ext cx="8658001" cy="424732"/>
          </a:xfrm>
        </p:spPr>
        <p:txBody>
          <a:bodyPr/>
          <a:lstStyle/>
          <a:p>
            <a:r>
              <a:rPr lang="ja-JP" altLang="en-US">
                <a:latin typeface="メイリオ" panose="020B0604030504040204" pitchFamily="50" charset="-128"/>
                <a:ea typeface="メイリオ" panose="020B0604030504040204" pitchFamily="50" charset="-128"/>
              </a:rPr>
              <a:t>本報の内容</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6DD4A89F-985D-CD03-BB08-4BB3A7814D4A}"/>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6" name="テキスト ボックス 35">
            <a:extLst>
              <a:ext uri="{FF2B5EF4-FFF2-40B4-BE49-F238E27FC236}">
                <a16:creationId xmlns:a16="http://schemas.microsoft.com/office/drawing/2014/main" id="{16E435D4-8009-B48F-C0E3-47D69B9BB606}"/>
              </a:ext>
            </a:extLst>
          </p:cNvPr>
          <p:cNvSpPr txBox="1"/>
          <p:nvPr/>
        </p:nvSpPr>
        <p:spPr>
          <a:xfrm>
            <a:off x="764576" y="1556187"/>
            <a:ext cx="4683918" cy="830997"/>
          </a:xfrm>
          <a:prstGeom prst="rect">
            <a:avLst/>
          </a:prstGeom>
          <a:noFill/>
        </p:spPr>
        <p:txBody>
          <a:bodyPr wrap="square" rtlCol="0">
            <a:spAutoFit/>
          </a:bodyPr>
          <a:lstStyle/>
          <a:p>
            <a:pPr marL="457200" indent="-457200">
              <a:buFont typeface="+mj-lt"/>
              <a:buAutoNum type="arabicPeriod"/>
            </a:pPr>
            <a:r>
              <a:rPr kumimoji="1" lang="ja-JP" altLang="en-US" sz="2400">
                <a:latin typeface="メイリオ" panose="020B0604030504040204" pitchFamily="50" charset="-128"/>
                <a:ea typeface="メイリオ" panose="020B0604030504040204" pitchFamily="50" charset="-128"/>
              </a:rPr>
              <a:t>熱流束ベースの沸騰発生検知手法</a:t>
            </a:r>
            <a:r>
              <a:rPr kumimoji="1" lang="ja-JP" altLang="en-US" sz="2400" dirty="0">
                <a:latin typeface="メイリオ" panose="020B0604030504040204" pitchFamily="50" charset="-128"/>
                <a:ea typeface="メイリオ" panose="020B0604030504040204" pitchFamily="50" charset="-128"/>
              </a:rPr>
              <a:t>を試構築</a:t>
            </a:r>
            <a:endParaRPr kumimoji="1" lang="en-US" altLang="ja-JP" sz="2400"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70EFD588-77CA-9D1C-854D-E81CDB225C3E}"/>
              </a:ext>
            </a:extLst>
          </p:cNvPr>
          <p:cNvSpPr txBox="1"/>
          <p:nvPr/>
        </p:nvSpPr>
        <p:spPr>
          <a:xfrm>
            <a:off x="764577" y="4323792"/>
            <a:ext cx="4351121" cy="461665"/>
          </a:xfrm>
          <a:prstGeom prst="rect">
            <a:avLst/>
          </a:prstGeom>
          <a:noFill/>
        </p:spPr>
        <p:txBody>
          <a:bodyPr wrap="square" rtlCol="0">
            <a:spAutoFit/>
          </a:bodyPr>
          <a:lstStyle/>
          <a:p>
            <a:pPr marL="457200" indent="-457200">
              <a:buFont typeface="+mj-lt"/>
              <a:buAutoNum type="arabicPeriod" startAt="2"/>
            </a:pPr>
            <a:r>
              <a:rPr kumimoji="1" lang="ja-JP" altLang="en-US" sz="2400">
                <a:latin typeface="メイリオ" panose="020B0604030504040204" pitchFamily="50" charset="-128"/>
                <a:ea typeface="メイリオ" panose="020B0604030504040204" pitchFamily="50" charset="-128"/>
              </a:rPr>
              <a:t>複数モデル活用手法の検討</a:t>
            </a:r>
            <a:endParaRPr kumimoji="1" lang="ja-JP" altLang="en-US" sz="2400"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98DDA7CF-BBA3-DACF-9569-B2D940FD892F}"/>
              </a:ext>
            </a:extLst>
          </p:cNvPr>
          <p:cNvSpPr txBox="1"/>
          <p:nvPr/>
        </p:nvSpPr>
        <p:spPr>
          <a:xfrm>
            <a:off x="916262" y="2355214"/>
            <a:ext cx="4199436" cy="1631216"/>
          </a:xfrm>
          <a:prstGeom prst="rect">
            <a:avLst/>
          </a:prstGeom>
          <a:noFill/>
        </p:spPr>
        <p:txBody>
          <a:bodyPr wrap="square" rtlCol="0">
            <a:spAutoFit/>
          </a:bodyPr>
          <a:lstStyle/>
          <a:p>
            <a:pPr marL="342900" indent="-342900">
              <a:buFont typeface="Wingdings" panose="05000000000000000000" pitchFamily="2" charset="2"/>
              <a:buChar char="Ø"/>
            </a:pPr>
            <a:r>
              <a:rPr lang="ja-JP" altLang="en-US" sz="2000" b="1" dirty="0">
                <a:latin typeface="メイリオ" panose="020B0604030504040204" pitchFamily="50" charset="-128"/>
                <a:ea typeface="メイリオ" panose="020B0604030504040204" pitchFamily="50" charset="-128"/>
              </a:rPr>
              <a:t>ラベル付与に依存しない</a:t>
            </a:r>
            <a:endParaRPr lang="en-US" altLang="ja-JP" sz="2000" b="1"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Ø"/>
            </a:pPr>
            <a:r>
              <a:rPr lang="ja-JP" altLang="en-US" sz="2000" dirty="0">
                <a:latin typeface="メイリオ" panose="020B0604030504040204" pitchFamily="50" charset="-128"/>
                <a:ea typeface="メイリオ" panose="020B0604030504040204" pitchFamily="50" charset="-128"/>
              </a:rPr>
              <a:t>沸騰開始近傍の</a:t>
            </a:r>
            <a:r>
              <a:rPr lang="ja-JP" altLang="en-US" sz="2000" b="1" dirty="0">
                <a:latin typeface="メイリオ" panose="020B0604030504040204" pitchFamily="50" charset="-128"/>
                <a:ea typeface="メイリオ" panose="020B0604030504040204" pitchFamily="50" charset="-128"/>
              </a:rPr>
              <a:t>微弱音圧領域</a:t>
            </a:r>
            <a:r>
              <a:rPr lang="ja-JP" altLang="en-US" sz="2000" dirty="0">
                <a:latin typeface="メイリオ" panose="020B0604030504040204" pitchFamily="50" charset="-128"/>
                <a:ea typeface="メイリオ" panose="020B0604030504040204" pitchFamily="50" charset="-128"/>
              </a:rPr>
              <a:t>に着目</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Ø"/>
            </a:pPr>
            <a:r>
              <a:rPr lang="en-US" altLang="ja-JP" sz="2000" b="1" dirty="0">
                <a:latin typeface="メイリオ" panose="020B0604030504040204" pitchFamily="50" charset="-128"/>
                <a:ea typeface="メイリオ" panose="020B0604030504040204" pitchFamily="50" charset="-128"/>
              </a:rPr>
              <a:t>100%</a:t>
            </a:r>
            <a:r>
              <a:rPr lang="ja-JP" altLang="en-US" sz="2000" dirty="0">
                <a:latin typeface="メイリオ" panose="020B0604030504040204" pitchFamily="50" charset="-128"/>
                <a:ea typeface="メイリオ" panose="020B0604030504040204" pitchFamily="50" charset="-128"/>
              </a:rPr>
              <a:t>沸騰発生検知可能な</a:t>
            </a:r>
            <a:r>
              <a:rPr lang="ja-JP" altLang="en-US" sz="2000" b="1" dirty="0">
                <a:latin typeface="メイリオ" panose="020B0604030504040204" pitchFamily="50" charset="-128"/>
                <a:ea typeface="メイリオ" panose="020B0604030504040204" pitchFamily="50" charset="-128"/>
              </a:rPr>
              <a:t>下限熱流束（検知下限）</a:t>
            </a:r>
            <a:r>
              <a:rPr lang="ja-JP" altLang="en-US" sz="2000" dirty="0">
                <a:latin typeface="メイリオ" panose="020B0604030504040204" pitchFamily="50" charset="-128"/>
                <a:ea typeface="メイリオ" panose="020B0604030504040204" pitchFamily="50" charset="-128"/>
              </a:rPr>
              <a:t>を評価</a:t>
            </a:r>
            <a:endParaRPr lang="en-US" altLang="ja-JP" sz="200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EDE943D6-480D-A304-3153-1CB731026C65}"/>
              </a:ext>
            </a:extLst>
          </p:cNvPr>
          <p:cNvSpPr txBox="1"/>
          <p:nvPr/>
        </p:nvSpPr>
        <p:spPr>
          <a:xfrm>
            <a:off x="870700" y="4851779"/>
            <a:ext cx="4351121" cy="1323439"/>
          </a:xfrm>
          <a:prstGeom prst="rect">
            <a:avLst/>
          </a:prstGeom>
          <a:noFill/>
        </p:spPr>
        <p:txBody>
          <a:bodyPr wrap="square" rtlCol="0">
            <a:spAutoFit/>
          </a:bodyPr>
          <a:lstStyle/>
          <a:p>
            <a:pPr marL="342900" indent="-342900">
              <a:buFont typeface="Wingdings" panose="05000000000000000000" pitchFamily="2" charset="2"/>
              <a:buChar char="Ø"/>
            </a:pPr>
            <a:r>
              <a:rPr lang="ja-JP" altLang="en-US" sz="2000" b="1" dirty="0">
                <a:latin typeface="メイリオ" panose="020B0604030504040204" pitchFamily="50" charset="-128"/>
                <a:ea typeface="メイリオ" panose="020B0604030504040204" pitchFamily="50" charset="-128"/>
              </a:rPr>
              <a:t>アンサンブル学習に基づく複数モデルの活用</a:t>
            </a:r>
            <a:endParaRPr lang="en-US" altLang="ja-JP" sz="2000" b="1"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Ø"/>
            </a:pPr>
            <a:r>
              <a:rPr lang="ja-JP" altLang="en-US" sz="2000" dirty="0">
                <a:latin typeface="メイリオ" panose="020B0604030504040204" pitchFamily="50" charset="-128"/>
                <a:ea typeface="メイリオ" panose="020B0604030504040204" pitchFamily="50" charset="-128"/>
              </a:rPr>
              <a:t>一例的な環境雑音として</a:t>
            </a:r>
            <a:r>
              <a:rPr lang="ja-JP" altLang="en-US" sz="2000" b="1" dirty="0">
                <a:latin typeface="メイリオ" panose="020B0604030504040204" pitchFamily="50" charset="-128"/>
                <a:ea typeface="メイリオ" panose="020B0604030504040204" pitchFamily="50" charset="-128"/>
              </a:rPr>
              <a:t>水流動音を適用</a:t>
            </a:r>
            <a:endParaRPr lang="en-US" altLang="ja-JP" sz="2000" b="1" dirty="0">
              <a:latin typeface="メイリオ" panose="020B0604030504040204" pitchFamily="50" charset="-128"/>
              <a:ea typeface="メイリオ" panose="020B0604030504040204" pitchFamily="50" charset="-128"/>
            </a:endParaRPr>
          </a:p>
        </p:txBody>
      </p:sp>
      <p:cxnSp>
        <p:nvCxnSpPr>
          <p:cNvPr id="44" name="直線コネクタ 43">
            <a:extLst>
              <a:ext uri="{FF2B5EF4-FFF2-40B4-BE49-F238E27FC236}">
                <a16:creationId xmlns:a16="http://schemas.microsoft.com/office/drawing/2014/main" id="{CFE34E20-9B10-958B-BAF0-12D735834DC6}"/>
              </a:ext>
            </a:extLst>
          </p:cNvPr>
          <p:cNvCxnSpPr>
            <a:cxnSpLocks/>
          </p:cNvCxnSpPr>
          <p:nvPr/>
        </p:nvCxnSpPr>
        <p:spPr>
          <a:xfrm>
            <a:off x="868834" y="4040665"/>
            <a:ext cx="4352987"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5A2F3414-33D0-81DF-7600-941E5FD9809D}"/>
              </a:ext>
            </a:extLst>
          </p:cNvPr>
          <p:cNvSpPr/>
          <p:nvPr/>
        </p:nvSpPr>
        <p:spPr>
          <a:xfrm>
            <a:off x="6672279" y="2387184"/>
            <a:ext cx="2917208" cy="2765406"/>
          </a:xfrm>
          <a:prstGeom prst="rect">
            <a:avLst/>
          </a:prstGeom>
          <a:solidFill>
            <a:srgbClr val="FDBCB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 name="直線コネクタ 2">
            <a:extLst>
              <a:ext uri="{FF2B5EF4-FFF2-40B4-BE49-F238E27FC236}">
                <a16:creationId xmlns:a16="http://schemas.microsoft.com/office/drawing/2014/main" id="{E12DBB8D-77F7-CD68-CD82-7FF091BF7228}"/>
              </a:ext>
            </a:extLst>
          </p:cNvPr>
          <p:cNvCxnSpPr>
            <a:cxnSpLocks/>
            <a:endCxn id="13" idx="0"/>
          </p:cNvCxnSpPr>
          <p:nvPr/>
        </p:nvCxnSpPr>
        <p:spPr>
          <a:xfrm flipV="1">
            <a:off x="6119619" y="2580930"/>
            <a:ext cx="3168134" cy="2444371"/>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7BF84765-D0B5-A4CA-58B0-3781659B85FD}"/>
              </a:ext>
            </a:extLst>
          </p:cNvPr>
          <p:cNvCxnSpPr>
            <a:cxnSpLocks/>
          </p:cNvCxnSpPr>
          <p:nvPr/>
        </p:nvCxnSpPr>
        <p:spPr>
          <a:xfrm>
            <a:off x="5995696" y="4619404"/>
            <a:ext cx="3563794" cy="0"/>
          </a:xfrm>
          <a:prstGeom prst="line">
            <a:avLst/>
          </a:prstGeom>
          <a:ln w="28575">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5A025566-0634-BEEB-E81D-B15DFC2C32F7}"/>
              </a:ext>
            </a:extLst>
          </p:cNvPr>
          <p:cNvSpPr txBox="1"/>
          <p:nvPr/>
        </p:nvSpPr>
        <p:spPr>
          <a:xfrm>
            <a:off x="8471555" y="5346336"/>
            <a:ext cx="1424915" cy="383229"/>
          </a:xfrm>
          <a:prstGeom prst="rect">
            <a:avLst/>
          </a:prstGeom>
          <a:noFill/>
        </p:spPr>
        <p:txBody>
          <a:bodyPr wrap="square" rtlCol="0">
            <a:spAutoFit/>
          </a:bodyPr>
          <a:lstStyle/>
          <a:p>
            <a:r>
              <a:rPr lang="ja-JP" altLang="en-US" sz="2800" baseline="30000" dirty="0">
                <a:latin typeface="メイリオ" panose="020B0604030504040204" pitchFamily="50" charset="-128"/>
                <a:ea typeface="メイリオ" panose="020B0604030504040204" pitchFamily="50" charset="-128"/>
              </a:rPr>
              <a:t>事象推移</a:t>
            </a:r>
            <a:endParaRPr kumimoji="1" lang="ja-JP" altLang="en-US" sz="2800" baseline="30000" dirty="0">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0E1C4871-4146-5C53-2F9A-2D82407A4EBC}"/>
              </a:ext>
            </a:extLst>
          </p:cNvPr>
          <p:cNvSpPr/>
          <p:nvPr/>
        </p:nvSpPr>
        <p:spPr>
          <a:xfrm>
            <a:off x="6207320" y="4447176"/>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081D9D3-46A9-E65A-66B1-4F9DC7F96C3A}"/>
              </a:ext>
            </a:extLst>
          </p:cNvPr>
          <p:cNvSpPr/>
          <p:nvPr/>
        </p:nvSpPr>
        <p:spPr>
          <a:xfrm>
            <a:off x="8226845" y="3110703"/>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9543F69-A75A-1089-1C4C-2BACB8EBD6FC}"/>
              </a:ext>
            </a:extLst>
          </p:cNvPr>
          <p:cNvSpPr/>
          <p:nvPr/>
        </p:nvSpPr>
        <p:spPr>
          <a:xfrm>
            <a:off x="7476378" y="3656595"/>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1DBB2E9-C85D-6B9E-15A2-85E2B131349E}"/>
              </a:ext>
            </a:extLst>
          </p:cNvPr>
          <p:cNvSpPr/>
          <p:nvPr/>
        </p:nvSpPr>
        <p:spPr>
          <a:xfrm>
            <a:off x="6680076" y="4031576"/>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6F8EF24-518D-D276-0780-307222687D37}"/>
              </a:ext>
            </a:extLst>
          </p:cNvPr>
          <p:cNvSpPr/>
          <p:nvPr/>
        </p:nvSpPr>
        <p:spPr>
          <a:xfrm>
            <a:off x="9184013" y="2580930"/>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AEE82BBE-9C69-D959-A085-754A43BD5945}"/>
              </a:ext>
            </a:extLst>
          </p:cNvPr>
          <p:cNvSpPr/>
          <p:nvPr/>
        </p:nvSpPr>
        <p:spPr>
          <a:xfrm>
            <a:off x="8684524" y="2646688"/>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44DF1BBF-C4D8-E173-D313-6849F786226D}"/>
              </a:ext>
            </a:extLst>
          </p:cNvPr>
          <p:cNvCxnSpPr>
            <a:cxnSpLocks/>
          </p:cNvCxnSpPr>
          <p:nvPr/>
        </p:nvCxnSpPr>
        <p:spPr>
          <a:xfrm>
            <a:off x="7476378" y="2461338"/>
            <a:ext cx="0" cy="2717246"/>
          </a:xfrm>
          <a:prstGeom prst="line">
            <a:avLst/>
          </a:prstGeom>
          <a:ln w="28575">
            <a:solidFill>
              <a:srgbClr val="1482E6"/>
            </a:solidFill>
            <a:prstDash val="dash"/>
          </a:ln>
        </p:spPr>
        <p:style>
          <a:lnRef idx="2">
            <a:schemeClr val="accent1"/>
          </a:lnRef>
          <a:fillRef idx="0">
            <a:schemeClr val="accent1"/>
          </a:fillRef>
          <a:effectRef idx="1">
            <a:schemeClr val="accent1"/>
          </a:effectRef>
          <a:fontRef idx="minor">
            <a:schemeClr val="tx1"/>
          </a:fontRef>
        </p:style>
      </p:cxnSp>
      <p:sp>
        <p:nvSpPr>
          <p:cNvPr id="16" name="矢印: 右 15">
            <a:extLst>
              <a:ext uri="{FF2B5EF4-FFF2-40B4-BE49-F238E27FC236}">
                <a16:creationId xmlns:a16="http://schemas.microsoft.com/office/drawing/2014/main" id="{024945BE-90A1-7A4F-F14E-6D60B246C17A}"/>
              </a:ext>
            </a:extLst>
          </p:cNvPr>
          <p:cNvSpPr/>
          <p:nvPr/>
        </p:nvSpPr>
        <p:spPr>
          <a:xfrm rot="16200000">
            <a:off x="7348878" y="5161161"/>
            <a:ext cx="255000" cy="393823"/>
          </a:xfrm>
          <a:prstGeom prst="rightArrow">
            <a:avLst>
              <a:gd name="adj1" fmla="val 44040"/>
              <a:gd name="adj2" fmla="val 52980"/>
            </a:avLst>
          </a:prstGeom>
          <a:solidFill>
            <a:srgbClr val="1482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C2A3B0B9-61C9-5ABC-FE54-BE942C7637A3}"/>
              </a:ext>
            </a:extLst>
          </p:cNvPr>
          <p:cNvCxnSpPr>
            <a:cxnSpLocks/>
          </p:cNvCxnSpPr>
          <p:nvPr/>
        </p:nvCxnSpPr>
        <p:spPr>
          <a:xfrm>
            <a:off x="5901249" y="5178584"/>
            <a:ext cx="3697516" cy="0"/>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cxnSp>
        <p:nvCxnSpPr>
          <p:cNvPr id="18" name="直線矢印コネクタ 17">
            <a:extLst>
              <a:ext uri="{FF2B5EF4-FFF2-40B4-BE49-F238E27FC236}">
                <a16:creationId xmlns:a16="http://schemas.microsoft.com/office/drawing/2014/main" id="{7A9596FD-A6CA-F450-C2DC-EE0FB30E15EF}"/>
              </a:ext>
            </a:extLst>
          </p:cNvPr>
          <p:cNvCxnSpPr>
            <a:cxnSpLocks/>
          </p:cNvCxnSpPr>
          <p:nvPr/>
        </p:nvCxnSpPr>
        <p:spPr>
          <a:xfrm flipV="1">
            <a:off x="5911817" y="2366009"/>
            <a:ext cx="0" cy="2813900"/>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sp>
        <p:nvSpPr>
          <p:cNvPr id="19" name="テキスト ボックス 18">
            <a:extLst>
              <a:ext uri="{FF2B5EF4-FFF2-40B4-BE49-F238E27FC236}">
                <a16:creationId xmlns:a16="http://schemas.microsoft.com/office/drawing/2014/main" id="{1FCF78F8-E31B-2047-6753-AB30E8F610D9}"/>
              </a:ext>
            </a:extLst>
          </p:cNvPr>
          <p:cNvSpPr txBox="1"/>
          <p:nvPr/>
        </p:nvSpPr>
        <p:spPr>
          <a:xfrm rot="16200000">
            <a:off x="5153362" y="2777668"/>
            <a:ext cx="1421471" cy="381596"/>
          </a:xfrm>
          <a:prstGeom prst="rect">
            <a:avLst/>
          </a:prstGeom>
          <a:noFill/>
        </p:spPr>
        <p:txBody>
          <a:bodyPr wrap="square" rtlCol="0">
            <a:spAutoFit/>
          </a:bodyPr>
          <a:lstStyle/>
          <a:p>
            <a:r>
              <a:rPr kumimoji="1" lang="ja-JP" altLang="en-US" sz="2800" baseline="30000" dirty="0">
                <a:latin typeface="メイリオ" panose="020B0604030504040204" pitchFamily="50" charset="-128"/>
                <a:ea typeface="メイリオ" panose="020B0604030504040204" pitchFamily="50" charset="-128"/>
              </a:rPr>
              <a:t>予測熱流束</a:t>
            </a:r>
          </a:p>
        </p:txBody>
      </p:sp>
      <p:sp>
        <p:nvSpPr>
          <p:cNvPr id="20" name="テキスト ボックス 19">
            <a:extLst>
              <a:ext uri="{FF2B5EF4-FFF2-40B4-BE49-F238E27FC236}">
                <a16:creationId xmlns:a16="http://schemas.microsoft.com/office/drawing/2014/main" id="{9FF2B207-0A1E-2B3E-7FFF-47EFEFAE9639}"/>
              </a:ext>
            </a:extLst>
          </p:cNvPr>
          <p:cNvSpPr txBox="1"/>
          <p:nvPr/>
        </p:nvSpPr>
        <p:spPr>
          <a:xfrm>
            <a:off x="6596584" y="2175206"/>
            <a:ext cx="1497179" cy="383229"/>
          </a:xfrm>
          <a:prstGeom prst="rect">
            <a:avLst/>
          </a:prstGeom>
          <a:noFill/>
        </p:spPr>
        <p:txBody>
          <a:bodyPr wrap="square" rtlCol="0">
            <a:spAutoFit/>
          </a:bodyPr>
          <a:lstStyle/>
          <a:p>
            <a:r>
              <a:rPr kumimoji="1" lang="ja-JP" altLang="en-US" sz="2800" baseline="30000" dirty="0">
                <a:solidFill>
                  <a:srgbClr val="FA5B40"/>
                </a:solidFill>
                <a:latin typeface="メイリオ" panose="020B0604030504040204" pitchFamily="50" charset="-128"/>
                <a:ea typeface="メイリオ" panose="020B0604030504040204" pitchFamily="50" charset="-128"/>
              </a:rPr>
              <a:t>核沸騰領域</a:t>
            </a:r>
          </a:p>
        </p:txBody>
      </p:sp>
      <p:sp>
        <p:nvSpPr>
          <p:cNvPr id="21" name="正方形/長方形 20">
            <a:extLst>
              <a:ext uri="{FF2B5EF4-FFF2-40B4-BE49-F238E27FC236}">
                <a16:creationId xmlns:a16="http://schemas.microsoft.com/office/drawing/2014/main" id="{69C30CD8-B5A5-FBAA-6D8A-38713CCA332A}"/>
              </a:ext>
            </a:extLst>
          </p:cNvPr>
          <p:cNvSpPr/>
          <p:nvPr/>
        </p:nvSpPr>
        <p:spPr>
          <a:xfrm>
            <a:off x="7086598" y="4144643"/>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44C0BF4-B71F-FE3F-CBF5-77E21867992C}"/>
              </a:ext>
            </a:extLst>
          </p:cNvPr>
          <p:cNvSpPr/>
          <p:nvPr/>
        </p:nvSpPr>
        <p:spPr>
          <a:xfrm>
            <a:off x="7860938" y="3342080"/>
            <a:ext cx="207480" cy="545892"/>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26D8DA9-8B3B-2C0C-50AD-C6F0928C281B}"/>
              </a:ext>
            </a:extLst>
          </p:cNvPr>
          <p:cNvSpPr txBox="1"/>
          <p:nvPr/>
        </p:nvSpPr>
        <p:spPr>
          <a:xfrm>
            <a:off x="7031825" y="5638856"/>
            <a:ext cx="1424915" cy="420628"/>
          </a:xfrm>
          <a:prstGeom prst="rect">
            <a:avLst/>
          </a:prstGeom>
          <a:noFill/>
        </p:spPr>
        <p:txBody>
          <a:bodyPr wrap="square" rtlCol="0">
            <a:spAutoFit/>
          </a:bodyPr>
          <a:lstStyle/>
          <a:p>
            <a:r>
              <a:rPr kumimoji="1" lang="ja-JP" altLang="en-US" sz="3200" baseline="30000" dirty="0">
                <a:solidFill>
                  <a:srgbClr val="1482E6"/>
                </a:solidFill>
                <a:latin typeface="メイリオ" panose="020B0604030504040204" pitchFamily="50" charset="-128"/>
                <a:ea typeface="メイリオ" panose="020B0604030504040204" pitchFamily="50" charset="-128"/>
              </a:rPr>
              <a:t>検知下限</a:t>
            </a:r>
          </a:p>
        </p:txBody>
      </p:sp>
      <p:sp>
        <p:nvSpPr>
          <p:cNvPr id="24" name="テキスト ボックス 23">
            <a:extLst>
              <a:ext uri="{FF2B5EF4-FFF2-40B4-BE49-F238E27FC236}">
                <a16:creationId xmlns:a16="http://schemas.microsoft.com/office/drawing/2014/main" id="{AF207ADB-DCD1-EE7D-9578-F78D43F53E1B}"/>
              </a:ext>
            </a:extLst>
          </p:cNvPr>
          <p:cNvSpPr txBox="1"/>
          <p:nvPr/>
        </p:nvSpPr>
        <p:spPr>
          <a:xfrm>
            <a:off x="7462163" y="4430969"/>
            <a:ext cx="2181205" cy="359073"/>
          </a:xfrm>
          <a:prstGeom prst="rect">
            <a:avLst/>
          </a:prstGeom>
          <a:noFill/>
        </p:spPr>
        <p:txBody>
          <a:bodyPr wrap="square" rtlCol="0">
            <a:spAutoFit/>
          </a:bodyPr>
          <a:lstStyle/>
          <a:p>
            <a:r>
              <a:rPr kumimoji="1" lang="ja-JP" altLang="en-US" sz="2600" baseline="30000" dirty="0">
                <a:latin typeface="メイリオ" panose="020B0604030504040204" pitchFamily="50" charset="-128"/>
                <a:ea typeface="メイリオ" panose="020B0604030504040204" pitchFamily="50" charset="-128"/>
              </a:rPr>
              <a:t>沸騰開始点の熱流束</a:t>
            </a:r>
          </a:p>
        </p:txBody>
      </p:sp>
      <p:cxnSp>
        <p:nvCxnSpPr>
          <p:cNvPr id="25" name="直線コネクタ 24">
            <a:extLst>
              <a:ext uri="{FF2B5EF4-FFF2-40B4-BE49-F238E27FC236}">
                <a16:creationId xmlns:a16="http://schemas.microsoft.com/office/drawing/2014/main" id="{B3EF5B0B-731C-ECB5-12D3-90EFC5DB2290}"/>
              </a:ext>
            </a:extLst>
          </p:cNvPr>
          <p:cNvCxnSpPr>
            <a:cxnSpLocks/>
          </p:cNvCxnSpPr>
          <p:nvPr/>
        </p:nvCxnSpPr>
        <p:spPr>
          <a:xfrm>
            <a:off x="6680076" y="2461338"/>
            <a:ext cx="0" cy="2717246"/>
          </a:xfrm>
          <a:prstGeom prst="line">
            <a:avLst/>
          </a:prstGeom>
          <a:ln w="28575">
            <a:solidFill>
              <a:srgbClr val="FF3B3B"/>
            </a:solidFill>
            <a:prstDash val="dash"/>
          </a:ln>
        </p:spPr>
        <p:style>
          <a:lnRef idx="2">
            <a:schemeClr val="accent1"/>
          </a:lnRef>
          <a:fillRef idx="0">
            <a:schemeClr val="accent1"/>
          </a:fillRef>
          <a:effectRef idx="1">
            <a:schemeClr val="accent1"/>
          </a:effectRef>
          <a:fontRef idx="minor">
            <a:schemeClr val="tx1"/>
          </a:fontRef>
        </p:style>
      </p:cxnSp>
      <p:sp>
        <p:nvSpPr>
          <p:cNvPr id="26" name="矢印: 右 25">
            <a:extLst>
              <a:ext uri="{FF2B5EF4-FFF2-40B4-BE49-F238E27FC236}">
                <a16:creationId xmlns:a16="http://schemas.microsoft.com/office/drawing/2014/main" id="{57FA15F6-92D6-C46F-9A15-69A11CFAEE66}"/>
              </a:ext>
            </a:extLst>
          </p:cNvPr>
          <p:cNvSpPr/>
          <p:nvPr/>
        </p:nvSpPr>
        <p:spPr>
          <a:xfrm rot="16200000">
            <a:off x="6546745" y="5149656"/>
            <a:ext cx="255000" cy="393823"/>
          </a:xfrm>
          <a:prstGeom prst="rightArrow">
            <a:avLst>
              <a:gd name="adj1" fmla="val 44040"/>
              <a:gd name="adj2" fmla="val 52980"/>
            </a:avLst>
          </a:prstGeom>
          <a:solidFill>
            <a:srgbClr val="FF3B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908C4C56-E9FD-7DAB-539F-4D2F54D0634D}"/>
              </a:ext>
            </a:extLst>
          </p:cNvPr>
          <p:cNvSpPr txBox="1"/>
          <p:nvPr/>
        </p:nvSpPr>
        <p:spPr>
          <a:xfrm>
            <a:off x="6311060" y="5638856"/>
            <a:ext cx="775538" cy="420628"/>
          </a:xfrm>
          <a:prstGeom prst="rect">
            <a:avLst/>
          </a:prstGeom>
          <a:noFill/>
        </p:spPr>
        <p:txBody>
          <a:bodyPr wrap="square" rtlCol="0">
            <a:spAutoFit/>
          </a:bodyPr>
          <a:lstStyle/>
          <a:p>
            <a:r>
              <a:rPr lang="ja-JP" altLang="en-US" sz="3200" baseline="30000" dirty="0">
                <a:solidFill>
                  <a:srgbClr val="FF3B3B"/>
                </a:solidFill>
                <a:latin typeface="メイリオ" panose="020B0604030504040204" pitchFamily="50" charset="-128"/>
                <a:ea typeface="メイリオ" panose="020B0604030504040204" pitchFamily="50" charset="-128"/>
              </a:rPr>
              <a:t>閾値</a:t>
            </a:r>
            <a:endParaRPr kumimoji="1" lang="ja-JP" altLang="en-US" sz="3200" baseline="30000" dirty="0">
              <a:solidFill>
                <a:srgbClr val="FF3B3B"/>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13763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87360-C5F2-C451-404C-D5559AA02D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FE0B62-E9B2-492E-E489-5FA6AEBCA71B}"/>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サブクール沸騰実験</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D28D1AD9-357F-C58B-FBBC-FE9A84829C6E}"/>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 name="テキスト ボックス 6">
            <a:extLst>
              <a:ext uri="{FF2B5EF4-FFF2-40B4-BE49-F238E27FC236}">
                <a16:creationId xmlns:a16="http://schemas.microsoft.com/office/drawing/2014/main" id="{7CCE5CD2-3CCE-B619-EC17-B4599966F728}"/>
              </a:ext>
            </a:extLst>
          </p:cNvPr>
          <p:cNvSpPr txBox="1"/>
          <p:nvPr/>
        </p:nvSpPr>
        <p:spPr>
          <a:xfrm>
            <a:off x="1022453" y="1596622"/>
            <a:ext cx="8328585" cy="707886"/>
          </a:xfrm>
          <a:prstGeom prst="rect">
            <a:avLst/>
          </a:prstGeom>
          <a:noFill/>
        </p:spPr>
        <p:txBody>
          <a:bodyPr wrap="square" rtlCol="0">
            <a:spAutoFit/>
          </a:bodyPr>
          <a:lstStyle/>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機械</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学習に使用する</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沸騰・未沸騰状態の音響データ</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を取得するための可視化を伴う基礎実験</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p:txBody>
      </p:sp>
      <p:grpSp>
        <p:nvGrpSpPr>
          <p:cNvPr id="17" name="グループ化 16">
            <a:extLst>
              <a:ext uri="{FF2B5EF4-FFF2-40B4-BE49-F238E27FC236}">
                <a16:creationId xmlns:a16="http://schemas.microsoft.com/office/drawing/2014/main" id="{CE6B90AF-2CB3-0327-7A34-865ABD4FC04B}"/>
              </a:ext>
            </a:extLst>
          </p:cNvPr>
          <p:cNvGrpSpPr/>
          <p:nvPr/>
        </p:nvGrpSpPr>
        <p:grpSpPr>
          <a:xfrm>
            <a:off x="995418" y="2466048"/>
            <a:ext cx="4652949" cy="815076"/>
            <a:chOff x="971231" y="2336216"/>
            <a:chExt cx="4652949" cy="815076"/>
          </a:xfrm>
        </p:grpSpPr>
        <p:sp>
          <p:nvSpPr>
            <p:cNvPr id="12" name="四角形: 角を丸くする 11">
              <a:extLst>
                <a:ext uri="{FF2B5EF4-FFF2-40B4-BE49-F238E27FC236}">
                  <a16:creationId xmlns:a16="http://schemas.microsoft.com/office/drawing/2014/main" id="{8401EC02-CDAD-DDFB-A37C-4B487E98B7A3}"/>
                </a:ext>
              </a:extLst>
            </p:cNvPr>
            <p:cNvSpPr/>
            <p:nvPr/>
          </p:nvSpPr>
          <p:spPr>
            <a:xfrm>
              <a:off x="971231" y="2336216"/>
              <a:ext cx="4601727" cy="815076"/>
            </a:xfrm>
            <a:prstGeom prst="roundRect">
              <a:avLst>
                <a:gd name="adj" fmla="val 11727"/>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8CF3025-5B48-1713-4B09-C705EA96D9D7}"/>
                </a:ext>
              </a:extLst>
            </p:cNvPr>
            <p:cNvSpPr txBox="1"/>
            <p:nvPr/>
          </p:nvSpPr>
          <p:spPr>
            <a:xfrm>
              <a:off x="1022453" y="2419812"/>
              <a:ext cx="4601727" cy="707886"/>
            </a:xfrm>
            <a:prstGeom prst="rect">
              <a:avLst/>
            </a:prstGeom>
            <a:noFill/>
          </p:spPr>
          <p:txBody>
            <a:bodyPr wrap="square" rtlCol="0">
              <a:spAutoFit/>
            </a:bodyPr>
            <a:lstStyle/>
            <a:p>
              <a:r>
                <a:rPr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再現性を確保するため，同一条件で実験を</a:t>
              </a:r>
              <a:r>
                <a:rPr lang="en-US" altLang="ja-JP" sz="2000" b="1" u="sng" dirty="0">
                  <a:latin typeface="メイリオ" panose="020B0604030504040204" pitchFamily="50" charset="-128"/>
                  <a:ea typeface="メイリオ" panose="020B0604030504040204" pitchFamily="50" charset="-128"/>
                </a:rPr>
                <a:t>3</a:t>
              </a:r>
              <a:r>
                <a:rPr lang="ja-JP" altLang="en-US" sz="2000" b="1" u="sng" dirty="0">
                  <a:latin typeface="メイリオ" panose="020B0604030504040204" pitchFamily="50" charset="-128"/>
                  <a:ea typeface="メイリオ" panose="020B0604030504040204" pitchFamily="50" charset="-128"/>
                </a:rPr>
                <a:t>回</a:t>
              </a:r>
              <a:r>
                <a:rPr lang="ja-JP" altLang="en-US" sz="2000" dirty="0">
                  <a:latin typeface="メイリオ" panose="020B0604030504040204" pitchFamily="50" charset="-128"/>
                  <a:ea typeface="メイリオ" panose="020B0604030504040204" pitchFamily="50" charset="-128"/>
                </a:rPr>
                <a:t>実施</a:t>
              </a:r>
              <a:endParaRPr kumimoji="1" lang="ja-JP" altLang="en-US" sz="2000" dirty="0">
                <a:latin typeface="メイリオ" panose="020B0604030504040204" pitchFamily="50" charset="-128"/>
                <a:ea typeface="メイリオ" panose="020B0604030504040204" pitchFamily="50" charset="-128"/>
              </a:endParaRPr>
            </a:p>
          </p:txBody>
        </p:sp>
      </p:grpSp>
      <p:sp>
        <p:nvSpPr>
          <p:cNvPr id="19" name="Text Placeholder 1">
            <a:extLst>
              <a:ext uri="{FF2B5EF4-FFF2-40B4-BE49-F238E27FC236}">
                <a16:creationId xmlns:a16="http://schemas.microsoft.com/office/drawing/2014/main" id="{6811E147-06EE-B14C-0FE0-89843351CA56}"/>
              </a:ext>
            </a:extLst>
          </p:cNvPr>
          <p:cNvSpPr>
            <a:spLocks noGrp="1"/>
          </p:cNvSpPr>
          <p:nvPr>
            <p:ph type="body" sz="half" idx="12"/>
          </p:nvPr>
        </p:nvSpPr>
        <p:spPr>
          <a:xfrm>
            <a:off x="857746" y="3478522"/>
            <a:ext cx="1631245" cy="385946"/>
          </a:xfrm>
        </p:spPr>
        <p:txBody>
          <a:bodyPr/>
          <a:lstStyle/>
          <a:p>
            <a:r>
              <a:rPr lang="ja-JP" altLang="en-US" sz="2300" b="1" dirty="0">
                <a:latin typeface="メイリオ" panose="020B0604030504040204" pitchFamily="50" charset="-128"/>
                <a:ea typeface="メイリオ" panose="020B0604030504040204" pitchFamily="50" charset="-128"/>
              </a:rPr>
              <a:t>実験前準備</a:t>
            </a:r>
            <a:endParaRPr lang="en-JP" sz="2300" b="1" dirty="0">
              <a:latin typeface="メイリオ" panose="020B0604030504040204" pitchFamily="50" charset="-128"/>
              <a:ea typeface="メイリオ" panose="020B0604030504040204" pitchFamily="50" charset="-128"/>
            </a:endParaRPr>
          </a:p>
        </p:txBody>
      </p:sp>
      <p:cxnSp>
        <p:nvCxnSpPr>
          <p:cNvPr id="20" name="直線コネクタ 19">
            <a:extLst>
              <a:ext uri="{FF2B5EF4-FFF2-40B4-BE49-F238E27FC236}">
                <a16:creationId xmlns:a16="http://schemas.microsoft.com/office/drawing/2014/main" id="{3ECAE076-6D0E-E0DF-364E-9494E856A355}"/>
              </a:ext>
            </a:extLst>
          </p:cNvPr>
          <p:cNvCxnSpPr>
            <a:cxnSpLocks/>
          </p:cNvCxnSpPr>
          <p:nvPr/>
        </p:nvCxnSpPr>
        <p:spPr>
          <a:xfrm>
            <a:off x="743695" y="3455811"/>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E482F97-3FF1-D361-7DDC-D7A57D763269}"/>
              </a:ext>
            </a:extLst>
          </p:cNvPr>
          <p:cNvSpPr txBox="1"/>
          <p:nvPr/>
        </p:nvSpPr>
        <p:spPr>
          <a:xfrm>
            <a:off x="638699" y="4027178"/>
            <a:ext cx="4768507" cy="2554545"/>
          </a:xfrm>
          <a:prstGeom prst="rect">
            <a:avLst/>
          </a:prstGeom>
          <a:noFill/>
        </p:spPr>
        <p:txBody>
          <a:bodyPr wrap="square" numCol="1" rtlCol="0">
            <a:spAutoFit/>
          </a:bodyPr>
          <a:lstStyle/>
          <a:p>
            <a:pPr marL="457200" indent="-457200">
              <a:buFont typeface="+mj-lt"/>
              <a:buAutoNum type="arabicPeriod"/>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電極間に水平に</a:t>
            </a:r>
            <a:r>
              <a:rPr kumimoji="1" lang="ja-JP" altLang="en-US" sz="2000" b="1" u="sng" dirty="0">
                <a:solidFill>
                  <a:srgbClr val="6969FF"/>
                </a:solidFill>
                <a:latin typeface="メイリオ" panose="020B0604030504040204" pitchFamily="50" charset="-128"/>
                <a:ea typeface="メイリオ" panose="020B0604030504040204" pitchFamily="50" charset="-128"/>
                <a:sym typeface="Source Han Sans JP"/>
              </a:rPr>
              <a:t>白金細線</a:t>
            </a:r>
            <a:r>
              <a:rPr kumimoji="1" lang="en-US" altLang="ja-JP" sz="2000" b="1" u="sng" dirty="0">
                <a:solidFill>
                  <a:srgbClr val="6969FF"/>
                </a:solidFill>
                <a:latin typeface="メイリオ" panose="020B0604030504040204" pitchFamily="50" charset="-128"/>
                <a:ea typeface="メイリオ" panose="020B0604030504040204" pitchFamily="50" charset="-128"/>
                <a:sym typeface="Source Han Sans JP"/>
              </a:rPr>
              <a:t>(</a:t>
            </a:r>
            <a:r>
              <a:rPr kumimoji="1" lang="ja-JP" altLang="en-US" sz="2000" b="1" u="sng" dirty="0">
                <a:solidFill>
                  <a:srgbClr val="6969FF"/>
                </a:solidFill>
                <a:latin typeface="メイリオ" panose="020B0604030504040204" pitchFamily="50" charset="-128"/>
                <a:ea typeface="メイリオ" panose="020B0604030504040204" pitchFamily="50" charset="-128"/>
                <a:sym typeface="Source Han Sans JP"/>
              </a:rPr>
              <a:t>長さ</a:t>
            </a:r>
            <a:r>
              <a:rPr kumimoji="1" lang="en-US" altLang="ja-JP" sz="2000" b="1" u="sng" dirty="0">
                <a:solidFill>
                  <a:srgbClr val="6969FF"/>
                </a:solidFill>
                <a:latin typeface="メイリオ" panose="020B0604030504040204" pitchFamily="50" charset="-128"/>
                <a:ea typeface="メイリオ" panose="020B0604030504040204" pitchFamily="50" charset="-128"/>
                <a:sym typeface="Source Han Sans JP"/>
              </a:rPr>
              <a:t>4.0 cm</a:t>
            </a:r>
            <a:r>
              <a:rPr kumimoji="1" lang="ja-JP" altLang="en-US" sz="2000" b="1" u="sng" dirty="0">
                <a:solidFill>
                  <a:srgbClr val="6969FF"/>
                </a:solidFill>
                <a:latin typeface="メイリオ" panose="020B0604030504040204" pitchFamily="50" charset="-128"/>
                <a:ea typeface="メイリオ" panose="020B0604030504040204" pitchFamily="50" charset="-128"/>
                <a:sym typeface="Source Han Sans JP"/>
              </a:rPr>
              <a:t>，直径</a:t>
            </a:r>
            <a:r>
              <a:rPr kumimoji="1" lang="en-US" altLang="ja-JP" sz="2000" b="1" u="sng" dirty="0">
                <a:solidFill>
                  <a:srgbClr val="6969FF"/>
                </a:solidFill>
                <a:latin typeface="メイリオ" panose="020B0604030504040204" pitchFamily="50" charset="-128"/>
                <a:ea typeface="メイリオ" panose="020B0604030504040204" pitchFamily="50" charset="-128"/>
                <a:sym typeface="Source Han Sans JP"/>
              </a:rPr>
              <a:t>0.3 mm</a:t>
            </a:r>
            <a:r>
              <a:rPr lang="en-US" altLang="ja-JP" sz="2000" b="1" u="sng" dirty="0">
                <a:solidFill>
                  <a:srgbClr val="6969FF"/>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を張り，気圧を確認</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457200">
              <a:buFont typeface="+mj-lt"/>
              <a:buAutoNum type="arabicPeriod"/>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水槽に超純水を入れる</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457200">
              <a:buFont typeface="+mj-lt"/>
              <a:buAutoNum type="arabicPeriod"/>
            </a:pPr>
            <a:r>
              <a:rPr kumimoji="1" lang="ja-JP" altLang="en-US" sz="2000" dirty="0">
                <a:latin typeface="メイリオ" panose="020B0604030504040204" pitchFamily="50" charset="-128"/>
                <a:ea typeface="メイリオ" panose="020B0604030504040204" pitchFamily="50" charset="-128"/>
              </a:rPr>
              <a:t>攪拌しながらホットプレートと補助ヒーター</a:t>
            </a:r>
            <a:r>
              <a:rPr lang="ja-JP" altLang="en-US" sz="2000" dirty="0">
                <a:latin typeface="メイリオ" panose="020B0604030504040204" pitchFamily="50" charset="-128"/>
                <a:ea typeface="メイリオ" panose="020B0604030504040204" pitchFamily="50" charset="-128"/>
              </a:rPr>
              <a:t>で</a:t>
            </a:r>
            <a:r>
              <a:rPr kumimoji="1" lang="ja-JP" altLang="en-US" sz="2000" dirty="0">
                <a:latin typeface="メイリオ" panose="020B0604030504040204" pitchFamily="50" charset="-128"/>
                <a:ea typeface="メイリオ" panose="020B0604030504040204" pitchFamily="50" charset="-128"/>
              </a:rPr>
              <a:t>飽和温度まで加熱</a:t>
            </a:r>
            <a:r>
              <a:rPr lang="ja-JP" altLang="en-US" sz="2000" dirty="0">
                <a:latin typeface="メイリオ" panose="020B0604030504040204" pitchFamily="50" charset="-128"/>
                <a:ea typeface="メイリオ" panose="020B0604030504040204" pitchFamily="50" charset="-128"/>
              </a:rPr>
              <a:t>・</a:t>
            </a:r>
            <a:r>
              <a:rPr lang="ja-JP" altLang="en-US" sz="2000" b="1" u="sng" dirty="0">
                <a:solidFill>
                  <a:srgbClr val="6969FF"/>
                </a:solidFill>
                <a:latin typeface="メイリオ" panose="020B0604030504040204" pitchFamily="50" charset="-128"/>
                <a:ea typeface="メイリオ" panose="020B0604030504040204" pitchFamily="50" charset="-128"/>
              </a:rPr>
              <a:t>脱気</a:t>
            </a:r>
            <a:endParaRPr lang="en-US" altLang="ja-JP" sz="2000" b="1" u="sng" dirty="0">
              <a:solidFill>
                <a:srgbClr val="6969FF"/>
              </a:solidFill>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000" dirty="0">
                <a:latin typeface="メイリオ" panose="020B0604030504040204" pitchFamily="50" charset="-128"/>
                <a:ea typeface="メイリオ" panose="020B0604030504040204" pitchFamily="50" charset="-128"/>
              </a:rPr>
              <a:t>目標液温</a:t>
            </a:r>
            <a:r>
              <a:rPr kumimoji="1" lang="en-US" altLang="ja-JP" sz="2000" dirty="0">
                <a:latin typeface="メイリオ" panose="020B0604030504040204" pitchFamily="50" charset="-128"/>
                <a:ea typeface="メイリオ" panose="020B0604030504040204" pitchFamily="50" charset="-128"/>
              </a:rPr>
              <a:t>80</a:t>
            </a:r>
            <a:r>
              <a:rPr kumimoji="1" lang="ja-JP" altLang="en-US" sz="2000" dirty="0">
                <a:latin typeface="メイリオ" panose="020B0604030504040204" pitchFamily="50" charset="-128"/>
                <a:ea typeface="メイリオ" panose="020B0604030504040204" pitchFamily="50" charset="-128"/>
              </a:rPr>
              <a:t>℃</a:t>
            </a:r>
            <a:r>
              <a:rPr kumimoji="1" lang="en-US" altLang="ja-JP" sz="2000" dirty="0">
                <a:latin typeface="メイリオ" panose="020B0604030504040204" pitchFamily="50" charset="-128"/>
                <a:ea typeface="メイリオ" panose="020B0604030504040204" pitchFamily="50" charset="-128"/>
              </a:rPr>
              <a:t>(</a:t>
            </a:r>
            <a:r>
              <a:rPr kumimoji="1" lang="ja-JP" altLang="en-US" sz="2000" b="1" u="sng" dirty="0">
                <a:solidFill>
                  <a:srgbClr val="6969FF"/>
                </a:solidFill>
                <a:latin typeface="メイリオ" panose="020B0604030504040204" pitchFamily="50" charset="-128"/>
                <a:ea typeface="メイリオ" panose="020B0604030504040204" pitchFamily="50" charset="-128"/>
              </a:rPr>
              <a:t>サブクール度</a:t>
            </a:r>
            <a:r>
              <a:rPr kumimoji="1" lang="en-US" altLang="ja-JP" sz="2000" b="1" u="sng" dirty="0">
                <a:solidFill>
                  <a:srgbClr val="6969FF"/>
                </a:solidFill>
                <a:latin typeface="メイリオ" panose="020B0604030504040204" pitchFamily="50" charset="-128"/>
                <a:ea typeface="メイリオ" panose="020B0604030504040204" pitchFamily="50" charset="-128"/>
              </a:rPr>
              <a:t>20</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まで自然冷却後，温度の</a:t>
            </a:r>
            <a:r>
              <a:rPr kumimoji="1" lang="en-US" altLang="ja-JP" sz="2000" dirty="0">
                <a:latin typeface="メイリオ" panose="020B0604030504040204" pitchFamily="50" charset="-128"/>
                <a:ea typeface="メイリオ" panose="020B0604030504040204" pitchFamily="50" charset="-128"/>
              </a:rPr>
              <a:t>±1</a:t>
            </a:r>
            <a:r>
              <a:rPr kumimoji="1" lang="ja-JP" altLang="en-US" sz="2000" dirty="0">
                <a:latin typeface="メイリオ" panose="020B0604030504040204" pitchFamily="50" charset="-128"/>
                <a:ea typeface="メイリオ" panose="020B0604030504040204" pitchFamily="50" charset="-128"/>
              </a:rPr>
              <a:t>℃に安定</a:t>
            </a:r>
          </a:p>
        </p:txBody>
      </p:sp>
      <p:sp>
        <p:nvSpPr>
          <p:cNvPr id="22" name="Text Placeholder 1">
            <a:extLst>
              <a:ext uri="{FF2B5EF4-FFF2-40B4-BE49-F238E27FC236}">
                <a16:creationId xmlns:a16="http://schemas.microsoft.com/office/drawing/2014/main" id="{69A8D5EA-A0F1-1F4E-9F96-997C9EFC57DE}"/>
              </a:ext>
            </a:extLst>
          </p:cNvPr>
          <p:cNvSpPr txBox="1">
            <a:spLocks/>
          </p:cNvSpPr>
          <p:nvPr/>
        </p:nvSpPr>
        <p:spPr>
          <a:xfrm>
            <a:off x="857746" y="1139769"/>
            <a:ext cx="2485529"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実験の位置付け</a:t>
            </a:r>
            <a:endParaRPr lang="en-JP" sz="2300" b="1" dirty="0">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CA926B95-D8DD-5FF8-ED5C-6DF0A42A8F5D}"/>
              </a:ext>
            </a:extLst>
          </p:cNvPr>
          <p:cNvCxnSpPr>
            <a:cxnSpLocks/>
          </p:cNvCxnSpPr>
          <p:nvPr/>
        </p:nvCxnSpPr>
        <p:spPr>
          <a:xfrm>
            <a:off x="743695" y="1117058"/>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17" name="図 216">
            <a:extLst>
              <a:ext uri="{FF2B5EF4-FFF2-40B4-BE49-F238E27FC236}">
                <a16:creationId xmlns:a16="http://schemas.microsoft.com/office/drawing/2014/main" id="{BFCC5D8C-F573-C8F4-4DF4-310DED929D6F}"/>
              </a:ext>
            </a:extLst>
          </p:cNvPr>
          <p:cNvPicPr>
            <a:picLocks noChangeAspect="1"/>
          </p:cNvPicPr>
          <p:nvPr/>
        </p:nvPicPr>
        <p:blipFill>
          <a:blip r:embed="rId3"/>
          <a:stretch>
            <a:fillRect/>
          </a:stretch>
        </p:blipFill>
        <p:spPr>
          <a:xfrm>
            <a:off x="5116147" y="2549644"/>
            <a:ext cx="4789853" cy="3411116"/>
          </a:xfrm>
          <a:prstGeom prst="rect">
            <a:avLst/>
          </a:prstGeom>
        </p:spPr>
      </p:pic>
    </p:spTree>
    <p:extLst>
      <p:ext uri="{BB962C8B-B14F-4D97-AF65-F5344CB8AC3E}">
        <p14:creationId xmlns:p14="http://schemas.microsoft.com/office/powerpoint/2010/main" val="56797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A611-E123-4E46-FD37-806167134B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D6E3D4-684E-E33A-92E0-8274BD93A854}"/>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プール沸騰実験</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7CAA3539-3C8A-D672-5348-34D320DE62EA}"/>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Text Placeholder 1">
            <a:extLst>
              <a:ext uri="{FF2B5EF4-FFF2-40B4-BE49-F238E27FC236}">
                <a16:creationId xmlns:a16="http://schemas.microsoft.com/office/drawing/2014/main" id="{41FF6689-CADB-0337-1398-EDAAEA11707F}"/>
              </a:ext>
            </a:extLst>
          </p:cNvPr>
          <p:cNvSpPr txBox="1">
            <a:spLocks/>
          </p:cNvSpPr>
          <p:nvPr/>
        </p:nvSpPr>
        <p:spPr>
          <a:xfrm>
            <a:off x="992155" y="1139676"/>
            <a:ext cx="777651" cy="408657"/>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測定</a:t>
            </a:r>
            <a:endParaRPr lang="en-JP" sz="2300" b="1" dirty="0">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9883638B-FFE0-9AAF-9036-A7A6203418BE}"/>
              </a:ext>
            </a:extLst>
          </p:cNvPr>
          <p:cNvCxnSpPr>
            <a:cxnSpLocks/>
          </p:cNvCxnSpPr>
          <p:nvPr/>
        </p:nvCxnSpPr>
        <p:spPr>
          <a:xfrm>
            <a:off x="878103" y="1116965"/>
            <a:ext cx="0" cy="408657"/>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E56177E3-96FE-776D-41FD-3CFECE25CFC3}"/>
                  </a:ext>
                </a:extLst>
              </p:cNvPr>
              <p:cNvSpPr txBox="1"/>
              <p:nvPr/>
            </p:nvSpPr>
            <p:spPr>
              <a:xfrm>
                <a:off x="857746" y="2900866"/>
                <a:ext cx="8555374" cy="707886"/>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水温，</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シャント電圧 </a:t>
                </a:r>
                <a14:m>
                  <m:oMath xmlns:m="http://schemas.openxmlformats.org/officeDocument/2006/math">
                    <m:sSub>
                      <m:sSubPr>
                        <m:ctrlPr>
                          <a:rPr lang="en-US" altLang="ja-JP" sz="2000" i="1"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𝑉</m:t>
                        </m:r>
                      </m:e>
                      <m:sub>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𝑠</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h</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𝑢𝑛𝑡</m:t>
                        </m:r>
                      </m:sub>
                    </m:sSub>
                  </m:oMath>
                </a14:m>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白金電圧 </a:t>
                </a:r>
                <a14:m>
                  <m:oMath xmlns:m="http://schemas.openxmlformats.org/officeDocument/2006/math">
                    <m:sSub>
                      <m:sSubPr>
                        <m:ctrlPr>
                          <a:rPr lang="en-US" altLang="ja-JP" sz="2000" i="1"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𝑉</m:t>
                        </m:r>
                      </m:e>
                      <m:sub>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𝑃𝑡</m:t>
                        </m:r>
                      </m:sub>
                    </m:sSub>
                  </m:oMath>
                </a14:m>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沸騰</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未沸騰音響データ</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自然対流領域からバーンアウト手前</a:t>
                </a:r>
                <a:r>
                  <a:rPr kumimoji="1" lang="en-US" altLang="ja-JP" sz="2000" dirty="0">
                    <a:latin typeface="メイリオ" panose="020B0604030504040204" pitchFamily="50" charset="-128"/>
                    <a:ea typeface="メイリオ" panose="020B0604030504040204" pitchFamily="50" charset="-128"/>
                  </a:rPr>
                  <a:t>(2.5 V)</a:t>
                </a:r>
                <a:r>
                  <a:rPr kumimoji="1" lang="ja-JP" altLang="en-US" sz="2000" dirty="0">
                    <a:latin typeface="メイリオ" panose="020B0604030504040204" pitchFamily="50" charset="-128"/>
                    <a:ea typeface="メイリオ" panose="020B0604030504040204" pitchFamily="50" charset="-128"/>
                  </a:rPr>
                  <a:t>までの核沸騰音を取得</a:t>
                </a:r>
              </a:p>
            </p:txBody>
          </p:sp>
        </mc:Choice>
        <mc:Fallback xmlns="">
          <p:sp>
            <p:nvSpPr>
              <p:cNvPr id="23" name="テキスト ボックス 22">
                <a:extLst>
                  <a:ext uri="{FF2B5EF4-FFF2-40B4-BE49-F238E27FC236}">
                    <a16:creationId xmlns:a16="http://schemas.microsoft.com/office/drawing/2014/main" id="{E56177E3-96FE-776D-41FD-3CFECE25CFC3}"/>
                  </a:ext>
                </a:extLst>
              </p:cNvPr>
              <p:cNvSpPr txBox="1">
                <a:spLocks noRot="1" noChangeAspect="1" noMove="1" noResize="1" noEditPoints="1" noAdjustHandles="1" noChangeArrowheads="1" noChangeShapeType="1" noTextEdit="1"/>
              </p:cNvSpPr>
              <p:nvPr/>
            </p:nvSpPr>
            <p:spPr>
              <a:xfrm>
                <a:off x="857746" y="2900866"/>
                <a:ext cx="8555374" cy="707886"/>
              </a:xfrm>
              <a:prstGeom prst="rect">
                <a:avLst/>
              </a:prstGeom>
              <a:blipFill>
                <a:blip r:embed="rId3"/>
                <a:stretch>
                  <a:fillRect t="-6034" b="-13793"/>
                </a:stretch>
              </a:blipFill>
            </p:spPr>
            <p:txBody>
              <a:bodyPr/>
              <a:lstStyle/>
              <a:p>
                <a:r>
                  <a:rPr lang="ja-JP" altLang="en-US">
                    <a:noFill/>
                  </a:rPr>
                  <a:t> </a:t>
                </a:r>
              </a:p>
            </p:txBody>
          </p:sp>
        </mc:Fallback>
      </mc:AlternateContent>
      <p:pic>
        <p:nvPicPr>
          <p:cNvPr id="11" name="図 10" descr="折れ線グラフ&#10;&#10;AI によって生成されたコンテンツは間違っている可能性があります。">
            <a:extLst>
              <a:ext uri="{FF2B5EF4-FFF2-40B4-BE49-F238E27FC236}">
                <a16:creationId xmlns:a16="http://schemas.microsoft.com/office/drawing/2014/main" id="{CE2708C9-FC54-15C2-802B-C4DF847F42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7929" y="3756578"/>
            <a:ext cx="3163709" cy="2986207"/>
          </a:xfrm>
          <a:prstGeom prst="rect">
            <a:avLst/>
          </a:prstGeom>
        </p:spPr>
      </p:pic>
      <p:sp>
        <p:nvSpPr>
          <p:cNvPr id="12" name="テキスト ボックス 11">
            <a:extLst>
              <a:ext uri="{FF2B5EF4-FFF2-40B4-BE49-F238E27FC236}">
                <a16:creationId xmlns:a16="http://schemas.microsoft.com/office/drawing/2014/main" id="{1EBF9D89-6AF2-B2C5-D627-5F0471CA5B31}"/>
              </a:ext>
            </a:extLst>
          </p:cNvPr>
          <p:cNvSpPr txBox="1"/>
          <p:nvPr/>
        </p:nvSpPr>
        <p:spPr>
          <a:xfrm>
            <a:off x="794519" y="1568587"/>
            <a:ext cx="7952099" cy="707886"/>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白金細線に</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0.0 V</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2.5 V</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まで</a:t>
            </a:r>
            <a:r>
              <a:rPr kumimoji="1" lang="en-US" altLang="ja-JP" sz="2000" b="1" dirty="0">
                <a:solidFill>
                  <a:srgbClr val="292B2B"/>
                </a:solidFill>
                <a:latin typeface="メイリオ" panose="020B0604030504040204" pitchFamily="50" charset="-128"/>
                <a:ea typeface="メイリオ" panose="020B0604030504040204" pitchFamily="50" charset="-128"/>
                <a:sym typeface="Source Han Sans JP"/>
              </a:rPr>
              <a:t>0.1 V</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刻み</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で印加電圧を増加させ，それぞれの沸騰音を</a:t>
            </a:r>
            <a:r>
              <a:rPr lang="en-US" altLang="ja-JP" sz="2000" b="1" dirty="0">
                <a:solidFill>
                  <a:srgbClr val="292B2B"/>
                </a:solidFill>
                <a:latin typeface="メイリオ" panose="020B0604030504040204" pitchFamily="50" charset="-128"/>
                <a:ea typeface="メイリオ" panose="020B0604030504040204" pitchFamily="50" charset="-128"/>
                <a:sym typeface="Source Han Sans JP"/>
              </a:rPr>
              <a:t>60</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秒間</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録音</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p:txBody>
      </p:sp>
      <p:sp>
        <p:nvSpPr>
          <p:cNvPr id="21" name="テキスト ボックス 20">
            <a:extLst>
              <a:ext uri="{FF2B5EF4-FFF2-40B4-BE49-F238E27FC236}">
                <a16:creationId xmlns:a16="http://schemas.microsoft.com/office/drawing/2014/main" id="{380ADE96-897A-4F12-EF66-25F6AA83CB88}"/>
              </a:ext>
            </a:extLst>
          </p:cNvPr>
          <p:cNvSpPr txBox="1"/>
          <p:nvPr/>
        </p:nvSpPr>
        <p:spPr>
          <a:xfrm>
            <a:off x="5878782" y="2104902"/>
            <a:ext cx="3811103" cy="648138"/>
          </a:xfrm>
          <a:prstGeom prst="rect">
            <a:avLst/>
          </a:prstGeom>
          <a:noFill/>
        </p:spPr>
        <p:txBody>
          <a:bodyPr wrap="square" numCol="1" rtlCol="0">
            <a:spAutoFit/>
          </a:bodyPr>
          <a:lstStyle/>
          <a:p>
            <a:pPr marL="169200"/>
            <a:r>
              <a:rPr lang="ja-JP" altLang="en-US" dirty="0">
                <a:solidFill>
                  <a:srgbClr val="292B2B"/>
                </a:solidFill>
                <a:latin typeface="メイリオ" panose="020B0604030504040204" pitchFamily="50" charset="-128"/>
                <a:ea typeface="メイリオ" panose="020B0604030504040204" pitchFamily="50" charset="-128"/>
                <a:sym typeface="Source Han Sans JP"/>
              </a:rPr>
              <a:t>録音時のサンプリングレート：</a:t>
            </a:r>
            <a:r>
              <a:rPr lang="en-US" altLang="ja-JP" b="1" dirty="0">
                <a:solidFill>
                  <a:srgbClr val="292B2B"/>
                </a:solidFill>
                <a:latin typeface="メイリオ" panose="020B0604030504040204" pitchFamily="50" charset="-128"/>
                <a:ea typeface="メイリオ" panose="020B0604030504040204" pitchFamily="50" charset="-128"/>
                <a:sym typeface="Source Han Sans JP"/>
              </a:rPr>
              <a:t>44100 Hz</a:t>
            </a:r>
            <a:endParaRPr kumimoji="1" lang="ja-JP" altLang="en-US" b="1" dirty="0">
              <a:latin typeface="メイリオ" panose="020B0604030504040204" pitchFamily="50" charset="-128"/>
              <a:ea typeface="メイリオ" panose="020B0604030504040204" pitchFamily="50" charset="-128"/>
            </a:endParaRPr>
          </a:p>
        </p:txBody>
      </p:sp>
      <p:sp>
        <p:nvSpPr>
          <p:cNvPr id="38" name="矢印: 下 37">
            <a:extLst>
              <a:ext uri="{FF2B5EF4-FFF2-40B4-BE49-F238E27FC236}">
                <a16:creationId xmlns:a16="http://schemas.microsoft.com/office/drawing/2014/main" id="{D9C72129-30A3-1923-0586-5872CE4DBDB4}"/>
              </a:ext>
            </a:extLst>
          </p:cNvPr>
          <p:cNvSpPr/>
          <p:nvPr/>
        </p:nvSpPr>
        <p:spPr>
          <a:xfrm rot="16200000">
            <a:off x="5495174" y="2243337"/>
            <a:ext cx="433145" cy="355832"/>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2" name="Text Placeholder 1">
            <a:extLst>
              <a:ext uri="{FF2B5EF4-FFF2-40B4-BE49-F238E27FC236}">
                <a16:creationId xmlns:a16="http://schemas.microsoft.com/office/drawing/2014/main" id="{5FF84E28-F873-D9F3-CC97-C08AE7DB0F1E}"/>
              </a:ext>
            </a:extLst>
          </p:cNvPr>
          <p:cNvSpPr txBox="1">
            <a:spLocks/>
          </p:cNvSpPr>
          <p:nvPr/>
        </p:nvSpPr>
        <p:spPr>
          <a:xfrm>
            <a:off x="992155" y="3956150"/>
            <a:ext cx="2236820"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沸騰曲線の例</a:t>
            </a:r>
            <a:endParaRPr lang="en-JP" sz="2300" b="1" dirty="0">
              <a:latin typeface="メイリオ" panose="020B0604030504040204" pitchFamily="50" charset="-128"/>
              <a:ea typeface="メイリオ" panose="020B0604030504040204" pitchFamily="50" charset="-128"/>
            </a:endParaRPr>
          </a:p>
        </p:txBody>
      </p:sp>
      <p:cxnSp>
        <p:nvCxnSpPr>
          <p:cNvPr id="43" name="直線コネクタ 42">
            <a:extLst>
              <a:ext uri="{FF2B5EF4-FFF2-40B4-BE49-F238E27FC236}">
                <a16:creationId xmlns:a16="http://schemas.microsoft.com/office/drawing/2014/main" id="{C8B1FE77-2EAA-9368-201C-C8887018F84F}"/>
              </a:ext>
            </a:extLst>
          </p:cNvPr>
          <p:cNvCxnSpPr>
            <a:cxnSpLocks/>
          </p:cNvCxnSpPr>
          <p:nvPr/>
        </p:nvCxnSpPr>
        <p:spPr>
          <a:xfrm>
            <a:off x="878103" y="3933439"/>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B72655CB-B0AF-737C-087E-2004F88710D5}"/>
              </a:ext>
            </a:extLst>
          </p:cNvPr>
          <p:cNvSpPr txBox="1"/>
          <p:nvPr/>
        </p:nvSpPr>
        <p:spPr>
          <a:xfrm>
            <a:off x="878103" y="4500535"/>
            <a:ext cx="3719826" cy="400110"/>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実験</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1</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回目の沸騰曲線</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p:txBody>
      </p:sp>
    </p:spTree>
    <p:extLst>
      <p:ext uri="{BB962C8B-B14F-4D97-AF65-F5344CB8AC3E}">
        <p14:creationId xmlns:p14="http://schemas.microsoft.com/office/powerpoint/2010/main" val="265422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8D907-55EF-CDF5-9A93-9016BD7922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F57CB4-7FBC-6B18-1A27-2ECA81C921CF}"/>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機械学習についての条件</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65FFE3F8-3839-E3DA-1BBD-CD59BAA456ED}"/>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2" name="Text Placeholder 1">
            <a:extLst>
              <a:ext uri="{FF2B5EF4-FFF2-40B4-BE49-F238E27FC236}">
                <a16:creationId xmlns:a16="http://schemas.microsoft.com/office/drawing/2014/main" id="{25FBBFD0-000E-6848-3D6D-83BF684C834F}"/>
              </a:ext>
            </a:extLst>
          </p:cNvPr>
          <p:cNvSpPr txBox="1">
            <a:spLocks/>
          </p:cNvSpPr>
          <p:nvPr/>
        </p:nvSpPr>
        <p:spPr>
          <a:xfrm>
            <a:off x="1086573" y="1236565"/>
            <a:ext cx="1485573"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入力データ</a:t>
            </a:r>
            <a:endParaRPr lang="en-JP" sz="2300" b="1" dirty="0">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3A984817-9667-B91F-54DA-89FCC2FEC810}"/>
              </a:ext>
            </a:extLst>
          </p:cNvPr>
          <p:cNvCxnSpPr>
            <a:cxnSpLocks/>
          </p:cNvCxnSpPr>
          <p:nvPr/>
        </p:nvCxnSpPr>
        <p:spPr>
          <a:xfrm>
            <a:off x="972521" y="121385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EF4EFB27-B957-CE6C-0ABB-C6742D276B7C}"/>
              </a:ext>
            </a:extLst>
          </p:cNvPr>
          <p:cNvSpPr txBox="1"/>
          <p:nvPr/>
        </p:nvSpPr>
        <p:spPr>
          <a:xfrm>
            <a:off x="876775" y="1662717"/>
            <a:ext cx="6572474" cy="707886"/>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各電圧条件で計測した沸騰音を</a:t>
            </a:r>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周波数スペクトル化</a:t>
            </a:r>
            <a:endParaRPr kumimoji="1" lang="en-US" altLang="ja-JP" sz="2000" b="1" u="sng"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lang="en-US" altLang="ja-JP" sz="2000" u="sng" dirty="0">
                <a:solidFill>
                  <a:srgbClr val="292B2B"/>
                </a:solidFill>
                <a:latin typeface="メイリオ" panose="020B0604030504040204" pitchFamily="50" charset="-128"/>
                <a:ea typeface="メイリオ" panose="020B0604030504040204" pitchFamily="50" charset="-128"/>
                <a:sym typeface="Source Han Sans JP"/>
              </a:rPr>
              <a:t>SNR</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なし，</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4</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8</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を変化させたパターン</a:t>
            </a:r>
            <a:endParaRPr kumimoji="1" lang="ja-JP" altLang="en-US" sz="2000" dirty="0">
              <a:latin typeface="メイリオ" panose="020B0604030504040204" pitchFamily="50" charset="-128"/>
              <a:ea typeface="メイリオ" panose="020B0604030504040204" pitchFamily="50" charset="-128"/>
            </a:endParaRPr>
          </a:p>
        </p:txBody>
      </p:sp>
      <p:sp>
        <p:nvSpPr>
          <p:cNvPr id="18" name="矢印: 下 17">
            <a:extLst>
              <a:ext uri="{FF2B5EF4-FFF2-40B4-BE49-F238E27FC236}">
                <a16:creationId xmlns:a16="http://schemas.microsoft.com/office/drawing/2014/main" id="{56E5540B-FDB4-A561-99C9-B9829F9D42EE}"/>
              </a:ext>
            </a:extLst>
          </p:cNvPr>
          <p:cNvSpPr/>
          <p:nvPr/>
        </p:nvSpPr>
        <p:spPr>
          <a:xfrm rot="16200000">
            <a:off x="7357018" y="1641493"/>
            <a:ext cx="433145" cy="355832"/>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D5841B04-B558-ECC3-19F3-93B6358BCBBF}"/>
              </a:ext>
            </a:extLst>
          </p:cNvPr>
          <p:cNvSpPr txBox="1"/>
          <p:nvPr/>
        </p:nvSpPr>
        <p:spPr>
          <a:xfrm>
            <a:off x="7678997" y="1664585"/>
            <a:ext cx="2227003" cy="369332"/>
          </a:xfrm>
          <a:prstGeom prst="rect">
            <a:avLst/>
          </a:prstGeom>
          <a:noFill/>
        </p:spPr>
        <p:txBody>
          <a:bodyPr wrap="square" numCol="1" rtlCol="0">
            <a:spAutoFit/>
          </a:bodyPr>
          <a:lstStyle/>
          <a:p>
            <a:pPr marL="169200"/>
            <a:r>
              <a:rPr lang="ja-JP" altLang="en-US" b="1" dirty="0">
                <a:solidFill>
                  <a:srgbClr val="292B2B"/>
                </a:solidFill>
                <a:latin typeface="メイリオ" panose="020B0604030504040204" pitchFamily="50" charset="-128"/>
                <a:ea typeface="メイリオ" panose="020B0604030504040204" pitchFamily="50" charset="-128"/>
                <a:sym typeface="Source Han Sans JP"/>
              </a:rPr>
              <a:t>スペクトログラム</a:t>
            </a:r>
            <a:endParaRPr lang="en-US" altLang="ja-JP" b="1" dirty="0">
              <a:solidFill>
                <a:srgbClr val="292B2B"/>
              </a:solidFill>
              <a:latin typeface="メイリオ" panose="020B0604030504040204" pitchFamily="50" charset="-128"/>
              <a:ea typeface="メイリオ" panose="020B0604030504040204" pitchFamily="50" charset="-128"/>
              <a:sym typeface="Source Han Sans JP"/>
            </a:endParaRPr>
          </a:p>
        </p:txBody>
      </p:sp>
      <p:pic>
        <p:nvPicPr>
          <p:cNvPr id="55" name="図 54" descr="グラフ&#10;&#10;AI によって生成されたコンテンツは間違っている可能性があります。">
            <a:extLst>
              <a:ext uri="{FF2B5EF4-FFF2-40B4-BE49-F238E27FC236}">
                <a16:creationId xmlns:a16="http://schemas.microsoft.com/office/drawing/2014/main" id="{9CFC5E98-D64B-BD96-84F0-2B615028F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316" y="3899216"/>
            <a:ext cx="2539706" cy="2430780"/>
          </a:xfrm>
          <a:prstGeom prst="rect">
            <a:avLst/>
          </a:prstGeom>
        </p:spPr>
      </p:pic>
      <p:grpSp>
        <p:nvGrpSpPr>
          <p:cNvPr id="61" name="グループ化 60">
            <a:extLst>
              <a:ext uri="{FF2B5EF4-FFF2-40B4-BE49-F238E27FC236}">
                <a16:creationId xmlns:a16="http://schemas.microsoft.com/office/drawing/2014/main" id="{C3BA63F9-919F-12DF-4291-99D9AEB8A7C9}"/>
              </a:ext>
            </a:extLst>
          </p:cNvPr>
          <p:cNvGrpSpPr/>
          <p:nvPr/>
        </p:nvGrpSpPr>
        <p:grpSpPr>
          <a:xfrm>
            <a:off x="2751519" y="2410809"/>
            <a:ext cx="4697730" cy="503287"/>
            <a:chOff x="2751519" y="2360231"/>
            <a:chExt cx="4697730" cy="503287"/>
          </a:xfrm>
        </p:grpSpPr>
        <p:sp>
          <p:nvSpPr>
            <p:cNvPr id="57" name="四角形: 角を丸くする 56">
              <a:extLst>
                <a:ext uri="{FF2B5EF4-FFF2-40B4-BE49-F238E27FC236}">
                  <a16:creationId xmlns:a16="http://schemas.microsoft.com/office/drawing/2014/main" id="{DCDFD886-7C04-911C-45A0-25BD33A8928A}"/>
                </a:ext>
              </a:extLst>
            </p:cNvPr>
            <p:cNvSpPr/>
            <p:nvPr/>
          </p:nvSpPr>
          <p:spPr>
            <a:xfrm>
              <a:off x="2751519" y="2360231"/>
              <a:ext cx="4697730" cy="503287"/>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1693624B-F983-FF8A-045B-B6ECAE81D96F}"/>
                    </a:ext>
                  </a:extLst>
                </p:cNvPr>
                <p:cNvSpPr txBox="1"/>
                <p:nvPr/>
              </p:nvSpPr>
              <p:spPr>
                <a:xfrm>
                  <a:off x="2838003" y="2389720"/>
                  <a:ext cx="4570067" cy="429220"/>
                </a:xfrm>
                <a:prstGeom prst="rect">
                  <a:avLst/>
                </a:prstGeom>
                <a:noFill/>
                <a:ln>
                  <a:noFill/>
                </a:ln>
              </p:spPr>
              <p:txBody>
                <a:bodyPr wrap="square">
                  <a:spAutoFit/>
                </a:bodyPr>
                <a:lstStyle/>
                <a:p>
                  <a14:m>
                    <m:oMath xmlns:m="http://schemas.openxmlformats.org/officeDocument/2006/math">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𝒚</m:t>
                          </m:r>
                        </m:e>
                        <m:sub>
                          <m:r>
                            <a:rPr lang="en-US" altLang="ja-JP" sz="2000" b="1" i="1">
                              <a:latin typeface="Cambria Math" panose="02040503050406030204" pitchFamily="18" charset="0"/>
                              <a:ea typeface="Cambria Math" panose="02040503050406030204" pitchFamily="18" charset="0"/>
                            </a:rPr>
                            <m:t>𝒐𝒃𝒔𝒆𝒓𝒗𝒆𝒅</m:t>
                          </m:r>
                        </m:sub>
                      </m:sSub>
                      <m:r>
                        <a:rPr lang="en-US" altLang="ja-JP" sz="2000" b="1" i="1">
                          <a:latin typeface="Cambria Math" panose="02040503050406030204" pitchFamily="18" charset="0"/>
                          <a:ea typeface="Cambria Math" panose="02040503050406030204" pitchFamily="18" charset="0"/>
                        </a:rPr>
                        <m:t>(</m:t>
                      </m:r>
                      <m:r>
                        <a:rPr lang="en-US" altLang="ja-JP" sz="2000" b="1" i="1">
                          <a:latin typeface="Cambria Math" panose="02040503050406030204" pitchFamily="18" charset="0"/>
                          <a:ea typeface="Cambria Math" panose="02040503050406030204" pitchFamily="18" charset="0"/>
                        </a:rPr>
                        <m:t>𝒊</m:t>
                      </m:r>
                      <m:r>
                        <a:rPr lang="en-US" altLang="ja-JP" sz="2000" b="1" i="1">
                          <a:latin typeface="Cambria Math" panose="02040503050406030204" pitchFamily="18" charset="0"/>
                          <a:ea typeface="Cambria Math" panose="02040503050406030204" pitchFamily="18" charset="0"/>
                        </a:rPr>
                        <m:t>)=</m:t>
                      </m:r>
                    </m:oMath>
                  </a14:m>
                  <a:r>
                    <a:rPr lang="en-US" altLang="ja-JP" sz="2000" b="1" dirty="0">
                      <a:latin typeface="Century" panose="02040604050505020304" pitchFamily="18" charset="0"/>
                      <a:ea typeface="メイリオ" panose="020B0604030504040204" pitchFamily="50" charset="-128"/>
                    </a:rPr>
                    <a:t> </a:t>
                  </a:r>
                  <a14:m>
                    <m:oMath xmlns:m="http://schemas.openxmlformats.org/officeDocument/2006/math">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𝒚</m:t>
                          </m:r>
                        </m:e>
                        <m:sub>
                          <m:r>
                            <a:rPr lang="en-US" altLang="ja-JP" sz="2000" b="1" i="1">
                              <a:latin typeface="Cambria Math" panose="02040503050406030204" pitchFamily="18" charset="0"/>
                              <a:ea typeface="Cambria Math" panose="02040503050406030204" pitchFamily="18" charset="0"/>
                            </a:rPr>
                            <m:t>𝒔𝒊𝒈𝒏𝒂𝒍</m:t>
                          </m:r>
                        </m:sub>
                      </m:sSub>
                      <m:d>
                        <m:dPr>
                          <m:ctrlPr>
                            <a:rPr lang="en-US" altLang="ja-JP" sz="2000" b="1" i="1">
                              <a:latin typeface="Cambria Math" panose="02040503050406030204" pitchFamily="18" charset="0"/>
                              <a:ea typeface="Cambria Math" panose="02040503050406030204" pitchFamily="18" charset="0"/>
                            </a:rPr>
                          </m:ctrlPr>
                        </m:dPr>
                        <m:e>
                          <m:r>
                            <a:rPr lang="en-US" altLang="ja-JP" sz="2000" b="1" i="1">
                              <a:latin typeface="Cambria Math" panose="02040503050406030204" pitchFamily="18" charset="0"/>
                              <a:ea typeface="Cambria Math" panose="02040503050406030204" pitchFamily="18" charset="0"/>
                            </a:rPr>
                            <m:t>𝒊</m:t>
                          </m:r>
                        </m:e>
                      </m:d>
                      <m:r>
                        <a:rPr lang="en-US" altLang="ja-JP" sz="2000" b="1" i="1">
                          <a:latin typeface="Cambria Math" panose="02040503050406030204" pitchFamily="18" charset="0"/>
                          <a:ea typeface="Cambria Math" panose="02040503050406030204" pitchFamily="18" charset="0"/>
                        </a:rPr>
                        <m:t>+</m:t>
                      </m:r>
                      <m:r>
                        <a:rPr lang="ja-JP" altLang="en-US" sz="2000" b="1" i="1">
                          <a:latin typeface="Cambria Math" panose="02040503050406030204" pitchFamily="18" charset="0"/>
                          <a:ea typeface="Cambria Math" panose="02040503050406030204" pitchFamily="18" charset="0"/>
                        </a:rPr>
                        <m:t>𝜶</m:t>
                      </m:r>
                      <m:r>
                        <a:rPr lang="ja-JP" altLang="en-US" sz="2000" b="1" i="1">
                          <a:latin typeface="Cambria Math" panose="02040503050406030204" pitchFamily="18" charset="0"/>
                          <a:ea typeface="Cambria Math" panose="02040503050406030204" pitchFamily="18" charset="0"/>
                        </a:rPr>
                        <m:t>∙</m:t>
                      </m:r>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𝑷</m:t>
                          </m:r>
                        </m:e>
                        <m:sub>
                          <m:r>
                            <a:rPr lang="en-US" altLang="ja-JP" sz="2000" b="1" i="1">
                              <a:latin typeface="Cambria Math" panose="02040503050406030204" pitchFamily="18" charset="0"/>
                              <a:ea typeface="Cambria Math" panose="02040503050406030204" pitchFamily="18" charset="0"/>
                            </a:rPr>
                            <m:t>𝒏𝒐𝒊𝒔𝒆</m:t>
                          </m:r>
                        </m:sub>
                      </m:sSub>
                      <m:r>
                        <a:rPr lang="en-US" altLang="ja-JP" sz="2000" b="1" i="1">
                          <a:latin typeface="Cambria Math" panose="02040503050406030204" pitchFamily="18" charset="0"/>
                          <a:ea typeface="Cambria Math" panose="02040503050406030204" pitchFamily="18" charset="0"/>
                        </a:rPr>
                        <m:t>(</m:t>
                      </m:r>
                      <m:r>
                        <a:rPr lang="en-US" altLang="ja-JP" sz="2000" b="1" i="1">
                          <a:latin typeface="Cambria Math" panose="02040503050406030204" pitchFamily="18" charset="0"/>
                          <a:ea typeface="Cambria Math" panose="02040503050406030204" pitchFamily="18" charset="0"/>
                        </a:rPr>
                        <m:t>𝒊</m:t>
                      </m:r>
                      <m:r>
                        <a:rPr lang="en-US" altLang="ja-JP" sz="2000" b="1" i="1">
                          <a:latin typeface="Cambria Math" panose="02040503050406030204" pitchFamily="18" charset="0"/>
                          <a:ea typeface="Cambria Math" panose="02040503050406030204" pitchFamily="18" charset="0"/>
                        </a:rPr>
                        <m:t>)</m:t>
                      </m:r>
                    </m:oMath>
                  </a14:m>
                  <a:endParaRPr lang="ja-JP" altLang="en-US" sz="2000" b="1" dirty="0">
                    <a:latin typeface="Century" panose="02040604050505020304" pitchFamily="18" charset="0"/>
                    <a:ea typeface="メイリオ" panose="020B0604030504040204" pitchFamily="50" charset="-128"/>
                  </a:endParaRPr>
                </a:p>
              </p:txBody>
            </p:sp>
          </mc:Choice>
          <mc:Fallback xmlns="">
            <p:sp>
              <p:nvSpPr>
                <p:cNvPr id="56" name="テキスト ボックス 55">
                  <a:extLst>
                    <a:ext uri="{FF2B5EF4-FFF2-40B4-BE49-F238E27FC236}">
                      <a16:creationId xmlns:a16="http://schemas.microsoft.com/office/drawing/2014/main" id="{1693624B-F983-FF8A-045B-B6ECAE81D96F}"/>
                    </a:ext>
                  </a:extLst>
                </p:cNvPr>
                <p:cNvSpPr txBox="1">
                  <a:spLocks noRot="1" noChangeAspect="1" noMove="1" noResize="1" noEditPoints="1" noAdjustHandles="1" noChangeArrowheads="1" noChangeShapeType="1" noTextEdit="1"/>
                </p:cNvSpPr>
                <p:nvPr/>
              </p:nvSpPr>
              <p:spPr>
                <a:xfrm>
                  <a:off x="2838003" y="2389720"/>
                  <a:ext cx="4570067" cy="429220"/>
                </a:xfrm>
                <a:prstGeom prst="rect">
                  <a:avLst/>
                </a:prstGeom>
                <a:blipFill>
                  <a:blip r:embed="rId4"/>
                  <a:stretch>
                    <a:fillRect l="-134" b="-11268"/>
                  </a:stretch>
                </a:blipFill>
                <a:ln>
                  <a:noFill/>
                </a:ln>
              </p:spPr>
              <p:txBody>
                <a:bodyPr/>
                <a:lstStyle/>
                <a:p>
                  <a:r>
                    <a:rPr lang="ja-JP" altLang="en-US">
                      <a:noFill/>
                    </a:rPr>
                    <a:t> </a:t>
                  </a:r>
                </a:p>
              </p:txBody>
            </p:sp>
          </mc:Fallback>
        </mc:AlternateContent>
      </p:grpSp>
      <p:pic>
        <p:nvPicPr>
          <p:cNvPr id="63" name="図 62" descr="グラフ が含まれている画像&#10;&#10;AI によって生成されたコンテンツは間違っている可能性があります。">
            <a:extLst>
              <a:ext uri="{FF2B5EF4-FFF2-40B4-BE49-F238E27FC236}">
                <a16:creationId xmlns:a16="http://schemas.microsoft.com/office/drawing/2014/main" id="{8261827F-930E-AA70-CEC0-02D11AAE12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5266" y="3899216"/>
            <a:ext cx="2539706" cy="2430780"/>
          </a:xfrm>
          <a:prstGeom prst="rect">
            <a:avLst/>
          </a:prstGeom>
        </p:spPr>
      </p:pic>
      <p:pic>
        <p:nvPicPr>
          <p:cNvPr id="65" name="図 64" descr="グラフ&#10;&#10;AI によって生成されたコンテンツは間違っている可能性があります。">
            <a:extLst>
              <a:ext uri="{FF2B5EF4-FFF2-40B4-BE49-F238E27FC236}">
                <a16:creationId xmlns:a16="http://schemas.microsoft.com/office/drawing/2014/main" id="{8C37AEC3-4073-6562-8DA5-3B34D922C2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04216" y="3905924"/>
            <a:ext cx="2539706" cy="2430780"/>
          </a:xfrm>
          <a:prstGeom prst="rect">
            <a:avLst/>
          </a:prstGeom>
        </p:spPr>
      </p:pic>
      <p:sp>
        <p:nvSpPr>
          <p:cNvPr id="66" name="テキスト ボックス 65">
            <a:extLst>
              <a:ext uri="{FF2B5EF4-FFF2-40B4-BE49-F238E27FC236}">
                <a16:creationId xmlns:a16="http://schemas.microsoft.com/office/drawing/2014/main" id="{B3AE9D42-40FA-2DD4-5E78-DEDCAA025443}"/>
              </a:ext>
            </a:extLst>
          </p:cNvPr>
          <p:cNvSpPr txBox="1"/>
          <p:nvPr/>
        </p:nvSpPr>
        <p:spPr>
          <a:xfrm>
            <a:off x="808915" y="6384543"/>
            <a:ext cx="2685219" cy="400110"/>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環境雑音未重畳時</a:t>
            </a:r>
            <a:endParaRPr lang="ja-JP" altLang="en-US" sz="2000" dirty="0"/>
          </a:p>
        </p:txBody>
      </p:sp>
      <p:sp>
        <p:nvSpPr>
          <p:cNvPr id="69" name="テキスト ボックス 68">
            <a:extLst>
              <a:ext uri="{FF2B5EF4-FFF2-40B4-BE49-F238E27FC236}">
                <a16:creationId xmlns:a16="http://schemas.microsoft.com/office/drawing/2014/main" id="{F73BE285-1690-6534-5F5C-23B19158869D}"/>
              </a:ext>
            </a:extLst>
          </p:cNvPr>
          <p:cNvSpPr txBox="1"/>
          <p:nvPr/>
        </p:nvSpPr>
        <p:spPr>
          <a:xfrm>
            <a:off x="4218997" y="6384543"/>
            <a:ext cx="2685219" cy="400110"/>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SNR=-12</a:t>
            </a:r>
            <a:endParaRPr lang="ja-JP" altLang="en-US" sz="2000" dirty="0"/>
          </a:p>
        </p:txBody>
      </p:sp>
      <p:sp>
        <p:nvSpPr>
          <p:cNvPr id="70" name="テキスト ボックス 69">
            <a:extLst>
              <a:ext uri="{FF2B5EF4-FFF2-40B4-BE49-F238E27FC236}">
                <a16:creationId xmlns:a16="http://schemas.microsoft.com/office/drawing/2014/main" id="{89F97C0A-0356-74C9-CE4C-CE924B39D84F}"/>
              </a:ext>
            </a:extLst>
          </p:cNvPr>
          <p:cNvSpPr txBox="1"/>
          <p:nvPr/>
        </p:nvSpPr>
        <p:spPr>
          <a:xfrm>
            <a:off x="7369703" y="6387336"/>
            <a:ext cx="2074219" cy="400110"/>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dirty="0">
                <a:latin typeface="メイリオ" panose="020B0604030504040204" pitchFamily="50" charset="-128"/>
                <a:ea typeface="メイリオ" panose="020B0604030504040204" pitchFamily="50" charset="-128"/>
              </a:rPr>
              <a:t>SNR=-20</a:t>
            </a:r>
            <a:endParaRPr lang="ja-JP" altLang="en-US" sz="2000" dirty="0">
              <a:latin typeface="メイリオ" panose="020B0604030504040204" pitchFamily="50" charset="-128"/>
              <a:ea typeface="メイリオ" panose="020B0604030504040204" pitchFamily="50" charset="-128"/>
            </a:endParaRPr>
          </a:p>
        </p:txBody>
      </p:sp>
      <p:sp>
        <p:nvSpPr>
          <p:cNvPr id="71" name="Text Placeholder 1">
            <a:extLst>
              <a:ext uri="{FF2B5EF4-FFF2-40B4-BE49-F238E27FC236}">
                <a16:creationId xmlns:a16="http://schemas.microsoft.com/office/drawing/2014/main" id="{E4EFECA7-6C00-B6DF-29B4-87E67FEF99D2}"/>
              </a:ext>
            </a:extLst>
          </p:cNvPr>
          <p:cNvSpPr txBox="1">
            <a:spLocks/>
          </p:cNvSpPr>
          <p:nvPr/>
        </p:nvSpPr>
        <p:spPr>
          <a:xfrm>
            <a:off x="1086573" y="3152205"/>
            <a:ext cx="3132424"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スペクトログラムの例</a:t>
            </a:r>
            <a:endParaRPr lang="en-JP" sz="2300" b="1" dirty="0">
              <a:latin typeface="メイリオ" panose="020B0604030504040204" pitchFamily="50" charset="-128"/>
              <a:ea typeface="メイリオ" panose="020B0604030504040204" pitchFamily="50" charset="-128"/>
            </a:endParaRPr>
          </a:p>
        </p:txBody>
      </p:sp>
      <p:cxnSp>
        <p:nvCxnSpPr>
          <p:cNvPr id="72" name="直線コネクタ 71">
            <a:extLst>
              <a:ext uri="{FF2B5EF4-FFF2-40B4-BE49-F238E27FC236}">
                <a16:creationId xmlns:a16="http://schemas.microsoft.com/office/drawing/2014/main" id="{AC05634E-9696-236E-DCB2-150B2118022D}"/>
              </a:ext>
            </a:extLst>
          </p:cNvPr>
          <p:cNvCxnSpPr>
            <a:cxnSpLocks/>
          </p:cNvCxnSpPr>
          <p:nvPr/>
        </p:nvCxnSpPr>
        <p:spPr>
          <a:xfrm>
            <a:off x="972521" y="312949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308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51CAE-2DC8-7403-8FA9-67F9CA9347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C56571-3EB9-6298-EB77-64B51AECDF8C}"/>
              </a:ext>
            </a:extLst>
          </p:cNvPr>
          <p:cNvSpPr>
            <a:spLocks noGrp="1"/>
          </p:cNvSpPr>
          <p:nvPr>
            <p:ph type="body" sz="half" idx="12"/>
          </p:nvPr>
        </p:nvSpPr>
        <p:spPr>
          <a:xfrm>
            <a:off x="1086573" y="2664205"/>
            <a:ext cx="2865994" cy="407035"/>
          </a:xfrm>
        </p:spPr>
        <p:txBody>
          <a:bodyPr/>
          <a:lstStyle/>
          <a:p>
            <a:r>
              <a:rPr lang="ja-JP" altLang="en-US" sz="2300" b="1" dirty="0">
                <a:latin typeface="メイリオ" panose="020B0604030504040204" pitchFamily="50" charset="-128"/>
                <a:ea typeface="メイリオ" panose="020B0604030504040204" pitchFamily="50" charset="-128"/>
              </a:rPr>
              <a:t>アンサンブル手法</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89F069DC-BB63-59AD-8611-17EFE70F30EA}"/>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機械学習についての条件</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C16D3ED0-72A1-3676-982A-FAE7C16A6BA8}"/>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7952AE18-3D16-500D-880F-109BD61FF464}"/>
              </a:ext>
            </a:extLst>
          </p:cNvPr>
          <p:cNvCxnSpPr>
            <a:cxnSpLocks/>
          </p:cNvCxnSpPr>
          <p:nvPr/>
        </p:nvCxnSpPr>
        <p:spPr>
          <a:xfrm>
            <a:off x="972521" y="264149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E7E9FD0A-4CC3-0ED9-F587-30A41907C74A}"/>
              </a:ext>
            </a:extLst>
          </p:cNvPr>
          <p:cNvSpPr txBox="1"/>
          <p:nvPr/>
        </p:nvSpPr>
        <p:spPr>
          <a:xfrm>
            <a:off x="857746" y="3050151"/>
            <a:ext cx="8429174" cy="707886"/>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3</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つの</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CNN</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Convolutional Neural Network</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：畳み込みニューラルネットワーク）モデルを</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重み付き平均</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で組み合わせる</a:t>
            </a:r>
            <a:endParaRPr kumimoji="1" lang="ja-JP" altLang="en-US" sz="2000" dirty="0">
              <a:latin typeface="メイリオ" panose="020B0604030504040204" pitchFamily="50" charset="-128"/>
              <a:ea typeface="メイリオ" panose="020B0604030504040204" pitchFamily="50" charset="-128"/>
            </a:endParaRPr>
          </a:p>
        </p:txBody>
      </p:sp>
      <p:sp>
        <p:nvSpPr>
          <p:cNvPr id="12" name="Text Placeholder 1">
            <a:extLst>
              <a:ext uri="{FF2B5EF4-FFF2-40B4-BE49-F238E27FC236}">
                <a16:creationId xmlns:a16="http://schemas.microsoft.com/office/drawing/2014/main" id="{7D248978-3B38-10E6-5068-5C6A03E10D68}"/>
              </a:ext>
            </a:extLst>
          </p:cNvPr>
          <p:cNvSpPr txBox="1">
            <a:spLocks/>
          </p:cNvSpPr>
          <p:nvPr/>
        </p:nvSpPr>
        <p:spPr>
          <a:xfrm>
            <a:off x="1086573" y="1236565"/>
            <a:ext cx="1485573"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出力</a:t>
            </a:r>
            <a:endParaRPr lang="en-JP" sz="2300" b="1" dirty="0">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9D2488BF-C40E-446F-7897-EF654D19B389}"/>
              </a:ext>
            </a:extLst>
          </p:cNvPr>
          <p:cNvCxnSpPr>
            <a:cxnSpLocks/>
          </p:cNvCxnSpPr>
          <p:nvPr/>
        </p:nvCxnSpPr>
        <p:spPr>
          <a:xfrm>
            <a:off x="972521" y="121385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6899393E-AD21-C082-5CCC-0EFBED0613F3}"/>
              </a:ext>
            </a:extLst>
          </p:cNvPr>
          <p:cNvSpPr txBox="1"/>
          <p:nvPr/>
        </p:nvSpPr>
        <p:spPr>
          <a:xfrm>
            <a:off x="834452" y="1712853"/>
            <a:ext cx="8658001" cy="707886"/>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各</a:t>
            </a:r>
            <a:r>
              <a:rPr kumimoji="1" lang="ja-JP" altLang="en-US" sz="2000" dirty="0">
                <a:latin typeface="メイリオ" panose="020B0604030504040204" pitchFamily="50" charset="-128"/>
                <a:ea typeface="メイリオ" panose="020B0604030504040204" pitchFamily="50" charset="-128"/>
              </a:rPr>
              <a:t>沸騰音の熱流束値</a:t>
            </a:r>
            <a:endParaRPr kumimoji="1" lang="en-US" altLang="ja-JP" sz="2000" dirty="0">
              <a:latin typeface="メイリオ" panose="020B0604030504040204" pitchFamily="50" charset="-128"/>
              <a:ea typeface="メイリオ" panose="020B0604030504040204" pitchFamily="50" charset="-128"/>
            </a:endParaRPr>
          </a:p>
          <a:p>
            <a:pPr marL="457200" indent="-2880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評価指標は</a:t>
            </a:r>
            <a:r>
              <a:rPr lang="ja-JP" altLang="en-US" sz="2000" b="1" dirty="0">
                <a:latin typeface="メイリオ" panose="020B0604030504040204" pitchFamily="50" charset="-128"/>
                <a:ea typeface="メイリオ" panose="020B0604030504040204" pitchFamily="50" charset="-128"/>
              </a:rPr>
              <a:t>決定係数</a:t>
            </a:r>
            <a:r>
              <a:rPr lang="en-US" altLang="ja-JP" sz="2000" dirty="0">
                <a:latin typeface="メイリオ" panose="020B0604030504040204" pitchFamily="50" charset="-128"/>
                <a:ea typeface="メイリオ" panose="020B0604030504040204" pitchFamily="50" charset="-128"/>
              </a:rPr>
              <a:t>(R</a:t>
            </a:r>
            <a:r>
              <a:rPr lang="en-US" altLang="ja-JP" sz="2000" baseline="30000" dirty="0">
                <a:latin typeface="メイリオ" panose="020B0604030504040204" pitchFamily="50" charset="-128"/>
                <a:ea typeface="メイリオ" panose="020B0604030504040204" pitchFamily="50" charset="-128"/>
              </a:rPr>
              <a:t>2</a:t>
            </a:r>
            <a:r>
              <a:rPr lang="en-US" altLang="ja-JP" sz="2000" dirty="0">
                <a:latin typeface="メイリオ" panose="020B0604030504040204" pitchFamily="50" charset="-128"/>
                <a:ea typeface="メイリオ" panose="020B0604030504040204" pitchFamily="50" charset="-128"/>
              </a:rPr>
              <a:t> Score)</a:t>
            </a:r>
            <a:r>
              <a:rPr lang="ja-JP" altLang="en-US" sz="2000" dirty="0">
                <a:latin typeface="メイリオ" panose="020B0604030504040204" pitchFamily="50" charset="-128"/>
                <a:ea typeface="メイリオ" panose="020B0604030504040204" pitchFamily="50" charset="-128"/>
              </a:rPr>
              <a:t>と</a:t>
            </a:r>
            <a:r>
              <a:rPr lang="en-US" altLang="ja-JP" sz="2000" b="1" dirty="0">
                <a:latin typeface="メイリオ" panose="020B0604030504040204" pitchFamily="50" charset="-128"/>
                <a:ea typeface="メイリオ" panose="020B0604030504040204" pitchFamily="50" charset="-128"/>
              </a:rPr>
              <a:t>AUC</a:t>
            </a:r>
            <a:r>
              <a:rPr lang="en-US" altLang="ja-JP" sz="2000" dirty="0">
                <a:latin typeface="メイリオ" panose="020B0604030504040204" pitchFamily="50" charset="-128"/>
                <a:ea typeface="メイリオ" panose="020B0604030504040204" pitchFamily="50" charset="-128"/>
              </a:rPr>
              <a:t>(</a:t>
            </a:r>
            <a:r>
              <a:rPr lang="en-US" altLang="ja-JP" sz="2000" b="0" i="0" dirty="0">
                <a:effectLst/>
                <a:latin typeface="メイリオ" panose="020B0604030504040204" pitchFamily="50" charset="-128"/>
                <a:ea typeface="メイリオ" panose="020B0604030504040204" pitchFamily="50" charset="-128"/>
              </a:rPr>
              <a:t>Area Under the Curve</a:t>
            </a:r>
            <a:r>
              <a:rPr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16D62FD6-E946-F883-8E46-A9A5148C84ED}"/>
              </a:ext>
            </a:extLst>
          </p:cNvPr>
          <p:cNvSpPr/>
          <p:nvPr/>
        </p:nvSpPr>
        <p:spPr>
          <a:xfrm>
            <a:off x="1503515" y="4034462"/>
            <a:ext cx="1743745" cy="660579"/>
          </a:xfrm>
          <a:prstGeom prst="rect">
            <a:avLst/>
          </a:prstGeom>
          <a:solidFill>
            <a:schemeClr val="accent3">
              <a:lumMod val="20000"/>
              <a:lumOff val="80000"/>
            </a:schemeClr>
          </a:solidFill>
          <a:ln w="28575">
            <a:solidFill>
              <a:srgbClr val="7A0C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schemeClr>
                </a:solidFill>
                <a:latin typeface="メイリオ" panose="020B0604030504040204" pitchFamily="50" charset="-128"/>
                <a:ea typeface="メイリオ" panose="020B0604030504040204" pitchFamily="50" charset="-128"/>
              </a:rPr>
              <a:t>モデル</a:t>
            </a:r>
            <a:r>
              <a:rPr kumimoji="1" lang="en-US" altLang="ja-JP" b="1" dirty="0">
                <a:solidFill>
                  <a:schemeClr val="tx1">
                    <a:lumMod val="50000"/>
                  </a:schemeClr>
                </a:solidFill>
                <a:latin typeface="メイリオ" panose="020B0604030504040204" pitchFamily="50" charset="-128"/>
                <a:ea typeface="メイリオ" panose="020B0604030504040204" pitchFamily="50" charset="-128"/>
              </a:rPr>
              <a:t>1</a:t>
            </a:r>
            <a:endParaRPr kumimoji="1" lang="ja-JP" altLang="en-US" b="1"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DC9AF573-40A4-B8DC-CE36-8BFB30EEE210}"/>
              </a:ext>
            </a:extLst>
          </p:cNvPr>
          <p:cNvSpPr/>
          <p:nvPr/>
        </p:nvSpPr>
        <p:spPr>
          <a:xfrm>
            <a:off x="1503515" y="6036010"/>
            <a:ext cx="1743745" cy="663556"/>
          </a:xfrm>
          <a:prstGeom prst="rect">
            <a:avLst/>
          </a:prstGeom>
          <a:solidFill>
            <a:schemeClr val="accent3">
              <a:lumMod val="20000"/>
              <a:lumOff val="80000"/>
            </a:schemeClr>
          </a:solidFill>
          <a:ln w="28575">
            <a:solidFill>
              <a:srgbClr val="7A0C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schemeClr>
                </a:solidFill>
                <a:latin typeface="メイリオ" panose="020B0604030504040204" pitchFamily="50" charset="-128"/>
                <a:ea typeface="メイリオ" panose="020B0604030504040204" pitchFamily="50" charset="-128"/>
              </a:rPr>
              <a:t>モデル</a:t>
            </a:r>
            <a:r>
              <a:rPr lang="en-US" altLang="ja-JP" b="1" dirty="0">
                <a:solidFill>
                  <a:schemeClr val="tx1">
                    <a:lumMod val="50000"/>
                  </a:schemeClr>
                </a:solidFill>
                <a:latin typeface="メイリオ" panose="020B0604030504040204" pitchFamily="50" charset="-128"/>
                <a:ea typeface="メイリオ" panose="020B0604030504040204" pitchFamily="50" charset="-128"/>
              </a:rPr>
              <a:t>3</a:t>
            </a:r>
            <a:endParaRPr kumimoji="1" lang="ja-JP" altLang="en-US" b="1"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51547387-DD09-9A43-F88C-E11A3CAF30EF}"/>
              </a:ext>
            </a:extLst>
          </p:cNvPr>
          <p:cNvSpPr/>
          <p:nvPr/>
        </p:nvSpPr>
        <p:spPr>
          <a:xfrm>
            <a:off x="1508645" y="5034810"/>
            <a:ext cx="1743745" cy="661431"/>
          </a:xfrm>
          <a:prstGeom prst="rect">
            <a:avLst/>
          </a:prstGeom>
          <a:solidFill>
            <a:schemeClr val="accent3">
              <a:lumMod val="20000"/>
              <a:lumOff val="80000"/>
            </a:schemeClr>
          </a:solidFill>
          <a:ln w="28575">
            <a:solidFill>
              <a:srgbClr val="7A0C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schemeClr>
                </a:solidFill>
                <a:latin typeface="メイリオ" panose="020B0604030504040204" pitchFamily="50" charset="-128"/>
                <a:ea typeface="メイリオ" panose="020B0604030504040204" pitchFamily="50" charset="-128"/>
              </a:rPr>
              <a:t>モデル</a:t>
            </a:r>
            <a:r>
              <a:rPr lang="en-US" altLang="ja-JP" b="1" dirty="0">
                <a:solidFill>
                  <a:schemeClr val="tx1">
                    <a:lumMod val="50000"/>
                  </a:schemeClr>
                </a:solidFill>
                <a:latin typeface="メイリオ" panose="020B0604030504040204" pitchFamily="50" charset="-128"/>
                <a:ea typeface="メイリオ" panose="020B0604030504040204" pitchFamily="50" charset="-128"/>
              </a:rPr>
              <a:t>2</a:t>
            </a:r>
            <a:endParaRPr kumimoji="1" lang="ja-JP" altLang="en-US" b="1"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27" name="矢印: 下 26">
            <a:extLst>
              <a:ext uri="{FF2B5EF4-FFF2-40B4-BE49-F238E27FC236}">
                <a16:creationId xmlns:a16="http://schemas.microsoft.com/office/drawing/2014/main" id="{99CCEEB3-351B-A5F6-CDCC-D2560735BF50}"/>
              </a:ext>
            </a:extLst>
          </p:cNvPr>
          <p:cNvSpPr/>
          <p:nvPr/>
        </p:nvSpPr>
        <p:spPr>
          <a:xfrm rot="16200000">
            <a:off x="6597901" y="5116399"/>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正方形/長方形 27">
            <a:extLst>
              <a:ext uri="{FF2B5EF4-FFF2-40B4-BE49-F238E27FC236}">
                <a16:creationId xmlns:a16="http://schemas.microsoft.com/office/drawing/2014/main" id="{CF49E239-2063-E8DB-4C20-E0F4C85C4569}"/>
              </a:ext>
            </a:extLst>
          </p:cNvPr>
          <p:cNvSpPr/>
          <p:nvPr/>
        </p:nvSpPr>
        <p:spPr>
          <a:xfrm>
            <a:off x="7219986" y="4934875"/>
            <a:ext cx="1633343" cy="761366"/>
          </a:xfrm>
          <a:prstGeom prst="rect">
            <a:avLst/>
          </a:prstGeom>
          <a:solidFill>
            <a:schemeClr val="accent3">
              <a:lumMod val="20000"/>
              <a:lumOff val="80000"/>
            </a:schemeClr>
          </a:solidFill>
          <a:ln w="28575">
            <a:solidFill>
              <a:srgbClr val="7A0C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50000"/>
                  </a:schemeClr>
                </a:solidFill>
                <a:latin typeface="メイリオ" panose="020B0604030504040204" pitchFamily="50" charset="-128"/>
                <a:ea typeface="メイリオ" panose="020B0604030504040204" pitchFamily="50" charset="-128"/>
              </a:rPr>
              <a:t>重み付き平均</a:t>
            </a:r>
            <a:endParaRPr kumimoji="1" lang="ja-JP" altLang="en-US" b="1" dirty="0">
              <a:solidFill>
                <a:schemeClr val="tx1">
                  <a:lumMod val="50000"/>
                </a:schemeClr>
              </a:solidFill>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4CB0D5B9-DE00-6D7F-8FF5-F4A2AFFF18AE}"/>
                  </a:ext>
                </a:extLst>
              </p:cNvPr>
              <p:cNvSpPr txBox="1"/>
              <p:nvPr/>
            </p:nvSpPr>
            <p:spPr>
              <a:xfrm>
                <a:off x="3419706" y="4380050"/>
                <a:ext cx="1743746" cy="2781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3200" i="1" smtClean="0">
                              <a:latin typeface="Cambria Math" panose="02040503050406030204" pitchFamily="18" charset="0"/>
                            </a:rPr>
                          </m:ctrlPr>
                        </m:sSubPr>
                        <m:e>
                          <m:r>
                            <a:rPr lang="en-US" altLang="ja-JP" sz="3200" i="1">
                              <a:latin typeface="Cambria Math" panose="02040503050406030204" pitchFamily="18" charset="0"/>
                            </a:rPr>
                            <m:t>𝑤</m:t>
                          </m:r>
                        </m:e>
                        <m:sub>
                          <m:r>
                            <a:rPr lang="en-US" altLang="ja-JP" sz="3200" b="0" i="1" smtClean="0">
                              <a:latin typeface="Cambria Math" panose="02040503050406030204" pitchFamily="18" charset="0"/>
                            </a:rPr>
                            <m:t>1</m:t>
                          </m:r>
                        </m:sub>
                      </m:sSub>
                    </m:oMath>
                  </m:oMathPara>
                </a14:m>
                <a:endParaRPr lang="ja-JP" altLang="en-US" sz="3200" dirty="0">
                  <a:latin typeface="メイリオ" panose="020B0604030504040204" pitchFamily="50" charset="-128"/>
                  <a:ea typeface="メイリオ" panose="020B0604030504040204" pitchFamily="50" charset="-128"/>
                </a:endParaRPr>
              </a:p>
            </p:txBody>
          </p:sp>
        </mc:Choice>
        <mc:Fallback xmlns="">
          <p:sp>
            <p:nvSpPr>
              <p:cNvPr id="30" name="テキスト ボックス 29">
                <a:extLst>
                  <a:ext uri="{FF2B5EF4-FFF2-40B4-BE49-F238E27FC236}">
                    <a16:creationId xmlns:a16="http://schemas.microsoft.com/office/drawing/2014/main" id="{4CB0D5B9-DE00-6D7F-8FF5-F4A2AFFF18AE}"/>
                  </a:ext>
                </a:extLst>
              </p:cNvPr>
              <p:cNvSpPr txBox="1">
                <a:spLocks noRot="1" noChangeAspect="1" noMove="1" noResize="1" noEditPoints="1" noAdjustHandles="1" noChangeArrowheads="1" noChangeShapeType="1" noTextEdit="1"/>
              </p:cNvSpPr>
              <p:nvPr/>
            </p:nvSpPr>
            <p:spPr>
              <a:xfrm>
                <a:off x="3419706" y="4380050"/>
                <a:ext cx="1743746" cy="278159"/>
              </a:xfrm>
              <a:prstGeom prst="rect">
                <a:avLst/>
              </a:prstGeom>
              <a:blipFill>
                <a:blip r:embed="rId3"/>
                <a:stretch>
                  <a:fillRect b="-7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B0ACC57C-0A5B-2316-FAF9-8EC31D39B726}"/>
                  </a:ext>
                </a:extLst>
              </p:cNvPr>
              <p:cNvSpPr txBox="1"/>
              <p:nvPr/>
            </p:nvSpPr>
            <p:spPr>
              <a:xfrm>
                <a:off x="3466199" y="5754235"/>
                <a:ext cx="1743746" cy="2781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3200" i="1" smtClean="0">
                              <a:latin typeface="Cambria Math" panose="02040503050406030204" pitchFamily="18" charset="0"/>
                            </a:rPr>
                          </m:ctrlPr>
                        </m:sSubPr>
                        <m:e>
                          <m:r>
                            <a:rPr lang="en-US" altLang="ja-JP" sz="3200" i="1">
                              <a:latin typeface="Cambria Math" panose="02040503050406030204" pitchFamily="18" charset="0"/>
                            </a:rPr>
                            <m:t>𝑤</m:t>
                          </m:r>
                        </m:e>
                        <m:sub>
                          <m:r>
                            <a:rPr lang="en-US" altLang="ja-JP" sz="3200" b="0" i="1" smtClean="0">
                              <a:latin typeface="Cambria Math" panose="02040503050406030204" pitchFamily="18" charset="0"/>
                            </a:rPr>
                            <m:t>3</m:t>
                          </m:r>
                        </m:sub>
                      </m:sSub>
                    </m:oMath>
                  </m:oMathPara>
                </a14:m>
                <a:endParaRPr lang="ja-JP" altLang="en-US" sz="3200" dirty="0">
                  <a:latin typeface="メイリオ" panose="020B0604030504040204" pitchFamily="50" charset="-128"/>
                  <a:ea typeface="メイリオ" panose="020B0604030504040204" pitchFamily="50" charset="-128"/>
                </a:endParaRPr>
              </a:p>
            </p:txBody>
          </p:sp>
        </mc:Choice>
        <mc:Fallback xmlns="">
          <p:sp>
            <p:nvSpPr>
              <p:cNvPr id="31" name="テキスト ボックス 30">
                <a:extLst>
                  <a:ext uri="{FF2B5EF4-FFF2-40B4-BE49-F238E27FC236}">
                    <a16:creationId xmlns:a16="http://schemas.microsoft.com/office/drawing/2014/main" id="{B0ACC57C-0A5B-2316-FAF9-8EC31D39B726}"/>
                  </a:ext>
                </a:extLst>
              </p:cNvPr>
              <p:cNvSpPr txBox="1">
                <a:spLocks noRot="1" noChangeAspect="1" noMove="1" noResize="1" noEditPoints="1" noAdjustHandles="1" noChangeArrowheads="1" noChangeShapeType="1" noTextEdit="1"/>
              </p:cNvSpPr>
              <p:nvPr/>
            </p:nvSpPr>
            <p:spPr>
              <a:xfrm>
                <a:off x="3466199" y="5754235"/>
                <a:ext cx="1743746" cy="278159"/>
              </a:xfrm>
              <a:prstGeom prst="rect">
                <a:avLst/>
              </a:prstGeom>
              <a:blipFill>
                <a:blip r:embed="rId4"/>
                <a:stretch>
                  <a:fillRect b="-7391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8E0784BC-BBF3-914F-23BF-A2D1FF752124}"/>
                  </a:ext>
                </a:extLst>
              </p:cNvPr>
              <p:cNvSpPr txBox="1"/>
              <p:nvPr/>
            </p:nvSpPr>
            <p:spPr>
              <a:xfrm>
                <a:off x="3454331" y="5027473"/>
                <a:ext cx="1743746" cy="2781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3200" i="1" smtClean="0">
                              <a:latin typeface="Cambria Math" panose="02040503050406030204" pitchFamily="18" charset="0"/>
                            </a:rPr>
                          </m:ctrlPr>
                        </m:sSubPr>
                        <m:e>
                          <m:r>
                            <a:rPr lang="en-US" altLang="ja-JP" sz="3200" i="1">
                              <a:latin typeface="Cambria Math" panose="02040503050406030204" pitchFamily="18" charset="0"/>
                            </a:rPr>
                            <m:t>𝑤</m:t>
                          </m:r>
                        </m:e>
                        <m:sub>
                          <m:r>
                            <a:rPr lang="en-US" altLang="ja-JP" sz="3200" b="0" i="1" smtClean="0">
                              <a:latin typeface="Cambria Math" panose="02040503050406030204" pitchFamily="18" charset="0"/>
                            </a:rPr>
                            <m:t>2</m:t>
                          </m:r>
                        </m:sub>
                      </m:sSub>
                    </m:oMath>
                  </m:oMathPara>
                </a14:m>
                <a:endParaRPr lang="ja-JP" altLang="en-US" sz="3200" dirty="0">
                  <a:latin typeface="メイリオ" panose="020B0604030504040204" pitchFamily="50" charset="-128"/>
                  <a:ea typeface="メイリオ" panose="020B0604030504040204" pitchFamily="50" charset="-128"/>
                </a:endParaRPr>
              </a:p>
            </p:txBody>
          </p:sp>
        </mc:Choice>
        <mc:Fallback xmlns="">
          <p:sp>
            <p:nvSpPr>
              <p:cNvPr id="32" name="テキスト ボックス 31">
                <a:extLst>
                  <a:ext uri="{FF2B5EF4-FFF2-40B4-BE49-F238E27FC236}">
                    <a16:creationId xmlns:a16="http://schemas.microsoft.com/office/drawing/2014/main" id="{8E0784BC-BBF3-914F-23BF-A2D1FF752124}"/>
                  </a:ext>
                </a:extLst>
              </p:cNvPr>
              <p:cNvSpPr txBox="1">
                <a:spLocks noRot="1" noChangeAspect="1" noMove="1" noResize="1" noEditPoints="1" noAdjustHandles="1" noChangeArrowheads="1" noChangeShapeType="1" noTextEdit="1"/>
              </p:cNvSpPr>
              <p:nvPr/>
            </p:nvSpPr>
            <p:spPr>
              <a:xfrm>
                <a:off x="3454331" y="5027473"/>
                <a:ext cx="1743746" cy="278159"/>
              </a:xfrm>
              <a:prstGeom prst="rect">
                <a:avLst/>
              </a:prstGeom>
              <a:blipFill>
                <a:blip r:embed="rId5"/>
                <a:stretch>
                  <a:fillRect b="-77778"/>
                </a:stretch>
              </a:blipFill>
            </p:spPr>
            <p:txBody>
              <a:bodyPr/>
              <a:lstStyle/>
              <a:p>
                <a:r>
                  <a:rPr lang="ja-JP" altLang="en-US">
                    <a:noFill/>
                  </a:rPr>
                  <a:t> </a:t>
                </a:r>
              </a:p>
            </p:txBody>
          </p:sp>
        </mc:Fallback>
      </mc:AlternateContent>
      <p:grpSp>
        <p:nvGrpSpPr>
          <p:cNvPr id="39" name="グループ化 38">
            <a:extLst>
              <a:ext uri="{FF2B5EF4-FFF2-40B4-BE49-F238E27FC236}">
                <a16:creationId xmlns:a16="http://schemas.microsoft.com/office/drawing/2014/main" id="{F640E63D-9564-8652-BC80-A67E8EBB933A}"/>
              </a:ext>
            </a:extLst>
          </p:cNvPr>
          <p:cNvGrpSpPr/>
          <p:nvPr/>
        </p:nvGrpSpPr>
        <p:grpSpPr>
          <a:xfrm>
            <a:off x="5278092" y="5046349"/>
            <a:ext cx="966042" cy="707886"/>
            <a:chOff x="5313367" y="5399686"/>
            <a:chExt cx="966042" cy="707886"/>
          </a:xfrm>
        </p:grpSpPr>
        <p:sp>
          <p:nvSpPr>
            <p:cNvPr id="26" name="楕円 25">
              <a:extLst>
                <a:ext uri="{FF2B5EF4-FFF2-40B4-BE49-F238E27FC236}">
                  <a16:creationId xmlns:a16="http://schemas.microsoft.com/office/drawing/2014/main" id="{A3D4B8CC-036C-C44F-4BDF-8C0EF641EE00}"/>
                </a:ext>
              </a:extLst>
            </p:cNvPr>
            <p:cNvSpPr/>
            <p:nvPr/>
          </p:nvSpPr>
          <p:spPr>
            <a:xfrm>
              <a:off x="5350761" y="5443030"/>
              <a:ext cx="928648" cy="550680"/>
            </a:xfrm>
            <a:prstGeom prst="ellipse">
              <a:avLst/>
            </a:prstGeom>
            <a:solidFill>
              <a:schemeClr val="accent3">
                <a:lumMod val="20000"/>
                <a:lumOff val="80000"/>
              </a:schemeClr>
            </a:solidFill>
            <a:ln w="28575">
              <a:solidFill>
                <a:srgbClr val="7A0C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4000" b="1" dirty="0">
                <a:solidFill>
                  <a:schemeClr val="tx1">
                    <a:lumMod val="50000"/>
                  </a:schemeClr>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B87D5F4A-A21C-EA42-C1F6-6381E677C406}"/>
                </a:ext>
              </a:extLst>
            </p:cNvPr>
            <p:cNvSpPr txBox="1"/>
            <p:nvPr/>
          </p:nvSpPr>
          <p:spPr>
            <a:xfrm>
              <a:off x="5313367" y="5399686"/>
              <a:ext cx="822116" cy="707886"/>
            </a:xfrm>
            <a:prstGeom prst="rect">
              <a:avLst/>
            </a:prstGeom>
            <a:noFill/>
          </p:spPr>
          <p:txBody>
            <a:bodyPr wrap="square" numCol="1" rtlCol="0">
              <a:spAutoFit/>
            </a:bodyPr>
            <a:lstStyle/>
            <a:p>
              <a:pPr marL="169200"/>
              <a:r>
                <a:rPr lang="ja-JP" altLang="en-US" sz="4000" b="1" dirty="0">
                  <a:latin typeface="メイリオ" panose="020B0604030504040204" pitchFamily="50" charset="-128"/>
                  <a:ea typeface="メイリオ" panose="020B0604030504040204" pitchFamily="50" charset="-128"/>
                </a:rPr>
                <a:t>＋</a:t>
              </a:r>
              <a:endParaRPr kumimoji="1" lang="ja-JP" altLang="en-US" sz="4000" b="1" dirty="0">
                <a:latin typeface="メイリオ" panose="020B0604030504040204" pitchFamily="50" charset="-128"/>
                <a:ea typeface="メイリオ" panose="020B0604030504040204" pitchFamily="50" charset="-128"/>
              </a:endParaRPr>
            </a:p>
          </p:txBody>
        </p:sp>
      </p:grpSp>
      <p:sp>
        <p:nvSpPr>
          <p:cNvPr id="8" name="矢印: 下 7">
            <a:extLst>
              <a:ext uri="{FF2B5EF4-FFF2-40B4-BE49-F238E27FC236}">
                <a16:creationId xmlns:a16="http://schemas.microsoft.com/office/drawing/2014/main" id="{0DF8D247-BFC4-C42C-9158-03ED4656F9AE}"/>
              </a:ext>
            </a:extLst>
          </p:cNvPr>
          <p:cNvSpPr/>
          <p:nvPr/>
        </p:nvSpPr>
        <p:spPr>
          <a:xfrm rot="16200000">
            <a:off x="4747891" y="5113565"/>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矢印: 下 9">
            <a:extLst>
              <a:ext uri="{FF2B5EF4-FFF2-40B4-BE49-F238E27FC236}">
                <a16:creationId xmlns:a16="http://schemas.microsoft.com/office/drawing/2014/main" id="{99E21389-5BA6-F213-5E45-187802BCD02F}"/>
              </a:ext>
            </a:extLst>
          </p:cNvPr>
          <p:cNvSpPr/>
          <p:nvPr/>
        </p:nvSpPr>
        <p:spPr>
          <a:xfrm rot="16200000">
            <a:off x="3441169" y="5113566"/>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矢印: 下 10">
            <a:extLst>
              <a:ext uri="{FF2B5EF4-FFF2-40B4-BE49-F238E27FC236}">
                <a16:creationId xmlns:a16="http://schemas.microsoft.com/office/drawing/2014/main" id="{2AD41BA4-7DED-BA2E-30C6-0EE74708A1C7}"/>
              </a:ext>
            </a:extLst>
          </p:cNvPr>
          <p:cNvSpPr/>
          <p:nvPr/>
        </p:nvSpPr>
        <p:spPr>
          <a:xfrm rot="14629791">
            <a:off x="4662422" y="5547139"/>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矢印: 下 19">
            <a:extLst>
              <a:ext uri="{FF2B5EF4-FFF2-40B4-BE49-F238E27FC236}">
                <a16:creationId xmlns:a16="http://schemas.microsoft.com/office/drawing/2014/main" id="{D76781F0-1C51-5F7C-F15D-724A47972D3C}"/>
              </a:ext>
            </a:extLst>
          </p:cNvPr>
          <p:cNvSpPr/>
          <p:nvPr/>
        </p:nvSpPr>
        <p:spPr>
          <a:xfrm rot="14577937">
            <a:off x="3498460" y="6025147"/>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矢印: 下 21">
            <a:extLst>
              <a:ext uri="{FF2B5EF4-FFF2-40B4-BE49-F238E27FC236}">
                <a16:creationId xmlns:a16="http://schemas.microsoft.com/office/drawing/2014/main" id="{6D4AA5DB-064C-B0E3-AB2E-1EE28E09D4EC}"/>
              </a:ext>
            </a:extLst>
          </p:cNvPr>
          <p:cNvSpPr/>
          <p:nvPr/>
        </p:nvSpPr>
        <p:spPr>
          <a:xfrm rot="17872590">
            <a:off x="4610907" y="4719062"/>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矢印: 下 35">
            <a:extLst>
              <a:ext uri="{FF2B5EF4-FFF2-40B4-BE49-F238E27FC236}">
                <a16:creationId xmlns:a16="http://schemas.microsoft.com/office/drawing/2014/main" id="{C390D6B4-3759-796D-F0A6-563A1375210B}"/>
              </a:ext>
            </a:extLst>
          </p:cNvPr>
          <p:cNvSpPr/>
          <p:nvPr/>
        </p:nvSpPr>
        <p:spPr>
          <a:xfrm rot="17927024">
            <a:off x="3441169" y="4178465"/>
            <a:ext cx="433306" cy="49080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69875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4092-A390-FFCC-E8AC-E97CFA8DCDF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EBA336-9962-8FCD-9AB5-CA127D43E040}"/>
              </a:ext>
            </a:extLst>
          </p:cNvPr>
          <p:cNvSpPr>
            <a:spLocks noGrp="1"/>
          </p:cNvSpPr>
          <p:nvPr>
            <p:ph type="body" sz="half" idx="12"/>
          </p:nvPr>
        </p:nvSpPr>
        <p:spPr>
          <a:xfrm>
            <a:off x="992155" y="1157104"/>
            <a:ext cx="2444064" cy="407035"/>
          </a:xfrm>
        </p:spPr>
        <p:txBody>
          <a:bodyPr/>
          <a:lstStyle/>
          <a:p>
            <a:r>
              <a:rPr lang="ja-JP" altLang="en-US" sz="2300" b="1" dirty="0">
                <a:latin typeface="メイリオ" panose="020B0604030504040204" pitchFamily="50" charset="-128"/>
                <a:ea typeface="メイリオ" panose="020B0604030504040204" pitchFamily="50" charset="-128"/>
              </a:rPr>
              <a:t>手順</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766131B7-5B5C-950B-F254-DB5315A700D3}"/>
              </a:ext>
            </a:extLst>
          </p:cNvPr>
          <p:cNvSpPr>
            <a:spLocks noGrp="1"/>
          </p:cNvSpPr>
          <p:nvPr>
            <p:ph type="title"/>
          </p:nvPr>
        </p:nvSpPr>
        <p:spPr>
          <a:xfrm>
            <a:off x="857746" y="410449"/>
            <a:ext cx="8658001" cy="424732"/>
          </a:xfrm>
        </p:spPr>
        <p:txBody>
          <a:bodyPr/>
          <a:lstStyle/>
          <a:p>
            <a:r>
              <a:rPr lang="en-US" dirty="0">
                <a:latin typeface="メイリオ" panose="020B0604030504040204" pitchFamily="50" charset="-128"/>
                <a:ea typeface="メイリオ" panose="020B0604030504040204" pitchFamily="50" charset="-128"/>
              </a:rPr>
              <a:t>100%</a:t>
            </a:r>
            <a:r>
              <a:rPr lang="ja-JP" altLang="en-US" dirty="0">
                <a:latin typeface="メイリオ" panose="020B0604030504040204" pitchFamily="50" charset="-128"/>
                <a:ea typeface="メイリオ" panose="020B0604030504040204" pitchFamily="50" charset="-128"/>
              </a:rPr>
              <a:t>分類可能な熱流束値の評価方法</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2C869B4D-6A0D-08CF-FC51-A797B5150D0D}"/>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5AE85A5F-23D1-F59F-7734-2519ED2DDB5C}"/>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56D4923C-3C85-8C8E-4A5A-38B36FF4B385}"/>
              </a:ext>
            </a:extLst>
          </p:cNvPr>
          <p:cNvSpPr txBox="1"/>
          <p:nvPr/>
        </p:nvSpPr>
        <p:spPr>
          <a:xfrm>
            <a:off x="671888" y="4676709"/>
            <a:ext cx="4106847" cy="1323439"/>
          </a:xfrm>
          <a:prstGeom prst="rect">
            <a:avLst/>
          </a:prstGeom>
          <a:noFill/>
        </p:spPr>
        <p:txBody>
          <a:bodyPr wrap="square" numCol="1" rtlCol="0">
            <a:spAutoFit/>
          </a:bodyPr>
          <a:lstStyle/>
          <a:p>
            <a:pPr marL="626400" indent="-457200">
              <a:buFont typeface="+mj-lt"/>
              <a:buAutoNum type="arabicPeriod" startAt="4"/>
            </a:pPr>
            <a:r>
              <a:rPr kumimoji="1" lang="ja-JP" altLang="en-US" sz="2000" b="1" dirty="0">
                <a:latin typeface="メイリオ" panose="020B0604030504040204" pitchFamily="50" charset="-128"/>
                <a:ea typeface="メイリオ" panose="020B0604030504040204" pitchFamily="50" charset="-128"/>
              </a:rPr>
              <a:t>それ以降の</a:t>
            </a:r>
            <a:r>
              <a:rPr lang="ja-JP" altLang="en-US" sz="2000" b="1" dirty="0">
                <a:latin typeface="メイリオ" panose="020B0604030504040204" pitchFamily="50" charset="-128"/>
                <a:ea typeface="メイリオ" panose="020B0604030504040204" pitchFamily="50" charset="-128"/>
              </a:rPr>
              <a:t>グループ</a:t>
            </a:r>
            <a:r>
              <a:rPr kumimoji="1" lang="ja-JP" altLang="en-US" sz="2000" b="1" dirty="0">
                <a:latin typeface="メイリオ" panose="020B0604030504040204" pitchFamily="50" charset="-128"/>
                <a:ea typeface="メイリオ" panose="020B0604030504040204" pitchFamily="50" charset="-128"/>
              </a:rPr>
              <a:t>すべて</a:t>
            </a:r>
            <a:r>
              <a:rPr kumimoji="1" lang="ja-JP" altLang="en-US" sz="2000" dirty="0">
                <a:latin typeface="メイリオ" panose="020B0604030504040204" pitchFamily="50" charset="-128"/>
                <a:ea typeface="メイリオ" panose="020B0604030504040204" pitchFamily="50" charset="-128"/>
              </a:rPr>
              <a:t>に対しても同様に上回っていれば，最小値を「</a:t>
            </a:r>
            <a:r>
              <a:rPr kumimoji="1" lang="en-US" altLang="ja-JP" sz="2000" dirty="0">
                <a:latin typeface="メイリオ" panose="020B0604030504040204" pitchFamily="50" charset="-128"/>
                <a:ea typeface="メイリオ" panose="020B0604030504040204" pitchFamily="50" charset="-128"/>
              </a:rPr>
              <a:t>100%</a:t>
            </a:r>
            <a:r>
              <a:rPr kumimoji="1" lang="ja-JP" altLang="en-US" sz="2000" dirty="0">
                <a:latin typeface="メイリオ" panose="020B0604030504040204" pitchFamily="50" charset="-128"/>
                <a:ea typeface="メイリオ" panose="020B0604030504040204" pitchFamily="50" charset="-128"/>
              </a:rPr>
              <a:t>分類可能な熱流束値」とする</a:t>
            </a:r>
          </a:p>
        </p:txBody>
      </p:sp>
      <p:sp>
        <p:nvSpPr>
          <p:cNvPr id="60" name="テキスト ボックス 59">
            <a:extLst>
              <a:ext uri="{FF2B5EF4-FFF2-40B4-BE49-F238E27FC236}">
                <a16:creationId xmlns:a16="http://schemas.microsoft.com/office/drawing/2014/main" id="{431EA612-B220-8490-9AA5-2FD77EC2E39C}"/>
              </a:ext>
            </a:extLst>
          </p:cNvPr>
          <p:cNvSpPr txBox="1"/>
          <p:nvPr/>
        </p:nvSpPr>
        <p:spPr>
          <a:xfrm>
            <a:off x="685535" y="2512588"/>
            <a:ext cx="3860313" cy="707886"/>
          </a:xfrm>
          <a:prstGeom prst="rect">
            <a:avLst/>
          </a:prstGeom>
          <a:noFill/>
        </p:spPr>
        <p:txBody>
          <a:bodyPr wrap="square" numCol="1" rtlCol="0">
            <a:spAutoFit/>
          </a:bodyPr>
          <a:lstStyle/>
          <a:p>
            <a:pPr marL="626400" indent="-457200">
              <a:buFont typeface="+mj-lt"/>
              <a:buAutoNum type="arabicPeriod" startAt="2"/>
            </a:pPr>
            <a:r>
              <a:rPr kumimoji="1" lang="ja-JP" altLang="en-US" sz="2000" dirty="0">
                <a:latin typeface="メイリオ" panose="020B0604030504040204" pitchFamily="50" charset="-128"/>
                <a:ea typeface="メイリオ" panose="020B0604030504040204" pitchFamily="50" charset="-128"/>
              </a:rPr>
              <a:t>実際の沸騰開始点の熱流束を</a:t>
            </a:r>
            <a:r>
              <a:rPr kumimoji="1" lang="ja-JP" altLang="en-US" sz="2000" b="1" dirty="0">
                <a:solidFill>
                  <a:srgbClr val="FF3B3B"/>
                </a:solidFill>
                <a:latin typeface="メイリオ" panose="020B0604030504040204" pitchFamily="50" charset="-128"/>
                <a:ea typeface="メイリオ" panose="020B0604030504040204" pitchFamily="50" charset="-128"/>
              </a:rPr>
              <a:t>閾値</a:t>
            </a:r>
            <a:r>
              <a:rPr kumimoji="1" lang="ja-JP" altLang="en-US" sz="2000" dirty="0">
                <a:latin typeface="メイリオ" panose="020B0604030504040204" pitchFamily="50" charset="-128"/>
                <a:ea typeface="メイリオ" panose="020B0604030504040204" pitchFamily="50" charset="-128"/>
              </a:rPr>
              <a:t>とする</a:t>
            </a:r>
            <a:endParaRPr kumimoji="1" lang="en-US" altLang="ja-JP" sz="2000" dirty="0">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3A1B12-710B-E78B-4F51-7836E965153C}"/>
              </a:ext>
            </a:extLst>
          </p:cNvPr>
          <p:cNvSpPr txBox="1"/>
          <p:nvPr/>
        </p:nvSpPr>
        <p:spPr>
          <a:xfrm>
            <a:off x="694327" y="3460473"/>
            <a:ext cx="3778940" cy="1015663"/>
          </a:xfrm>
          <a:prstGeom prst="rect">
            <a:avLst/>
          </a:prstGeom>
          <a:noFill/>
        </p:spPr>
        <p:txBody>
          <a:bodyPr wrap="square" numCol="1" rtlCol="0">
            <a:spAutoFit/>
          </a:bodyPr>
          <a:lstStyle/>
          <a:p>
            <a:pPr marL="626400" indent="-457200">
              <a:buFont typeface="+mj-lt"/>
              <a:buAutoNum type="arabicPeriod" startAt="3"/>
            </a:pPr>
            <a:r>
              <a:rPr lang="ja-JP" altLang="en-US" sz="2000" b="1">
                <a:latin typeface="メイリオ" panose="020B0604030504040204" pitchFamily="50" charset="-128"/>
                <a:ea typeface="メイリオ" panose="020B0604030504040204" pitchFamily="50" charset="-128"/>
              </a:rPr>
              <a:t>各グループに</a:t>
            </a:r>
            <a:r>
              <a:rPr lang="ja-JP" altLang="en-US" sz="2000" b="1" dirty="0">
                <a:latin typeface="メイリオ" panose="020B0604030504040204" pitchFamily="50" charset="-128"/>
                <a:ea typeface="メイリオ" panose="020B0604030504040204" pitchFamily="50" charset="-128"/>
              </a:rPr>
              <a:t>対する</a:t>
            </a:r>
            <a:r>
              <a:rPr lang="ja-JP" altLang="en-US" sz="2000" dirty="0">
                <a:latin typeface="メイリオ" panose="020B0604030504040204" pitchFamily="50" charset="-128"/>
                <a:ea typeface="メイリオ" panose="020B0604030504040204" pitchFamily="50" charset="-128"/>
              </a:rPr>
              <a:t>全ての予測値が閾値を超えるか判定</a:t>
            </a:r>
            <a:endParaRPr lang="en-US" altLang="ja-JP" sz="2000" dirty="0">
              <a:latin typeface="メイリオ" panose="020B0604030504040204" pitchFamily="50" charset="-128"/>
              <a:ea typeface="メイリオ" panose="020B0604030504040204" pitchFamily="50" charset="-128"/>
            </a:endParaRPr>
          </a:p>
        </p:txBody>
      </p:sp>
      <p:sp>
        <p:nvSpPr>
          <p:cNvPr id="62" name="テキスト ボックス 61">
            <a:extLst>
              <a:ext uri="{FF2B5EF4-FFF2-40B4-BE49-F238E27FC236}">
                <a16:creationId xmlns:a16="http://schemas.microsoft.com/office/drawing/2014/main" id="{383CEF03-1EC5-BE86-1E34-59FE1BAF2DAD}"/>
              </a:ext>
            </a:extLst>
          </p:cNvPr>
          <p:cNvSpPr txBox="1"/>
          <p:nvPr/>
        </p:nvSpPr>
        <p:spPr>
          <a:xfrm>
            <a:off x="684460" y="1872479"/>
            <a:ext cx="3778940" cy="400110"/>
          </a:xfrm>
          <a:prstGeom prst="rect">
            <a:avLst/>
          </a:prstGeom>
          <a:noFill/>
        </p:spPr>
        <p:txBody>
          <a:bodyPr wrap="square" numCol="1" rtlCol="0">
            <a:spAutoFit/>
          </a:bodyPr>
          <a:lstStyle/>
          <a:p>
            <a:pPr marL="626400" indent="-457200">
              <a:buFont typeface="+mj-lt"/>
              <a:buAutoNum type="arabicPeriod"/>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データの</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グルーピング</a:t>
            </a:r>
            <a:endParaRPr kumimoji="1" lang="en-US" altLang="ja-JP" sz="2000" b="1" dirty="0">
              <a:solidFill>
                <a:srgbClr val="292B2B"/>
              </a:solidFill>
              <a:latin typeface="メイリオ" panose="020B0604030504040204" pitchFamily="50" charset="-128"/>
              <a:ea typeface="メイリオ" panose="020B0604030504040204" pitchFamily="50" charset="-128"/>
              <a:sym typeface="Source Han Sans JP"/>
            </a:endParaRPr>
          </a:p>
        </p:txBody>
      </p:sp>
      <p:grpSp>
        <p:nvGrpSpPr>
          <p:cNvPr id="3" name="グループ化 2">
            <a:extLst>
              <a:ext uri="{FF2B5EF4-FFF2-40B4-BE49-F238E27FC236}">
                <a16:creationId xmlns:a16="http://schemas.microsoft.com/office/drawing/2014/main" id="{EB1F8E79-4E89-1E73-DF93-B0604FEBAA55}"/>
              </a:ext>
            </a:extLst>
          </p:cNvPr>
          <p:cNvGrpSpPr/>
          <p:nvPr/>
        </p:nvGrpSpPr>
        <p:grpSpPr>
          <a:xfrm>
            <a:off x="4848545" y="1773445"/>
            <a:ext cx="5307066" cy="4634230"/>
            <a:chOff x="4848545" y="1773445"/>
            <a:chExt cx="5307066" cy="4634230"/>
          </a:xfrm>
        </p:grpSpPr>
        <p:sp>
          <p:nvSpPr>
            <p:cNvPr id="33" name="正方形/長方形 32">
              <a:extLst>
                <a:ext uri="{FF2B5EF4-FFF2-40B4-BE49-F238E27FC236}">
                  <a16:creationId xmlns:a16="http://schemas.microsoft.com/office/drawing/2014/main" id="{3BE7ABB7-5999-C3AB-8639-5059F5BF38D9}"/>
                </a:ext>
              </a:extLst>
            </p:cNvPr>
            <p:cNvSpPr/>
            <p:nvPr/>
          </p:nvSpPr>
          <p:spPr>
            <a:xfrm>
              <a:off x="6168923" y="2028809"/>
              <a:ext cx="3529312" cy="3331409"/>
            </a:xfrm>
            <a:prstGeom prst="rect">
              <a:avLst/>
            </a:prstGeom>
            <a:solidFill>
              <a:srgbClr val="FDBCB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BA369D8B-9CCF-F618-64AE-6D18F85A9F35}"/>
                </a:ext>
              </a:extLst>
            </p:cNvPr>
            <p:cNvCxnSpPr>
              <a:cxnSpLocks/>
              <a:endCxn id="40" idx="0"/>
            </p:cNvCxnSpPr>
            <p:nvPr/>
          </p:nvCxnSpPr>
          <p:spPr>
            <a:xfrm flipV="1">
              <a:off x="5500301" y="2262210"/>
              <a:ext cx="3832888" cy="2944667"/>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EF3232D3-04E2-392D-2F41-C6776D864DE8}"/>
                </a:ext>
              </a:extLst>
            </p:cNvPr>
            <p:cNvCxnSpPr>
              <a:cxnSpLocks/>
            </p:cNvCxnSpPr>
            <p:nvPr/>
          </p:nvCxnSpPr>
          <p:spPr>
            <a:xfrm>
              <a:off x="5350376" y="4717904"/>
              <a:ext cx="4311568" cy="0"/>
            </a:xfrm>
            <a:prstGeom prst="line">
              <a:avLst/>
            </a:prstGeom>
            <a:ln w="28575">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BD540F19-FD42-1CC1-E05C-DBA5DB323B0E}"/>
                </a:ext>
              </a:extLst>
            </p:cNvPr>
            <p:cNvSpPr txBox="1"/>
            <p:nvPr/>
          </p:nvSpPr>
          <p:spPr>
            <a:xfrm>
              <a:off x="8143234" y="5615582"/>
              <a:ext cx="1723898" cy="461665"/>
            </a:xfrm>
            <a:prstGeom prst="rect">
              <a:avLst/>
            </a:prstGeom>
            <a:noFill/>
          </p:spPr>
          <p:txBody>
            <a:bodyPr wrap="square" rtlCol="0">
              <a:spAutoFit/>
            </a:bodyPr>
            <a:lstStyle/>
            <a:p>
              <a:r>
                <a:rPr kumimoji="1" lang="ja-JP" altLang="en-US" sz="3600" baseline="30000" dirty="0">
                  <a:latin typeface="メイリオ" panose="020B0604030504040204" pitchFamily="50" charset="-128"/>
                  <a:ea typeface="メイリオ" panose="020B0604030504040204" pitchFamily="50" charset="-128"/>
                </a:rPr>
                <a:t>実測熱流束</a:t>
              </a:r>
            </a:p>
          </p:txBody>
        </p:sp>
        <p:sp>
          <p:nvSpPr>
            <p:cNvPr id="36" name="正方形/長方形 35">
              <a:extLst>
                <a:ext uri="{FF2B5EF4-FFF2-40B4-BE49-F238E27FC236}">
                  <a16:creationId xmlns:a16="http://schemas.microsoft.com/office/drawing/2014/main" id="{BE9E6208-5DC4-7380-B99A-2237CDF8843C}"/>
                </a:ext>
              </a:extLst>
            </p:cNvPr>
            <p:cNvSpPr/>
            <p:nvPr/>
          </p:nvSpPr>
          <p:spPr>
            <a:xfrm>
              <a:off x="5606404" y="4510425"/>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256893A6-892B-1DB0-41ED-7BB901165BF3}"/>
                </a:ext>
              </a:extLst>
            </p:cNvPr>
            <p:cNvSpPr/>
            <p:nvPr/>
          </p:nvSpPr>
          <p:spPr>
            <a:xfrm>
              <a:off x="8049676" y="2900413"/>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E4DB490D-4B4D-24CC-FF0A-FCD1310C7E06}"/>
                </a:ext>
              </a:extLst>
            </p:cNvPr>
            <p:cNvSpPr/>
            <p:nvPr/>
          </p:nvSpPr>
          <p:spPr>
            <a:xfrm>
              <a:off x="7141742" y="3558034"/>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0E7B7DA8-86D6-4161-4EBA-C46C33AC0DEE}"/>
                </a:ext>
              </a:extLst>
            </p:cNvPr>
            <p:cNvSpPr/>
            <p:nvPr/>
          </p:nvSpPr>
          <p:spPr>
            <a:xfrm>
              <a:off x="6178356" y="4009763"/>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1CCE0793-E673-0AC9-CA47-03B9D5A9E7AE}"/>
                </a:ext>
              </a:extLst>
            </p:cNvPr>
            <p:cNvSpPr/>
            <p:nvPr/>
          </p:nvSpPr>
          <p:spPr>
            <a:xfrm>
              <a:off x="9207681" y="2262210"/>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D2D081A0-77AC-51E0-FBE7-89EB2E04A6E2}"/>
                </a:ext>
              </a:extLst>
            </p:cNvPr>
            <p:cNvSpPr/>
            <p:nvPr/>
          </p:nvSpPr>
          <p:spPr>
            <a:xfrm>
              <a:off x="8603387" y="2341427"/>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a:extLst>
                <a:ext uri="{FF2B5EF4-FFF2-40B4-BE49-F238E27FC236}">
                  <a16:creationId xmlns:a16="http://schemas.microsoft.com/office/drawing/2014/main" id="{C829B1BB-09B1-8B65-E009-A6E697F111F7}"/>
                </a:ext>
              </a:extLst>
            </p:cNvPr>
            <p:cNvCxnSpPr>
              <a:cxnSpLocks/>
            </p:cNvCxnSpPr>
            <p:nvPr/>
          </p:nvCxnSpPr>
          <p:spPr>
            <a:xfrm>
              <a:off x="7141742" y="2118141"/>
              <a:ext cx="0" cy="3273392"/>
            </a:xfrm>
            <a:prstGeom prst="line">
              <a:avLst/>
            </a:prstGeom>
            <a:ln w="28575">
              <a:solidFill>
                <a:srgbClr val="1482E6"/>
              </a:solidFill>
              <a:prstDash val="dash"/>
            </a:ln>
          </p:spPr>
          <p:style>
            <a:lnRef idx="2">
              <a:schemeClr val="accent1"/>
            </a:lnRef>
            <a:fillRef idx="0">
              <a:schemeClr val="accent1"/>
            </a:fillRef>
            <a:effectRef idx="1">
              <a:schemeClr val="accent1"/>
            </a:effectRef>
            <a:fontRef idx="minor">
              <a:schemeClr val="tx1"/>
            </a:fontRef>
          </p:style>
        </p:cxnSp>
        <p:sp>
          <p:nvSpPr>
            <p:cNvPr id="43" name="矢印: 右 42">
              <a:extLst>
                <a:ext uri="{FF2B5EF4-FFF2-40B4-BE49-F238E27FC236}">
                  <a16:creationId xmlns:a16="http://schemas.microsoft.com/office/drawing/2014/main" id="{34BC8975-FA31-362A-01AC-79681723433B}"/>
                </a:ext>
              </a:extLst>
            </p:cNvPr>
            <p:cNvSpPr/>
            <p:nvPr/>
          </p:nvSpPr>
          <p:spPr>
            <a:xfrm rot="16200000">
              <a:off x="6988146" y="5369529"/>
              <a:ext cx="307192" cy="476457"/>
            </a:xfrm>
            <a:prstGeom prst="rightArrow">
              <a:avLst>
                <a:gd name="adj1" fmla="val 44040"/>
                <a:gd name="adj2" fmla="val 52980"/>
              </a:avLst>
            </a:prstGeom>
            <a:solidFill>
              <a:srgbClr val="1482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4" name="直線矢印コネクタ 43">
              <a:extLst>
                <a:ext uri="{FF2B5EF4-FFF2-40B4-BE49-F238E27FC236}">
                  <a16:creationId xmlns:a16="http://schemas.microsoft.com/office/drawing/2014/main" id="{CC14099C-8690-0E45-BE76-1E0AC58B6B6B}"/>
                </a:ext>
              </a:extLst>
            </p:cNvPr>
            <p:cNvCxnSpPr>
              <a:cxnSpLocks/>
            </p:cNvCxnSpPr>
            <p:nvPr/>
          </p:nvCxnSpPr>
          <p:spPr>
            <a:xfrm>
              <a:off x="5236111" y="5391532"/>
              <a:ext cx="4473348" cy="0"/>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cxnSp>
          <p:nvCxnSpPr>
            <p:cNvPr id="45" name="直線矢印コネクタ 44">
              <a:extLst>
                <a:ext uri="{FF2B5EF4-FFF2-40B4-BE49-F238E27FC236}">
                  <a16:creationId xmlns:a16="http://schemas.microsoft.com/office/drawing/2014/main" id="{3D1F575C-2F41-0A99-E4C4-E3F9EF260187}"/>
                </a:ext>
              </a:extLst>
            </p:cNvPr>
            <p:cNvCxnSpPr>
              <a:cxnSpLocks/>
            </p:cNvCxnSpPr>
            <p:nvPr/>
          </p:nvCxnSpPr>
          <p:spPr>
            <a:xfrm flipV="1">
              <a:off x="5248897" y="2003300"/>
              <a:ext cx="0" cy="3389828"/>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sp>
          <p:nvSpPr>
            <p:cNvPr id="46" name="テキスト ボックス 45">
              <a:extLst>
                <a:ext uri="{FF2B5EF4-FFF2-40B4-BE49-F238E27FC236}">
                  <a16:creationId xmlns:a16="http://schemas.microsoft.com/office/drawing/2014/main" id="{C9B052DA-3986-547D-A89E-45609B93DEFA}"/>
                </a:ext>
              </a:extLst>
            </p:cNvPr>
            <p:cNvSpPr txBox="1"/>
            <p:nvPr/>
          </p:nvSpPr>
          <p:spPr>
            <a:xfrm rot="16200000">
              <a:off x="4223174" y="2470996"/>
              <a:ext cx="1712407" cy="461665"/>
            </a:xfrm>
            <a:prstGeom prst="rect">
              <a:avLst/>
            </a:prstGeom>
            <a:noFill/>
          </p:spPr>
          <p:txBody>
            <a:bodyPr wrap="square" rtlCol="0">
              <a:spAutoFit/>
            </a:bodyPr>
            <a:lstStyle/>
            <a:p>
              <a:r>
                <a:rPr kumimoji="1" lang="ja-JP" altLang="en-US" sz="3600" baseline="30000" dirty="0">
                  <a:latin typeface="メイリオ" panose="020B0604030504040204" pitchFamily="50" charset="-128"/>
                  <a:ea typeface="メイリオ" panose="020B0604030504040204" pitchFamily="50" charset="-128"/>
                </a:rPr>
                <a:t>予測熱流束</a:t>
              </a:r>
            </a:p>
          </p:txBody>
        </p:sp>
        <p:sp>
          <p:nvSpPr>
            <p:cNvPr id="47" name="テキスト ボックス 46">
              <a:extLst>
                <a:ext uri="{FF2B5EF4-FFF2-40B4-BE49-F238E27FC236}">
                  <a16:creationId xmlns:a16="http://schemas.microsoft.com/office/drawing/2014/main" id="{3FF5E74C-9B3B-4810-4EDA-EAC30A1E471C}"/>
                </a:ext>
              </a:extLst>
            </p:cNvPr>
            <p:cNvSpPr txBox="1"/>
            <p:nvPr/>
          </p:nvSpPr>
          <p:spPr>
            <a:xfrm>
              <a:off x="6077345" y="1773445"/>
              <a:ext cx="1811325" cy="461665"/>
            </a:xfrm>
            <a:prstGeom prst="rect">
              <a:avLst/>
            </a:prstGeom>
            <a:noFill/>
          </p:spPr>
          <p:txBody>
            <a:bodyPr wrap="square" rtlCol="0">
              <a:spAutoFit/>
            </a:bodyPr>
            <a:lstStyle/>
            <a:p>
              <a:r>
                <a:rPr kumimoji="1" lang="ja-JP" altLang="en-US" sz="3600" baseline="30000" dirty="0">
                  <a:solidFill>
                    <a:srgbClr val="FA5B40"/>
                  </a:solidFill>
                  <a:latin typeface="メイリオ" panose="020B0604030504040204" pitchFamily="50" charset="-128"/>
                  <a:ea typeface="メイリオ" panose="020B0604030504040204" pitchFamily="50" charset="-128"/>
                </a:rPr>
                <a:t>核沸騰領域</a:t>
              </a:r>
            </a:p>
          </p:txBody>
        </p:sp>
        <p:sp>
          <p:nvSpPr>
            <p:cNvPr id="48" name="正方形/長方形 47">
              <a:extLst>
                <a:ext uri="{FF2B5EF4-FFF2-40B4-BE49-F238E27FC236}">
                  <a16:creationId xmlns:a16="http://schemas.microsoft.com/office/drawing/2014/main" id="{984061B1-6440-33D7-8F37-E379EE12B94E}"/>
                </a:ext>
              </a:extLst>
            </p:cNvPr>
            <p:cNvSpPr/>
            <p:nvPr/>
          </p:nvSpPr>
          <p:spPr>
            <a:xfrm>
              <a:off x="6670176" y="4145972"/>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31A6CB9B-6C31-5317-DB05-7963A9148709}"/>
                </a:ext>
              </a:extLst>
            </p:cNvPr>
            <p:cNvSpPr/>
            <p:nvPr/>
          </p:nvSpPr>
          <p:spPr>
            <a:xfrm>
              <a:off x="7606992" y="3179146"/>
              <a:ext cx="251014" cy="657621"/>
            </a:xfrm>
            <a:prstGeom prst="rect">
              <a:avLst/>
            </a:prstGeom>
            <a:solidFill>
              <a:srgbClr val="2C98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4907D08-995A-91E4-68C0-C0DD3E1F99A0}"/>
                </a:ext>
              </a:extLst>
            </p:cNvPr>
            <p:cNvSpPr txBox="1"/>
            <p:nvPr/>
          </p:nvSpPr>
          <p:spPr>
            <a:xfrm>
              <a:off x="6603910" y="5946010"/>
              <a:ext cx="1723898" cy="461665"/>
            </a:xfrm>
            <a:prstGeom prst="rect">
              <a:avLst/>
            </a:prstGeom>
            <a:noFill/>
          </p:spPr>
          <p:txBody>
            <a:bodyPr wrap="square" rtlCol="0">
              <a:spAutoFit/>
            </a:bodyPr>
            <a:lstStyle/>
            <a:p>
              <a:r>
                <a:rPr kumimoji="1" lang="ja-JP" altLang="en-US" sz="3600" baseline="30000" dirty="0">
                  <a:solidFill>
                    <a:srgbClr val="1482E6"/>
                  </a:solidFill>
                  <a:latin typeface="メイリオ" panose="020B0604030504040204" pitchFamily="50" charset="-128"/>
                  <a:ea typeface="メイリオ" panose="020B0604030504040204" pitchFamily="50" charset="-128"/>
                </a:rPr>
                <a:t>検知下限</a:t>
              </a:r>
            </a:p>
          </p:txBody>
        </p:sp>
        <p:sp>
          <p:nvSpPr>
            <p:cNvPr id="53" name="テキスト ボックス 52">
              <a:extLst>
                <a:ext uri="{FF2B5EF4-FFF2-40B4-BE49-F238E27FC236}">
                  <a16:creationId xmlns:a16="http://schemas.microsoft.com/office/drawing/2014/main" id="{F3BE7455-2F50-A8B9-CC7B-9EA95F48719E}"/>
                </a:ext>
              </a:extLst>
            </p:cNvPr>
            <p:cNvSpPr txBox="1"/>
            <p:nvPr/>
          </p:nvSpPr>
          <p:spPr>
            <a:xfrm>
              <a:off x="7124544" y="4490900"/>
              <a:ext cx="3031067" cy="420628"/>
            </a:xfrm>
            <a:prstGeom prst="rect">
              <a:avLst/>
            </a:prstGeom>
            <a:noFill/>
          </p:spPr>
          <p:txBody>
            <a:bodyPr wrap="square" rtlCol="0">
              <a:spAutoFit/>
            </a:bodyPr>
            <a:lstStyle/>
            <a:p>
              <a:r>
                <a:rPr kumimoji="1" lang="ja-JP" altLang="en-US" sz="3200" baseline="30000" dirty="0">
                  <a:latin typeface="メイリオ" panose="020B0604030504040204" pitchFamily="50" charset="-128"/>
                  <a:ea typeface="メイリオ" panose="020B0604030504040204" pitchFamily="50" charset="-128"/>
                </a:rPr>
                <a:t>沸騰開始点の熱流束</a:t>
              </a:r>
            </a:p>
          </p:txBody>
        </p:sp>
        <p:cxnSp>
          <p:nvCxnSpPr>
            <p:cNvPr id="6" name="直線コネクタ 5">
              <a:extLst>
                <a:ext uri="{FF2B5EF4-FFF2-40B4-BE49-F238E27FC236}">
                  <a16:creationId xmlns:a16="http://schemas.microsoft.com/office/drawing/2014/main" id="{9EAFE601-C7BA-CFAD-15FA-D86B56417D31}"/>
                </a:ext>
              </a:extLst>
            </p:cNvPr>
            <p:cNvCxnSpPr>
              <a:cxnSpLocks/>
            </p:cNvCxnSpPr>
            <p:nvPr/>
          </p:nvCxnSpPr>
          <p:spPr>
            <a:xfrm>
              <a:off x="6178356" y="2118140"/>
              <a:ext cx="0" cy="3273392"/>
            </a:xfrm>
            <a:prstGeom prst="line">
              <a:avLst/>
            </a:prstGeom>
            <a:ln w="28575">
              <a:solidFill>
                <a:srgbClr val="FF3B3B"/>
              </a:solidFill>
              <a:prstDash val="dash"/>
            </a:ln>
          </p:spPr>
          <p:style>
            <a:lnRef idx="2">
              <a:schemeClr val="accent1"/>
            </a:lnRef>
            <a:fillRef idx="0">
              <a:schemeClr val="accent1"/>
            </a:fillRef>
            <a:effectRef idx="1">
              <a:schemeClr val="accent1"/>
            </a:effectRef>
            <a:fontRef idx="minor">
              <a:schemeClr val="tx1"/>
            </a:fontRef>
          </p:style>
        </p:cxnSp>
        <p:sp>
          <p:nvSpPr>
            <p:cNvPr id="7" name="矢印: 右 6">
              <a:extLst>
                <a:ext uri="{FF2B5EF4-FFF2-40B4-BE49-F238E27FC236}">
                  <a16:creationId xmlns:a16="http://schemas.microsoft.com/office/drawing/2014/main" id="{1F412281-CD22-AFD0-0522-D4670D66EB0F}"/>
                </a:ext>
              </a:extLst>
            </p:cNvPr>
            <p:cNvSpPr/>
            <p:nvPr/>
          </p:nvSpPr>
          <p:spPr>
            <a:xfrm rot="16200000">
              <a:off x="6017705" y="5355669"/>
              <a:ext cx="307192" cy="476457"/>
            </a:xfrm>
            <a:prstGeom prst="rightArrow">
              <a:avLst>
                <a:gd name="adj1" fmla="val 44040"/>
                <a:gd name="adj2" fmla="val 52980"/>
              </a:avLst>
            </a:prstGeom>
            <a:solidFill>
              <a:srgbClr val="FF3B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69DA2E8-9AD0-4A3F-3740-589EB828163D}"/>
                </a:ext>
              </a:extLst>
            </p:cNvPr>
            <p:cNvSpPr txBox="1"/>
            <p:nvPr/>
          </p:nvSpPr>
          <p:spPr>
            <a:xfrm>
              <a:off x="5731911" y="5946010"/>
              <a:ext cx="815643" cy="461665"/>
            </a:xfrm>
            <a:prstGeom prst="rect">
              <a:avLst/>
            </a:prstGeom>
            <a:noFill/>
          </p:spPr>
          <p:txBody>
            <a:bodyPr wrap="square" rtlCol="0">
              <a:spAutoFit/>
            </a:bodyPr>
            <a:lstStyle/>
            <a:p>
              <a:r>
                <a:rPr lang="ja-JP" altLang="en-US" sz="3600" baseline="30000" dirty="0">
                  <a:solidFill>
                    <a:srgbClr val="FF3B3B"/>
                  </a:solidFill>
                  <a:latin typeface="メイリオ" panose="020B0604030504040204" pitchFamily="50" charset="-128"/>
                  <a:ea typeface="メイリオ" panose="020B0604030504040204" pitchFamily="50" charset="-128"/>
                </a:rPr>
                <a:t>閾値</a:t>
              </a:r>
              <a:endParaRPr kumimoji="1" lang="ja-JP" altLang="en-US" sz="3600" baseline="30000" dirty="0">
                <a:solidFill>
                  <a:srgbClr val="FF3B3B"/>
                </a:solidFill>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3862261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EBB0-1919-834D-DEE9-C273807B63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FF8030-0461-6F09-C388-54BCF6D89BC6}"/>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結果</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BF0E2465-99C3-D30C-28B9-62167FD955E7}"/>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8" name="図 7" descr="グラフ, 散布図&#10;&#10;AI によって生成されたコンテンツは間違っている可能性があります。">
            <a:extLst>
              <a:ext uri="{FF2B5EF4-FFF2-40B4-BE49-F238E27FC236}">
                <a16:creationId xmlns:a16="http://schemas.microsoft.com/office/drawing/2014/main" id="{3EBC0A0A-371E-3BF5-2B54-52B0BF82857C}"/>
              </a:ext>
            </a:extLst>
          </p:cNvPr>
          <p:cNvPicPr>
            <a:picLocks noChangeAspect="1"/>
          </p:cNvPicPr>
          <p:nvPr/>
        </p:nvPicPr>
        <p:blipFill>
          <a:blip r:embed="rId3">
            <a:extLst>
              <a:ext uri="{28A0092B-C50C-407E-A947-70E740481C1C}">
                <a14:useLocalDpi xmlns:a14="http://schemas.microsoft.com/office/drawing/2010/main" val="0"/>
              </a:ext>
            </a:extLst>
          </a:blip>
          <a:srcRect l="1635" t="10320" r="8579"/>
          <a:stretch/>
        </p:blipFill>
        <p:spPr>
          <a:xfrm>
            <a:off x="5184709" y="1732807"/>
            <a:ext cx="4417603" cy="3309262"/>
          </a:xfrm>
          <a:prstGeom prst="rect">
            <a:avLst/>
          </a:prstGeom>
        </p:spPr>
      </p:pic>
      <p:sp>
        <p:nvSpPr>
          <p:cNvPr id="10" name="テキスト ボックス 9">
            <a:extLst>
              <a:ext uri="{FF2B5EF4-FFF2-40B4-BE49-F238E27FC236}">
                <a16:creationId xmlns:a16="http://schemas.microsoft.com/office/drawing/2014/main" id="{E7F806C8-827F-D110-DD1B-3CEC37ACC1C9}"/>
              </a:ext>
            </a:extLst>
          </p:cNvPr>
          <p:cNvSpPr txBox="1"/>
          <p:nvPr/>
        </p:nvSpPr>
        <p:spPr>
          <a:xfrm>
            <a:off x="5184709" y="5356226"/>
            <a:ext cx="4417604" cy="707886"/>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SNR=-20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 の時のアンサンブル学習の回帰分析による予測結果</a:t>
            </a:r>
            <a:endParaRPr kumimoji="1" lang="ja-JP" altLang="en-US" sz="2000" dirty="0">
              <a:latin typeface="メイリオ" panose="020B0604030504040204" pitchFamily="50" charset="-128"/>
              <a:ea typeface="メイリオ" panose="020B0604030504040204" pitchFamily="50" charset="-128"/>
            </a:endParaRPr>
          </a:p>
        </p:txBody>
      </p:sp>
      <p:pic>
        <p:nvPicPr>
          <p:cNvPr id="14" name="図 13" descr="グラフ, 散布図&#10;&#10;AI によって生成されたコンテンツは間違っている可能性があります。">
            <a:extLst>
              <a:ext uri="{FF2B5EF4-FFF2-40B4-BE49-F238E27FC236}">
                <a16:creationId xmlns:a16="http://schemas.microsoft.com/office/drawing/2014/main" id="{B8AC2038-F85C-A0EA-A4C6-B947BBEF2A6F}"/>
              </a:ext>
            </a:extLst>
          </p:cNvPr>
          <p:cNvPicPr>
            <a:picLocks noChangeAspect="1"/>
          </p:cNvPicPr>
          <p:nvPr/>
        </p:nvPicPr>
        <p:blipFill>
          <a:blip r:embed="rId4">
            <a:extLst>
              <a:ext uri="{28A0092B-C50C-407E-A947-70E740481C1C}">
                <a14:useLocalDpi xmlns:a14="http://schemas.microsoft.com/office/drawing/2010/main" val="0"/>
              </a:ext>
            </a:extLst>
          </a:blip>
          <a:srcRect l="2031" t="10088" r="7749"/>
          <a:stretch/>
        </p:blipFill>
        <p:spPr>
          <a:xfrm>
            <a:off x="535396" y="1732807"/>
            <a:ext cx="4417604" cy="3301844"/>
          </a:xfrm>
          <a:prstGeom prst="rect">
            <a:avLst/>
          </a:prstGeom>
        </p:spPr>
      </p:pic>
      <p:sp>
        <p:nvSpPr>
          <p:cNvPr id="15" name="テキスト ボックス 14">
            <a:extLst>
              <a:ext uri="{FF2B5EF4-FFF2-40B4-BE49-F238E27FC236}">
                <a16:creationId xmlns:a16="http://schemas.microsoft.com/office/drawing/2014/main" id="{66B0DDC8-DA58-4822-3119-E094F41DD44F}"/>
              </a:ext>
            </a:extLst>
          </p:cNvPr>
          <p:cNvSpPr txBox="1"/>
          <p:nvPr/>
        </p:nvSpPr>
        <p:spPr>
          <a:xfrm>
            <a:off x="535396" y="5356226"/>
            <a:ext cx="4539524" cy="707886"/>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環境雑音未重畳時のアンサンブル学習の回帰分析による予測結果</a:t>
            </a:r>
            <a:endParaRPr kumimoji="1" lang="ja-JP" altLang="en-US" sz="2000" dirty="0">
              <a:latin typeface="メイリオ" panose="020B0604030504040204" pitchFamily="50" charset="-128"/>
              <a:ea typeface="メイリオ" panose="020B0604030504040204" pitchFamily="50" charset="-128"/>
            </a:endParaRPr>
          </a:p>
        </p:txBody>
      </p:sp>
      <p:sp>
        <p:nvSpPr>
          <p:cNvPr id="16" name="Text Placeholder 1">
            <a:extLst>
              <a:ext uri="{FF2B5EF4-FFF2-40B4-BE49-F238E27FC236}">
                <a16:creationId xmlns:a16="http://schemas.microsoft.com/office/drawing/2014/main" id="{1712D413-1348-AD37-4BAA-0F97BC626024}"/>
              </a:ext>
            </a:extLst>
          </p:cNvPr>
          <p:cNvSpPr>
            <a:spLocks noGrp="1"/>
          </p:cNvSpPr>
          <p:nvPr>
            <p:ph type="body" sz="half" idx="12"/>
          </p:nvPr>
        </p:nvSpPr>
        <p:spPr>
          <a:xfrm>
            <a:off x="992155" y="1157104"/>
            <a:ext cx="2444064" cy="407035"/>
          </a:xfrm>
        </p:spPr>
        <p:txBody>
          <a:bodyPr/>
          <a:lstStyle/>
          <a:p>
            <a:r>
              <a:rPr lang="ja-JP" altLang="en-US" sz="2300" b="1" dirty="0">
                <a:latin typeface="メイリオ" panose="020B0604030504040204" pitchFamily="50" charset="-128"/>
                <a:ea typeface="メイリオ" panose="020B0604030504040204" pitchFamily="50" charset="-128"/>
              </a:rPr>
              <a:t>回帰分析の例</a:t>
            </a:r>
            <a:endParaRPr lang="en-JP" sz="2300" b="1" dirty="0">
              <a:latin typeface="メイリオ" panose="020B0604030504040204" pitchFamily="50" charset="-128"/>
              <a:ea typeface="メイリオ" panose="020B0604030504040204" pitchFamily="50" charset="-128"/>
            </a:endParaRPr>
          </a:p>
        </p:txBody>
      </p:sp>
      <p:cxnSp>
        <p:nvCxnSpPr>
          <p:cNvPr id="17" name="直線コネクタ 16">
            <a:extLst>
              <a:ext uri="{FF2B5EF4-FFF2-40B4-BE49-F238E27FC236}">
                <a16:creationId xmlns:a16="http://schemas.microsoft.com/office/drawing/2014/main" id="{05068070-2767-D358-81BC-D8799068AAF9}"/>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47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E827-DAF1-F9D2-FE2F-24946B80F3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D077BA-06F9-D84B-C8C9-8FAB60C28443}"/>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結果</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5B53D60F-7B6A-02C4-5609-24C5BD976BF7}"/>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 name="テキスト ボックス 9">
            <a:extLst>
              <a:ext uri="{FF2B5EF4-FFF2-40B4-BE49-F238E27FC236}">
                <a16:creationId xmlns:a16="http://schemas.microsoft.com/office/drawing/2014/main" id="{DE6AA480-D03E-6660-719A-E3CA38EB3DD5}"/>
              </a:ext>
            </a:extLst>
          </p:cNvPr>
          <p:cNvSpPr txBox="1"/>
          <p:nvPr/>
        </p:nvSpPr>
        <p:spPr>
          <a:xfrm>
            <a:off x="675313" y="5409498"/>
            <a:ext cx="8555374" cy="707886"/>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どちらも</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SNR</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が低下するほど性能が劣化</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アンサンブルモデルは他の単一モデル</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よりも比較的高い値</a:t>
            </a:r>
            <a:endParaRPr kumimoji="1" lang="ja-JP" altLang="en-US" sz="2000" dirty="0">
              <a:latin typeface="メイリオ" panose="020B0604030504040204" pitchFamily="50" charset="-128"/>
              <a:ea typeface="メイリオ" panose="020B0604030504040204" pitchFamily="50" charset="-128"/>
            </a:endParaRPr>
          </a:p>
        </p:txBody>
      </p:sp>
      <p:pic>
        <p:nvPicPr>
          <p:cNvPr id="3" name="図 2" descr="ダイアグラム が含まれている画像&#10;&#10;AI によって生成されたコンテンツは間違っている可能性があります。">
            <a:extLst>
              <a:ext uri="{FF2B5EF4-FFF2-40B4-BE49-F238E27FC236}">
                <a16:creationId xmlns:a16="http://schemas.microsoft.com/office/drawing/2014/main" id="{A547E1E1-F05C-6B00-1834-D18560EE9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886" y="1915566"/>
            <a:ext cx="4494114" cy="3184721"/>
          </a:xfrm>
          <a:prstGeom prst="rect">
            <a:avLst/>
          </a:prstGeom>
        </p:spPr>
      </p:pic>
      <p:pic>
        <p:nvPicPr>
          <p:cNvPr id="7" name="図 6" descr="グラフィカル ユーザー インターフェイス が含まれている画像&#10;&#10;AI によって生成されたコンテンツは間違っている可能性があります。">
            <a:extLst>
              <a:ext uri="{FF2B5EF4-FFF2-40B4-BE49-F238E27FC236}">
                <a16:creationId xmlns:a16="http://schemas.microsoft.com/office/drawing/2014/main" id="{3F7350F6-5618-0E0A-FAF5-87B21DB3B6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0" y="1972175"/>
            <a:ext cx="4795263" cy="3050594"/>
          </a:xfrm>
          <a:prstGeom prst="rect">
            <a:avLst/>
          </a:prstGeom>
        </p:spPr>
      </p:pic>
      <p:sp>
        <p:nvSpPr>
          <p:cNvPr id="9" name="Text Placeholder 1">
            <a:extLst>
              <a:ext uri="{FF2B5EF4-FFF2-40B4-BE49-F238E27FC236}">
                <a16:creationId xmlns:a16="http://schemas.microsoft.com/office/drawing/2014/main" id="{55DA68FB-D4A5-02FF-4BC6-E38E6E9F86BD}"/>
              </a:ext>
            </a:extLst>
          </p:cNvPr>
          <p:cNvSpPr>
            <a:spLocks noGrp="1"/>
          </p:cNvSpPr>
          <p:nvPr>
            <p:ph type="body" sz="half" idx="12"/>
          </p:nvPr>
        </p:nvSpPr>
        <p:spPr>
          <a:xfrm>
            <a:off x="992154" y="1157104"/>
            <a:ext cx="6511727" cy="408657"/>
          </a:xfrm>
        </p:spPr>
        <p:txBody>
          <a:bodyPr/>
          <a:lstStyle/>
          <a:p>
            <a:r>
              <a:rPr lang="en-US" sz="2300" b="1" dirty="0">
                <a:latin typeface="メイリオ" panose="020B0604030504040204" pitchFamily="50" charset="-128"/>
                <a:ea typeface="メイリオ" panose="020B0604030504040204" pitchFamily="50" charset="-128"/>
              </a:rPr>
              <a:t>SNR7</a:t>
            </a:r>
            <a:r>
              <a:rPr lang="ja-JP" altLang="en-US" sz="2300" b="1" dirty="0">
                <a:latin typeface="メイリオ" panose="020B0604030504040204" pitchFamily="50" charset="-128"/>
                <a:ea typeface="メイリオ" panose="020B0604030504040204" pitchFamily="50" charset="-128"/>
              </a:rPr>
              <a:t>種の各評価指標によるノイズ耐性の比較</a:t>
            </a:r>
            <a:endParaRPr lang="en-JP" sz="2300" b="1" dirty="0">
              <a:latin typeface="メイリオ" panose="020B0604030504040204" pitchFamily="50" charset="-128"/>
              <a:ea typeface="メイリオ" panose="020B0604030504040204" pitchFamily="50" charset="-128"/>
            </a:endParaRPr>
          </a:p>
        </p:txBody>
      </p:sp>
      <p:cxnSp>
        <p:nvCxnSpPr>
          <p:cNvPr id="11" name="直線コネクタ 10">
            <a:extLst>
              <a:ext uri="{FF2B5EF4-FFF2-40B4-BE49-F238E27FC236}">
                <a16:creationId xmlns:a16="http://schemas.microsoft.com/office/drawing/2014/main" id="{1D33EC40-34F8-B208-2079-F3C02E459052}"/>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347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EA4E-2427-537C-E607-9A8A93F07B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FEA219-4C46-A401-621B-E1C6CCDB7D11}"/>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結果</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08F14CFC-C189-0074-1902-03CF2967E129}"/>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3" name="図 2" descr="グラフィカル ユーザー インターフェイス&#10;&#10;AI によって生成されたコンテンツは間違っている可能性があります。">
            <a:extLst>
              <a:ext uri="{FF2B5EF4-FFF2-40B4-BE49-F238E27FC236}">
                <a16:creationId xmlns:a16="http://schemas.microsoft.com/office/drawing/2014/main" id="{6D618CB8-807E-BA58-6A59-BD097B49A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407" y="2131731"/>
            <a:ext cx="4197402" cy="3955774"/>
          </a:xfrm>
          <a:prstGeom prst="rect">
            <a:avLst/>
          </a:prstGeom>
        </p:spPr>
      </p:pic>
      <p:sp>
        <p:nvSpPr>
          <p:cNvPr id="6" name="Text Placeholder 1">
            <a:extLst>
              <a:ext uri="{FF2B5EF4-FFF2-40B4-BE49-F238E27FC236}">
                <a16:creationId xmlns:a16="http://schemas.microsoft.com/office/drawing/2014/main" id="{45AE5C7C-89C8-B430-C67B-FF5940BA0F82}"/>
              </a:ext>
            </a:extLst>
          </p:cNvPr>
          <p:cNvSpPr>
            <a:spLocks noGrp="1"/>
          </p:cNvSpPr>
          <p:nvPr>
            <p:ph type="body" sz="half" idx="12"/>
          </p:nvPr>
        </p:nvSpPr>
        <p:spPr>
          <a:xfrm>
            <a:off x="992154" y="1330396"/>
            <a:ext cx="6511727" cy="408657"/>
          </a:xfrm>
        </p:spPr>
        <p:txBody>
          <a:bodyPr/>
          <a:lstStyle/>
          <a:p>
            <a:r>
              <a:rPr lang="ja-JP" altLang="en-US" sz="2300" b="1" dirty="0">
                <a:latin typeface="メイリオ" panose="020B0604030504040204" pitchFamily="50" charset="-128"/>
                <a:ea typeface="メイリオ" panose="020B0604030504040204" pitchFamily="50" charset="-128"/>
              </a:rPr>
              <a:t>沸騰開始点と限界熱流束の間の相対位置</a:t>
            </a:r>
            <a:endParaRPr lang="en-JP" sz="2300" b="1" dirty="0">
              <a:latin typeface="メイリオ" panose="020B0604030504040204" pitchFamily="50" charset="-128"/>
              <a:ea typeface="メイリオ" panose="020B0604030504040204" pitchFamily="50" charset="-128"/>
            </a:endParaRPr>
          </a:p>
        </p:txBody>
      </p:sp>
      <p:cxnSp>
        <p:nvCxnSpPr>
          <p:cNvPr id="7" name="直線コネクタ 6">
            <a:extLst>
              <a:ext uri="{FF2B5EF4-FFF2-40B4-BE49-F238E27FC236}">
                <a16:creationId xmlns:a16="http://schemas.microsoft.com/office/drawing/2014/main" id="{012042CC-F1B4-7ECD-5BAB-F240D2736FE4}"/>
              </a:ext>
            </a:extLst>
          </p:cNvPr>
          <p:cNvCxnSpPr>
            <a:cxnSpLocks/>
          </p:cNvCxnSpPr>
          <p:nvPr/>
        </p:nvCxnSpPr>
        <p:spPr>
          <a:xfrm>
            <a:off x="878103" y="1307685"/>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矢印: 下 7">
            <a:extLst>
              <a:ext uri="{FF2B5EF4-FFF2-40B4-BE49-F238E27FC236}">
                <a16:creationId xmlns:a16="http://schemas.microsoft.com/office/drawing/2014/main" id="{7472F1FA-9AFE-CBDA-C20B-E6267786E3EF}"/>
              </a:ext>
            </a:extLst>
          </p:cNvPr>
          <p:cNvSpPr/>
          <p:nvPr/>
        </p:nvSpPr>
        <p:spPr>
          <a:xfrm rot="16200000">
            <a:off x="4627123" y="2410389"/>
            <a:ext cx="433306" cy="490801"/>
          </a:xfrm>
          <a:prstGeom prst="downArrow">
            <a:avLst/>
          </a:prstGeom>
          <a:solidFill>
            <a:srgbClr val="FFA557"/>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A557"/>
              </a:solidFill>
            </a:endParaRPr>
          </a:p>
        </p:txBody>
      </p:sp>
      <p:sp>
        <p:nvSpPr>
          <p:cNvPr id="9" name="テキスト ボックス 8">
            <a:extLst>
              <a:ext uri="{FF2B5EF4-FFF2-40B4-BE49-F238E27FC236}">
                <a16:creationId xmlns:a16="http://schemas.microsoft.com/office/drawing/2014/main" id="{3F365041-CA4F-ED92-D0B8-04CA4C79654E}"/>
              </a:ext>
            </a:extLst>
          </p:cNvPr>
          <p:cNvSpPr txBox="1"/>
          <p:nvPr/>
        </p:nvSpPr>
        <p:spPr>
          <a:xfrm>
            <a:off x="4985743" y="2471239"/>
            <a:ext cx="3816517" cy="400110"/>
          </a:xfrm>
          <a:prstGeom prst="rect">
            <a:avLst/>
          </a:prstGeom>
          <a:noFill/>
        </p:spPr>
        <p:txBody>
          <a:bodyPr wrap="square" numCol="1" rtlCol="0">
            <a:spAutoFit/>
          </a:bodyPr>
          <a:lstStyle/>
          <a:p>
            <a:pPr marL="169200"/>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限界熱流束</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相対位置</a:t>
            </a:r>
            <a:r>
              <a:rPr kumimoji="1" lang="en-US" altLang="ja-JP" sz="2000" b="1" dirty="0">
                <a:solidFill>
                  <a:srgbClr val="292B2B"/>
                </a:solidFill>
                <a:latin typeface="メイリオ" panose="020B0604030504040204" pitchFamily="50" charset="-128"/>
                <a:ea typeface="メイリオ" panose="020B0604030504040204" pitchFamily="50" charset="-128"/>
                <a:sym typeface="Source Han Sans JP"/>
              </a:rPr>
              <a:t>100%</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endParaRPr kumimoji="1" lang="ja-JP" altLang="en-US" sz="2000" dirty="0">
              <a:latin typeface="メイリオ" panose="020B0604030504040204" pitchFamily="50" charset="-128"/>
              <a:ea typeface="メイリオ" panose="020B0604030504040204" pitchFamily="50" charset="-128"/>
            </a:endParaRPr>
          </a:p>
        </p:txBody>
      </p:sp>
      <p:sp>
        <p:nvSpPr>
          <p:cNvPr id="11" name="矢印: 下 10">
            <a:extLst>
              <a:ext uri="{FF2B5EF4-FFF2-40B4-BE49-F238E27FC236}">
                <a16:creationId xmlns:a16="http://schemas.microsoft.com/office/drawing/2014/main" id="{B57A5E02-F874-35C5-BB7D-FE0FD185BC58}"/>
              </a:ext>
            </a:extLst>
          </p:cNvPr>
          <p:cNvSpPr/>
          <p:nvPr/>
        </p:nvSpPr>
        <p:spPr>
          <a:xfrm rot="12313640">
            <a:off x="4741041" y="3061117"/>
            <a:ext cx="191709" cy="1234777"/>
          </a:xfrm>
          <a:prstGeom prst="downArrow">
            <a:avLst/>
          </a:prstGeom>
          <a:solidFill>
            <a:srgbClr val="FF0000"/>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A557"/>
              </a:solidFill>
            </a:endParaRPr>
          </a:p>
        </p:txBody>
      </p:sp>
      <p:sp>
        <p:nvSpPr>
          <p:cNvPr id="12" name="テキスト ボックス 11">
            <a:extLst>
              <a:ext uri="{FF2B5EF4-FFF2-40B4-BE49-F238E27FC236}">
                <a16:creationId xmlns:a16="http://schemas.microsoft.com/office/drawing/2014/main" id="{653789B7-03F4-EABC-69A4-77EA1AA5349F}"/>
              </a:ext>
            </a:extLst>
          </p:cNvPr>
          <p:cNvSpPr txBox="1"/>
          <p:nvPr/>
        </p:nvSpPr>
        <p:spPr>
          <a:xfrm>
            <a:off x="4985743" y="2904546"/>
            <a:ext cx="4530004" cy="400110"/>
          </a:xfrm>
          <a:prstGeom prst="rect">
            <a:avLst/>
          </a:prstGeom>
          <a:noFill/>
        </p:spPr>
        <p:txBody>
          <a:bodyPr wrap="square" numCol="1" rtlCol="0">
            <a:spAutoFit/>
          </a:bodyPr>
          <a:lstStyle/>
          <a:p>
            <a:pPr marL="169200"/>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沸騰開始点の熱流束</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相対位置</a:t>
            </a:r>
            <a:r>
              <a:rPr kumimoji="1" lang="en-US" altLang="ja-JP" sz="2000" b="1" dirty="0">
                <a:solidFill>
                  <a:srgbClr val="292B2B"/>
                </a:solidFill>
                <a:latin typeface="メイリオ" panose="020B0604030504040204" pitchFamily="50" charset="-128"/>
                <a:ea typeface="メイリオ" panose="020B0604030504040204" pitchFamily="50" charset="-128"/>
                <a:sym typeface="Source Han Sans JP"/>
              </a:rPr>
              <a:t>0%</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endParaRPr kumimoji="1" lang="ja-JP" altLang="en-US" sz="2000" dirty="0">
              <a:latin typeface="メイリオ" panose="020B0604030504040204" pitchFamily="50" charset="-128"/>
              <a:ea typeface="メイリオ" panose="020B0604030504040204" pitchFamily="50" charset="-128"/>
            </a:endParaRPr>
          </a:p>
        </p:txBody>
      </p:sp>
      <p:grpSp>
        <p:nvGrpSpPr>
          <p:cNvPr id="19" name="グループ化 18">
            <a:extLst>
              <a:ext uri="{FF2B5EF4-FFF2-40B4-BE49-F238E27FC236}">
                <a16:creationId xmlns:a16="http://schemas.microsoft.com/office/drawing/2014/main" id="{D96A5993-1A12-653D-C7F5-560DA08BA28A}"/>
              </a:ext>
            </a:extLst>
          </p:cNvPr>
          <p:cNvGrpSpPr/>
          <p:nvPr/>
        </p:nvGrpSpPr>
        <p:grpSpPr>
          <a:xfrm>
            <a:off x="5509748" y="4208409"/>
            <a:ext cx="3682997" cy="1994904"/>
            <a:chOff x="5406947" y="4417888"/>
            <a:chExt cx="3994646" cy="1994904"/>
          </a:xfrm>
        </p:grpSpPr>
        <p:sp>
          <p:nvSpPr>
            <p:cNvPr id="15" name="四角形: 角を丸くする 14">
              <a:extLst>
                <a:ext uri="{FF2B5EF4-FFF2-40B4-BE49-F238E27FC236}">
                  <a16:creationId xmlns:a16="http://schemas.microsoft.com/office/drawing/2014/main" id="{62EEB7D3-124F-DB0D-586A-6E3FF3E24E3F}"/>
                </a:ext>
              </a:extLst>
            </p:cNvPr>
            <p:cNvSpPr/>
            <p:nvPr/>
          </p:nvSpPr>
          <p:spPr>
            <a:xfrm>
              <a:off x="5406947" y="4417888"/>
              <a:ext cx="3994646" cy="1994903"/>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E910D501-7F97-8F21-0301-E7C534BA4B40}"/>
                </a:ext>
              </a:extLst>
            </p:cNvPr>
            <p:cNvSpPr txBox="1"/>
            <p:nvPr/>
          </p:nvSpPr>
          <p:spPr>
            <a:xfrm>
              <a:off x="5410313" y="4596910"/>
              <a:ext cx="3991280" cy="1815882"/>
            </a:xfrm>
            <a:prstGeom prst="rect">
              <a:avLst/>
            </a:prstGeom>
            <a:noFill/>
          </p:spPr>
          <p:txBody>
            <a:bodyPr wrap="square" numCol="1" rtlCol="0">
              <a:spAutoFit/>
            </a:bodyPr>
            <a:lstStyle/>
            <a:p>
              <a:pPr marL="169200"/>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最良値</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169200"/>
              <a:r>
                <a:rPr kumimoji="1" lang="ja-JP" altLang="en-US" sz="3600" b="1" dirty="0">
                  <a:solidFill>
                    <a:srgbClr val="292B2B"/>
                  </a:solidFill>
                  <a:latin typeface="メイリオ" panose="020B0604030504040204" pitchFamily="50" charset="-128"/>
                  <a:ea typeface="メイリオ" panose="020B0604030504040204" pitchFamily="50" charset="-128"/>
                  <a:sym typeface="Source Han Sans JP"/>
                </a:rPr>
                <a:t>約</a:t>
              </a:r>
              <a:r>
                <a:rPr kumimoji="1" lang="en-US" altLang="ja-JP" sz="3600" b="1" dirty="0">
                  <a:solidFill>
                    <a:srgbClr val="292B2B"/>
                  </a:solidFill>
                  <a:latin typeface="メイリオ" panose="020B0604030504040204" pitchFamily="50" charset="-128"/>
                  <a:ea typeface="メイリオ" panose="020B0604030504040204" pitchFamily="50" charset="-128"/>
                  <a:sym typeface="Source Han Sans JP"/>
                </a:rPr>
                <a:t>4.8%</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SNR=0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169200"/>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最悪値</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169200"/>
              <a:r>
                <a:rPr lang="ja-JP" altLang="en-US" sz="3600" b="1" dirty="0">
                  <a:solidFill>
                    <a:srgbClr val="292B2B"/>
                  </a:solidFill>
                  <a:latin typeface="メイリオ" panose="020B0604030504040204" pitchFamily="50" charset="-128"/>
                  <a:ea typeface="メイリオ" panose="020B0604030504040204" pitchFamily="50" charset="-128"/>
                  <a:sym typeface="Source Han Sans JP"/>
                </a:rPr>
                <a:t>約</a:t>
              </a:r>
              <a:r>
                <a:rPr lang="en-US" altLang="ja-JP" sz="3600" b="1" dirty="0">
                  <a:solidFill>
                    <a:srgbClr val="292B2B"/>
                  </a:solidFill>
                  <a:latin typeface="メイリオ" panose="020B0604030504040204" pitchFamily="50" charset="-128"/>
                  <a:ea typeface="メイリオ" panose="020B0604030504040204" pitchFamily="50" charset="-128"/>
                  <a:sym typeface="Source Han Sans JP"/>
                </a:rPr>
                <a:t>16%</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SNR=-20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p:txBody>
        </p:sp>
      </p:grpSp>
      <p:sp>
        <p:nvSpPr>
          <p:cNvPr id="17" name="Text Placeholder 1">
            <a:extLst>
              <a:ext uri="{FF2B5EF4-FFF2-40B4-BE49-F238E27FC236}">
                <a16:creationId xmlns:a16="http://schemas.microsoft.com/office/drawing/2014/main" id="{3C4F80AD-5022-2CBC-BA13-4CD92B58FCDB}"/>
              </a:ext>
            </a:extLst>
          </p:cNvPr>
          <p:cNvSpPr txBox="1">
            <a:spLocks/>
          </p:cNvSpPr>
          <p:nvPr/>
        </p:nvSpPr>
        <p:spPr>
          <a:xfrm>
            <a:off x="5406947" y="3592869"/>
            <a:ext cx="951373"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結果</a:t>
            </a:r>
            <a:endParaRPr lang="en-JP" sz="2300" b="1" dirty="0">
              <a:latin typeface="メイリオ" panose="020B0604030504040204" pitchFamily="50" charset="-128"/>
              <a:ea typeface="メイリオ" panose="020B0604030504040204" pitchFamily="50" charset="-128"/>
            </a:endParaRPr>
          </a:p>
        </p:txBody>
      </p:sp>
      <p:cxnSp>
        <p:nvCxnSpPr>
          <p:cNvPr id="18" name="直線コネクタ 17">
            <a:extLst>
              <a:ext uri="{FF2B5EF4-FFF2-40B4-BE49-F238E27FC236}">
                <a16:creationId xmlns:a16="http://schemas.microsoft.com/office/drawing/2014/main" id="{B5621433-4FDF-DC91-E29E-C0886041FE4F}"/>
              </a:ext>
            </a:extLst>
          </p:cNvPr>
          <p:cNvCxnSpPr>
            <a:cxnSpLocks/>
          </p:cNvCxnSpPr>
          <p:nvPr/>
        </p:nvCxnSpPr>
        <p:spPr>
          <a:xfrm>
            <a:off x="5292896" y="3570157"/>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505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B58AC-1AF3-8B6A-4B2C-1BE68EBA0C3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E04DDEF-C812-B187-9D3C-47A1DD44ABAC}"/>
              </a:ext>
            </a:extLst>
          </p:cNvPr>
          <p:cNvSpPr>
            <a:spLocks noGrp="1"/>
          </p:cNvSpPr>
          <p:nvPr>
            <p:ph type="title"/>
          </p:nvPr>
        </p:nvSpPr>
        <p:spPr>
          <a:xfrm>
            <a:off x="857746" y="410449"/>
            <a:ext cx="8658001" cy="424732"/>
          </a:xfrm>
        </p:spPr>
        <p:txBody>
          <a:bodyPr>
            <a:normAutofit/>
          </a:bodyPr>
          <a:lstStyle/>
          <a:p>
            <a:r>
              <a:rPr kumimoji="1" lang="ja-JP" altLang="en-US">
                <a:solidFill>
                  <a:schemeClr val="tx1"/>
                </a:solidFill>
                <a:latin typeface="Meiryo" panose="020B0604030504040204" pitchFamily="34" charset="-128"/>
                <a:ea typeface="Meiryo" panose="020B0604030504040204" pitchFamily="34" charset="-128"/>
              </a:rPr>
              <a:t>結言</a:t>
            </a:r>
            <a:endParaRPr kumimoji="1" lang="ja-JP" altLang="en-US" dirty="0">
              <a:solidFill>
                <a:schemeClr val="tx1"/>
              </a:solidFill>
              <a:latin typeface="Meiryo" panose="020B0604030504040204" pitchFamily="34" charset="-128"/>
              <a:ea typeface="Meiryo" panose="020B0604030504040204" pitchFamily="34" charset="-128"/>
            </a:endParaRPr>
          </a:p>
        </p:txBody>
      </p:sp>
      <p:sp>
        <p:nvSpPr>
          <p:cNvPr id="5" name="正方形/長方形 4">
            <a:extLst>
              <a:ext uri="{FF2B5EF4-FFF2-40B4-BE49-F238E27FC236}">
                <a16:creationId xmlns:a16="http://schemas.microsoft.com/office/drawing/2014/main" id="{56D8FAE1-4553-11A5-1E1C-2B92A280714C}"/>
              </a:ext>
            </a:extLst>
          </p:cNvPr>
          <p:cNvSpPr/>
          <p:nvPr/>
        </p:nvSpPr>
        <p:spPr>
          <a:xfrm>
            <a:off x="937453" y="6212042"/>
            <a:ext cx="1082658" cy="332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62"/>
          </a:p>
        </p:txBody>
      </p:sp>
      <p:sp>
        <p:nvSpPr>
          <p:cNvPr id="2" name="Rectangle 1">
            <a:extLst>
              <a:ext uri="{FF2B5EF4-FFF2-40B4-BE49-F238E27FC236}">
                <a16:creationId xmlns:a16="http://schemas.microsoft.com/office/drawing/2014/main" id="{F38433E1-5702-3D76-B968-84D2F22CFD04}"/>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6" name="TextBox 15">
            <a:extLst>
              <a:ext uri="{FF2B5EF4-FFF2-40B4-BE49-F238E27FC236}">
                <a16:creationId xmlns:a16="http://schemas.microsoft.com/office/drawing/2014/main" id="{786B6B60-A29E-B756-072B-C8AE7E6A8E8B}"/>
              </a:ext>
            </a:extLst>
          </p:cNvPr>
          <p:cNvSpPr txBox="1"/>
          <p:nvPr/>
        </p:nvSpPr>
        <p:spPr>
          <a:xfrm>
            <a:off x="937453" y="6065975"/>
            <a:ext cx="8468740" cy="677108"/>
          </a:xfrm>
          <a:prstGeom prst="rect">
            <a:avLst/>
          </a:prstGeom>
          <a:noFill/>
        </p:spPr>
        <p:txBody>
          <a:bodyPr wrap="square">
            <a:spAutoFit/>
          </a:bodyPr>
          <a:lstStyle/>
          <a:p>
            <a:pPr algn="just"/>
            <a:r>
              <a:rPr lang="ja-JP" sz="1800" kern="100">
                <a:effectLst/>
                <a:latin typeface="Meiryo" panose="020B0604030504040204" pitchFamily="34" charset="-128"/>
                <a:ea typeface="Meiryo" panose="020B0604030504040204" pitchFamily="34" charset="-128"/>
                <a:cs typeface="Times New Roman" panose="02020603050405020304" pitchFamily="18" charset="0"/>
              </a:rPr>
              <a:t>文部科学省原子力システム研究開発事業</a:t>
            </a:r>
            <a:r>
              <a:rPr lang="ja-JP" sz="1800" kern="100">
                <a:effectLst/>
                <a:latin typeface="Meiryo" panose="020B0604030504040204" pitchFamily="34" charset="-128"/>
                <a:ea typeface="Meiryo" panose="020B0604030504040204" pitchFamily="34" charset="-128"/>
              </a:rPr>
              <a:t> </a:t>
            </a:r>
            <a:r>
              <a:rPr lang="en-US" sz="1800" kern="100" dirty="0">
                <a:effectLst/>
                <a:latin typeface="Meiryo" panose="020B0604030504040204" pitchFamily="34" charset="-128"/>
                <a:ea typeface="Meiryo" panose="020B0604030504040204" pitchFamily="34" charset="-128"/>
              </a:rPr>
              <a:t>(JPMXD0223813040)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の成果</a:t>
            </a:r>
            <a:r>
              <a:rPr lang="ja-JP" altLang="en-US" sz="1800" kern="100">
                <a:effectLst/>
                <a:latin typeface="Meiryo" panose="020B0604030504040204" pitchFamily="34" charset="-128"/>
                <a:ea typeface="Meiryo" panose="020B0604030504040204" pitchFamily="34" charset="-128"/>
                <a:cs typeface="Times New Roman" panose="02020603050405020304" pitchFamily="18" charset="0"/>
              </a:rPr>
              <a:t>，</a:t>
            </a:r>
            <a:r>
              <a:rPr lang="ja-JP" sz="1800" kern="100">
                <a:effectLst/>
                <a:latin typeface="Meiryo" panose="020B0604030504040204" pitchFamily="34" charset="-128"/>
                <a:ea typeface="Meiryo" panose="020B0604030504040204" pitchFamily="34" charset="-128"/>
                <a:cs typeface="Times New Roman" panose="02020603050405020304" pitchFamily="18" charset="0"/>
              </a:rPr>
              <a:t>科研費（</a:t>
            </a:r>
            <a:r>
              <a:rPr lang="en-US" sz="1800" kern="100" dirty="0">
                <a:effectLst/>
                <a:latin typeface="Meiryo" panose="020B0604030504040204" pitchFamily="34" charset="-128"/>
                <a:ea typeface="Meiryo" panose="020B0604030504040204" pitchFamily="34" charset="-128"/>
              </a:rPr>
              <a:t>23K03713</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）の助成による成果を含む</a:t>
            </a:r>
            <a:r>
              <a:rPr lang="en-JP" sz="2000" dirty="0">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 name="TextBox 4">
            <a:extLst>
              <a:ext uri="{FF2B5EF4-FFF2-40B4-BE49-F238E27FC236}">
                <a16:creationId xmlns:a16="http://schemas.microsoft.com/office/drawing/2014/main" id="{26B55119-B016-90D3-E960-7A21A536D53A}"/>
              </a:ext>
            </a:extLst>
          </p:cNvPr>
          <p:cNvSpPr txBox="1"/>
          <p:nvPr/>
        </p:nvSpPr>
        <p:spPr>
          <a:xfrm>
            <a:off x="857746" y="2296952"/>
            <a:ext cx="8658001" cy="2554545"/>
          </a:xfrm>
          <a:prstGeom prst="rect">
            <a:avLst/>
          </a:prstGeom>
          <a:noFill/>
        </p:spPr>
        <p:txBody>
          <a:bodyPr wrap="square" rtlCol="0">
            <a:spAutoFit/>
          </a:bodyPr>
          <a:lstStyle/>
          <a:p>
            <a:r>
              <a:rPr kumimoji="1" lang="ja-JP" altLang="en-US" sz="2000" dirty="0">
                <a:solidFill>
                  <a:schemeClr val="accent6">
                    <a:lumMod val="10000"/>
                  </a:schemeClr>
                </a:solidFill>
                <a:latin typeface="Meiryo" panose="020B0604030504040204" pitchFamily="34" charset="-128"/>
                <a:ea typeface="Meiryo" panose="020B0604030504040204" pitchFamily="34" charset="-128"/>
              </a:rPr>
              <a:t>■</a:t>
            </a:r>
            <a:r>
              <a:rPr lang="ja-JP" altLang="en-US" sz="2000" dirty="0">
                <a:solidFill>
                  <a:schemeClr val="accent6">
                    <a:lumMod val="10000"/>
                  </a:schemeClr>
                </a:solidFill>
                <a:latin typeface="Meiryo" panose="020B0604030504040204" pitchFamily="34" charset="-128"/>
                <a:ea typeface="Meiryo" panose="020B0604030504040204" pitchFamily="34" charset="-128"/>
              </a:rPr>
              <a:t>ラベルに依存しない沸騰発生検知の試構築と検知下限の定量評価方法を検討した．</a:t>
            </a:r>
            <a:endParaRPr lang="en-US" altLang="ja-JP" sz="2000" dirty="0">
              <a:solidFill>
                <a:schemeClr val="accent6">
                  <a:lumMod val="10000"/>
                </a:schemeClr>
              </a:solidFill>
              <a:latin typeface="Meiryo" panose="020B0604030504040204" pitchFamily="34" charset="-128"/>
              <a:ea typeface="Meiryo" panose="020B0604030504040204" pitchFamily="34" charset="-128"/>
            </a:endParaRPr>
          </a:p>
          <a:p>
            <a:endParaRPr kumimoji="1" lang="en-US" altLang="ja-JP" sz="2000" dirty="0">
              <a:solidFill>
                <a:schemeClr val="accent6">
                  <a:lumMod val="10000"/>
                </a:schemeClr>
              </a:solidFill>
              <a:latin typeface="メイリオ" panose="020B0604030504040204" pitchFamily="50" charset="-128"/>
              <a:ea typeface="メイリオ" panose="020B0604030504040204" pitchFamily="50" charset="-128"/>
            </a:endParaRPr>
          </a:p>
          <a:p>
            <a:r>
              <a:rPr kumimoji="1" lang="ja-JP" altLang="en-US" sz="2000" dirty="0">
                <a:solidFill>
                  <a:schemeClr val="accent6">
                    <a:lumMod val="10000"/>
                  </a:schemeClr>
                </a:solidFill>
                <a:latin typeface="Meiryo" panose="020B0604030504040204" pitchFamily="34" charset="-128"/>
                <a:ea typeface="Meiryo" panose="020B0604030504040204" pitchFamily="34" charset="-128"/>
              </a:rPr>
              <a:t>■</a:t>
            </a:r>
            <a:r>
              <a:rPr kumimoji="1" lang="en-US" altLang="ja-JP" sz="2000" dirty="0">
                <a:solidFill>
                  <a:schemeClr val="accent6">
                    <a:lumMod val="10000"/>
                  </a:schemeClr>
                </a:solidFill>
                <a:latin typeface="メイリオ" panose="020B0604030504040204" pitchFamily="50" charset="-128"/>
                <a:ea typeface="メイリオ" panose="020B0604030504040204" pitchFamily="50" charset="-128"/>
              </a:rPr>
              <a:t> </a:t>
            </a:r>
            <a:r>
              <a:rPr kumimoji="1" lang="ja-JP" altLang="en-US" sz="2000" dirty="0">
                <a:solidFill>
                  <a:schemeClr val="accent6">
                    <a:lumMod val="10000"/>
                  </a:schemeClr>
                </a:solidFill>
                <a:latin typeface="メイリオ" panose="020B0604030504040204" pitchFamily="50" charset="-128"/>
                <a:ea typeface="メイリオ" panose="020B0604030504040204" pitchFamily="50" charset="-128"/>
              </a:rPr>
              <a:t>本研究条件下にて一例的な環境雑音を重畳させた場合，</a:t>
            </a:r>
            <a:r>
              <a:rPr kumimoji="1" lang="ja-JP" altLang="en-US" sz="2000" dirty="0">
                <a:solidFill>
                  <a:schemeClr val="accent6">
                    <a:lumMod val="10000"/>
                  </a:schemeClr>
                </a:solidFill>
                <a:latin typeface="Meiryo" panose="020B0604030504040204" pitchFamily="34" charset="-128"/>
                <a:ea typeface="Meiryo" panose="020B0604030504040204" pitchFamily="34" charset="-128"/>
              </a:rPr>
              <a:t>試構築した</a:t>
            </a:r>
            <a:r>
              <a:rPr kumimoji="1" lang="ja-JP" altLang="en-US" sz="2000" dirty="0">
                <a:solidFill>
                  <a:schemeClr val="accent6">
                    <a:lumMod val="10000"/>
                  </a:schemeClr>
                </a:solidFill>
                <a:latin typeface="メイリオ" panose="020B0604030504040204" pitchFamily="50" charset="-128"/>
                <a:ea typeface="メイリオ" panose="020B0604030504040204" pitchFamily="50" charset="-128"/>
              </a:rPr>
              <a:t>熱流束ベースの沸騰発生検知手法</a:t>
            </a:r>
            <a:r>
              <a:rPr lang="ja-JP" altLang="en-JP" sz="2000" dirty="0">
                <a:solidFill>
                  <a:schemeClr val="accent6">
                    <a:lumMod val="10000"/>
                  </a:schemeClr>
                </a:solidFill>
                <a:latin typeface="メイリオ" panose="020B0604030504040204" pitchFamily="50" charset="-128"/>
                <a:ea typeface="メイリオ" panose="020B0604030504040204" pitchFamily="50" charset="-128"/>
              </a:rPr>
              <a:t>において</a:t>
            </a:r>
            <a:r>
              <a:rPr lang="ja-JP" altLang="en-US" sz="2000" dirty="0">
                <a:solidFill>
                  <a:schemeClr val="accent6">
                    <a:lumMod val="10000"/>
                  </a:schemeClr>
                </a:solidFill>
                <a:latin typeface="メイリオ" panose="020B0604030504040204" pitchFamily="50" charset="-128"/>
                <a:ea typeface="メイリオ" panose="020B0604030504040204" pitchFamily="50" charset="-128"/>
              </a:rPr>
              <a:t>は，</a:t>
            </a:r>
            <a:r>
              <a:rPr kumimoji="1" lang="ja-JP" altLang="en-US" sz="2000" dirty="0">
                <a:solidFill>
                  <a:schemeClr val="accent6">
                    <a:lumMod val="10000"/>
                  </a:schemeClr>
                </a:solidFill>
                <a:latin typeface="メイリオ" panose="020B0604030504040204" pitchFamily="50" charset="-128"/>
                <a:ea typeface="メイリオ" panose="020B0604030504040204" pitchFamily="50" charset="-128"/>
              </a:rPr>
              <a:t>沸騰発生の検知下限が</a:t>
            </a:r>
            <a:r>
              <a:rPr kumimoji="1" lang="ja-JP" altLang="en-US" sz="2000" dirty="0">
                <a:solidFill>
                  <a:schemeClr val="accent6">
                    <a:lumMod val="10000"/>
                  </a:schemeClr>
                </a:solidFill>
                <a:latin typeface="Meiryo" panose="020B0604030504040204" pitchFamily="34" charset="-128"/>
                <a:ea typeface="Meiryo" panose="020B0604030504040204" pitchFamily="34" charset="-128"/>
              </a:rPr>
              <a:t>限界熱流束の約</a:t>
            </a:r>
            <a:r>
              <a:rPr kumimoji="1" lang="en-US" altLang="ja-JP" sz="2000" dirty="0">
                <a:solidFill>
                  <a:schemeClr val="accent6">
                    <a:lumMod val="10000"/>
                  </a:schemeClr>
                </a:solidFill>
                <a:latin typeface="Meiryo" panose="020B0604030504040204" pitchFamily="34" charset="-128"/>
                <a:ea typeface="Meiryo" panose="020B0604030504040204" pitchFamily="34" charset="-128"/>
              </a:rPr>
              <a:t>4.8%</a:t>
            </a:r>
            <a:r>
              <a:rPr kumimoji="1" lang="ja-JP" altLang="en-US" sz="2000" dirty="0">
                <a:solidFill>
                  <a:schemeClr val="accent6">
                    <a:lumMod val="10000"/>
                  </a:schemeClr>
                </a:solidFill>
                <a:latin typeface="Meiryo" panose="020B0604030504040204" pitchFamily="34" charset="-128"/>
                <a:ea typeface="Meiryo" panose="020B0604030504040204" pitchFamily="34" charset="-128"/>
              </a:rPr>
              <a:t>～</a:t>
            </a:r>
            <a:r>
              <a:rPr kumimoji="1" lang="en-US" altLang="ja-JP" sz="2000" dirty="0">
                <a:solidFill>
                  <a:schemeClr val="accent6">
                    <a:lumMod val="10000"/>
                  </a:schemeClr>
                </a:solidFill>
                <a:latin typeface="Meiryo" panose="020B0604030504040204" pitchFamily="34" charset="-128"/>
                <a:ea typeface="Meiryo" panose="020B0604030504040204" pitchFamily="34" charset="-128"/>
              </a:rPr>
              <a:t>16%</a:t>
            </a:r>
            <a:r>
              <a:rPr kumimoji="1" lang="ja-JP" altLang="en-US" sz="2000" dirty="0">
                <a:solidFill>
                  <a:schemeClr val="accent6">
                    <a:lumMod val="10000"/>
                  </a:schemeClr>
                </a:solidFill>
                <a:latin typeface="Meiryo" panose="020B0604030504040204" pitchFamily="34" charset="-128"/>
                <a:ea typeface="Meiryo" panose="020B0604030504040204" pitchFamily="34" charset="-128"/>
              </a:rPr>
              <a:t>の範囲内であることが確認された．</a:t>
            </a:r>
            <a:endParaRPr lang="en-US" altLang="ja-JP" sz="2000" dirty="0">
              <a:solidFill>
                <a:schemeClr val="accent6">
                  <a:lumMod val="10000"/>
                </a:schemeClr>
              </a:solidFill>
              <a:latin typeface="メイリオ" panose="020B0604030504040204" pitchFamily="50" charset="-128"/>
              <a:ea typeface="メイリオ" panose="020B0604030504040204" pitchFamily="50" charset="-128"/>
            </a:endParaRPr>
          </a:p>
          <a:p>
            <a:endParaRPr kumimoji="1" lang="en-US" altLang="ja-JP" sz="2000" dirty="0">
              <a:solidFill>
                <a:schemeClr val="accent6">
                  <a:lumMod val="10000"/>
                </a:schemeClr>
              </a:solidFill>
              <a:latin typeface="Meiryo" panose="020B0604030504040204" pitchFamily="34" charset="-128"/>
              <a:ea typeface="Meiryo" panose="020B0604030504040204" pitchFamily="34" charset="-128"/>
            </a:endParaRPr>
          </a:p>
          <a:p>
            <a:pPr marL="320675" indent="-306388"/>
            <a:r>
              <a:rPr kumimoji="1" lang="ja-JP" altLang="en-US" sz="2000" dirty="0">
                <a:solidFill>
                  <a:schemeClr val="accent6">
                    <a:lumMod val="10000"/>
                  </a:schemeClr>
                </a:solidFill>
                <a:latin typeface="Meiryo" panose="020B0604030504040204" pitchFamily="34" charset="-128"/>
                <a:ea typeface="Meiryo" panose="020B0604030504040204" pitchFamily="34" charset="-128"/>
              </a:rPr>
              <a:t>■アンサンブル学習の活用により外乱との識別能の改善が期待される．</a:t>
            </a:r>
            <a:endParaRPr kumimoji="1" lang="en-US" altLang="ja-JP" sz="2000" dirty="0">
              <a:solidFill>
                <a:schemeClr val="accent6">
                  <a:lumMod val="10000"/>
                </a:schemeClr>
              </a:solidFill>
              <a:latin typeface="Meiryo" panose="020B0604030504040204" pitchFamily="34" charset="-128"/>
              <a:ea typeface="Meiryo" panose="020B0604030504040204" pitchFamily="34" charset="-128"/>
            </a:endParaRPr>
          </a:p>
        </p:txBody>
      </p:sp>
      <p:sp>
        <p:nvSpPr>
          <p:cNvPr id="6" name="タイトル 3">
            <a:extLst>
              <a:ext uri="{FF2B5EF4-FFF2-40B4-BE49-F238E27FC236}">
                <a16:creationId xmlns:a16="http://schemas.microsoft.com/office/drawing/2014/main" id="{1E511D9A-C4CD-5B54-7E38-BEC1B58E7FF0}"/>
              </a:ext>
            </a:extLst>
          </p:cNvPr>
          <p:cNvSpPr txBox="1">
            <a:spLocks/>
          </p:cNvSpPr>
          <p:nvPr/>
        </p:nvSpPr>
        <p:spPr>
          <a:xfrm>
            <a:off x="857746" y="5700618"/>
            <a:ext cx="1469818" cy="424732"/>
          </a:xfrm>
          <a:prstGeom prst="rect">
            <a:avLst/>
          </a:prstGeom>
        </p:spPr>
        <p:txBody>
          <a:bodyPr vert="horz" lIns="91440" tIns="45720" rIns="91440" bIns="45720" rtlCol="0" anchor="ctr">
            <a:normAutofit fontScale="97500"/>
          </a:bodyPr>
          <a:lstStyle>
            <a:lvl1pPr algn="l" defTabSz="742950" rtl="0" eaLnBrk="1" latinLnBrk="0" hangingPunct="1">
              <a:lnSpc>
                <a:spcPct val="90000"/>
              </a:lnSpc>
              <a:spcBef>
                <a:spcPct val="0"/>
              </a:spcBef>
              <a:buNone/>
              <a:defRPr sz="2400" kern="1200">
                <a:solidFill>
                  <a:schemeClr val="tx2"/>
                </a:solidFill>
                <a:latin typeface="+mj-lt"/>
                <a:ea typeface="+mj-ea"/>
                <a:cs typeface="+mj-cs"/>
              </a:defRPr>
            </a:lvl1pPr>
          </a:lstStyle>
          <a:p>
            <a:r>
              <a:rPr kumimoji="1" lang="ja-JP" altLang="en-US" sz="2100">
                <a:solidFill>
                  <a:schemeClr val="tx1"/>
                </a:solidFill>
                <a:latin typeface="Meiryo" panose="020B0604030504040204" pitchFamily="34" charset="-128"/>
                <a:ea typeface="Meiryo" panose="020B0604030504040204" pitchFamily="34" charset="-128"/>
              </a:rPr>
              <a:t>謝辞</a:t>
            </a:r>
            <a:r>
              <a:rPr kumimoji="1" lang="ja-JP" altLang="en-US">
                <a:solidFill>
                  <a:schemeClr val="tx1"/>
                </a:solidFill>
                <a:latin typeface="Meiryo" panose="020B0604030504040204" pitchFamily="34" charset="-128"/>
                <a:ea typeface="Meiryo" panose="020B0604030504040204" pitchFamily="34" charset="-128"/>
              </a:rPr>
              <a:t>　</a:t>
            </a:r>
            <a:endParaRPr kumimoji="1" lang="en-US" altLang="ja-JP" dirty="0">
              <a:solidFill>
                <a:schemeClr val="tx1"/>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DB27C2B7-B09F-D50C-95CC-E6996D513AFC}"/>
              </a:ext>
            </a:extLst>
          </p:cNvPr>
          <p:cNvSpPr txBox="1"/>
          <p:nvPr/>
        </p:nvSpPr>
        <p:spPr>
          <a:xfrm>
            <a:off x="857746" y="1134790"/>
            <a:ext cx="8230298" cy="707886"/>
          </a:xfrm>
          <a:prstGeom prst="rect">
            <a:avLst/>
          </a:prstGeom>
          <a:noFill/>
        </p:spPr>
        <p:txBody>
          <a:bodyPr wrap="square">
            <a:spAutoFit/>
          </a:bodyPr>
          <a:lstStyle/>
          <a:p>
            <a:pPr algn="just"/>
            <a:r>
              <a:rPr lang="ja-JP" altLang="en-US" sz="2000" kern="100" dirty="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沸騰検知のアルゴリズム</a:t>
            </a:r>
            <a:r>
              <a:rPr lang="ja-JP" altLang="en-US" sz="2000" kern="10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構築を試行した</a:t>
            </a:r>
            <a:r>
              <a:rPr lang="ja-JP" altLang="en-US" sz="2000" kern="100" dirty="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結果，識別の有効性を確認し今後の手法開発に備える知見</a:t>
            </a:r>
            <a:r>
              <a:rPr lang="ja-JP" altLang="en-US" sz="2000" kern="100">
                <a:solidFill>
                  <a:srgbClr val="25140F"/>
                </a:solidFill>
                <a:effectLst/>
                <a:latin typeface="Meiryo" panose="020B0604030504040204" pitchFamily="34" charset="-128"/>
                <a:ea typeface="Meiryo" panose="020B0604030504040204" pitchFamily="34" charset="-128"/>
                <a:cs typeface="Times New Roman" panose="02020603050405020304" pitchFamily="18" charset="0"/>
              </a:rPr>
              <a:t>を得た．</a:t>
            </a:r>
            <a:endParaRPr lang="en-JP" sz="2000" dirty="0">
              <a:solidFill>
                <a:srgbClr val="25140F"/>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105605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925D371-6FF9-08CF-5925-E78750FA22AA}"/>
              </a:ext>
            </a:extLst>
          </p:cNvPr>
          <p:cNvSpPr/>
          <p:nvPr/>
        </p:nvSpPr>
        <p:spPr>
          <a:xfrm>
            <a:off x="8616875" y="89005"/>
            <a:ext cx="1172879" cy="3599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54926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3">
            <a:extLst>
              <a:ext uri="{FF2B5EF4-FFF2-40B4-BE49-F238E27FC236}">
                <a16:creationId xmlns:a16="http://schemas.microsoft.com/office/drawing/2014/main" id="{65FD2D1B-5AEE-2353-7F07-6AE6E7D67793}"/>
              </a:ext>
            </a:extLst>
          </p:cNvPr>
          <p:cNvSpPr txBox="1">
            <a:spLocks/>
          </p:cNvSpPr>
          <p:nvPr/>
        </p:nvSpPr>
        <p:spPr>
          <a:xfrm>
            <a:off x="905247" y="1330502"/>
            <a:ext cx="3939885" cy="735804"/>
          </a:xfrm>
          <a:prstGeom prst="rect">
            <a:avLst/>
          </a:prstGeom>
        </p:spPr>
        <p:txBody>
          <a:bodyPr vert="horz" lIns="91440" tIns="45720" rIns="91440" bIns="45720" rtlCol="0" anchor="ctr">
            <a:normAutofit fontScale="97500"/>
          </a:bodyPr>
          <a:lstStyle>
            <a:lvl1pPr algn="l" defTabSz="742950" rtl="0" eaLnBrk="1" latinLnBrk="0" hangingPunct="1">
              <a:lnSpc>
                <a:spcPct val="90000"/>
              </a:lnSpc>
              <a:spcBef>
                <a:spcPct val="0"/>
              </a:spcBef>
              <a:buNone/>
              <a:defRPr sz="2400" kern="1200">
                <a:solidFill>
                  <a:schemeClr val="tx2"/>
                </a:solidFill>
                <a:latin typeface="+mj-lt"/>
                <a:ea typeface="+mj-ea"/>
                <a:cs typeface="+mj-cs"/>
              </a:defRPr>
            </a:lvl1pPr>
          </a:lstStyle>
          <a:p>
            <a:r>
              <a:rPr lang="ja-JP" altLang="en-US" sz="2100">
                <a:solidFill>
                  <a:schemeClr val="tx1"/>
                </a:solidFill>
                <a:latin typeface="Meiryo" panose="020B0604030504040204" pitchFamily="34" charset="-128"/>
                <a:ea typeface="Meiryo" panose="020B0604030504040204" pitchFamily="34" charset="-128"/>
              </a:rPr>
              <a:t>参考資料用スライド</a:t>
            </a:r>
            <a:r>
              <a:rPr kumimoji="1" lang="ja-JP" altLang="en-US">
                <a:solidFill>
                  <a:schemeClr val="tx1"/>
                </a:solidFill>
                <a:latin typeface="Meiryo" panose="020B0604030504040204" pitchFamily="34" charset="-128"/>
                <a:ea typeface="Meiryo" panose="020B0604030504040204" pitchFamily="34" charset="-128"/>
              </a:rPr>
              <a:t>　</a:t>
            </a:r>
            <a:endParaRPr kumimoji="1" lang="en-US" altLang="ja-JP"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7762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7600C21-3A70-91F7-B4D9-9DC70716C9CC}"/>
              </a:ext>
            </a:extLst>
          </p:cNvPr>
          <p:cNvSpPr>
            <a:spLocks noGrp="1"/>
          </p:cNvSpPr>
          <p:nvPr>
            <p:ph type="body" sz="half" idx="13"/>
          </p:nvPr>
        </p:nvSpPr>
        <p:spPr/>
        <p:txBody>
          <a:bodyPr/>
          <a:lstStyle/>
          <a:p>
            <a:endParaRPr kumimoji="1" lang="ja-JP" altLang="en-US"/>
          </a:p>
        </p:txBody>
      </p:sp>
      <p:sp>
        <p:nvSpPr>
          <p:cNvPr id="4" name="タイトル 3">
            <a:extLst>
              <a:ext uri="{FF2B5EF4-FFF2-40B4-BE49-F238E27FC236}">
                <a16:creationId xmlns:a16="http://schemas.microsoft.com/office/drawing/2014/main" id="{0EE93698-2AD1-819F-EEC7-6C875CBE3BE7}"/>
              </a:ext>
            </a:extLst>
          </p:cNvPr>
          <p:cNvSpPr>
            <a:spLocks noGrp="1"/>
          </p:cNvSpPr>
          <p:nvPr>
            <p:ph type="title"/>
          </p:nvPr>
        </p:nvSpPr>
        <p:spPr>
          <a:xfrm>
            <a:off x="857746" y="410449"/>
            <a:ext cx="8658001" cy="424732"/>
          </a:xfrm>
        </p:spPr>
        <p:txBody>
          <a:bodyPr>
            <a:normAutofit/>
          </a:bodyPr>
          <a:lstStyle/>
          <a:p>
            <a:r>
              <a:rPr lang="ja-JP" altLang="en-US" sz="2400">
                <a:latin typeface="Meiryo" panose="020B0604030504040204" pitchFamily="34" charset="-128"/>
                <a:ea typeface="Meiryo" panose="020B0604030504040204" pitchFamily="34" charset="-128"/>
              </a:rPr>
              <a:t>全体プロジェクトの対象・背景・着眼</a:t>
            </a:r>
            <a:endParaRPr kumimoji="1" lang="ja-JP" altLang="en-US" dirty="0">
              <a:latin typeface="Meiryo" panose="020B0604030504040204" pitchFamily="34" charset="-128"/>
              <a:ea typeface="Meiryo" panose="020B0604030504040204" pitchFamily="34" charset="-128"/>
            </a:endParaRPr>
          </a:p>
        </p:txBody>
      </p:sp>
      <p:sp>
        <p:nvSpPr>
          <p:cNvPr id="5" name="正方形/長方形 4">
            <a:extLst>
              <a:ext uri="{FF2B5EF4-FFF2-40B4-BE49-F238E27FC236}">
                <a16:creationId xmlns:a16="http://schemas.microsoft.com/office/drawing/2014/main" id="{FA0802D5-6BD3-8B64-8E9A-4635350470C2}"/>
              </a:ext>
            </a:extLst>
          </p:cNvPr>
          <p:cNvSpPr/>
          <p:nvPr/>
        </p:nvSpPr>
        <p:spPr>
          <a:xfrm>
            <a:off x="937453" y="6212042"/>
            <a:ext cx="1082658" cy="332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62"/>
          </a:p>
        </p:txBody>
      </p:sp>
      <p:sp>
        <p:nvSpPr>
          <p:cNvPr id="6" name="テキスト ボックス 203">
            <a:extLst>
              <a:ext uri="{FF2B5EF4-FFF2-40B4-BE49-F238E27FC236}">
                <a16:creationId xmlns:a16="http://schemas.microsoft.com/office/drawing/2014/main" id="{0EEBE841-62EA-E802-6E62-7AF392737524}"/>
              </a:ext>
            </a:extLst>
          </p:cNvPr>
          <p:cNvSpPr txBox="1"/>
          <p:nvPr/>
        </p:nvSpPr>
        <p:spPr>
          <a:xfrm>
            <a:off x="771699" y="1136588"/>
            <a:ext cx="8362602" cy="1155871"/>
          </a:xfrm>
          <a:prstGeom prst="rect">
            <a:avLst/>
          </a:prstGeom>
          <a:solidFill>
            <a:sysClr val="window" lastClr="FFFFFF"/>
          </a:solidFill>
          <a:ln w="25400" cap="flat" cmpd="sng" algn="ctr">
            <a:noFill/>
            <a:prstDash val="solid"/>
          </a:ln>
          <a:effectLst/>
        </p:spPr>
        <p:txBody>
          <a:bodyPr rot="0" spcFirstLastPara="0" vert="horz" wrap="square" lIns="84406" tIns="42203" rIns="84406" bIns="42203" numCol="1" spcCol="0" rtlCol="0" fromWordArt="0" anchor="t" anchorCtr="0" forceAA="0" compatLnSpc="1">
            <a:prstTxWarp prst="textNoShape">
              <a:avLst/>
            </a:prstTxWarp>
            <a:noAutofit/>
          </a:bodyPr>
          <a:lstStyle/>
          <a:p>
            <a:pPr defTabSz="844083" fontAlgn="base">
              <a:spcBef>
                <a:spcPct val="0"/>
              </a:spcBef>
              <a:defRPr/>
            </a:pPr>
            <a:r>
              <a:rPr lang="ja-JP" altLang="en-US" sz="2000" b="1" u="sng" dirty="0">
                <a:latin typeface="メイリオ" panose="020B0604030504040204" pitchFamily="50" charset="-128"/>
                <a:ea typeface="メイリオ" panose="020B0604030504040204" pitchFamily="50" charset="-128"/>
              </a:rPr>
              <a:t>目的</a:t>
            </a:r>
            <a:endParaRPr lang="en-US" altLang="ja-JP" sz="2000" b="1" u="sng" dirty="0">
              <a:latin typeface="メイリオ" panose="020B0604030504040204" pitchFamily="50" charset="-128"/>
              <a:ea typeface="メイリオ" panose="020B0604030504040204" pitchFamily="50" charset="-128"/>
            </a:endParaRPr>
          </a:p>
          <a:p>
            <a:pPr marL="266700" defTabSz="844083" fontAlgn="base">
              <a:spcBef>
                <a:spcPct val="0"/>
              </a:spcBef>
              <a:defRPr/>
            </a:pPr>
            <a:r>
              <a:rPr lang="ja-JP" altLang="ja-JP" sz="2000" dirty="0">
                <a:latin typeface="メイリオ" panose="020B0604030504040204" pitchFamily="50" charset="-128"/>
                <a:ea typeface="メイリオ" panose="020B0604030504040204" pitchFamily="50" charset="-128"/>
              </a:rPr>
              <a:t>新型原子炉システムの有望候補である</a:t>
            </a:r>
            <a:r>
              <a:rPr lang="ja-JP" altLang="ja-JP" sz="2000" b="1" dirty="0">
                <a:solidFill>
                  <a:srgbClr val="0303BD"/>
                </a:solidFill>
                <a:latin typeface="メイリオ" panose="020B0604030504040204" pitchFamily="50" charset="-128"/>
                <a:ea typeface="メイリオ" panose="020B0604030504040204" pitchFamily="50" charset="-128"/>
              </a:rPr>
              <a:t>ナトリウム冷却高速炉</a:t>
            </a:r>
            <a:r>
              <a:rPr lang="ja-JP" altLang="ja-JP" sz="2000" dirty="0">
                <a:latin typeface="メイリオ" panose="020B0604030504040204" pitchFamily="50" charset="-128"/>
                <a:ea typeface="メイリオ" panose="020B0604030504040204" pitchFamily="50" charset="-128"/>
              </a:rPr>
              <a:t>の実用化課題である</a:t>
            </a:r>
            <a:r>
              <a:rPr lang="ja-JP" altLang="ja-JP" sz="2000" b="1" u="wavy" dirty="0">
                <a:solidFill>
                  <a:srgbClr val="0303BD"/>
                </a:solidFill>
                <a:latin typeface="メイリオ" panose="020B0604030504040204" pitchFamily="50" charset="-128"/>
                <a:ea typeface="メイリオ" panose="020B0604030504040204" pitchFamily="50" charset="-128"/>
              </a:rPr>
              <a:t>炉心損傷事故</a:t>
            </a:r>
            <a:r>
              <a:rPr lang="ja-JP" altLang="ja-JP" sz="2000" u="wavy" dirty="0">
                <a:solidFill>
                  <a:srgbClr val="0303BD"/>
                </a:solidFill>
                <a:latin typeface="メイリオ" panose="020B0604030504040204" pitchFamily="50" charset="-128"/>
                <a:ea typeface="メイリオ" panose="020B0604030504040204" pitchFamily="50" charset="-128"/>
              </a:rPr>
              <a:t>に対する</a:t>
            </a:r>
            <a:r>
              <a:rPr lang="ja-JP" altLang="ja-JP" sz="2000" b="1" u="wavy" dirty="0">
                <a:solidFill>
                  <a:srgbClr val="0303BD"/>
                </a:solidFill>
                <a:latin typeface="メイリオ" panose="020B0604030504040204" pitchFamily="50" charset="-128"/>
                <a:ea typeface="メイリオ" panose="020B0604030504040204" pitchFamily="50" charset="-128"/>
              </a:rPr>
              <a:t>安全性強化</a:t>
            </a:r>
            <a:endParaRPr lang="en-US" altLang="ja-JP" sz="2000" b="1" u="wavy" dirty="0">
              <a:solidFill>
                <a:srgbClr val="0303BD"/>
              </a:solidFill>
              <a:latin typeface="メイリオ" panose="020B0604030504040204" pitchFamily="50" charset="-128"/>
              <a:ea typeface="メイリオ" panose="020B0604030504040204" pitchFamily="50" charset="-128"/>
            </a:endParaRPr>
          </a:p>
          <a:p>
            <a:pPr defTabSz="844083" fontAlgn="base">
              <a:spcBef>
                <a:spcPct val="0"/>
              </a:spcBef>
              <a:defRPr/>
            </a:pPr>
            <a:endParaRPr lang="en-US" altLang="ja-JP" sz="738" b="1" u="wavy" dirty="0">
              <a:solidFill>
                <a:srgbClr val="0303BD"/>
              </a:solidFill>
              <a:latin typeface="メイリオ" panose="020B0604030504040204" pitchFamily="50" charset="-128"/>
              <a:ea typeface="メイリオ" panose="020B0604030504040204" pitchFamily="50" charset="-128"/>
            </a:endParaRPr>
          </a:p>
          <a:p>
            <a:pPr defTabSz="844083" fontAlgn="base">
              <a:spcBef>
                <a:spcPct val="0"/>
              </a:spcBef>
              <a:defRPr/>
            </a:pPr>
            <a:endParaRPr kumimoji="1" lang="ja-JP" altLang="en-US" sz="2585"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endParaRPr>
          </a:p>
        </p:txBody>
      </p:sp>
      <p:sp>
        <p:nvSpPr>
          <p:cNvPr id="7" name="テキスト ボックス 203">
            <a:extLst>
              <a:ext uri="{FF2B5EF4-FFF2-40B4-BE49-F238E27FC236}">
                <a16:creationId xmlns:a16="http://schemas.microsoft.com/office/drawing/2014/main" id="{EEFE2134-DC6C-EE8D-90C0-7C7004E2D510}"/>
              </a:ext>
            </a:extLst>
          </p:cNvPr>
          <p:cNvSpPr txBox="1"/>
          <p:nvPr/>
        </p:nvSpPr>
        <p:spPr>
          <a:xfrm>
            <a:off x="771699" y="2391127"/>
            <a:ext cx="8157756" cy="396073"/>
          </a:xfrm>
          <a:prstGeom prst="rect">
            <a:avLst/>
          </a:prstGeom>
          <a:solidFill>
            <a:sysClr val="window" lastClr="FFFFFF"/>
          </a:solidFill>
          <a:ln w="25400" cap="flat" cmpd="sng" algn="ctr">
            <a:noFill/>
            <a:prstDash val="solid"/>
          </a:ln>
          <a:effectLst/>
        </p:spPr>
        <p:txBody>
          <a:bodyPr rot="0" spcFirstLastPara="0" vert="horz" wrap="square" lIns="84406" tIns="42203" rIns="84406" bIns="42203" numCol="1" spcCol="0" rtlCol="0" fromWordArt="0" anchor="t" anchorCtr="0" forceAA="0" compatLnSpc="1">
            <a:prstTxWarp prst="textNoShape">
              <a:avLst/>
            </a:prstTxWarp>
            <a:noAutofit/>
          </a:bodyPr>
          <a:lstStyle/>
          <a:p>
            <a:pPr defTabSz="844083" fontAlgn="base">
              <a:spcBef>
                <a:spcPct val="0"/>
              </a:spcBef>
              <a:defRPr/>
            </a:pPr>
            <a:r>
              <a:rPr lang="ja-JP" altLang="en-US" sz="2000" b="1" u="sng" dirty="0">
                <a:latin typeface="メイリオ" panose="020B0604030504040204" pitchFamily="50" charset="-128"/>
                <a:ea typeface="メイリオ" panose="020B0604030504040204" pitchFamily="50" charset="-128"/>
              </a:rPr>
              <a:t>背景・着眼</a:t>
            </a:r>
            <a:endParaRPr lang="en-US" altLang="ja-JP" sz="2000" b="1" u="wavy" dirty="0">
              <a:solidFill>
                <a:srgbClr val="0303BD"/>
              </a:solidFill>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7BEACD3F-D63E-6C22-B6F8-B0E5B299C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0111" y="4057064"/>
            <a:ext cx="5432661" cy="2107704"/>
          </a:xfrm>
          <a:prstGeom prst="rect">
            <a:avLst/>
          </a:prstGeom>
        </p:spPr>
      </p:pic>
      <p:sp>
        <p:nvSpPr>
          <p:cNvPr id="9" name="テキスト ボックス 203">
            <a:extLst>
              <a:ext uri="{FF2B5EF4-FFF2-40B4-BE49-F238E27FC236}">
                <a16:creationId xmlns:a16="http://schemas.microsoft.com/office/drawing/2014/main" id="{7AD7121A-F8EA-0459-F417-ABDFCC2DC3A3}"/>
              </a:ext>
            </a:extLst>
          </p:cNvPr>
          <p:cNvSpPr txBox="1"/>
          <p:nvPr/>
        </p:nvSpPr>
        <p:spPr>
          <a:xfrm>
            <a:off x="998954" y="2797954"/>
            <a:ext cx="7868997" cy="1328310"/>
          </a:xfrm>
          <a:prstGeom prst="rect">
            <a:avLst/>
          </a:prstGeom>
          <a:solidFill>
            <a:sysClr val="window" lastClr="FFFFFF"/>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342900" lvl="0" indent="-342900" defTabSz="914400" fontAlgn="base">
              <a:spcBef>
                <a:spcPct val="0"/>
              </a:spcBef>
              <a:buFont typeface="Arial" panose="020B0604020202020204" pitchFamily="34" charset="0"/>
              <a:buChar char="•"/>
              <a:defRPr/>
            </a:pPr>
            <a:r>
              <a:rPr lang="ja-JP" altLang="en-US" sz="2000" dirty="0">
                <a:latin typeface="メイリオ" panose="020B0604030504040204" pitchFamily="50" charset="-128"/>
                <a:ea typeface="メイリオ" panose="020B0604030504040204" pitchFamily="50" charset="-128"/>
              </a:rPr>
              <a:t>炉心で生じる事象を初期段階にて検知できず損傷に至ってから検出される事例の報告</a:t>
            </a:r>
            <a:r>
              <a:rPr lang="en-US" altLang="ja-JP" sz="2000" baseline="30000" dirty="0">
                <a:latin typeface="メイリオ" panose="020B0604030504040204" pitchFamily="50" charset="-128"/>
                <a:ea typeface="メイリオ" panose="020B0604030504040204" pitchFamily="50" charset="-128"/>
              </a:rPr>
              <a:t>[1]</a:t>
            </a:r>
            <a:endParaRPr lang="en-US" altLang="ja-JP" sz="2000" dirty="0">
              <a:latin typeface="メイリオ" panose="020B0604030504040204" pitchFamily="50" charset="-128"/>
              <a:ea typeface="メイリオ" panose="020B0604030504040204" pitchFamily="50" charset="-128"/>
            </a:endParaRPr>
          </a:p>
          <a:p>
            <a:pPr marL="342900" lvl="0" indent="-342900" defTabSz="914400" fontAlgn="base">
              <a:spcBef>
                <a:spcPct val="0"/>
              </a:spcBef>
              <a:buFont typeface="Arial" panose="020B0604020202020204" pitchFamily="34" charset="0"/>
              <a:buChar char="•"/>
              <a:defRPr/>
            </a:pPr>
            <a:r>
              <a:rPr lang="ja-JP" altLang="en-US" sz="2000" b="1" dirty="0">
                <a:solidFill>
                  <a:srgbClr val="0303BD"/>
                </a:solidFill>
                <a:latin typeface="メイリオ" panose="020B0604030504040204" pitchFamily="50" charset="-128"/>
                <a:ea typeface="メイリオ" panose="020B0604030504040204" pitchFamily="50" charset="-128"/>
              </a:rPr>
              <a:t>深層防護</a:t>
            </a:r>
            <a:r>
              <a:rPr lang="ja-JP" altLang="en-US" sz="2000" dirty="0">
                <a:latin typeface="メイリオ" panose="020B0604030504040204" pitchFamily="50" charset="-128"/>
                <a:ea typeface="メイリオ" panose="020B0604030504040204" pitchFamily="50" charset="-128"/>
              </a:rPr>
              <a:t>における第二層に位置付けられる</a:t>
            </a:r>
            <a:r>
              <a:rPr lang="ja-JP" altLang="en-US" sz="2000" b="1" dirty="0">
                <a:solidFill>
                  <a:srgbClr val="0303BD"/>
                </a:solidFill>
                <a:latin typeface="メイリオ" panose="020B0604030504040204" pitchFamily="50" charset="-128"/>
                <a:ea typeface="メイリオ" panose="020B0604030504040204" pitchFamily="50" charset="-128"/>
              </a:rPr>
              <a:t>「異常の早期検知」</a:t>
            </a:r>
            <a:r>
              <a:rPr lang="ja-JP" altLang="en-US" sz="2000" dirty="0">
                <a:latin typeface="メイリオ" panose="020B0604030504040204" pitchFamily="50" charset="-128"/>
                <a:ea typeface="メイリオ" panose="020B0604030504040204" pitchFamily="50" charset="-128"/>
              </a:rPr>
              <a:t>の重要性</a:t>
            </a:r>
            <a:endParaRPr lang="en-US" altLang="ja-JP" sz="20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F502F64E-16F9-614F-114F-40F5ADDCC6CE}"/>
              </a:ext>
            </a:extLst>
          </p:cNvPr>
          <p:cNvSpPr txBox="1"/>
          <p:nvPr/>
        </p:nvSpPr>
        <p:spPr>
          <a:xfrm>
            <a:off x="818653" y="6321464"/>
            <a:ext cx="8229600" cy="307777"/>
          </a:xfrm>
          <a:prstGeom prst="rect">
            <a:avLst/>
          </a:prstGeom>
          <a:noFill/>
        </p:spPr>
        <p:txBody>
          <a:bodyPr wrap="square" rtlCol="0">
            <a:spAutoFit/>
          </a:bodyPr>
          <a:lstStyle/>
          <a:p>
            <a:r>
              <a:rPr kumimoji="1" lang="en-US" altLang="ja-JP" sz="1400" dirty="0">
                <a:latin typeface="Arial" panose="020B0604020202020204" pitchFamily="34" charset="0"/>
                <a:cs typeface="Arial" panose="020B0604020202020204" pitchFamily="34" charset="0"/>
              </a:rPr>
              <a:t>[1] Harvey A. Wagner, E. Alexanderson, Fermi-I: New Age for Nuclear Power, ANS (1979).</a:t>
            </a:r>
            <a:endParaRPr kumimoji="1" lang="ja-JP" altLang="en-US" sz="14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F6480D0-27A1-770D-72BE-E89548A75618}"/>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120294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66974FB-8291-C5EC-1C23-783668A23D2F}"/>
              </a:ext>
            </a:extLst>
          </p:cNvPr>
          <p:cNvSpPr>
            <a:spLocks noGrp="1"/>
          </p:cNvSpPr>
          <p:nvPr>
            <p:ph type="title"/>
          </p:nvPr>
        </p:nvSpPr>
        <p:spPr>
          <a:xfrm>
            <a:off x="857746" y="410449"/>
            <a:ext cx="8658001" cy="424732"/>
          </a:xfrm>
        </p:spPr>
        <p:txBody>
          <a:bodyPr>
            <a:normAutofit/>
          </a:bodyPr>
          <a:lstStyle/>
          <a:p>
            <a:r>
              <a:rPr lang="ja-JP" altLang="en-US" sz="2400">
                <a:latin typeface="Meiryo" panose="020B0604030504040204" pitchFamily="34" charset="-128"/>
                <a:ea typeface="Meiryo" panose="020B0604030504040204" pitchFamily="34" charset="-128"/>
              </a:rPr>
              <a:t>全体プロジェクトの</a:t>
            </a:r>
            <a:r>
              <a:rPr lang="ja-JP" altLang="en-US">
                <a:solidFill>
                  <a:srgbClr val="25140F"/>
                </a:solidFill>
                <a:latin typeface="Meiryo" panose="020B0604030504040204" pitchFamily="34" charset="-128"/>
                <a:ea typeface="Meiryo" panose="020B0604030504040204" pitchFamily="34" charset="-128"/>
              </a:rPr>
              <a:t>目的</a:t>
            </a:r>
            <a:endParaRPr kumimoji="1" lang="ja-JP" altLang="en-US" dirty="0">
              <a:solidFill>
                <a:srgbClr val="25140F"/>
              </a:solidFill>
              <a:latin typeface="Meiryo" panose="020B0604030504040204" pitchFamily="34" charset="-128"/>
              <a:ea typeface="Meiryo" panose="020B0604030504040204" pitchFamily="34" charset="-128"/>
            </a:endParaRPr>
          </a:p>
        </p:txBody>
      </p:sp>
      <p:sp>
        <p:nvSpPr>
          <p:cNvPr id="2" name="テキスト ボックス 203">
            <a:extLst>
              <a:ext uri="{FF2B5EF4-FFF2-40B4-BE49-F238E27FC236}">
                <a16:creationId xmlns:a16="http://schemas.microsoft.com/office/drawing/2014/main" id="{CC60F49A-9292-6A72-0541-BBD26203195C}"/>
              </a:ext>
            </a:extLst>
          </p:cNvPr>
          <p:cNvSpPr txBox="1"/>
          <p:nvPr/>
        </p:nvSpPr>
        <p:spPr>
          <a:xfrm>
            <a:off x="902142" y="1053856"/>
            <a:ext cx="8201651" cy="1789692"/>
          </a:xfrm>
          <a:prstGeom prst="rect">
            <a:avLst/>
          </a:prstGeom>
          <a:no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defTabSz="914400" fontAlgn="base">
              <a:spcBef>
                <a:spcPct val="0"/>
              </a:spcBef>
              <a:defRPr/>
            </a:pPr>
            <a:endParaRPr lang="en-US" altLang="ja-JP" sz="800" b="1" dirty="0">
              <a:solidFill>
                <a:srgbClr val="0303BD"/>
              </a:solidFill>
              <a:latin typeface="メイリオ" panose="020B0604030504040204" pitchFamily="50" charset="-128"/>
              <a:ea typeface="メイリオ" panose="020B0604030504040204" pitchFamily="50" charset="-128"/>
            </a:endParaRPr>
          </a:p>
          <a:p>
            <a:pPr defTabSz="914400" fontAlgn="base">
              <a:lnSpc>
                <a:spcPct val="150000"/>
              </a:lnSpc>
              <a:spcBef>
                <a:spcPct val="0"/>
              </a:spcBef>
              <a:defRPr/>
            </a:pP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炉心異常の局所閉塞による</a:t>
            </a:r>
            <a:r>
              <a:rPr lang="ja-JP" altLang="ja-JP" sz="2400" dirty="0">
                <a:solidFill>
                  <a:srgbClr val="0000FF"/>
                </a:solidFill>
                <a:latin typeface="メイリオ" panose="020B0604030504040204" pitchFamily="50" charset="-128"/>
                <a:ea typeface="メイリオ" panose="020B0604030504040204" pitchFamily="50" charset="-128"/>
                <a:cs typeface="Times New Roman" panose="02020603050405020304" pitchFamily="18" charset="0"/>
              </a:rPr>
              <a:t>冷却材沸騰発生</a:t>
            </a: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を</a:t>
            </a:r>
            <a:r>
              <a:rPr lang="ja-JP" altLang="ja-JP" sz="2400">
                <a:solidFill>
                  <a:srgbClr val="0000FF"/>
                </a:solidFill>
                <a:latin typeface="メイリオ" panose="020B0604030504040204" pitchFamily="50" charset="-128"/>
                <a:ea typeface="メイリオ" panose="020B0604030504040204" pitchFamily="50" charset="-128"/>
                <a:cs typeface="Times New Roman" panose="02020603050405020304" pitchFamily="18" charset="0"/>
              </a:rPr>
              <a:t>早期に検知</a:t>
            </a: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し</a:t>
            </a:r>
            <a:endParaRPr lang="en-US"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endParaRPr>
          </a:p>
          <a:p>
            <a:pPr defTabSz="914400" fontAlgn="base">
              <a:lnSpc>
                <a:spcPct val="150000"/>
              </a:lnSpc>
              <a:spcBef>
                <a:spcPct val="0"/>
              </a:spcBef>
              <a:defRPr/>
            </a:pPr>
            <a:r>
              <a:rPr lang="ja-JP" altLang="ja-JP" sz="2400" dirty="0">
                <a:solidFill>
                  <a:srgbClr val="25140F"/>
                </a:solidFill>
                <a:latin typeface="メイリオ" panose="020B0604030504040204" pitchFamily="50" charset="-128"/>
                <a:ea typeface="メイリオ" panose="020B0604030504040204" pitchFamily="50" charset="-128"/>
                <a:cs typeface="Times New Roman" panose="02020603050405020304" pitchFamily="18" charset="0"/>
              </a:rPr>
              <a:t>事象推移</a:t>
            </a: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に至る物理現象をほぼ時間遅れ無く</a:t>
            </a:r>
            <a:r>
              <a:rPr lang="ja-JP" altLang="ja-JP" sz="2400" dirty="0">
                <a:solidFill>
                  <a:srgbClr val="25140F"/>
                </a:solidFill>
                <a:latin typeface="メイリオ" panose="020B0604030504040204" pitchFamily="50" charset="-128"/>
                <a:ea typeface="メイリオ" panose="020B0604030504040204" pitchFamily="50" charset="-128"/>
                <a:cs typeface="Times New Roman" panose="02020603050405020304" pitchFamily="18" charset="0"/>
              </a:rPr>
              <a:t>把握</a:t>
            </a: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する</a:t>
            </a:r>
            <a:endParaRPr lang="en-US"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endParaRPr>
          </a:p>
          <a:p>
            <a:pPr defTabSz="914400" fontAlgn="base">
              <a:lnSpc>
                <a:spcPct val="150000"/>
              </a:lnSpc>
              <a:spcBef>
                <a:spcPct val="0"/>
              </a:spcBef>
              <a:defRPr/>
            </a:pP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新たな安全性</a:t>
            </a:r>
            <a:r>
              <a:rPr lang="ja-JP" altLang="ja-JP" sz="240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強化技術を</a:t>
            </a:r>
            <a:r>
              <a:rPr lang="ja-JP" altLang="ja-JP" sz="2400" dirty="0">
                <a:solidFill>
                  <a:prstClr val="black"/>
                </a:solidFill>
                <a:latin typeface="メイリオ" panose="020B0604030504040204" pitchFamily="50" charset="-128"/>
                <a:ea typeface="メイリオ" panose="020B0604030504040204" pitchFamily="50" charset="-128"/>
                <a:cs typeface="Times New Roman" panose="02020603050405020304" pitchFamily="18" charset="0"/>
              </a:rPr>
              <a:t>創出</a:t>
            </a:r>
            <a:endParaRPr lang="en-US" altLang="ja-JP" sz="2400" dirty="0">
              <a:solidFill>
                <a:prstClr val="black"/>
              </a:solidFill>
              <a:latin typeface="メイリオ" panose="020B0604030504040204" pitchFamily="50" charset="-128"/>
              <a:ea typeface="メイリオ" panose="020B0604030504040204" pitchFamily="50" charset="-128"/>
            </a:endParaRPr>
          </a:p>
          <a:p>
            <a:pPr defTabSz="914400" fontAlgn="base">
              <a:spcBef>
                <a:spcPct val="0"/>
              </a:spcBef>
              <a:defRPr/>
            </a:pPr>
            <a:endParaRPr lang="en-US" altLang="ja-JP" sz="2400" b="1" dirty="0">
              <a:solidFill>
                <a:srgbClr val="0303BD"/>
              </a:solidFill>
              <a:latin typeface="メイリオ" panose="020B0604030504040204" pitchFamily="50" charset="-128"/>
              <a:ea typeface="メイリオ" panose="020B0604030504040204" pitchFamily="50" charset="-128"/>
            </a:endParaRPr>
          </a:p>
        </p:txBody>
      </p:sp>
      <p:grpSp>
        <p:nvGrpSpPr>
          <p:cNvPr id="3" name="グループ化 1">
            <a:extLst>
              <a:ext uri="{FF2B5EF4-FFF2-40B4-BE49-F238E27FC236}">
                <a16:creationId xmlns:a16="http://schemas.microsoft.com/office/drawing/2014/main" id="{430525F8-AB2C-6A76-86C4-98FF5BC4BE90}"/>
              </a:ext>
            </a:extLst>
          </p:cNvPr>
          <p:cNvGrpSpPr/>
          <p:nvPr/>
        </p:nvGrpSpPr>
        <p:grpSpPr>
          <a:xfrm>
            <a:off x="1333881" y="3300291"/>
            <a:ext cx="7529709" cy="3147260"/>
            <a:chOff x="857746" y="2876179"/>
            <a:chExt cx="7529709" cy="3147260"/>
          </a:xfrm>
        </p:grpSpPr>
        <p:sp>
          <p:nvSpPr>
            <p:cNvPr id="5" name="楕円 4">
              <a:extLst>
                <a:ext uri="{FF2B5EF4-FFF2-40B4-BE49-F238E27FC236}">
                  <a16:creationId xmlns:a16="http://schemas.microsoft.com/office/drawing/2014/main" id="{B770FBFF-BF47-40E9-B938-7D51A6E19355}"/>
                </a:ext>
              </a:extLst>
            </p:cNvPr>
            <p:cNvSpPr/>
            <p:nvPr/>
          </p:nvSpPr>
          <p:spPr>
            <a:xfrm rot="16200000">
              <a:off x="4299603" y="1378486"/>
              <a:ext cx="2064665" cy="5060051"/>
            </a:xfrm>
            <a:prstGeom prst="ellipse">
              <a:avLst/>
            </a:prstGeom>
            <a:gradFill flip="none" rotWithShape="1">
              <a:gsLst>
                <a:gs pos="0">
                  <a:srgbClr val="5B9BD5">
                    <a:tint val="66000"/>
                    <a:satMod val="160000"/>
                  </a:srgbClr>
                </a:gs>
                <a:gs pos="50000">
                  <a:srgbClr val="5B9BD5">
                    <a:tint val="44500"/>
                    <a:satMod val="160000"/>
                  </a:srgbClr>
                </a:gs>
                <a:gs pos="100000">
                  <a:srgbClr val="5B9BD5">
                    <a:tint val="23500"/>
                    <a:satMod val="160000"/>
                  </a:srgbClr>
                </a:gs>
              </a:gsLst>
              <a:path path="circle">
                <a:fillToRect l="50000" t="50000" r="50000" b="50000"/>
              </a:path>
              <a:tileRect/>
            </a:gra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94" name="楕円 5">
              <a:extLst>
                <a:ext uri="{FF2B5EF4-FFF2-40B4-BE49-F238E27FC236}">
                  <a16:creationId xmlns:a16="http://schemas.microsoft.com/office/drawing/2014/main" id="{B100E9A0-ADB6-6F41-4BD8-67B613A6830F}"/>
                </a:ext>
              </a:extLst>
            </p:cNvPr>
            <p:cNvSpPr/>
            <p:nvPr/>
          </p:nvSpPr>
          <p:spPr>
            <a:xfrm>
              <a:off x="2734835" y="3035592"/>
              <a:ext cx="1449271" cy="2404158"/>
            </a:xfrm>
            <a:prstGeom prst="ellipse">
              <a:avLst/>
            </a:prstGeom>
            <a:gradFill flip="none" rotWithShape="1">
              <a:gsLst>
                <a:gs pos="0">
                  <a:srgbClr val="70AD47">
                    <a:lumMod val="40000"/>
                    <a:lumOff val="60000"/>
                    <a:shade val="30000"/>
                    <a:satMod val="115000"/>
                  </a:srgbClr>
                </a:gs>
                <a:gs pos="50000">
                  <a:srgbClr val="70AD47">
                    <a:lumMod val="40000"/>
                    <a:lumOff val="60000"/>
                    <a:shade val="67500"/>
                    <a:satMod val="115000"/>
                  </a:srgbClr>
                </a:gs>
                <a:gs pos="100000">
                  <a:srgbClr val="70AD47">
                    <a:lumMod val="40000"/>
                    <a:lumOff val="60000"/>
                    <a:shade val="100000"/>
                    <a:satMod val="115000"/>
                  </a:srgbClr>
                </a:gs>
              </a:gsLst>
              <a:lin ang="18900000" scaled="1"/>
              <a:tileRect/>
            </a:gra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95" name="Oval 84">
              <a:extLst>
                <a:ext uri="{FF2B5EF4-FFF2-40B4-BE49-F238E27FC236}">
                  <a16:creationId xmlns:a16="http://schemas.microsoft.com/office/drawing/2014/main" id="{869487EF-6FC8-A77B-776F-2FC18AECD853}"/>
                </a:ext>
              </a:extLst>
            </p:cNvPr>
            <p:cNvSpPr>
              <a:spLocks noChangeArrowheads="1"/>
            </p:cNvSpPr>
            <p:nvPr/>
          </p:nvSpPr>
          <p:spPr bwMode="auto">
            <a:xfrm>
              <a:off x="968871" y="4347271"/>
              <a:ext cx="350838" cy="393700"/>
            </a:xfrm>
            <a:prstGeom prst="ellipse">
              <a:avLst/>
            </a:prstGeom>
            <a:noFill/>
            <a:ln w="25400">
              <a:solidFill>
                <a:sysClr val="window" lastClr="FFFFFF"/>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defTabSz="457200" eaLnBrk="1" fontAlgn="auto" latinLnBrk="0" hangingPunct="1">
                <a:lnSpc>
                  <a:spcPct val="100000"/>
                </a:lnSpc>
                <a:spcBef>
                  <a:spcPct val="0"/>
                </a:spcBef>
                <a:spcAft>
                  <a:spcPts val="0"/>
                </a:spcAft>
                <a:buClrTx/>
                <a:buSzTx/>
                <a:buFontTx/>
                <a:buNone/>
                <a:tabLst/>
                <a:defRPr/>
              </a:pPr>
              <a:endParaRPr kumimoji="1" lang="ja-JP" altLang="ja-JP"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96" name="Rectangle 378">
              <a:extLst>
                <a:ext uri="{FF2B5EF4-FFF2-40B4-BE49-F238E27FC236}">
                  <a16:creationId xmlns:a16="http://schemas.microsoft.com/office/drawing/2014/main" id="{4308CC69-BB15-FF85-6FDB-B54EA7C16B0E}"/>
                </a:ext>
              </a:extLst>
            </p:cNvPr>
            <p:cNvSpPr>
              <a:spLocks noChangeArrowheads="1"/>
            </p:cNvSpPr>
            <p:nvPr/>
          </p:nvSpPr>
          <p:spPr bwMode="auto">
            <a:xfrm>
              <a:off x="857746" y="4122243"/>
              <a:ext cx="1152525" cy="792163"/>
            </a:xfrm>
            <a:prstGeom prst="rect">
              <a:avLst/>
            </a:prstGeom>
            <a:solidFill>
              <a:srgbClr val="CCFFFF"/>
            </a:solidFill>
            <a:ln>
              <a:noFill/>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97" name="Arc 379">
              <a:extLst>
                <a:ext uri="{FF2B5EF4-FFF2-40B4-BE49-F238E27FC236}">
                  <a16:creationId xmlns:a16="http://schemas.microsoft.com/office/drawing/2014/main" id="{043C0A1C-4BA2-F683-807D-98DE016B95CF}"/>
                </a:ext>
              </a:extLst>
            </p:cNvPr>
            <p:cNvSpPr>
              <a:spLocks/>
            </p:cNvSpPr>
            <p:nvPr/>
          </p:nvSpPr>
          <p:spPr bwMode="auto">
            <a:xfrm flipH="1" flipV="1">
              <a:off x="857746" y="4888609"/>
              <a:ext cx="576263" cy="29051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CCFFFF"/>
            </a:solidFill>
            <a:ln w="19050">
              <a:solidFill>
                <a:sysClr val="windowText" lastClr="000000"/>
              </a:solidFill>
              <a:round/>
              <a:headEnd/>
              <a:tailEnd/>
            </a:ln>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98" name="Line 380">
              <a:extLst>
                <a:ext uri="{FF2B5EF4-FFF2-40B4-BE49-F238E27FC236}">
                  <a16:creationId xmlns:a16="http://schemas.microsoft.com/office/drawing/2014/main" id="{C716EE9A-93E7-ECF3-0440-BFEA848E3EA0}"/>
                </a:ext>
              </a:extLst>
            </p:cNvPr>
            <p:cNvSpPr>
              <a:spLocks noChangeShapeType="1"/>
            </p:cNvSpPr>
            <p:nvPr/>
          </p:nvSpPr>
          <p:spPr bwMode="auto">
            <a:xfrm>
              <a:off x="857746" y="3890071"/>
              <a:ext cx="0" cy="1008063"/>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99" name="Line 381">
              <a:extLst>
                <a:ext uri="{FF2B5EF4-FFF2-40B4-BE49-F238E27FC236}">
                  <a16:creationId xmlns:a16="http://schemas.microsoft.com/office/drawing/2014/main" id="{C240F2CF-C522-656C-BB6B-66D8A76815D9}"/>
                </a:ext>
              </a:extLst>
            </p:cNvPr>
            <p:cNvSpPr>
              <a:spLocks noChangeShapeType="1"/>
            </p:cNvSpPr>
            <p:nvPr/>
          </p:nvSpPr>
          <p:spPr bwMode="auto">
            <a:xfrm>
              <a:off x="857746" y="4096446"/>
              <a:ext cx="1152525"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grpSp>
          <p:nvGrpSpPr>
            <p:cNvPr id="100" name="Group 382">
              <a:extLst>
                <a:ext uri="{FF2B5EF4-FFF2-40B4-BE49-F238E27FC236}">
                  <a16:creationId xmlns:a16="http://schemas.microsoft.com/office/drawing/2014/main" id="{CF6C53B8-BD26-7AC3-BE13-99492D335826}"/>
                </a:ext>
              </a:extLst>
            </p:cNvPr>
            <p:cNvGrpSpPr>
              <a:grpSpLocks/>
            </p:cNvGrpSpPr>
            <p:nvPr/>
          </p:nvGrpSpPr>
          <p:grpSpPr bwMode="auto">
            <a:xfrm>
              <a:off x="895846" y="4174234"/>
              <a:ext cx="215900" cy="125413"/>
              <a:chOff x="1565" y="3158"/>
              <a:chExt cx="136" cy="79"/>
            </a:xfrm>
          </p:grpSpPr>
          <p:sp>
            <p:nvSpPr>
              <p:cNvPr id="168" name="Line 383">
                <a:extLst>
                  <a:ext uri="{FF2B5EF4-FFF2-40B4-BE49-F238E27FC236}">
                    <a16:creationId xmlns:a16="http://schemas.microsoft.com/office/drawing/2014/main" id="{3A6E5F84-38AA-0A2F-F384-92C757CA1409}"/>
                  </a:ext>
                </a:extLst>
              </p:cNvPr>
              <p:cNvSpPr>
                <a:spLocks noChangeShapeType="1"/>
              </p:cNvSpPr>
              <p:nvPr/>
            </p:nvSpPr>
            <p:spPr bwMode="auto">
              <a:xfrm>
                <a:off x="1565" y="3158"/>
                <a:ext cx="136"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9" name="Line 384">
                <a:extLst>
                  <a:ext uri="{FF2B5EF4-FFF2-40B4-BE49-F238E27FC236}">
                    <a16:creationId xmlns:a16="http://schemas.microsoft.com/office/drawing/2014/main" id="{A2BFB741-7BC8-CE58-9D1A-5FCEA0FFCBFD}"/>
                  </a:ext>
                </a:extLst>
              </p:cNvPr>
              <p:cNvSpPr>
                <a:spLocks noChangeShapeType="1"/>
              </p:cNvSpPr>
              <p:nvPr/>
            </p:nvSpPr>
            <p:spPr bwMode="auto">
              <a:xfrm>
                <a:off x="1588" y="3197"/>
                <a:ext cx="9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70" name="Line 385">
                <a:extLst>
                  <a:ext uri="{FF2B5EF4-FFF2-40B4-BE49-F238E27FC236}">
                    <a16:creationId xmlns:a16="http://schemas.microsoft.com/office/drawing/2014/main" id="{C0ECBEFF-7EE2-4EC0-7F87-0E4A523C9881}"/>
                  </a:ext>
                </a:extLst>
              </p:cNvPr>
              <p:cNvSpPr>
                <a:spLocks noChangeShapeType="1"/>
              </p:cNvSpPr>
              <p:nvPr/>
            </p:nvSpPr>
            <p:spPr bwMode="auto">
              <a:xfrm>
                <a:off x="1599" y="3237"/>
                <a:ext cx="69"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grpSp>
        <p:sp>
          <p:nvSpPr>
            <p:cNvPr id="101" name="Arc 386">
              <a:extLst>
                <a:ext uri="{FF2B5EF4-FFF2-40B4-BE49-F238E27FC236}">
                  <a16:creationId xmlns:a16="http://schemas.microsoft.com/office/drawing/2014/main" id="{AD34E329-0980-DF96-48A6-975590E0F825}"/>
                </a:ext>
              </a:extLst>
            </p:cNvPr>
            <p:cNvSpPr>
              <a:spLocks/>
            </p:cNvSpPr>
            <p:nvPr/>
          </p:nvSpPr>
          <p:spPr bwMode="auto">
            <a:xfrm flipV="1">
              <a:off x="1429246" y="4883846"/>
              <a:ext cx="576263" cy="29051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CCFFFF"/>
            </a:solidFill>
            <a:ln w="19050">
              <a:solidFill>
                <a:sysClr val="windowText" lastClr="000000"/>
              </a:solidFill>
              <a:round/>
              <a:headEnd/>
              <a:tailEnd/>
            </a:ln>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02" name="Line 387">
              <a:extLst>
                <a:ext uri="{FF2B5EF4-FFF2-40B4-BE49-F238E27FC236}">
                  <a16:creationId xmlns:a16="http://schemas.microsoft.com/office/drawing/2014/main" id="{705837F5-C07D-3285-870B-F7A68159B2E9}"/>
                </a:ext>
              </a:extLst>
            </p:cNvPr>
            <p:cNvSpPr>
              <a:spLocks noChangeShapeType="1"/>
            </p:cNvSpPr>
            <p:nvPr/>
          </p:nvSpPr>
          <p:spPr bwMode="auto">
            <a:xfrm>
              <a:off x="2002205" y="3926009"/>
              <a:ext cx="0" cy="1008063"/>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03" name="Line 389">
              <a:extLst>
                <a:ext uri="{FF2B5EF4-FFF2-40B4-BE49-F238E27FC236}">
                  <a16:creationId xmlns:a16="http://schemas.microsoft.com/office/drawing/2014/main" id="{87CFD3DA-A3AD-6FB8-2A65-062CB2E849DB}"/>
                </a:ext>
              </a:extLst>
            </p:cNvPr>
            <p:cNvSpPr>
              <a:spLocks noChangeShapeType="1"/>
            </p:cNvSpPr>
            <p:nvPr/>
          </p:nvSpPr>
          <p:spPr bwMode="auto">
            <a:xfrm flipH="1">
              <a:off x="1461788" y="4299647"/>
              <a:ext cx="3969" cy="142874"/>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04" name="Text Box 390">
              <a:extLst>
                <a:ext uri="{FF2B5EF4-FFF2-40B4-BE49-F238E27FC236}">
                  <a16:creationId xmlns:a16="http://schemas.microsoft.com/office/drawing/2014/main" id="{45EC44A8-6E84-6B37-987B-DB697E323A74}"/>
                </a:ext>
              </a:extLst>
            </p:cNvPr>
            <p:cNvSpPr txBox="1">
              <a:spLocks noChangeArrowheads="1"/>
            </p:cNvSpPr>
            <p:nvPr/>
          </p:nvSpPr>
          <p:spPr bwMode="auto">
            <a:xfrm>
              <a:off x="1201439" y="4042471"/>
              <a:ext cx="7381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炉心</a:t>
              </a:r>
            </a:p>
          </p:txBody>
        </p:sp>
        <p:grpSp>
          <p:nvGrpSpPr>
            <p:cNvPr id="105" name="Group 393">
              <a:extLst>
                <a:ext uri="{FF2B5EF4-FFF2-40B4-BE49-F238E27FC236}">
                  <a16:creationId xmlns:a16="http://schemas.microsoft.com/office/drawing/2014/main" id="{E195F5EA-46E1-C309-A417-AC3999440E97}"/>
                </a:ext>
              </a:extLst>
            </p:cNvPr>
            <p:cNvGrpSpPr>
              <a:grpSpLocks/>
            </p:cNvGrpSpPr>
            <p:nvPr/>
          </p:nvGrpSpPr>
          <p:grpSpPr bwMode="auto">
            <a:xfrm>
              <a:off x="1218108" y="4447284"/>
              <a:ext cx="431800" cy="574675"/>
              <a:chOff x="3878" y="2614"/>
              <a:chExt cx="272" cy="362"/>
            </a:xfrm>
          </p:grpSpPr>
          <p:sp>
            <p:nvSpPr>
              <p:cNvPr id="162" name="Rectangle 394">
                <a:extLst>
                  <a:ext uri="{FF2B5EF4-FFF2-40B4-BE49-F238E27FC236}">
                    <a16:creationId xmlns:a16="http://schemas.microsoft.com/office/drawing/2014/main" id="{606E9F30-ADA1-EB32-1864-534D71464461}"/>
                  </a:ext>
                </a:extLst>
              </p:cNvPr>
              <p:cNvSpPr>
                <a:spLocks noChangeArrowheads="1"/>
              </p:cNvSpPr>
              <p:nvPr/>
            </p:nvSpPr>
            <p:spPr bwMode="auto">
              <a:xfrm>
                <a:off x="3878" y="2614"/>
                <a:ext cx="272" cy="362"/>
              </a:xfrm>
              <a:prstGeom prst="rect">
                <a:avLst/>
              </a:prstGeom>
              <a:solidFill>
                <a:srgbClr val="FF99CC"/>
              </a:solidFill>
              <a:ln w="19050">
                <a:solidFill>
                  <a:sysClr val="windowText" lastClr="000000"/>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163" name="Line 395">
                <a:extLst>
                  <a:ext uri="{FF2B5EF4-FFF2-40B4-BE49-F238E27FC236}">
                    <a16:creationId xmlns:a16="http://schemas.microsoft.com/office/drawing/2014/main" id="{DF268860-06B1-6AB7-933F-AF72CB25CDA1}"/>
                  </a:ext>
                </a:extLst>
              </p:cNvPr>
              <p:cNvSpPr>
                <a:spLocks noChangeShapeType="1"/>
              </p:cNvSpPr>
              <p:nvPr/>
            </p:nvSpPr>
            <p:spPr bwMode="auto">
              <a:xfrm>
                <a:off x="3923" y="2614"/>
                <a:ext cx="0" cy="3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4" name="Line 396">
                <a:extLst>
                  <a:ext uri="{FF2B5EF4-FFF2-40B4-BE49-F238E27FC236}">
                    <a16:creationId xmlns:a16="http://schemas.microsoft.com/office/drawing/2014/main" id="{D7805003-50F1-F714-E986-30FDDD5BD681}"/>
                  </a:ext>
                </a:extLst>
              </p:cNvPr>
              <p:cNvSpPr>
                <a:spLocks noChangeShapeType="1"/>
              </p:cNvSpPr>
              <p:nvPr/>
            </p:nvSpPr>
            <p:spPr bwMode="auto">
              <a:xfrm>
                <a:off x="3969" y="2614"/>
                <a:ext cx="0" cy="3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5" name="Line 397">
                <a:extLst>
                  <a:ext uri="{FF2B5EF4-FFF2-40B4-BE49-F238E27FC236}">
                    <a16:creationId xmlns:a16="http://schemas.microsoft.com/office/drawing/2014/main" id="{4C0634BC-1E15-9C37-3730-282C1E4524CB}"/>
                  </a:ext>
                </a:extLst>
              </p:cNvPr>
              <p:cNvSpPr>
                <a:spLocks noChangeShapeType="1"/>
              </p:cNvSpPr>
              <p:nvPr/>
            </p:nvSpPr>
            <p:spPr bwMode="auto">
              <a:xfrm>
                <a:off x="4014" y="2614"/>
                <a:ext cx="0" cy="3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6" name="Line 398">
                <a:extLst>
                  <a:ext uri="{FF2B5EF4-FFF2-40B4-BE49-F238E27FC236}">
                    <a16:creationId xmlns:a16="http://schemas.microsoft.com/office/drawing/2014/main" id="{06BBCA4C-348D-2ACC-5F5C-6A8B406C647A}"/>
                  </a:ext>
                </a:extLst>
              </p:cNvPr>
              <p:cNvSpPr>
                <a:spLocks noChangeShapeType="1"/>
              </p:cNvSpPr>
              <p:nvPr/>
            </p:nvSpPr>
            <p:spPr bwMode="auto">
              <a:xfrm>
                <a:off x="4059" y="2614"/>
                <a:ext cx="0" cy="3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7" name="Line 399">
                <a:extLst>
                  <a:ext uri="{FF2B5EF4-FFF2-40B4-BE49-F238E27FC236}">
                    <a16:creationId xmlns:a16="http://schemas.microsoft.com/office/drawing/2014/main" id="{102C5B3F-1E2E-3413-7BF2-207BFAB6F137}"/>
                  </a:ext>
                </a:extLst>
              </p:cNvPr>
              <p:cNvSpPr>
                <a:spLocks noChangeShapeType="1"/>
              </p:cNvSpPr>
              <p:nvPr/>
            </p:nvSpPr>
            <p:spPr bwMode="auto">
              <a:xfrm>
                <a:off x="4105" y="2614"/>
                <a:ext cx="0" cy="3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grpSp>
        <p:cxnSp>
          <p:nvCxnSpPr>
            <p:cNvPr id="106" name="直線コネクタ 26">
              <a:extLst>
                <a:ext uri="{FF2B5EF4-FFF2-40B4-BE49-F238E27FC236}">
                  <a16:creationId xmlns:a16="http://schemas.microsoft.com/office/drawing/2014/main" id="{345728C8-AA4B-46F8-5905-90C81D0F5A08}"/>
                </a:ext>
              </a:extLst>
            </p:cNvPr>
            <p:cNvCxnSpPr>
              <a:cxnSpLocks/>
            </p:cNvCxnSpPr>
            <p:nvPr/>
          </p:nvCxnSpPr>
          <p:spPr>
            <a:xfrm flipV="1">
              <a:off x="1689596" y="4401246"/>
              <a:ext cx="431799" cy="284203"/>
            </a:xfrm>
            <a:prstGeom prst="line">
              <a:avLst/>
            </a:prstGeom>
            <a:noFill/>
            <a:ln w="28575" cap="flat" cmpd="sng" algn="ctr">
              <a:solidFill>
                <a:sysClr val="windowText" lastClr="000000"/>
              </a:solidFill>
              <a:prstDash val="solid"/>
              <a:miter lim="800000"/>
            </a:ln>
            <a:effectLst/>
          </p:spPr>
        </p:cxnSp>
        <p:cxnSp>
          <p:nvCxnSpPr>
            <p:cNvPr id="107" name="直線コネクタ 27">
              <a:extLst>
                <a:ext uri="{FF2B5EF4-FFF2-40B4-BE49-F238E27FC236}">
                  <a16:creationId xmlns:a16="http://schemas.microsoft.com/office/drawing/2014/main" id="{04B2CA0B-9881-E5CA-029B-7001D71AD388}"/>
                </a:ext>
              </a:extLst>
            </p:cNvPr>
            <p:cNvCxnSpPr>
              <a:cxnSpLocks/>
            </p:cNvCxnSpPr>
            <p:nvPr/>
          </p:nvCxnSpPr>
          <p:spPr>
            <a:xfrm>
              <a:off x="1680070" y="4688880"/>
              <a:ext cx="465138" cy="313156"/>
            </a:xfrm>
            <a:prstGeom prst="line">
              <a:avLst/>
            </a:prstGeom>
            <a:noFill/>
            <a:ln w="28575" cap="flat" cmpd="sng" algn="ctr">
              <a:solidFill>
                <a:sysClr val="windowText" lastClr="000000"/>
              </a:solidFill>
              <a:prstDash val="solid"/>
              <a:miter lim="800000"/>
            </a:ln>
            <a:effectLst/>
          </p:spPr>
        </p:cxnSp>
        <p:sp>
          <p:nvSpPr>
            <p:cNvPr id="108" name="Text Box 390">
              <a:extLst>
                <a:ext uri="{FF2B5EF4-FFF2-40B4-BE49-F238E27FC236}">
                  <a16:creationId xmlns:a16="http://schemas.microsoft.com/office/drawing/2014/main" id="{03484EDE-BC80-6A96-AFA6-1368023F29B0}"/>
                </a:ext>
              </a:extLst>
            </p:cNvPr>
            <p:cNvSpPr txBox="1">
              <a:spLocks noChangeArrowheads="1"/>
            </p:cNvSpPr>
            <p:nvPr/>
          </p:nvSpPr>
          <p:spPr bwMode="auto">
            <a:xfrm>
              <a:off x="919684" y="5257640"/>
              <a:ext cx="10905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原子炉容器</a:t>
              </a:r>
            </a:p>
          </p:txBody>
        </p:sp>
        <p:sp>
          <p:nvSpPr>
            <p:cNvPr id="109" name="Rectangle 394">
              <a:extLst>
                <a:ext uri="{FF2B5EF4-FFF2-40B4-BE49-F238E27FC236}">
                  <a16:creationId xmlns:a16="http://schemas.microsoft.com/office/drawing/2014/main" id="{739DAE57-94E8-CB1F-402D-894B1D7AC8AB}"/>
                </a:ext>
              </a:extLst>
            </p:cNvPr>
            <p:cNvSpPr>
              <a:spLocks noChangeArrowheads="1"/>
            </p:cNvSpPr>
            <p:nvPr/>
          </p:nvSpPr>
          <p:spPr bwMode="auto">
            <a:xfrm>
              <a:off x="2287422" y="4209860"/>
              <a:ext cx="728655" cy="1097765"/>
            </a:xfrm>
            <a:prstGeom prst="rect">
              <a:avLst/>
            </a:prstGeom>
            <a:solidFill>
              <a:srgbClr val="FF99CC"/>
            </a:solidFill>
            <a:ln w="19050">
              <a:solidFill>
                <a:sysClr val="windowText" lastClr="000000"/>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110" name="フローチャート: 手作業 30">
              <a:extLst>
                <a:ext uri="{FF2B5EF4-FFF2-40B4-BE49-F238E27FC236}">
                  <a16:creationId xmlns:a16="http://schemas.microsoft.com/office/drawing/2014/main" id="{4F191C4E-0C20-A7B0-A8A9-60E58B243CC7}"/>
                </a:ext>
              </a:extLst>
            </p:cNvPr>
            <p:cNvSpPr/>
            <p:nvPr/>
          </p:nvSpPr>
          <p:spPr bwMode="auto">
            <a:xfrm>
              <a:off x="2287423" y="5301933"/>
              <a:ext cx="728654" cy="172323"/>
            </a:xfrm>
            <a:prstGeom prst="flowChartManualOperation">
              <a:avLst/>
            </a:prstGeom>
            <a:solidFill>
              <a:srgbClr val="FF99CC"/>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grpSp>
          <p:nvGrpSpPr>
            <p:cNvPr id="111" name="グループ化 31">
              <a:extLst>
                <a:ext uri="{FF2B5EF4-FFF2-40B4-BE49-F238E27FC236}">
                  <a16:creationId xmlns:a16="http://schemas.microsoft.com/office/drawing/2014/main" id="{157166B8-CE81-8F9C-E190-2D1C7C5DDF3F}"/>
                </a:ext>
              </a:extLst>
            </p:cNvPr>
            <p:cNvGrpSpPr/>
            <p:nvPr/>
          </p:nvGrpSpPr>
          <p:grpSpPr>
            <a:xfrm>
              <a:off x="2433539" y="5486059"/>
              <a:ext cx="436420" cy="215900"/>
              <a:chOff x="2967026" y="2602882"/>
              <a:chExt cx="436420" cy="215900"/>
            </a:xfrm>
          </p:grpSpPr>
          <p:sp>
            <p:nvSpPr>
              <p:cNvPr id="158" name="Rectangle 394">
                <a:extLst>
                  <a:ext uri="{FF2B5EF4-FFF2-40B4-BE49-F238E27FC236}">
                    <a16:creationId xmlns:a16="http://schemas.microsoft.com/office/drawing/2014/main" id="{F4497C25-F51C-B682-1F41-DA5A96335D6A}"/>
                  </a:ext>
                </a:extLst>
              </p:cNvPr>
              <p:cNvSpPr>
                <a:spLocks noChangeArrowheads="1"/>
              </p:cNvSpPr>
              <p:nvPr/>
            </p:nvSpPr>
            <p:spPr bwMode="auto">
              <a:xfrm>
                <a:off x="2967026" y="2602882"/>
                <a:ext cx="436420" cy="215900"/>
              </a:xfrm>
              <a:prstGeom prst="rect">
                <a:avLst/>
              </a:prstGeom>
              <a:solidFill>
                <a:srgbClr val="FF99CC"/>
              </a:solidFill>
              <a:ln w="19050">
                <a:solidFill>
                  <a:sysClr val="windowText" lastClr="000000"/>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159" name="フローチャート: 結合子 33">
                <a:extLst>
                  <a:ext uri="{FF2B5EF4-FFF2-40B4-BE49-F238E27FC236}">
                    <a16:creationId xmlns:a16="http://schemas.microsoft.com/office/drawing/2014/main" id="{9B05B51B-6109-2147-FD9D-B8604A907FE8}"/>
                  </a:ext>
                </a:extLst>
              </p:cNvPr>
              <p:cNvSpPr>
                <a:spLocks noChangeAspect="1"/>
              </p:cNvSpPr>
              <p:nvPr/>
            </p:nvSpPr>
            <p:spPr bwMode="auto">
              <a:xfrm>
                <a:off x="3001326" y="2655967"/>
                <a:ext cx="109730" cy="109730"/>
              </a:xfrm>
              <a:prstGeom prst="flowChartConnector">
                <a:avLst/>
              </a:prstGeom>
              <a:solidFill>
                <a:srgbClr val="CC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0" name="フローチャート: 結合子 34">
                <a:extLst>
                  <a:ext uri="{FF2B5EF4-FFF2-40B4-BE49-F238E27FC236}">
                    <a16:creationId xmlns:a16="http://schemas.microsoft.com/office/drawing/2014/main" id="{55F4BBBA-4FFF-35AB-8B18-0BD160CEB2C9}"/>
                  </a:ext>
                </a:extLst>
              </p:cNvPr>
              <p:cNvSpPr>
                <a:spLocks noChangeAspect="1"/>
              </p:cNvSpPr>
              <p:nvPr/>
            </p:nvSpPr>
            <p:spPr bwMode="auto">
              <a:xfrm>
                <a:off x="3130371" y="2655967"/>
                <a:ext cx="109730" cy="109730"/>
              </a:xfrm>
              <a:prstGeom prst="flowChartConnector">
                <a:avLst/>
              </a:prstGeom>
              <a:solidFill>
                <a:srgbClr val="CC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61" name="フローチャート: 結合子 35">
                <a:extLst>
                  <a:ext uri="{FF2B5EF4-FFF2-40B4-BE49-F238E27FC236}">
                    <a16:creationId xmlns:a16="http://schemas.microsoft.com/office/drawing/2014/main" id="{CEF63229-CBE3-A17E-BCB5-CE9DB87BC933}"/>
                  </a:ext>
                </a:extLst>
              </p:cNvPr>
              <p:cNvSpPr>
                <a:spLocks noChangeAspect="1"/>
              </p:cNvSpPr>
              <p:nvPr/>
            </p:nvSpPr>
            <p:spPr bwMode="auto">
              <a:xfrm>
                <a:off x="3255302" y="2655967"/>
                <a:ext cx="109730" cy="109730"/>
              </a:xfrm>
              <a:prstGeom prst="flowChartConnector">
                <a:avLst/>
              </a:prstGeom>
              <a:solidFill>
                <a:srgbClr val="CC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grpSp>
        <p:sp>
          <p:nvSpPr>
            <p:cNvPr id="112" name="Text Box 390">
              <a:extLst>
                <a:ext uri="{FF2B5EF4-FFF2-40B4-BE49-F238E27FC236}">
                  <a16:creationId xmlns:a16="http://schemas.microsoft.com/office/drawing/2014/main" id="{229CB73F-114D-FC2F-3803-C985212392E1}"/>
                </a:ext>
              </a:extLst>
            </p:cNvPr>
            <p:cNvSpPr txBox="1">
              <a:spLocks noChangeArrowheads="1"/>
            </p:cNvSpPr>
            <p:nvPr/>
          </p:nvSpPr>
          <p:spPr bwMode="auto">
            <a:xfrm>
              <a:off x="2277213" y="5703713"/>
              <a:ext cx="7286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健全</a:t>
              </a:r>
            </a:p>
          </p:txBody>
        </p:sp>
        <p:sp>
          <p:nvSpPr>
            <p:cNvPr id="113" name="Text Box 390">
              <a:extLst>
                <a:ext uri="{FF2B5EF4-FFF2-40B4-BE49-F238E27FC236}">
                  <a16:creationId xmlns:a16="http://schemas.microsoft.com/office/drawing/2014/main" id="{6C5EADDC-001E-2C16-2226-E2ED93F1F6B7}"/>
                </a:ext>
              </a:extLst>
            </p:cNvPr>
            <p:cNvSpPr txBox="1">
              <a:spLocks noChangeArrowheads="1"/>
            </p:cNvSpPr>
            <p:nvPr/>
          </p:nvSpPr>
          <p:spPr bwMode="auto">
            <a:xfrm>
              <a:off x="2126826" y="4517201"/>
              <a:ext cx="10905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燃料</a:t>
              </a:r>
              <a:endParaRPr lang="en-US" altLang="ja-JP" sz="1400" dirty="0">
                <a:solidFill>
                  <a:prstClr val="black"/>
                </a:solidFill>
                <a:latin typeface="HGMaruGothicMPRO" panose="020F0600000000000000" pitchFamily="34" charset="-128"/>
                <a:ea typeface="HGMaruGothicMPRO" panose="020F0600000000000000" pitchFamily="34" charset="-128"/>
              </a:endParaRPr>
            </a:p>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集合体</a:t>
              </a:r>
            </a:p>
          </p:txBody>
        </p:sp>
        <p:sp>
          <p:nvSpPr>
            <p:cNvPr id="114" name="Text Box 390">
              <a:extLst>
                <a:ext uri="{FF2B5EF4-FFF2-40B4-BE49-F238E27FC236}">
                  <a16:creationId xmlns:a16="http://schemas.microsoft.com/office/drawing/2014/main" id="{4E7430A4-6606-C1EB-E681-AD2EFD44A605}"/>
                </a:ext>
              </a:extLst>
            </p:cNvPr>
            <p:cNvSpPr txBox="1">
              <a:spLocks noChangeArrowheads="1"/>
            </p:cNvSpPr>
            <p:nvPr/>
          </p:nvSpPr>
          <p:spPr bwMode="auto">
            <a:xfrm>
              <a:off x="1739029" y="2975756"/>
              <a:ext cx="8123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流量計</a:t>
              </a:r>
            </a:p>
          </p:txBody>
        </p:sp>
        <p:sp>
          <p:nvSpPr>
            <p:cNvPr id="115" name="フローチャート: 手作業 39">
              <a:extLst>
                <a:ext uri="{FF2B5EF4-FFF2-40B4-BE49-F238E27FC236}">
                  <a16:creationId xmlns:a16="http://schemas.microsoft.com/office/drawing/2014/main" id="{F25C09BE-8149-C3D3-49C2-2FA5B3F0684A}"/>
                </a:ext>
              </a:extLst>
            </p:cNvPr>
            <p:cNvSpPr/>
            <p:nvPr/>
          </p:nvSpPr>
          <p:spPr bwMode="auto">
            <a:xfrm>
              <a:off x="3050379" y="5307824"/>
              <a:ext cx="728654" cy="172323"/>
            </a:xfrm>
            <a:prstGeom prst="flowChartManualOperation">
              <a:avLst/>
            </a:prstGeom>
            <a:solidFill>
              <a:srgbClr val="FF99CC"/>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16" name="Rectangle 394">
              <a:extLst>
                <a:ext uri="{FF2B5EF4-FFF2-40B4-BE49-F238E27FC236}">
                  <a16:creationId xmlns:a16="http://schemas.microsoft.com/office/drawing/2014/main" id="{07E483BC-6E9A-AD1F-3A5B-A982A6E17683}"/>
                </a:ext>
              </a:extLst>
            </p:cNvPr>
            <p:cNvSpPr>
              <a:spLocks noChangeArrowheads="1"/>
            </p:cNvSpPr>
            <p:nvPr/>
          </p:nvSpPr>
          <p:spPr bwMode="auto">
            <a:xfrm>
              <a:off x="3196495" y="5491950"/>
              <a:ext cx="436420" cy="215900"/>
            </a:xfrm>
            <a:prstGeom prst="rect">
              <a:avLst/>
            </a:prstGeom>
            <a:solidFill>
              <a:srgbClr val="FF99CC"/>
            </a:solidFill>
            <a:ln w="19050">
              <a:solidFill>
                <a:sysClr val="windowText" lastClr="000000"/>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sp>
          <p:nvSpPr>
            <p:cNvPr id="117" name="フローチャート: 結合子 41">
              <a:extLst>
                <a:ext uri="{FF2B5EF4-FFF2-40B4-BE49-F238E27FC236}">
                  <a16:creationId xmlns:a16="http://schemas.microsoft.com/office/drawing/2014/main" id="{DF9D8593-1A6F-CFE8-354E-20449ED30B33}"/>
                </a:ext>
              </a:extLst>
            </p:cNvPr>
            <p:cNvSpPr>
              <a:spLocks noChangeAspect="1"/>
            </p:cNvSpPr>
            <p:nvPr/>
          </p:nvSpPr>
          <p:spPr bwMode="auto">
            <a:xfrm>
              <a:off x="3230795" y="5545035"/>
              <a:ext cx="109730" cy="109730"/>
            </a:xfrm>
            <a:prstGeom prst="flowChartConnector">
              <a:avLst/>
            </a:prstGeom>
            <a:solidFill>
              <a:sysClr val="window" lastClr="FF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18" name="フローチャート: 結合子 42">
              <a:extLst>
                <a:ext uri="{FF2B5EF4-FFF2-40B4-BE49-F238E27FC236}">
                  <a16:creationId xmlns:a16="http://schemas.microsoft.com/office/drawing/2014/main" id="{C40EBE44-B274-06B8-4780-299193237A36}"/>
                </a:ext>
              </a:extLst>
            </p:cNvPr>
            <p:cNvSpPr>
              <a:spLocks noChangeAspect="1"/>
            </p:cNvSpPr>
            <p:nvPr/>
          </p:nvSpPr>
          <p:spPr bwMode="auto">
            <a:xfrm>
              <a:off x="3359840" y="5545035"/>
              <a:ext cx="109730" cy="109730"/>
            </a:xfrm>
            <a:prstGeom prst="flowChartConnector">
              <a:avLst/>
            </a:prstGeom>
            <a:solidFill>
              <a:sysClr val="window" lastClr="FF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19" name="フローチャート: 結合子 43">
              <a:extLst>
                <a:ext uri="{FF2B5EF4-FFF2-40B4-BE49-F238E27FC236}">
                  <a16:creationId xmlns:a16="http://schemas.microsoft.com/office/drawing/2014/main" id="{9FE7C333-911A-2159-FCD5-39483F8A3E88}"/>
                </a:ext>
              </a:extLst>
            </p:cNvPr>
            <p:cNvSpPr>
              <a:spLocks noChangeAspect="1"/>
            </p:cNvSpPr>
            <p:nvPr/>
          </p:nvSpPr>
          <p:spPr bwMode="auto">
            <a:xfrm>
              <a:off x="3484771" y="5545035"/>
              <a:ext cx="109730" cy="109730"/>
            </a:xfrm>
            <a:prstGeom prst="flowChartConnector">
              <a:avLst/>
            </a:prstGeom>
            <a:solidFill>
              <a:sysClr val="window" lastClr="FFFFFF"/>
            </a:solidFill>
            <a:ln w="19050">
              <a:solidFill>
                <a:sysClr val="windowText" lastClr="000000"/>
              </a:solidFill>
              <a:miter lim="800000"/>
              <a:headEnd/>
              <a:tailEnd/>
            </a:ln>
          </p:spPr>
          <p:txBody>
            <a:bodyPr wrap="none" rtlCol="0" anchor="ct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20" name="雲 44">
              <a:extLst>
                <a:ext uri="{FF2B5EF4-FFF2-40B4-BE49-F238E27FC236}">
                  <a16:creationId xmlns:a16="http://schemas.microsoft.com/office/drawing/2014/main" id="{9E316433-8235-8D71-F0F9-945639AB6FDF}"/>
                </a:ext>
              </a:extLst>
            </p:cNvPr>
            <p:cNvSpPr/>
            <p:nvPr/>
          </p:nvSpPr>
          <p:spPr bwMode="auto">
            <a:xfrm>
              <a:off x="3370611" y="5437728"/>
              <a:ext cx="320642" cy="307777"/>
            </a:xfrm>
            <a:prstGeom prst="cloud">
              <a:avLst/>
            </a:prstGeom>
            <a:solidFill>
              <a:sysClr val="window" lastClr="FFFFFF">
                <a:lumMod val="65000"/>
                <a:alpha val="82000"/>
              </a:sysClr>
            </a:solidFill>
            <a:ln w="19050">
              <a:solidFill>
                <a:sysClr val="window" lastClr="FFFFFF">
                  <a:lumMod val="85000"/>
                </a:sysClr>
              </a:solidFill>
              <a:miter lim="800000"/>
              <a:headEnd/>
              <a:tailEnd/>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21" name="Text Box 390">
              <a:extLst>
                <a:ext uri="{FF2B5EF4-FFF2-40B4-BE49-F238E27FC236}">
                  <a16:creationId xmlns:a16="http://schemas.microsoft.com/office/drawing/2014/main" id="{E7E4892E-0535-416A-FD7E-04AEA98C51C6}"/>
                </a:ext>
              </a:extLst>
            </p:cNvPr>
            <p:cNvSpPr txBox="1">
              <a:spLocks noChangeArrowheads="1"/>
            </p:cNvSpPr>
            <p:nvPr/>
          </p:nvSpPr>
          <p:spPr bwMode="auto">
            <a:xfrm>
              <a:off x="3050378" y="5703086"/>
              <a:ext cx="7286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異常</a:t>
              </a:r>
            </a:p>
          </p:txBody>
        </p:sp>
        <p:sp>
          <p:nvSpPr>
            <p:cNvPr id="122" name="Text Box 390">
              <a:extLst>
                <a:ext uri="{FF2B5EF4-FFF2-40B4-BE49-F238E27FC236}">
                  <a16:creationId xmlns:a16="http://schemas.microsoft.com/office/drawing/2014/main" id="{74F1A387-B8DA-4ED3-1A2A-33A574302581}"/>
                </a:ext>
              </a:extLst>
            </p:cNvPr>
            <p:cNvSpPr txBox="1">
              <a:spLocks noChangeArrowheads="1"/>
            </p:cNvSpPr>
            <p:nvPr/>
          </p:nvSpPr>
          <p:spPr bwMode="auto">
            <a:xfrm>
              <a:off x="3755823" y="5500219"/>
              <a:ext cx="6632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局所閉塞</a:t>
              </a:r>
            </a:p>
          </p:txBody>
        </p:sp>
        <p:sp>
          <p:nvSpPr>
            <p:cNvPr id="123" name="Line 389">
              <a:extLst>
                <a:ext uri="{FF2B5EF4-FFF2-40B4-BE49-F238E27FC236}">
                  <a16:creationId xmlns:a16="http://schemas.microsoft.com/office/drawing/2014/main" id="{0E2FC206-5786-F2F3-7C66-14C2E7233FBF}"/>
                </a:ext>
              </a:extLst>
            </p:cNvPr>
            <p:cNvSpPr>
              <a:spLocks noChangeShapeType="1"/>
            </p:cNvSpPr>
            <p:nvPr/>
          </p:nvSpPr>
          <p:spPr bwMode="auto">
            <a:xfrm flipH="1" flipV="1">
              <a:off x="3609701" y="5597757"/>
              <a:ext cx="238672" cy="74127"/>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alibri" panose="020F0502020204030204"/>
                <a:ea typeface="游ゴシック" panose="020B0400000000000000" pitchFamily="50" charset="-128"/>
              </a:endParaRPr>
            </a:p>
          </p:txBody>
        </p:sp>
        <p:sp>
          <p:nvSpPr>
            <p:cNvPr id="124" name="Rectangle 394">
              <a:extLst>
                <a:ext uri="{FF2B5EF4-FFF2-40B4-BE49-F238E27FC236}">
                  <a16:creationId xmlns:a16="http://schemas.microsoft.com/office/drawing/2014/main" id="{092C3593-9298-A55C-D434-6AB51329C5A6}"/>
                </a:ext>
              </a:extLst>
            </p:cNvPr>
            <p:cNvSpPr>
              <a:spLocks noChangeArrowheads="1"/>
            </p:cNvSpPr>
            <p:nvPr/>
          </p:nvSpPr>
          <p:spPr bwMode="auto">
            <a:xfrm>
              <a:off x="3050377" y="4208584"/>
              <a:ext cx="728655" cy="1097765"/>
            </a:xfrm>
            <a:prstGeom prst="rect">
              <a:avLst/>
            </a:prstGeom>
            <a:gradFill flip="none" rotWithShape="1">
              <a:gsLst>
                <a:gs pos="23000">
                  <a:srgbClr val="FF99CC"/>
                </a:gs>
                <a:gs pos="79000">
                  <a:srgbClr val="FF0000"/>
                </a:gs>
              </a:gsLst>
              <a:lin ang="0" scaled="1"/>
              <a:tileRect/>
            </a:gradFill>
            <a:ln w="19050">
              <a:solidFill>
                <a:sysClr val="windowText" lastClr="000000"/>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endParaRPr>
            </a:p>
          </p:txBody>
        </p:sp>
        <p:grpSp>
          <p:nvGrpSpPr>
            <p:cNvPr id="125" name="グループ化 49">
              <a:extLst>
                <a:ext uri="{FF2B5EF4-FFF2-40B4-BE49-F238E27FC236}">
                  <a16:creationId xmlns:a16="http://schemas.microsoft.com/office/drawing/2014/main" id="{F201770A-0AC6-C2EB-D10C-8827F2A96BA8}"/>
                </a:ext>
              </a:extLst>
            </p:cNvPr>
            <p:cNvGrpSpPr/>
            <p:nvPr/>
          </p:nvGrpSpPr>
          <p:grpSpPr>
            <a:xfrm>
              <a:off x="3416874" y="4210125"/>
              <a:ext cx="329058" cy="1043501"/>
              <a:chOff x="4779087" y="4135006"/>
              <a:chExt cx="415887" cy="1447656"/>
            </a:xfrm>
          </p:grpSpPr>
          <p:sp>
            <p:nvSpPr>
              <p:cNvPr id="149" name="楕円 50">
                <a:extLst>
                  <a:ext uri="{FF2B5EF4-FFF2-40B4-BE49-F238E27FC236}">
                    <a16:creationId xmlns:a16="http://schemas.microsoft.com/office/drawing/2014/main" id="{08980A1C-354C-14B3-F0EC-48121B059EEA}"/>
                  </a:ext>
                </a:extLst>
              </p:cNvPr>
              <p:cNvSpPr/>
              <p:nvPr/>
            </p:nvSpPr>
            <p:spPr>
              <a:xfrm>
                <a:off x="4779087" y="5227460"/>
                <a:ext cx="174084" cy="16835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0" name="楕円 51">
                <a:extLst>
                  <a:ext uri="{FF2B5EF4-FFF2-40B4-BE49-F238E27FC236}">
                    <a16:creationId xmlns:a16="http://schemas.microsoft.com/office/drawing/2014/main" id="{A57CDCAC-4832-3EFB-40BC-4379D72BE794}"/>
                  </a:ext>
                </a:extLst>
              </p:cNvPr>
              <p:cNvSpPr/>
              <p:nvPr/>
            </p:nvSpPr>
            <p:spPr>
              <a:xfrm>
                <a:off x="4813625" y="5059109"/>
                <a:ext cx="174084" cy="16835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1" name="楕円 52">
                <a:extLst>
                  <a:ext uri="{FF2B5EF4-FFF2-40B4-BE49-F238E27FC236}">
                    <a16:creationId xmlns:a16="http://schemas.microsoft.com/office/drawing/2014/main" id="{55D64F3E-752B-BF73-422D-38170A4DAE53}"/>
                  </a:ext>
                </a:extLst>
              </p:cNvPr>
              <p:cNvSpPr/>
              <p:nvPr/>
            </p:nvSpPr>
            <p:spPr>
              <a:xfrm rot="1184919">
                <a:off x="5025548" y="4814234"/>
                <a:ext cx="169426" cy="300350"/>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2" name="楕円 53">
                <a:extLst>
                  <a:ext uri="{FF2B5EF4-FFF2-40B4-BE49-F238E27FC236}">
                    <a16:creationId xmlns:a16="http://schemas.microsoft.com/office/drawing/2014/main" id="{134EE52E-A04E-9B36-F3BF-951113981549}"/>
                  </a:ext>
                </a:extLst>
              </p:cNvPr>
              <p:cNvSpPr/>
              <p:nvPr/>
            </p:nvSpPr>
            <p:spPr>
              <a:xfrm rot="19657697">
                <a:off x="4845552" y="4748403"/>
                <a:ext cx="174084" cy="234674"/>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3" name="楕円 54">
                <a:extLst>
                  <a:ext uri="{FF2B5EF4-FFF2-40B4-BE49-F238E27FC236}">
                    <a16:creationId xmlns:a16="http://schemas.microsoft.com/office/drawing/2014/main" id="{681A4A4E-8CA2-716C-E4A0-5E83C0F7BC04}"/>
                  </a:ext>
                </a:extLst>
              </p:cNvPr>
              <p:cNvSpPr/>
              <p:nvPr/>
            </p:nvSpPr>
            <p:spPr>
              <a:xfrm>
                <a:off x="4842897" y="4305609"/>
                <a:ext cx="174084" cy="16835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4" name="楕円 55">
                <a:extLst>
                  <a:ext uri="{FF2B5EF4-FFF2-40B4-BE49-F238E27FC236}">
                    <a16:creationId xmlns:a16="http://schemas.microsoft.com/office/drawing/2014/main" id="{12067C4A-72DB-1652-A744-31042212A9E1}"/>
                  </a:ext>
                </a:extLst>
              </p:cNvPr>
              <p:cNvSpPr/>
              <p:nvPr/>
            </p:nvSpPr>
            <p:spPr>
              <a:xfrm rot="19762646">
                <a:off x="4866128" y="4501091"/>
                <a:ext cx="207585" cy="16835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5" name="楕円 56">
                <a:extLst>
                  <a:ext uri="{FF2B5EF4-FFF2-40B4-BE49-F238E27FC236}">
                    <a16:creationId xmlns:a16="http://schemas.microsoft.com/office/drawing/2014/main" id="{87D7DAA6-21FF-7F7C-ADC8-DC10FBB15F0B}"/>
                  </a:ext>
                </a:extLst>
              </p:cNvPr>
              <p:cNvSpPr/>
              <p:nvPr/>
            </p:nvSpPr>
            <p:spPr>
              <a:xfrm>
                <a:off x="4808314" y="5496301"/>
                <a:ext cx="92266" cy="8636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6" name="楕円 57">
                <a:extLst>
                  <a:ext uri="{FF2B5EF4-FFF2-40B4-BE49-F238E27FC236}">
                    <a16:creationId xmlns:a16="http://schemas.microsoft.com/office/drawing/2014/main" id="{6B132941-43D0-D482-930D-C5E59DF5F69E}"/>
                  </a:ext>
                </a:extLst>
              </p:cNvPr>
              <p:cNvSpPr/>
              <p:nvPr/>
            </p:nvSpPr>
            <p:spPr>
              <a:xfrm>
                <a:off x="5038146" y="4517835"/>
                <a:ext cx="92266" cy="86361"/>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7" name="楕円 58">
                <a:extLst>
                  <a:ext uri="{FF2B5EF4-FFF2-40B4-BE49-F238E27FC236}">
                    <a16:creationId xmlns:a16="http://schemas.microsoft.com/office/drawing/2014/main" id="{1DB6AE6F-9D84-544F-1B13-438334834ED1}"/>
                  </a:ext>
                </a:extLst>
              </p:cNvPr>
              <p:cNvSpPr/>
              <p:nvPr/>
            </p:nvSpPr>
            <p:spPr>
              <a:xfrm rot="19068007">
                <a:off x="4956039" y="4135006"/>
                <a:ext cx="174084" cy="254986"/>
              </a:xfrm>
              <a:prstGeom prst="ellipse">
                <a:avLst/>
              </a:prstGeom>
              <a:solidFill>
                <a:srgbClr val="4472C4">
                  <a:lumMod val="40000"/>
                  <a:lumOff val="60000"/>
                </a:srgbClr>
              </a:solidFill>
              <a:ln w="12700" cap="flat" cmpd="sng" algn="ctr">
                <a:solidFill>
                  <a:sysClr val="window" lastClr="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white"/>
                  </a:solidFill>
                  <a:effectLst/>
                  <a:uLnTx/>
                  <a:uFillTx/>
                  <a:latin typeface="Calibri" panose="020F0502020204030204"/>
                  <a:ea typeface="游ゴシック" panose="020B0400000000000000" pitchFamily="50" charset="-128"/>
                  <a:cs typeface="+mn-cs"/>
                </a:endParaRPr>
              </a:p>
            </p:txBody>
          </p:sp>
        </p:grpSp>
        <p:sp>
          <p:nvSpPr>
            <p:cNvPr id="126" name="Text Box 390">
              <a:extLst>
                <a:ext uri="{FF2B5EF4-FFF2-40B4-BE49-F238E27FC236}">
                  <a16:creationId xmlns:a16="http://schemas.microsoft.com/office/drawing/2014/main" id="{6CC6A914-BBE1-6B6E-F217-1956B7360EFC}"/>
                </a:ext>
              </a:extLst>
            </p:cNvPr>
            <p:cNvSpPr txBox="1">
              <a:spLocks noChangeArrowheads="1"/>
            </p:cNvSpPr>
            <p:nvPr/>
          </p:nvSpPr>
          <p:spPr bwMode="auto">
            <a:xfrm>
              <a:off x="3876563" y="4577772"/>
              <a:ext cx="189778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b="1">
                  <a:solidFill>
                    <a:srgbClr val="25140F"/>
                  </a:solidFill>
                  <a:latin typeface="HGMaruGothicMPRO" panose="020F0600000000000000" pitchFamily="34" charset="-128"/>
                  <a:ea typeface="HGMaruGothicMPRO" panose="020F0600000000000000" pitchFamily="34" charset="-128"/>
                </a:rPr>
                <a:t>冷却材</a:t>
              </a:r>
              <a:endParaRPr lang="en-US" altLang="ja-JP" sz="1400" b="1" dirty="0">
                <a:solidFill>
                  <a:srgbClr val="25140F"/>
                </a:solidFill>
                <a:latin typeface="HGMaruGothicMPRO" panose="020F0600000000000000" pitchFamily="34" charset="-128"/>
                <a:ea typeface="HGMaruGothicMPRO" panose="020F0600000000000000" pitchFamily="34" charset="-128"/>
              </a:endParaRPr>
            </a:p>
            <a:p>
              <a:pPr defTabSz="457200">
                <a:spcBef>
                  <a:spcPct val="0"/>
                </a:spcBef>
                <a:buFontTx/>
                <a:buNone/>
              </a:pPr>
              <a:r>
                <a:rPr lang="ja-JP" altLang="en-US" sz="1400" b="1">
                  <a:solidFill>
                    <a:srgbClr val="25140F"/>
                  </a:solidFill>
                  <a:latin typeface="HGMaruGothicMPRO" panose="020F0600000000000000" pitchFamily="34" charset="-128"/>
                  <a:ea typeface="HGMaruGothicMPRO" panose="020F0600000000000000" pitchFamily="34" charset="-128"/>
                </a:rPr>
                <a:t>沸騰</a:t>
              </a:r>
              <a:endParaRPr lang="en-US" altLang="ja-JP" sz="1400" b="1" dirty="0">
                <a:solidFill>
                  <a:srgbClr val="25140F"/>
                </a:solidFill>
                <a:latin typeface="HGMaruGothicMPRO" panose="020F0600000000000000" pitchFamily="34" charset="-128"/>
                <a:ea typeface="HGMaruGothicMPRO" panose="020F0600000000000000" pitchFamily="34" charset="-128"/>
              </a:endParaRPr>
            </a:p>
            <a:p>
              <a:pPr defTabSz="457200">
                <a:spcBef>
                  <a:spcPct val="0"/>
                </a:spcBef>
                <a:buFontTx/>
                <a:buNone/>
              </a:pPr>
              <a:endParaRPr lang="en-US" altLang="ja-JP" sz="1400" dirty="0">
                <a:solidFill>
                  <a:prstClr val="black"/>
                </a:solidFill>
                <a:latin typeface="HGMaruGothicMPRO" panose="020F0600000000000000" pitchFamily="34" charset="-128"/>
                <a:ea typeface="HGMaruGothicMPRO" panose="020F0600000000000000" pitchFamily="34" charset="-128"/>
              </a:endParaRPr>
            </a:p>
          </p:txBody>
        </p:sp>
        <p:sp>
          <p:nvSpPr>
            <p:cNvPr id="127" name="矢印: 下 60">
              <a:extLst>
                <a:ext uri="{FF2B5EF4-FFF2-40B4-BE49-F238E27FC236}">
                  <a16:creationId xmlns:a16="http://schemas.microsoft.com/office/drawing/2014/main" id="{1AB1CD8F-1CBD-856F-DBDC-B21CCB08534B}"/>
                </a:ext>
              </a:extLst>
            </p:cNvPr>
            <p:cNvSpPr/>
            <p:nvPr/>
          </p:nvSpPr>
          <p:spPr bwMode="auto">
            <a:xfrm rot="3332715" flipH="1">
              <a:off x="3681967" y="4894383"/>
              <a:ext cx="129423" cy="413593"/>
            </a:xfrm>
            <a:prstGeom prst="downArrow">
              <a:avLst/>
            </a:prstGeom>
            <a:solidFill>
              <a:sysClr val="windowText" lastClr="000000">
                <a:lumMod val="95000"/>
                <a:lumOff val="5000"/>
              </a:sysClr>
            </a:solidFill>
            <a:ln w="19050">
              <a:noFill/>
              <a:miter lim="800000"/>
              <a:headEnd/>
              <a:tailEnd/>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ct val="0"/>
                </a:spcBef>
                <a:spcAft>
                  <a:spcPts val="0"/>
                </a:spcAft>
                <a:buClrTx/>
                <a:buSzTx/>
                <a:buFontTx/>
                <a:buNone/>
                <a:tabLst/>
                <a:defRPr/>
              </a:pPr>
              <a:endParaRPr kumimoji="0" lang="ja-JP" altLang="en-US" sz="1800" b="0" i="0" u="none" strike="noStrike" kern="0" cap="none" spc="0" normalizeH="0" baseline="0" noProof="0" dirty="0">
                <a:ln>
                  <a:noFill/>
                </a:ln>
                <a:solidFill>
                  <a:prstClr val="black"/>
                </a:solidFill>
                <a:effectLst/>
                <a:uLnTx/>
                <a:uFillTx/>
                <a:latin typeface="Calibri" panose="020F0502020204030204"/>
                <a:ea typeface="游ゴシック" panose="020B0400000000000000" pitchFamily="50" charset="-128"/>
              </a:endParaRPr>
            </a:p>
          </p:txBody>
        </p:sp>
        <p:sp>
          <p:nvSpPr>
            <p:cNvPr id="128" name="Text Box 390">
              <a:extLst>
                <a:ext uri="{FF2B5EF4-FFF2-40B4-BE49-F238E27FC236}">
                  <a16:creationId xmlns:a16="http://schemas.microsoft.com/office/drawing/2014/main" id="{A6AD32E4-6850-1AEE-3F03-1F26076C946E}"/>
                </a:ext>
              </a:extLst>
            </p:cNvPr>
            <p:cNvSpPr txBox="1">
              <a:spLocks noChangeArrowheads="1"/>
            </p:cNvSpPr>
            <p:nvPr/>
          </p:nvSpPr>
          <p:spPr bwMode="auto">
            <a:xfrm>
              <a:off x="3747715" y="5075228"/>
              <a:ext cx="13178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a:solidFill>
                    <a:prstClr val="black"/>
                  </a:solidFill>
                  <a:latin typeface="HGMaruGothicMPRO" panose="020F0600000000000000" pitchFamily="34" charset="-128"/>
                  <a:ea typeface="HGMaruGothicMPRO" panose="020F0600000000000000" pitchFamily="34" charset="-128"/>
                </a:rPr>
                <a:t>（音圧発生）</a:t>
              </a:r>
              <a:endParaRPr lang="ja-JP" altLang="en-US" sz="1400" dirty="0">
                <a:solidFill>
                  <a:prstClr val="black"/>
                </a:solidFill>
                <a:latin typeface="HGMaruGothicMPRO" panose="020F0600000000000000" pitchFamily="34" charset="-128"/>
                <a:ea typeface="HGMaruGothicMPRO" panose="020F0600000000000000" pitchFamily="34" charset="-128"/>
              </a:endParaRPr>
            </a:p>
          </p:txBody>
        </p:sp>
        <p:sp>
          <p:nvSpPr>
            <p:cNvPr id="129" name="矢印: ストライプ 62">
              <a:extLst>
                <a:ext uri="{FF2B5EF4-FFF2-40B4-BE49-F238E27FC236}">
                  <a16:creationId xmlns:a16="http://schemas.microsoft.com/office/drawing/2014/main" id="{D215F0E2-9617-95FE-F320-DAE5C31FC17F}"/>
                </a:ext>
              </a:extLst>
            </p:cNvPr>
            <p:cNvSpPr/>
            <p:nvPr/>
          </p:nvSpPr>
          <p:spPr>
            <a:xfrm rot="16200000">
              <a:off x="3235683" y="4008358"/>
              <a:ext cx="307778" cy="270502"/>
            </a:xfrm>
            <a:prstGeom prst="stripedRightArrow">
              <a:avLst/>
            </a:prstGeom>
            <a:solidFill>
              <a:srgbClr val="FF0000"/>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30" name="矢印: ストライプ 63">
              <a:extLst>
                <a:ext uri="{FF2B5EF4-FFF2-40B4-BE49-F238E27FC236}">
                  <a16:creationId xmlns:a16="http://schemas.microsoft.com/office/drawing/2014/main" id="{2B625101-85BB-3C82-AF05-1E9018E41B63}"/>
                </a:ext>
              </a:extLst>
            </p:cNvPr>
            <p:cNvSpPr/>
            <p:nvPr/>
          </p:nvSpPr>
          <p:spPr>
            <a:xfrm rot="16200000">
              <a:off x="2504619" y="4019392"/>
              <a:ext cx="307778" cy="270502"/>
            </a:xfrm>
            <a:prstGeom prst="striped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grpSp>
          <p:nvGrpSpPr>
            <p:cNvPr id="131" name="グループ化 64">
              <a:extLst>
                <a:ext uri="{FF2B5EF4-FFF2-40B4-BE49-F238E27FC236}">
                  <a16:creationId xmlns:a16="http://schemas.microsoft.com/office/drawing/2014/main" id="{843F7ACB-366A-0A3E-144B-DC1551555844}"/>
                </a:ext>
              </a:extLst>
            </p:cNvPr>
            <p:cNvGrpSpPr/>
            <p:nvPr/>
          </p:nvGrpSpPr>
          <p:grpSpPr>
            <a:xfrm>
              <a:off x="2022275" y="3722939"/>
              <a:ext cx="1987604" cy="150012"/>
              <a:chOff x="2457574" y="2354910"/>
              <a:chExt cx="1987604" cy="150012"/>
            </a:xfrm>
          </p:grpSpPr>
          <p:sp>
            <p:nvSpPr>
              <p:cNvPr id="146" name="正方形/長方形 65">
                <a:extLst>
                  <a:ext uri="{FF2B5EF4-FFF2-40B4-BE49-F238E27FC236}">
                    <a16:creationId xmlns:a16="http://schemas.microsoft.com/office/drawing/2014/main" id="{CB0B722E-0739-C352-201E-42F59EB80163}"/>
                  </a:ext>
                </a:extLst>
              </p:cNvPr>
              <p:cNvSpPr/>
              <p:nvPr/>
            </p:nvSpPr>
            <p:spPr>
              <a:xfrm>
                <a:off x="3235345" y="2354910"/>
                <a:ext cx="446877" cy="150012"/>
              </a:xfrm>
              <a:prstGeom prst="rect">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47" name="正方形/長方形 66">
                <a:extLst>
                  <a:ext uri="{FF2B5EF4-FFF2-40B4-BE49-F238E27FC236}">
                    <a16:creationId xmlns:a16="http://schemas.microsoft.com/office/drawing/2014/main" id="{A0F2B659-D9DB-0420-C258-5BB3F68176AB}"/>
                  </a:ext>
                </a:extLst>
              </p:cNvPr>
              <p:cNvSpPr/>
              <p:nvPr/>
            </p:nvSpPr>
            <p:spPr>
              <a:xfrm>
                <a:off x="3998301" y="2354910"/>
                <a:ext cx="446877" cy="150012"/>
              </a:xfrm>
              <a:prstGeom prst="rect">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48" name="正方形/長方形 67">
                <a:extLst>
                  <a:ext uri="{FF2B5EF4-FFF2-40B4-BE49-F238E27FC236}">
                    <a16:creationId xmlns:a16="http://schemas.microsoft.com/office/drawing/2014/main" id="{2A40074B-1F2A-1EAC-BA46-402F10209D9A}"/>
                  </a:ext>
                </a:extLst>
              </p:cNvPr>
              <p:cNvSpPr/>
              <p:nvPr/>
            </p:nvSpPr>
            <p:spPr>
              <a:xfrm>
                <a:off x="2457574" y="2354910"/>
                <a:ext cx="446877" cy="150012"/>
              </a:xfrm>
              <a:prstGeom prst="rect">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grpSp>
        <p:sp>
          <p:nvSpPr>
            <p:cNvPr id="132" name="正方形/長方形 68">
              <a:extLst>
                <a:ext uri="{FF2B5EF4-FFF2-40B4-BE49-F238E27FC236}">
                  <a16:creationId xmlns:a16="http://schemas.microsoft.com/office/drawing/2014/main" id="{9DD6DABC-837E-7196-B5A6-FD7160AE3863}"/>
                </a:ext>
              </a:extLst>
            </p:cNvPr>
            <p:cNvSpPr/>
            <p:nvPr/>
          </p:nvSpPr>
          <p:spPr>
            <a:xfrm rot="5400000">
              <a:off x="2497637" y="3538919"/>
              <a:ext cx="298443" cy="97326"/>
            </a:xfrm>
            <a:prstGeom prst="rect">
              <a:avLst/>
            </a:prstGeom>
            <a:solidFill>
              <a:sysClr val="windowText" lastClr="000000">
                <a:lumMod val="50000"/>
                <a:lumOff val="50000"/>
              </a:sysClr>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33" name="正方形/長方形 69">
              <a:extLst>
                <a:ext uri="{FF2B5EF4-FFF2-40B4-BE49-F238E27FC236}">
                  <a16:creationId xmlns:a16="http://schemas.microsoft.com/office/drawing/2014/main" id="{C11743AB-C17A-3766-D55B-F1AF3B372EFF}"/>
                </a:ext>
              </a:extLst>
            </p:cNvPr>
            <p:cNvSpPr/>
            <p:nvPr/>
          </p:nvSpPr>
          <p:spPr>
            <a:xfrm rot="5400000">
              <a:off x="2456084" y="2996325"/>
              <a:ext cx="344838" cy="205971"/>
            </a:xfrm>
            <a:prstGeom prst="rect">
              <a:avLst/>
            </a:prstGeom>
            <a:solidFill>
              <a:sysClr val="windowText" lastClr="000000">
                <a:lumMod val="50000"/>
                <a:lumOff val="50000"/>
              </a:sysClr>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34" name="Text Box 390">
              <a:extLst>
                <a:ext uri="{FF2B5EF4-FFF2-40B4-BE49-F238E27FC236}">
                  <a16:creationId xmlns:a16="http://schemas.microsoft.com/office/drawing/2014/main" id="{D5C528C0-0CFC-0F69-75EC-73357D297B0D}"/>
                </a:ext>
              </a:extLst>
            </p:cNvPr>
            <p:cNvSpPr txBox="1">
              <a:spLocks noChangeArrowheads="1"/>
            </p:cNvSpPr>
            <p:nvPr/>
          </p:nvSpPr>
          <p:spPr bwMode="auto">
            <a:xfrm>
              <a:off x="1912639" y="3307609"/>
              <a:ext cx="8123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温度計</a:t>
              </a:r>
            </a:p>
          </p:txBody>
        </p:sp>
        <p:pic>
          <p:nvPicPr>
            <p:cNvPr id="135" name="図 71">
              <a:extLst>
                <a:ext uri="{FF2B5EF4-FFF2-40B4-BE49-F238E27FC236}">
                  <a16:creationId xmlns:a16="http://schemas.microsoft.com/office/drawing/2014/main" id="{229516FC-FA82-32CC-0E7B-19A0F72AE457}"/>
                </a:ext>
              </a:extLst>
            </p:cNvPr>
            <p:cNvPicPr>
              <a:picLocks noChangeAspect="1"/>
            </p:cNvPicPr>
            <p:nvPr/>
          </p:nvPicPr>
          <p:blipFill>
            <a:blip r:embed="rId3"/>
            <a:stretch>
              <a:fillRect/>
            </a:stretch>
          </p:blipFill>
          <p:spPr>
            <a:xfrm rot="17703424">
              <a:off x="3221363" y="3563662"/>
              <a:ext cx="365512" cy="588536"/>
            </a:xfrm>
            <a:prstGeom prst="rect">
              <a:avLst/>
            </a:prstGeom>
          </p:spPr>
        </p:pic>
        <p:sp>
          <p:nvSpPr>
            <p:cNvPr id="136" name="Text Box 390">
              <a:extLst>
                <a:ext uri="{FF2B5EF4-FFF2-40B4-BE49-F238E27FC236}">
                  <a16:creationId xmlns:a16="http://schemas.microsoft.com/office/drawing/2014/main" id="{1AD7EFEE-89E5-E1EE-252C-395760FAFF47}"/>
                </a:ext>
              </a:extLst>
            </p:cNvPr>
            <p:cNvSpPr txBox="1">
              <a:spLocks noChangeArrowheads="1"/>
            </p:cNvSpPr>
            <p:nvPr/>
          </p:nvSpPr>
          <p:spPr bwMode="auto">
            <a:xfrm>
              <a:off x="2126825" y="3830129"/>
              <a:ext cx="10905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流れの合流</a:t>
              </a:r>
            </a:p>
          </p:txBody>
        </p:sp>
        <p:grpSp>
          <p:nvGrpSpPr>
            <p:cNvPr id="137" name="グループ化 73">
              <a:extLst>
                <a:ext uri="{FF2B5EF4-FFF2-40B4-BE49-F238E27FC236}">
                  <a16:creationId xmlns:a16="http://schemas.microsoft.com/office/drawing/2014/main" id="{EC92EBAD-3D1B-F074-5BC6-55FB766DBCB0}"/>
                </a:ext>
              </a:extLst>
            </p:cNvPr>
            <p:cNvGrpSpPr/>
            <p:nvPr/>
          </p:nvGrpSpPr>
          <p:grpSpPr>
            <a:xfrm>
              <a:off x="4594530" y="3892801"/>
              <a:ext cx="1090587" cy="958988"/>
              <a:chOff x="7541485" y="3569503"/>
              <a:chExt cx="1090587" cy="958988"/>
            </a:xfrm>
          </p:grpSpPr>
          <p:pic>
            <p:nvPicPr>
              <p:cNvPr id="144" name="図 74">
                <a:extLst>
                  <a:ext uri="{FF2B5EF4-FFF2-40B4-BE49-F238E27FC236}">
                    <a16:creationId xmlns:a16="http://schemas.microsoft.com/office/drawing/2014/main" id="{661F371F-7BFF-9315-4355-4CDD260E002E}"/>
                  </a:ext>
                </a:extLst>
              </p:cNvPr>
              <p:cNvPicPr>
                <a:picLocks noChangeAspect="1"/>
              </p:cNvPicPr>
              <p:nvPr/>
            </p:nvPicPr>
            <p:blipFill>
              <a:blip r:embed="rId4"/>
              <a:stretch>
                <a:fillRect/>
              </a:stretch>
            </p:blipFill>
            <p:spPr>
              <a:xfrm>
                <a:off x="7636808" y="3569503"/>
                <a:ext cx="667566" cy="667566"/>
              </a:xfrm>
              <a:prstGeom prst="rect">
                <a:avLst/>
              </a:prstGeom>
            </p:spPr>
          </p:pic>
          <p:sp>
            <p:nvSpPr>
              <p:cNvPr id="145" name="Text Box 390">
                <a:extLst>
                  <a:ext uri="{FF2B5EF4-FFF2-40B4-BE49-F238E27FC236}">
                    <a16:creationId xmlns:a16="http://schemas.microsoft.com/office/drawing/2014/main" id="{BBFE4890-897F-632A-41C8-DA41F5459327}"/>
                  </a:ext>
                </a:extLst>
              </p:cNvPr>
              <p:cNvSpPr txBox="1">
                <a:spLocks noChangeArrowheads="1"/>
              </p:cNvSpPr>
              <p:nvPr/>
            </p:nvSpPr>
            <p:spPr bwMode="auto">
              <a:xfrm>
                <a:off x="7541485" y="4220714"/>
                <a:ext cx="10905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b="1">
                    <a:solidFill>
                      <a:srgbClr val="0303BD"/>
                    </a:solidFill>
                    <a:latin typeface="HGMaruGothicMPRO" panose="020F0600000000000000" pitchFamily="34" charset="-128"/>
                    <a:ea typeface="HGMaruGothicMPRO" panose="020F0600000000000000" pitchFamily="34" charset="-128"/>
                  </a:rPr>
                  <a:t>深層学習</a:t>
                </a:r>
                <a:endParaRPr lang="ja-JP" altLang="en-US" sz="1400" b="1" dirty="0">
                  <a:solidFill>
                    <a:srgbClr val="0303BD"/>
                  </a:solidFill>
                  <a:latin typeface="HGMaruGothicMPRO" panose="020F0600000000000000" pitchFamily="34" charset="-128"/>
                  <a:ea typeface="HGMaruGothicMPRO" panose="020F0600000000000000" pitchFamily="34" charset="-128"/>
                </a:endParaRPr>
              </a:p>
            </p:txBody>
          </p:sp>
        </p:grpSp>
        <p:pic>
          <p:nvPicPr>
            <p:cNvPr id="138" name="図 76">
              <a:extLst>
                <a:ext uri="{FF2B5EF4-FFF2-40B4-BE49-F238E27FC236}">
                  <a16:creationId xmlns:a16="http://schemas.microsoft.com/office/drawing/2014/main" id="{A8B5EA20-B9CC-3E4E-882A-B6038493FDDA}"/>
                </a:ext>
              </a:extLst>
            </p:cNvPr>
            <p:cNvPicPr>
              <a:picLocks noChangeAspect="1"/>
            </p:cNvPicPr>
            <p:nvPr/>
          </p:nvPicPr>
          <p:blipFill>
            <a:blip r:embed="rId5"/>
            <a:stretch>
              <a:fillRect/>
            </a:stretch>
          </p:blipFill>
          <p:spPr>
            <a:xfrm rot="16200000">
              <a:off x="3173787" y="3170228"/>
              <a:ext cx="415789" cy="415789"/>
            </a:xfrm>
            <a:prstGeom prst="rect">
              <a:avLst/>
            </a:prstGeom>
          </p:spPr>
        </p:pic>
        <p:sp>
          <p:nvSpPr>
            <p:cNvPr id="139" name="Text Box 390">
              <a:extLst>
                <a:ext uri="{FF2B5EF4-FFF2-40B4-BE49-F238E27FC236}">
                  <a16:creationId xmlns:a16="http://schemas.microsoft.com/office/drawing/2014/main" id="{ACA2D566-752B-B9CD-925A-3C94067EEB2F}"/>
                </a:ext>
              </a:extLst>
            </p:cNvPr>
            <p:cNvSpPr txBox="1">
              <a:spLocks noChangeArrowheads="1"/>
            </p:cNvSpPr>
            <p:nvPr/>
          </p:nvSpPr>
          <p:spPr bwMode="auto">
            <a:xfrm>
              <a:off x="3452873" y="3197538"/>
              <a:ext cx="10905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b="1" dirty="0">
                  <a:solidFill>
                    <a:srgbClr val="0303BD"/>
                  </a:solidFill>
                  <a:latin typeface="HGMaruGothicMPRO" panose="020F0600000000000000" pitchFamily="34" charset="-128"/>
                  <a:ea typeface="HGMaruGothicMPRO" panose="020F0600000000000000" pitchFamily="34" charset="-128"/>
                </a:rPr>
                <a:t>音響計測　</a:t>
              </a:r>
            </a:p>
          </p:txBody>
        </p:sp>
        <p:sp>
          <p:nvSpPr>
            <p:cNvPr id="140" name="Text Box 390">
              <a:extLst>
                <a:ext uri="{FF2B5EF4-FFF2-40B4-BE49-F238E27FC236}">
                  <a16:creationId xmlns:a16="http://schemas.microsoft.com/office/drawing/2014/main" id="{CBACA96E-794A-5D16-4D56-ECE673508A79}"/>
                </a:ext>
              </a:extLst>
            </p:cNvPr>
            <p:cNvSpPr txBox="1">
              <a:spLocks noChangeArrowheads="1"/>
            </p:cNvSpPr>
            <p:nvPr/>
          </p:nvSpPr>
          <p:spPr bwMode="auto">
            <a:xfrm>
              <a:off x="5051593" y="5243423"/>
              <a:ext cx="3335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2400">
                  <a:solidFill>
                    <a:srgbClr val="0000FF"/>
                  </a:solidFill>
                  <a:latin typeface="Meiryo" panose="020B0604030504040204" pitchFamily="34" charset="-128"/>
                  <a:ea typeface="Meiryo" panose="020B0604030504040204" pitchFamily="34" charset="-128"/>
                </a:rPr>
                <a:t>データ駆動型音響</a:t>
              </a:r>
              <a:r>
                <a:rPr lang="ja-JP" altLang="en-US" sz="2400" dirty="0">
                  <a:solidFill>
                    <a:srgbClr val="0000FF"/>
                  </a:solidFill>
                  <a:latin typeface="Meiryo" panose="020B0604030504040204" pitchFamily="34" charset="-128"/>
                  <a:ea typeface="Meiryo" panose="020B0604030504040204" pitchFamily="34" charset="-128"/>
                </a:rPr>
                <a:t>診断</a:t>
              </a:r>
            </a:p>
          </p:txBody>
        </p:sp>
        <p:sp>
          <p:nvSpPr>
            <p:cNvPr id="141" name="Text Box 390">
              <a:extLst>
                <a:ext uri="{FF2B5EF4-FFF2-40B4-BE49-F238E27FC236}">
                  <a16:creationId xmlns:a16="http://schemas.microsoft.com/office/drawing/2014/main" id="{E10FD015-06FC-A2F7-A9EA-C6AC9C1E3A3B}"/>
                </a:ext>
              </a:extLst>
            </p:cNvPr>
            <p:cNvSpPr txBox="1">
              <a:spLocks noChangeArrowheads="1"/>
            </p:cNvSpPr>
            <p:nvPr/>
          </p:nvSpPr>
          <p:spPr bwMode="auto">
            <a:xfrm>
              <a:off x="1321690" y="3641963"/>
              <a:ext cx="8123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defTabSz="457200">
                <a:spcBef>
                  <a:spcPct val="0"/>
                </a:spcBef>
                <a:buFontTx/>
                <a:buNone/>
              </a:pPr>
              <a:r>
                <a:rPr lang="ja-JP" altLang="en-US" sz="1400" dirty="0">
                  <a:solidFill>
                    <a:prstClr val="black"/>
                  </a:solidFill>
                  <a:latin typeface="HGMaruGothicMPRO" panose="020F0600000000000000" pitchFamily="34" charset="-128"/>
                  <a:ea typeface="HGMaruGothicMPRO" panose="020F0600000000000000" pitchFamily="34" charset="-128"/>
                </a:rPr>
                <a:t>構造物</a:t>
              </a:r>
            </a:p>
          </p:txBody>
        </p:sp>
        <p:sp>
          <p:nvSpPr>
            <p:cNvPr id="142" name="Text Box 390">
              <a:extLst>
                <a:ext uri="{FF2B5EF4-FFF2-40B4-BE49-F238E27FC236}">
                  <a16:creationId xmlns:a16="http://schemas.microsoft.com/office/drawing/2014/main" id="{544FFEF6-F098-FB9C-DCB3-D73F7608942C}"/>
                </a:ext>
              </a:extLst>
            </p:cNvPr>
            <p:cNvSpPr txBox="1">
              <a:spLocks noChangeArrowheads="1"/>
            </p:cNvSpPr>
            <p:nvPr/>
          </p:nvSpPr>
          <p:spPr bwMode="auto">
            <a:xfrm>
              <a:off x="4442340" y="3091465"/>
              <a:ext cx="289825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dirty="0">
                  <a:solidFill>
                    <a:srgbClr val="0303BD"/>
                  </a:solidFill>
                  <a:latin typeface="HGMaruGothicMPRO" panose="020F0600000000000000" pitchFamily="34" charset="-128"/>
                  <a:ea typeface="HGMaruGothicMPRO" panose="020F0600000000000000" pitchFamily="34" charset="-128"/>
                </a:rPr>
                <a:t>重ね合わさる音響データから</a:t>
              </a:r>
            </a:p>
            <a:p>
              <a:pPr defTabSz="457200">
                <a:spcBef>
                  <a:spcPct val="0"/>
                </a:spcBef>
                <a:buFontTx/>
                <a:buNone/>
              </a:pPr>
              <a:r>
                <a:rPr lang="ja-JP" altLang="en-US" sz="1400" dirty="0">
                  <a:solidFill>
                    <a:srgbClr val="0303BD"/>
                  </a:solidFill>
                  <a:latin typeface="HGMaruGothicMPRO" panose="020F0600000000000000" pitchFamily="34" charset="-128"/>
                  <a:ea typeface="HGMaruGothicMPRO" panose="020F0600000000000000" pitchFamily="34" charset="-128"/>
                </a:rPr>
                <a:t>現象と相関する特徴抽出が可能</a:t>
              </a:r>
              <a:endParaRPr lang="en-US" altLang="ja-JP" sz="1400" dirty="0">
                <a:solidFill>
                  <a:srgbClr val="0303BD"/>
                </a:solidFill>
                <a:latin typeface="HGMaruGothicMPRO" panose="020F0600000000000000" pitchFamily="34" charset="-128"/>
                <a:ea typeface="HGMaruGothicMPRO" panose="020F0600000000000000" pitchFamily="34" charset="-128"/>
              </a:endParaRPr>
            </a:p>
            <a:p>
              <a:pPr defTabSz="457200">
                <a:spcBef>
                  <a:spcPct val="0"/>
                </a:spcBef>
                <a:buFontTx/>
                <a:buNone/>
              </a:pPr>
              <a:r>
                <a:rPr lang="ja-JP" altLang="en-US" sz="1400" dirty="0">
                  <a:solidFill>
                    <a:srgbClr val="0303BD"/>
                  </a:solidFill>
                  <a:latin typeface="HGMaruGothicMPRO" panose="020F0600000000000000" pitchFamily="34" charset="-128"/>
                  <a:ea typeface="HGMaruGothicMPRO" panose="020F0600000000000000" pitchFamily="34" charset="-128"/>
                </a:rPr>
                <a:t>（スペクトル解析）</a:t>
              </a:r>
              <a:endParaRPr lang="en-US" altLang="ja-JP" sz="1400" dirty="0">
                <a:solidFill>
                  <a:srgbClr val="0303BD"/>
                </a:solidFill>
                <a:latin typeface="HGMaruGothicMPRO" panose="020F0600000000000000" pitchFamily="34" charset="-128"/>
                <a:ea typeface="HGMaruGothicMPRO" panose="020F0600000000000000" pitchFamily="34" charset="-128"/>
              </a:endParaRPr>
            </a:p>
          </p:txBody>
        </p:sp>
        <p:sp>
          <p:nvSpPr>
            <p:cNvPr id="143" name="Text Box 390">
              <a:extLst>
                <a:ext uri="{FF2B5EF4-FFF2-40B4-BE49-F238E27FC236}">
                  <a16:creationId xmlns:a16="http://schemas.microsoft.com/office/drawing/2014/main" id="{2E56B06C-4119-F51C-7844-48A0A25947D2}"/>
                </a:ext>
              </a:extLst>
            </p:cNvPr>
            <p:cNvSpPr txBox="1">
              <a:spLocks noChangeArrowheads="1"/>
            </p:cNvSpPr>
            <p:nvPr/>
          </p:nvSpPr>
          <p:spPr bwMode="auto">
            <a:xfrm>
              <a:off x="5434676" y="3900040"/>
              <a:ext cx="225512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defTabSz="457200">
                <a:spcBef>
                  <a:spcPct val="0"/>
                </a:spcBef>
                <a:buFontTx/>
                <a:buNone/>
              </a:pPr>
              <a:r>
                <a:rPr lang="ja-JP" altLang="en-US" sz="1400">
                  <a:solidFill>
                    <a:srgbClr val="0303BD"/>
                  </a:solidFill>
                  <a:latin typeface="HGMaruGothicMPRO" panose="020F0600000000000000" pitchFamily="34" charset="-128"/>
                  <a:ea typeface="HGMaruGothicMPRO" panose="020F0600000000000000" pitchFamily="34" charset="-128"/>
                </a:rPr>
                <a:t>沸騰固有の特徴を抽出し深層学習を活用した</a:t>
              </a:r>
              <a:endParaRPr lang="en-US" altLang="ja-JP" sz="1400" dirty="0">
                <a:solidFill>
                  <a:srgbClr val="0303BD"/>
                </a:solidFill>
                <a:latin typeface="HGMaruGothicMPRO" panose="020F0600000000000000" pitchFamily="34" charset="-128"/>
                <a:ea typeface="HGMaruGothicMPRO" panose="020F0600000000000000" pitchFamily="34" charset="-128"/>
              </a:endParaRPr>
            </a:p>
            <a:p>
              <a:pPr defTabSz="457200">
                <a:spcBef>
                  <a:spcPct val="0"/>
                </a:spcBef>
                <a:buFontTx/>
                <a:buNone/>
              </a:pPr>
              <a:r>
                <a:rPr lang="ja-JP" altLang="en-US" sz="1400">
                  <a:solidFill>
                    <a:srgbClr val="0303BD"/>
                  </a:solidFill>
                  <a:latin typeface="HGMaruGothicMPRO" panose="020F0600000000000000" pitchFamily="34" charset="-128"/>
                  <a:ea typeface="HGMaruGothicMPRO" panose="020F0600000000000000" pitchFamily="34" charset="-128"/>
                </a:rPr>
                <a:t>早期検知</a:t>
              </a:r>
              <a:endParaRPr lang="en-US" altLang="ja-JP" sz="1400" dirty="0">
                <a:solidFill>
                  <a:srgbClr val="0303BD"/>
                </a:solidFill>
                <a:latin typeface="HGMaruGothicMPRO" panose="020F0600000000000000" pitchFamily="34" charset="-128"/>
                <a:ea typeface="HGMaruGothicMPRO" panose="020F0600000000000000" pitchFamily="34" charset="-128"/>
              </a:endParaRPr>
            </a:p>
          </p:txBody>
        </p:sp>
      </p:grpSp>
      <p:sp>
        <p:nvSpPr>
          <p:cNvPr id="6" name="Rectangle 5">
            <a:extLst>
              <a:ext uri="{FF2B5EF4-FFF2-40B4-BE49-F238E27FC236}">
                <a16:creationId xmlns:a16="http://schemas.microsoft.com/office/drawing/2014/main" id="{FEF53923-31F3-87C8-87C9-F04771F82F38}"/>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352106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EEA8C09-2514-EE51-3541-2A79284B8C1A}"/>
              </a:ext>
            </a:extLst>
          </p:cNvPr>
          <p:cNvSpPr>
            <a:spLocks noGrp="1"/>
          </p:cNvSpPr>
          <p:nvPr>
            <p:ph type="body" sz="half" idx="13"/>
          </p:nvPr>
        </p:nvSpPr>
        <p:spPr/>
        <p:txBody>
          <a:bodyPr/>
          <a:lstStyle/>
          <a:p>
            <a:endParaRPr kumimoji="1" lang="ja-JP" altLang="en-US"/>
          </a:p>
        </p:txBody>
      </p:sp>
      <p:sp>
        <p:nvSpPr>
          <p:cNvPr id="4" name="タイトル 3">
            <a:extLst>
              <a:ext uri="{FF2B5EF4-FFF2-40B4-BE49-F238E27FC236}">
                <a16:creationId xmlns:a16="http://schemas.microsoft.com/office/drawing/2014/main" id="{92BFF524-9B1C-97EF-F51D-A8AFA8DA9F63}"/>
              </a:ext>
            </a:extLst>
          </p:cNvPr>
          <p:cNvSpPr>
            <a:spLocks noGrp="1"/>
          </p:cNvSpPr>
          <p:nvPr>
            <p:ph type="title"/>
          </p:nvPr>
        </p:nvSpPr>
        <p:spPr>
          <a:xfrm>
            <a:off x="857746" y="410449"/>
            <a:ext cx="8658001" cy="424732"/>
          </a:xfrm>
        </p:spPr>
        <p:txBody>
          <a:bodyPr>
            <a:normAutofit/>
          </a:bodyPr>
          <a:lstStyle/>
          <a:p>
            <a:r>
              <a:rPr lang="ja-JP" altLang="en-US" sz="2400">
                <a:latin typeface="Meiryo" panose="020B0604030504040204" pitchFamily="34" charset="-128"/>
                <a:ea typeface="Meiryo" panose="020B0604030504040204" pitchFamily="34" charset="-128"/>
              </a:rPr>
              <a:t>全体プロジェクト</a:t>
            </a:r>
            <a:r>
              <a:rPr kumimoji="1" lang="ja-JP" altLang="en-US">
                <a:latin typeface="Meiryo" panose="020B0604030504040204" pitchFamily="34" charset="-128"/>
                <a:ea typeface="Meiryo" panose="020B0604030504040204" pitchFamily="34" charset="-128"/>
              </a:rPr>
              <a:t>終了時に達成すべき目標</a:t>
            </a:r>
            <a:endParaRPr kumimoji="1" lang="ja-JP" altLang="en-US" dirty="0">
              <a:latin typeface="Meiryo" panose="020B0604030504040204" pitchFamily="34" charset="-128"/>
              <a:ea typeface="Meiryo" panose="020B0604030504040204" pitchFamily="34" charset="-128"/>
            </a:endParaRPr>
          </a:p>
        </p:txBody>
      </p:sp>
      <p:sp>
        <p:nvSpPr>
          <p:cNvPr id="12" name="テキスト プレースホルダー 1">
            <a:extLst>
              <a:ext uri="{FF2B5EF4-FFF2-40B4-BE49-F238E27FC236}">
                <a16:creationId xmlns:a16="http://schemas.microsoft.com/office/drawing/2014/main" id="{AF5883FE-E9DF-9745-B8E0-E8560D3C9672}"/>
              </a:ext>
            </a:extLst>
          </p:cNvPr>
          <p:cNvSpPr>
            <a:spLocks noGrp="1"/>
          </p:cNvSpPr>
          <p:nvPr>
            <p:ph type="body" sz="half" idx="12"/>
          </p:nvPr>
        </p:nvSpPr>
        <p:spPr>
          <a:xfrm>
            <a:off x="992503" y="1744053"/>
            <a:ext cx="7920993" cy="3613297"/>
          </a:xfrm>
        </p:spPr>
        <p:txBody>
          <a:bodyPr/>
          <a:lstStyle/>
          <a:p>
            <a:pPr marL="457200" indent="-457200">
              <a:buFont typeface="+mj-lt"/>
              <a:buAutoNum type="arabicPeriod"/>
            </a:pPr>
            <a:r>
              <a:rPr lang="ja-JP" altLang="en-US" sz="2000">
                <a:solidFill>
                  <a:srgbClr val="000000"/>
                </a:solidFill>
                <a:effectLst/>
                <a:latin typeface="Meiryo" panose="020B0604030504040204" pitchFamily="34" charset="-128"/>
                <a:ea typeface="Meiryo" panose="020B0604030504040204" pitchFamily="34" charset="-128"/>
              </a:rPr>
              <a:t>音響診断の前提となる検知すべき沸騰現象の把握により、音源の特定と音圧発生メカニズムの理解を獲得し、機械学習に課すべき特徴量を明らかにする。</a:t>
            </a:r>
          </a:p>
          <a:p>
            <a:pPr marL="457200" indent="-457200">
              <a:buFont typeface="+mj-lt"/>
              <a:buAutoNum type="arabicPeriod"/>
            </a:pPr>
            <a:endParaRPr lang="en-US" altLang="ja-JP" sz="8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a:solidFill>
                  <a:srgbClr val="000000"/>
                </a:solidFill>
                <a:effectLst/>
                <a:latin typeface="Meiryo" panose="020B0604030504040204" pitchFamily="34" charset="-128"/>
                <a:ea typeface="Meiryo" panose="020B0604030504040204" pitchFamily="34" charset="-128"/>
              </a:rPr>
              <a:t>音響計測信号 （データ） から特徴量の抽出手法を検討し、 沸騰を可視化 ・ 検知するアルゴリズムを構築する。</a:t>
            </a:r>
            <a:endParaRPr kumimoji="1"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endParaRPr kumimoji="1" lang="en-US" altLang="ja-JP" sz="8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a:solidFill>
                  <a:srgbClr val="000000"/>
                </a:solidFill>
                <a:effectLst/>
                <a:latin typeface="Meiryo" panose="020B0604030504040204" pitchFamily="34" charset="-128"/>
                <a:ea typeface="Meiryo" panose="020B0604030504040204" pitchFamily="34" charset="-128"/>
              </a:rPr>
              <a:t>沸騰検知</a:t>
            </a:r>
            <a:r>
              <a:rPr lang="ja-JP" altLang="en-US" sz="2000">
                <a:solidFill>
                  <a:srgbClr val="000000"/>
                </a:solidFill>
                <a:latin typeface="Meiryo" panose="020B0604030504040204" pitchFamily="34" charset="-128"/>
                <a:ea typeface="Meiryo" panose="020B0604030504040204" pitchFamily="34" charset="-128"/>
              </a:rPr>
              <a:t>を可能とする技術の基礎知見を取得整備</a:t>
            </a:r>
            <a:r>
              <a:rPr lang="ja-JP" altLang="en-US" sz="2000">
                <a:solidFill>
                  <a:srgbClr val="000000"/>
                </a:solidFill>
                <a:effectLst/>
                <a:latin typeface="Meiryo" panose="020B0604030504040204" pitchFamily="34" charset="-128"/>
                <a:ea typeface="Meiryo" panose="020B0604030504040204" pitchFamily="34" charset="-128"/>
              </a:rPr>
              <a:t>するとともに、その基本成立性を示す。</a:t>
            </a:r>
          </a:p>
          <a:p>
            <a:pPr marL="457200" indent="-457200">
              <a:buFont typeface="+mj-lt"/>
              <a:buAutoNum type="arabicPeriod"/>
            </a:pPr>
            <a:endParaRPr lang="en-US" altLang="ja-JP" sz="8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000">
                <a:solidFill>
                  <a:srgbClr val="000000"/>
                </a:solidFill>
                <a:effectLst/>
                <a:latin typeface="Meiryo" panose="020B0604030504040204" pitchFamily="34" charset="-128"/>
                <a:ea typeface="Meiryo" panose="020B0604030504040204" pitchFamily="34" charset="-128"/>
              </a:rPr>
              <a:t>本研究実施後の実用に至る開発展開案を提案する。</a:t>
            </a:r>
          </a:p>
        </p:txBody>
      </p:sp>
      <p:sp>
        <p:nvSpPr>
          <p:cNvPr id="2" name="Rectangle 1">
            <a:extLst>
              <a:ext uri="{FF2B5EF4-FFF2-40B4-BE49-F238E27FC236}">
                <a16:creationId xmlns:a16="http://schemas.microsoft.com/office/drawing/2014/main" id="{C48BE14D-043F-32F5-418E-41D497F28062}"/>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917176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0781-90E8-2748-7485-C9A8514955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69C435-3D93-8FCA-B5FD-A3D972890B67}"/>
              </a:ext>
            </a:extLst>
          </p:cNvPr>
          <p:cNvSpPr>
            <a:spLocks noGrp="1"/>
          </p:cNvSpPr>
          <p:nvPr>
            <p:ph type="body" sz="half" idx="12"/>
          </p:nvPr>
        </p:nvSpPr>
        <p:spPr>
          <a:xfrm>
            <a:off x="992155" y="1157104"/>
            <a:ext cx="2444064" cy="408657"/>
          </a:xfrm>
        </p:spPr>
        <p:txBody>
          <a:bodyPr/>
          <a:lstStyle/>
          <a:p>
            <a:r>
              <a:rPr lang="ja-JP" altLang="en-US" sz="2300" b="1" dirty="0">
                <a:latin typeface="メイリオ" panose="020B0604030504040204" pitchFamily="50" charset="-128"/>
                <a:ea typeface="メイリオ" panose="020B0604030504040204" pitchFamily="50" charset="-128"/>
              </a:rPr>
              <a:t>共通の実験条件</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065A7BBA-14B5-DB2D-692C-A212EA9317A4}"/>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プール沸騰実験</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AAAD93AA-445E-F24D-F08A-E53514197537}"/>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AA050D53-C59C-7F63-BDDD-442ABE1F6F7C}"/>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 Placeholder 1">
            <a:extLst>
              <a:ext uri="{FF2B5EF4-FFF2-40B4-BE49-F238E27FC236}">
                <a16:creationId xmlns:a16="http://schemas.microsoft.com/office/drawing/2014/main" id="{3FA66570-9A30-4025-0A7C-2B98B4CD22F5}"/>
              </a:ext>
            </a:extLst>
          </p:cNvPr>
          <p:cNvSpPr txBox="1">
            <a:spLocks/>
          </p:cNvSpPr>
          <p:nvPr/>
        </p:nvSpPr>
        <p:spPr>
          <a:xfrm>
            <a:off x="992154" y="4004578"/>
            <a:ext cx="3137079"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実験ごとに異なる条件</a:t>
            </a:r>
            <a:endParaRPr lang="en-JP" sz="2300" b="1"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2FAB9FC6-893C-697B-5C98-71439674DFE6}"/>
              </a:ext>
            </a:extLst>
          </p:cNvPr>
          <p:cNvCxnSpPr>
            <a:cxnSpLocks/>
          </p:cNvCxnSpPr>
          <p:nvPr/>
        </p:nvCxnSpPr>
        <p:spPr>
          <a:xfrm>
            <a:off x="878103" y="3981867"/>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四角形: 角を丸くする 9">
            <a:extLst>
              <a:ext uri="{FF2B5EF4-FFF2-40B4-BE49-F238E27FC236}">
                <a16:creationId xmlns:a16="http://schemas.microsoft.com/office/drawing/2014/main" id="{32A87DAE-FAF0-F310-7808-4248D11091C4}"/>
              </a:ext>
            </a:extLst>
          </p:cNvPr>
          <p:cNvSpPr/>
          <p:nvPr/>
        </p:nvSpPr>
        <p:spPr>
          <a:xfrm>
            <a:off x="961101" y="1626120"/>
            <a:ext cx="8554646" cy="2297953"/>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9F951C1F-33D5-94D7-BF8D-4DCB1B955D58}"/>
              </a:ext>
            </a:extLst>
          </p:cNvPr>
          <p:cNvSpPr txBox="1"/>
          <p:nvPr/>
        </p:nvSpPr>
        <p:spPr>
          <a:xfrm>
            <a:off x="1484648" y="1735098"/>
            <a:ext cx="8017835" cy="2246769"/>
          </a:xfrm>
          <a:prstGeom prst="rect">
            <a:avLst/>
          </a:prstGeom>
          <a:noFill/>
        </p:spPr>
        <p:txBody>
          <a:bodyPr wrap="square" numCol="2" rtlCol="0">
            <a:spAutoFit/>
          </a:bodyPr>
          <a:lstStyle/>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超純水：</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4.0 L</a:t>
            </a: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白金細線の長さ：</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4.0 cm</a:t>
            </a: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白金細線の</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直径：</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0.3 mm</a:t>
            </a: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サブクール度：</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20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脱気時間：</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30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分</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攪拌棒の回転速度</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800100" lvl="1" indent="-342900">
              <a:buFont typeface="Wingdings" panose="05000000000000000000" pitchFamily="2" charset="2"/>
              <a:buChar char="Ø"/>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測定前：</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350 rpm</a:t>
            </a:r>
          </a:p>
          <a:p>
            <a:pPr marL="800100" lvl="1" indent="-342900">
              <a:buFont typeface="Wingdings" panose="05000000000000000000" pitchFamily="2" charset="2"/>
              <a:buChar char="Ø"/>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測定中：</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120 rpm</a:t>
            </a: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実験器具一式</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800100" lvl="1" indent="-342900">
              <a:buFont typeface="Wingdings" panose="05000000000000000000" pitchFamily="2" charset="2"/>
              <a:buChar char="Ø"/>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音響測定用</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PC</a:t>
            </a:r>
          </a:p>
          <a:p>
            <a:pPr marL="800100" lvl="1" indent="-342900">
              <a:buFont typeface="Wingdings" panose="05000000000000000000" pitchFamily="2" charset="2"/>
              <a:buChar char="Ø"/>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データーロガー</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800100" lvl="1" indent="-342900">
              <a:buFont typeface="Wingdings" panose="05000000000000000000" pitchFamily="2" charset="2"/>
              <a:buChar char="Ø"/>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データ後損用</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PC</a:t>
            </a:r>
          </a:p>
          <a:p>
            <a:pPr marL="800100" lvl="1" indent="-342900">
              <a:buFont typeface="Wingdings" panose="05000000000000000000" pitchFamily="2" charset="2"/>
              <a:buChar char="Ø"/>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気圧計</a:t>
            </a:r>
            <a:endParaRPr kumimoji="1" lang="ja-JP" altLang="en-US" sz="2000" dirty="0">
              <a:latin typeface="メイリオ" panose="020B0604030504040204" pitchFamily="50" charset="-128"/>
              <a:ea typeface="メイリオ" panose="020B0604030504040204" pitchFamily="50" charset="-128"/>
            </a:endParaRPr>
          </a:p>
        </p:txBody>
      </p:sp>
      <p:graphicFrame>
        <p:nvGraphicFramePr>
          <p:cNvPr id="12" name="Table 26">
            <a:extLst>
              <a:ext uri="{FF2B5EF4-FFF2-40B4-BE49-F238E27FC236}">
                <a16:creationId xmlns:a16="http://schemas.microsoft.com/office/drawing/2014/main" id="{3441615B-1CFB-1071-0181-6B3F12B6EC0F}"/>
              </a:ext>
            </a:extLst>
          </p:cNvPr>
          <p:cNvGraphicFramePr>
            <a:graphicFrameLocks noGrp="1"/>
          </p:cNvGraphicFramePr>
          <p:nvPr/>
        </p:nvGraphicFramePr>
        <p:xfrm>
          <a:off x="961101" y="4534557"/>
          <a:ext cx="8565087" cy="1913708"/>
        </p:xfrm>
        <a:graphic>
          <a:graphicData uri="http://schemas.openxmlformats.org/drawingml/2006/table">
            <a:tbl>
              <a:tblPr/>
              <a:tblGrid>
                <a:gridCol w="1834967">
                  <a:extLst>
                    <a:ext uri="{9D8B030D-6E8A-4147-A177-3AD203B41FA5}">
                      <a16:colId xmlns:a16="http://schemas.microsoft.com/office/drawing/2014/main" val="20000"/>
                    </a:ext>
                  </a:extLst>
                </a:gridCol>
                <a:gridCol w="1773110">
                  <a:extLst>
                    <a:ext uri="{9D8B030D-6E8A-4147-A177-3AD203B41FA5}">
                      <a16:colId xmlns:a16="http://schemas.microsoft.com/office/drawing/2014/main" val="20001"/>
                    </a:ext>
                  </a:extLst>
                </a:gridCol>
                <a:gridCol w="2415941">
                  <a:extLst>
                    <a:ext uri="{9D8B030D-6E8A-4147-A177-3AD203B41FA5}">
                      <a16:colId xmlns:a16="http://schemas.microsoft.com/office/drawing/2014/main" val="20002"/>
                    </a:ext>
                  </a:extLst>
                </a:gridCol>
                <a:gridCol w="2541069">
                  <a:extLst>
                    <a:ext uri="{9D8B030D-6E8A-4147-A177-3AD203B41FA5}">
                      <a16:colId xmlns:a16="http://schemas.microsoft.com/office/drawing/2014/main" val="20003"/>
                    </a:ext>
                  </a:extLst>
                </a:gridCol>
              </a:tblGrid>
              <a:tr h="611321">
                <a:tc>
                  <a:txBody>
                    <a:bodyPr/>
                    <a:lstStyle/>
                    <a:p>
                      <a:pPr algn="ctr">
                        <a:lnSpc>
                          <a:spcPts val="3038"/>
                        </a:lnSpc>
                        <a:defRPr/>
                      </a:pPr>
                      <a:r>
                        <a:rPr lang="ja-JP" altLang="en-US" sz="2000" dirty="0">
                          <a:solidFill>
                            <a:schemeClr val="tx1"/>
                          </a:solidFill>
                          <a:latin typeface="メイリオ" panose="020B0604030504040204" pitchFamily="50" charset="-128"/>
                          <a:ea typeface="メイリオ" panose="020B0604030504040204" pitchFamily="50" charset="-128"/>
                        </a:rPr>
                        <a:t>実験番号</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0C1DA"/>
                    </a:solidFill>
                  </a:tcPr>
                </a:tc>
                <a:tc>
                  <a:txBody>
                    <a:bodyPr/>
                    <a:lstStyle/>
                    <a:p>
                      <a:pPr algn="ctr">
                        <a:lnSpc>
                          <a:spcPts val="3038"/>
                        </a:lnSpc>
                        <a:defRPr/>
                      </a:pPr>
                      <a:r>
                        <a:rPr lang="ja-JP" altLang="en-US" sz="2000" dirty="0">
                          <a:solidFill>
                            <a:schemeClr val="tx1"/>
                          </a:solidFill>
                          <a:latin typeface="メイリオ" panose="020B0604030504040204" pitchFamily="50" charset="-128"/>
                          <a:ea typeface="メイリオ" panose="020B0604030504040204" pitchFamily="50" charset="-128"/>
                        </a:rPr>
                        <a:t>大気圧</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0C1DA"/>
                    </a:solidFill>
                  </a:tcPr>
                </a:tc>
                <a:tc>
                  <a:txBody>
                    <a:bodyPr/>
                    <a:lstStyle/>
                    <a:p>
                      <a:pPr algn="ctr">
                        <a:lnSpc>
                          <a:spcPts val="3038"/>
                        </a:lnSpc>
                        <a:defRPr/>
                      </a:pPr>
                      <a:r>
                        <a:rPr lang="ja-JP" altLang="en-US" sz="2000" dirty="0">
                          <a:solidFill>
                            <a:schemeClr val="tx1"/>
                          </a:solidFill>
                          <a:latin typeface="メイリオ" panose="020B0604030504040204" pitchFamily="50" charset="-128"/>
                          <a:ea typeface="メイリオ" panose="020B0604030504040204" pitchFamily="50" charset="-128"/>
                          <a:sym typeface="Source Han Sans JP Medium"/>
                        </a:rPr>
                        <a:t>超純水の初期温度</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0C1DA"/>
                    </a:solidFill>
                  </a:tcPr>
                </a:tc>
                <a:tc>
                  <a:txBody>
                    <a:bodyPr/>
                    <a:lstStyle/>
                    <a:p>
                      <a:pPr algn="ctr">
                        <a:lnSpc>
                          <a:spcPts val="3038"/>
                        </a:lnSpc>
                        <a:defRPr/>
                      </a:pPr>
                      <a:r>
                        <a:rPr lang="ja-JP" altLang="en-US" sz="2000" dirty="0">
                          <a:solidFill>
                            <a:schemeClr val="tx1"/>
                          </a:solidFill>
                          <a:latin typeface="メイリオ" panose="020B0604030504040204" pitchFamily="50" charset="-128"/>
                          <a:ea typeface="メイリオ" panose="020B0604030504040204" pitchFamily="50" charset="-128"/>
                        </a:rPr>
                        <a:t>超純水の電気伝導率</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0C1DA"/>
                    </a:solidFill>
                  </a:tcPr>
                </a:tc>
                <a:extLst>
                  <a:ext uri="{0D108BD9-81ED-4DB2-BD59-A6C34878D82A}">
                    <a16:rowId xmlns:a16="http://schemas.microsoft.com/office/drawing/2014/main" val="10000"/>
                  </a:ext>
                </a:extLst>
              </a:tr>
              <a:tr h="433891">
                <a:tc>
                  <a:txBody>
                    <a:bodyPr/>
                    <a:lstStyle/>
                    <a:p>
                      <a:pPr algn="ctr">
                        <a:lnSpc>
                          <a:spcPts val="3079"/>
                        </a:lnSpc>
                        <a:defRPr/>
                      </a:pPr>
                      <a:r>
                        <a:rPr lang="en-US" sz="2000" dirty="0">
                          <a:solidFill>
                            <a:schemeClr val="tx1"/>
                          </a:solidFill>
                          <a:latin typeface="メイリオ" panose="020B0604030504040204" pitchFamily="50" charset="-128"/>
                          <a:ea typeface="メイリオ" panose="020B0604030504040204" pitchFamily="50" charset="-128"/>
                          <a:sym typeface="Source Han Sans JP Medium"/>
                        </a:rPr>
                        <a:t>1</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1016.3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22.3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sym typeface="Source Han Sans JP"/>
                        </a:rPr>
                        <a:t>0.066</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extLst>
                  <a:ext uri="{0D108BD9-81ED-4DB2-BD59-A6C34878D82A}">
                    <a16:rowId xmlns:a16="http://schemas.microsoft.com/office/drawing/2014/main" val="10001"/>
                  </a:ext>
                </a:extLst>
              </a:tr>
              <a:tr h="433891">
                <a:tc>
                  <a:txBody>
                    <a:bodyPr/>
                    <a:lstStyle/>
                    <a:p>
                      <a:pPr algn="ctr">
                        <a:lnSpc>
                          <a:spcPts val="3079"/>
                        </a:lnSpc>
                        <a:defRPr/>
                      </a:pPr>
                      <a:r>
                        <a:rPr lang="en-US" altLang="ja-JP" sz="2000" dirty="0">
                          <a:solidFill>
                            <a:schemeClr val="tx1"/>
                          </a:solidFill>
                          <a:latin typeface="メイリオ" panose="020B0604030504040204" pitchFamily="50" charset="-128"/>
                          <a:ea typeface="メイリオ" panose="020B0604030504040204" pitchFamily="50" charset="-128"/>
                        </a:rPr>
                        <a:t>2</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1014.4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sym typeface="Source Han Sans JP"/>
                        </a:rPr>
                        <a:t>23.1</a:t>
                      </a:r>
                      <a:endParaRPr lang="en-US" sz="2000" dirty="0">
                        <a:solidFill>
                          <a:schemeClr val="tx1"/>
                        </a:solidFill>
                        <a:latin typeface="メイリオ" panose="020B0604030504040204" pitchFamily="50" charset="-128"/>
                        <a:ea typeface="メイリオ" panose="020B0604030504040204" pitchFamily="50"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0.075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extLst>
                  <a:ext uri="{0D108BD9-81ED-4DB2-BD59-A6C34878D82A}">
                    <a16:rowId xmlns:a16="http://schemas.microsoft.com/office/drawing/2014/main" val="10002"/>
                  </a:ext>
                </a:extLst>
              </a:tr>
              <a:tr h="433891">
                <a:tc>
                  <a:txBody>
                    <a:bodyPr/>
                    <a:lstStyle/>
                    <a:p>
                      <a:pPr algn="ctr">
                        <a:lnSpc>
                          <a:spcPts val="3079"/>
                        </a:lnSpc>
                        <a:defRPr/>
                      </a:pPr>
                      <a:r>
                        <a:rPr lang="en-US" sz="2000" dirty="0">
                          <a:solidFill>
                            <a:schemeClr val="tx1"/>
                          </a:solidFill>
                          <a:latin typeface="メイリオ" panose="020B0604030504040204" pitchFamily="50" charset="-128"/>
                          <a:ea typeface="メイリオ" panose="020B0604030504040204" pitchFamily="50" charset="-128"/>
                        </a:rPr>
                        <a:t>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1018.1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22.9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tc>
                  <a:txBody>
                    <a:bodyPr/>
                    <a:lstStyle/>
                    <a:p>
                      <a:pPr algn="ctr">
                        <a:lnSpc>
                          <a:spcPts val="3038"/>
                        </a:lnSpc>
                        <a:defRPr/>
                      </a:pPr>
                      <a:r>
                        <a:rPr lang="en-US" sz="2000" dirty="0">
                          <a:solidFill>
                            <a:schemeClr val="tx1"/>
                          </a:solidFill>
                          <a:latin typeface="メイリオ" panose="020B0604030504040204" pitchFamily="50" charset="-128"/>
                          <a:ea typeface="メイリオ" panose="020B0604030504040204" pitchFamily="50" charset="-128"/>
                        </a:rPr>
                        <a:t>0.069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FF2F7"/>
                    </a:solidFill>
                  </a:tcPr>
                </a:tc>
                <a:extLst>
                  <a:ext uri="{0D108BD9-81ED-4DB2-BD59-A6C34878D82A}">
                    <a16:rowId xmlns:a16="http://schemas.microsoft.com/office/drawing/2014/main" val="932377167"/>
                  </a:ext>
                </a:extLst>
              </a:tr>
            </a:tbl>
          </a:graphicData>
        </a:graphic>
      </p:graphicFrame>
    </p:spTree>
    <p:extLst>
      <p:ext uri="{BB962C8B-B14F-4D97-AF65-F5344CB8AC3E}">
        <p14:creationId xmlns:p14="http://schemas.microsoft.com/office/powerpoint/2010/main" val="601946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F6C2F-1BD2-0C65-96EE-FAF9CC79438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74A5E5E-B149-C960-0821-0A4129C1FEA7}"/>
              </a:ext>
            </a:extLst>
          </p:cNvPr>
          <p:cNvSpPr>
            <a:spLocks noGrp="1"/>
          </p:cNvSpPr>
          <p:nvPr>
            <p:ph type="title"/>
          </p:nvPr>
        </p:nvSpPr>
        <p:spPr>
          <a:xfrm>
            <a:off x="857746" y="410449"/>
            <a:ext cx="8658001" cy="424732"/>
          </a:xfrm>
        </p:spPr>
        <p:txBody>
          <a:bodyPr>
            <a:normAutofit/>
          </a:bodyPr>
          <a:lstStyle/>
          <a:p>
            <a:r>
              <a:rPr kumimoji="1" lang="ja-JP" altLang="en-US" dirty="0">
                <a:latin typeface="Meiryo" panose="020B0604030504040204" pitchFamily="34" charset="-128"/>
                <a:ea typeface="Meiryo" panose="020B0604030504040204" pitchFamily="34" charset="-128"/>
              </a:rPr>
              <a:t>水流動音の信号対ノイズ比（</a:t>
            </a:r>
            <a:r>
              <a:rPr kumimoji="1" lang="en-US" altLang="ja-JP" dirty="0">
                <a:latin typeface="Meiryo" panose="020B0604030504040204" pitchFamily="34" charset="-128"/>
                <a:ea typeface="Meiryo" panose="020B0604030504040204" pitchFamily="34" charset="-128"/>
              </a:rPr>
              <a:t>SNR</a:t>
            </a:r>
            <a:r>
              <a:rPr kumimoji="1" lang="ja-JP" altLang="en-US" dirty="0">
                <a:latin typeface="Meiryo" panose="020B0604030504040204" pitchFamily="34" charset="-128"/>
                <a:ea typeface="Meiryo" panose="020B0604030504040204" pitchFamily="34" charset="-128"/>
              </a:rPr>
              <a:t>）の重畳手順</a:t>
            </a:r>
          </a:p>
        </p:txBody>
      </p:sp>
      <p:sp>
        <p:nvSpPr>
          <p:cNvPr id="2" name="Rectangle 1">
            <a:extLst>
              <a:ext uri="{FF2B5EF4-FFF2-40B4-BE49-F238E27FC236}">
                <a16:creationId xmlns:a16="http://schemas.microsoft.com/office/drawing/2014/main" id="{7855FDE7-B4FB-92CF-1FE7-2399603E24B1}"/>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mc:AlternateContent xmlns:mc="http://schemas.openxmlformats.org/markup-compatibility/2006" xmlns:a14="http://schemas.microsoft.com/office/drawing/2010/main">
        <mc:Choice Requires="a14">
          <p:sp>
            <p:nvSpPr>
              <p:cNvPr id="7" name="TextBox 25">
                <a:extLst>
                  <a:ext uri="{FF2B5EF4-FFF2-40B4-BE49-F238E27FC236}">
                    <a16:creationId xmlns:a16="http://schemas.microsoft.com/office/drawing/2014/main" id="{26A26930-F44E-1DEE-A827-B6E90A4CDF9C}"/>
                  </a:ext>
                </a:extLst>
              </p:cNvPr>
              <p:cNvSpPr txBox="1"/>
              <p:nvPr/>
            </p:nvSpPr>
            <p:spPr>
              <a:xfrm>
                <a:off x="857746" y="1154340"/>
                <a:ext cx="3128480" cy="512961"/>
              </a:xfrm>
              <a:prstGeom prst="rect">
                <a:avLst/>
              </a:prstGeom>
            </p:spPr>
            <p:txBody>
              <a:bodyPr wrap="square" lIns="0" tIns="0" rIns="0" bIns="0" rtlCol="0" anchor="t">
                <a:spAutoFit/>
              </a:bodyPr>
              <a:lstStyle/>
              <a:p>
                <a:pPr marL="457200" indent="-457200">
                  <a:lnSpc>
                    <a:spcPts val="2000"/>
                  </a:lnSpc>
                  <a:buClr>
                    <a:srgbClr val="7A0C36"/>
                  </a:buClr>
                  <a:buSzPct val="100000"/>
                  <a:buFont typeface="Wingdings" panose="05000000000000000000" pitchFamily="2" charset="2"/>
                  <a:buChar char="l"/>
                </a:pPr>
                <a:r>
                  <a:rPr lang="ja-JP" altLang="en-US" sz="1600" b="1" dirty="0">
                    <a:solidFill>
                      <a:srgbClr val="292B2B"/>
                    </a:solidFill>
                    <a:latin typeface="メイリオ" panose="020B0604030504040204" pitchFamily="50" charset="-128"/>
                    <a:ea typeface="メイリオ" panose="020B0604030504040204" pitchFamily="50" charset="-128"/>
                    <a:cs typeface="Source Han Sans JP"/>
                    <a:sym typeface="Source Han Sans JP"/>
                  </a:rPr>
                  <a:t>流量：</a:t>
                </a:r>
                <a:r>
                  <a:rPr lang="en-US" altLang="ja-JP" sz="1600" b="1" dirty="0">
                    <a:solidFill>
                      <a:srgbClr val="292B2B"/>
                    </a:solidFill>
                    <a:latin typeface="メイリオ" panose="020B0604030504040204" pitchFamily="50" charset="-128"/>
                    <a:ea typeface="メイリオ" panose="020B0604030504040204" pitchFamily="50" charset="-128"/>
                    <a:cs typeface="Source Han Sans JP"/>
                    <a:sym typeface="Source Han Sans JP"/>
                  </a:rPr>
                  <a:t>125 </a:t>
                </a:r>
                <a14:m>
                  <m:oMath xmlns:m="http://schemas.openxmlformats.org/officeDocument/2006/math">
                    <m:sSup>
                      <m:sSupPr>
                        <m:ctrlPr>
                          <a:rPr lang="en-US" altLang="ja-JP" sz="1600" b="1" i="1" smtClean="0">
                            <a:solidFill>
                              <a:srgbClr val="292B2B"/>
                            </a:solidFill>
                            <a:latin typeface="Cambria Math" panose="02040503050406030204" pitchFamily="18" charset="0"/>
                            <a:ea typeface="Source Han Sans JP" panose="020B0600070205080204" charset="-128"/>
                            <a:sym typeface="Source Han Sans JP"/>
                          </a:rPr>
                        </m:ctrlPr>
                      </m:sSupPr>
                      <m:e>
                        <m:r>
                          <a:rPr lang="en-US" altLang="ja-JP" sz="1600" b="1" i="1" smtClean="0">
                            <a:solidFill>
                              <a:srgbClr val="292B2B"/>
                            </a:solidFill>
                            <a:latin typeface="Cambria Math" panose="02040503050406030204" pitchFamily="18" charset="0"/>
                            <a:ea typeface="Source Han Sans JP" panose="020B0600070205080204" charset="-128"/>
                            <a:sym typeface="Source Han Sans JP"/>
                          </a:rPr>
                          <m:t>𝒎</m:t>
                        </m:r>
                      </m:e>
                      <m:sup>
                        <m:r>
                          <a:rPr lang="en-US" altLang="ja-JP" sz="1600" b="1" i="1" smtClean="0">
                            <a:solidFill>
                              <a:srgbClr val="292B2B"/>
                            </a:solidFill>
                            <a:latin typeface="Cambria Math" panose="02040503050406030204" pitchFamily="18" charset="0"/>
                            <a:ea typeface="Source Han Sans JP" panose="020B0600070205080204" charset="-128"/>
                            <a:sym typeface="Source Han Sans JP"/>
                          </a:rPr>
                          <m:t>𝟑</m:t>
                        </m:r>
                      </m:sup>
                    </m:sSup>
                    <m:r>
                      <a:rPr lang="en-US" altLang="ja-JP" sz="1600" b="1" i="1" smtClean="0">
                        <a:solidFill>
                          <a:srgbClr val="292B2B"/>
                        </a:solidFill>
                        <a:latin typeface="Cambria Math" panose="02040503050406030204" pitchFamily="18" charset="0"/>
                        <a:ea typeface="Source Han Sans JP" panose="020B0600070205080204" charset="-128"/>
                        <a:sym typeface="Source Han Sans JP"/>
                      </a:rPr>
                      <m:t>/</m:t>
                    </m:r>
                    <m:r>
                      <a:rPr lang="en-US" altLang="ja-JP" sz="1600" b="1" i="1" smtClean="0">
                        <a:solidFill>
                          <a:srgbClr val="292B2B"/>
                        </a:solidFill>
                        <a:latin typeface="Cambria Math" panose="02040503050406030204" pitchFamily="18" charset="0"/>
                        <a:ea typeface="Source Han Sans JP" panose="020B0600070205080204" charset="-128"/>
                        <a:sym typeface="Source Han Sans JP"/>
                      </a:rPr>
                      <m:t>𝒉</m:t>
                    </m:r>
                  </m:oMath>
                </a14:m>
                <a:endParaRPr lang="en-US" altLang="ja-JP" sz="1600" b="1" dirty="0">
                  <a:solidFill>
                    <a:srgbClr val="292B2B"/>
                  </a:solidFill>
                  <a:latin typeface="メイリオ" panose="020B0604030504040204" pitchFamily="50" charset="-128"/>
                  <a:ea typeface="メイリオ" panose="020B0604030504040204" pitchFamily="50" charset="-128"/>
                  <a:cs typeface="Source Han Sans JP"/>
                  <a:sym typeface="Source Han Sans JP"/>
                </a:endParaRPr>
              </a:p>
              <a:p>
                <a:pPr marL="457200" indent="-457200">
                  <a:lnSpc>
                    <a:spcPts val="2000"/>
                  </a:lnSpc>
                  <a:buClr>
                    <a:srgbClr val="7A0C36"/>
                  </a:buClr>
                  <a:buSzPct val="100000"/>
                  <a:buFont typeface="Wingdings" panose="05000000000000000000" pitchFamily="2" charset="2"/>
                  <a:buChar char="l"/>
                </a:pPr>
                <a:r>
                  <a:rPr lang="ja-JP" altLang="en-US" sz="1600" b="1" dirty="0">
                    <a:solidFill>
                      <a:srgbClr val="292B2B"/>
                    </a:solidFill>
                    <a:latin typeface="メイリオ" panose="020B0604030504040204" pitchFamily="50" charset="-128"/>
                    <a:ea typeface="メイリオ" panose="020B0604030504040204" pitchFamily="50" charset="-128"/>
                    <a:cs typeface="Source Han Sans JP"/>
                    <a:sym typeface="Source Han Sans JP"/>
                  </a:rPr>
                  <a:t>レイノルズ数：</a:t>
                </a:r>
                <a14:m>
                  <m:oMath xmlns:m="http://schemas.openxmlformats.org/officeDocument/2006/math">
                    <m:r>
                      <a:rPr lang="en-US" altLang="ja-JP" sz="1600" b="1" i="1">
                        <a:solidFill>
                          <a:srgbClr val="292B2B"/>
                        </a:solidFill>
                        <a:latin typeface="Cambria Math" panose="02040503050406030204" pitchFamily="18" charset="0"/>
                        <a:ea typeface="Source Han Sans JP" panose="020B0600070205080204" charset="-128"/>
                        <a:sym typeface="Source Han Sans JP"/>
                      </a:rPr>
                      <m:t>𝟑</m:t>
                    </m:r>
                    <m:r>
                      <a:rPr lang="en-US" altLang="ja-JP" sz="1600" b="1" i="1">
                        <a:solidFill>
                          <a:srgbClr val="292B2B"/>
                        </a:solidFill>
                        <a:latin typeface="Cambria Math" panose="02040503050406030204" pitchFamily="18" charset="0"/>
                        <a:ea typeface="Source Han Sans JP" panose="020B0600070205080204" charset="-128"/>
                        <a:sym typeface="Source Han Sans JP"/>
                      </a:rPr>
                      <m:t>.</m:t>
                    </m:r>
                    <m:r>
                      <a:rPr lang="en-US" altLang="ja-JP" sz="1600" b="1" i="1">
                        <a:solidFill>
                          <a:srgbClr val="292B2B"/>
                        </a:solidFill>
                        <a:latin typeface="Cambria Math" panose="02040503050406030204" pitchFamily="18" charset="0"/>
                        <a:ea typeface="Source Han Sans JP" panose="020B0600070205080204" charset="-128"/>
                        <a:sym typeface="Source Han Sans JP"/>
                      </a:rPr>
                      <m:t>𝟐</m:t>
                    </m:r>
                    <m:r>
                      <a:rPr lang="en-US" altLang="ja-JP" sz="1600" b="1" i="1">
                        <a:solidFill>
                          <a:srgbClr val="292B2B"/>
                        </a:solidFill>
                        <a:latin typeface="Cambria Math" panose="02040503050406030204" pitchFamily="18" charset="0"/>
                        <a:ea typeface="Source Han Sans JP" panose="020B0600070205080204" charset="-128"/>
                        <a:sym typeface="Source Han Sans JP"/>
                      </a:rPr>
                      <m:t> ×</m:t>
                    </m:r>
                    <m:sSup>
                      <m:sSupPr>
                        <m:ctrlPr>
                          <a:rPr lang="en-US" altLang="ja-JP" sz="1600" b="1" i="1">
                            <a:solidFill>
                              <a:srgbClr val="292B2B"/>
                            </a:solidFill>
                            <a:latin typeface="Cambria Math" panose="02040503050406030204" pitchFamily="18" charset="0"/>
                            <a:ea typeface="Cambria Math" panose="02040503050406030204" pitchFamily="18" charset="0"/>
                            <a:sym typeface="Source Han Sans JP"/>
                          </a:rPr>
                        </m:ctrlPr>
                      </m:sSupPr>
                      <m:e>
                        <m:r>
                          <a:rPr lang="en-US" altLang="ja-JP" sz="1600" b="1" i="1">
                            <a:solidFill>
                              <a:srgbClr val="292B2B"/>
                            </a:solidFill>
                            <a:latin typeface="Cambria Math" panose="02040503050406030204" pitchFamily="18" charset="0"/>
                            <a:ea typeface="Cambria Math" panose="02040503050406030204" pitchFamily="18" charset="0"/>
                            <a:sym typeface="Source Han Sans JP"/>
                          </a:rPr>
                          <m:t>𝟏𝟎</m:t>
                        </m:r>
                      </m:e>
                      <m:sup>
                        <m:r>
                          <a:rPr lang="en-US" altLang="ja-JP" sz="1600" b="1" i="1">
                            <a:solidFill>
                              <a:srgbClr val="292B2B"/>
                            </a:solidFill>
                            <a:latin typeface="Cambria Math" panose="02040503050406030204" pitchFamily="18" charset="0"/>
                            <a:ea typeface="Cambria Math" panose="02040503050406030204" pitchFamily="18" charset="0"/>
                            <a:sym typeface="Source Han Sans JP"/>
                          </a:rPr>
                          <m:t>𝟓</m:t>
                        </m:r>
                      </m:sup>
                    </m:sSup>
                  </m:oMath>
                </a14:m>
                <a:endParaRPr lang="en-US" altLang="ja-JP" sz="1600" b="1" dirty="0">
                  <a:solidFill>
                    <a:srgbClr val="292B2B"/>
                  </a:solidFill>
                  <a:latin typeface="メイリオ" panose="020B0604030504040204" pitchFamily="50" charset="-128"/>
                  <a:ea typeface="メイリオ" panose="020B0604030504040204" pitchFamily="50" charset="-128"/>
                  <a:cs typeface="Source Han Sans JP"/>
                  <a:sym typeface="Source Han Sans JP"/>
                </a:endParaRPr>
              </a:p>
            </p:txBody>
          </p:sp>
        </mc:Choice>
        <mc:Fallback xmlns="">
          <p:sp>
            <p:nvSpPr>
              <p:cNvPr id="7" name="TextBox 25">
                <a:extLst>
                  <a:ext uri="{FF2B5EF4-FFF2-40B4-BE49-F238E27FC236}">
                    <a16:creationId xmlns:a16="http://schemas.microsoft.com/office/drawing/2014/main" id="{26A26930-F44E-1DEE-A827-B6E90A4CDF9C}"/>
                  </a:ext>
                </a:extLst>
              </p:cNvPr>
              <p:cNvSpPr txBox="1">
                <a:spLocks noRot="1" noChangeAspect="1" noMove="1" noResize="1" noEditPoints="1" noAdjustHandles="1" noChangeArrowheads="1" noChangeShapeType="1" noTextEdit="1"/>
              </p:cNvSpPr>
              <p:nvPr/>
            </p:nvSpPr>
            <p:spPr>
              <a:xfrm>
                <a:off x="857746" y="1154340"/>
                <a:ext cx="3128480" cy="512961"/>
              </a:xfrm>
              <a:prstGeom prst="rect">
                <a:avLst/>
              </a:prstGeom>
              <a:blipFill>
                <a:blip r:embed="rId3"/>
                <a:stretch>
                  <a:fillRect l="-3704" t="-9412" b="-24706"/>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3887D6DF-D2A1-76D5-5B89-4CCCDC193C86}"/>
              </a:ext>
            </a:extLst>
          </p:cNvPr>
          <p:cNvSpPr txBox="1"/>
          <p:nvPr/>
        </p:nvSpPr>
        <p:spPr>
          <a:xfrm>
            <a:off x="857746" y="1765245"/>
            <a:ext cx="5778829" cy="442429"/>
          </a:xfrm>
          <a:prstGeom prst="rect">
            <a:avLst/>
          </a:prstGeom>
          <a:noFill/>
        </p:spPr>
        <p:txBody>
          <a:bodyPr wrap="square">
            <a:spAutoFit/>
          </a:bodyPr>
          <a:lstStyle/>
          <a:p>
            <a:pPr algn="l" fontAlgn="base">
              <a:lnSpc>
                <a:spcPts val="3000"/>
              </a:lnSpc>
              <a:spcAft>
                <a:spcPts val="600"/>
              </a:spcAft>
            </a:pPr>
            <a:r>
              <a:rPr lang="ja-JP" altLang="en-US" sz="1600" dirty="0">
                <a:latin typeface="メイリオ" panose="020B0604030504040204" pitchFamily="50" charset="-128"/>
                <a:ea typeface="メイリオ" panose="020B0604030504040204" pitchFamily="50" charset="-128"/>
              </a:rPr>
              <a:t>まず，元の信号の平均二乗値を以下の式で計算する．</a:t>
            </a:r>
            <a:endParaRPr lang="en-US" altLang="ja-JP" sz="16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342F0BC3-1A9E-7090-134C-4636FCEFCF3D}"/>
                  </a:ext>
                </a:extLst>
              </p:cNvPr>
              <p:cNvSpPr txBox="1"/>
              <p:nvPr/>
            </p:nvSpPr>
            <p:spPr>
              <a:xfrm>
                <a:off x="467062" y="2269133"/>
                <a:ext cx="9144000"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600" b="0" i="1" smtClean="0">
                              <a:latin typeface="Cambria Math" panose="02040503050406030204" pitchFamily="18" charset="0"/>
                              <a:ea typeface="Cambria Math" panose="02040503050406030204" pitchFamily="18" charset="0"/>
                            </a:rPr>
                          </m:ctrlPr>
                        </m:sSubPr>
                        <m:e>
                          <m:r>
                            <a:rPr lang="en-US" altLang="ja-JP" sz="1600" b="0" i="1" smtClean="0">
                              <a:latin typeface="Cambria Math" panose="02040503050406030204" pitchFamily="18" charset="0"/>
                              <a:ea typeface="Cambria Math" panose="02040503050406030204" pitchFamily="18" charset="0"/>
                            </a:rPr>
                            <m:t>𝑃</m:t>
                          </m:r>
                        </m:e>
                        <m:sub>
                          <m:r>
                            <a:rPr lang="en-US" altLang="ja-JP" sz="1600" b="0" i="1" smtClean="0">
                              <a:latin typeface="Cambria Math" panose="02040503050406030204" pitchFamily="18" charset="0"/>
                              <a:ea typeface="Cambria Math" panose="02040503050406030204" pitchFamily="18" charset="0"/>
                            </a:rPr>
                            <m:t>𝑠𝑖𝑔𝑛𝑎𝑙</m:t>
                          </m:r>
                        </m:sub>
                      </m:sSub>
                      <m:r>
                        <a:rPr lang="en-US" altLang="ja-JP" sz="1600" b="0" i="1" smtClean="0">
                          <a:latin typeface="Cambria Math" panose="02040503050406030204" pitchFamily="18" charset="0"/>
                          <a:ea typeface="Cambria Math" panose="02040503050406030204" pitchFamily="18" charset="0"/>
                        </a:rPr>
                        <m:t>=</m:t>
                      </m:r>
                      <m:f>
                        <m:fPr>
                          <m:ctrlPr>
                            <a:rPr lang="en-US" altLang="ja-JP" sz="1600" b="0" i="1" smtClean="0">
                              <a:latin typeface="Cambria Math" panose="02040503050406030204" pitchFamily="18" charset="0"/>
                              <a:ea typeface="Cambria Math" panose="02040503050406030204" pitchFamily="18" charset="0"/>
                            </a:rPr>
                          </m:ctrlPr>
                        </m:fPr>
                        <m:num>
                          <m:r>
                            <a:rPr lang="en-US" altLang="ja-JP" sz="1600" b="0" i="1" smtClean="0">
                              <a:latin typeface="Cambria Math" panose="02040503050406030204" pitchFamily="18" charset="0"/>
                              <a:ea typeface="Cambria Math" panose="02040503050406030204" pitchFamily="18" charset="0"/>
                            </a:rPr>
                            <m:t>1</m:t>
                          </m:r>
                        </m:num>
                        <m:den>
                          <m:r>
                            <a:rPr lang="en-US" altLang="ja-JP" sz="1600" b="0" i="1" smtClean="0">
                              <a:latin typeface="Cambria Math" panose="02040503050406030204" pitchFamily="18" charset="0"/>
                              <a:ea typeface="Cambria Math" panose="02040503050406030204" pitchFamily="18" charset="0"/>
                            </a:rPr>
                            <m:t>𝑁</m:t>
                          </m:r>
                        </m:den>
                      </m:f>
                      <m:nary>
                        <m:naryPr>
                          <m:chr m:val="∑"/>
                          <m:ctrlPr>
                            <a:rPr lang="en-US" altLang="ja-JP" sz="1600" b="0" i="1" smtClean="0">
                              <a:latin typeface="Cambria Math" panose="02040503050406030204" pitchFamily="18" charset="0"/>
                              <a:ea typeface="Cambria Math" panose="02040503050406030204" pitchFamily="18" charset="0"/>
                            </a:rPr>
                          </m:ctrlPr>
                        </m:naryPr>
                        <m:sub>
                          <m:r>
                            <a:rPr lang="en-US" altLang="ja-JP" sz="1600" b="0" i="1" smtClean="0">
                              <a:latin typeface="Cambria Math" panose="02040503050406030204" pitchFamily="18" charset="0"/>
                              <a:ea typeface="Cambria Math" panose="02040503050406030204" pitchFamily="18" charset="0"/>
                            </a:rPr>
                            <m:t>𝑖</m:t>
                          </m:r>
                          <m:r>
                            <a:rPr lang="en-US" altLang="ja-JP" sz="1600" b="0" i="1" smtClean="0">
                              <a:latin typeface="Cambria Math" panose="02040503050406030204" pitchFamily="18" charset="0"/>
                              <a:ea typeface="Cambria Math" panose="02040503050406030204" pitchFamily="18" charset="0"/>
                            </a:rPr>
                            <m:t>=</m:t>
                          </m:r>
                          <m:r>
                            <a:rPr lang="en-US" altLang="ja-JP" sz="1600" b="0" i="1" smtClean="0">
                              <a:latin typeface="Cambria Math" panose="02040503050406030204" pitchFamily="18" charset="0"/>
                              <a:ea typeface="Cambria Math" panose="02040503050406030204" pitchFamily="18" charset="0"/>
                            </a:rPr>
                            <m:t>1</m:t>
                          </m:r>
                        </m:sub>
                        <m:sup>
                          <m:r>
                            <a:rPr lang="en-US" altLang="ja-JP" sz="1600" b="0" i="1" smtClean="0">
                              <a:latin typeface="Cambria Math" panose="02040503050406030204" pitchFamily="18" charset="0"/>
                              <a:ea typeface="Cambria Math" panose="02040503050406030204" pitchFamily="18" charset="0"/>
                            </a:rPr>
                            <m:t>𝑁</m:t>
                          </m:r>
                        </m:sup>
                        <m:e>
                          <m:sSup>
                            <m:sSupPr>
                              <m:ctrlPr>
                                <a:rPr lang="en-US" altLang="ja-JP" sz="1600" b="0" i="1" smtClean="0">
                                  <a:latin typeface="Cambria Math" panose="02040503050406030204" pitchFamily="18" charset="0"/>
                                  <a:ea typeface="Cambria Math" panose="02040503050406030204" pitchFamily="18" charset="0"/>
                                </a:rPr>
                              </m:ctrlPr>
                            </m:sSupPr>
                            <m:e>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𝑦</m:t>
                                  </m:r>
                                </m:e>
                                <m:sub>
                                  <m:r>
                                    <a:rPr lang="en-US" altLang="ja-JP" sz="1600" i="1">
                                      <a:latin typeface="Cambria Math" panose="02040503050406030204" pitchFamily="18" charset="0"/>
                                      <a:ea typeface="Cambria Math" panose="02040503050406030204" pitchFamily="18" charset="0"/>
                                    </a:rPr>
                                    <m:t>𝑠𝑖𝑔𝑛𝑎𝑙</m:t>
                                  </m:r>
                                </m:sub>
                              </m:sSub>
                              <m:r>
                                <a:rPr lang="en-US" altLang="ja-JP" sz="1600" b="0" i="1" smtClean="0">
                                  <a:latin typeface="Cambria Math" panose="02040503050406030204" pitchFamily="18" charset="0"/>
                                  <a:ea typeface="Cambria Math" panose="02040503050406030204" pitchFamily="18" charset="0"/>
                                </a:rPr>
                                <m:t>(</m:t>
                              </m:r>
                              <m:r>
                                <a:rPr lang="en-US" altLang="ja-JP" sz="1600" b="0" i="1" smtClean="0">
                                  <a:latin typeface="Cambria Math" panose="02040503050406030204" pitchFamily="18" charset="0"/>
                                  <a:ea typeface="Cambria Math" panose="02040503050406030204" pitchFamily="18" charset="0"/>
                                </a:rPr>
                                <m:t>𝑖</m:t>
                              </m:r>
                              <m:r>
                                <a:rPr lang="en-US" altLang="ja-JP" sz="1600" b="0" i="1" smtClean="0">
                                  <a:latin typeface="Cambria Math" panose="02040503050406030204" pitchFamily="18" charset="0"/>
                                  <a:ea typeface="Cambria Math" panose="02040503050406030204" pitchFamily="18" charset="0"/>
                                </a:rPr>
                                <m:t>)</m:t>
                              </m:r>
                            </m:e>
                            <m:sup>
                              <m:r>
                                <a:rPr lang="en-US" altLang="ja-JP" sz="1600" b="0" i="1" smtClean="0">
                                  <a:latin typeface="Cambria Math" panose="02040503050406030204" pitchFamily="18" charset="0"/>
                                  <a:ea typeface="Cambria Math" panose="02040503050406030204" pitchFamily="18" charset="0"/>
                                </a:rPr>
                                <m:t>2</m:t>
                              </m:r>
                            </m:sup>
                          </m:sSup>
                        </m:e>
                      </m:nary>
                    </m:oMath>
                  </m:oMathPara>
                </a14:m>
                <a:endParaRPr lang="ja-JP" altLang="en-US" sz="1600" dirty="0">
                  <a:latin typeface="メイリオ" panose="020B0604030504040204" pitchFamily="50" charset="-128"/>
                  <a:ea typeface="メイリオ" panose="020B0604030504040204" pitchFamily="50" charset="-128"/>
                </a:endParaRPr>
              </a:p>
            </p:txBody>
          </p:sp>
        </mc:Choice>
        <mc:Fallback xmlns="">
          <p:sp>
            <p:nvSpPr>
              <p:cNvPr id="9" name="テキスト ボックス 8">
                <a:extLst>
                  <a:ext uri="{FF2B5EF4-FFF2-40B4-BE49-F238E27FC236}">
                    <a16:creationId xmlns:a16="http://schemas.microsoft.com/office/drawing/2014/main" id="{342F0BC3-1A9E-7090-134C-4636FCEFCF3D}"/>
                  </a:ext>
                </a:extLst>
              </p:cNvPr>
              <p:cNvSpPr txBox="1">
                <a:spLocks noRot="1" noChangeAspect="1" noMove="1" noResize="1" noEditPoints="1" noAdjustHandles="1" noChangeArrowheads="1" noChangeShapeType="1" noTextEdit="1"/>
              </p:cNvSpPr>
              <p:nvPr/>
            </p:nvSpPr>
            <p:spPr>
              <a:xfrm>
                <a:off x="467062" y="2269133"/>
                <a:ext cx="9144000" cy="784638"/>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69332B41-24F7-34CA-94AF-35B2897DA350}"/>
                  </a:ext>
                </a:extLst>
              </p:cNvPr>
              <p:cNvSpPr txBox="1"/>
              <p:nvPr/>
            </p:nvSpPr>
            <p:spPr>
              <a:xfrm>
                <a:off x="718224" y="3181143"/>
                <a:ext cx="8806776" cy="851002"/>
              </a:xfrm>
              <a:prstGeom prst="rect">
                <a:avLst/>
              </a:prstGeom>
              <a:noFill/>
            </p:spPr>
            <p:txBody>
              <a:bodyPr wrap="square">
                <a:spAutoFit/>
              </a:bodyPr>
              <a:lstStyle/>
              <a:p>
                <a:r>
                  <a:rPr lang="ja-JP" altLang="en-US" sz="1600" dirty="0">
                    <a:latin typeface="メイリオ" panose="020B0604030504040204" pitchFamily="50" charset="-128"/>
                    <a:ea typeface="メイリオ" panose="020B0604030504040204" pitchFamily="50" charset="-128"/>
                  </a:rPr>
                  <a:t>ここで、</a:t>
                </a:r>
                <a:r>
                  <a:rPr lang="en-US" altLang="ja-JP" sz="1600" dirty="0">
                    <a:latin typeface="メイリオ" panose="020B0604030504040204" pitchFamily="50" charset="-128"/>
                    <a:ea typeface="メイリオ" panose="020B0604030504040204" pitchFamily="50" charset="-128"/>
                  </a:rPr>
                  <a:t> </a:t>
                </a:r>
                <a14:m>
                  <m:oMath xmlns:m="http://schemas.openxmlformats.org/officeDocument/2006/math">
                    <m:r>
                      <a:rPr lang="en-US" altLang="ja-JP" sz="1600" b="0" i="1" smtClean="0">
                        <a:latin typeface="Cambria Math" panose="02040503050406030204" pitchFamily="18" charset="0"/>
                        <a:ea typeface="Cambria Math" panose="02040503050406030204" pitchFamily="18" charset="0"/>
                      </a:rPr>
                      <m:t>𝑁</m:t>
                    </m:r>
                  </m:oMath>
                </a14:m>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は信号 </a:t>
                </a:r>
                <a14:m>
                  <m:oMath xmlns:m="http://schemas.openxmlformats.org/officeDocument/2006/math">
                    <m:sSub>
                      <m:sSubPr>
                        <m:ctrlPr>
                          <a:rPr lang="en-US" altLang="ja-JP" sz="1600" i="1" smtClean="0">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𝑦</m:t>
                        </m:r>
                      </m:e>
                      <m:sub>
                        <m:r>
                          <a:rPr lang="en-US" altLang="ja-JP" sz="1600" i="1">
                            <a:latin typeface="Cambria Math" panose="02040503050406030204" pitchFamily="18" charset="0"/>
                            <a:ea typeface="Cambria Math" panose="02040503050406030204" pitchFamily="18" charset="0"/>
                          </a:rPr>
                          <m:t>𝑠𝑖𝑔𝑛𝑎𝑙</m:t>
                        </m:r>
                      </m:sub>
                    </m:sSub>
                    <m:r>
                      <a:rPr lang="en-US" altLang="ja-JP" sz="1600" b="0" i="1" smtClean="0">
                        <a:latin typeface="Cambria Math" panose="02040503050406030204" pitchFamily="18" charset="0"/>
                        <a:ea typeface="Cambria Math" panose="02040503050406030204" pitchFamily="18" charset="0"/>
                      </a:rPr>
                      <m:t>(</m:t>
                    </m:r>
                    <m:r>
                      <a:rPr lang="en-US" altLang="ja-JP" sz="1600" b="0" i="1" smtClean="0">
                        <a:latin typeface="Cambria Math" panose="02040503050406030204" pitchFamily="18" charset="0"/>
                        <a:ea typeface="Cambria Math" panose="02040503050406030204" pitchFamily="18" charset="0"/>
                      </a:rPr>
                      <m:t>𝑖</m:t>
                    </m:r>
                    <m:r>
                      <a:rPr lang="en-US" altLang="ja-JP" sz="1600" b="0" i="1" smtClean="0">
                        <a:latin typeface="Cambria Math" panose="02040503050406030204" pitchFamily="18" charset="0"/>
                        <a:ea typeface="Cambria Math" panose="02040503050406030204" pitchFamily="18" charset="0"/>
                      </a:rPr>
                      <m:t>)</m:t>
                    </m:r>
                  </m:oMath>
                </a14:m>
                <a:r>
                  <a:rPr lang="ja-JP" altLang="en-US" sz="1600" dirty="0">
                    <a:latin typeface="メイリオ" panose="020B0604030504040204" pitchFamily="50" charset="-128"/>
                    <a:ea typeface="メイリオ" panose="020B0604030504040204" pitchFamily="50" charset="-128"/>
                  </a:rPr>
                  <a:t>のサンプル数を表す。同様に，ノイズ信号についても平均二乗値（</a:t>
                </a:r>
                <a:r>
                  <a:rPr lang="en-US" altLang="ja-JP" sz="1600" dirty="0">
                    <a:latin typeface="メイリオ" panose="020B0604030504040204" pitchFamily="50" charset="-128"/>
                    <a:ea typeface="メイリオ" panose="020B0604030504040204" pitchFamily="50" charset="-128"/>
                  </a:rPr>
                  <a:t> </a:t>
                </a:r>
                <a14:m>
                  <m:oMath xmlns:m="http://schemas.openxmlformats.org/officeDocument/2006/math">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𝑃</m:t>
                        </m:r>
                      </m:e>
                      <m:sub>
                        <m:r>
                          <a:rPr lang="en-US" altLang="ja-JP" sz="1600" b="0" i="1" smtClean="0">
                            <a:latin typeface="Cambria Math" panose="02040503050406030204" pitchFamily="18" charset="0"/>
                            <a:ea typeface="Cambria Math" panose="02040503050406030204" pitchFamily="18" charset="0"/>
                          </a:rPr>
                          <m:t>𝑛𝑜𝑖𝑠𝑒</m:t>
                        </m:r>
                      </m:sub>
                    </m:sSub>
                    <m:r>
                      <a:rPr lang="en-US" altLang="ja-JP" sz="1600" i="1">
                        <a:latin typeface="Cambria Math" panose="02040503050406030204" pitchFamily="18" charset="0"/>
                        <a:ea typeface="Cambria Math" panose="02040503050406030204" pitchFamily="18" charset="0"/>
                      </a:rPr>
                      <m:t> </m:t>
                    </m:r>
                  </m:oMath>
                </a14:m>
                <a:r>
                  <a:rPr lang="ja-JP" altLang="en-US" sz="1600" dirty="0">
                    <a:latin typeface="メイリオ" panose="020B0604030504040204" pitchFamily="50" charset="-128"/>
                    <a:ea typeface="メイリオ" panose="020B0604030504040204" pitchFamily="50" charset="-128"/>
                  </a:rPr>
                  <a:t>）を求める．</a:t>
                </a:r>
              </a:p>
              <a:p>
                <a:r>
                  <a:rPr lang="ja-JP" altLang="en-US" sz="1600" dirty="0">
                    <a:latin typeface="メイリオ" panose="020B0604030504040204" pitchFamily="50" charset="-128"/>
                    <a:ea typeface="メイリオ" panose="020B0604030504040204" pitchFamily="50" charset="-128"/>
                  </a:rPr>
                  <a:t>次に，所望の </a:t>
                </a:r>
                <a:r>
                  <a:rPr lang="en-US" altLang="ja-JP" sz="1600" dirty="0">
                    <a:latin typeface="メイリオ" panose="020B0604030504040204" pitchFamily="50" charset="-128"/>
                    <a:ea typeface="メイリオ" panose="020B0604030504040204" pitchFamily="50" charset="-128"/>
                  </a:rPr>
                  <a:t>SNR </a:t>
                </a:r>
                <a:r>
                  <a:rPr lang="ja-JP" altLang="en-US" sz="1600" dirty="0">
                    <a:latin typeface="メイリオ" panose="020B0604030504040204" pitchFamily="50" charset="-128"/>
                    <a:ea typeface="メイリオ" panose="020B0604030504040204" pitchFamily="50" charset="-128"/>
                  </a:rPr>
                  <a:t>に基づいてスケーリング係数 </a:t>
                </a:r>
                <a14:m>
                  <m:oMath xmlns:m="http://schemas.openxmlformats.org/officeDocument/2006/math">
                    <m:r>
                      <a:rPr lang="ja-JP" altLang="en-US" sz="1600" b="0" i="1" smtClean="0">
                        <a:latin typeface="Cambria Math" panose="02040503050406030204" pitchFamily="18" charset="0"/>
                        <a:ea typeface="Cambria Math" panose="02040503050406030204" pitchFamily="18" charset="0"/>
                      </a:rPr>
                      <m:t>𝛼</m:t>
                    </m:r>
                  </m:oMath>
                </a14:m>
                <a:r>
                  <a:rPr lang="ja-JP" altLang="en-US" sz="1600" dirty="0">
                    <a:latin typeface="メイリオ" panose="020B0604030504040204" pitchFamily="50" charset="-128"/>
                    <a:ea typeface="メイリオ" panose="020B0604030504040204" pitchFamily="50" charset="-128"/>
                  </a:rPr>
                  <a:t>を計算する．</a:t>
                </a:r>
                <a:r>
                  <a:rPr lang="en-US" altLang="ja-JP" sz="1600" dirty="0">
                    <a:latin typeface="メイリオ" panose="020B0604030504040204" pitchFamily="50" charset="-128"/>
                    <a:ea typeface="メイリオ" panose="020B0604030504040204" pitchFamily="50" charset="-128"/>
                  </a:rPr>
                  <a:t>SNR </a:t>
                </a:r>
                <a:r>
                  <a:rPr lang="ja-JP" altLang="en-US" sz="1600" dirty="0">
                    <a:latin typeface="メイリオ" panose="020B0604030504040204" pitchFamily="50" charset="-128"/>
                    <a:ea typeface="メイリオ" panose="020B0604030504040204" pitchFamily="50" charset="-128"/>
                  </a:rPr>
                  <a:t>は以下の式で定義される．</a:t>
                </a:r>
              </a:p>
            </p:txBody>
          </p:sp>
        </mc:Choice>
        <mc:Fallback xmlns="">
          <p:sp>
            <p:nvSpPr>
              <p:cNvPr id="10" name="テキスト ボックス 9">
                <a:extLst>
                  <a:ext uri="{FF2B5EF4-FFF2-40B4-BE49-F238E27FC236}">
                    <a16:creationId xmlns:a16="http://schemas.microsoft.com/office/drawing/2014/main" id="{69332B41-24F7-34CA-94AF-35B2897DA350}"/>
                  </a:ext>
                </a:extLst>
              </p:cNvPr>
              <p:cNvSpPr txBox="1">
                <a:spLocks noRot="1" noChangeAspect="1" noMove="1" noResize="1" noEditPoints="1" noAdjustHandles="1" noChangeArrowheads="1" noChangeShapeType="1" noTextEdit="1"/>
              </p:cNvSpPr>
              <p:nvPr/>
            </p:nvSpPr>
            <p:spPr>
              <a:xfrm>
                <a:off x="718224" y="3181143"/>
                <a:ext cx="8806776" cy="851002"/>
              </a:xfrm>
              <a:prstGeom prst="rect">
                <a:avLst/>
              </a:prstGeom>
              <a:blipFill>
                <a:blip r:embed="rId5"/>
                <a:stretch>
                  <a:fillRect l="-415" r="-2699" b="-935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77D85811-6AF3-4AC4-904C-041A51A40DDD}"/>
                  </a:ext>
                </a:extLst>
              </p:cNvPr>
              <p:cNvSpPr txBox="1"/>
              <p:nvPr/>
            </p:nvSpPr>
            <p:spPr>
              <a:xfrm>
                <a:off x="381000" y="4186646"/>
                <a:ext cx="9144000" cy="6021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1600" b="0" i="1" smtClean="0">
                          <a:latin typeface="Cambria Math" panose="02040503050406030204" pitchFamily="18" charset="0"/>
                          <a:ea typeface="Cambria Math" panose="02040503050406030204" pitchFamily="18" charset="0"/>
                        </a:rPr>
                        <m:t>𝑆𝑁𝑅</m:t>
                      </m:r>
                      <m:r>
                        <a:rPr kumimoji="1" lang="en-US" altLang="ja-JP" sz="1600" b="0" i="1" smtClean="0">
                          <a:latin typeface="Cambria Math" panose="02040503050406030204" pitchFamily="18" charset="0"/>
                          <a:ea typeface="Cambria Math" panose="02040503050406030204" pitchFamily="18" charset="0"/>
                        </a:rPr>
                        <m:t>=</m:t>
                      </m:r>
                      <m:r>
                        <a:rPr kumimoji="1" lang="en-US" altLang="ja-JP" sz="1600" b="0" i="1" smtClean="0">
                          <a:latin typeface="Cambria Math" panose="02040503050406030204" pitchFamily="18" charset="0"/>
                          <a:ea typeface="Cambria Math" panose="02040503050406030204" pitchFamily="18" charset="0"/>
                        </a:rPr>
                        <m:t>10</m:t>
                      </m:r>
                      <m:func>
                        <m:funcPr>
                          <m:ctrlPr>
                            <a:rPr kumimoji="1" lang="en-US" altLang="ja-JP" sz="1600" b="0" i="1" smtClean="0">
                              <a:latin typeface="Cambria Math" panose="02040503050406030204" pitchFamily="18" charset="0"/>
                              <a:ea typeface="Cambria Math" panose="02040503050406030204" pitchFamily="18" charset="0"/>
                            </a:rPr>
                          </m:ctrlPr>
                        </m:funcPr>
                        <m:fName>
                          <m:sSub>
                            <m:sSubPr>
                              <m:ctrlPr>
                                <a:rPr kumimoji="1" lang="en-US" altLang="ja-JP" sz="1600" b="0" i="1" smtClean="0">
                                  <a:latin typeface="Cambria Math" panose="02040503050406030204" pitchFamily="18" charset="0"/>
                                  <a:ea typeface="Cambria Math" panose="02040503050406030204" pitchFamily="18" charset="0"/>
                                </a:rPr>
                              </m:ctrlPr>
                            </m:sSubPr>
                            <m:e>
                              <m:r>
                                <m:rPr>
                                  <m:sty m:val="p"/>
                                </m:rPr>
                                <a:rPr kumimoji="1" lang="en-US" altLang="ja-JP" sz="1600" b="0" i="0" smtClean="0">
                                  <a:latin typeface="Cambria Math" panose="02040503050406030204" pitchFamily="18" charset="0"/>
                                  <a:ea typeface="Cambria Math" panose="02040503050406030204" pitchFamily="18" charset="0"/>
                                </a:rPr>
                                <m:t>log</m:t>
                              </m:r>
                            </m:e>
                            <m:sub>
                              <m:r>
                                <a:rPr kumimoji="1" lang="en-US" altLang="ja-JP" sz="1600" b="0" i="1" smtClean="0">
                                  <a:latin typeface="Cambria Math" panose="02040503050406030204" pitchFamily="18" charset="0"/>
                                  <a:ea typeface="Cambria Math" panose="02040503050406030204" pitchFamily="18" charset="0"/>
                                </a:rPr>
                                <m:t>10</m:t>
                              </m:r>
                            </m:sub>
                          </m:sSub>
                        </m:fName>
                        <m:e>
                          <m:f>
                            <m:fPr>
                              <m:ctrlPr>
                                <a:rPr kumimoji="1" lang="en-US" altLang="ja-JP" sz="1600" i="1">
                                  <a:latin typeface="Cambria Math" panose="02040503050406030204" pitchFamily="18" charset="0"/>
                                  <a:ea typeface="Cambria Math" panose="02040503050406030204" pitchFamily="18" charset="0"/>
                                </a:rPr>
                              </m:ctrlPr>
                            </m:fPr>
                            <m:num>
                              <m:sSub>
                                <m:sSubPr>
                                  <m:ctrlPr>
                                    <a:rPr kumimoji="1" lang="en-US" altLang="ja-JP" sz="1600" i="1" smtClean="0">
                                      <a:latin typeface="Cambria Math" panose="02040503050406030204" pitchFamily="18" charset="0"/>
                                      <a:ea typeface="Cambria Math" panose="02040503050406030204" pitchFamily="18" charset="0"/>
                                    </a:rPr>
                                  </m:ctrlPr>
                                </m:sSubPr>
                                <m:e>
                                  <m:r>
                                    <a:rPr kumimoji="1" lang="en-US" altLang="ja-JP" sz="1600" b="0" i="1" smtClean="0">
                                      <a:latin typeface="Cambria Math" panose="02040503050406030204" pitchFamily="18" charset="0"/>
                                      <a:ea typeface="Cambria Math" panose="02040503050406030204" pitchFamily="18" charset="0"/>
                                    </a:rPr>
                                    <m:t>𝑃</m:t>
                                  </m:r>
                                </m:e>
                                <m:sub>
                                  <m:r>
                                    <a:rPr kumimoji="1" lang="en-US" altLang="ja-JP" sz="1600" b="0" i="1" smtClean="0">
                                      <a:latin typeface="Cambria Math" panose="02040503050406030204" pitchFamily="18" charset="0"/>
                                      <a:ea typeface="Cambria Math" panose="02040503050406030204" pitchFamily="18" charset="0"/>
                                    </a:rPr>
                                    <m:t>𝑠𝑖𝑔𝑛𝑎𝑙</m:t>
                                  </m:r>
                                </m:sub>
                              </m:sSub>
                            </m:num>
                            <m:den>
                              <m:sSup>
                                <m:sSupPr>
                                  <m:ctrlPr>
                                    <a:rPr kumimoji="1" lang="en-US" altLang="ja-JP" sz="1600" i="1" smtClean="0">
                                      <a:latin typeface="Cambria Math" panose="02040503050406030204" pitchFamily="18" charset="0"/>
                                      <a:ea typeface="Cambria Math" panose="02040503050406030204" pitchFamily="18" charset="0"/>
                                    </a:rPr>
                                  </m:ctrlPr>
                                </m:sSupPr>
                                <m:e>
                                  <m:r>
                                    <a:rPr kumimoji="1" lang="ja-JP" altLang="en-US" sz="1600" i="1" smtClean="0">
                                      <a:latin typeface="Cambria Math" panose="02040503050406030204" pitchFamily="18" charset="0"/>
                                      <a:ea typeface="Cambria Math" panose="02040503050406030204" pitchFamily="18" charset="0"/>
                                    </a:rPr>
                                    <m:t>𝛼</m:t>
                                  </m:r>
                                </m:e>
                                <m:sup>
                                  <m:r>
                                    <a:rPr kumimoji="1" lang="en-US" altLang="ja-JP" sz="1600" b="0" i="1" smtClean="0">
                                      <a:latin typeface="Cambria Math" panose="02040503050406030204" pitchFamily="18" charset="0"/>
                                      <a:ea typeface="Cambria Math" panose="02040503050406030204" pitchFamily="18" charset="0"/>
                                    </a:rPr>
                                    <m:t>2</m:t>
                                  </m:r>
                                </m:sup>
                              </m:sSup>
                              <m:r>
                                <a:rPr kumimoji="1" lang="en-US" altLang="ja-JP" sz="1600" i="1" smtClean="0">
                                  <a:latin typeface="Cambria Math" panose="02040503050406030204" pitchFamily="18" charset="0"/>
                                  <a:ea typeface="Cambria Math" panose="02040503050406030204" pitchFamily="18" charset="0"/>
                                </a:rPr>
                                <m:t>∙</m:t>
                              </m:r>
                              <m:sSub>
                                <m:sSubPr>
                                  <m:ctrlPr>
                                    <a:rPr kumimoji="1" lang="en-US" altLang="ja-JP" sz="1600" i="1" smtClean="0">
                                      <a:latin typeface="Cambria Math" panose="02040503050406030204" pitchFamily="18" charset="0"/>
                                      <a:ea typeface="Cambria Math" panose="02040503050406030204" pitchFamily="18" charset="0"/>
                                    </a:rPr>
                                  </m:ctrlPr>
                                </m:sSubPr>
                                <m:e>
                                  <m:r>
                                    <a:rPr kumimoji="1" lang="en-US" altLang="ja-JP" sz="1600" b="0" i="1" smtClean="0">
                                      <a:latin typeface="Cambria Math" panose="02040503050406030204" pitchFamily="18" charset="0"/>
                                      <a:ea typeface="Cambria Math" panose="02040503050406030204" pitchFamily="18" charset="0"/>
                                    </a:rPr>
                                    <m:t>𝑃</m:t>
                                  </m:r>
                                </m:e>
                                <m:sub>
                                  <m:r>
                                    <a:rPr kumimoji="1" lang="en-US" altLang="ja-JP" sz="1600" b="0" i="1" smtClean="0">
                                      <a:latin typeface="Cambria Math" panose="02040503050406030204" pitchFamily="18" charset="0"/>
                                      <a:ea typeface="Cambria Math" panose="02040503050406030204" pitchFamily="18" charset="0"/>
                                    </a:rPr>
                                    <m:t>𝑛𝑜𝑖𝑠𝑒</m:t>
                                  </m:r>
                                </m:sub>
                              </m:sSub>
                            </m:den>
                          </m:f>
                        </m:e>
                      </m:func>
                    </m:oMath>
                  </m:oMathPara>
                </a14:m>
                <a:endParaRPr lang="ja-JP" altLang="en-US" sz="1600" dirty="0">
                  <a:latin typeface="メイリオ" panose="020B0604030504040204" pitchFamily="50" charset="-128"/>
                  <a:ea typeface="メイリオ" panose="020B0604030504040204" pitchFamily="50" charset="-128"/>
                </a:endParaRPr>
              </a:p>
            </p:txBody>
          </p:sp>
        </mc:Choice>
        <mc:Fallback xmlns="">
          <p:sp>
            <p:nvSpPr>
              <p:cNvPr id="11" name="テキスト ボックス 10">
                <a:extLst>
                  <a:ext uri="{FF2B5EF4-FFF2-40B4-BE49-F238E27FC236}">
                    <a16:creationId xmlns:a16="http://schemas.microsoft.com/office/drawing/2014/main" id="{77D85811-6AF3-4AC4-904C-041A51A40DDD}"/>
                  </a:ext>
                </a:extLst>
              </p:cNvPr>
              <p:cNvSpPr txBox="1">
                <a:spLocks noRot="1" noChangeAspect="1" noMove="1" noResize="1" noEditPoints="1" noAdjustHandles="1" noChangeArrowheads="1" noChangeShapeType="1" noTextEdit="1"/>
              </p:cNvSpPr>
              <p:nvPr/>
            </p:nvSpPr>
            <p:spPr>
              <a:xfrm>
                <a:off x="381000" y="4186646"/>
                <a:ext cx="9144000" cy="60215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97E928D9-5581-DE53-687F-52F6CA732451}"/>
                  </a:ext>
                </a:extLst>
              </p:cNvPr>
              <p:cNvSpPr txBox="1"/>
              <p:nvPr/>
            </p:nvSpPr>
            <p:spPr>
              <a:xfrm>
                <a:off x="718224" y="4876510"/>
                <a:ext cx="8641676" cy="827150"/>
              </a:xfrm>
              <a:prstGeom prst="rect">
                <a:avLst/>
              </a:prstGeom>
              <a:noFill/>
            </p:spPr>
            <p:txBody>
              <a:bodyPr wrap="square">
                <a:spAutoFit/>
              </a:bodyPr>
              <a:lstStyle/>
              <a:p>
                <a:pPr fontAlgn="base">
                  <a:lnSpc>
                    <a:spcPts val="3000"/>
                  </a:lnSpc>
                  <a:spcAft>
                    <a:spcPts val="600"/>
                  </a:spcAft>
                </a:pPr>
                <a:r>
                  <a:rPr lang="ja-JP" altLang="en-US" sz="1600" dirty="0">
                    <a:latin typeface="メイリオ" panose="020B0604030504040204" pitchFamily="50" charset="-128"/>
                    <a:ea typeface="メイリオ" panose="020B0604030504040204" pitchFamily="50" charset="-128"/>
                  </a:rPr>
                  <a:t>この式を変形してスケーリング係数</a:t>
                </a:r>
                <a14:m>
                  <m:oMath xmlns:m="http://schemas.openxmlformats.org/officeDocument/2006/math">
                    <m:r>
                      <a:rPr lang="ja-JP" altLang="en-US" sz="1600" b="0" i="1" smtClean="0">
                        <a:latin typeface="Cambria Math" panose="02040503050406030204" pitchFamily="18" charset="0"/>
                        <a:ea typeface="Cambria Math" panose="02040503050406030204" pitchFamily="18" charset="0"/>
                      </a:rPr>
                      <m:t>𝛼</m:t>
                    </m:r>
                  </m:oMath>
                </a14:m>
                <a:r>
                  <a:rPr lang="ja-JP" altLang="en-US" sz="1600" dirty="0">
                    <a:latin typeface="メイリオ" panose="020B0604030504040204" pitchFamily="50" charset="-128"/>
                    <a:ea typeface="メイリオ" panose="020B0604030504040204" pitchFamily="50" charset="-128"/>
                  </a:rPr>
                  <a:t>を求め，最終的にノイズを含めた観測信号 </a:t>
                </a:r>
                <a14:m>
                  <m:oMath xmlns:m="http://schemas.openxmlformats.org/officeDocument/2006/math">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𝑦</m:t>
                        </m:r>
                      </m:e>
                      <m:sub>
                        <m:r>
                          <a:rPr lang="en-US" altLang="ja-JP" sz="1600" b="0" i="1" smtClean="0">
                            <a:latin typeface="Cambria Math" panose="02040503050406030204" pitchFamily="18" charset="0"/>
                            <a:ea typeface="Cambria Math" panose="02040503050406030204" pitchFamily="18" charset="0"/>
                          </a:rPr>
                          <m:t>𝑜𝑏𝑠𝑒𝑟𝑣𝑒𝑑</m:t>
                        </m:r>
                      </m:sub>
                    </m:sSub>
                    <m:r>
                      <a:rPr lang="en-US" altLang="ja-JP" sz="1600" i="1">
                        <a:latin typeface="Cambria Math" panose="02040503050406030204" pitchFamily="18" charset="0"/>
                        <a:ea typeface="Cambria Math" panose="02040503050406030204" pitchFamily="18" charset="0"/>
                      </a:rPr>
                      <m:t>(</m:t>
                    </m:r>
                    <m:r>
                      <a:rPr lang="en-US" altLang="ja-JP" sz="1600" i="1">
                        <a:latin typeface="Cambria Math" panose="02040503050406030204" pitchFamily="18" charset="0"/>
                        <a:ea typeface="Cambria Math" panose="02040503050406030204" pitchFamily="18" charset="0"/>
                      </a:rPr>
                      <m:t>𝑖</m:t>
                    </m:r>
                    <m:r>
                      <a:rPr lang="en-US" altLang="ja-JP" sz="1600" i="1">
                        <a:latin typeface="Cambria Math" panose="02040503050406030204" pitchFamily="18" charset="0"/>
                        <a:ea typeface="Cambria Math" panose="02040503050406030204" pitchFamily="18" charset="0"/>
                      </a:rPr>
                      <m:t>)</m:t>
                    </m:r>
                  </m:oMath>
                </a14:m>
                <a:r>
                  <a:rPr lang="ja-JP" altLang="en-US" sz="1600" dirty="0">
                    <a:latin typeface="メイリオ" panose="020B0604030504040204" pitchFamily="50" charset="-128"/>
                    <a:ea typeface="メイリオ" panose="020B0604030504040204" pitchFamily="50" charset="-128"/>
                  </a:rPr>
                  <a:t>は以下のように計算される．</a:t>
                </a:r>
                <a:endParaRPr lang="en-US" altLang="ja-JP" sz="1600" dirty="0">
                  <a:latin typeface="メイリオ" panose="020B0604030504040204" pitchFamily="50" charset="-128"/>
                  <a:ea typeface="メイリオ" panose="020B0604030504040204" pitchFamily="50" charset="-128"/>
                </a:endParaRPr>
              </a:p>
            </p:txBody>
          </p:sp>
        </mc:Choice>
        <mc:Fallback xmlns="">
          <p:sp>
            <p:nvSpPr>
              <p:cNvPr id="13" name="テキスト ボックス 12">
                <a:extLst>
                  <a:ext uri="{FF2B5EF4-FFF2-40B4-BE49-F238E27FC236}">
                    <a16:creationId xmlns:a16="http://schemas.microsoft.com/office/drawing/2014/main" id="{97E928D9-5581-DE53-687F-52F6CA732451}"/>
                  </a:ext>
                </a:extLst>
              </p:cNvPr>
              <p:cNvSpPr txBox="1">
                <a:spLocks noRot="1" noChangeAspect="1" noMove="1" noResize="1" noEditPoints="1" noAdjustHandles="1" noChangeArrowheads="1" noChangeShapeType="1" noTextEdit="1"/>
              </p:cNvSpPr>
              <p:nvPr/>
            </p:nvSpPr>
            <p:spPr>
              <a:xfrm>
                <a:off x="718224" y="4876510"/>
                <a:ext cx="8641676" cy="827150"/>
              </a:xfrm>
              <a:prstGeom prst="rect">
                <a:avLst/>
              </a:prstGeom>
              <a:blipFill>
                <a:blip r:embed="rId7"/>
                <a:stretch>
                  <a:fillRect l="-423" b="-882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FF9F7D48-2436-B671-131E-B8B71C548A97}"/>
                  </a:ext>
                </a:extLst>
              </p:cNvPr>
              <p:cNvSpPr txBox="1"/>
              <p:nvPr/>
            </p:nvSpPr>
            <p:spPr>
              <a:xfrm>
                <a:off x="3225790" y="5958403"/>
                <a:ext cx="3791644" cy="358560"/>
              </a:xfrm>
              <a:prstGeom prst="rect">
                <a:avLst/>
              </a:prstGeom>
              <a:noFill/>
            </p:spPr>
            <p:txBody>
              <a:bodyPr wrap="square">
                <a:spAutoFit/>
              </a:bodyPr>
              <a:lstStyle/>
              <a:p>
                <a14:m>
                  <m:oMath xmlns:m="http://schemas.openxmlformats.org/officeDocument/2006/math">
                    <m:sSub>
                      <m:sSubPr>
                        <m:ctrlPr>
                          <a:rPr lang="en-US" altLang="ja-JP" sz="1600" i="1" smtClean="0">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𝑦</m:t>
                        </m:r>
                      </m:e>
                      <m:sub>
                        <m:r>
                          <a:rPr lang="en-US" altLang="ja-JP" sz="1600" i="1">
                            <a:latin typeface="Cambria Math" panose="02040503050406030204" pitchFamily="18" charset="0"/>
                            <a:ea typeface="Cambria Math" panose="02040503050406030204" pitchFamily="18" charset="0"/>
                          </a:rPr>
                          <m:t>𝑜𝑏𝑠𝑒𝑟𝑣𝑒𝑑</m:t>
                        </m:r>
                      </m:sub>
                    </m:sSub>
                    <m:r>
                      <a:rPr lang="en-US" altLang="ja-JP" sz="1600" i="1">
                        <a:latin typeface="Cambria Math" panose="02040503050406030204" pitchFamily="18" charset="0"/>
                        <a:ea typeface="Cambria Math" panose="02040503050406030204" pitchFamily="18" charset="0"/>
                      </a:rPr>
                      <m:t>(</m:t>
                    </m:r>
                    <m:r>
                      <a:rPr lang="en-US" altLang="ja-JP" sz="1600" i="1">
                        <a:latin typeface="Cambria Math" panose="02040503050406030204" pitchFamily="18" charset="0"/>
                        <a:ea typeface="Cambria Math" panose="02040503050406030204" pitchFamily="18" charset="0"/>
                      </a:rPr>
                      <m:t>𝑖</m:t>
                    </m:r>
                    <m:r>
                      <a:rPr lang="en-US" altLang="ja-JP" sz="1600" i="1">
                        <a:latin typeface="Cambria Math" panose="02040503050406030204" pitchFamily="18" charset="0"/>
                        <a:ea typeface="Cambria Math" panose="02040503050406030204" pitchFamily="18" charset="0"/>
                      </a:rPr>
                      <m:t>)=</m:t>
                    </m:r>
                  </m:oMath>
                </a14:m>
                <a:r>
                  <a:rPr lang="en-US" altLang="ja-JP" sz="1600" dirty="0">
                    <a:latin typeface="メイリオ" panose="020B0604030504040204" pitchFamily="50" charset="-128"/>
                    <a:ea typeface="メイリオ" panose="020B0604030504040204" pitchFamily="50" charset="-128"/>
                  </a:rPr>
                  <a:t> </a:t>
                </a:r>
                <a14:m>
                  <m:oMath xmlns:m="http://schemas.openxmlformats.org/officeDocument/2006/math">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𝑦</m:t>
                        </m:r>
                      </m:e>
                      <m:sub>
                        <m:r>
                          <a:rPr lang="en-US" altLang="ja-JP" sz="1600" i="1">
                            <a:latin typeface="Cambria Math" panose="02040503050406030204" pitchFamily="18" charset="0"/>
                            <a:ea typeface="Cambria Math" panose="02040503050406030204" pitchFamily="18" charset="0"/>
                          </a:rPr>
                          <m:t>𝑠𝑖𝑔𝑛𝑎𝑙</m:t>
                        </m:r>
                      </m:sub>
                    </m:sSub>
                    <m:d>
                      <m:dPr>
                        <m:ctrlPr>
                          <a:rPr lang="en-US" altLang="ja-JP" sz="1600" i="1">
                            <a:latin typeface="Cambria Math" panose="02040503050406030204" pitchFamily="18" charset="0"/>
                            <a:ea typeface="Cambria Math" panose="02040503050406030204" pitchFamily="18" charset="0"/>
                          </a:rPr>
                        </m:ctrlPr>
                      </m:dPr>
                      <m:e>
                        <m:r>
                          <a:rPr lang="en-US" altLang="ja-JP" sz="1600" i="1">
                            <a:latin typeface="Cambria Math" panose="02040503050406030204" pitchFamily="18" charset="0"/>
                            <a:ea typeface="Cambria Math" panose="02040503050406030204" pitchFamily="18" charset="0"/>
                          </a:rPr>
                          <m:t>𝑖</m:t>
                        </m:r>
                      </m:e>
                    </m:d>
                    <m:r>
                      <a:rPr lang="en-US" altLang="ja-JP" sz="1600" b="0" i="1" smtClean="0">
                        <a:latin typeface="Cambria Math" panose="02040503050406030204" pitchFamily="18" charset="0"/>
                        <a:ea typeface="Cambria Math" panose="02040503050406030204" pitchFamily="18" charset="0"/>
                      </a:rPr>
                      <m:t>+</m:t>
                    </m:r>
                    <m:r>
                      <a:rPr lang="ja-JP" altLang="en-US" sz="1600" i="1">
                        <a:latin typeface="Cambria Math" panose="02040503050406030204" pitchFamily="18" charset="0"/>
                        <a:ea typeface="Cambria Math" panose="02040503050406030204" pitchFamily="18" charset="0"/>
                      </a:rPr>
                      <m:t>𝛼</m:t>
                    </m:r>
                    <m:r>
                      <a:rPr lang="ja-JP" altLang="en-US" sz="1600" i="1" smtClean="0">
                        <a:latin typeface="Cambria Math" panose="02040503050406030204" pitchFamily="18" charset="0"/>
                        <a:ea typeface="Cambria Math" panose="02040503050406030204" pitchFamily="18" charset="0"/>
                      </a:rPr>
                      <m:t>∙</m:t>
                    </m:r>
                    <m:sSub>
                      <m:sSubPr>
                        <m:ctrlPr>
                          <a:rPr lang="en-US" altLang="ja-JP" sz="1600" i="1">
                            <a:latin typeface="Cambria Math" panose="02040503050406030204" pitchFamily="18" charset="0"/>
                            <a:ea typeface="Cambria Math" panose="02040503050406030204" pitchFamily="18" charset="0"/>
                          </a:rPr>
                        </m:ctrlPr>
                      </m:sSubPr>
                      <m:e>
                        <m:r>
                          <a:rPr lang="en-US" altLang="ja-JP" sz="1600" b="0" i="1" smtClean="0">
                            <a:latin typeface="Cambria Math" panose="02040503050406030204" pitchFamily="18" charset="0"/>
                            <a:ea typeface="Cambria Math" panose="02040503050406030204" pitchFamily="18" charset="0"/>
                          </a:rPr>
                          <m:t>𝑃</m:t>
                        </m:r>
                      </m:e>
                      <m:sub>
                        <m:r>
                          <a:rPr lang="en-US" altLang="ja-JP" sz="1600" b="0" i="1" smtClean="0">
                            <a:latin typeface="Cambria Math" panose="02040503050406030204" pitchFamily="18" charset="0"/>
                            <a:ea typeface="Cambria Math" panose="02040503050406030204" pitchFamily="18" charset="0"/>
                          </a:rPr>
                          <m:t>𝑛𝑜𝑖𝑠𝑒</m:t>
                        </m:r>
                      </m:sub>
                    </m:sSub>
                    <m:r>
                      <a:rPr lang="en-US" altLang="ja-JP" sz="1600" i="1">
                        <a:latin typeface="Cambria Math" panose="02040503050406030204" pitchFamily="18" charset="0"/>
                        <a:ea typeface="Cambria Math" panose="02040503050406030204" pitchFamily="18" charset="0"/>
                      </a:rPr>
                      <m:t>(</m:t>
                    </m:r>
                    <m:r>
                      <a:rPr lang="en-US" altLang="ja-JP" sz="1600" i="1">
                        <a:latin typeface="Cambria Math" panose="02040503050406030204" pitchFamily="18" charset="0"/>
                        <a:ea typeface="Cambria Math" panose="02040503050406030204" pitchFamily="18" charset="0"/>
                      </a:rPr>
                      <m:t>𝑖</m:t>
                    </m:r>
                    <m:r>
                      <a:rPr lang="en-US" altLang="ja-JP" sz="1600" i="1">
                        <a:latin typeface="Cambria Math" panose="02040503050406030204" pitchFamily="18" charset="0"/>
                        <a:ea typeface="Cambria Math" panose="02040503050406030204" pitchFamily="18" charset="0"/>
                      </a:rPr>
                      <m:t>)</m:t>
                    </m:r>
                  </m:oMath>
                </a14:m>
                <a:endParaRPr lang="ja-JP" altLang="en-US" sz="1600" dirty="0">
                  <a:latin typeface="メイリオ" panose="020B0604030504040204" pitchFamily="50" charset="-128"/>
                  <a:ea typeface="メイリオ" panose="020B0604030504040204" pitchFamily="50" charset="-128"/>
                </a:endParaRPr>
              </a:p>
            </p:txBody>
          </p:sp>
        </mc:Choice>
        <mc:Fallback xmlns="">
          <p:sp>
            <p:nvSpPr>
              <p:cNvPr id="14" name="テキスト ボックス 13">
                <a:extLst>
                  <a:ext uri="{FF2B5EF4-FFF2-40B4-BE49-F238E27FC236}">
                    <a16:creationId xmlns:a16="http://schemas.microsoft.com/office/drawing/2014/main" id="{FF9F7D48-2436-B671-131E-B8B71C548A97}"/>
                  </a:ext>
                </a:extLst>
              </p:cNvPr>
              <p:cNvSpPr txBox="1">
                <a:spLocks noRot="1" noChangeAspect="1" noMove="1" noResize="1" noEditPoints="1" noAdjustHandles="1" noChangeArrowheads="1" noChangeShapeType="1" noTextEdit="1"/>
              </p:cNvSpPr>
              <p:nvPr/>
            </p:nvSpPr>
            <p:spPr>
              <a:xfrm>
                <a:off x="3225790" y="5958403"/>
                <a:ext cx="3791644" cy="358560"/>
              </a:xfrm>
              <a:prstGeom prst="rect">
                <a:avLst/>
              </a:prstGeom>
              <a:blipFill>
                <a:blip r:embed="rId8"/>
                <a:stretch>
                  <a:fillRect b="-678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76278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0E35D-8265-17EB-BDD0-1F30207E09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3489C8-D7BB-C815-3C2A-B84B1C50C0F4}"/>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プール沸騰実験の算出パラメータの計算</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B4F1F1BD-A0D5-E6AA-8F72-C79F87C287C9}"/>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FD978D52-4EDC-6D75-C152-FC9A705A664C}"/>
                  </a:ext>
                </a:extLst>
              </p:cNvPr>
              <p:cNvSpPr txBox="1"/>
              <p:nvPr/>
            </p:nvSpPr>
            <p:spPr>
              <a:xfrm>
                <a:off x="917788" y="1570160"/>
                <a:ext cx="8597959" cy="707886"/>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水温</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シャント電圧 </a:t>
                </a:r>
                <a14:m>
                  <m:oMath xmlns:m="http://schemas.openxmlformats.org/officeDocument/2006/math">
                    <m:sSub>
                      <m:sSubPr>
                        <m:ctrlP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t>𝑽</m:t>
                        </m:r>
                      </m:e>
                      <m:sub>
                        <m: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t>𝒔𝒉𝒖𝒏𝒕</m:t>
                        </m:r>
                      </m:sub>
                    </m:sSub>
                  </m:oMath>
                </a14:m>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白金電圧 </a:t>
                </a:r>
                <a14:m>
                  <m:oMath xmlns:m="http://schemas.openxmlformats.org/officeDocument/2006/math">
                    <m:sSub>
                      <m:sSubPr>
                        <m:ctrlP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t>𝑽</m:t>
                        </m:r>
                      </m:e>
                      <m:sub>
                        <m:r>
                          <a:rPr lang="en-US" altLang="ja-JP" sz="2000" b="1" i="1" smtClean="0">
                            <a:solidFill>
                              <a:srgbClr val="292B2B"/>
                            </a:solidFill>
                            <a:latin typeface="Cambria Math" panose="02040503050406030204" pitchFamily="18" charset="0"/>
                            <a:ea typeface="メイリオ" panose="020B0604030504040204" pitchFamily="50" charset="-128"/>
                            <a:sym typeface="Source Han Sans JP"/>
                          </a:rPr>
                          <m:t>𝑷𝒕</m:t>
                        </m:r>
                      </m:sub>
                    </m:sSub>
                  </m:oMath>
                </a14:m>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沸騰</a:t>
                </a:r>
                <a:r>
                  <a:rPr lang="en-US" altLang="ja-JP" sz="2000" b="1"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未沸騰音響データ</a:t>
                </a:r>
                <a:endParaRPr lang="en-US" altLang="ja-JP" sz="2000" b="1"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自然対流領域からバーンアウト手前</a:t>
                </a:r>
                <a:r>
                  <a:rPr kumimoji="1" lang="en-US" altLang="ja-JP" sz="2000" dirty="0">
                    <a:latin typeface="メイリオ" panose="020B0604030504040204" pitchFamily="50" charset="-128"/>
                    <a:ea typeface="メイリオ" panose="020B0604030504040204" pitchFamily="50" charset="-128"/>
                  </a:rPr>
                  <a:t>(2.5 V)</a:t>
                </a:r>
                <a:r>
                  <a:rPr kumimoji="1" lang="ja-JP" altLang="en-US" sz="2000" dirty="0">
                    <a:latin typeface="メイリオ" panose="020B0604030504040204" pitchFamily="50" charset="-128"/>
                    <a:ea typeface="メイリオ" panose="020B0604030504040204" pitchFamily="50" charset="-128"/>
                  </a:rPr>
                  <a:t>までの核沸騰音を取得</a:t>
                </a:r>
              </a:p>
            </p:txBody>
          </p:sp>
        </mc:Choice>
        <mc:Fallback xmlns="">
          <p:sp>
            <p:nvSpPr>
              <p:cNvPr id="23" name="テキスト ボックス 22">
                <a:extLst>
                  <a:ext uri="{FF2B5EF4-FFF2-40B4-BE49-F238E27FC236}">
                    <a16:creationId xmlns:a16="http://schemas.microsoft.com/office/drawing/2014/main" id="{FD978D52-4EDC-6D75-C152-FC9A705A664C}"/>
                  </a:ext>
                </a:extLst>
              </p:cNvPr>
              <p:cNvSpPr txBox="1">
                <a:spLocks noRot="1" noChangeAspect="1" noMove="1" noResize="1" noEditPoints="1" noAdjustHandles="1" noChangeArrowheads="1" noChangeShapeType="1" noTextEdit="1"/>
              </p:cNvSpPr>
              <p:nvPr/>
            </p:nvSpPr>
            <p:spPr>
              <a:xfrm>
                <a:off x="917788" y="1570160"/>
                <a:ext cx="8597959" cy="707886"/>
              </a:xfrm>
              <a:prstGeom prst="rect">
                <a:avLst/>
              </a:prstGeom>
              <a:blipFill>
                <a:blip r:embed="rId3"/>
                <a:stretch>
                  <a:fillRect t="-6034" b="-137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6999D24-E401-88E1-84F6-C73F8532B484}"/>
                  </a:ext>
                </a:extLst>
              </p:cNvPr>
              <p:cNvSpPr txBox="1"/>
              <p:nvPr/>
            </p:nvSpPr>
            <p:spPr>
              <a:xfrm>
                <a:off x="857746" y="4731041"/>
                <a:ext cx="3920065" cy="720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𝑞</m:t>
                      </m:r>
                      <m:r>
                        <a:rPr lang="en-US" altLang="ja-JP" sz="2000" i="1">
                          <a:latin typeface="Cambria Math" panose="02040503050406030204" pitchFamily="18" charset="0"/>
                          <a:ea typeface="Cambria Math" panose="02040503050406030204" pitchFamily="18" charset="0"/>
                        </a:rPr>
                        <m:t>=</m:t>
                      </m:r>
                      <m:f>
                        <m:fPr>
                          <m:ctrlPr>
                            <a:rPr lang="en-US" altLang="ja-JP" sz="2000" i="1">
                              <a:latin typeface="Cambria Math" panose="02040503050406030204" pitchFamily="18" charset="0"/>
                              <a:ea typeface="Cambria Math" panose="02040503050406030204" pitchFamily="18" charset="0"/>
                            </a:rPr>
                          </m:ctrlPr>
                        </m:fPr>
                        <m:num>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𝑉</m:t>
                              </m:r>
                            </m:e>
                            <m:sub>
                              <m:r>
                                <m:rPr>
                                  <m:sty m:val="p"/>
                                </m:rPr>
                                <a:rPr lang="en-US" altLang="ja-JP" sz="2000">
                                  <a:latin typeface="Cambria Math" panose="02040503050406030204" pitchFamily="18" charset="0"/>
                                  <a:ea typeface="Cambria Math" panose="02040503050406030204" pitchFamily="18" charset="0"/>
                                </a:rPr>
                                <m:t>Pt</m:t>
                              </m:r>
                            </m:sub>
                          </m:sSub>
                          <m:r>
                            <a:rPr lang="en-US" altLang="ja-JP" sz="2000" i="1">
                              <a:latin typeface="Cambria Math" panose="02040503050406030204" pitchFamily="18" charset="0"/>
                              <a:ea typeface="Cambria Math" panose="02040503050406030204" pitchFamily="18" charset="0"/>
                            </a:rPr>
                            <m:t>𝐼</m:t>
                          </m:r>
                        </m:num>
                        <m:den>
                          <m:r>
                            <a:rPr lang="ja-JP" altLang="en-US" sz="2000" i="1">
                              <a:latin typeface="Cambria Math" panose="02040503050406030204" pitchFamily="18" charset="0"/>
                              <a:ea typeface="Cambria Math" panose="02040503050406030204" pitchFamily="18" charset="0"/>
                            </a:rPr>
                            <m:t>𝜋</m:t>
                          </m:r>
                          <m:r>
                            <a:rPr lang="en-US" altLang="ja-JP" sz="2000" i="1">
                              <a:latin typeface="Cambria Math" panose="02040503050406030204" pitchFamily="18" charset="0"/>
                              <a:ea typeface="Cambria Math" panose="02040503050406030204" pitchFamily="18" charset="0"/>
                            </a:rPr>
                            <m:t>𝑑𝐿</m:t>
                          </m:r>
                        </m:den>
                      </m:f>
                      <m:r>
                        <a:rPr lang="en-US" altLang="ja-JP" sz="2000" i="1">
                          <a:latin typeface="Cambria Math" panose="02040503050406030204" pitchFamily="18" charset="0"/>
                          <a:ea typeface="Cambria Math" panose="02040503050406030204" pitchFamily="18" charset="0"/>
                        </a:rPr>
                        <m:t>=</m:t>
                      </m:r>
                      <m:f>
                        <m:fPr>
                          <m:ctrlPr>
                            <a:rPr lang="en-US" altLang="ja-JP" sz="2000" i="1">
                              <a:latin typeface="Cambria Math" panose="02040503050406030204" pitchFamily="18" charset="0"/>
                              <a:ea typeface="Cambria Math" panose="02040503050406030204" pitchFamily="18" charset="0"/>
                            </a:rPr>
                          </m:ctrlPr>
                        </m:fPr>
                        <m:num>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𝑉</m:t>
                              </m:r>
                            </m:e>
                            <m:sub>
                              <m:r>
                                <m:rPr>
                                  <m:sty m:val="p"/>
                                </m:rPr>
                                <a:rPr lang="en-US" altLang="ja-JP" sz="2000">
                                  <a:latin typeface="Cambria Math" panose="02040503050406030204" pitchFamily="18" charset="0"/>
                                  <a:ea typeface="Cambria Math" panose="02040503050406030204" pitchFamily="18" charset="0"/>
                                </a:rPr>
                                <m:t>Pt</m:t>
                              </m:r>
                            </m:sub>
                          </m:sSub>
                          <m:sSub>
                            <m:sSubPr>
                              <m:ctrlPr>
                                <a:rPr lang="en-US" altLang="ja-JP" sz="2000" i="1">
                                  <a:latin typeface="Cambria Math" panose="02040503050406030204" pitchFamily="18" charset="0"/>
                                  <a:ea typeface="Source Han Sans JP" panose="020B0600070205080204" charset="-128"/>
                                </a:rPr>
                              </m:ctrlPr>
                            </m:sSubPr>
                            <m:e>
                              <m:r>
                                <a:rPr lang="en-US" altLang="ja-JP" sz="2000" i="1">
                                  <a:latin typeface="Cambria Math" panose="02040503050406030204" pitchFamily="18" charset="0"/>
                                  <a:ea typeface="Source Han Sans JP" panose="020B0600070205080204" charset="-128"/>
                                </a:rPr>
                                <m:t>𝑉</m:t>
                              </m:r>
                            </m:e>
                            <m:sub>
                              <m:r>
                                <m:rPr>
                                  <m:sty m:val="p"/>
                                </m:rPr>
                                <a:rPr lang="en-US" altLang="ja-JP" sz="2000">
                                  <a:latin typeface="Cambria Math" panose="02040503050406030204" pitchFamily="18" charset="0"/>
                                  <a:ea typeface="Source Han Sans JP" panose="020B0600070205080204" charset="-128"/>
                                </a:rPr>
                                <m:t>shunt</m:t>
                              </m:r>
                            </m:sub>
                          </m:sSub>
                        </m:num>
                        <m:den>
                          <m:r>
                            <a:rPr lang="ja-JP" altLang="en-US" sz="2000" i="1">
                              <a:latin typeface="Cambria Math" panose="02040503050406030204" pitchFamily="18" charset="0"/>
                              <a:ea typeface="Cambria Math" panose="02040503050406030204" pitchFamily="18" charset="0"/>
                            </a:rPr>
                            <m:t>𝜋</m:t>
                          </m:r>
                          <m:r>
                            <a:rPr lang="en-US" altLang="ja-JP" sz="2000" i="1">
                              <a:latin typeface="Cambria Math" panose="02040503050406030204" pitchFamily="18" charset="0"/>
                              <a:ea typeface="Cambria Math" panose="02040503050406030204" pitchFamily="18" charset="0"/>
                            </a:rPr>
                            <m:t>𝑑𝐿</m:t>
                          </m:r>
                          <m:sSub>
                            <m:sSubPr>
                              <m:ctrlPr>
                                <a:rPr lang="en-US" altLang="ja-JP" sz="2000" i="1">
                                  <a:latin typeface="Cambria Math" panose="02040503050406030204" pitchFamily="18" charset="0"/>
                                  <a:ea typeface="Source Han Sans JP" panose="020B0600070205080204" charset="-128"/>
                                </a:rPr>
                              </m:ctrlPr>
                            </m:sSubPr>
                            <m:e>
                              <m:r>
                                <a:rPr lang="en-US" altLang="ja-JP" sz="2000" i="1">
                                  <a:latin typeface="Cambria Math" panose="02040503050406030204" pitchFamily="18" charset="0"/>
                                  <a:ea typeface="Source Han Sans JP" panose="020B0600070205080204" charset="-128"/>
                                </a:rPr>
                                <m:t>𝑅</m:t>
                              </m:r>
                            </m:e>
                            <m:sub>
                              <m:r>
                                <m:rPr>
                                  <m:sty m:val="p"/>
                                </m:rPr>
                                <a:rPr lang="en-US" altLang="ja-JP" sz="2000">
                                  <a:latin typeface="Cambria Math" panose="02040503050406030204" pitchFamily="18" charset="0"/>
                                  <a:ea typeface="Source Han Sans JP" panose="020B0600070205080204" charset="-128"/>
                                </a:rPr>
                                <m:t>shunt</m:t>
                              </m:r>
                            </m:sub>
                          </m:sSub>
                        </m:den>
                      </m:f>
                    </m:oMath>
                  </m:oMathPara>
                </a14:m>
                <a:endParaRPr lang="ja-JP" altLang="en-US" sz="2000" dirty="0"/>
              </a:p>
            </p:txBody>
          </p:sp>
        </mc:Choice>
        <mc:Fallback xmlns="">
          <p:sp>
            <p:nvSpPr>
              <p:cNvPr id="25" name="テキスト ボックス 24">
                <a:extLst>
                  <a:ext uri="{FF2B5EF4-FFF2-40B4-BE49-F238E27FC236}">
                    <a16:creationId xmlns:a16="http://schemas.microsoft.com/office/drawing/2014/main" id="{C6999D24-E401-88E1-84F6-C73F8532B484}"/>
                  </a:ext>
                </a:extLst>
              </p:cNvPr>
              <p:cNvSpPr txBox="1">
                <a:spLocks noRot="1" noChangeAspect="1" noMove="1" noResize="1" noEditPoints="1" noAdjustHandles="1" noChangeArrowheads="1" noChangeShapeType="1" noTextEdit="1"/>
              </p:cNvSpPr>
              <p:nvPr/>
            </p:nvSpPr>
            <p:spPr>
              <a:xfrm>
                <a:off x="857746" y="4731041"/>
                <a:ext cx="3920065" cy="720518"/>
              </a:xfrm>
              <a:prstGeom prst="rect">
                <a:avLst/>
              </a:prstGeom>
              <a:blipFill>
                <a:blip r:embed="rId4"/>
                <a:stretch>
                  <a:fillRect/>
                </a:stretch>
              </a:blipFill>
            </p:spPr>
            <p:txBody>
              <a:bodyPr/>
              <a:lstStyle/>
              <a:p>
                <a:r>
                  <a:rPr lang="ja-JP" altLang="en-US">
                    <a:noFill/>
                  </a:rPr>
                  <a:t> </a:t>
                </a:r>
              </a:p>
            </p:txBody>
          </p:sp>
        </mc:Fallback>
      </mc:AlternateContent>
      <p:sp>
        <p:nvSpPr>
          <p:cNvPr id="29" name="テキスト ボックス 28">
            <a:extLst>
              <a:ext uri="{FF2B5EF4-FFF2-40B4-BE49-F238E27FC236}">
                <a16:creationId xmlns:a16="http://schemas.microsoft.com/office/drawing/2014/main" id="{41BF8C8E-93DF-0D26-B852-8C4C788CBDC1}"/>
              </a:ext>
            </a:extLst>
          </p:cNvPr>
          <p:cNvSpPr txBox="1"/>
          <p:nvPr/>
        </p:nvSpPr>
        <p:spPr>
          <a:xfrm>
            <a:off x="992403" y="2996348"/>
            <a:ext cx="5263001" cy="1015663"/>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音響データのラベルに用いる</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熱流束</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Ivey-Morris</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の相関式に用いる</a:t>
            </a:r>
            <a:r>
              <a:rPr kumimoji="1" lang="ja-JP" altLang="en-US" sz="2000" b="1" dirty="0">
                <a:solidFill>
                  <a:srgbClr val="292B2B"/>
                </a:solidFill>
                <a:latin typeface="メイリオ" panose="020B0604030504040204" pitchFamily="50" charset="-128"/>
                <a:ea typeface="メイリオ" panose="020B0604030504040204" pitchFamily="50" charset="-128"/>
                <a:sym typeface="Source Han Sans JP"/>
              </a:rPr>
              <a:t>白金温度</a:t>
            </a:r>
            <a:endParaRPr kumimoji="1" lang="en-US" altLang="ja-JP" sz="2000" b="1"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実験の妥当性検証に用いる</a:t>
            </a:r>
            <a:r>
              <a:rPr lang="ja-JP" altLang="en-US" sz="2000" b="1" dirty="0">
                <a:solidFill>
                  <a:srgbClr val="292B2B"/>
                </a:solidFill>
                <a:latin typeface="メイリオ" panose="020B0604030504040204" pitchFamily="50" charset="-128"/>
                <a:ea typeface="メイリオ" panose="020B0604030504040204" pitchFamily="50" charset="-128"/>
                <a:sym typeface="Source Han Sans JP"/>
              </a:rPr>
              <a:t>過熱度</a:t>
            </a:r>
            <a:endParaRPr kumimoji="1" lang="ja-JP" altLang="en-US" sz="2000" b="1" dirty="0">
              <a:latin typeface="メイリオ" panose="020B0604030504040204" pitchFamily="50" charset="-128"/>
              <a:ea typeface="メイリオ" panose="020B0604030504040204" pitchFamily="50" charset="-128"/>
            </a:endParaRPr>
          </a:p>
        </p:txBody>
      </p:sp>
      <p:cxnSp>
        <p:nvCxnSpPr>
          <p:cNvPr id="35" name="直線コネクタ 34">
            <a:extLst>
              <a:ext uri="{FF2B5EF4-FFF2-40B4-BE49-F238E27FC236}">
                <a16:creationId xmlns:a16="http://schemas.microsoft.com/office/drawing/2014/main" id="{9B04C017-C1FB-A3D9-60E3-6115BF08FD8E}"/>
              </a:ext>
            </a:extLst>
          </p:cNvPr>
          <p:cNvCxnSpPr>
            <a:cxnSpLocks/>
          </p:cNvCxnSpPr>
          <p:nvPr/>
        </p:nvCxnSpPr>
        <p:spPr>
          <a:xfrm>
            <a:off x="4953000" y="4628115"/>
            <a:ext cx="0" cy="926368"/>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EC57EC63-8702-F4DA-3B63-CF0FBD7B5722}"/>
                  </a:ext>
                </a:extLst>
              </p:cNvPr>
              <p:cNvSpPr txBox="1"/>
              <p:nvPr/>
            </p:nvSpPr>
            <p:spPr>
              <a:xfrm>
                <a:off x="4953000" y="4583468"/>
                <a:ext cx="4450822" cy="1015663"/>
              </a:xfrm>
              <a:prstGeom prst="rect">
                <a:avLst/>
              </a:prstGeom>
              <a:noFill/>
            </p:spPr>
            <p:txBody>
              <a:bodyPr wrap="square" numCol="1" rtlCol="0">
                <a:spAutoFit/>
              </a:bodyPr>
              <a:lstStyle/>
              <a:p>
                <a:pPr marL="169200"/>
                <a14:m>
                  <m:oMath xmlns:m="http://schemas.openxmlformats.org/officeDocument/2006/math">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𝑑</m:t>
                    </m:r>
                  </m:oMath>
                </a14:m>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：白金細線の直径</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169200"/>
                <a14:m>
                  <m:oMath xmlns:m="http://schemas.openxmlformats.org/officeDocument/2006/math">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𝐿</m:t>
                    </m:r>
                  </m:oMath>
                </a14:m>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白金細線の長さ</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169200"/>
                <a14:m>
                  <m:oMath xmlns:m="http://schemas.openxmlformats.org/officeDocument/2006/math">
                    <m:sSub>
                      <m:sSubPr>
                        <m:ctrlP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ctrlPr>
                      </m:sSubPr>
                      <m:e>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𝑅</m:t>
                        </m:r>
                      </m:e>
                      <m:sub>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𝑠</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h</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𝑢𝑛𝑡</m:t>
                        </m:r>
                      </m:sub>
                    </m:sSub>
                  </m:oMath>
                </a14:m>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ea typeface="メイリオ" panose="020B0604030504040204" pitchFamily="50" charset="-128"/>
                    <a:sym typeface="Source Han Sans JP"/>
                  </a:rPr>
                  <a:t> </a:t>
                </a:r>
                <a14:m>
                  <m:oMath xmlns:m="http://schemas.openxmlformats.org/officeDocument/2006/math">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1</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m:t>
                    </m:r>
                    <m:r>
                      <a:rPr lang="en-US" altLang="ja-JP" sz="2000" b="0" i="1" smtClean="0">
                        <a:solidFill>
                          <a:srgbClr val="292B2B"/>
                        </a:solidFill>
                        <a:latin typeface="Cambria Math" panose="02040503050406030204" pitchFamily="18" charset="0"/>
                        <a:ea typeface="メイリオ" panose="020B0604030504040204" pitchFamily="50" charset="-128"/>
                        <a:sym typeface="Source Han Sans JP"/>
                      </a:rPr>
                      <m:t>667</m:t>
                    </m:r>
                    <m:r>
                      <a:rPr lang="en-US" altLang="ja-JP" sz="2000" b="0" i="1" smtClean="0">
                        <a:solidFill>
                          <a:srgbClr val="292B2B"/>
                        </a:solidFill>
                        <a:latin typeface="Cambria Math" panose="02040503050406030204" pitchFamily="18" charset="0"/>
                        <a:ea typeface="Cambria Math" panose="02040503050406030204" pitchFamily="18" charset="0"/>
                        <a:sym typeface="Source Han Sans JP"/>
                      </a:rPr>
                      <m:t>×</m:t>
                    </m:r>
                    <m:sSup>
                      <m:sSupPr>
                        <m:ctrlPr>
                          <a:rPr lang="en-US" altLang="ja-JP" sz="2000" b="0" i="1" smtClean="0">
                            <a:solidFill>
                              <a:srgbClr val="292B2B"/>
                            </a:solidFill>
                            <a:latin typeface="Cambria Math" panose="02040503050406030204" pitchFamily="18" charset="0"/>
                            <a:ea typeface="Cambria Math" panose="02040503050406030204" pitchFamily="18" charset="0"/>
                            <a:sym typeface="Source Han Sans JP"/>
                          </a:rPr>
                        </m:ctrlPr>
                      </m:sSupPr>
                      <m:e>
                        <m:r>
                          <a:rPr lang="en-US" altLang="ja-JP" sz="2000" b="0" i="1" smtClean="0">
                            <a:solidFill>
                              <a:srgbClr val="292B2B"/>
                            </a:solidFill>
                            <a:latin typeface="Cambria Math" panose="02040503050406030204" pitchFamily="18" charset="0"/>
                            <a:ea typeface="Cambria Math" panose="02040503050406030204" pitchFamily="18" charset="0"/>
                            <a:sym typeface="Source Han Sans JP"/>
                          </a:rPr>
                          <m:t>10</m:t>
                        </m:r>
                      </m:e>
                      <m:sup>
                        <m:r>
                          <a:rPr lang="en-US" altLang="ja-JP" sz="2000" b="0" i="1" smtClean="0">
                            <a:solidFill>
                              <a:srgbClr val="292B2B"/>
                            </a:solidFill>
                            <a:latin typeface="Cambria Math" panose="02040503050406030204" pitchFamily="18" charset="0"/>
                            <a:ea typeface="Cambria Math" panose="02040503050406030204" pitchFamily="18" charset="0"/>
                            <a:sym typeface="Source Han Sans JP"/>
                          </a:rPr>
                          <m:t>−</m:t>
                        </m:r>
                        <m:r>
                          <a:rPr lang="en-US" altLang="ja-JP" sz="2000" b="0" i="1" smtClean="0">
                            <a:solidFill>
                              <a:srgbClr val="292B2B"/>
                            </a:solidFill>
                            <a:latin typeface="Cambria Math" panose="02040503050406030204" pitchFamily="18" charset="0"/>
                            <a:ea typeface="Cambria Math" panose="02040503050406030204" pitchFamily="18" charset="0"/>
                            <a:sym typeface="Source Han Sans JP"/>
                          </a:rPr>
                          <m:t>3</m:t>
                        </m:r>
                      </m:sup>
                    </m:sSup>
                    <m:r>
                      <m:rPr>
                        <m:sty m:val="p"/>
                      </m:rPr>
                      <a:rPr lang="en-US" altLang="ja-JP" sz="2000" i="1">
                        <a:solidFill>
                          <a:srgbClr val="292B2B"/>
                        </a:solidFill>
                        <a:latin typeface="Cambria Math" panose="02040503050406030204" pitchFamily="18" charset="0"/>
                        <a:ea typeface="Cambria Math" panose="02040503050406030204" pitchFamily="18" charset="0"/>
                        <a:sym typeface="Source Han Sans JP"/>
                      </a:rPr>
                      <m:t>Ω</m:t>
                    </m:r>
                  </m:oMath>
                </a14:m>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p:txBody>
          </p:sp>
        </mc:Choice>
        <mc:Fallback xmlns="">
          <p:sp>
            <p:nvSpPr>
              <p:cNvPr id="37" name="テキスト ボックス 36">
                <a:extLst>
                  <a:ext uri="{FF2B5EF4-FFF2-40B4-BE49-F238E27FC236}">
                    <a16:creationId xmlns:a16="http://schemas.microsoft.com/office/drawing/2014/main" id="{EC57EC63-8702-F4DA-3B63-CF0FBD7B5722}"/>
                  </a:ext>
                </a:extLst>
              </p:cNvPr>
              <p:cNvSpPr txBox="1">
                <a:spLocks noRot="1" noChangeAspect="1" noMove="1" noResize="1" noEditPoints="1" noAdjustHandles="1" noChangeArrowheads="1" noChangeShapeType="1" noTextEdit="1"/>
              </p:cNvSpPr>
              <p:nvPr/>
            </p:nvSpPr>
            <p:spPr>
              <a:xfrm>
                <a:off x="4953000" y="4583468"/>
                <a:ext cx="4450822" cy="1015663"/>
              </a:xfrm>
              <a:prstGeom prst="rect">
                <a:avLst/>
              </a:prstGeom>
              <a:blipFill>
                <a:blip r:embed="rId5"/>
                <a:stretch>
                  <a:fillRect t="-3614" b="-10843"/>
                </a:stretch>
              </a:blipFill>
            </p:spPr>
            <p:txBody>
              <a:bodyPr/>
              <a:lstStyle/>
              <a:p>
                <a:r>
                  <a:rPr lang="ja-JP" altLang="en-US">
                    <a:noFill/>
                  </a:rPr>
                  <a:t> </a:t>
                </a:r>
              </a:p>
            </p:txBody>
          </p:sp>
        </mc:Fallback>
      </mc:AlternateContent>
      <p:sp>
        <p:nvSpPr>
          <p:cNvPr id="24" name="Text Placeholder 1">
            <a:extLst>
              <a:ext uri="{FF2B5EF4-FFF2-40B4-BE49-F238E27FC236}">
                <a16:creationId xmlns:a16="http://schemas.microsoft.com/office/drawing/2014/main" id="{C4413ADF-5BBC-F5EB-C2A9-721DDFB15877}"/>
              </a:ext>
            </a:extLst>
          </p:cNvPr>
          <p:cNvSpPr txBox="1">
            <a:spLocks/>
          </p:cNvSpPr>
          <p:nvPr/>
        </p:nvSpPr>
        <p:spPr>
          <a:xfrm>
            <a:off x="1106455" y="1135939"/>
            <a:ext cx="1522445" cy="408657"/>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測定の狙い</a:t>
            </a:r>
            <a:endParaRPr lang="en-JP" sz="2300" b="1" dirty="0">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001AD528-3165-3E60-4E97-FF037C786D73}"/>
              </a:ext>
            </a:extLst>
          </p:cNvPr>
          <p:cNvCxnSpPr>
            <a:cxnSpLocks/>
          </p:cNvCxnSpPr>
          <p:nvPr/>
        </p:nvCxnSpPr>
        <p:spPr>
          <a:xfrm>
            <a:off x="992403" y="1113228"/>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3B12645D-C9B6-EA10-4878-30D61B9049B9}"/>
              </a:ext>
            </a:extLst>
          </p:cNvPr>
          <p:cNvSpPr txBox="1">
            <a:spLocks/>
          </p:cNvSpPr>
          <p:nvPr/>
        </p:nvSpPr>
        <p:spPr>
          <a:xfrm>
            <a:off x="1106455" y="2462399"/>
            <a:ext cx="2416178"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算出パラメータ</a:t>
            </a:r>
            <a:endParaRPr lang="en-JP" sz="2300" b="1" dirty="0">
              <a:latin typeface="メイリオ" panose="020B0604030504040204" pitchFamily="50" charset="-128"/>
              <a:ea typeface="メイリオ" panose="020B0604030504040204" pitchFamily="50" charset="-128"/>
            </a:endParaRPr>
          </a:p>
        </p:txBody>
      </p:sp>
      <p:cxnSp>
        <p:nvCxnSpPr>
          <p:cNvPr id="3" name="直線コネクタ 2">
            <a:extLst>
              <a:ext uri="{FF2B5EF4-FFF2-40B4-BE49-F238E27FC236}">
                <a16:creationId xmlns:a16="http://schemas.microsoft.com/office/drawing/2014/main" id="{7CB2B20F-A353-599A-57FE-BD7A98F2E62E}"/>
              </a:ext>
            </a:extLst>
          </p:cNvPr>
          <p:cNvCxnSpPr>
            <a:cxnSpLocks/>
          </p:cNvCxnSpPr>
          <p:nvPr/>
        </p:nvCxnSpPr>
        <p:spPr>
          <a:xfrm>
            <a:off x="992403" y="2439687"/>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 Placeholder 1">
            <a:extLst>
              <a:ext uri="{FF2B5EF4-FFF2-40B4-BE49-F238E27FC236}">
                <a16:creationId xmlns:a16="http://schemas.microsoft.com/office/drawing/2014/main" id="{2EDC41BD-C910-3EA5-05E4-D3CCC2FB97C2}"/>
              </a:ext>
            </a:extLst>
          </p:cNvPr>
          <p:cNvSpPr txBox="1">
            <a:spLocks/>
          </p:cNvSpPr>
          <p:nvPr/>
        </p:nvSpPr>
        <p:spPr>
          <a:xfrm>
            <a:off x="1106455" y="4120899"/>
            <a:ext cx="2416178"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算出時に用いる式</a:t>
            </a:r>
            <a:endParaRPr lang="en-JP" sz="2300" b="1"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687EA6BA-6476-0895-E6F7-CDEE3B447E52}"/>
              </a:ext>
            </a:extLst>
          </p:cNvPr>
          <p:cNvCxnSpPr>
            <a:cxnSpLocks/>
          </p:cNvCxnSpPr>
          <p:nvPr/>
        </p:nvCxnSpPr>
        <p:spPr>
          <a:xfrm>
            <a:off x="992403" y="4098187"/>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749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1F47-21FE-25F8-AA04-3755430FD58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9F74AF-4C32-40F6-44F0-623B4B529291}"/>
              </a:ext>
            </a:extLst>
          </p:cNvPr>
          <p:cNvSpPr>
            <a:spLocks noGrp="1"/>
          </p:cNvSpPr>
          <p:nvPr>
            <p:ph type="body" sz="half" idx="12"/>
          </p:nvPr>
        </p:nvSpPr>
        <p:spPr>
          <a:xfrm>
            <a:off x="992155" y="1157104"/>
            <a:ext cx="2444064" cy="407035"/>
          </a:xfrm>
        </p:spPr>
        <p:txBody>
          <a:bodyPr/>
          <a:lstStyle/>
          <a:p>
            <a:r>
              <a:rPr lang="ja-JP" altLang="en-US" sz="2300" b="1" dirty="0">
                <a:latin typeface="メイリオ" panose="020B0604030504040204" pitchFamily="50" charset="-128"/>
                <a:ea typeface="メイリオ" panose="020B0604030504040204" pitchFamily="50" charset="-128"/>
              </a:rPr>
              <a:t>機械学習モデル</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872F09FF-F0AE-A122-E715-0260F54C20AC}"/>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機械学習についての条件</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F4C9DECE-FA8C-4885-DBE3-8111830A542C}"/>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2BA1D1E8-0AD3-152C-BCA1-23334B178591}"/>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 Placeholder 1">
            <a:extLst>
              <a:ext uri="{FF2B5EF4-FFF2-40B4-BE49-F238E27FC236}">
                <a16:creationId xmlns:a16="http://schemas.microsoft.com/office/drawing/2014/main" id="{5F2CF642-9DAA-DA4F-BF87-B40AD719B812}"/>
              </a:ext>
            </a:extLst>
          </p:cNvPr>
          <p:cNvSpPr txBox="1">
            <a:spLocks/>
          </p:cNvSpPr>
          <p:nvPr/>
        </p:nvSpPr>
        <p:spPr>
          <a:xfrm>
            <a:off x="992155" y="5231880"/>
            <a:ext cx="2444064"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アンサンブル学習</a:t>
            </a:r>
            <a:endParaRPr lang="en-JP" sz="2300" b="1"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E2B7E46F-9F0D-40FC-FDAD-9FEFEEEB6BF3}"/>
              </a:ext>
            </a:extLst>
          </p:cNvPr>
          <p:cNvCxnSpPr>
            <a:cxnSpLocks/>
          </p:cNvCxnSpPr>
          <p:nvPr/>
        </p:nvCxnSpPr>
        <p:spPr>
          <a:xfrm>
            <a:off x="878103" y="5209169"/>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四角形: 角を丸くする 9">
            <a:extLst>
              <a:ext uri="{FF2B5EF4-FFF2-40B4-BE49-F238E27FC236}">
                <a16:creationId xmlns:a16="http://schemas.microsoft.com/office/drawing/2014/main" id="{5FEBD601-F7B2-98BB-64D6-020544522B3D}"/>
              </a:ext>
            </a:extLst>
          </p:cNvPr>
          <p:cNvSpPr/>
          <p:nvPr/>
        </p:nvSpPr>
        <p:spPr>
          <a:xfrm>
            <a:off x="1207527" y="2261519"/>
            <a:ext cx="8134894" cy="2780476"/>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E859E4E-FD26-0132-250F-7B4986445EA7}"/>
              </a:ext>
            </a:extLst>
          </p:cNvPr>
          <p:cNvSpPr txBox="1"/>
          <p:nvPr/>
        </p:nvSpPr>
        <p:spPr>
          <a:xfrm>
            <a:off x="1466643" y="2431656"/>
            <a:ext cx="7880558" cy="2554545"/>
          </a:xfrm>
          <a:prstGeom prst="rect">
            <a:avLst/>
          </a:prstGeom>
          <a:noFill/>
        </p:spPr>
        <p:txBody>
          <a:bodyPr wrap="square" numCol="2" rtlCol="0">
            <a:spAutoFit/>
          </a:bodyPr>
          <a:lstStyle/>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ノイズなし，</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SNR=0</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 </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-4,</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 </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-8,</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 </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-12, -16, -20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の</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7</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種</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「各電圧</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120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個のデータ」</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「電圧の種類</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26</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3120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個</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エポック数：</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300</a:t>
            </a: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バッチサイズ：</a:t>
            </a:r>
            <a:r>
              <a:rPr kumimoji="1" lang="en-US" altLang="ja-JP" sz="2000" dirty="0" err="1">
                <a:solidFill>
                  <a:srgbClr val="292B2B"/>
                </a:solidFill>
                <a:latin typeface="メイリオ" panose="020B0604030504040204" pitchFamily="50" charset="-128"/>
                <a:ea typeface="メイリオ" panose="020B0604030504040204" pitchFamily="50" charset="-128"/>
                <a:sym typeface="Source Han Sans JP"/>
              </a:rPr>
              <a:t>AlexNet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ResNet50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12</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VGG16</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32</a:t>
            </a: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学習率：</a:t>
            </a:r>
            <a:r>
              <a:rPr kumimoji="1" lang="en-US" altLang="ja-JP" sz="2000" dirty="0" err="1">
                <a:solidFill>
                  <a:srgbClr val="292B2B"/>
                </a:solidFill>
                <a:latin typeface="メイリオ" panose="020B0604030504040204" pitchFamily="50" charset="-128"/>
                <a:ea typeface="メイリオ" panose="020B0604030504040204" pitchFamily="50" charset="-128"/>
                <a:sym typeface="Source Han Sans JP"/>
              </a:rPr>
              <a:t>AlexNet</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0.0001</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ResNet50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 ・</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 VGG16 </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0.00005</a:t>
            </a: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交差検証の分割数：</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5</a:t>
            </a:r>
          </a:p>
          <a:p>
            <a:pPr marL="342900" indent="-3429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最適化アルゴリズム：</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Adam</a:t>
            </a:r>
          </a:p>
          <a:p>
            <a:pPr marL="342900" indent="-3429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アンサンブル手法：重み付き平均</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5</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分割交差検証</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342900" indent="-342900">
              <a:buFont typeface="Wingdings" panose="05000000000000000000" pitchFamily="2" charset="2"/>
              <a:buChar char="l"/>
            </a:pPr>
            <a:endParaRPr kumimoji="1" lang="ja-JP" altLang="en-US"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B36D6A05-1FF1-FACD-7D68-966ABDACD82A}"/>
              </a:ext>
            </a:extLst>
          </p:cNvPr>
          <p:cNvSpPr txBox="1"/>
          <p:nvPr/>
        </p:nvSpPr>
        <p:spPr>
          <a:xfrm>
            <a:off x="1060387" y="1553633"/>
            <a:ext cx="8429174" cy="707886"/>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b="1" u="sng" dirty="0" err="1">
                <a:solidFill>
                  <a:srgbClr val="292B2B"/>
                </a:solidFill>
                <a:latin typeface="メイリオ" panose="020B0604030504040204" pitchFamily="50" charset="-128"/>
                <a:ea typeface="メイリオ" panose="020B0604030504040204" pitchFamily="50" charset="-128"/>
                <a:sym typeface="Source Han Sans JP"/>
              </a:rPr>
              <a:t>AlexNet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b="1" u="sng" dirty="0">
                <a:solidFill>
                  <a:srgbClr val="292B2B"/>
                </a:solidFill>
                <a:latin typeface="メイリオ" panose="020B0604030504040204" pitchFamily="50" charset="-128"/>
                <a:ea typeface="メイリオ" panose="020B0604030504040204" pitchFamily="50" charset="-128"/>
                <a:sym typeface="Source Han Sans JP"/>
              </a:rPr>
              <a:t>ResNet50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b="1" u="sng" dirty="0">
                <a:solidFill>
                  <a:srgbClr val="292B2B"/>
                </a:solidFill>
                <a:latin typeface="メイリオ" panose="020B0604030504040204" pitchFamily="50" charset="-128"/>
                <a:ea typeface="メイリオ" panose="020B0604030504040204" pitchFamily="50" charset="-128"/>
                <a:sym typeface="Source Han Sans JP"/>
              </a:rPr>
              <a:t>VGG16</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の</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3</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つのモデル（</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Convolutional Neural Network</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：畳み込みニューラルネットワーク）を用いる</a:t>
            </a:r>
            <a:endParaRPr kumimoji="1" lang="ja-JP" altLang="en-US"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C36905BB-5A62-BFAC-12C2-17CB04FBC649}"/>
              </a:ext>
            </a:extLst>
          </p:cNvPr>
          <p:cNvSpPr txBox="1"/>
          <p:nvPr/>
        </p:nvSpPr>
        <p:spPr>
          <a:xfrm>
            <a:off x="831560" y="5828800"/>
            <a:ext cx="8658001" cy="400110"/>
          </a:xfrm>
          <a:prstGeom prst="rect">
            <a:avLst/>
          </a:prstGeom>
          <a:noFill/>
        </p:spPr>
        <p:txBody>
          <a:bodyPr wrap="square" numCol="1" rtlCol="0">
            <a:spAutoFit/>
          </a:bodyPr>
          <a:lstStyle/>
          <a:p>
            <a:pPr marL="457200" indent="-288000">
              <a:buFont typeface="Wingdings" panose="05000000000000000000" pitchFamily="2" charset="2"/>
              <a:buChar char="l"/>
            </a:pPr>
            <a:r>
              <a:rPr lang="en-US" altLang="ja-JP" sz="2000" dirty="0" err="1">
                <a:solidFill>
                  <a:srgbClr val="292B2B"/>
                </a:solidFill>
                <a:latin typeface="メイリオ" panose="020B0604030504040204" pitchFamily="50" charset="-128"/>
                <a:ea typeface="メイリオ" panose="020B0604030504040204" pitchFamily="50" charset="-128"/>
                <a:sym typeface="Source Han Sans JP"/>
              </a:rPr>
              <a:t>AlexNet</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ResNet50</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VGG16</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の</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3</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つを，</a:t>
            </a:r>
            <a:r>
              <a:rPr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重み付き平均</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で組み合わせる</a:t>
            </a:r>
            <a:endParaRPr kumimoji="1" lang="ja-JP" altLang="en-US"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6967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BCE2-2FB6-F399-0F21-C1C4471071F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571E44-3006-27AC-9C50-1350C5D608A0}"/>
              </a:ext>
            </a:extLst>
          </p:cNvPr>
          <p:cNvSpPr>
            <a:spLocks noGrp="1"/>
          </p:cNvSpPr>
          <p:nvPr>
            <p:ph type="body" sz="half" idx="12"/>
          </p:nvPr>
        </p:nvSpPr>
        <p:spPr>
          <a:xfrm>
            <a:off x="992155" y="1157104"/>
            <a:ext cx="2444064" cy="407035"/>
          </a:xfrm>
        </p:spPr>
        <p:txBody>
          <a:bodyPr/>
          <a:lstStyle/>
          <a:p>
            <a:r>
              <a:rPr lang="ja-JP" altLang="en-US" sz="2300" b="1" dirty="0">
                <a:latin typeface="メイリオ" panose="020B0604030504040204" pitchFamily="50" charset="-128"/>
                <a:ea typeface="メイリオ" panose="020B0604030504040204" pitchFamily="50" charset="-128"/>
              </a:rPr>
              <a:t>アンサンブル学習</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36D23E1E-EC7A-2269-2454-2A5D4765EA75}"/>
              </a:ext>
            </a:extLst>
          </p:cNvPr>
          <p:cNvSpPr>
            <a:spLocks noGrp="1"/>
          </p:cNvSpPr>
          <p:nvPr>
            <p:ph type="title"/>
          </p:nvPr>
        </p:nvSpPr>
        <p:spPr>
          <a:xfrm>
            <a:off x="857746" y="410449"/>
            <a:ext cx="8658001" cy="424732"/>
          </a:xfrm>
        </p:spPr>
        <p:txBody>
          <a:bodyPr/>
          <a:lstStyle/>
          <a:p>
            <a:r>
              <a:rPr lang="ja-JP" altLang="en-US" dirty="0">
                <a:latin typeface="メイリオ" panose="020B0604030504040204" pitchFamily="50" charset="-128"/>
                <a:ea typeface="メイリオ" panose="020B0604030504040204" pitchFamily="50" charset="-128"/>
              </a:rPr>
              <a:t>アンサンブル学習について</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AB0F4FC0-C82A-C541-6546-80B9C95838C7}"/>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842112FC-B4C8-17F0-FA7F-8E500211A301}"/>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 Placeholder 1">
            <a:extLst>
              <a:ext uri="{FF2B5EF4-FFF2-40B4-BE49-F238E27FC236}">
                <a16:creationId xmlns:a16="http://schemas.microsoft.com/office/drawing/2014/main" id="{54465338-5F8E-68A1-D60A-34641BD0FF32}"/>
              </a:ext>
            </a:extLst>
          </p:cNvPr>
          <p:cNvSpPr txBox="1">
            <a:spLocks/>
          </p:cNvSpPr>
          <p:nvPr/>
        </p:nvSpPr>
        <p:spPr>
          <a:xfrm>
            <a:off x="992155" y="2723987"/>
            <a:ext cx="4485778"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ja-JP" altLang="en-US" sz="2300" b="1" dirty="0">
                <a:latin typeface="メイリオ" panose="020B0604030504040204" pitchFamily="50" charset="-128"/>
                <a:ea typeface="メイリオ" panose="020B0604030504040204" pitchFamily="50" charset="-128"/>
              </a:rPr>
              <a:t>アンサンブル学習の重み付き平均</a:t>
            </a:r>
            <a:endParaRPr lang="en-JP" sz="2300" b="1"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9CD67B39-7773-39EA-BD9D-36B201A2621E}"/>
              </a:ext>
            </a:extLst>
          </p:cNvPr>
          <p:cNvCxnSpPr>
            <a:cxnSpLocks/>
          </p:cNvCxnSpPr>
          <p:nvPr/>
        </p:nvCxnSpPr>
        <p:spPr>
          <a:xfrm>
            <a:off x="878103" y="2701276"/>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BB81E353-EFCF-57FE-ACC0-B762A5C01A35}"/>
              </a:ext>
            </a:extLst>
          </p:cNvPr>
          <p:cNvSpPr txBox="1"/>
          <p:nvPr/>
        </p:nvSpPr>
        <p:spPr>
          <a:xfrm>
            <a:off x="972159" y="1560078"/>
            <a:ext cx="8429174" cy="400110"/>
          </a:xfrm>
          <a:prstGeom prst="rect">
            <a:avLst/>
          </a:prstGeom>
          <a:noFill/>
        </p:spPr>
        <p:txBody>
          <a:bodyPr wrap="square" numCol="1" rtlCol="0">
            <a:spAutoFit/>
          </a:bodyPr>
          <a:lstStyle/>
          <a:p>
            <a:pPr marL="457200" indent="-288000">
              <a:buFont typeface="Wingdings" panose="05000000000000000000" pitchFamily="2" charset="2"/>
              <a:buChar char="l"/>
            </a:pP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複数の学習モデルを組み合わせて予測精度を向上させる手法</a:t>
            </a:r>
            <a:endParaRPr kumimoji="1" lang="ja-JP" altLang="en-US" sz="2000" dirty="0">
              <a:latin typeface="メイリオ" panose="020B0604030504040204" pitchFamily="50" charset="-128"/>
              <a:ea typeface="メイリオ" panose="020B0604030504040204" pitchFamily="50" charset="-128"/>
            </a:endParaRPr>
          </a:p>
        </p:txBody>
      </p:sp>
      <p:sp>
        <p:nvSpPr>
          <p:cNvPr id="13" name="矢印: 下 12">
            <a:extLst>
              <a:ext uri="{FF2B5EF4-FFF2-40B4-BE49-F238E27FC236}">
                <a16:creationId xmlns:a16="http://schemas.microsoft.com/office/drawing/2014/main" id="{60977664-D410-0EF6-7668-8EAEDE611557}"/>
              </a:ext>
            </a:extLst>
          </p:cNvPr>
          <p:cNvSpPr/>
          <p:nvPr/>
        </p:nvSpPr>
        <p:spPr>
          <a:xfrm rot="16200000">
            <a:off x="1387382" y="1987514"/>
            <a:ext cx="462572" cy="407920"/>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282EC75-7C92-D2F1-9E9A-00A5153B8D15}"/>
              </a:ext>
            </a:extLst>
          </p:cNvPr>
          <p:cNvSpPr txBox="1"/>
          <p:nvPr/>
        </p:nvSpPr>
        <p:spPr>
          <a:xfrm>
            <a:off x="1822628" y="2022650"/>
            <a:ext cx="8429174" cy="400110"/>
          </a:xfrm>
          <a:prstGeom prst="rect">
            <a:avLst/>
          </a:prstGeom>
          <a:noFill/>
        </p:spPr>
        <p:txBody>
          <a:bodyPr wrap="square" numCol="1" rtlCol="0">
            <a:spAutoFit/>
          </a:bodyPr>
          <a:lstStyle/>
          <a:p>
            <a:pPr marL="169200"/>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組み合わせる方法の</a:t>
            </a:r>
            <a:r>
              <a:rPr lang="en-US" altLang="ja-JP" sz="2000" dirty="0">
                <a:solidFill>
                  <a:srgbClr val="292B2B"/>
                </a:solidFill>
                <a:latin typeface="メイリオ" panose="020B0604030504040204" pitchFamily="50" charset="-128"/>
                <a:ea typeface="メイリオ" panose="020B0604030504040204" pitchFamily="50" charset="-128"/>
                <a:sym typeface="Source Han Sans JP"/>
              </a:rPr>
              <a:t>1</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つに</a:t>
            </a:r>
            <a:r>
              <a:rPr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重み付き平均</a:t>
            </a:r>
            <a:endParaRPr kumimoji="1" lang="ja-JP" altLang="en-US" sz="2000" b="1" u="sng"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71E1D47B-0867-14AD-49EF-F3735A877FEE}"/>
                  </a:ext>
                </a:extLst>
              </p:cNvPr>
              <p:cNvSpPr txBox="1"/>
              <p:nvPr/>
            </p:nvSpPr>
            <p:spPr>
              <a:xfrm>
                <a:off x="958444" y="3314091"/>
                <a:ext cx="5933423" cy="734304"/>
              </a:xfrm>
              <a:prstGeom prst="rect">
                <a:avLst/>
              </a:prstGeom>
              <a:noFill/>
            </p:spPr>
            <p:txBody>
              <a:bodyPr wrap="square">
                <a:spAutoFit/>
              </a:bodyPr>
              <a:lstStyle/>
              <a:p>
                <a:pPr marL="278623" indent="-278623" eaLnBrk="0" fontAlgn="base" hangingPunct="0">
                  <a:spcBef>
                    <a:spcPct val="0"/>
                  </a:spcBef>
                  <a:spcAft>
                    <a:spcPct val="0"/>
                  </a:spcAft>
                  <a:buClr>
                    <a:srgbClr val="7A0C36"/>
                  </a:buClr>
                  <a:buFont typeface="+mj-lt"/>
                  <a:buAutoNum type="arabicPeriod"/>
                </a:pPr>
                <a:r>
                  <a:rPr lang="ja-JP" altLang="en-US" sz="2000" dirty="0">
                    <a:latin typeface="メイリオ" panose="020B0604030504040204" pitchFamily="50" charset="-128"/>
                    <a:ea typeface="メイリオ" panose="020B0604030504040204" pitchFamily="50" charset="-128"/>
                  </a:rPr>
                  <a:t>各学習器の決定係数</a:t>
                </a:r>
                <a14:m>
                  <m:oMath xmlns:m="http://schemas.openxmlformats.org/officeDocument/2006/math">
                    <m:sSup>
                      <m:sSupPr>
                        <m:ctrlPr>
                          <a:rPr lang="en-US" altLang="ja-JP" sz="2000" b="1" i="1">
                            <a:latin typeface="Cambria Math" panose="02040503050406030204" pitchFamily="18" charset="0"/>
                          </a:rPr>
                        </m:ctrlPr>
                      </m:sSupPr>
                      <m:e>
                        <m:sSub>
                          <m:sSubPr>
                            <m:ctrlPr>
                              <a:rPr lang="en-US" altLang="ja-JP" sz="2000" b="1"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b="1" i="1">
                                <a:latin typeface="Cambria Math" panose="02040503050406030204" pitchFamily="18" charset="0"/>
                              </a:rPr>
                              <m:t>𝒊</m:t>
                            </m:r>
                          </m:sub>
                        </m:sSub>
                      </m:e>
                      <m:sup>
                        <m:r>
                          <a:rPr lang="en-US" altLang="ja-JP" sz="2000" b="1" i="1">
                            <a:latin typeface="Cambria Math" panose="02040503050406030204" pitchFamily="18" charset="0"/>
                          </a:rPr>
                          <m:t>𝟐</m:t>
                        </m:r>
                      </m:sup>
                    </m:sSup>
                  </m:oMath>
                </a14:m>
                <a:r>
                  <a:rPr lang="ja-JP" altLang="en-US" sz="2000" dirty="0">
                    <a:latin typeface="メイリオ" panose="020B0604030504040204" pitchFamily="50" charset="-128"/>
                    <a:ea typeface="メイリオ" panose="020B0604030504040204" pitchFamily="50" charset="-128"/>
                  </a:rPr>
                  <a:t>を用いて誤差率</a:t>
                </a:r>
                <a14:m>
                  <m:oMath xmlns:m="http://schemas.openxmlformats.org/officeDocument/2006/math">
                    <m:sSub>
                      <m:sSubPr>
                        <m:ctrlPr>
                          <a:rPr lang="en-US" altLang="ja-JP" sz="2000" b="1" i="1">
                            <a:latin typeface="Cambria Math" panose="02040503050406030204" pitchFamily="18" charset="0"/>
                          </a:rPr>
                        </m:ctrlPr>
                      </m:sSubPr>
                      <m:e>
                        <m:r>
                          <a:rPr lang="en-US" altLang="ja-JP" sz="2000" b="1" i="1">
                            <a:latin typeface="Cambria Math" panose="02040503050406030204" pitchFamily="18" charset="0"/>
                          </a:rPr>
                          <m:t>𝒆𝒓𝒓𝒐𝒓</m:t>
                        </m:r>
                      </m:e>
                      <m:sub>
                        <m:r>
                          <a:rPr lang="en-US" altLang="ja-JP" sz="2000" b="1" i="1">
                            <a:latin typeface="Cambria Math" panose="02040503050406030204" pitchFamily="18" charset="0"/>
                          </a:rPr>
                          <m:t>𝒊</m:t>
                        </m:r>
                      </m:sub>
                    </m:sSub>
                  </m:oMath>
                </a14:m>
                <a:r>
                  <a:rPr lang="ja-JP" altLang="en-US" sz="2000" dirty="0">
                    <a:latin typeface="メイリオ" panose="020B0604030504040204" pitchFamily="50" charset="-128"/>
                    <a:ea typeface="メイリオ" panose="020B0604030504040204" pitchFamily="50" charset="-128"/>
                  </a:rPr>
                  <a:t>を求める</a:t>
                </a:r>
                <a:endParaRPr lang="en-US" altLang="ja-JP" sz="2000" dirty="0">
                  <a:latin typeface="メイリオ" panose="020B0604030504040204" pitchFamily="50" charset="-128"/>
                  <a:ea typeface="メイリオ" panose="020B0604030504040204" pitchFamily="50" charset="-128"/>
                </a:endParaRPr>
              </a:p>
            </p:txBody>
          </p:sp>
        </mc:Choice>
        <mc:Fallback xmlns="">
          <p:sp>
            <p:nvSpPr>
              <p:cNvPr id="15" name="テキスト ボックス 14">
                <a:extLst>
                  <a:ext uri="{FF2B5EF4-FFF2-40B4-BE49-F238E27FC236}">
                    <a16:creationId xmlns:a16="http://schemas.microsoft.com/office/drawing/2014/main" id="{71E1D47B-0867-14AD-49EF-F3735A877FEE}"/>
                  </a:ext>
                </a:extLst>
              </p:cNvPr>
              <p:cNvSpPr txBox="1">
                <a:spLocks noRot="1" noChangeAspect="1" noMove="1" noResize="1" noEditPoints="1" noAdjustHandles="1" noChangeArrowheads="1" noChangeShapeType="1" noTextEdit="1"/>
              </p:cNvSpPr>
              <p:nvPr/>
            </p:nvSpPr>
            <p:spPr>
              <a:xfrm>
                <a:off x="958444" y="3314091"/>
                <a:ext cx="5933423" cy="734304"/>
              </a:xfrm>
              <a:prstGeom prst="rect">
                <a:avLst/>
              </a:prstGeom>
              <a:blipFill>
                <a:blip r:embed="rId3"/>
                <a:stretch>
                  <a:fillRect l="-1745" t="-10833" r="-1027" b="-141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A3FB9E5-830F-9AD5-36C0-D65D7E00E9F1}"/>
                  </a:ext>
                </a:extLst>
              </p:cNvPr>
              <p:cNvSpPr txBox="1"/>
              <p:nvPr/>
            </p:nvSpPr>
            <p:spPr>
              <a:xfrm>
                <a:off x="958444" y="4081298"/>
                <a:ext cx="6135628" cy="400110"/>
              </a:xfrm>
              <a:prstGeom prst="rect">
                <a:avLst/>
              </a:prstGeom>
              <a:noFill/>
            </p:spPr>
            <p:txBody>
              <a:bodyPr wrap="square">
                <a:spAutoFit/>
              </a:bodyPr>
              <a:lstStyle/>
              <a:p>
                <a:pPr marL="278623" indent="-278623" eaLnBrk="0" fontAlgn="base" hangingPunct="0">
                  <a:spcBef>
                    <a:spcPct val="0"/>
                  </a:spcBef>
                  <a:spcAft>
                    <a:spcPct val="0"/>
                  </a:spcAft>
                  <a:buClr>
                    <a:srgbClr val="7A0C36"/>
                  </a:buClr>
                  <a:buFont typeface="+mj-lt"/>
                  <a:buAutoNum type="arabicPeriod" startAt="2"/>
                </a:pPr>
                <a:r>
                  <a:rPr lang="ja-JP" altLang="en-US" sz="2000" dirty="0">
                    <a:latin typeface="メイリオ" panose="020B0604030504040204" pitchFamily="50" charset="-128"/>
                    <a:ea typeface="メイリオ" panose="020B0604030504040204" pitchFamily="50" charset="-128"/>
                  </a:rPr>
                  <a:t>誤差率</a:t>
                </a:r>
                <a14:m>
                  <m:oMath xmlns:m="http://schemas.openxmlformats.org/officeDocument/2006/math">
                    <m:sSub>
                      <m:sSubPr>
                        <m:ctrlPr>
                          <a:rPr lang="en-US" altLang="ja-JP" sz="2000" b="1" i="1">
                            <a:latin typeface="Cambria Math" panose="02040503050406030204" pitchFamily="18" charset="0"/>
                          </a:rPr>
                        </m:ctrlPr>
                      </m:sSubPr>
                      <m:e>
                        <m:r>
                          <a:rPr lang="en-US" altLang="ja-JP" sz="2000" b="1" i="1">
                            <a:latin typeface="Cambria Math" panose="02040503050406030204" pitchFamily="18" charset="0"/>
                          </a:rPr>
                          <m:t>𝒆𝒓𝒓𝒐𝒓</m:t>
                        </m:r>
                      </m:e>
                      <m:sub>
                        <m:r>
                          <a:rPr lang="en-US" altLang="ja-JP" sz="2000" b="1" i="1">
                            <a:latin typeface="Cambria Math" panose="02040503050406030204" pitchFamily="18" charset="0"/>
                          </a:rPr>
                          <m:t>𝒊</m:t>
                        </m:r>
                      </m:sub>
                    </m:sSub>
                  </m:oMath>
                </a14:m>
                <a:r>
                  <a:rPr lang="ja-JP" altLang="en-US" sz="2000" dirty="0">
                    <a:latin typeface="メイリオ" panose="020B0604030504040204" pitchFamily="50" charset="-128"/>
                    <a:ea typeface="メイリオ" panose="020B0604030504040204" pitchFamily="50" charset="-128"/>
                  </a:rPr>
                  <a:t>を用いて、各学習器の重み</a:t>
                </a:r>
                <a14:m>
                  <m:oMath xmlns:m="http://schemas.openxmlformats.org/officeDocument/2006/math">
                    <m:sSub>
                      <m:sSubPr>
                        <m:ctrlPr>
                          <a:rPr lang="en-US" altLang="ja-JP" sz="2000" b="1" i="1">
                            <a:latin typeface="Cambria Math" panose="02040503050406030204" pitchFamily="18" charset="0"/>
                          </a:rPr>
                        </m:ctrlPr>
                      </m:sSubPr>
                      <m:e>
                        <m:r>
                          <a:rPr lang="en-US" altLang="ja-JP" sz="2000" b="1" i="1">
                            <a:latin typeface="Cambria Math" panose="02040503050406030204" pitchFamily="18" charset="0"/>
                          </a:rPr>
                          <m:t>𝒘</m:t>
                        </m:r>
                      </m:e>
                      <m:sub>
                        <m:r>
                          <a:rPr lang="en-US" altLang="ja-JP" sz="2000" b="1" i="1">
                            <a:latin typeface="Cambria Math" panose="02040503050406030204" pitchFamily="18" charset="0"/>
                          </a:rPr>
                          <m:t>𝒊</m:t>
                        </m:r>
                      </m:sub>
                    </m:sSub>
                  </m:oMath>
                </a14:m>
                <a:r>
                  <a:rPr lang="ja-JP" altLang="en-US" sz="2000" dirty="0">
                    <a:latin typeface="メイリオ" panose="020B0604030504040204" pitchFamily="50" charset="-128"/>
                    <a:ea typeface="メイリオ" panose="020B0604030504040204" pitchFamily="50" charset="-128"/>
                  </a:rPr>
                  <a:t>を設定</a:t>
                </a:r>
                <a:endParaRPr lang="en-US" altLang="ja-JP" sz="2000" dirty="0">
                  <a:latin typeface="メイリオ" panose="020B0604030504040204" pitchFamily="50" charset="-128"/>
                  <a:ea typeface="メイリオ" panose="020B0604030504040204" pitchFamily="50" charset="-128"/>
                </a:endParaRPr>
              </a:p>
            </p:txBody>
          </p:sp>
        </mc:Choice>
        <mc:Fallback xmlns="">
          <p:sp>
            <p:nvSpPr>
              <p:cNvPr id="16" name="テキスト ボックス 15">
                <a:extLst>
                  <a:ext uri="{FF2B5EF4-FFF2-40B4-BE49-F238E27FC236}">
                    <a16:creationId xmlns:a16="http://schemas.microsoft.com/office/drawing/2014/main" id="{6A3FB9E5-830F-9AD5-36C0-D65D7E00E9F1}"/>
                  </a:ext>
                </a:extLst>
              </p:cNvPr>
              <p:cNvSpPr txBox="1">
                <a:spLocks noRot="1" noChangeAspect="1" noMove="1" noResize="1" noEditPoints="1" noAdjustHandles="1" noChangeArrowheads="1" noChangeShapeType="1" noTextEdit="1"/>
              </p:cNvSpPr>
              <p:nvPr/>
            </p:nvSpPr>
            <p:spPr>
              <a:xfrm>
                <a:off x="958444" y="4081298"/>
                <a:ext cx="6135628" cy="400110"/>
              </a:xfrm>
              <a:prstGeom prst="rect">
                <a:avLst/>
              </a:prstGeom>
              <a:blipFill>
                <a:blip r:embed="rId4"/>
                <a:stretch>
                  <a:fillRect l="-1688" t="-27692" r="-596" b="-43077"/>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FA3AD4AD-F90B-A5CF-642F-D4F304854F5D}"/>
              </a:ext>
            </a:extLst>
          </p:cNvPr>
          <p:cNvSpPr txBox="1"/>
          <p:nvPr/>
        </p:nvSpPr>
        <p:spPr>
          <a:xfrm>
            <a:off x="972159" y="4782105"/>
            <a:ext cx="5509666" cy="400110"/>
          </a:xfrm>
          <a:prstGeom prst="rect">
            <a:avLst/>
          </a:prstGeom>
          <a:noFill/>
        </p:spPr>
        <p:txBody>
          <a:bodyPr wrap="square">
            <a:spAutoFit/>
          </a:bodyPr>
          <a:lstStyle/>
          <a:p>
            <a:pPr marL="278623" indent="-278623" defTabSz="495330" eaLnBrk="0" fontAlgn="base" hangingPunct="0">
              <a:spcBef>
                <a:spcPct val="0"/>
              </a:spcBef>
              <a:spcAft>
                <a:spcPct val="0"/>
              </a:spcAft>
              <a:buClr>
                <a:srgbClr val="7A0C36"/>
              </a:buClr>
              <a:buFont typeface="+mj-lt"/>
              <a:buAutoNum type="arabicPeriod" startAt="3"/>
            </a:pPr>
            <a:r>
              <a:rPr lang="ja-JP" altLang="en-US" sz="2000" dirty="0">
                <a:latin typeface="メイリオ" panose="020B0604030504040204" pitchFamily="50" charset="-128"/>
                <a:ea typeface="メイリオ" panose="020B0604030504040204" pitchFamily="50" charset="-128"/>
              </a:rPr>
              <a:t>すべての重みの合計が</a:t>
            </a:r>
            <a:r>
              <a:rPr lang="en-US" altLang="ja-JP" sz="2000" dirty="0">
                <a:latin typeface="メイリオ" panose="020B0604030504040204" pitchFamily="50" charset="-128"/>
                <a:ea typeface="メイリオ" panose="020B0604030504040204" pitchFamily="50" charset="-128"/>
              </a:rPr>
              <a:t>1</a:t>
            </a:r>
            <a:r>
              <a:rPr lang="ja-JP" altLang="en-US" sz="2000" dirty="0">
                <a:latin typeface="メイリオ" panose="020B0604030504040204" pitchFamily="50" charset="-128"/>
                <a:ea typeface="メイリオ" panose="020B0604030504040204" pitchFamily="50" charset="-128"/>
              </a:rPr>
              <a:t>になるように調整</a:t>
            </a:r>
            <a:endParaRPr lang="en-US" altLang="ja-JP" sz="20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7FCD7EA0-A0CD-EF9E-C12A-22DBEF526718}"/>
                  </a:ext>
                </a:extLst>
              </p:cNvPr>
              <p:cNvSpPr txBox="1"/>
              <p:nvPr/>
            </p:nvSpPr>
            <p:spPr>
              <a:xfrm>
                <a:off x="972159" y="5423060"/>
                <a:ext cx="5956895" cy="1015663"/>
              </a:xfrm>
              <a:prstGeom prst="rect">
                <a:avLst/>
              </a:prstGeom>
              <a:noFill/>
            </p:spPr>
            <p:txBody>
              <a:bodyPr wrap="square">
                <a:spAutoFit/>
              </a:bodyPr>
              <a:lstStyle/>
              <a:p>
                <a:pPr marL="342900" indent="-342900" defTabSz="495330" eaLnBrk="0" fontAlgn="base" hangingPunct="0">
                  <a:spcBef>
                    <a:spcPct val="0"/>
                  </a:spcBef>
                  <a:spcAft>
                    <a:spcPct val="0"/>
                  </a:spcAft>
                  <a:buClr>
                    <a:srgbClr val="7A0C36"/>
                  </a:buClr>
                  <a:buFont typeface="+mj-lt"/>
                  <a:buAutoNum type="arabicPeriod" startAt="4"/>
                </a:pPr>
                <a:r>
                  <a:rPr lang="ja-JP" altLang="en-US" sz="2000" dirty="0">
                    <a:latin typeface="メイリオ" panose="020B0604030504040204" pitchFamily="50" charset="-128"/>
                    <a:ea typeface="メイリオ" panose="020B0604030504040204" pitchFamily="50" charset="-128"/>
                  </a:rPr>
                  <a:t>正規化された重みを使って各学習器の予測値を加重平均し、アンサンブル学習による最終的な予測値</a:t>
                </a:r>
                <a14:m>
                  <m:oMath xmlns:m="http://schemas.openxmlformats.org/officeDocument/2006/math">
                    <m:sSub>
                      <m:sSubPr>
                        <m:ctrlPr>
                          <a:rPr lang="en-US" altLang="ja-JP" sz="2000" b="1" i="1">
                            <a:latin typeface="Cambria Math" panose="02040503050406030204" pitchFamily="18" charset="0"/>
                          </a:rPr>
                        </m:ctrlPr>
                      </m:sSubPr>
                      <m:e>
                        <m:r>
                          <a:rPr lang="en-US" altLang="ja-JP" sz="2000" b="1" i="1">
                            <a:latin typeface="Cambria Math" panose="02040503050406030204" pitchFamily="18" charset="0"/>
                          </a:rPr>
                          <m:t>𝒚</m:t>
                        </m:r>
                      </m:e>
                      <m:sub>
                        <m:r>
                          <a:rPr lang="en-US" altLang="ja-JP" sz="2000" b="1" i="1">
                            <a:latin typeface="Cambria Math" panose="02040503050406030204" pitchFamily="18" charset="0"/>
                          </a:rPr>
                          <m:t>𝒆𝒏𝒔𝒆𝒎𝒃𝒍𝒆</m:t>
                        </m:r>
                      </m:sub>
                    </m:sSub>
                  </m:oMath>
                </a14:m>
                <a:r>
                  <a:rPr lang="ja-JP" altLang="en-US" sz="2000" dirty="0">
                    <a:latin typeface="メイリオ" panose="020B0604030504040204" pitchFamily="50" charset="-128"/>
                    <a:ea typeface="メイリオ" panose="020B0604030504040204" pitchFamily="50" charset="-128"/>
                  </a:rPr>
                  <a:t>を求める</a:t>
                </a:r>
              </a:p>
            </p:txBody>
          </p:sp>
        </mc:Choice>
        <mc:Fallback xmlns="">
          <p:sp>
            <p:nvSpPr>
              <p:cNvPr id="18" name="テキスト ボックス 17">
                <a:extLst>
                  <a:ext uri="{FF2B5EF4-FFF2-40B4-BE49-F238E27FC236}">
                    <a16:creationId xmlns:a16="http://schemas.microsoft.com/office/drawing/2014/main" id="{7FCD7EA0-A0CD-EF9E-C12A-22DBEF526718}"/>
                  </a:ext>
                </a:extLst>
              </p:cNvPr>
              <p:cNvSpPr txBox="1">
                <a:spLocks noRot="1" noChangeAspect="1" noMove="1" noResize="1" noEditPoints="1" noAdjustHandles="1" noChangeArrowheads="1" noChangeShapeType="1" noTextEdit="1"/>
              </p:cNvSpPr>
              <p:nvPr/>
            </p:nvSpPr>
            <p:spPr>
              <a:xfrm>
                <a:off x="972159" y="5423060"/>
                <a:ext cx="5956895" cy="1015663"/>
              </a:xfrm>
              <a:prstGeom prst="rect">
                <a:avLst/>
              </a:prstGeom>
              <a:blipFill>
                <a:blip r:embed="rId5"/>
                <a:stretch>
                  <a:fillRect l="-1738" t="-11446" b="-102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A42FC04E-F49C-92D8-3336-F889689E575C}"/>
                  </a:ext>
                </a:extLst>
              </p:cNvPr>
              <p:cNvSpPr txBox="1"/>
              <p:nvPr/>
            </p:nvSpPr>
            <p:spPr>
              <a:xfrm>
                <a:off x="7527925" y="3255772"/>
                <a:ext cx="2084385" cy="4186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𝑒𝑟𝑟𝑜𝑟</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𝑖</m:t>
                              </m:r>
                            </m:sub>
                          </m:sSub>
                        </m:e>
                        <m:sup>
                          <m:r>
                            <a:rPr lang="en-US" altLang="ja-JP" sz="2000" i="1">
                              <a:latin typeface="Cambria Math" panose="02040503050406030204" pitchFamily="18" charset="0"/>
                            </a:rPr>
                            <m:t>2</m:t>
                          </m:r>
                        </m:sup>
                      </m:sSup>
                    </m:oMath>
                  </m:oMathPara>
                </a14:m>
                <a:endParaRPr lang="ja-JP" altLang="en-US" sz="2000" dirty="0"/>
              </a:p>
            </p:txBody>
          </p:sp>
        </mc:Choice>
        <mc:Fallback xmlns="">
          <p:sp>
            <p:nvSpPr>
              <p:cNvPr id="19" name="テキスト ボックス 18">
                <a:extLst>
                  <a:ext uri="{FF2B5EF4-FFF2-40B4-BE49-F238E27FC236}">
                    <a16:creationId xmlns:a16="http://schemas.microsoft.com/office/drawing/2014/main" id="{A42FC04E-F49C-92D8-3336-F889689E575C}"/>
                  </a:ext>
                </a:extLst>
              </p:cNvPr>
              <p:cNvSpPr txBox="1">
                <a:spLocks noRot="1" noChangeAspect="1" noMove="1" noResize="1" noEditPoints="1" noAdjustHandles="1" noChangeArrowheads="1" noChangeShapeType="1" noTextEdit="1"/>
              </p:cNvSpPr>
              <p:nvPr/>
            </p:nvSpPr>
            <p:spPr>
              <a:xfrm>
                <a:off x="7527925" y="3255772"/>
                <a:ext cx="2084385" cy="418641"/>
              </a:xfrm>
              <a:prstGeom prst="rect">
                <a:avLst/>
              </a:prstGeom>
              <a:blipFill>
                <a:blip r:embed="rId6"/>
                <a:stretch>
                  <a:fillRect t="-4348" r="-3801" b="-2318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87D942AA-C13E-4B48-CF26-5C516E9B5747}"/>
                  </a:ext>
                </a:extLst>
              </p:cNvPr>
              <p:cNvSpPr txBox="1"/>
              <p:nvPr/>
            </p:nvSpPr>
            <p:spPr>
              <a:xfrm>
                <a:off x="7664417" y="3803642"/>
                <a:ext cx="2084385"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𝑒𝑟𝑟𝑜𝑟</m:t>
                              </m:r>
                            </m:e>
                            <m:sub>
                              <m:r>
                                <a:rPr lang="en-US" altLang="ja-JP" sz="2000" i="1">
                                  <a:latin typeface="Cambria Math" panose="02040503050406030204" pitchFamily="18" charset="0"/>
                                </a:rPr>
                                <m:t>𝑖</m:t>
                              </m:r>
                            </m:sub>
                          </m:sSub>
                        </m:den>
                      </m:f>
                    </m:oMath>
                  </m:oMathPara>
                </a14:m>
                <a:endParaRPr lang="ja-JP" altLang="en-US" sz="2000" dirty="0"/>
              </a:p>
            </p:txBody>
          </p:sp>
        </mc:Choice>
        <mc:Fallback xmlns="">
          <p:sp>
            <p:nvSpPr>
              <p:cNvPr id="20" name="テキスト ボックス 19">
                <a:extLst>
                  <a:ext uri="{FF2B5EF4-FFF2-40B4-BE49-F238E27FC236}">
                    <a16:creationId xmlns:a16="http://schemas.microsoft.com/office/drawing/2014/main" id="{87D942AA-C13E-4B48-CF26-5C516E9B5747}"/>
                  </a:ext>
                </a:extLst>
              </p:cNvPr>
              <p:cNvSpPr txBox="1">
                <a:spLocks noRot="1" noChangeAspect="1" noMove="1" noResize="1" noEditPoints="1" noAdjustHandles="1" noChangeArrowheads="1" noChangeShapeType="1" noTextEdit="1"/>
              </p:cNvSpPr>
              <p:nvPr/>
            </p:nvSpPr>
            <p:spPr>
              <a:xfrm>
                <a:off x="7664417" y="3803642"/>
                <a:ext cx="2084385" cy="722505"/>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F2CF465D-A23E-B363-EFAC-7B49C8BC6F6F}"/>
                  </a:ext>
                </a:extLst>
              </p:cNvPr>
              <p:cNvSpPr txBox="1"/>
              <p:nvPr/>
            </p:nvSpPr>
            <p:spPr>
              <a:xfrm>
                <a:off x="7215375" y="4515846"/>
                <a:ext cx="2084385"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ja-JP" altLang="en-US" sz="2000" i="1">
                              <a:latin typeface="Cambria Math" panose="02040503050406030204" pitchFamily="18" charset="0"/>
                            </a:rPr>
                          </m:ctrlPr>
                        </m:naryPr>
                        <m:sub>
                          <m:r>
                            <m:rPr>
                              <m:brk m:alnAt="23"/>
                            </m:rP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e>
                      </m:nary>
                    </m:oMath>
                  </m:oMathPara>
                </a14:m>
                <a:endParaRPr lang="ja-JP" altLang="en-US" sz="2000" dirty="0"/>
              </a:p>
            </p:txBody>
          </p:sp>
        </mc:Choice>
        <mc:Fallback xmlns="">
          <p:sp>
            <p:nvSpPr>
              <p:cNvPr id="21" name="テキスト ボックス 20">
                <a:extLst>
                  <a:ext uri="{FF2B5EF4-FFF2-40B4-BE49-F238E27FC236}">
                    <a16:creationId xmlns:a16="http://schemas.microsoft.com/office/drawing/2014/main" id="{F2CF465D-A23E-B363-EFAC-7B49C8BC6F6F}"/>
                  </a:ext>
                </a:extLst>
              </p:cNvPr>
              <p:cNvSpPr txBox="1">
                <a:spLocks noRot="1" noChangeAspect="1" noMove="1" noResize="1" noEditPoints="1" noAdjustHandles="1" noChangeArrowheads="1" noChangeShapeType="1" noTextEdit="1"/>
              </p:cNvSpPr>
              <p:nvPr/>
            </p:nvSpPr>
            <p:spPr>
              <a:xfrm>
                <a:off x="7215375" y="4515846"/>
                <a:ext cx="2084385" cy="932628"/>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BF75989-9284-E931-A347-405121B4E36A}"/>
                  </a:ext>
                </a:extLst>
              </p:cNvPr>
              <p:cNvSpPr txBox="1"/>
              <p:nvPr/>
            </p:nvSpPr>
            <p:spPr>
              <a:xfrm>
                <a:off x="7039939" y="5411658"/>
                <a:ext cx="2866061"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𝑦</m:t>
                          </m:r>
                        </m:e>
                        <m:sub>
                          <m:r>
                            <a:rPr lang="en-US" altLang="ja-JP" sz="2000" i="1">
                              <a:latin typeface="Cambria Math" panose="02040503050406030204" pitchFamily="18" charset="0"/>
                            </a:rPr>
                            <m:t>𝑒𝑛𝑠𝑒𝑚𝑏𝑙𝑒</m:t>
                          </m:r>
                        </m:sub>
                      </m:sSub>
                      <m:r>
                        <a:rPr lang="en-US" altLang="ja-JP" sz="2000" i="1">
                          <a:latin typeface="Cambria Math" panose="02040503050406030204" pitchFamily="18" charset="0"/>
                        </a:rPr>
                        <m:t>=</m:t>
                      </m:r>
                      <m:nary>
                        <m:naryPr>
                          <m:chr m:val="∑"/>
                          <m:ctrlPr>
                            <a:rPr lang="ja-JP" altLang="en-US" sz="2000" i="1">
                              <a:latin typeface="Cambria Math" panose="02040503050406030204" pitchFamily="18" charset="0"/>
                            </a:rPr>
                          </m:ctrlPr>
                        </m:naryPr>
                        <m:sub>
                          <m:r>
                            <m:rPr>
                              <m:brk m:alnAt="23"/>
                            </m:rP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𝑦</m:t>
                              </m:r>
                            </m:e>
                            <m:sub>
                              <m:r>
                                <a:rPr lang="en-US" altLang="ja-JP" sz="2000" i="1">
                                  <a:latin typeface="Cambria Math" panose="02040503050406030204" pitchFamily="18" charset="0"/>
                                </a:rPr>
                                <m:t>𝑖</m:t>
                              </m:r>
                            </m:sub>
                          </m:sSub>
                        </m:e>
                      </m:nary>
                    </m:oMath>
                  </m:oMathPara>
                </a14:m>
                <a:endParaRPr lang="ja-JP" altLang="en-US" sz="2000" dirty="0"/>
              </a:p>
            </p:txBody>
          </p:sp>
        </mc:Choice>
        <mc:Fallback xmlns="">
          <p:sp>
            <p:nvSpPr>
              <p:cNvPr id="22" name="テキスト ボックス 21">
                <a:extLst>
                  <a:ext uri="{FF2B5EF4-FFF2-40B4-BE49-F238E27FC236}">
                    <a16:creationId xmlns:a16="http://schemas.microsoft.com/office/drawing/2014/main" id="{5BF75989-9284-E931-A347-405121B4E36A}"/>
                  </a:ext>
                </a:extLst>
              </p:cNvPr>
              <p:cNvSpPr txBox="1">
                <a:spLocks noRot="1" noChangeAspect="1" noMove="1" noResize="1" noEditPoints="1" noAdjustHandles="1" noChangeArrowheads="1" noChangeShapeType="1" noTextEdit="1"/>
              </p:cNvSpPr>
              <p:nvPr/>
            </p:nvSpPr>
            <p:spPr>
              <a:xfrm>
                <a:off x="7039939" y="5411658"/>
                <a:ext cx="2866061" cy="932628"/>
              </a:xfrm>
              <a:prstGeom prst="rect">
                <a:avLst/>
              </a:prstGeom>
              <a:blipFill>
                <a:blip r:embed="rId9"/>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23266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CBC6E-AD63-59B6-B697-083DA6E4412B}"/>
            </a:ext>
          </a:extLst>
        </p:cNvPr>
        <p:cNvGrpSpPr/>
        <p:nvPr/>
      </p:nvGrpSpPr>
      <p:grpSpPr>
        <a:xfrm>
          <a:off x="0" y="0"/>
          <a:ext cx="0" cy="0"/>
          <a:chOff x="0" y="0"/>
          <a:chExt cx="0" cy="0"/>
        </a:xfrm>
      </p:grpSpPr>
      <p:sp>
        <p:nvSpPr>
          <p:cNvPr id="69" name="フリーフォーム: 図形 68">
            <a:extLst>
              <a:ext uri="{FF2B5EF4-FFF2-40B4-BE49-F238E27FC236}">
                <a16:creationId xmlns:a16="http://schemas.microsoft.com/office/drawing/2014/main" id="{3BF233DE-CC6E-DE6F-F3D3-8E2E323B9AF7}"/>
              </a:ext>
            </a:extLst>
          </p:cNvPr>
          <p:cNvSpPr/>
          <p:nvPr/>
        </p:nvSpPr>
        <p:spPr>
          <a:xfrm>
            <a:off x="7194550" y="3530600"/>
            <a:ext cx="2228850" cy="2203450"/>
          </a:xfrm>
          <a:custGeom>
            <a:avLst/>
            <a:gdLst>
              <a:gd name="connsiteX0" fmla="*/ 0 w 2228850"/>
              <a:gd name="connsiteY0" fmla="*/ 2190750 h 2203450"/>
              <a:gd name="connsiteX1" fmla="*/ 76200 w 2228850"/>
              <a:gd name="connsiteY1" fmla="*/ 1384300 h 2203450"/>
              <a:gd name="connsiteX2" fmla="*/ 241300 w 2228850"/>
              <a:gd name="connsiteY2" fmla="*/ 850900 h 2203450"/>
              <a:gd name="connsiteX3" fmla="*/ 355600 w 2228850"/>
              <a:gd name="connsiteY3" fmla="*/ 584200 h 2203450"/>
              <a:gd name="connsiteX4" fmla="*/ 520700 w 2228850"/>
              <a:gd name="connsiteY4" fmla="*/ 330200 h 2203450"/>
              <a:gd name="connsiteX5" fmla="*/ 762000 w 2228850"/>
              <a:gd name="connsiteY5" fmla="*/ 158750 h 2203450"/>
              <a:gd name="connsiteX6" fmla="*/ 1231900 w 2228850"/>
              <a:gd name="connsiteY6" fmla="*/ 63500 h 2203450"/>
              <a:gd name="connsiteX7" fmla="*/ 1739900 w 2228850"/>
              <a:gd name="connsiteY7" fmla="*/ 6350 h 2203450"/>
              <a:gd name="connsiteX8" fmla="*/ 2228850 w 2228850"/>
              <a:gd name="connsiteY8" fmla="*/ 0 h 2203450"/>
              <a:gd name="connsiteX9" fmla="*/ 2222500 w 2228850"/>
              <a:gd name="connsiteY9" fmla="*/ 2203450 h 2203450"/>
              <a:gd name="connsiteX10" fmla="*/ 0 w 2228850"/>
              <a:gd name="connsiteY10" fmla="*/ 2190750 h 220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28850" h="2203450">
                <a:moveTo>
                  <a:pt x="0" y="2190750"/>
                </a:moveTo>
                <a:lnTo>
                  <a:pt x="76200" y="1384300"/>
                </a:lnTo>
                <a:lnTo>
                  <a:pt x="241300" y="850900"/>
                </a:lnTo>
                <a:lnTo>
                  <a:pt x="355600" y="584200"/>
                </a:lnTo>
                <a:lnTo>
                  <a:pt x="520700" y="330200"/>
                </a:lnTo>
                <a:lnTo>
                  <a:pt x="762000" y="158750"/>
                </a:lnTo>
                <a:lnTo>
                  <a:pt x="1231900" y="63500"/>
                </a:lnTo>
                <a:lnTo>
                  <a:pt x="1739900" y="6350"/>
                </a:lnTo>
                <a:lnTo>
                  <a:pt x="2228850" y="0"/>
                </a:lnTo>
                <a:cubicBezTo>
                  <a:pt x="2226733" y="734483"/>
                  <a:pt x="2224617" y="1468967"/>
                  <a:pt x="2222500" y="2203450"/>
                </a:cubicBezTo>
                <a:lnTo>
                  <a:pt x="0" y="2190750"/>
                </a:lnTo>
                <a:close/>
              </a:path>
            </a:pathLst>
          </a:custGeom>
          <a:solidFill>
            <a:srgbClr val="E3E8F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Text Placeholder 1">
            <a:extLst>
              <a:ext uri="{FF2B5EF4-FFF2-40B4-BE49-F238E27FC236}">
                <a16:creationId xmlns:a16="http://schemas.microsoft.com/office/drawing/2014/main" id="{911D545F-FF69-F3E5-8469-8412CAD25487}"/>
              </a:ext>
            </a:extLst>
          </p:cNvPr>
          <p:cNvSpPr>
            <a:spLocks noGrp="1"/>
          </p:cNvSpPr>
          <p:nvPr>
            <p:ph type="body" sz="half" idx="12"/>
          </p:nvPr>
        </p:nvSpPr>
        <p:spPr>
          <a:xfrm>
            <a:off x="992155" y="1157104"/>
            <a:ext cx="2444064" cy="407035"/>
          </a:xfrm>
        </p:spPr>
        <p:txBody>
          <a:bodyPr/>
          <a:lstStyle/>
          <a:p>
            <a:r>
              <a:rPr lang="en-US" sz="2300" b="1" dirty="0">
                <a:latin typeface="メイリオ" panose="020B0604030504040204" pitchFamily="50" charset="-128"/>
                <a:ea typeface="メイリオ" panose="020B0604030504040204" pitchFamily="50" charset="-128"/>
              </a:rPr>
              <a:t>ROC</a:t>
            </a:r>
            <a:r>
              <a:rPr lang="ja-JP" altLang="en-US" sz="2300" b="1" dirty="0">
                <a:latin typeface="メイリオ" panose="020B0604030504040204" pitchFamily="50" charset="-128"/>
                <a:ea typeface="メイリオ" panose="020B0604030504040204" pitchFamily="50" charset="-128"/>
              </a:rPr>
              <a:t>曲線</a:t>
            </a:r>
            <a:endParaRPr lang="en-JP" sz="2300" b="1" dirty="0">
              <a:latin typeface="メイリオ" panose="020B0604030504040204" pitchFamily="50" charset="-128"/>
              <a:ea typeface="メイリオ" panose="020B0604030504040204" pitchFamily="50" charset="-128"/>
            </a:endParaRPr>
          </a:p>
        </p:txBody>
      </p:sp>
      <p:sp>
        <p:nvSpPr>
          <p:cNvPr id="4" name="Title 3">
            <a:extLst>
              <a:ext uri="{FF2B5EF4-FFF2-40B4-BE49-F238E27FC236}">
                <a16:creationId xmlns:a16="http://schemas.microsoft.com/office/drawing/2014/main" id="{B1244D21-0925-32F4-B8AA-C856B335C435}"/>
              </a:ext>
            </a:extLst>
          </p:cNvPr>
          <p:cNvSpPr>
            <a:spLocks noGrp="1"/>
          </p:cNvSpPr>
          <p:nvPr>
            <p:ph type="title"/>
          </p:nvPr>
        </p:nvSpPr>
        <p:spPr>
          <a:xfrm>
            <a:off x="857746" y="410449"/>
            <a:ext cx="8658001" cy="424732"/>
          </a:xfrm>
        </p:spPr>
        <p:txBody>
          <a:bodyPr/>
          <a:lstStyle/>
          <a:p>
            <a:r>
              <a:rPr lang="en-US" altLang="ja-JP" dirty="0">
                <a:latin typeface="メイリオ" panose="020B0604030504040204" pitchFamily="50" charset="-128"/>
                <a:ea typeface="メイリオ" panose="020B0604030504040204" pitchFamily="50" charset="-128"/>
              </a:rPr>
              <a:t>AUC</a:t>
            </a:r>
            <a:r>
              <a:rPr lang="ja-JP" altLang="en-US" dirty="0">
                <a:latin typeface="メイリオ" panose="020B0604030504040204" pitchFamily="50" charset="-128"/>
                <a:ea typeface="メイリオ" panose="020B0604030504040204" pitchFamily="50" charset="-128"/>
              </a:rPr>
              <a:t>について</a:t>
            </a:r>
            <a:endParaRPr lang="en-JP" dirty="0">
              <a:latin typeface="メイリオ" panose="020B0604030504040204" pitchFamily="50" charset="-128"/>
              <a:ea typeface="メイリオ" panose="020B0604030504040204" pitchFamily="50" charset="-128"/>
            </a:endParaRPr>
          </a:p>
        </p:txBody>
      </p:sp>
      <p:sp>
        <p:nvSpPr>
          <p:cNvPr id="5" name="Rectangle 4">
            <a:extLst>
              <a:ext uri="{FF2B5EF4-FFF2-40B4-BE49-F238E27FC236}">
                <a16:creationId xmlns:a16="http://schemas.microsoft.com/office/drawing/2014/main" id="{A153D8D3-6EAE-2662-6072-9E9D9813E8D0}"/>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 name="直線コネクタ 8">
            <a:extLst>
              <a:ext uri="{FF2B5EF4-FFF2-40B4-BE49-F238E27FC236}">
                <a16:creationId xmlns:a16="http://schemas.microsoft.com/office/drawing/2014/main" id="{709B68C6-29C1-CD7F-B1C3-E9B922E08CE9}"/>
              </a:ext>
            </a:extLst>
          </p:cNvPr>
          <p:cNvCxnSpPr>
            <a:cxnSpLocks/>
          </p:cNvCxnSpPr>
          <p:nvPr/>
        </p:nvCxnSpPr>
        <p:spPr>
          <a:xfrm>
            <a:off x="878103" y="1134393"/>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8BDECAF-A4A0-BF47-FD2A-AB473360DCD9}"/>
              </a:ext>
            </a:extLst>
          </p:cNvPr>
          <p:cNvSpPr txBox="1"/>
          <p:nvPr/>
        </p:nvSpPr>
        <p:spPr>
          <a:xfrm>
            <a:off x="972159" y="1560078"/>
            <a:ext cx="8429174" cy="400110"/>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分類問題で</a:t>
            </a:r>
            <a:r>
              <a:rPr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良いモデル</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かどうかを評価するためのグラフ</a:t>
            </a:r>
            <a:endParaRPr kumimoji="1" lang="ja-JP" altLang="en-US" sz="2000" dirty="0">
              <a:latin typeface="メイリオ" panose="020B0604030504040204" pitchFamily="50" charset="-128"/>
              <a:ea typeface="メイリオ" panose="020B0604030504040204" pitchFamily="50" charset="-128"/>
            </a:endParaRPr>
          </a:p>
        </p:txBody>
      </p:sp>
      <p:sp>
        <p:nvSpPr>
          <p:cNvPr id="13" name="矢印: 下 12">
            <a:extLst>
              <a:ext uri="{FF2B5EF4-FFF2-40B4-BE49-F238E27FC236}">
                <a16:creationId xmlns:a16="http://schemas.microsoft.com/office/drawing/2014/main" id="{C82E9030-1E14-7398-3C80-4569BAD65779}"/>
              </a:ext>
            </a:extLst>
          </p:cNvPr>
          <p:cNvSpPr/>
          <p:nvPr/>
        </p:nvSpPr>
        <p:spPr>
          <a:xfrm>
            <a:off x="3204748" y="1960188"/>
            <a:ext cx="462941" cy="253131"/>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BE2DBB1-9437-6271-1736-094FFA5D1D99}"/>
              </a:ext>
            </a:extLst>
          </p:cNvPr>
          <p:cNvSpPr txBox="1"/>
          <p:nvPr/>
        </p:nvSpPr>
        <p:spPr>
          <a:xfrm>
            <a:off x="878103" y="2349493"/>
            <a:ext cx="8429174" cy="400110"/>
          </a:xfrm>
          <a:prstGeom prst="rect">
            <a:avLst/>
          </a:prstGeom>
          <a:noFill/>
        </p:spPr>
        <p:txBody>
          <a:bodyPr wrap="square" numCol="1" rtlCol="0">
            <a:spAutoFit/>
          </a:bodyPr>
          <a:lstStyle/>
          <a:p>
            <a:pPr marL="169200"/>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「正しく判定できる」</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と</a:t>
            </a:r>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「誤って判定しない」</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をバランスしたモデル</a:t>
            </a:r>
            <a:endParaRPr kumimoji="1" lang="ja-JP" altLang="en-US" sz="2000" dirty="0">
              <a:latin typeface="メイリオ" panose="020B0604030504040204" pitchFamily="50" charset="-128"/>
              <a:ea typeface="メイリオ" panose="020B0604030504040204" pitchFamily="50" charset="-128"/>
            </a:endParaRPr>
          </a:p>
        </p:txBody>
      </p:sp>
      <p:sp>
        <p:nvSpPr>
          <p:cNvPr id="3" name="矢印: 下 2">
            <a:extLst>
              <a:ext uri="{FF2B5EF4-FFF2-40B4-BE49-F238E27FC236}">
                <a16:creationId xmlns:a16="http://schemas.microsoft.com/office/drawing/2014/main" id="{9818E03E-6A85-9C0B-1F5F-75AE24C77D57}"/>
              </a:ext>
            </a:extLst>
          </p:cNvPr>
          <p:cNvSpPr/>
          <p:nvPr/>
        </p:nvSpPr>
        <p:spPr>
          <a:xfrm rot="16200000">
            <a:off x="2610614" y="2841095"/>
            <a:ext cx="400110" cy="276028"/>
          </a:xfrm>
          <a:prstGeom prst="downArrow">
            <a:avLst/>
          </a:prstGeom>
          <a:solidFill>
            <a:srgbClr val="7A0C3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E835207-A865-EE18-65B8-797A0186C127}"/>
              </a:ext>
            </a:extLst>
          </p:cNvPr>
          <p:cNvSpPr txBox="1"/>
          <p:nvPr/>
        </p:nvSpPr>
        <p:spPr>
          <a:xfrm>
            <a:off x="2852693" y="2808504"/>
            <a:ext cx="2783460" cy="400110"/>
          </a:xfrm>
          <a:prstGeom prst="rect">
            <a:avLst/>
          </a:prstGeom>
          <a:noFill/>
        </p:spPr>
        <p:txBody>
          <a:bodyPr wrap="square" numCol="1" rtlCol="0">
            <a:spAutoFit/>
          </a:bodyPr>
          <a:lstStyle/>
          <a:p>
            <a:pPr marL="169200"/>
            <a:r>
              <a:rPr lang="ja-JP" altLang="en-US" sz="2000" b="1" u="sng" dirty="0">
                <a:latin typeface="メイリオ" panose="020B0604030504040204" pitchFamily="50" charset="-128"/>
                <a:ea typeface="メイリオ" panose="020B0604030504040204" pitchFamily="50" charset="-128"/>
              </a:rPr>
              <a:t>真</a:t>
            </a:r>
            <a:r>
              <a:rPr kumimoji="1" lang="ja-JP" altLang="en-US" sz="2000" b="1" u="sng" dirty="0">
                <a:latin typeface="メイリオ" panose="020B0604030504040204" pitchFamily="50" charset="-128"/>
                <a:ea typeface="メイリオ" panose="020B0604030504040204" pitchFamily="50" charset="-128"/>
              </a:rPr>
              <a:t>陽性率</a:t>
            </a:r>
            <a:r>
              <a:rPr kumimoji="1" lang="ja-JP" altLang="en-US" sz="2000" dirty="0">
                <a:latin typeface="メイリオ" panose="020B0604030504040204" pitchFamily="50" charset="-128"/>
                <a:ea typeface="メイリオ" panose="020B0604030504040204" pitchFamily="50" charset="-128"/>
              </a:rPr>
              <a:t>と</a:t>
            </a:r>
            <a:r>
              <a:rPr kumimoji="1" lang="ja-JP" altLang="en-US" sz="2000" b="1" u="sng" dirty="0">
                <a:latin typeface="メイリオ" panose="020B0604030504040204" pitchFamily="50" charset="-128"/>
                <a:ea typeface="メイリオ" panose="020B0604030504040204" pitchFamily="50" charset="-128"/>
              </a:rPr>
              <a:t>偽陽性率</a:t>
            </a:r>
          </a:p>
        </p:txBody>
      </p:sp>
      <p:grpSp>
        <p:nvGrpSpPr>
          <p:cNvPr id="24" name="グループ化 23">
            <a:extLst>
              <a:ext uri="{FF2B5EF4-FFF2-40B4-BE49-F238E27FC236}">
                <a16:creationId xmlns:a16="http://schemas.microsoft.com/office/drawing/2014/main" id="{71A44174-AB3C-A967-95F5-E904D480D07F}"/>
              </a:ext>
            </a:extLst>
          </p:cNvPr>
          <p:cNvGrpSpPr/>
          <p:nvPr/>
        </p:nvGrpSpPr>
        <p:grpSpPr>
          <a:xfrm>
            <a:off x="658835" y="3399901"/>
            <a:ext cx="5632636" cy="1391272"/>
            <a:chOff x="658835" y="3399901"/>
            <a:chExt cx="5632636" cy="1391272"/>
          </a:xfrm>
        </p:grpSpPr>
        <p:sp>
          <p:nvSpPr>
            <p:cNvPr id="10" name="四角形: 角を丸くする 9">
              <a:extLst>
                <a:ext uri="{FF2B5EF4-FFF2-40B4-BE49-F238E27FC236}">
                  <a16:creationId xmlns:a16="http://schemas.microsoft.com/office/drawing/2014/main" id="{D9430574-E134-D865-5B87-147FC1A50047}"/>
                </a:ext>
              </a:extLst>
            </p:cNvPr>
            <p:cNvSpPr/>
            <p:nvPr/>
          </p:nvSpPr>
          <p:spPr>
            <a:xfrm>
              <a:off x="703613" y="3399901"/>
              <a:ext cx="5587858" cy="1354181"/>
            </a:xfrm>
            <a:prstGeom prst="roundRect">
              <a:avLst/>
            </a:prstGeom>
            <a:solidFill>
              <a:srgbClr val="EFF2F7"/>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7D36451-8854-8732-AA20-C5BBCD21B9C7}"/>
                </a:ext>
              </a:extLst>
            </p:cNvPr>
            <p:cNvSpPr txBox="1"/>
            <p:nvPr/>
          </p:nvSpPr>
          <p:spPr>
            <a:xfrm>
              <a:off x="658835" y="3467734"/>
              <a:ext cx="5632635" cy="1323439"/>
            </a:xfrm>
            <a:prstGeom prst="rect">
              <a:avLst/>
            </a:prstGeom>
            <a:noFill/>
          </p:spPr>
          <p:txBody>
            <a:bodyPr wrap="square" numCol="1" rtlCol="0">
              <a:spAutoFit/>
            </a:bodyPr>
            <a:lstStyle/>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真</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陽性率：全ての</a:t>
              </a:r>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陽性</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のうち，実際に</a:t>
              </a:r>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陽性</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であるものを正しく</a:t>
              </a:r>
              <a:r>
                <a:rPr kumimoji="1"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陽性</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と判断できた割合</a:t>
              </a:r>
              <a:endPar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偽陽性率：全ての陰性のうち，実際に</a:t>
              </a:r>
              <a:r>
                <a:rPr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陰性</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であるものを誤って</a:t>
              </a:r>
              <a:r>
                <a:rPr lang="ja-JP" altLang="en-US" sz="2000" b="1" u="sng" dirty="0">
                  <a:solidFill>
                    <a:srgbClr val="292B2B"/>
                  </a:solidFill>
                  <a:latin typeface="メイリオ" panose="020B0604030504040204" pitchFamily="50" charset="-128"/>
                  <a:ea typeface="メイリオ" panose="020B0604030504040204" pitchFamily="50" charset="-128"/>
                  <a:sym typeface="Source Han Sans JP"/>
                </a:rPr>
                <a:t>陽性</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と判断した割合</a:t>
              </a:r>
              <a:endParaRPr kumimoji="1" lang="ja-JP" altLang="en-US" sz="2000" dirty="0">
                <a:latin typeface="メイリオ" panose="020B0604030504040204" pitchFamily="50" charset="-128"/>
                <a:ea typeface="メイリオ" panose="020B0604030504040204" pitchFamily="50" charset="-128"/>
              </a:endParaRPr>
            </a:p>
          </p:txBody>
        </p:sp>
      </p:grpSp>
      <p:cxnSp>
        <p:nvCxnSpPr>
          <p:cNvPr id="37" name="直線矢印コネクタ 36">
            <a:extLst>
              <a:ext uri="{FF2B5EF4-FFF2-40B4-BE49-F238E27FC236}">
                <a16:creationId xmlns:a16="http://schemas.microsoft.com/office/drawing/2014/main" id="{2C824EFD-E90F-207D-803F-9D7F544EC9CC}"/>
              </a:ext>
            </a:extLst>
          </p:cNvPr>
          <p:cNvCxnSpPr>
            <a:cxnSpLocks/>
          </p:cNvCxnSpPr>
          <p:nvPr/>
        </p:nvCxnSpPr>
        <p:spPr>
          <a:xfrm>
            <a:off x="7194550" y="5730617"/>
            <a:ext cx="2471310" cy="0"/>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cxnSp>
        <p:nvCxnSpPr>
          <p:cNvPr id="38" name="直線矢印コネクタ 37">
            <a:extLst>
              <a:ext uri="{FF2B5EF4-FFF2-40B4-BE49-F238E27FC236}">
                <a16:creationId xmlns:a16="http://schemas.microsoft.com/office/drawing/2014/main" id="{27AB1F5D-4A1A-1442-B3D0-F0B3D26780BF}"/>
              </a:ext>
            </a:extLst>
          </p:cNvPr>
          <p:cNvCxnSpPr>
            <a:cxnSpLocks/>
          </p:cNvCxnSpPr>
          <p:nvPr/>
        </p:nvCxnSpPr>
        <p:spPr>
          <a:xfrm flipV="1">
            <a:off x="7194550" y="3282789"/>
            <a:ext cx="0" cy="2447828"/>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sp>
        <p:nvSpPr>
          <p:cNvPr id="51" name="テキスト ボックス 50">
            <a:extLst>
              <a:ext uri="{FF2B5EF4-FFF2-40B4-BE49-F238E27FC236}">
                <a16:creationId xmlns:a16="http://schemas.microsoft.com/office/drawing/2014/main" id="{AD946886-7FED-09C3-6C2D-5E1B97AB28D7}"/>
              </a:ext>
            </a:extLst>
          </p:cNvPr>
          <p:cNvSpPr txBox="1"/>
          <p:nvPr/>
        </p:nvSpPr>
        <p:spPr>
          <a:xfrm rot="16200000">
            <a:off x="6269778" y="3547142"/>
            <a:ext cx="1405097" cy="400110"/>
          </a:xfrm>
          <a:prstGeom prst="rect">
            <a:avLst/>
          </a:prstGeom>
          <a:noFill/>
        </p:spPr>
        <p:txBody>
          <a:bodyPr wrap="square" numCol="1" rtlCol="0">
            <a:spAutoFit/>
          </a:bodyPr>
          <a:lstStyle/>
          <a:p>
            <a:pPr marL="169200"/>
            <a:r>
              <a:rPr lang="ja-JP" altLang="en-US" sz="2000" b="1" dirty="0">
                <a:latin typeface="メイリオ" panose="020B0604030504040204" pitchFamily="50" charset="-128"/>
                <a:ea typeface="メイリオ" panose="020B0604030504040204" pitchFamily="50" charset="-128"/>
              </a:rPr>
              <a:t>真</a:t>
            </a:r>
            <a:r>
              <a:rPr kumimoji="1" lang="ja-JP" altLang="en-US" sz="2000" b="1" dirty="0">
                <a:latin typeface="メイリオ" panose="020B0604030504040204" pitchFamily="50" charset="-128"/>
                <a:ea typeface="メイリオ" panose="020B0604030504040204" pitchFamily="50" charset="-128"/>
              </a:rPr>
              <a:t>陽性率</a:t>
            </a:r>
          </a:p>
        </p:txBody>
      </p:sp>
      <p:sp>
        <p:nvSpPr>
          <p:cNvPr id="52" name="テキスト ボックス 51">
            <a:extLst>
              <a:ext uri="{FF2B5EF4-FFF2-40B4-BE49-F238E27FC236}">
                <a16:creationId xmlns:a16="http://schemas.microsoft.com/office/drawing/2014/main" id="{44CE6DA7-4214-3EC3-2236-635E90812959}"/>
              </a:ext>
            </a:extLst>
          </p:cNvPr>
          <p:cNvSpPr txBox="1"/>
          <p:nvPr/>
        </p:nvSpPr>
        <p:spPr>
          <a:xfrm>
            <a:off x="8365654" y="5826260"/>
            <a:ext cx="1543793" cy="400110"/>
          </a:xfrm>
          <a:prstGeom prst="rect">
            <a:avLst/>
          </a:prstGeom>
          <a:noFill/>
        </p:spPr>
        <p:txBody>
          <a:bodyPr wrap="square" numCol="1" rtlCol="0">
            <a:spAutoFit/>
          </a:bodyPr>
          <a:lstStyle/>
          <a:p>
            <a:pPr marL="169200"/>
            <a:r>
              <a:rPr kumimoji="1" lang="ja-JP" altLang="en-US" sz="2000" b="1" dirty="0">
                <a:latin typeface="メイリオ" panose="020B0604030504040204" pitchFamily="50" charset="-128"/>
                <a:ea typeface="メイリオ" panose="020B0604030504040204" pitchFamily="50" charset="-128"/>
              </a:rPr>
              <a:t>偽陽性率</a:t>
            </a:r>
          </a:p>
        </p:txBody>
      </p:sp>
      <p:cxnSp>
        <p:nvCxnSpPr>
          <p:cNvPr id="53" name="直線コネクタ 52">
            <a:extLst>
              <a:ext uri="{FF2B5EF4-FFF2-40B4-BE49-F238E27FC236}">
                <a16:creationId xmlns:a16="http://schemas.microsoft.com/office/drawing/2014/main" id="{E5D20696-1296-EBD1-7C47-D0DB0F90F930}"/>
              </a:ext>
            </a:extLst>
          </p:cNvPr>
          <p:cNvCxnSpPr>
            <a:cxnSpLocks/>
          </p:cNvCxnSpPr>
          <p:nvPr/>
        </p:nvCxnSpPr>
        <p:spPr>
          <a:xfrm>
            <a:off x="7220460" y="3524104"/>
            <a:ext cx="2111794" cy="0"/>
          </a:xfrm>
          <a:prstGeom prst="line">
            <a:avLst/>
          </a:prstGeom>
          <a:ln w="28575">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5" name="テキスト ボックス 54">
            <a:extLst>
              <a:ext uri="{FF2B5EF4-FFF2-40B4-BE49-F238E27FC236}">
                <a16:creationId xmlns:a16="http://schemas.microsoft.com/office/drawing/2014/main" id="{0526994A-F7FB-9A8A-6E6F-20CA334465B7}"/>
              </a:ext>
            </a:extLst>
          </p:cNvPr>
          <p:cNvSpPr txBox="1"/>
          <p:nvPr/>
        </p:nvSpPr>
        <p:spPr>
          <a:xfrm>
            <a:off x="7045968" y="3208614"/>
            <a:ext cx="763240" cy="338554"/>
          </a:xfrm>
          <a:prstGeom prst="rect">
            <a:avLst/>
          </a:prstGeom>
          <a:noFill/>
        </p:spPr>
        <p:txBody>
          <a:bodyPr wrap="square" numCol="1" rtlCol="0">
            <a:spAutoFit/>
          </a:bodyPr>
          <a:lstStyle/>
          <a:p>
            <a:pPr marL="169200"/>
            <a:r>
              <a:rPr lang="en-US" altLang="ja-JP" sz="1600" b="1" dirty="0">
                <a:latin typeface="メイリオ" panose="020B0604030504040204" pitchFamily="50" charset="-128"/>
                <a:ea typeface="メイリオ" panose="020B0604030504040204" pitchFamily="50" charset="-128"/>
              </a:rPr>
              <a:t>1.0</a:t>
            </a:r>
            <a:endParaRPr kumimoji="1" lang="ja-JP" altLang="en-US" sz="16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1BC13FC0-9B9C-9139-94F2-5DDEDD2373D0}"/>
              </a:ext>
            </a:extLst>
          </p:cNvPr>
          <p:cNvSpPr txBox="1"/>
          <p:nvPr/>
        </p:nvSpPr>
        <p:spPr>
          <a:xfrm>
            <a:off x="9262593" y="5392063"/>
            <a:ext cx="763240" cy="338554"/>
          </a:xfrm>
          <a:prstGeom prst="rect">
            <a:avLst/>
          </a:prstGeom>
          <a:noFill/>
        </p:spPr>
        <p:txBody>
          <a:bodyPr wrap="square" numCol="1" rtlCol="0">
            <a:spAutoFit/>
          </a:bodyPr>
          <a:lstStyle/>
          <a:p>
            <a:pPr marL="169200"/>
            <a:r>
              <a:rPr lang="en-US" altLang="ja-JP" sz="1600" b="1" dirty="0">
                <a:latin typeface="メイリオ" panose="020B0604030504040204" pitchFamily="50" charset="-128"/>
                <a:ea typeface="メイリオ" panose="020B0604030504040204" pitchFamily="50" charset="-128"/>
              </a:rPr>
              <a:t>1.0</a:t>
            </a:r>
            <a:endParaRPr kumimoji="1" lang="ja-JP" altLang="en-US" sz="1600" b="1" dirty="0">
              <a:latin typeface="メイリオ" panose="020B0604030504040204" pitchFamily="50" charset="-128"/>
              <a:ea typeface="メイリオ" panose="020B0604030504040204" pitchFamily="50" charset="-128"/>
            </a:endParaRPr>
          </a:p>
        </p:txBody>
      </p:sp>
      <p:cxnSp>
        <p:nvCxnSpPr>
          <p:cNvPr id="57" name="直線コネクタ 56">
            <a:extLst>
              <a:ext uri="{FF2B5EF4-FFF2-40B4-BE49-F238E27FC236}">
                <a16:creationId xmlns:a16="http://schemas.microsoft.com/office/drawing/2014/main" id="{B1739222-0990-CEED-6D54-9133661D52DB}"/>
              </a:ext>
            </a:extLst>
          </p:cNvPr>
          <p:cNvCxnSpPr>
            <a:cxnSpLocks/>
          </p:cNvCxnSpPr>
          <p:nvPr/>
        </p:nvCxnSpPr>
        <p:spPr>
          <a:xfrm flipV="1">
            <a:off x="9401333" y="3524104"/>
            <a:ext cx="0" cy="2158692"/>
          </a:xfrm>
          <a:prstGeom prst="line">
            <a:avLst/>
          </a:prstGeom>
          <a:ln w="28575">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0" name="楕円 59">
            <a:extLst>
              <a:ext uri="{FF2B5EF4-FFF2-40B4-BE49-F238E27FC236}">
                <a16:creationId xmlns:a16="http://schemas.microsoft.com/office/drawing/2014/main" id="{A39D9D13-DC0F-6E5A-9670-29E7EAC38CB8}"/>
              </a:ext>
            </a:extLst>
          </p:cNvPr>
          <p:cNvSpPr/>
          <p:nvPr/>
        </p:nvSpPr>
        <p:spPr>
          <a:xfrm>
            <a:off x="7140549" y="5676617"/>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0E27DC56-97C3-94CA-1CBB-05808E5133C2}"/>
              </a:ext>
            </a:extLst>
          </p:cNvPr>
          <p:cNvSpPr/>
          <p:nvPr/>
        </p:nvSpPr>
        <p:spPr>
          <a:xfrm>
            <a:off x="8868824" y="3486585"/>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楕円 61">
            <a:extLst>
              <a:ext uri="{FF2B5EF4-FFF2-40B4-BE49-F238E27FC236}">
                <a16:creationId xmlns:a16="http://schemas.microsoft.com/office/drawing/2014/main" id="{04038056-EE43-BE5B-2B1A-CAB81FD7BDD9}"/>
              </a:ext>
            </a:extLst>
          </p:cNvPr>
          <p:cNvSpPr/>
          <p:nvPr/>
        </p:nvSpPr>
        <p:spPr>
          <a:xfrm>
            <a:off x="7883595" y="3629582"/>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B328DD47-CA23-CB10-8814-47C2A08BE6A5}"/>
              </a:ext>
            </a:extLst>
          </p:cNvPr>
          <p:cNvSpPr/>
          <p:nvPr/>
        </p:nvSpPr>
        <p:spPr>
          <a:xfrm>
            <a:off x="8365654" y="3540585"/>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42035653-D033-EE83-EC27-9EFC94487EC0}"/>
              </a:ext>
            </a:extLst>
          </p:cNvPr>
          <p:cNvSpPr/>
          <p:nvPr/>
        </p:nvSpPr>
        <p:spPr>
          <a:xfrm>
            <a:off x="7651749" y="3808658"/>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BE27FC23-BA88-3365-6FDA-54828D57EB93}"/>
              </a:ext>
            </a:extLst>
          </p:cNvPr>
          <p:cNvSpPr/>
          <p:nvPr/>
        </p:nvSpPr>
        <p:spPr>
          <a:xfrm>
            <a:off x="7486059" y="4064681"/>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楕円 65">
            <a:extLst>
              <a:ext uri="{FF2B5EF4-FFF2-40B4-BE49-F238E27FC236}">
                <a16:creationId xmlns:a16="http://schemas.microsoft.com/office/drawing/2014/main" id="{775BE280-9507-2F19-8971-706AFCE0466A}"/>
              </a:ext>
            </a:extLst>
          </p:cNvPr>
          <p:cNvSpPr/>
          <p:nvPr/>
        </p:nvSpPr>
        <p:spPr>
          <a:xfrm>
            <a:off x="7371710" y="4325464"/>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4F0BE146-9D6C-5FF0-7A17-F0A96DD84386}"/>
              </a:ext>
            </a:extLst>
          </p:cNvPr>
          <p:cNvSpPr/>
          <p:nvPr/>
        </p:nvSpPr>
        <p:spPr>
          <a:xfrm>
            <a:off x="9357446" y="3476283"/>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0EED7495-F936-1136-B878-212E65FBE55B}"/>
              </a:ext>
            </a:extLst>
          </p:cNvPr>
          <p:cNvSpPr/>
          <p:nvPr/>
        </p:nvSpPr>
        <p:spPr>
          <a:xfrm>
            <a:off x="7210879" y="4866041"/>
            <a:ext cx="108000" cy="108000"/>
          </a:xfrm>
          <a:prstGeom prst="ellipse">
            <a:avLst/>
          </a:prstGeom>
          <a:solidFill>
            <a:srgbClr val="7A0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Text Placeholder 1">
            <a:extLst>
              <a:ext uri="{FF2B5EF4-FFF2-40B4-BE49-F238E27FC236}">
                <a16:creationId xmlns:a16="http://schemas.microsoft.com/office/drawing/2014/main" id="{9EDBDD8F-13A5-B29E-1F7B-B57F7478A894}"/>
              </a:ext>
            </a:extLst>
          </p:cNvPr>
          <p:cNvSpPr txBox="1">
            <a:spLocks/>
          </p:cNvSpPr>
          <p:nvPr/>
        </p:nvSpPr>
        <p:spPr>
          <a:xfrm>
            <a:off x="992154" y="5036015"/>
            <a:ext cx="4643991" cy="407035"/>
          </a:xfrm>
          <a:prstGeom prst="rect">
            <a:avLst/>
          </a:prstGeom>
        </p:spPr>
        <p:txBody>
          <a:bodyPr vert="horz" wrap="square" lIns="0" tIns="0" rIns="0" bIns="0" rtlCol="0">
            <a:spAutoFit/>
          </a:bodyPr>
          <a:lstStyle>
            <a:lvl1pPr marL="0" indent="0" algn="l" defTabSz="742950" rtl="0" eaLnBrk="1" latinLnBrk="0" hangingPunct="1">
              <a:lnSpc>
                <a:spcPct val="120000"/>
              </a:lnSpc>
              <a:spcBef>
                <a:spcPts val="0"/>
              </a:spcBef>
              <a:spcAft>
                <a:spcPts val="300"/>
              </a:spcAft>
              <a:buFontTx/>
              <a:buNone/>
              <a:defRPr kumimoji="1" sz="1600" b="0" kern="1200">
                <a:solidFill>
                  <a:schemeClr val="tx1"/>
                </a:solidFill>
                <a:latin typeface="+mn-lt"/>
                <a:ea typeface="+mn-ea"/>
                <a:cs typeface="+mn-cs"/>
              </a:defRPr>
            </a:lvl1pPr>
            <a:lvl2pPr marL="371475" indent="0" algn="l" defTabSz="742950" rtl="0" eaLnBrk="1" latinLnBrk="0" hangingPunct="1">
              <a:lnSpc>
                <a:spcPct val="120000"/>
              </a:lnSpc>
              <a:spcBef>
                <a:spcPts val="0"/>
              </a:spcBef>
              <a:spcAft>
                <a:spcPts val="300"/>
              </a:spcAft>
              <a:buFontTx/>
              <a:buNone/>
              <a:defRPr kumimoji="1" sz="1138" b="0" kern="1200">
                <a:solidFill>
                  <a:schemeClr val="tx1"/>
                </a:solidFill>
                <a:latin typeface="+mn-ea"/>
                <a:ea typeface="+mn-ea"/>
                <a:cs typeface="+mn-cs"/>
              </a:defRPr>
            </a:lvl2pPr>
            <a:lvl3pPr marL="742950" indent="0" algn="l" defTabSz="742950" rtl="0" eaLnBrk="1" latinLnBrk="0" hangingPunct="1">
              <a:lnSpc>
                <a:spcPct val="120000"/>
              </a:lnSpc>
              <a:spcBef>
                <a:spcPts val="0"/>
              </a:spcBef>
              <a:spcAft>
                <a:spcPts val="300"/>
              </a:spcAft>
              <a:buFontTx/>
              <a:buNone/>
              <a:defRPr kumimoji="1" sz="975" b="0" kern="1200">
                <a:solidFill>
                  <a:schemeClr val="tx1"/>
                </a:solidFill>
                <a:latin typeface="+mn-ea"/>
                <a:ea typeface="+mn-ea"/>
                <a:cs typeface="+mn-cs"/>
              </a:defRPr>
            </a:lvl3pPr>
            <a:lvl4pPr marL="1114425"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4pPr>
            <a:lvl5pPr marL="1485900" indent="0" algn="l" defTabSz="742950" rtl="0" eaLnBrk="1" latinLnBrk="0" hangingPunct="1">
              <a:lnSpc>
                <a:spcPct val="120000"/>
              </a:lnSpc>
              <a:spcBef>
                <a:spcPts val="0"/>
              </a:spcBef>
              <a:spcAft>
                <a:spcPts val="300"/>
              </a:spcAft>
              <a:buFontTx/>
              <a:buNone/>
              <a:defRPr kumimoji="1" sz="813" b="0" kern="1200">
                <a:solidFill>
                  <a:schemeClr val="tx1"/>
                </a:solidFill>
                <a:latin typeface="+mn-ea"/>
                <a:ea typeface="+mn-ea"/>
                <a:cs typeface="+mn-cs"/>
              </a:defRPr>
            </a:lvl5pPr>
            <a:lvl6pPr marL="185737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6pPr>
            <a:lvl7pPr marL="222885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7pPr>
            <a:lvl8pPr marL="2600325"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8pPr>
            <a:lvl9pPr marL="2971800" indent="0" algn="l" defTabSz="742950" rtl="0" eaLnBrk="1" latinLnBrk="0" hangingPunct="1">
              <a:lnSpc>
                <a:spcPct val="90000"/>
              </a:lnSpc>
              <a:spcBef>
                <a:spcPts val="406"/>
              </a:spcBef>
              <a:buFont typeface="Arial" panose="020B0604020202020204" pitchFamily="34" charset="0"/>
              <a:buNone/>
              <a:defRPr kumimoji="1" sz="813" kern="1200">
                <a:solidFill>
                  <a:schemeClr val="tx1"/>
                </a:solidFill>
                <a:latin typeface="+mn-lt"/>
                <a:ea typeface="+mn-ea"/>
                <a:cs typeface="+mn-cs"/>
              </a:defRPr>
            </a:lvl9pPr>
          </a:lstStyle>
          <a:p>
            <a:r>
              <a:rPr lang="en-US" altLang="ja-JP" sz="2300" b="1" dirty="0">
                <a:latin typeface="メイリオ" panose="020B0604030504040204" pitchFamily="50" charset="-128"/>
                <a:ea typeface="メイリオ" panose="020B0604030504040204" pitchFamily="50" charset="-128"/>
              </a:rPr>
              <a:t>AUC</a:t>
            </a:r>
            <a:r>
              <a:rPr lang="ja-JP" altLang="en-US" sz="2300" b="1" dirty="0">
                <a:latin typeface="メイリオ" panose="020B0604030504040204" pitchFamily="50" charset="-128"/>
                <a:ea typeface="メイリオ" panose="020B0604030504040204" pitchFamily="50" charset="-128"/>
              </a:rPr>
              <a:t>（</a:t>
            </a:r>
            <a:r>
              <a:rPr lang="en-US" altLang="ja-JP" sz="2300" b="1" dirty="0">
                <a:latin typeface="メイリオ" panose="020B0604030504040204" pitchFamily="50" charset="-128"/>
                <a:ea typeface="メイリオ" panose="020B0604030504040204" pitchFamily="50" charset="-128"/>
              </a:rPr>
              <a:t>Area Under the Curve</a:t>
            </a:r>
            <a:r>
              <a:rPr lang="ja-JP" altLang="en-US" sz="2300" b="1" dirty="0">
                <a:latin typeface="メイリオ" panose="020B0604030504040204" pitchFamily="50" charset="-128"/>
                <a:ea typeface="メイリオ" panose="020B0604030504040204" pitchFamily="50" charset="-128"/>
              </a:rPr>
              <a:t>）</a:t>
            </a:r>
            <a:endParaRPr lang="en-JP" sz="2300" b="1" dirty="0">
              <a:latin typeface="メイリオ" panose="020B0604030504040204" pitchFamily="50" charset="-128"/>
              <a:ea typeface="メイリオ" panose="020B0604030504040204" pitchFamily="50" charset="-128"/>
            </a:endParaRPr>
          </a:p>
        </p:txBody>
      </p:sp>
      <p:cxnSp>
        <p:nvCxnSpPr>
          <p:cNvPr id="71" name="直線コネクタ 70">
            <a:extLst>
              <a:ext uri="{FF2B5EF4-FFF2-40B4-BE49-F238E27FC236}">
                <a16:creationId xmlns:a16="http://schemas.microsoft.com/office/drawing/2014/main" id="{AA307A9F-6BC7-41A9-0926-F0B172BE270D}"/>
              </a:ext>
            </a:extLst>
          </p:cNvPr>
          <p:cNvCxnSpPr>
            <a:cxnSpLocks/>
          </p:cNvCxnSpPr>
          <p:nvPr/>
        </p:nvCxnSpPr>
        <p:spPr>
          <a:xfrm>
            <a:off x="878103" y="501330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3DE6F9AC-B33F-FC04-3512-06AA131DFAAD}"/>
              </a:ext>
            </a:extLst>
          </p:cNvPr>
          <p:cNvSpPr txBox="1"/>
          <p:nvPr/>
        </p:nvSpPr>
        <p:spPr>
          <a:xfrm>
            <a:off x="928272" y="5452928"/>
            <a:ext cx="6023818" cy="1015663"/>
          </a:xfrm>
          <a:prstGeom prst="rect">
            <a:avLst/>
          </a:prstGeom>
          <a:noFill/>
        </p:spPr>
        <p:txBody>
          <a:bodyPr wrap="square" numCol="1" rtlCol="0">
            <a:spAutoFit/>
          </a:bodyPr>
          <a:lstStyle/>
          <a:p>
            <a:pPr marL="457200" indent="-288000">
              <a:buFont typeface="Wingdings" panose="05000000000000000000" pitchFamily="2" charset="2"/>
              <a:buChar char="l"/>
            </a:pP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ROC</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曲線の下に囲ま</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れた面積の指標</a:t>
            </a:r>
            <a:endParaRPr lang="en-US" altLang="ja-JP" sz="2000" dirty="0">
              <a:solidFill>
                <a:srgbClr val="292B2B"/>
              </a:solidFill>
              <a:latin typeface="メイリオ" panose="020B0604030504040204" pitchFamily="50" charset="-128"/>
              <a:ea typeface="メイリオ" panose="020B0604030504040204" pitchFamily="50" charset="-128"/>
              <a:sym typeface="Source Han Sans JP"/>
            </a:endParaRPr>
          </a:p>
          <a:p>
            <a:pPr marL="457200" indent="-288000">
              <a:buFont typeface="Wingdings" panose="05000000000000000000" pitchFamily="2" charset="2"/>
              <a:buChar char="l"/>
            </a:pP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0</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1</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で，</a:t>
            </a:r>
            <a:r>
              <a:rPr kumimoji="1" lang="en-US" altLang="ja-JP" sz="2000" dirty="0">
                <a:solidFill>
                  <a:srgbClr val="292B2B"/>
                </a:solidFill>
                <a:latin typeface="メイリオ" panose="020B0604030504040204" pitchFamily="50" charset="-128"/>
                <a:ea typeface="メイリオ" panose="020B0604030504040204" pitchFamily="50" charset="-128"/>
                <a:sym typeface="Source Han Sans JP"/>
              </a:rPr>
              <a:t>1</a:t>
            </a:r>
            <a:r>
              <a:rPr kumimoji="1" lang="ja-JP" altLang="en-US" sz="2000" dirty="0">
                <a:solidFill>
                  <a:srgbClr val="292B2B"/>
                </a:solidFill>
                <a:latin typeface="メイリオ" panose="020B0604030504040204" pitchFamily="50" charset="-128"/>
                <a:ea typeface="メイリオ" panose="020B0604030504040204" pitchFamily="50" charset="-128"/>
                <a:sym typeface="Source Han Sans JP"/>
              </a:rPr>
              <a:t>に近づくほど優れた分類性能を持つこと</a:t>
            </a:r>
            <a:r>
              <a:rPr lang="ja-JP" altLang="en-US" sz="2000" dirty="0">
                <a:solidFill>
                  <a:srgbClr val="292B2B"/>
                </a:solidFill>
                <a:latin typeface="メイリオ" panose="020B0604030504040204" pitchFamily="50" charset="-128"/>
                <a:ea typeface="メイリオ" panose="020B0604030504040204" pitchFamily="50" charset="-128"/>
                <a:sym typeface="Source Han Sans JP"/>
              </a:rPr>
              <a:t>を示す</a:t>
            </a:r>
            <a:endParaRPr kumimoji="1" lang="ja-JP" altLang="en-US"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57199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C051-9749-90CE-6E68-F12C0A74FF9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71BAAC4-E879-A7C3-3AA4-3FE1A66F473C}"/>
              </a:ext>
            </a:extLst>
          </p:cNvPr>
          <p:cNvSpPr>
            <a:spLocks noGrp="1"/>
          </p:cNvSpPr>
          <p:nvPr>
            <p:ph type="title"/>
          </p:nvPr>
        </p:nvSpPr>
        <p:spPr>
          <a:xfrm>
            <a:off x="857746" y="410449"/>
            <a:ext cx="8658001" cy="424732"/>
          </a:xfrm>
        </p:spPr>
        <p:txBody>
          <a:bodyPr>
            <a:normAutofit/>
          </a:bodyPr>
          <a:lstStyle/>
          <a:p>
            <a:r>
              <a:rPr kumimoji="1" lang="en-US" altLang="ja-JP" dirty="0">
                <a:latin typeface="Meiryo" panose="020B0604030504040204" pitchFamily="34" charset="-128"/>
                <a:ea typeface="Meiryo" panose="020B0604030504040204" pitchFamily="34" charset="-128"/>
              </a:rPr>
              <a:t>SNR=0</a:t>
            </a:r>
            <a:r>
              <a:rPr kumimoji="1" lang="ja-JP" altLang="en-US" dirty="0">
                <a:latin typeface="Meiryo" panose="020B0604030504040204" pitchFamily="34" charset="-128"/>
                <a:ea typeface="Meiryo" panose="020B0604030504040204" pitchFamily="34" charset="-128"/>
              </a:rPr>
              <a:t>での正則化効果</a:t>
            </a:r>
          </a:p>
        </p:txBody>
      </p:sp>
      <p:sp>
        <p:nvSpPr>
          <p:cNvPr id="2" name="Rectangle 1">
            <a:extLst>
              <a:ext uri="{FF2B5EF4-FFF2-40B4-BE49-F238E27FC236}">
                <a16:creationId xmlns:a16="http://schemas.microsoft.com/office/drawing/2014/main" id="{7641CCD7-1EA7-5ED3-39B2-F7AF7C46DB3E}"/>
              </a:ext>
            </a:extLst>
          </p:cNvPr>
          <p:cNvSpPr/>
          <p:nvPr/>
        </p:nvSpPr>
        <p:spPr>
          <a:xfrm>
            <a:off x="8276357" y="9065"/>
            <a:ext cx="1543792" cy="439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 name="Rectangle 1">
            <a:extLst>
              <a:ext uri="{FF2B5EF4-FFF2-40B4-BE49-F238E27FC236}">
                <a16:creationId xmlns:a16="http://schemas.microsoft.com/office/drawing/2014/main" id="{A4BFE6F9-E81F-F687-DD20-B9976F404EC8}"/>
              </a:ext>
            </a:extLst>
          </p:cNvPr>
          <p:cNvSpPr>
            <a:spLocks noChangeArrowheads="1"/>
          </p:cNvSpPr>
          <p:nvPr/>
        </p:nvSpPr>
        <p:spPr bwMode="auto">
          <a:xfrm>
            <a:off x="1365597" y="1832534"/>
            <a:ext cx="74712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l"/>
            </a:pPr>
            <a:r>
              <a:rPr lang="ja-JP" altLang="en-US" dirty="0">
                <a:latin typeface="メイリオ" panose="020B0604030504040204" pitchFamily="50" charset="-128"/>
                <a:ea typeface="メイリオ" panose="020B0604030504040204" pitchFamily="50" charset="-128"/>
              </a:rPr>
              <a:t>ノイズが細部の特徴への適合を抑制し、</a:t>
            </a:r>
            <a:r>
              <a:rPr lang="ja-JP" altLang="en-US" u="sng" dirty="0">
                <a:latin typeface="メイリオ" panose="020B0604030504040204" pitchFamily="50" charset="-128"/>
                <a:ea typeface="メイリオ" panose="020B0604030504040204" pitchFamily="50" charset="-128"/>
              </a:rPr>
              <a:t>一般的なパターン</a:t>
            </a:r>
            <a:r>
              <a:rPr lang="ja-JP" altLang="en-US" dirty="0">
                <a:latin typeface="メイリオ" panose="020B0604030504040204" pitchFamily="50" charset="-128"/>
                <a:ea typeface="メイリオ" panose="020B0604030504040204" pitchFamily="50" charset="-128"/>
              </a:rPr>
              <a:t>を学習するよう誘導</a:t>
            </a:r>
          </a:p>
          <a:p>
            <a:pPr marL="457200" indent="-457200">
              <a:buFont typeface="Wingdings" panose="05000000000000000000" pitchFamily="2" charset="2"/>
              <a:buChar char="l"/>
            </a:pPr>
            <a:r>
              <a:rPr lang="ja-JP" altLang="en-US" dirty="0">
                <a:latin typeface="メイリオ" panose="020B0604030504040204" pitchFamily="50" charset="-128"/>
                <a:ea typeface="メイリオ" panose="020B0604030504040204" pitchFamily="50" charset="-128"/>
              </a:rPr>
              <a:t>モデルの汎化性能が向上</a:t>
            </a:r>
          </a:p>
        </p:txBody>
      </p:sp>
      <p:sp>
        <p:nvSpPr>
          <p:cNvPr id="6" name="TextBox 26">
            <a:extLst>
              <a:ext uri="{FF2B5EF4-FFF2-40B4-BE49-F238E27FC236}">
                <a16:creationId xmlns:a16="http://schemas.microsoft.com/office/drawing/2014/main" id="{ADA720A3-9C86-9692-5612-7E0F99632166}"/>
              </a:ext>
            </a:extLst>
          </p:cNvPr>
          <p:cNvSpPr txBox="1"/>
          <p:nvPr/>
        </p:nvSpPr>
        <p:spPr>
          <a:xfrm>
            <a:off x="1217398" y="1190645"/>
            <a:ext cx="3735598" cy="502061"/>
          </a:xfrm>
          <a:prstGeom prst="rect">
            <a:avLst/>
          </a:prstGeom>
        </p:spPr>
        <p:txBody>
          <a:bodyPr wrap="square" lIns="0" tIns="0" rIns="0" bIns="0" rtlCol="0" anchor="t">
            <a:spAutoFit/>
          </a:bodyPr>
          <a:lstStyle/>
          <a:p>
            <a:pPr marL="0" lvl="0" indent="0" algn="l">
              <a:lnSpc>
                <a:spcPts val="4480"/>
              </a:lnSpc>
              <a:spcBef>
                <a:spcPct val="0"/>
              </a:spcBef>
            </a:pPr>
            <a:r>
              <a:rPr lang="ja-JP" altLang="en-US" dirty="0">
                <a:solidFill>
                  <a:srgbClr val="292B2B"/>
                </a:solidFill>
                <a:latin typeface="メイリオ" panose="020B0604030504040204" pitchFamily="50" charset="-128"/>
                <a:ea typeface="メイリオ" panose="020B0604030504040204" pitchFamily="50" charset="-128"/>
                <a:cs typeface="Source Han Sans JP Medium"/>
                <a:sym typeface="Source Han Sans JP Medium"/>
              </a:rPr>
              <a:t>過学習の防止（過度な適合の抑制）</a:t>
            </a:r>
            <a:endParaRPr lang="en-US" dirty="0">
              <a:solidFill>
                <a:srgbClr val="292B2B"/>
              </a:solidFill>
              <a:latin typeface="メイリオ" panose="020B0604030504040204" pitchFamily="50" charset="-128"/>
              <a:ea typeface="メイリオ" panose="020B0604030504040204" pitchFamily="50" charset="-128"/>
              <a:cs typeface="Source Han Sans JP Medium"/>
              <a:sym typeface="Source Han Sans JP Medium"/>
            </a:endParaRPr>
          </a:p>
        </p:txBody>
      </p:sp>
      <p:sp>
        <p:nvSpPr>
          <p:cNvPr id="16" name="TextBox 26">
            <a:extLst>
              <a:ext uri="{FF2B5EF4-FFF2-40B4-BE49-F238E27FC236}">
                <a16:creationId xmlns:a16="http://schemas.microsoft.com/office/drawing/2014/main" id="{87917139-1A5B-D4A7-00CB-42B4DF88DDA4}"/>
              </a:ext>
            </a:extLst>
          </p:cNvPr>
          <p:cNvSpPr txBox="1"/>
          <p:nvPr/>
        </p:nvSpPr>
        <p:spPr>
          <a:xfrm>
            <a:off x="1217398" y="2974794"/>
            <a:ext cx="4251865" cy="502061"/>
          </a:xfrm>
          <a:prstGeom prst="rect">
            <a:avLst/>
          </a:prstGeom>
        </p:spPr>
        <p:txBody>
          <a:bodyPr wrap="square" lIns="0" tIns="0" rIns="0" bIns="0" rtlCol="0" anchor="t">
            <a:spAutoFit/>
          </a:bodyPr>
          <a:lstStyle/>
          <a:p>
            <a:pPr marL="0" lvl="0" indent="0" algn="l">
              <a:lnSpc>
                <a:spcPts val="4480"/>
              </a:lnSpc>
              <a:spcBef>
                <a:spcPct val="0"/>
              </a:spcBef>
            </a:pPr>
            <a:r>
              <a:rPr lang="ja-JP" altLang="en-US" dirty="0">
                <a:latin typeface="メイリオ" panose="020B0604030504040204" pitchFamily="50" charset="-128"/>
                <a:ea typeface="メイリオ" panose="020B0604030504040204" pitchFamily="50" charset="-128"/>
              </a:rPr>
              <a:t>特徴空間の拡大（データ多様性の向上）</a:t>
            </a:r>
            <a:endParaRPr lang="en-US" dirty="0">
              <a:solidFill>
                <a:srgbClr val="292B2B"/>
              </a:solidFill>
              <a:latin typeface="メイリオ" panose="020B0604030504040204" pitchFamily="50" charset="-128"/>
              <a:ea typeface="メイリオ" panose="020B0604030504040204" pitchFamily="50" charset="-128"/>
              <a:cs typeface="Source Han Sans JP Medium"/>
              <a:sym typeface="Source Han Sans JP Medium"/>
            </a:endParaRPr>
          </a:p>
        </p:txBody>
      </p:sp>
      <p:sp>
        <p:nvSpPr>
          <p:cNvPr id="19" name="TextBox 26">
            <a:extLst>
              <a:ext uri="{FF2B5EF4-FFF2-40B4-BE49-F238E27FC236}">
                <a16:creationId xmlns:a16="http://schemas.microsoft.com/office/drawing/2014/main" id="{D26FA8E9-FC8D-300D-AFEC-04CA6ABBF69B}"/>
              </a:ext>
            </a:extLst>
          </p:cNvPr>
          <p:cNvSpPr txBox="1"/>
          <p:nvPr/>
        </p:nvSpPr>
        <p:spPr>
          <a:xfrm>
            <a:off x="1217398" y="4669772"/>
            <a:ext cx="1083039" cy="502061"/>
          </a:xfrm>
          <a:prstGeom prst="rect">
            <a:avLst/>
          </a:prstGeom>
        </p:spPr>
        <p:txBody>
          <a:bodyPr wrap="square" lIns="0" tIns="0" rIns="0" bIns="0" rtlCol="0" anchor="t">
            <a:spAutoFit/>
          </a:bodyPr>
          <a:lstStyle/>
          <a:p>
            <a:pPr marL="0" lvl="0" indent="0" algn="l">
              <a:lnSpc>
                <a:spcPts val="4480"/>
              </a:lnSpc>
              <a:spcBef>
                <a:spcPct val="0"/>
              </a:spcBef>
            </a:pPr>
            <a:r>
              <a:rPr lang="ja-JP" altLang="en-US" dirty="0">
                <a:solidFill>
                  <a:srgbClr val="292B2B"/>
                </a:solidFill>
                <a:latin typeface="メイリオ" panose="020B0604030504040204" pitchFamily="50" charset="-128"/>
                <a:ea typeface="メイリオ" panose="020B0604030504040204" pitchFamily="50" charset="-128"/>
                <a:cs typeface="Source Han Sans JP Medium"/>
                <a:sym typeface="Source Han Sans JP Medium"/>
              </a:rPr>
              <a:t>共通点</a:t>
            </a:r>
            <a:endParaRPr lang="en-US" dirty="0">
              <a:solidFill>
                <a:srgbClr val="292B2B"/>
              </a:solidFill>
              <a:latin typeface="メイリオ" panose="020B0604030504040204" pitchFamily="50" charset="-128"/>
              <a:ea typeface="メイリオ" panose="020B0604030504040204" pitchFamily="50" charset="-128"/>
              <a:cs typeface="Source Han Sans JP Medium"/>
              <a:sym typeface="Source Han Sans JP Medium"/>
            </a:endParaRPr>
          </a:p>
        </p:txBody>
      </p:sp>
      <p:sp>
        <p:nvSpPr>
          <p:cNvPr id="21" name="Rectangle 1">
            <a:extLst>
              <a:ext uri="{FF2B5EF4-FFF2-40B4-BE49-F238E27FC236}">
                <a16:creationId xmlns:a16="http://schemas.microsoft.com/office/drawing/2014/main" id="{47A8192B-4785-E789-04F3-DAF138C3B88F}"/>
              </a:ext>
            </a:extLst>
          </p:cNvPr>
          <p:cNvSpPr>
            <a:spLocks noChangeArrowheads="1"/>
          </p:cNvSpPr>
          <p:nvPr/>
        </p:nvSpPr>
        <p:spPr bwMode="auto">
          <a:xfrm>
            <a:off x="1365597" y="3766915"/>
            <a:ext cx="74712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l"/>
            </a:pPr>
            <a:r>
              <a:rPr lang="ja-JP" altLang="en-US" dirty="0">
                <a:latin typeface="メイリオ" panose="020B0604030504040204" pitchFamily="50" charset="-128"/>
                <a:ea typeface="メイリオ" panose="020B0604030504040204" pitchFamily="50" charset="-128"/>
              </a:rPr>
              <a:t>ノイズによる微小な変動が、入力データの</a:t>
            </a:r>
            <a:r>
              <a:rPr lang="ja-JP" altLang="en-US" u="sng" dirty="0">
                <a:latin typeface="メイリオ" panose="020B0604030504040204" pitchFamily="50" charset="-128"/>
                <a:ea typeface="メイリオ" panose="020B0604030504040204" pitchFamily="50" charset="-128"/>
              </a:rPr>
              <a:t>バリエーション</a:t>
            </a:r>
            <a:r>
              <a:rPr lang="ja-JP" altLang="en-US" dirty="0">
                <a:latin typeface="メイリオ" panose="020B0604030504040204" pitchFamily="50" charset="-128"/>
                <a:ea typeface="メイリオ" panose="020B0604030504040204" pitchFamily="50" charset="-128"/>
              </a:rPr>
              <a:t>を増加</a:t>
            </a:r>
          </a:p>
          <a:p>
            <a:pPr marL="457200" indent="-457200">
              <a:buFont typeface="Wingdings" panose="05000000000000000000" pitchFamily="2" charset="2"/>
              <a:buChar char="l"/>
            </a:pPr>
            <a:r>
              <a:rPr lang="ja-JP" altLang="en-US" dirty="0">
                <a:latin typeface="メイリオ" panose="020B0604030504040204" pitchFamily="50" charset="-128"/>
                <a:ea typeface="メイリオ" panose="020B0604030504040204" pitchFamily="50" charset="-128"/>
              </a:rPr>
              <a:t>類似した入力や未知のデータに対しても、安定した予測が可能に</a:t>
            </a:r>
          </a:p>
        </p:txBody>
      </p:sp>
      <p:sp>
        <p:nvSpPr>
          <p:cNvPr id="22" name="Rectangle 1">
            <a:extLst>
              <a:ext uri="{FF2B5EF4-FFF2-40B4-BE49-F238E27FC236}">
                <a16:creationId xmlns:a16="http://schemas.microsoft.com/office/drawing/2014/main" id="{3BD971D4-F8BC-08EB-CB7C-D4DD9E6F9497}"/>
              </a:ext>
            </a:extLst>
          </p:cNvPr>
          <p:cNvSpPr>
            <a:spLocks noChangeArrowheads="1"/>
          </p:cNvSpPr>
          <p:nvPr/>
        </p:nvSpPr>
        <p:spPr bwMode="auto">
          <a:xfrm>
            <a:off x="1365597" y="5310761"/>
            <a:ext cx="70090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l"/>
            </a:pPr>
            <a:r>
              <a:rPr lang="ja-JP" altLang="en-US" dirty="0">
                <a:latin typeface="メイリオ" panose="020B0604030504040204" pitchFamily="50" charset="-128"/>
                <a:ea typeface="メイリオ" panose="020B0604030504040204" pitchFamily="50" charset="-128"/>
              </a:rPr>
              <a:t>ノイズ付加により、モデルの</a:t>
            </a:r>
            <a:r>
              <a:rPr lang="ja-JP" altLang="en-US" u="sng" dirty="0">
                <a:latin typeface="メイリオ" panose="020B0604030504040204" pitchFamily="50" charset="-128"/>
                <a:ea typeface="メイリオ" panose="020B0604030504040204" pitchFamily="50" charset="-128"/>
              </a:rPr>
              <a:t>柔軟性が向上・汎化性能が向上</a:t>
            </a:r>
            <a:endParaRPr lang="ja-JP" altLang="en-US" dirty="0">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F4C635B0-D198-CC63-5031-B8023BC2F7E2}"/>
              </a:ext>
            </a:extLst>
          </p:cNvPr>
          <p:cNvCxnSpPr>
            <a:cxnSpLocks/>
          </p:cNvCxnSpPr>
          <p:nvPr/>
        </p:nvCxnSpPr>
        <p:spPr>
          <a:xfrm>
            <a:off x="1031599" y="1313624"/>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F9087561-70A1-426A-0565-B6AD93556757}"/>
              </a:ext>
            </a:extLst>
          </p:cNvPr>
          <p:cNvCxnSpPr>
            <a:cxnSpLocks/>
          </p:cNvCxnSpPr>
          <p:nvPr/>
        </p:nvCxnSpPr>
        <p:spPr>
          <a:xfrm>
            <a:off x="1043340" y="3093781"/>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D93A1C01-C671-AE07-9A97-41C95DE3B474}"/>
              </a:ext>
            </a:extLst>
          </p:cNvPr>
          <p:cNvCxnSpPr>
            <a:cxnSpLocks/>
          </p:cNvCxnSpPr>
          <p:nvPr/>
        </p:nvCxnSpPr>
        <p:spPr>
          <a:xfrm>
            <a:off x="1031599" y="4763176"/>
            <a:ext cx="0" cy="40865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080533"/>
      </p:ext>
    </p:extLst>
  </p:cSld>
  <p:clrMapOvr>
    <a:masterClrMapping/>
  </p:clrMapOvr>
</p:sld>
</file>

<file path=ppt/theme/theme1.xml><?xml version="1.0" encoding="utf-8"?>
<a:theme xmlns:a="http://schemas.openxmlformats.org/drawingml/2006/main" name="1_Japanese">
  <a:themeElements>
    <a:clrScheme name="理科大FIX">
      <a:dk1>
        <a:srgbClr val="3C3C3C"/>
      </a:dk1>
      <a:lt1>
        <a:sysClr val="window" lastClr="FFFFFF"/>
      </a:lt1>
      <a:dk2>
        <a:srgbClr val="5B2531"/>
      </a:dk2>
      <a:lt2>
        <a:srgbClr val="C8D2CC"/>
      </a:lt2>
      <a:accent1>
        <a:srgbClr val="7A0C36"/>
      </a:accent1>
      <a:accent2>
        <a:srgbClr val="009944"/>
      </a:accent2>
      <a:accent3>
        <a:srgbClr val="2C4160"/>
      </a:accent3>
      <a:accent4>
        <a:srgbClr val="AEC2CE"/>
      </a:accent4>
      <a:accent5>
        <a:srgbClr val="BECD75"/>
      </a:accent5>
      <a:accent6>
        <a:srgbClr val="DFBBBA"/>
      </a:accent6>
      <a:hlink>
        <a:srgbClr val="7A0C36"/>
      </a:hlink>
      <a:folHlink>
        <a:srgbClr val="A5A5A5"/>
      </a:folHlink>
    </a:clrScheme>
    <a:fontScheme name="理科大和英">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US_template_A4.pptx" id="{39F7F520-2DF8-4715-A607-3F64A85F1C62}" vid="{65094E00-CA34-4378-AAC0-5E8E84630F74}"/>
    </a:ext>
  </a:extLst>
</a:theme>
</file>

<file path=ppt/theme/theme2.xml><?xml version="1.0" encoding="utf-8"?>
<a:theme xmlns:a="http://schemas.openxmlformats.org/drawingml/2006/main" name="2_English">
  <a:themeElements>
    <a:clrScheme name="理科大FIX">
      <a:dk1>
        <a:srgbClr val="3C3C3C"/>
      </a:dk1>
      <a:lt1>
        <a:sysClr val="window" lastClr="FFFFFF"/>
      </a:lt1>
      <a:dk2>
        <a:srgbClr val="5B2531"/>
      </a:dk2>
      <a:lt2>
        <a:srgbClr val="C8D2CC"/>
      </a:lt2>
      <a:accent1>
        <a:srgbClr val="7A0C36"/>
      </a:accent1>
      <a:accent2>
        <a:srgbClr val="009944"/>
      </a:accent2>
      <a:accent3>
        <a:srgbClr val="2C4160"/>
      </a:accent3>
      <a:accent4>
        <a:srgbClr val="AEC2CE"/>
      </a:accent4>
      <a:accent5>
        <a:srgbClr val="BECD75"/>
      </a:accent5>
      <a:accent6>
        <a:srgbClr val="DFBBBA"/>
      </a:accent6>
      <a:hlink>
        <a:srgbClr val="7A0C36"/>
      </a:hlink>
      <a:folHlink>
        <a:srgbClr val="A5A5A5"/>
      </a:folHlink>
    </a:clrScheme>
    <a:fontScheme name="理科大英語">
      <a:majorFont>
        <a:latin typeface="Bahnschrift"/>
        <a:ea typeface="Bahnschrift"/>
        <a:cs typeface=""/>
      </a:majorFont>
      <a:minorFont>
        <a:latin typeface="Bahnschrift"/>
        <a:ea typeface="Bahnschrif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20000"/>
            <a:lumOff val="80000"/>
          </a:schemeClr>
        </a:solidFill>
        <a:ln>
          <a:solidFill>
            <a:schemeClr val="bg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US_template_A4.pptx" id="{39F7F520-2DF8-4715-A607-3F64A85F1C62}" vid="{8C4EFE75-FEBA-4601-91E4-73A19CDF65B0}"/>
    </a:ext>
  </a:extLst>
</a:theme>
</file>

<file path=ppt/theme/theme3.xml><?xml version="1.0" encoding="utf-8"?>
<a:theme xmlns:a="http://schemas.openxmlformats.org/drawingml/2006/main" name="3_English">
  <a:themeElements>
    <a:clrScheme name="理科大FIX">
      <a:dk1>
        <a:srgbClr val="3C3C3C"/>
      </a:dk1>
      <a:lt1>
        <a:sysClr val="window" lastClr="FFFFFF"/>
      </a:lt1>
      <a:dk2>
        <a:srgbClr val="5B2531"/>
      </a:dk2>
      <a:lt2>
        <a:srgbClr val="C8D2CC"/>
      </a:lt2>
      <a:accent1>
        <a:srgbClr val="7A0C36"/>
      </a:accent1>
      <a:accent2>
        <a:srgbClr val="009944"/>
      </a:accent2>
      <a:accent3>
        <a:srgbClr val="2C4160"/>
      </a:accent3>
      <a:accent4>
        <a:srgbClr val="AEC2CE"/>
      </a:accent4>
      <a:accent5>
        <a:srgbClr val="BECD75"/>
      </a:accent5>
      <a:accent6>
        <a:srgbClr val="DFBBBA"/>
      </a:accent6>
      <a:hlink>
        <a:srgbClr val="7A0C36"/>
      </a:hlink>
      <a:folHlink>
        <a:srgbClr val="A5A5A5"/>
      </a:folHlink>
    </a:clrScheme>
    <a:fontScheme name="理科大英語">
      <a:majorFont>
        <a:latin typeface="Bahnschrift"/>
        <a:ea typeface="Bahnschrift"/>
        <a:cs typeface=""/>
      </a:majorFont>
      <a:minorFont>
        <a:latin typeface="Bahnschrift"/>
        <a:ea typeface="Bahnschrif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20000"/>
            <a:lumOff val="80000"/>
          </a:schemeClr>
        </a:solidFill>
        <a:ln>
          <a:solidFill>
            <a:schemeClr val="bg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US_template_A4.pptx" id="{39F7F520-2DF8-4715-A607-3F64A85F1C62}" vid="{8C4EFE75-FEBA-4601-91E4-73A19CDF65B0}"/>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1CBEB9ACFF8D34FBD4F014663F24563" ma:contentTypeVersion="12" ma:contentTypeDescription="新しいドキュメントを作成します。" ma:contentTypeScope="" ma:versionID="d94929e345e99bf5b88d0daac0aff7b8">
  <xsd:schema xmlns:xsd="http://www.w3.org/2001/XMLSchema" xmlns:xs="http://www.w3.org/2001/XMLSchema" xmlns:p="http://schemas.microsoft.com/office/2006/metadata/properties" xmlns:ns2="b145075f-1533-4604-9165-01b6d18c441d" xmlns:ns3="cc6fc59d-c41d-42ce-a1e3-9074234fa4d8" targetNamespace="http://schemas.microsoft.com/office/2006/metadata/properties" ma:root="true" ma:fieldsID="57bd558cca535de1fb454012ffe118b4" ns2:_="" ns3:_="">
    <xsd:import namespace="b145075f-1533-4604-9165-01b6d18c441d"/>
    <xsd:import namespace="cc6fc59d-c41d-42ce-a1e3-9074234fa4d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45075f-1533-4604-9165-01b6d18c44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583f6d9c-766c-4d32-8880-2f46acb6ad81"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c6fc59d-c41d-42ce-a1e3-9074234fa4d8"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16" nillable="true" ma:displayName="Taxonomy Catch All Column" ma:hidden="true" ma:list="{74145169-1c1e-478d-a638-a7ddf6b8a024}" ma:internalName="TaxCatchAll" ma:showField="CatchAllData" ma:web="cc6fc59d-c41d-42ce-a1e3-9074234fa4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45075f-1533-4604-9165-01b6d18c441d">
      <Terms xmlns="http://schemas.microsoft.com/office/infopath/2007/PartnerControls"/>
    </lcf76f155ced4ddcb4097134ff3c332f>
    <TaxCatchAll xmlns="cc6fc59d-c41d-42ce-a1e3-9074234fa4d8"/>
    <SharedWithUsers xmlns="cc6fc59d-c41d-42ce-a1e3-9074234fa4d8">
      <UserInfo>
        <DisplayName>CSM - 創薬ベンチャー支援 メンバー</DisplayName>
        <AccountId>7</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9C2FB1-AD0E-4C42-8760-46FFC29917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45075f-1533-4604-9165-01b6d18c441d"/>
    <ds:schemaRef ds:uri="cc6fc59d-c41d-42ce-a1e3-9074234fa4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A82875-779D-4B3F-A391-54453B548346}">
  <ds:schemaRefs>
    <ds:schemaRef ds:uri="http://purl.org/dc/terms/"/>
    <ds:schemaRef ds:uri="http://www.w3.org/XML/1998/namespace"/>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cc6fc59d-c41d-42ce-a1e3-9074234fa4d8"/>
    <ds:schemaRef ds:uri="b145075f-1533-4604-9165-01b6d18c441d"/>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E4960594-3B48-4646-98F4-AB5536C33D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TUS_template_A4</Template>
  <TotalTime>27704</TotalTime>
  <Words>3231</Words>
  <Application>Microsoft Office PowerPoint</Application>
  <PresentationFormat>A4 210 x 297 mm</PresentationFormat>
  <Paragraphs>330</Paragraphs>
  <Slides>25</Slides>
  <Notes>21</Notes>
  <HiddenSlides>0</HiddenSlides>
  <MMClips>0</MMClips>
  <ScaleCrop>false</ScaleCrop>
  <HeadingPairs>
    <vt:vector size="6" baseType="variant">
      <vt:variant>
        <vt:lpstr>使用されているフォント</vt:lpstr>
      </vt:variant>
      <vt:variant>
        <vt:i4>14</vt:i4>
      </vt:variant>
      <vt:variant>
        <vt:lpstr>テーマ</vt:lpstr>
      </vt:variant>
      <vt:variant>
        <vt:i4>3</vt:i4>
      </vt:variant>
      <vt:variant>
        <vt:lpstr>スライド タイトル</vt:lpstr>
      </vt:variant>
      <vt:variant>
        <vt:i4>25</vt:i4>
      </vt:variant>
    </vt:vector>
  </HeadingPairs>
  <TitlesOfParts>
    <vt:vector size="42" baseType="lpstr">
      <vt:lpstr>BIZ UDPゴシック</vt:lpstr>
      <vt:lpstr>HGMaruGothicMPRO</vt:lpstr>
      <vt:lpstr>Meiryo</vt:lpstr>
      <vt:lpstr>Meiryo</vt:lpstr>
      <vt:lpstr>游ゴシック</vt:lpstr>
      <vt:lpstr>Arial</vt:lpstr>
      <vt:lpstr>Arial Black</vt:lpstr>
      <vt:lpstr>Bahnschrift</vt:lpstr>
      <vt:lpstr>Bahnschrift SemiBold</vt:lpstr>
      <vt:lpstr>Calibri</vt:lpstr>
      <vt:lpstr>Cambria Math</vt:lpstr>
      <vt:lpstr>Century</vt:lpstr>
      <vt:lpstr>Lato Light</vt:lpstr>
      <vt:lpstr>Wingdings</vt:lpstr>
      <vt:lpstr>1_Japanese</vt:lpstr>
      <vt:lpstr>2_English</vt:lpstr>
      <vt:lpstr>3_English</vt:lpstr>
      <vt:lpstr>データ駆動型音響診断を基盤とした Na冷却高速炉の炉内異常の早期検知の検討</vt:lpstr>
      <vt:lpstr>研究目標・発表内容</vt:lpstr>
      <vt:lpstr>先行研究</vt:lpstr>
      <vt:lpstr>本報の内容</vt:lpstr>
      <vt:lpstr>サブクール沸騰実験</vt:lpstr>
      <vt:lpstr>プール沸騰実験</vt:lpstr>
      <vt:lpstr>機械学習についての条件</vt:lpstr>
      <vt:lpstr>機械学習についての条件</vt:lpstr>
      <vt:lpstr>100%分類可能な熱流束値の評価方法</vt:lpstr>
      <vt:lpstr>結果</vt:lpstr>
      <vt:lpstr>結果</vt:lpstr>
      <vt:lpstr>結果</vt:lpstr>
      <vt:lpstr>結言</vt:lpstr>
      <vt:lpstr>PowerPoint プレゼンテーション</vt:lpstr>
      <vt:lpstr>PowerPoint プレゼンテーション</vt:lpstr>
      <vt:lpstr>全体プロジェクトの対象・背景・着眼</vt:lpstr>
      <vt:lpstr>全体プロジェクトの目的</vt:lpstr>
      <vt:lpstr>全体プロジェクト終了時に達成すべき目標</vt:lpstr>
      <vt:lpstr>プール沸騰実験</vt:lpstr>
      <vt:lpstr>水流動音の信号対ノイズ比（SNR）の重畳手順</vt:lpstr>
      <vt:lpstr>プール沸騰実験の算出パラメータの計算</vt:lpstr>
      <vt:lpstr>機械学習についての条件</vt:lpstr>
      <vt:lpstr>アンサンブル学習について</vt:lpstr>
      <vt:lpstr>AUCについて</vt:lpstr>
      <vt:lpstr>SNR=0での正則化効果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表紙タイトル入ります 表紙タイトル入ります</dc:title>
  <dc:creator>Yoshitaka Ueki</dc:creator>
  <cp:lastModifiedBy>shibariku0623@icloud.com</cp:lastModifiedBy>
  <cp:revision>396</cp:revision>
  <cp:lastPrinted>2024-04-30T01:04:53Z</cp:lastPrinted>
  <dcterms:created xsi:type="dcterms:W3CDTF">2023-04-12T06:42:35Z</dcterms:created>
  <dcterms:modified xsi:type="dcterms:W3CDTF">2025-03-14T01:25:53Z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0x01010081CBEB9ACFF8D34FBD4F014663F24563</vt:lpwstr>
  </property>
  <property fmtid="{D5CDD505-2E9C-101B-9397-08002B2CF9AE}" pid="3" name="MediaServiceImageTags">
    <vt:lpwstr/>
  </property>
</Properties>
</file>