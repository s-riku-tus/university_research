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677" r:id="rId2"/>
    <p:sldId id="706" r:id="rId3"/>
    <p:sldId id="707" r:id="rId4"/>
    <p:sldId id="641" r:id="rId5"/>
    <p:sldId id="683" r:id="rId6"/>
    <p:sldId id="678" r:id="rId7"/>
    <p:sldId id="680" r:id="rId8"/>
    <p:sldId id="682" r:id="rId9"/>
    <p:sldId id="686" r:id="rId10"/>
    <p:sldId id="681" r:id="rId11"/>
    <p:sldId id="687" r:id="rId12"/>
    <p:sldId id="688" r:id="rId13"/>
    <p:sldId id="689" r:id="rId14"/>
    <p:sldId id="684" r:id="rId15"/>
    <p:sldId id="708" r:id="rId16"/>
    <p:sldId id="690" r:id="rId17"/>
    <p:sldId id="693" r:id="rId18"/>
    <p:sldId id="694" r:id="rId19"/>
    <p:sldId id="695" r:id="rId20"/>
    <p:sldId id="697" r:id="rId21"/>
    <p:sldId id="699" r:id="rId22"/>
    <p:sldId id="704" r:id="rId23"/>
    <p:sldId id="705" r:id="rId24"/>
    <p:sldId id="691" r:id="rId25"/>
    <p:sldId id="700" r:id="rId26"/>
    <p:sldId id="701" r:id="rId27"/>
    <p:sldId id="702" r:id="rId28"/>
    <p:sldId id="703" r:id="rId29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202020"/>
    <a:srgbClr val="4D6390"/>
    <a:srgbClr val="060639"/>
    <a:srgbClr val="6CBD6C"/>
    <a:srgbClr val="63A0CB"/>
    <a:srgbClr val="FF7F0E"/>
    <a:srgbClr val="FFE5E5"/>
    <a:srgbClr val="334D80"/>
    <a:srgbClr val="1A37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89555" autoAdjust="0"/>
  </p:normalViewPr>
  <p:slideViewPr>
    <p:cSldViewPr snapToGrid="0">
      <p:cViewPr>
        <p:scale>
          <a:sx n="100" d="100"/>
          <a:sy n="100" d="100"/>
        </p:scale>
        <p:origin x="1116" y="126"/>
      </p:cViewPr>
      <p:guideLst>
        <p:guide pos="2880"/>
        <p:guide orient="horz" pos="686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150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BF5729F4-14BF-49C9-9B94-AC8AC4498E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07A192-B185-4865-A94F-58C4BA9A89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69941B-6A5C-47F2-846F-CA8C4F30A7E2}" type="datetimeFigureOut">
              <a:rPr kumimoji="1" lang="ja-JP" altLang="en-US" smtClean="0"/>
              <a:t>2023/10/16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9C0D98-8E2B-4AED-9DB2-794DDA7EF6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455C2F-B448-4E9D-B587-8F1EB68F1F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EF66-ACCD-45C6-984A-BFF14EBD29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8903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98830B-B72A-4380-ACCF-BAD9064EDC1D}" type="datetimeFigureOut">
              <a:rPr kumimoji="1" lang="ja-JP" altLang="en-US" smtClean="0"/>
              <a:t>2023/10/16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4A9E8-F167-4042-B514-6AA7E85159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427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4A9E8-F167-4042-B514-6AA7E8515974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321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52261"/>
            <a:ext cx="2057400" cy="365125"/>
          </a:xfrm>
          <a:prstGeom prst="rect">
            <a:avLst/>
          </a:prstGeom>
        </p:spPr>
        <p:txBody>
          <a:bodyPr/>
          <a:lstStyle/>
          <a:p>
            <a:fld id="{39DC99AB-0899-4916-9011-723D9EFD589B}" type="datetime1">
              <a:rPr kumimoji="1" lang="ja-JP" altLang="en-US" smtClean="0"/>
              <a:t>2023/10/16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54153"/>
            <a:ext cx="30861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26C1479B-EF9A-43EF-847E-ADB55D85862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DAE86508-A09C-4C31-BB45-083E3451C183}"/>
              </a:ext>
            </a:extLst>
          </p:cNvPr>
          <p:cNvSpPr/>
          <p:nvPr userDrawn="1"/>
        </p:nvSpPr>
        <p:spPr>
          <a:xfrm>
            <a:off x="0" y="1528893"/>
            <a:ext cx="9144000" cy="2332156"/>
          </a:xfrm>
          <a:prstGeom prst="rect">
            <a:avLst/>
          </a:prstGeom>
          <a:solidFill>
            <a:schemeClr val="bg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665BEC86-FE01-47FE-A110-AC859E168394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4000"/>
              </a:lnSpc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995718" y="2560676"/>
            <a:ext cx="8148281" cy="1736648"/>
          </a:xfrm>
        </p:spPr>
        <p:txBody>
          <a:bodyPr anchor="ctr">
            <a:normAutofit/>
          </a:bodyPr>
          <a:lstStyle>
            <a:lvl1pPr algn="l">
              <a:lnSpc>
                <a:spcPts val="4000"/>
              </a:lnSpc>
              <a:defRPr sz="2600" b="1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382439" y="4917235"/>
            <a:ext cx="6374878" cy="1429785"/>
          </a:xfrm>
        </p:spPr>
        <p:txBody>
          <a:bodyPr anchor="ctr">
            <a:normAutofit/>
          </a:bodyPr>
          <a:lstStyle>
            <a:lvl1pPr marL="0" indent="0" algn="r">
              <a:lnSpc>
                <a:spcPts val="3000"/>
              </a:lnSpc>
              <a:buNone/>
              <a:defRPr sz="2200" b="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E731A52-0234-2794-A393-10BBFF11D254}"/>
              </a:ext>
            </a:extLst>
          </p:cNvPr>
          <p:cNvSpPr/>
          <p:nvPr userDrawn="1"/>
        </p:nvSpPr>
        <p:spPr>
          <a:xfrm>
            <a:off x="995718" y="-1"/>
            <a:ext cx="1000040" cy="2560676"/>
          </a:xfrm>
          <a:prstGeom prst="rect">
            <a:avLst/>
          </a:prstGeom>
          <a:pattFill prst="pct10">
            <a:fgClr>
              <a:schemeClr val="bg1"/>
            </a:fgClr>
            <a:bgClr>
              <a:srgbClr val="00206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C4EBB23-77D0-3941-847D-D7B9D2368EC0}"/>
              </a:ext>
            </a:extLst>
          </p:cNvPr>
          <p:cNvSpPr/>
          <p:nvPr userDrawn="1"/>
        </p:nvSpPr>
        <p:spPr>
          <a:xfrm>
            <a:off x="995718" y="4297324"/>
            <a:ext cx="1000040" cy="2560676"/>
          </a:xfrm>
          <a:prstGeom prst="rect">
            <a:avLst/>
          </a:prstGeom>
          <a:pattFill prst="pct10">
            <a:fgClr>
              <a:schemeClr val="bg1"/>
            </a:fgClr>
            <a:bgClr>
              <a:srgbClr val="00206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13">
            <a:extLst>
              <a:ext uri="{FF2B5EF4-FFF2-40B4-BE49-F238E27FC236}">
                <a16:creationId xmlns:a16="http://schemas.microsoft.com/office/drawing/2014/main" id="{EF227831-EF2F-A217-BF18-FD7D6E207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995718" cy="458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defRPr>
            </a:lvl1pPr>
          </a:lstStyle>
          <a:p>
            <a:pPr lvl="0"/>
            <a:endParaRPr kumimoji="1" lang="ja-JP" altLang="en-US" dirty="0"/>
          </a:p>
        </p:txBody>
      </p:sp>
      <p:pic>
        <p:nvPicPr>
          <p:cNvPr id="11" name="グラフィックス 10">
            <a:extLst>
              <a:ext uri="{FF2B5EF4-FFF2-40B4-BE49-F238E27FC236}">
                <a16:creationId xmlns:a16="http://schemas.microsoft.com/office/drawing/2014/main" id="{830F1A0A-C461-78BE-854E-68821AC919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486"/>
          <a:stretch/>
        </p:blipFill>
        <p:spPr>
          <a:xfrm>
            <a:off x="8700224" y="50688"/>
            <a:ext cx="443776" cy="34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3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AFABED-09C4-4F79-9D75-EB5A8EA4A001}"/>
              </a:ext>
            </a:extLst>
          </p:cNvPr>
          <p:cNvSpPr/>
          <p:nvPr userDrawn="1"/>
        </p:nvSpPr>
        <p:spPr>
          <a:xfrm>
            <a:off x="0" y="808"/>
            <a:ext cx="9144000" cy="68571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656AA3F-9ED1-4484-9C05-AB00A13459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473440" y="458035"/>
            <a:ext cx="655320" cy="44196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62DDF22-94C4-436A-A245-6A602F7095E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4AE9CA1A-BD0E-2621-55F6-E5D952963B49}"/>
              </a:ext>
            </a:extLst>
          </p:cNvPr>
          <p:cNvGrpSpPr/>
          <p:nvPr userDrawn="1"/>
        </p:nvGrpSpPr>
        <p:grpSpPr>
          <a:xfrm>
            <a:off x="611560" y="77856"/>
            <a:ext cx="2088232" cy="673097"/>
            <a:chOff x="611560" y="116632"/>
            <a:chExt cx="2088232" cy="673097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C59738E-4AF5-48A2-8ED7-460D3FA1D560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560" y="116632"/>
              <a:ext cx="673097" cy="673097"/>
              <a:chOff x="3226072" y="2197000"/>
              <a:chExt cx="1980000" cy="1980000"/>
            </a:xfrm>
          </p:grpSpPr>
          <p:sp>
            <p:nvSpPr>
              <p:cNvPr id="7" name="円弧 6">
                <a:extLst>
                  <a:ext uri="{FF2B5EF4-FFF2-40B4-BE49-F238E27FC236}">
                    <a16:creationId xmlns:a16="http://schemas.microsoft.com/office/drawing/2014/main" id="{DAD719C2-6B32-4106-A076-6D531785F04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361072" y="2332000"/>
                <a:ext cx="1710000" cy="1710000"/>
              </a:xfrm>
              <a:prstGeom prst="arc">
                <a:avLst>
                  <a:gd name="adj1" fmla="val 6506286"/>
                  <a:gd name="adj2" fmla="val 15320621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円弧 7">
                <a:extLst>
                  <a:ext uri="{FF2B5EF4-FFF2-40B4-BE49-F238E27FC236}">
                    <a16:creationId xmlns:a16="http://schemas.microsoft.com/office/drawing/2014/main" id="{136CFB5C-D74C-48BB-818C-996766829A22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361072" y="2332000"/>
                <a:ext cx="1710000" cy="1710000"/>
              </a:xfrm>
              <a:prstGeom prst="arc">
                <a:avLst>
                  <a:gd name="adj1" fmla="val 2119627"/>
                  <a:gd name="adj2" fmla="val 5481010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円弧 8">
                <a:extLst>
                  <a:ext uri="{FF2B5EF4-FFF2-40B4-BE49-F238E27FC236}">
                    <a16:creationId xmlns:a16="http://schemas.microsoft.com/office/drawing/2014/main" id="{F8D26D62-70E2-4774-8C88-7FE4AC456BE9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226072" y="2197000"/>
                <a:ext cx="1980000" cy="1980000"/>
              </a:xfrm>
              <a:prstGeom prst="arc">
                <a:avLst>
                  <a:gd name="adj1" fmla="val 4774864"/>
                  <a:gd name="adj2" fmla="val 9499032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円弧 9">
                <a:extLst>
                  <a:ext uri="{FF2B5EF4-FFF2-40B4-BE49-F238E27FC236}">
                    <a16:creationId xmlns:a16="http://schemas.microsoft.com/office/drawing/2014/main" id="{B68A39F6-D780-4AF5-90F8-EE813280DC5B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3226072" y="2197000"/>
                <a:ext cx="1980000" cy="1980000"/>
              </a:xfrm>
              <a:prstGeom prst="arc">
                <a:avLst>
                  <a:gd name="adj1" fmla="val 11267298"/>
                  <a:gd name="adj2" fmla="val 19282136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FE09CE73-4E3E-4637-BD30-04F9F5B7004C}"/>
                </a:ext>
              </a:extLst>
            </p:cNvPr>
            <p:cNvSpPr txBox="1"/>
            <p:nvPr userDrawn="1"/>
          </p:nvSpPr>
          <p:spPr>
            <a:xfrm>
              <a:off x="1260295" y="244539"/>
              <a:ext cx="143949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kumimoji="1" lang="en-US" altLang="ja-JP" sz="28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Contents</a:t>
              </a:r>
              <a:endParaRPr kumimoji="1" lang="ja-JP" alt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A057082-1F5A-0674-59B2-66666C0620AB}"/>
              </a:ext>
            </a:extLst>
          </p:cNvPr>
          <p:cNvSpPr/>
          <p:nvPr userDrawn="1"/>
        </p:nvSpPr>
        <p:spPr>
          <a:xfrm>
            <a:off x="0" y="828000"/>
            <a:ext cx="9144000" cy="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3F166381-D2F6-772B-E2F9-6821604F7B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486"/>
          <a:stretch/>
        </p:blipFill>
        <p:spPr>
          <a:xfrm>
            <a:off x="8700224" y="50688"/>
            <a:ext cx="443776" cy="34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6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5A2848-5D5F-4833-AB35-1507DE57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DC95565-A2AA-4CA7-A7B7-034F52FA5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B452C4-8698-4E85-B10D-B1C82E19C109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7" name="テキスト プレースホルダー 13">
            <a:extLst>
              <a:ext uri="{FF2B5EF4-FFF2-40B4-BE49-F238E27FC236}">
                <a16:creationId xmlns:a16="http://schemas.microsoft.com/office/drawing/2014/main" id="{86DB6432-CCC8-4E7C-BB59-D34D6233E8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0000" y="0"/>
            <a:ext cx="720000" cy="864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aseline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9554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86C4788-0C81-E816-ED77-A52444383007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598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71A81E3-1118-4C20-A829-979799845250}"/>
              </a:ext>
            </a:extLst>
          </p:cNvPr>
          <p:cNvSpPr/>
          <p:nvPr userDrawn="1"/>
        </p:nvSpPr>
        <p:spPr>
          <a:xfrm>
            <a:off x="0" y="0"/>
            <a:ext cx="9144000" cy="926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10A79E17-D87D-415A-9123-62FB01FA3D0C}"/>
              </a:ext>
            </a:extLst>
          </p:cNvPr>
          <p:cNvSpPr/>
          <p:nvPr userDrawn="1"/>
        </p:nvSpPr>
        <p:spPr>
          <a:xfrm rot="16200000">
            <a:off x="7559824" y="270843"/>
            <a:ext cx="1857400" cy="131095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0000" y="0"/>
            <a:ext cx="7560000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00" y="1121335"/>
            <a:ext cx="8640000" cy="50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73440" y="458035"/>
            <a:ext cx="655320" cy="4379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B452C4-8698-4E85-B10D-B1C82E19C109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F032B1-096B-40E0-B440-E8CEA1DB051D}"/>
              </a:ext>
            </a:extLst>
          </p:cNvPr>
          <p:cNvSpPr/>
          <p:nvPr userDrawn="1"/>
        </p:nvSpPr>
        <p:spPr>
          <a:xfrm>
            <a:off x="0" y="828000"/>
            <a:ext cx="9144000" cy="7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62B00B-C0A9-41CA-ADA2-D3F346570710}"/>
              </a:ext>
            </a:extLst>
          </p:cNvPr>
          <p:cNvSpPr/>
          <p:nvPr userDrawn="1"/>
        </p:nvSpPr>
        <p:spPr>
          <a:xfrm>
            <a:off x="180000" y="0"/>
            <a:ext cx="720000" cy="86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B93C922E-1329-E88F-C652-4769CAE00F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81486"/>
          <a:stretch/>
        </p:blipFill>
        <p:spPr>
          <a:xfrm>
            <a:off x="8700224" y="50688"/>
            <a:ext cx="443776" cy="34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919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  <p:sldLayoutId id="2147483668" r:id="rId3"/>
    <p:sldLayoutId id="214748367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texlive.texjp.org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3CBAF50-7B83-EB09-1753-D059560A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E1E4BF83-ED41-B7E1-8349-24CEFD108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ja-JP" sz="2800" dirty="0"/>
              <a:t>LaTeX</a:t>
            </a:r>
            <a:r>
              <a:rPr kumimoji="1" lang="ja-JP" altLang="en-US" sz="2800" dirty="0"/>
              <a:t>のインストールとイントロダクション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846B09AA-8F0F-E68A-0B72-FE4AAF80A5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大阪大学大学院 工学研究科 機械工学専攻</a:t>
            </a:r>
            <a:br>
              <a:rPr kumimoji="1" lang="en-US" altLang="ja-JP" dirty="0"/>
            </a:br>
            <a:r>
              <a:rPr kumimoji="1" lang="ja-JP" altLang="en-US" dirty="0"/>
              <a:t>マイクロ熱工学領域 芝原研究室</a:t>
            </a:r>
            <a:br>
              <a:rPr kumimoji="1" lang="en-US" altLang="ja-JP" dirty="0"/>
            </a:br>
            <a:r>
              <a:rPr kumimoji="1" lang="en-US" altLang="ja-JP" dirty="0"/>
              <a:t>2024</a:t>
            </a:r>
            <a:r>
              <a:rPr kumimoji="1" lang="ja-JP" altLang="en-US" dirty="0"/>
              <a:t>卒 三上 奈生</a:t>
            </a:r>
          </a:p>
        </p:txBody>
      </p:sp>
    </p:spTree>
    <p:extLst>
      <p:ext uri="{BB962C8B-B14F-4D97-AF65-F5344CB8AC3E}">
        <p14:creationId xmlns:p14="http://schemas.microsoft.com/office/powerpoint/2010/main" val="2468521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B15B2CE-DE6F-27BA-4C1F-88A7538D5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DDF22-94C4-436A-A245-6A602F7095EB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D4FF8BC-EECB-5124-8D01-7625F5D437A6}"/>
              </a:ext>
            </a:extLst>
          </p:cNvPr>
          <p:cNvGrpSpPr/>
          <p:nvPr/>
        </p:nvGrpSpPr>
        <p:grpSpPr>
          <a:xfrm>
            <a:off x="828675" y="2380416"/>
            <a:ext cx="4878451" cy="2993130"/>
            <a:chOff x="828675" y="2136403"/>
            <a:chExt cx="4878451" cy="2993130"/>
          </a:xfrm>
        </p:grpSpPr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94223A8F-8C91-2705-21D5-79FA8039511B}"/>
                </a:ext>
              </a:extLst>
            </p:cNvPr>
            <p:cNvSpPr txBox="1"/>
            <p:nvPr/>
          </p:nvSpPr>
          <p:spPr>
            <a:xfrm>
              <a:off x="828675" y="2136403"/>
              <a:ext cx="11320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bg1"/>
                  </a:solidFill>
                </a:rPr>
                <a:t>はじめに</a:t>
              </a: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F995F4D5-5385-6709-340E-B6B483D9D0CB}"/>
                </a:ext>
              </a:extLst>
            </p:cNvPr>
            <p:cNvSpPr txBox="1"/>
            <p:nvPr/>
          </p:nvSpPr>
          <p:spPr>
            <a:xfrm>
              <a:off x="828675" y="3432913"/>
              <a:ext cx="310597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bg1"/>
                  </a:solidFill>
                </a:rPr>
                <a:t>1  </a:t>
              </a:r>
              <a:r>
                <a:rPr kumimoji="1" lang="en-US" altLang="ja-JP" sz="2000" dirty="0" err="1">
                  <a:solidFill>
                    <a:schemeClr val="bg1"/>
                  </a:solidFill>
                </a:rPr>
                <a:t>TeX</a:t>
              </a:r>
              <a:r>
                <a:rPr kumimoji="1" lang="en-US" altLang="ja-JP" sz="2000" dirty="0">
                  <a:solidFill>
                    <a:schemeClr val="bg1"/>
                  </a:solidFill>
                </a:rPr>
                <a:t> Live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のインストール</a:t>
              </a: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EE57E537-645F-A592-9C3D-BD284D6989BB}"/>
                </a:ext>
              </a:extLst>
            </p:cNvPr>
            <p:cNvSpPr txBox="1"/>
            <p:nvPr/>
          </p:nvSpPr>
          <p:spPr>
            <a:xfrm>
              <a:off x="828675" y="4729423"/>
              <a:ext cx="4878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solidFill>
                    <a:schemeClr val="bg1"/>
                  </a:solidFill>
                </a:rPr>
                <a:t>2  Visual Studio Code</a:t>
              </a:r>
              <a:r>
                <a:rPr kumimoji="1" lang="ja-JP" altLang="en-US" sz="2000" dirty="0">
                  <a:solidFill>
                    <a:schemeClr val="bg1"/>
                  </a:solidFill>
                </a:rPr>
                <a:t>のインストール・設定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468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B15B2CE-DE6F-27BA-4C1F-88A7538D5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DDF22-94C4-436A-A245-6A602F7095EB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223A8F-8C91-2705-21D5-79FA8039511B}"/>
              </a:ext>
            </a:extLst>
          </p:cNvPr>
          <p:cNvSpPr txBox="1"/>
          <p:nvPr/>
        </p:nvSpPr>
        <p:spPr>
          <a:xfrm>
            <a:off x="828675" y="2380416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bg1"/>
                </a:solidFill>
              </a:rPr>
              <a:t>はじめに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995F4D5-5385-6709-340E-B6B483D9D0CB}"/>
              </a:ext>
            </a:extLst>
          </p:cNvPr>
          <p:cNvSpPr txBox="1"/>
          <p:nvPr/>
        </p:nvSpPr>
        <p:spPr>
          <a:xfrm>
            <a:off x="828675" y="3676926"/>
            <a:ext cx="310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accent2"/>
                </a:solidFill>
              </a:rPr>
              <a:t>1  </a:t>
            </a:r>
            <a:r>
              <a:rPr kumimoji="1" lang="en-US" altLang="ja-JP" sz="2000" dirty="0" err="1">
                <a:solidFill>
                  <a:schemeClr val="accent2"/>
                </a:solidFill>
              </a:rPr>
              <a:t>TeX</a:t>
            </a:r>
            <a:r>
              <a:rPr kumimoji="1" lang="en-US" altLang="ja-JP" sz="2000" dirty="0">
                <a:solidFill>
                  <a:schemeClr val="accent2"/>
                </a:solidFill>
              </a:rPr>
              <a:t> Live</a:t>
            </a:r>
            <a:r>
              <a:rPr kumimoji="1" lang="ja-JP" altLang="en-US" sz="2000" dirty="0">
                <a:solidFill>
                  <a:schemeClr val="accent2"/>
                </a:solidFill>
              </a:rPr>
              <a:t>のインストール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57E537-645F-A592-9C3D-BD284D6989BB}"/>
              </a:ext>
            </a:extLst>
          </p:cNvPr>
          <p:cNvSpPr txBox="1"/>
          <p:nvPr/>
        </p:nvSpPr>
        <p:spPr>
          <a:xfrm>
            <a:off x="828675" y="4973436"/>
            <a:ext cx="4878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accent2"/>
                </a:solidFill>
              </a:rPr>
              <a:t>2  Visual Studio Code</a:t>
            </a:r>
            <a:r>
              <a:rPr kumimoji="1" lang="ja-JP" altLang="en-US" sz="2000" dirty="0">
                <a:solidFill>
                  <a:schemeClr val="accent2"/>
                </a:solidFill>
              </a:rPr>
              <a:t>のインストール・設定</a:t>
            </a:r>
          </a:p>
        </p:txBody>
      </p:sp>
    </p:spTree>
    <p:extLst>
      <p:ext uri="{BB962C8B-B14F-4D97-AF65-F5344CB8AC3E}">
        <p14:creationId xmlns:p14="http://schemas.microsoft.com/office/powerpoint/2010/main" val="347487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EDCF3-F9C5-E8D7-B9FE-4503FCFFD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はじめに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7B42ABF-3AA2-0A77-CD11-1DD05E47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42347D-2636-4285-8093-F3230452CE0F}"/>
              </a:ext>
            </a:extLst>
          </p:cNvPr>
          <p:cNvSpPr/>
          <p:nvPr/>
        </p:nvSpPr>
        <p:spPr>
          <a:xfrm>
            <a:off x="179995" y="1080000"/>
            <a:ext cx="216817" cy="432000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C5D2CD-2191-6A96-137E-D006116F2345}"/>
              </a:ext>
            </a:extLst>
          </p:cNvPr>
          <p:cNvSpPr txBox="1"/>
          <p:nvPr/>
        </p:nvSpPr>
        <p:spPr>
          <a:xfrm>
            <a:off x="396812" y="1095945"/>
            <a:ext cx="1900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chemeClr val="accent1"/>
                </a:solidFill>
              </a:rPr>
              <a:t>LaTeX</a:t>
            </a:r>
            <a:r>
              <a:rPr kumimoji="1" lang="ja-JP" altLang="en-US" sz="2000" b="1" dirty="0">
                <a:solidFill>
                  <a:schemeClr val="accent1"/>
                </a:solidFill>
              </a:rPr>
              <a:t>について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8B4D94B-EA1A-43E3-B499-78D5822999A4}"/>
              </a:ext>
            </a:extLst>
          </p:cNvPr>
          <p:cNvSpPr txBox="1"/>
          <p:nvPr/>
        </p:nvSpPr>
        <p:spPr>
          <a:xfrm>
            <a:off x="179994" y="1517301"/>
            <a:ext cx="8818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dirty="0"/>
              <a:t>LaTeX</a:t>
            </a:r>
            <a:r>
              <a:rPr kumimoji="1" lang="ja-JP" altLang="en-US" dirty="0"/>
              <a:t>（ラテフと読む）は文書作成ツールの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つであり</a:t>
            </a:r>
            <a:r>
              <a:rPr kumimoji="1" lang="en-US" altLang="ja-JP" dirty="0"/>
              <a:t>, </a:t>
            </a:r>
            <a:br>
              <a:rPr kumimoji="1" lang="en-US" altLang="ja-JP" dirty="0"/>
            </a:br>
            <a:r>
              <a:rPr kumimoji="1" lang="ja-JP" altLang="en-US" dirty="0"/>
              <a:t>ソースファイル（</a:t>
            </a:r>
            <a:r>
              <a:rPr kumimoji="1" lang="en-US" altLang="ja-JP" dirty="0"/>
              <a:t>.</a:t>
            </a:r>
            <a:r>
              <a:rPr kumimoji="1" lang="en-US" altLang="ja-JP" dirty="0" err="1"/>
              <a:t>tex</a:t>
            </a:r>
            <a:r>
              <a:rPr kumimoji="1" lang="ja-JP" altLang="en-US" dirty="0"/>
              <a:t>）を作成して文書（</a:t>
            </a:r>
            <a:r>
              <a:rPr kumimoji="1" lang="en-US" altLang="ja-JP" dirty="0"/>
              <a:t>.pdf</a:t>
            </a:r>
            <a:r>
              <a:rPr kumimoji="1" lang="ja-JP" altLang="en-US" dirty="0"/>
              <a:t>）を出力させる点が特徴である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CCCF94-C1DD-64A8-A62D-B6C9881E741F}"/>
              </a:ext>
            </a:extLst>
          </p:cNvPr>
          <p:cNvSpPr txBox="1"/>
          <p:nvPr/>
        </p:nvSpPr>
        <p:spPr>
          <a:xfrm>
            <a:off x="179994" y="6031669"/>
            <a:ext cx="8818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dirty="0"/>
              <a:t>LaTeX</a:t>
            </a:r>
            <a:r>
              <a:rPr kumimoji="1" lang="ja-JP" altLang="en-US" dirty="0"/>
              <a:t>の環境構築は少々難しいため</a:t>
            </a:r>
            <a:r>
              <a:rPr kumimoji="1" lang="en-US" altLang="ja-JP" dirty="0"/>
              <a:t>,</a:t>
            </a:r>
            <a:br>
              <a:rPr kumimoji="1" lang="en-US" altLang="ja-JP" dirty="0"/>
            </a:br>
            <a:r>
              <a:rPr kumimoji="1" lang="ja-JP" altLang="en-US" dirty="0"/>
              <a:t>本書では</a:t>
            </a:r>
            <a:r>
              <a:rPr kumimoji="1" lang="en-US" altLang="ja-JP" dirty="0"/>
              <a:t>LaTeX</a:t>
            </a:r>
            <a:r>
              <a:rPr kumimoji="1" lang="ja-JP" altLang="en-US" dirty="0"/>
              <a:t>と</a:t>
            </a:r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のインストールと環境構築について述べる</a:t>
            </a:r>
            <a:r>
              <a:rPr kumimoji="1" lang="en-US" altLang="ja-JP" dirty="0"/>
              <a:t>.</a:t>
            </a:r>
            <a:endParaRPr kumimoji="1" lang="ja-JP" altLang="en-US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E39B3C14-2464-89D5-AC4B-9B603AE5E394}"/>
              </a:ext>
            </a:extLst>
          </p:cNvPr>
          <p:cNvGrpSpPr/>
          <p:nvPr/>
        </p:nvGrpSpPr>
        <p:grpSpPr>
          <a:xfrm>
            <a:off x="179994" y="2425972"/>
            <a:ext cx="8818325" cy="3343358"/>
            <a:chOff x="179994" y="2316032"/>
            <a:chExt cx="8818325" cy="3343358"/>
          </a:xfrm>
        </p:grpSpPr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id="{BA8D3184-7543-4891-B28B-6BDDA1B68F41}"/>
                </a:ext>
              </a:extLst>
            </p:cNvPr>
            <p:cNvSpPr txBox="1"/>
            <p:nvPr/>
          </p:nvSpPr>
          <p:spPr>
            <a:xfrm>
              <a:off x="179994" y="2316032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kumimoji="1" lang="en-US" altLang="ja-JP" dirty="0"/>
                <a:t>LaTeX</a:t>
              </a:r>
              <a:r>
                <a:rPr kumimoji="1" lang="ja-JP" altLang="en-US" dirty="0"/>
                <a:t>には以下のようなメリットがある</a:t>
              </a:r>
              <a:r>
                <a:rPr kumimoji="1" lang="en-US" altLang="ja-JP" dirty="0"/>
                <a:t>.</a:t>
              </a:r>
              <a:endParaRPr kumimoji="1" lang="ja-JP" altLang="en-US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5949F057-9904-BBEE-54F3-9BA8C61EEE90}"/>
                </a:ext>
              </a:extLst>
            </p:cNvPr>
            <p:cNvSpPr txBox="1"/>
            <p:nvPr/>
          </p:nvSpPr>
          <p:spPr>
            <a:xfrm>
              <a:off x="522894" y="3806503"/>
              <a:ext cx="8475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文書に出力させる際のみに図を読み込むため</a:t>
              </a:r>
              <a:r>
                <a:rPr kumimoji="1" lang="en-US" altLang="ja-JP" dirty="0"/>
                <a:t>, 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執筆中の動作が軽快である</a:t>
              </a:r>
              <a:r>
                <a:rPr kumimoji="1" lang="en-US" altLang="ja-JP" dirty="0"/>
                <a:t>.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309CE0B-871E-C4ED-9D49-2034D59920A4}"/>
                </a:ext>
              </a:extLst>
            </p:cNvPr>
            <p:cNvSpPr txBox="1"/>
            <p:nvPr/>
          </p:nvSpPr>
          <p:spPr>
            <a:xfrm>
              <a:off x="522894" y="4208689"/>
              <a:ext cx="8475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kumimoji="1" lang="ja-JP" altLang="en-US" dirty="0"/>
                <a:t>図表</a:t>
              </a:r>
              <a:r>
                <a:rPr kumimoji="1" lang="en-US" altLang="ja-JP" dirty="0"/>
                <a:t>, </a:t>
              </a:r>
              <a:r>
                <a:rPr kumimoji="1" lang="ja-JP" altLang="en-US" dirty="0"/>
                <a:t>式などにラベル付けすることで</a:t>
              </a:r>
              <a:r>
                <a:rPr kumimoji="1" lang="en-US" altLang="ja-JP" dirty="0"/>
                <a:t>, </a:t>
              </a:r>
              <a:r>
                <a:rPr kumimoji="1" lang="ja-JP" altLang="en-US" dirty="0"/>
                <a:t>図表番号</a:t>
              </a:r>
              <a:r>
                <a:rPr kumimoji="1" lang="en-US" altLang="ja-JP" dirty="0"/>
                <a:t>, </a:t>
              </a:r>
              <a:r>
                <a:rPr kumimoji="1" lang="ja-JP" altLang="en-US" dirty="0"/>
                <a:t>式番号を対応させることができる</a:t>
              </a:r>
              <a:r>
                <a:rPr kumimoji="1" lang="en-US" altLang="ja-JP" dirty="0"/>
                <a:t>.</a:t>
              </a: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C55738A-86F9-756B-924B-8044A128976B}"/>
                </a:ext>
              </a:extLst>
            </p:cNvPr>
            <p:cNvSpPr txBox="1"/>
            <p:nvPr/>
          </p:nvSpPr>
          <p:spPr>
            <a:xfrm>
              <a:off x="522894" y="4610875"/>
              <a:ext cx="84754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4"/>
              </a:pPr>
              <a:r>
                <a:rPr kumimoji="1" lang="ja-JP" altLang="en-US" dirty="0"/>
                <a:t>文献もラベル付けが可能であり</a:t>
              </a:r>
              <a:r>
                <a:rPr kumimoji="1" lang="en-US" altLang="ja-JP" dirty="0"/>
                <a:t>, </a:t>
              </a:r>
              <a:r>
                <a:rPr kumimoji="1" lang="ja-JP" altLang="en-US" dirty="0"/>
                <a:t>簡単に引用することができる</a:t>
              </a:r>
              <a:r>
                <a:rPr kumimoji="1" lang="en-US" altLang="ja-JP" dirty="0"/>
                <a:t>.</a:t>
              </a: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5D1406D-4F02-B991-BFF7-67CAC636FE31}"/>
                </a:ext>
              </a:extLst>
            </p:cNvPr>
            <p:cNvSpPr txBox="1"/>
            <p:nvPr/>
          </p:nvSpPr>
          <p:spPr>
            <a:xfrm>
              <a:off x="522894" y="5013059"/>
              <a:ext cx="84754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solidFill>
                    <a:srgbClr val="FF0000"/>
                  </a:solidFill>
                </a:rPr>
                <a:t>3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と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4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のメリットにより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 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途中に図表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 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式を挿入したり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 文献を新たに引用しても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</a:t>
              </a:r>
              <a:br>
                <a:rPr kumimoji="1" lang="en-US" altLang="ja-JP" dirty="0">
                  <a:solidFill>
                    <a:srgbClr val="FF0000"/>
                  </a:solidFill>
                </a:rPr>
              </a:br>
              <a:r>
                <a:rPr kumimoji="1" lang="ja-JP" altLang="en-US" dirty="0">
                  <a:solidFill>
                    <a:srgbClr val="FF0000"/>
                  </a:solidFill>
                </a:rPr>
                <a:t>図表番号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 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式番号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, </a:t>
              </a:r>
              <a:r>
                <a:rPr kumimoji="1" lang="ja-JP" altLang="en-US" dirty="0">
                  <a:solidFill>
                    <a:srgbClr val="FF0000"/>
                  </a:solidFill>
                </a:rPr>
                <a:t>文献番号は自動的にずれてくれる</a:t>
              </a:r>
              <a:r>
                <a:rPr kumimoji="1" lang="en-US" altLang="ja-JP" dirty="0">
                  <a:solidFill>
                    <a:srgbClr val="FF0000"/>
                  </a:solidFill>
                </a:rPr>
                <a:t>.</a:t>
              </a:r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9BB00662-A279-99EF-E6DC-72208B11DE51}"/>
                </a:ext>
              </a:extLst>
            </p:cNvPr>
            <p:cNvGrpSpPr/>
            <p:nvPr/>
          </p:nvGrpSpPr>
          <p:grpSpPr>
            <a:xfrm>
              <a:off x="522894" y="2718218"/>
              <a:ext cx="8475425" cy="1055431"/>
              <a:chOff x="522894" y="2685364"/>
              <a:chExt cx="8475425" cy="1055431"/>
            </a:xfrm>
          </p:grpSpPr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46ACB94-70BA-FE75-9696-76005F9A2AE1}"/>
                  </a:ext>
                </a:extLst>
              </p:cNvPr>
              <p:cNvSpPr txBox="1"/>
              <p:nvPr/>
            </p:nvSpPr>
            <p:spPr>
              <a:xfrm>
                <a:off x="522894" y="2685364"/>
                <a:ext cx="84754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ja-JP" altLang="en-US" dirty="0"/>
                  <a:t>コマンドさえ覚えてしまえば</a:t>
                </a:r>
                <a:r>
                  <a:rPr kumimoji="1" lang="en-US" altLang="ja-JP" dirty="0"/>
                  <a:t>, 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数式を美しく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, 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速く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,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 正確に書くことができる</a:t>
                </a:r>
                <a:r>
                  <a:rPr kumimoji="1" lang="en-US" altLang="ja-JP" dirty="0"/>
                  <a:t>.</a:t>
                </a:r>
                <a:endParaRPr kumimoji="1" lang="ja-JP" altLang="en-US" dirty="0"/>
              </a:p>
            </p:txBody>
          </p:sp>
          <p:pic>
            <p:nvPicPr>
              <p:cNvPr id="16" name="図 15" descr="\documentclass{article}&#10;\usepackage{amsmath}&#10;\pagestyle{empty}&#10;\begin{document}&#10;\begin{align}&#10;\phi(r_{ij})=4\varepsilon_{ij}\left\{\left(\frac{\sigma_{ij}}{r_{ij}}\right)^{12}-\left(\frac{\sigma_{ij}}{r_{ij}}\right)^6\right\}&#10;\nonumber&#10;\end{align}&#10;\end{document}" title="IguanaTex Bitmap Display">
                <a:extLst>
                  <a:ext uri="{FF2B5EF4-FFF2-40B4-BE49-F238E27FC236}">
                    <a16:creationId xmlns:a16="http://schemas.microsoft.com/office/drawing/2014/main" id="{F634D6D9-DCEA-61C5-23D0-A13E6FFFD7F0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00000" y="3057643"/>
                <a:ext cx="3555683" cy="6831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7158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B15B2CE-DE6F-27BA-4C1F-88A7538D5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DDF22-94C4-436A-A245-6A602F7095EB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E37A2B-5483-8AAE-DB60-57238AB6DA8D}"/>
              </a:ext>
            </a:extLst>
          </p:cNvPr>
          <p:cNvSpPr txBox="1"/>
          <p:nvPr/>
        </p:nvSpPr>
        <p:spPr>
          <a:xfrm>
            <a:off x="828675" y="2380416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accent2"/>
                </a:solidFill>
              </a:rPr>
              <a:t>はじめに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45AC0C8-7DD3-6752-853F-0E24B60677D3}"/>
              </a:ext>
            </a:extLst>
          </p:cNvPr>
          <p:cNvSpPr txBox="1"/>
          <p:nvPr/>
        </p:nvSpPr>
        <p:spPr>
          <a:xfrm>
            <a:off x="828675" y="3676926"/>
            <a:ext cx="310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</a:rPr>
              <a:t>1  </a:t>
            </a:r>
            <a:r>
              <a:rPr kumimoji="1" lang="en-US" altLang="ja-JP" sz="2000" dirty="0" err="1">
                <a:solidFill>
                  <a:schemeClr val="bg1"/>
                </a:solidFill>
              </a:rPr>
              <a:t>TeX</a:t>
            </a:r>
            <a:r>
              <a:rPr kumimoji="1" lang="en-US" altLang="ja-JP" sz="2000" dirty="0">
                <a:solidFill>
                  <a:schemeClr val="bg1"/>
                </a:solidFill>
              </a:rPr>
              <a:t> Live</a:t>
            </a:r>
            <a:r>
              <a:rPr kumimoji="1" lang="ja-JP" altLang="en-US" sz="2000" dirty="0">
                <a:solidFill>
                  <a:schemeClr val="bg1"/>
                </a:solidFill>
              </a:rPr>
              <a:t>のインストール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FAB59E-327D-1881-8350-BFB4EC76A561}"/>
              </a:ext>
            </a:extLst>
          </p:cNvPr>
          <p:cNvSpPr txBox="1"/>
          <p:nvPr/>
        </p:nvSpPr>
        <p:spPr>
          <a:xfrm>
            <a:off x="828675" y="4973436"/>
            <a:ext cx="4878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accent2"/>
                </a:solidFill>
              </a:rPr>
              <a:t>2  Visual Studio Code</a:t>
            </a:r>
            <a:r>
              <a:rPr kumimoji="1" lang="ja-JP" altLang="en-US" sz="2000" dirty="0">
                <a:solidFill>
                  <a:schemeClr val="accent2"/>
                </a:solidFill>
              </a:rPr>
              <a:t>のインストール・設定</a:t>
            </a:r>
          </a:p>
        </p:txBody>
      </p:sp>
    </p:spTree>
    <p:extLst>
      <p:ext uri="{BB962C8B-B14F-4D97-AF65-F5344CB8AC3E}">
        <p14:creationId xmlns:p14="http://schemas.microsoft.com/office/powerpoint/2010/main" val="3592210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C948508-F5F8-92CD-D1C7-6C9CA320A37D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0BC127-C41F-4FEE-4C6F-62CCDC5CC7A9}"/>
                </a:ext>
              </a:extLst>
            </p:cNvPr>
            <p:cNvSpPr txBox="1"/>
            <p:nvPr/>
          </p:nvSpPr>
          <p:spPr>
            <a:xfrm>
              <a:off x="396812" y="1095945"/>
              <a:ext cx="28378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のダウンロード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02D89FE8-A94A-0F53-8F09-76C9572FC2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en-US" altLang="ja-JP" dirty="0" err="1"/>
                <a:t>TeX</a:t>
              </a:r>
              <a:r>
                <a:rPr kumimoji="1" lang="en-US" altLang="ja-JP" dirty="0"/>
                <a:t> Live</a:t>
              </a:r>
              <a:r>
                <a:rPr kumimoji="1" lang="ja-JP" altLang="en-US" dirty="0"/>
                <a:t>のアーカイブを保存しているサイト（</a:t>
              </a:r>
              <a:r>
                <a:rPr kumimoji="1" lang="en-US" altLang="ja-JP" dirty="0">
                  <a:hlinkClick r:id="rId2"/>
                </a:rPr>
                <a:t> http://texlive.texjp.org/ </a:t>
              </a:r>
              <a:r>
                <a:rPr kumimoji="1" lang="ja-JP" altLang="en-US" dirty="0"/>
                <a:t>）にアクセスする</a:t>
              </a:r>
              <a:r>
                <a:rPr kumimoji="1" lang="en-US" altLang="ja-JP" dirty="0"/>
                <a:t>.</a:t>
              </a:r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17DE090-0B0F-89C5-E760-82BB5BE99B4D}"/>
                </a:ext>
              </a:extLst>
            </p:cNvPr>
            <p:cNvSpPr txBox="1"/>
            <p:nvPr/>
          </p:nvSpPr>
          <p:spPr>
            <a:xfrm>
              <a:off x="468000" y="5983200"/>
              <a:ext cx="8159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TeX</a:t>
              </a:r>
              <a:r>
                <a:rPr kumimoji="1" lang="en-US" altLang="ja-JP" dirty="0"/>
                <a:t> Live</a:t>
              </a:r>
              <a:r>
                <a:rPr kumimoji="1" lang="ja-JP" altLang="en-US" dirty="0"/>
                <a:t>のアーカイブ保存サイト</a:t>
              </a:r>
            </a:p>
          </p:txBody>
        </p:sp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E6FD4D24-D522-A3C6-6EAD-9B499CF18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000" y="2023200"/>
              <a:ext cx="8159837" cy="396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05E7FF90-076C-5F1A-7208-AD225AE5B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506937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1. </a:t>
                      </a:r>
                      <a:r>
                        <a:rPr kumimoji="1" lang="ja-JP" altLang="en-US" sz="1600" b="0" dirty="0"/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8270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3AD9062-9881-B203-A88A-095B5B690E66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D032272-FCB4-6CD3-0AE8-5E3D660ACD5F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インストールするバージョンのフォルダを開く．</a:t>
              </a:r>
            </a:p>
          </p:txBody>
        </p:sp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280CB8FA-28E0-A961-68F2-5ABD062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000" y="2023200"/>
              <a:ext cx="8159837" cy="396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4610FE99-E7FE-CCFB-6098-EA4C1C00AD6B}"/>
                </a:ext>
              </a:extLst>
            </p:cNvPr>
            <p:cNvSpPr/>
            <p:nvPr/>
          </p:nvSpPr>
          <p:spPr>
            <a:xfrm>
              <a:off x="594360" y="3299460"/>
              <a:ext cx="3451020" cy="18288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BF5A6D8-3673-7822-FC32-4522AA5E224F}"/>
                </a:ext>
              </a:extLst>
            </p:cNvPr>
            <p:cNvGrpSpPr/>
            <p:nvPr/>
          </p:nvGrpSpPr>
          <p:grpSpPr>
            <a:xfrm>
              <a:off x="4045380" y="3425669"/>
              <a:ext cx="4899551" cy="1569661"/>
              <a:chOff x="4045380" y="3623789"/>
              <a:chExt cx="4899551" cy="1569661"/>
            </a:xfrm>
          </p:grpSpPr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30C5EB13-E5ED-F66D-71D1-B080718723E5}"/>
                  </a:ext>
                </a:extLst>
              </p:cNvPr>
              <p:cNvSpPr txBox="1"/>
              <p:nvPr/>
            </p:nvSpPr>
            <p:spPr>
              <a:xfrm>
                <a:off x="4045380" y="3623789"/>
                <a:ext cx="489955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ja-JP" dirty="0">
                    <a:solidFill>
                      <a:srgbClr val="FF0000"/>
                    </a:solidFill>
                  </a:rPr>
                  <a:t>2023ver.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で，</a:t>
                </a:r>
                <a:r>
                  <a:rPr kumimoji="1" lang="en-US" altLang="ja-JP" dirty="0">
                    <a:solidFill>
                      <a:srgbClr val="FF0000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rgbClr val="FF0000"/>
                    </a:solidFill>
                  </a:rPr>
                  <a:t>段組み文書のページ下部に</a:t>
                </a:r>
                <a:br>
                  <a:rPr kumimoji="1" lang="en-US" altLang="ja-JP" dirty="0">
                    <a:solidFill>
                      <a:srgbClr val="FF0000"/>
                    </a:solidFill>
                  </a:rPr>
                </a:br>
                <a:r>
                  <a:rPr kumimoji="1" lang="ja-JP" altLang="en-US" dirty="0">
                    <a:solidFill>
                      <a:srgbClr val="FF0000"/>
                    </a:solidFill>
                  </a:rPr>
                  <a:t>図を配置する際にエラーが発生する．</a:t>
                </a:r>
                <a:endParaRPr lang="ja-JP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7A774F99-009B-163D-5A52-2BB58E07011B}"/>
                  </a:ext>
                </a:extLst>
              </p:cNvPr>
              <p:cNvSpPr txBox="1"/>
              <p:nvPr/>
            </p:nvSpPr>
            <p:spPr>
              <a:xfrm>
                <a:off x="4045380" y="4270120"/>
                <a:ext cx="461264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dirty="0">
                    <a:solidFill>
                      <a:srgbClr val="FF0000"/>
                    </a:solidFill>
                  </a:rPr>
                  <a:t>2022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以前のバージョンを推奨．</a:t>
                </a:r>
                <a:br>
                  <a:rPr lang="en-US" altLang="ja-JP" dirty="0">
                    <a:solidFill>
                      <a:srgbClr val="FF0000"/>
                    </a:solidFill>
                  </a:rPr>
                </a:br>
                <a:r>
                  <a:rPr lang="ja-JP" altLang="en-US" dirty="0">
                    <a:solidFill>
                      <a:srgbClr val="FF0000"/>
                    </a:solidFill>
                  </a:rPr>
                  <a:t>本資料の作成者は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2020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バージョンを使用中．</a:t>
                </a:r>
                <a:br>
                  <a:rPr lang="en-US" altLang="ja-JP" dirty="0">
                    <a:solidFill>
                      <a:srgbClr val="FF0000"/>
                    </a:solidFill>
                  </a:rPr>
                </a:br>
                <a:r>
                  <a:rPr lang="ja-JP" altLang="en-US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2023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年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8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月現在）</a:t>
                </a: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1FD48EF-54B7-E80B-A1CD-FF97CF9DFB92}"/>
                </a:ext>
              </a:extLst>
            </p:cNvPr>
            <p:cNvSpPr txBox="1"/>
            <p:nvPr/>
          </p:nvSpPr>
          <p:spPr>
            <a:xfrm>
              <a:off x="396812" y="1095945"/>
              <a:ext cx="28378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のダウンロード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F96F05B-FC2C-FB2D-8CA6-16ACA669FB87}"/>
                </a:ext>
              </a:extLst>
            </p:cNvPr>
            <p:cNvSpPr txBox="1"/>
            <p:nvPr/>
          </p:nvSpPr>
          <p:spPr>
            <a:xfrm>
              <a:off x="468000" y="5983200"/>
              <a:ext cx="8159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TeX</a:t>
              </a:r>
              <a:r>
                <a:rPr kumimoji="1" lang="en-US" altLang="ja-JP" dirty="0"/>
                <a:t> Live</a:t>
              </a:r>
              <a:r>
                <a:rPr kumimoji="1" lang="ja-JP" altLang="en-US" dirty="0"/>
                <a:t>のアーカイブ保存サイト</a:t>
              </a:r>
            </a:p>
          </p:txBody>
        </p:sp>
      </p:grp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9D4C7B6B-9617-0557-9017-5CCD9135B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11295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1. </a:t>
                      </a:r>
                      <a:r>
                        <a:rPr kumimoji="1" lang="ja-JP" altLang="en-US" sz="1600" b="0" dirty="0"/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853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870E2B6-39AC-5B0F-4F16-0B81A4FEBA85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2936D0B9-80BC-835F-4E87-4AA1BC1D2569}"/>
                </a:ext>
              </a:extLst>
            </p:cNvPr>
            <p:cNvGrpSpPr/>
            <p:nvPr/>
          </p:nvGrpSpPr>
          <p:grpSpPr>
            <a:xfrm>
              <a:off x="179994" y="1095945"/>
              <a:ext cx="8818325" cy="5256587"/>
              <a:chOff x="179994" y="1095945"/>
              <a:chExt cx="8818325" cy="5256587"/>
            </a:xfrm>
          </p:grpSpPr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5CFD8E1-EECF-D261-05EE-1D26973A5B1D}"/>
                  </a:ext>
                </a:extLst>
              </p:cNvPr>
              <p:cNvSpPr txBox="1"/>
              <p:nvPr/>
            </p:nvSpPr>
            <p:spPr>
              <a:xfrm>
                <a:off x="179994" y="1517301"/>
                <a:ext cx="88183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3"/>
                </a:pPr>
                <a:r>
                  <a:rPr kumimoji="1" lang="ja-JP" altLang="en-US" dirty="0"/>
                  <a:t>「</a:t>
                </a:r>
                <a:r>
                  <a:rPr kumimoji="1" lang="en-US" altLang="ja-JP" dirty="0" err="1"/>
                  <a:t>tlnet</a:t>
                </a:r>
                <a:r>
                  <a:rPr kumimoji="1" lang="en-US" altLang="ja-JP" dirty="0"/>
                  <a:t>/</a:t>
                </a:r>
                <a:r>
                  <a:rPr kumimoji="1" lang="ja-JP" altLang="en-US" dirty="0"/>
                  <a:t>」のフォルダを開き，「</a:t>
                </a:r>
                <a:r>
                  <a:rPr kumimoji="1" lang="en-US" altLang="ja-JP" dirty="0"/>
                  <a:t>install-tl.zip</a:t>
                </a:r>
                <a:r>
                  <a:rPr kumimoji="1" lang="ja-JP" altLang="en-US" dirty="0"/>
                  <a:t>」をダウンロードする．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また，このときの</a:t>
                </a:r>
                <a:r>
                  <a:rPr kumimoji="1" lang="en-US" altLang="ja-JP" dirty="0"/>
                  <a:t>URL</a:t>
                </a:r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 http://texlive.texjp.org/YYYY/tlnet/ </a:t>
                </a:r>
                <a:r>
                  <a:rPr kumimoji="1" lang="ja-JP" altLang="en-US" dirty="0"/>
                  <a:t>）をメモしておく．</a:t>
                </a:r>
              </a:p>
            </p:txBody>
          </p:sp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AABBB897-3146-E69A-EB7C-DE067152459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68000" y="2281592"/>
                <a:ext cx="8161200" cy="3699251"/>
                <a:chOff x="199800" y="2345069"/>
                <a:chExt cx="8161200" cy="3699251"/>
              </a:xfrm>
            </p:grpSpPr>
            <p:pic>
              <p:nvPicPr>
                <p:cNvPr id="38" name="図 37">
                  <a:extLst>
                    <a:ext uri="{FF2B5EF4-FFF2-40B4-BE49-F238E27FC236}">
                      <a16:creationId xmlns:a16="http://schemas.microsoft.com/office/drawing/2014/main" id="{210A1444-34A4-7946-3FCF-26DFEE2A55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9800" y="2345069"/>
                  <a:ext cx="8161200" cy="3699251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31" name="正方形/長方形 30">
                  <a:extLst>
                    <a:ext uri="{FF2B5EF4-FFF2-40B4-BE49-F238E27FC236}">
                      <a16:creationId xmlns:a16="http://schemas.microsoft.com/office/drawing/2014/main" id="{604E404E-19A8-13A8-9347-1285A858368A}"/>
                    </a:ext>
                  </a:extLst>
                </p:cNvPr>
                <p:cNvSpPr/>
                <p:nvPr/>
              </p:nvSpPr>
              <p:spPr>
                <a:xfrm>
                  <a:off x="343847" y="5438772"/>
                  <a:ext cx="3956236" cy="185873"/>
                </a:xfrm>
                <a:prstGeom prst="rect">
                  <a:avLst/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endParaRPr kumimoji="1" lang="ja-JP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0B349503-49E7-7EAA-4271-F6BD8F4490F7}"/>
                    </a:ext>
                  </a:extLst>
                </p:cNvPr>
                <p:cNvSpPr txBox="1"/>
                <p:nvPr/>
              </p:nvSpPr>
              <p:spPr>
                <a:xfrm>
                  <a:off x="4300083" y="5347042"/>
                  <a:ext cx="15290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ja-JP" altLang="en-US" dirty="0">
                      <a:solidFill>
                        <a:srgbClr val="FF0000"/>
                      </a:solidFill>
                    </a:rPr>
                    <a:t>ダウンロード</a:t>
                  </a:r>
                </a:p>
              </p:txBody>
            </p:sp>
            <p:sp>
              <p:nvSpPr>
                <p:cNvPr id="33" name="正方形/長方形 32">
                  <a:extLst>
                    <a:ext uri="{FF2B5EF4-FFF2-40B4-BE49-F238E27FC236}">
                      <a16:creationId xmlns:a16="http://schemas.microsoft.com/office/drawing/2014/main" id="{F80D144E-7674-6E1E-11FC-D1658F4D5F31}"/>
                    </a:ext>
                  </a:extLst>
                </p:cNvPr>
                <p:cNvSpPr/>
                <p:nvPr/>
              </p:nvSpPr>
              <p:spPr>
                <a:xfrm>
                  <a:off x="1874044" y="2614711"/>
                  <a:ext cx="1083469" cy="200025"/>
                </a:xfrm>
                <a:prstGeom prst="rect">
                  <a:avLst/>
                </a:prstGeom>
                <a:noFill/>
                <a:ln w="254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endParaRPr kumimoji="1" lang="ja-JP" altLang="en-US" sz="20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08215727-1EBD-75E0-59EE-9CD988D53E20}"/>
                    </a:ext>
                  </a:extLst>
                </p:cNvPr>
                <p:cNvSpPr txBox="1"/>
                <p:nvPr/>
              </p:nvSpPr>
              <p:spPr>
                <a:xfrm>
                  <a:off x="2957513" y="2539484"/>
                  <a:ext cx="15290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ja-JP" dirty="0">
                      <a:solidFill>
                        <a:schemeClr val="bg1"/>
                      </a:solidFill>
                    </a:rPr>
                    <a:t>URL</a:t>
                  </a:r>
                  <a:r>
                    <a:rPr lang="ja-JP" altLang="en-US" dirty="0">
                      <a:solidFill>
                        <a:schemeClr val="bg1"/>
                      </a:solidFill>
                    </a:rPr>
                    <a:t>をメモ</a:t>
                  </a:r>
                </a:p>
              </p:txBody>
            </p:sp>
          </p:grp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83EBEAF-C979-2D49-2E86-68D41ADCFA1F}"/>
                  </a:ext>
                </a:extLst>
              </p:cNvPr>
              <p:cNvSpPr txBox="1"/>
              <p:nvPr/>
            </p:nvSpPr>
            <p:spPr>
              <a:xfrm>
                <a:off x="396812" y="1095945"/>
                <a:ext cx="28378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b="1" dirty="0" err="1">
                    <a:solidFill>
                      <a:schemeClr val="accent1"/>
                    </a:solidFill>
                  </a:rPr>
                  <a:t>TeX</a:t>
                </a:r>
                <a:r>
                  <a:rPr kumimoji="1" lang="en-US" altLang="ja-JP" sz="2000" b="1" dirty="0">
                    <a:solidFill>
                      <a:schemeClr val="accent1"/>
                    </a:solidFill>
                  </a:rPr>
                  <a:t> Live</a:t>
                </a:r>
                <a:r>
                  <a:rPr kumimoji="1" lang="ja-JP" altLang="en-US" sz="2000" b="1" dirty="0">
                    <a:solidFill>
                      <a:schemeClr val="accent1"/>
                    </a:solidFill>
                  </a:rPr>
                  <a:t>のダウンロード</a:t>
                </a: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99B7784-02BD-55A7-0803-5AB2BDF0AC55}"/>
                  </a:ext>
                </a:extLst>
              </p:cNvPr>
              <p:cNvSpPr txBox="1"/>
              <p:nvPr/>
            </p:nvSpPr>
            <p:spPr>
              <a:xfrm>
                <a:off x="468000" y="5983200"/>
                <a:ext cx="81598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dirty="0" err="1"/>
                  <a:t>TeX</a:t>
                </a:r>
                <a:r>
                  <a:rPr kumimoji="1" lang="en-US" altLang="ja-JP" dirty="0"/>
                  <a:t> Live</a:t>
                </a:r>
                <a:r>
                  <a:rPr kumimoji="1" lang="ja-JP" altLang="en-US" dirty="0"/>
                  <a:t>のアーカイブ保存サイト</a:t>
                </a:r>
              </a:p>
            </p:txBody>
          </p:sp>
        </p:grpSp>
      </p:grp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D37ED708-E6A2-8CB4-A956-AA89FE953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11295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1. </a:t>
                      </a:r>
                      <a:r>
                        <a:rPr kumimoji="1" lang="ja-JP" altLang="en-US" sz="1600" b="0" dirty="0"/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697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62E621A-2B1C-E33D-88C4-34BCD4E3E5C5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0BC127-C41F-4FEE-4C6F-62CCDC5CC7A9}"/>
                </a:ext>
              </a:extLst>
            </p:cNvPr>
            <p:cNvSpPr txBox="1"/>
            <p:nvPr/>
          </p:nvSpPr>
          <p:spPr>
            <a:xfrm>
              <a:off x="396812" y="1095945"/>
              <a:ext cx="19946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の解凍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BBBC8F4-CB62-E2C6-3DCF-3A33E9355F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ダウンロードした「</a:t>
              </a:r>
              <a:r>
                <a:rPr kumimoji="1" lang="en-US" altLang="ja-JP" dirty="0"/>
                <a:t>install-tl.zip</a:t>
              </a:r>
              <a:r>
                <a:rPr kumimoji="1" lang="ja-JP" altLang="en-US" dirty="0"/>
                <a:t>」を解凍する（解凍先はどこでも構わない）．</a:t>
              </a:r>
            </a:p>
          </p:txBody>
        </p: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A7A911C9-68FC-B007-22AF-5569777BF42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124494" cy="3960000"/>
              <a:chOff x="236220" y="2065451"/>
              <a:chExt cx="8707980" cy="4244400"/>
            </a:xfrm>
          </p:grpSpPr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ABC9AF87-4480-9AB2-DC72-75D37CDD61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416"/>
              <a:stretch/>
            </p:blipFill>
            <p:spPr>
              <a:xfrm>
                <a:off x="236220" y="2065451"/>
                <a:ext cx="8707980" cy="42444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3F7CC143-37D7-4A33-5C58-CA125AEC0F02}"/>
                  </a:ext>
                </a:extLst>
              </p:cNvPr>
              <p:cNvSpPr/>
              <p:nvPr/>
            </p:nvSpPr>
            <p:spPr>
              <a:xfrm>
                <a:off x="1813560" y="3591560"/>
                <a:ext cx="6995160" cy="2548450"/>
              </a:xfrm>
              <a:prstGeom prst="rect">
                <a:avLst/>
              </a:prstGeom>
              <a:solidFill>
                <a:srgbClr val="202020"/>
              </a:solidFill>
              <a:ln w="254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058F82E2-F5E0-04F1-9616-FFC537E16FFB}"/>
                </a:ext>
              </a:extLst>
            </p:cNvPr>
            <p:cNvSpPr txBox="1"/>
            <p:nvPr/>
          </p:nvSpPr>
          <p:spPr>
            <a:xfrm>
              <a:off x="1954966" y="3563279"/>
              <a:ext cx="64348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dirty="0">
                  <a:solidFill>
                    <a:schemeClr val="bg1"/>
                  </a:solidFill>
                </a:rPr>
                <a:t>例えば，「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C:\Users\</a:t>
              </a:r>
              <a:r>
                <a:rPr kumimoji="1" lang="ja-JP" altLang="en-US" dirty="0">
                  <a:solidFill>
                    <a:schemeClr val="bg1"/>
                  </a:solidFill>
                </a:rPr>
                <a:t>（ユーザー名）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\Downloads</a:t>
              </a:r>
              <a:r>
                <a:rPr kumimoji="1" lang="ja-JP" altLang="en-US" dirty="0">
                  <a:solidFill>
                    <a:schemeClr val="bg1"/>
                  </a:solidFill>
                </a:rPr>
                <a:t>」に解凍すると，</a:t>
              </a:r>
              <a:br>
                <a:rPr kumimoji="1" lang="en-US" altLang="ja-JP" dirty="0">
                  <a:solidFill>
                    <a:schemeClr val="bg1"/>
                  </a:solidFill>
                </a:rPr>
              </a:br>
              <a:r>
                <a:rPr kumimoji="1" lang="ja-JP" altLang="en-US" dirty="0">
                  <a:solidFill>
                    <a:schemeClr val="bg1"/>
                  </a:solidFill>
                </a:rPr>
                <a:t>そのパスに「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install-</a:t>
              </a:r>
              <a:r>
                <a:rPr kumimoji="1" lang="en-US" altLang="ja-JP" dirty="0" err="1">
                  <a:solidFill>
                    <a:schemeClr val="bg1"/>
                  </a:solidFill>
                </a:rPr>
                <a:t>tl</a:t>
              </a:r>
              <a:r>
                <a:rPr kumimoji="1" lang="en-US" altLang="ja-JP" dirty="0">
                  <a:solidFill>
                    <a:schemeClr val="bg1"/>
                  </a:solidFill>
                </a:rPr>
                <a:t>-</a:t>
              </a:r>
              <a:r>
                <a:rPr kumimoji="1" lang="en-US" altLang="ja-JP" dirty="0" err="1">
                  <a:solidFill>
                    <a:schemeClr val="bg1"/>
                  </a:solidFill>
                </a:rPr>
                <a:t>YYYYMMDD</a:t>
              </a:r>
              <a:r>
                <a:rPr kumimoji="1" lang="ja-JP" altLang="en-US" dirty="0">
                  <a:solidFill>
                    <a:schemeClr val="bg1"/>
                  </a:solidFill>
                </a:rPr>
                <a:t>」というフォルダが作成される．</a:t>
              </a:r>
              <a:endParaRPr lang="en-US" altLang="ja-JP" dirty="0">
                <a:solidFill>
                  <a:schemeClr val="bg1"/>
                </a:solidFill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C5C3D181-95F1-9166-37B7-9724A83C7A4B}"/>
                </a:ext>
              </a:extLst>
            </p:cNvPr>
            <p:cNvSpPr txBox="1"/>
            <p:nvPr/>
          </p:nvSpPr>
          <p:spPr>
            <a:xfrm>
              <a:off x="468001" y="5983200"/>
              <a:ext cx="8124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PC</a:t>
              </a:r>
              <a:r>
                <a:rPr kumimoji="1" lang="ja-JP" altLang="en-US" dirty="0"/>
                <a:t>のエクスプローラーの画面</a:t>
              </a:r>
            </a:p>
          </p:txBody>
        </p:sp>
      </p:grp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4845EEB1-4886-312D-DC2B-FFD3741C0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419229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197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A6D0453-8C4A-06C5-CE25-619A8A4845E1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BBBC8F4-CB62-E2C6-3DCF-3A33E9355F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「</a:t>
              </a:r>
              <a:r>
                <a:rPr kumimoji="1" lang="en-US" altLang="ja-JP" dirty="0"/>
                <a:t>install-tl-windows.bat</a:t>
              </a:r>
              <a:r>
                <a:rPr kumimoji="1" lang="ja-JP" altLang="en-US" dirty="0"/>
                <a:t>」があるパスをメモしておく．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AD49CF05-B53D-50C5-73A1-5596B5149BD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124494" cy="3960000"/>
              <a:chOff x="236220" y="2064268"/>
              <a:chExt cx="8707980" cy="4244400"/>
            </a:xfrm>
          </p:grpSpPr>
          <p:pic>
            <p:nvPicPr>
              <p:cNvPr id="20" name="図 19">
                <a:extLst>
                  <a:ext uri="{FF2B5EF4-FFF2-40B4-BE49-F238E27FC236}">
                    <a16:creationId xmlns:a16="http://schemas.microsoft.com/office/drawing/2014/main" id="{BF567DE6-8DE6-277B-B6A4-210D136C14C5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2"/>
              <a:srcRect l="416"/>
              <a:stretch/>
            </p:blipFill>
            <p:spPr>
              <a:xfrm>
                <a:off x="236220" y="2064268"/>
                <a:ext cx="8707980" cy="42444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1" name="正方形/長方形 20">
                <a:extLst>
                  <a:ext uri="{FF2B5EF4-FFF2-40B4-BE49-F238E27FC236}">
                    <a16:creationId xmlns:a16="http://schemas.microsoft.com/office/drawing/2014/main" id="{264F513C-654A-789A-59D0-A116B3FB10D3}"/>
                  </a:ext>
                </a:extLst>
              </p:cNvPr>
              <p:cNvSpPr/>
              <p:nvPr/>
            </p:nvSpPr>
            <p:spPr>
              <a:xfrm>
                <a:off x="1181099" y="2527849"/>
                <a:ext cx="2043921" cy="228600"/>
              </a:xfrm>
              <a:prstGeom prst="rect">
                <a:avLst/>
              </a:prstGeom>
              <a:noFill/>
              <a:ln w="254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BC3D4C3B-3B92-4544-D9D4-C06D26BEF6BD}"/>
                  </a:ext>
                </a:extLst>
              </p:cNvPr>
              <p:cNvSpPr txBox="1"/>
              <p:nvPr/>
            </p:nvSpPr>
            <p:spPr>
              <a:xfrm>
                <a:off x="3225020" y="2457483"/>
                <a:ext cx="1529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dirty="0">
                    <a:solidFill>
                      <a:schemeClr val="bg1"/>
                    </a:solidFill>
                  </a:rPr>
                  <a:t>パスをメモ</a:t>
                </a:r>
              </a:p>
            </p:txBody>
          </p:sp>
        </p:grp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94A7F8E-9AA4-A359-DC11-773DB3466972}"/>
                </a:ext>
              </a:extLst>
            </p:cNvPr>
            <p:cNvSpPr txBox="1"/>
            <p:nvPr/>
          </p:nvSpPr>
          <p:spPr>
            <a:xfrm>
              <a:off x="396812" y="1095945"/>
              <a:ext cx="19946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の解凍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991FE1-290B-01D3-2BBA-979FB39EFE9A}"/>
                </a:ext>
              </a:extLst>
            </p:cNvPr>
            <p:cNvSpPr txBox="1"/>
            <p:nvPr/>
          </p:nvSpPr>
          <p:spPr>
            <a:xfrm>
              <a:off x="468001" y="5983200"/>
              <a:ext cx="8124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PC</a:t>
              </a:r>
              <a:r>
                <a:rPr kumimoji="1" lang="ja-JP" altLang="en-US" dirty="0"/>
                <a:t>のエクスプローラーの画面</a:t>
              </a:r>
            </a:p>
          </p:txBody>
        </p:sp>
      </p:grp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88262423-F02B-27D3-0206-4654503E7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265634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038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1C6D3F8-8ABB-EF28-C4D9-D5CDE0296515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0BC127-C41F-4FEE-4C6F-62CCDC5CC7A9}"/>
                </a:ext>
              </a:extLst>
            </p:cNvPr>
            <p:cNvSpPr txBox="1"/>
            <p:nvPr/>
          </p:nvSpPr>
          <p:spPr>
            <a:xfrm>
              <a:off x="396812" y="1095945"/>
              <a:ext cx="51685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のインストール（ミラーサイトを指定）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BBBC8F4-CB62-E2C6-3DCF-3A33E9355F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コマンドプロンプトを起動し，</a:t>
              </a:r>
              <a:r>
                <a:rPr kumimoji="1" lang="en-US" altLang="ja-JP" dirty="0"/>
                <a:t>p.</a:t>
              </a:r>
              <a:r>
                <a:rPr kumimoji="1" lang="ja-JP" altLang="en-US" dirty="0"/>
                <a:t> </a:t>
              </a:r>
              <a:r>
                <a:rPr kumimoji="1" lang="en-US" altLang="ja-JP" dirty="0"/>
                <a:t>11</a:t>
              </a:r>
              <a:r>
                <a:rPr kumimoji="1" lang="ja-JP" altLang="en-US" dirty="0"/>
                <a:t>でメモしたパスまで移動する</a:t>
              </a:r>
              <a:r>
                <a:rPr kumimoji="1" lang="en-US" altLang="ja-JP" dirty="0"/>
                <a:t>.</a:t>
              </a:r>
              <a:endParaRPr kumimoji="1" lang="ja-JP" altLang="en-US" dirty="0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D18208D-758C-FB62-2172-BAE448B6343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4114" cy="3960000"/>
              <a:chOff x="199800" y="2087880"/>
              <a:chExt cx="8744400" cy="4220788"/>
            </a:xfrm>
          </p:grpSpPr>
          <p:pic>
            <p:nvPicPr>
              <p:cNvPr id="14" name="図 13">
                <a:extLst>
                  <a:ext uri="{FF2B5EF4-FFF2-40B4-BE49-F238E27FC236}">
                    <a16:creationId xmlns:a16="http://schemas.microsoft.com/office/drawing/2014/main" id="{6EDF8241-1B86-374E-8736-933C9695DE60}"/>
                  </a:ext>
                </a:extLst>
              </p:cNvPr>
              <p:cNvPicPr>
                <a:picLocks/>
              </p:cNvPicPr>
              <p:nvPr/>
            </p:nvPicPr>
            <p:blipFill rotWithShape="1">
              <a:blip r:embed="rId2"/>
              <a:srcRect t="556"/>
              <a:stretch/>
            </p:blipFill>
            <p:spPr>
              <a:xfrm>
                <a:off x="199800" y="2087880"/>
                <a:ext cx="8744400" cy="422078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FCDBD9E-A7F9-14C5-002E-5C4904625055}"/>
                  </a:ext>
                </a:extLst>
              </p:cNvPr>
              <p:cNvSpPr txBox="1"/>
              <p:nvPr/>
            </p:nvSpPr>
            <p:spPr>
              <a:xfrm>
                <a:off x="288403" y="3429000"/>
                <a:ext cx="69951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bg1"/>
                    </a:solidFill>
                  </a:rPr>
                  <a:t>パス移動はコマンド「</a:t>
                </a:r>
                <a:r>
                  <a:rPr kumimoji="1" lang="en-US" altLang="ja-JP" dirty="0">
                    <a:solidFill>
                      <a:schemeClr val="bg1"/>
                    </a:solidFill>
                  </a:rPr>
                  <a:t>cd</a:t>
                </a:r>
                <a:r>
                  <a:rPr kumimoji="1" lang="ja-JP" altLang="en-US" dirty="0">
                    <a:solidFill>
                      <a:schemeClr val="bg1"/>
                    </a:solidFill>
                  </a:rPr>
                  <a:t>」で行う．</a:t>
                </a:r>
                <a:endParaRPr lang="en-US" altLang="ja-JP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3548C95-B284-5AC0-31F8-E11F4084B78A}"/>
                </a:ext>
              </a:extLst>
            </p:cNvPr>
            <p:cNvSpPr txBox="1"/>
            <p:nvPr/>
          </p:nvSpPr>
          <p:spPr>
            <a:xfrm>
              <a:off x="468001" y="5983200"/>
              <a:ext cx="8124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コマンドプロンプトの画面</a:t>
              </a:r>
            </a:p>
          </p:txBody>
        </p:sp>
      </p:grp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112F57C2-461B-3777-EC4E-2468C3989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292282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766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E87E3B7-E554-840C-25FA-D7E93D0AEFA6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0BC127-C41F-4FEE-4C6F-62CCDC5CC7A9}"/>
                </a:ext>
              </a:extLst>
            </p:cNvPr>
            <p:cNvSpPr txBox="1"/>
            <p:nvPr/>
          </p:nvSpPr>
          <p:spPr>
            <a:xfrm>
              <a:off x="396812" y="1095945"/>
              <a:ext cx="51685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のインストール（ミラーサイトを指定）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BBBC8F4-CB62-E2C6-3DCF-3A33E9355F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「</a:t>
              </a:r>
              <a:r>
                <a:rPr kumimoji="1" lang="en-US" altLang="ja-JP" dirty="0"/>
                <a:t>install-tl-windows.bat</a:t>
              </a:r>
              <a:r>
                <a:rPr kumimoji="1" lang="ja-JP" altLang="en-US" dirty="0"/>
                <a:t>␣</a:t>
              </a:r>
              <a:r>
                <a:rPr kumimoji="1" lang="en-US" altLang="ja-JP" dirty="0"/>
                <a:t>--repository</a:t>
              </a:r>
              <a:r>
                <a:rPr kumimoji="1" lang="ja-JP" altLang="en-US" dirty="0"/>
                <a:t>␣（</a:t>
              </a:r>
              <a:r>
                <a:rPr kumimoji="1" lang="en-US" altLang="ja-JP" dirty="0"/>
                <a:t>p. 8</a:t>
              </a:r>
              <a:r>
                <a:rPr kumimoji="1" lang="ja-JP" altLang="en-US" dirty="0"/>
                <a:t>でメモした</a:t>
              </a:r>
              <a:r>
                <a:rPr kumimoji="1" lang="en-US" altLang="ja-JP" dirty="0"/>
                <a:t>URL</a:t>
              </a:r>
              <a:r>
                <a:rPr kumimoji="1" lang="ja-JP" altLang="en-US" dirty="0"/>
                <a:t>）」を入力して，</a:t>
              </a:r>
              <a:br>
                <a:rPr kumimoji="1" lang="en-US" altLang="ja-JP" dirty="0"/>
              </a:br>
              <a:r>
                <a:rPr kumimoji="1" lang="en-US" altLang="ja-JP" dirty="0"/>
                <a:t>Enter</a:t>
              </a:r>
              <a:r>
                <a:rPr kumimoji="1" lang="ja-JP" altLang="en-US" dirty="0"/>
                <a:t>を押す（␣は半角スペースを表す）．</a:t>
              </a:r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062D9FD0-1B81-465A-1FC1-DD4558CD5B8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31"/>
            <a:stretch/>
          </p:blipFill>
          <p:spPr>
            <a:xfrm>
              <a:off x="469800" y="2291544"/>
              <a:ext cx="8204400" cy="369165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E6ED7670-5087-708D-38DE-BF80DD5E49C2}"/>
                </a:ext>
              </a:extLst>
            </p:cNvPr>
            <p:cNvSpPr txBox="1"/>
            <p:nvPr/>
          </p:nvSpPr>
          <p:spPr>
            <a:xfrm>
              <a:off x="468001" y="5983200"/>
              <a:ext cx="8124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コマンドプロンプトの画面</a:t>
              </a:r>
            </a:p>
          </p:txBody>
        </p:sp>
      </p:grp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6B74A617-AB62-7A9B-DEED-EF5D2DEBC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776639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506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8AB48-468B-4CA4-9B15-26A6E8ED9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TeX</a:t>
            </a:r>
            <a:r>
              <a:rPr kumimoji="1" lang="en-US" altLang="ja-JP" dirty="0"/>
              <a:t> Live</a:t>
            </a:r>
            <a:r>
              <a:rPr kumimoji="1" lang="ja-JP" altLang="en-US" dirty="0"/>
              <a:t>のインストール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68A0333-86E8-F6E5-967D-421B5BBD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ED50A2-BBCA-844A-18D7-54BF591F08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ED14114C-C989-26C1-A354-5B58E6ED089B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B5E84AED-1562-660B-42F8-02CA914513ED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0BC127-C41F-4FEE-4C6F-62CCDC5CC7A9}"/>
                </a:ext>
              </a:extLst>
            </p:cNvPr>
            <p:cNvSpPr txBox="1"/>
            <p:nvPr/>
          </p:nvSpPr>
          <p:spPr>
            <a:xfrm>
              <a:off x="396812" y="1095945"/>
              <a:ext cx="51685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TeX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 Live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のインストール（ミラーサイトを指定）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5BBBC8F4-CB62-E2C6-3DCF-3A33E9355FC2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kumimoji="1" lang="ja-JP" altLang="en-US" dirty="0"/>
                <a:t>下の画面が表示されたら，インストールを開始する（終了まで数十分～</a:t>
              </a:r>
              <a:r>
                <a:rPr kumimoji="1" lang="en-US" altLang="ja-JP" dirty="0"/>
                <a:t>2</a:t>
              </a:r>
              <a:r>
                <a:rPr kumimoji="1" lang="ja-JP" altLang="en-US" dirty="0"/>
                <a:t>時間程度）．</a:t>
              </a:r>
              <a:br>
                <a:rPr kumimoji="1" lang="en-US" altLang="ja-JP" dirty="0"/>
              </a:br>
              <a:r>
                <a:rPr kumimoji="1" lang="ja-JP" altLang="en-US" dirty="0"/>
                <a:t>時間が経過しても下の画面が表示されない場合は，</a:t>
              </a:r>
              <a:br>
                <a:rPr kumimoji="1" lang="en-US" altLang="ja-JP" dirty="0"/>
              </a:br>
              <a:r>
                <a:rPr kumimoji="1" lang="ja-JP" altLang="en-US" dirty="0"/>
                <a:t>手順</a:t>
              </a:r>
              <a:r>
                <a:rPr kumimoji="1" lang="en-US" altLang="ja-JP" dirty="0"/>
                <a:t>7</a:t>
              </a:r>
              <a:r>
                <a:rPr kumimoji="1" lang="ja-JP" altLang="en-US" dirty="0"/>
                <a:t>で入力したミラーサイトの</a:t>
              </a:r>
              <a:r>
                <a:rPr kumimoji="1" lang="en-US" altLang="ja-JP" dirty="0"/>
                <a:t>URL</a:t>
              </a:r>
              <a:r>
                <a:rPr kumimoji="1" lang="ja-JP" altLang="en-US" dirty="0"/>
                <a:t>が間違っている可能性があるため要確認．</a:t>
              </a:r>
            </a:p>
          </p:txBody>
        </p:sp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0C1DF42C-8248-8352-908B-CAABC3A1B8A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46" t="778" r="1" b="531"/>
            <a:stretch/>
          </p:blipFill>
          <p:spPr>
            <a:xfrm>
              <a:off x="2995996" y="2571135"/>
              <a:ext cx="3152009" cy="3412066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93275D6-D7A0-D32F-9876-EBDCB15E15C1}"/>
                </a:ext>
              </a:extLst>
            </p:cNvPr>
            <p:cNvSpPr txBox="1"/>
            <p:nvPr/>
          </p:nvSpPr>
          <p:spPr>
            <a:xfrm>
              <a:off x="468001" y="5983200"/>
              <a:ext cx="81244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 err="1"/>
                <a:t>TeX</a:t>
              </a:r>
              <a:r>
                <a:rPr kumimoji="1" lang="en-US" altLang="ja-JP" dirty="0"/>
                <a:t> Live</a:t>
              </a:r>
              <a:r>
                <a:rPr kumimoji="1" lang="ja-JP" altLang="en-US" dirty="0"/>
                <a:t>インストーラの画面</a:t>
              </a:r>
            </a:p>
          </p:txBody>
        </p:sp>
      </p:grp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D24BFF0F-AA86-FC29-220C-11ECD1124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776639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zip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解凍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インストール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69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B15B2CE-DE6F-27BA-4C1F-88A7538D5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DDF22-94C4-436A-A245-6A602F7095EB}" type="slidenum">
              <a:rPr lang="ja-JP" altLang="en-US" smtClean="0"/>
              <a:pPr/>
              <a:t>14</a:t>
            </a:fld>
            <a:endParaRPr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6F05F6-0AF5-DD48-8EDB-148A3F712A53}"/>
              </a:ext>
            </a:extLst>
          </p:cNvPr>
          <p:cNvSpPr txBox="1"/>
          <p:nvPr/>
        </p:nvSpPr>
        <p:spPr>
          <a:xfrm>
            <a:off x="828675" y="2380416"/>
            <a:ext cx="11320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>
                <a:solidFill>
                  <a:schemeClr val="accent2"/>
                </a:solidFill>
              </a:rPr>
              <a:t>はじめに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7E8496A-F5F3-173F-B82D-32D84FB1E553}"/>
              </a:ext>
            </a:extLst>
          </p:cNvPr>
          <p:cNvSpPr txBox="1"/>
          <p:nvPr/>
        </p:nvSpPr>
        <p:spPr>
          <a:xfrm>
            <a:off x="828675" y="3676926"/>
            <a:ext cx="3105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accent2"/>
                </a:solidFill>
              </a:rPr>
              <a:t>1  </a:t>
            </a:r>
            <a:r>
              <a:rPr kumimoji="1" lang="en-US" altLang="ja-JP" sz="2000" dirty="0" err="1">
                <a:solidFill>
                  <a:schemeClr val="accent2"/>
                </a:solidFill>
              </a:rPr>
              <a:t>TeX</a:t>
            </a:r>
            <a:r>
              <a:rPr kumimoji="1" lang="en-US" altLang="ja-JP" sz="2000" dirty="0">
                <a:solidFill>
                  <a:schemeClr val="accent2"/>
                </a:solidFill>
              </a:rPr>
              <a:t> Live</a:t>
            </a:r>
            <a:r>
              <a:rPr kumimoji="1" lang="ja-JP" altLang="en-US" sz="2000" dirty="0">
                <a:solidFill>
                  <a:schemeClr val="accent2"/>
                </a:solidFill>
              </a:rPr>
              <a:t>のインストール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FC2FCB-4F5F-49DB-E348-42A493A5A9C1}"/>
              </a:ext>
            </a:extLst>
          </p:cNvPr>
          <p:cNvSpPr txBox="1"/>
          <p:nvPr/>
        </p:nvSpPr>
        <p:spPr>
          <a:xfrm>
            <a:off x="828675" y="4973436"/>
            <a:ext cx="4878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bg1"/>
                </a:solidFill>
              </a:rPr>
              <a:t>2  Visual Studio Code</a:t>
            </a:r>
            <a:r>
              <a:rPr kumimoji="1" lang="ja-JP" altLang="en-US" sz="2000" dirty="0">
                <a:solidFill>
                  <a:schemeClr val="bg1"/>
                </a:solidFill>
              </a:rPr>
              <a:t>のインストール・設定</a:t>
            </a:r>
          </a:p>
        </p:txBody>
      </p:sp>
    </p:spTree>
    <p:extLst>
      <p:ext uri="{BB962C8B-B14F-4D97-AF65-F5344CB8AC3E}">
        <p14:creationId xmlns:p14="http://schemas.microsoft.com/office/powerpoint/2010/main" val="3040717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A87EA49-7E8F-F0B5-B43C-62543291B4E7}"/>
              </a:ext>
            </a:extLst>
          </p:cNvPr>
          <p:cNvSpPr/>
          <p:nvPr/>
        </p:nvSpPr>
        <p:spPr>
          <a:xfrm>
            <a:off x="179995" y="1456024"/>
            <a:ext cx="216817" cy="432000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4CFC4D-7109-2753-A2AC-DD52F7AE393B}"/>
              </a:ext>
            </a:extLst>
          </p:cNvPr>
          <p:cNvSpPr txBox="1"/>
          <p:nvPr/>
        </p:nvSpPr>
        <p:spPr>
          <a:xfrm>
            <a:off x="396812" y="1471969"/>
            <a:ext cx="2853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chemeClr val="accent1"/>
                </a:solidFill>
              </a:rPr>
              <a:t>VS Code</a:t>
            </a:r>
            <a:r>
              <a:rPr kumimoji="1" lang="ja-JP" altLang="en-US" sz="2000" b="1" dirty="0">
                <a:solidFill>
                  <a:schemeClr val="accent1"/>
                </a:solidFill>
              </a:rPr>
              <a:t>のダウンロード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D325594-BD6A-86A1-89E4-D67DC19F5D55}"/>
              </a:ext>
            </a:extLst>
          </p:cNvPr>
          <p:cNvSpPr txBox="1"/>
          <p:nvPr/>
        </p:nvSpPr>
        <p:spPr>
          <a:xfrm>
            <a:off x="179994" y="1893325"/>
            <a:ext cx="8818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en-US" altLang="ja-JP" dirty="0"/>
              <a:t>VS Code</a:t>
            </a:r>
            <a:r>
              <a:rPr kumimoji="1" lang="ja-JP" altLang="en-US" dirty="0"/>
              <a:t>を「</a:t>
            </a:r>
            <a:r>
              <a:rPr kumimoji="1" lang="en-US" altLang="ja-JP" dirty="0">
                <a:hlinkClick r:id="rId2"/>
              </a:rPr>
              <a:t>https://code.visualstudio.com</a:t>
            </a:r>
            <a:r>
              <a:rPr kumimoji="1" lang="ja-JP" altLang="en-US" dirty="0"/>
              <a:t>」からダウンロードする．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4979144A-366E-B6A5-24F2-D6F6AD081746}"/>
              </a:ext>
            </a:extLst>
          </p:cNvPr>
          <p:cNvGrpSpPr/>
          <p:nvPr/>
        </p:nvGrpSpPr>
        <p:grpSpPr>
          <a:xfrm>
            <a:off x="468399" y="2398254"/>
            <a:ext cx="8207203" cy="4329332"/>
            <a:chOff x="199803" y="1890677"/>
            <a:chExt cx="8207203" cy="4329332"/>
          </a:xfrm>
        </p:grpSpPr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1A059A2-744C-127F-FA27-368F48C0367D}"/>
                </a:ext>
              </a:extLst>
            </p:cNvPr>
            <p:cNvSpPr txBox="1"/>
            <p:nvPr/>
          </p:nvSpPr>
          <p:spPr>
            <a:xfrm>
              <a:off x="199804" y="5850677"/>
              <a:ext cx="8207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公式サイトの画面</a:t>
              </a:r>
            </a:p>
          </p:txBody>
        </p: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F2E001B-48A5-2C4B-8BC9-2CEEB599176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99803" y="1890677"/>
              <a:ext cx="8207202" cy="3960000"/>
              <a:chOff x="199800" y="2082775"/>
              <a:chExt cx="8744401" cy="4219200"/>
            </a:xfrm>
          </p:grpSpPr>
          <p:pic>
            <p:nvPicPr>
              <p:cNvPr id="16" name="図 15">
                <a:extLst>
                  <a:ext uri="{FF2B5EF4-FFF2-40B4-BE49-F238E27FC236}">
                    <a16:creationId xmlns:a16="http://schemas.microsoft.com/office/drawing/2014/main" id="{834481D3-57B6-DE3F-0644-70F3777B69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9800" y="2082775"/>
                <a:ext cx="8744401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310F75E0-AF3B-F960-7B8A-3C788010ACA3}"/>
                  </a:ext>
                </a:extLst>
              </p:cNvPr>
              <p:cNvSpPr/>
              <p:nvPr/>
            </p:nvSpPr>
            <p:spPr>
              <a:xfrm>
                <a:off x="866774" y="5045869"/>
                <a:ext cx="1995489" cy="57864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3EE10DCB-ADEB-EA7B-8264-30FD71512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640111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/>
                        <a:t>1. </a:t>
                      </a:r>
                      <a:r>
                        <a:rPr kumimoji="1" lang="ja-JP" altLang="en-US" sz="1600" b="0" dirty="0"/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479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738A2A47-1573-1AC4-CC4E-1E784607D51D}"/>
              </a:ext>
            </a:extLst>
          </p:cNvPr>
          <p:cNvGrpSpPr/>
          <p:nvPr/>
        </p:nvGrpSpPr>
        <p:grpSpPr>
          <a:xfrm>
            <a:off x="179995" y="1456024"/>
            <a:ext cx="8818325" cy="5272532"/>
            <a:chOff x="179994" y="1456024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456024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471969"/>
              <a:ext cx="6101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の言語設定（デフォルトを日本語に変更する）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893325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サイドバーのアイコン「</a:t>
              </a:r>
              <a:r>
                <a:rPr kumimoji="1" lang="en-US" altLang="ja-JP" dirty="0"/>
                <a:t>Extensions</a:t>
              </a:r>
              <a:r>
                <a:rPr kumimoji="1" lang="ja-JP" altLang="en-US" dirty="0"/>
                <a:t>」をクリックする．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EDF1D531-F518-8BF6-E628-AD1D72D9A61D}"/>
                </a:ext>
              </a:extLst>
            </p:cNvPr>
            <p:cNvSpPr txBox="1"/>
            <p:nvPr/>
          </p:nvSpPr>
          <p:spPr>
            <a:xfrm>
              <a:off x="468000" y="6359224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C094830D-9937-8835-A1BE-3AE7EC814A3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399224"/>
              <a:ext cx="8207201" cy="3960000"/>
              <a:chOff x="199800" y="2089468"/>
              <a:chExt cx="8744400" cy="4219200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7C0EAE22-7068-DF31-1B19-4AF0F029A361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EFC31C62-FAC1-9707-6F25-D5B7214FF57E}"/>
                  </a:ext>
                </a:extLst>
              </p:cNvPr>
              <p:cNvSpPr/>
              <p:nvPr/>
            </p:nvSpPr>
            <p:spPr>
              <a:xfrm>
                <a:off x="223612" y="3660888"/>
                <a:ext cx="288000" cy="2880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B6777481-7FA7-D7EB-C0FF-DE01EB561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010081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023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54B8EF5-E3AA-16D0-DB45-133712506E78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6101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の言語設定（デフォルトを日本語に変更する）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検索欄に「</a:t>
              </a:r>
              <a:r>
                <a:rPr kumimoji="1" lang="en-US" altLang="ja-JP" dirty="0"/>
                <a:t>Japanese Language Pack</a:t>
              </a:r>
              <a:r>
                <a:rPr kumimoji="1" lang="ja-JP" altLang="en-US" dirty="0"/>
                <a:t>」と入力する</a:t>
              </a:r>
              <a:r>
                <a:rPr kumimoji="1" lang="en-US" altLang="ja-JP" dirty="0"/>
                <a:t>.</a:t>
              </a:r>
              <a:endParaRPr kumimoji="1" lang="ja-JP" altLang="en-US" dirty="0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9F1CFDA1-67C4-FC87-82F7-E12CCCD7B55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12" name="図 11">
                <a:extLst>
                  <a:ext uri="{FF2B5EF4-FFF2-40B4-BE49-F238E27FC236}">
                    <a16:creationId xmlns:a16="http://schemas.microsoft.com/office/drawing/2014/main" id="{7C0EAE22-7068-DF31-1B19-4AF0F029A361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EFC31C62-FAC1-9707-6F25-D5B7214FF57E}"/>
                  </a:ext>
                </a:extLst>
              </p:cNvPr>
              <p:cNvSpPr/>
              <p:nvPr/>
            </p:nvSpPr>
            <p:spPr>
              <a:xfrm>
                <a:off x="627458" y="2568178"/>
                <a:ext cx="1003698" cy="24765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04AB9841-9936-B545-6DC0-C35CBE520E51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2C930551-7BB0-9D48-C17D-648FEB86C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57207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159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6A25BE5D-D991-26DA-B65B-207288ACAA43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6101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の言語設定（デフォルトを日本語に変更する）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kumimoji="1" lang="ja-JP" altLang="en-US" dirty="0"/>
                <a:t>「</a:t>
              </a:r>
              <a:r>
                <a:rPr kumimoji="1" lang="en-US" altLang="ja-JP" dirty="0"/>
                <a:t>Japanese Language Pack for Visual Studio Code</a:t>
              </a:r>
              <a:r>
                <a:rPr kumimoji="1" lang="ja-JP" altLang="en-US" dirty="0"/>
                <a:t>」をインストールする．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0E7745AD-2827-932C-DFD7-B10DFFD1272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419" cy="3960000"/>
              <a:chOff x="199800" y="2089580"/>
              <a:chExt cx="8744400" cy="4219088"/>
            </a:xfrm>
          </p:grpSpPr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D555BA82-6B65-261E-0E45-394CA78BD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580"/>
                <a:ext cx="8744400" cy="421908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6E966404-51FE-3482-5949-4E2BAD8FCE1F}"/>
                  </a:ext>
                </a:extLst>
              </p:cNvPr>
              <p:cNvSpPr/>
              <p:nvPr/>
            </p:nvSpPr>
            <p:spPr>
              <a:xfrm>
                <a:off x="3529013" y="3318930"/>
                <a:ext cx="346473" cy="22913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C472A21-9F9B-2B9B-01E8-3A81ADD2146B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532DDA7F-363C-B490-8878-94C61CC37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57207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506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B300233-0B3D-8729-0A1F-6E1AA4C1DEAB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6101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の言語設定（デフォルトを日本語に変更する）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4"/>
              </a:pPr>
              <a:r>
                <a:rPr kumimoji="1" lang="ja-JP" altLang="en-US" dirty="0"/>
                <a:t>インストール完了後，</a:t>
              </a:r>
              <a:r>
                <a:rPr kumimoji="1" lang="en-US" altLang="ja-JP" dirty="0"/>
                <a:t>VS Code</a:t>
              </a:r>
              <a:r>
                <a:rPr kumimoji="1" lang="ja-JP" altLang="en-US" dirty="0"/>
                <a:t>を再起動する．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4AE87B0-7E3F-AB26-8748-8F2AB49534F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419" cy="3960000"/>
              <a:chOff x="199800" y="2089580"/>
              <a:chExt cx="8744400" cy="4219088"/>
            </a:xfrm>
          </p:grpSpPr>
          <p:pic>
            <p:nvPicPr>
              <p:cNvPr id="10" name="図 9">
                <a:extLst>
                  <a:ext uri="{FF2B5EF4-FFF2-40B4-BE49-F238E27FC236}">
                    <a16:creationId xmlns:a16="http://schemas.microsoft.com/office/drawing/2014/main" id="{47E790B7-9D7D-5105-74B2-C3D50E16F5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580"/>
                <a:ext cx="8744400" cy="4219088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7C0CC32-EE73-A616-0BBF-4272B8504CC9}"/>
                  </a:ext>
                </a:extLst>
              </p:cNvPr>
              <p:cNvSpPr/>
              <p:nvPr/>
            </p:nvSpPr>
            <p:spPr>
              <a:xfrm>
                <a:off x="7529512" y="5747145"/>
                <a:ext cx="1309686" cy="275033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99E073F-F4FD-8892-682B-130EDB5ED4ED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5E517B9A-ED4D-E8D4-BD3C-211F840C4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57207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156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4B0482A-00CB-7089-D110-94AEC584AB4F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6101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の言語設定（デフォルトを日本語に変更する）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5"/>
              </a:pPr>
              <a:r>
                <a:rPr kumimoji="1" lang="ja-JP" altLang="en-US" dirty="0"/>
                <a:t>再起動すると，自動的に言語が日本語に変更される．</a:t>
              </a:r>
            </a:p>
          </p:txBody>
        </p:sp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475F82E2-BB8D-B03F-9DAD-CCAC21F84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8000" y="2023200"/>
              <a:ext cx="8207201" cy="3960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C8A275DF-3278-C1FD-5CA3-CEE8B6583D0E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C31B3B6E-C794-461C-700D-FACB9328D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57207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58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93E1F960-ADBA-5A8A-9B25-9DC6E81792C6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32834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LaTeX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拡張機能</a:t>
              </a: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0A7BE605-50DB-2BE0-A289-476ADD278EA3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サイドバーのアイコン「</a:t>
              </a:r>
              <a:r>
                <a:rPr kumimoji="1" lang="en-US" altLang="ja-JP" dirty="0"/>
                <a:t>Extensions</a:t>
              </a:r>
              <a:r>
                <a:rPr kumimoji="1" lang="ja-JP" altLang="en-US" dirty="0"/>
                <a:t>」をクリックする．</a:t>
              </a:r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429DB9CB-D0C6-4ED5-F813-756655BDBF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74A50A9C-18CB-9990-A4D3-C97F439B4D2B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6" name="正方形/長方形 15">
                <a:extLst>
                  <a:ext uri="{FF2B5EF4-FFF2-40B4-BE49-F238E27FC236}">
                    <a16:creationId xmlns:a16="http://schemas.microsoft.com/office/drawing/2014/main" id="{3390CE3D-61B1-0B5F-877C-0A76196A6D9A}"/>
                  </a:ext>
                </a:extLst>
              </p:cNvPr>
              <p:cNvSpPr/>
              <p:nvPr/>
            </p:nvSpPr>
            <p:spPr>
              <a:xfrm>
                <a:off x="223612" y="3660888"/>
                <a:ext cx="288000" cy="2880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646F13B9-5CD2-A4BA-7884-BC8C0D3EFECC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21" name="表 20">
            <a:extLst>
              <a:ext uri="{FF2B5EF4-FFF2-40B4-BE49-F238E27FC236}">
                <a16:creationId xmlns:a16="http://schemas.microsoft.com/office/drawing/2014/main" id="{A66E4A69-672E-4D3B-0C5F-737007152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938274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60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78AE0F0-E4FC-874C-CD11-D2B7487BCB29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32834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LaTeX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拡張機能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D4F4AA-63B5-D1BC-63D3-F7AD5A3AE799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検索欄に「</a:t>
              </a:r>
              <a:r>
                <a:rPr kumimoji="1" lang="en-US" altLang="ja-JP" dirty="0"/>
                <a:t>LaTeX Workshop</a:t>
              </a:r>
              <a:r>
                <a:rPr kumimoji="1" lang="ja-JP" altLang="en-US" dirty="0"/>
                <a:t>」と入力する</a:t>
              </a:r>
              <a:r>
                <a:rPr kumimoji="1" lang="en-US" altLang="ja-JP" dirty="0"/>
                <a:t>.</a:t>
              </a:r>
              <a:endParaRPr kumimoji="1" lang="ja-JP" altLang="en-US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B7C996A5-3AFD-2449-0568-11AC0E8E20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7EF14C24-5CD6-1CA5-3646-A1FF472D913F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1E89B70B-7BF8-FED6-0A3A-F7D288E77B9F}"/>
                  </a:ext>
                </a:extLst>
              </p:cNvPr>
              <p:cNvSpPr/>
              <p:nvPr/>
            </p:nvSpPr>
            <p:spPr>
              <a:xfrm>
                <a:off x="627458" y="2568178"/>
                <a:ext cx="1003698" cy="24765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D5CC2A0-B3B3-71AA-935E-80A225757748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64F7DE79-806E-5A90-0155-F5ED587EB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099402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8241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73273B0E-EE5D-A236-D779-ED178BF80300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328346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LaTeX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拡張機能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8C9CDD44-F7E1-46A1-E27A-C402C3BC654D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kumimoji="1" lang="ja-JP" altLang="en-US" dirty="0"/>
                <a:t>「</a:t>
              </a:r>
              <a:r>
                <a:rPr kumimoji="1" lang="en-US" altLang="ja-JP" dirty="0"/>
                <a:t>LaTeX Workshop</a:t>
              </a:r>
              <a:r>
                <a:rPr kumimoji="1" lang="ja-JP" altLang="en-US" dirty="0"/>
                <a:t>」をインストールする．</a:t>
              </a:r>
            </a:p>
          </p:txBody>
        </p: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B766C16D-9DE2-EEA3-CDA1-F90669B77EE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29" name="図 28">
                <a:extLst>
                  <a:ext uri="{FF2B5EF4-FFF2-40B4-BE49-F238E27FC236}">
                    <a16:creationId xmlns:a16="http://schemas.microsoft.com/office/drawing/2014/main" id="{697090B5-8DC8-3F4B-283F-A429FD051E37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27" name="正方形/長方形 26">
                <a:extLst>
                  <a:ext uri="{FF2B5EF4-FFF2-40B4-BE49-F238E27FC236}">
                    <a16:creationId xmlns:a16="http://schemas.microsoft.com/office/drawing/2014/main" id="{0DFE288D-7213-73C4-EBD3-ED77C4D076C6}"/>
                  </a:ext>
                </a:extLst>
              </p:cNvPr>
              <p:cNvSpPr/>
              <p:nvPr/>
            </p:nvSpPr>
            <p:spPr>
              <a:xfrm>
                <a:off x="3833813" y="3318931"/>
                <a:ext cx="487362" cy="22913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DFA11213-CCE9-22A5-684C-3B09505B773D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35" name="表 34">
            <a:extLst>
              <a:ext uri="{FF2B5EF4-FFF2-40B4-BE49-F238E27FC236}">
                <a16:creationId xmlns:a16="http://schemas.microsoft.com/office/drawing/2014/main" id="{0CA3E7A1-495B-176E-3C9C-B3FA5F9FD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099402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bg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912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3502ABD-5A9B-BF9F-43B9-76DEF6B6B0C2}"/>
              </a:ext>
            </a:extLst>
          </p:cNvPr>
          <p:cNvGrpSpPr/>
          <p:nvPr/>
        </p:nvGrpSpPr>
        <p:grpSpPr>
          <a:xfrm>
            <a:off x="179996" y="1456024"/>
            <a:ext cx="8818325" cy="4903200"/>
            <a:chOff x="179994" y="1080000"/>
            <a:chExt cx="8818325" cy="49032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45865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の設定ファイル（</a:t>
              </a:r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setting.json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サイドバー右下の「歯車マーク→設定」をクリックする．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2987A0F4-E2BA-9C61-2FAA-15940DF8C59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3DDC02AF-31C2-FEC8-D700-D2C578D8603C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50561391-8C32-06BF-77D2-392299F650BA}"/>
                  </a:ext>
                </a:extLst>
              </p:cNvPr>
              <p:cNvSpPr/>
              <p:nvPr/>
            </p:nvSpPr>
            <p:spPr>
              <a:xfrm>
                <a:off x="223612" y="5846410"/>
                <a:ext cx="288000" cy="2880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5E082703-A59E-28A2-C24E-3767589EF585}"/>
                  </a:ext>
                </a:extLst>
              </p:cNvPr>
              <p:cNvSpPr/>
              <p:nvPr/>
            </p:nvSpPr>
            <p:spPr>
              <a:xfrm>
                <a:off x="556022" y="4585098"/>
                <a:ext cx="1981200" cy="1524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4DB6991-1019-5F00-8302-0B38D688A62A}"/>
              </a:ext>
            </a:extLst>
          </p:cNvPr>
          <p:cNvSpPr txBox="1"/>
          <p:nvPr/>
        </p:nvSpPr>
        <p:spPr>
          <a:xfrm>
            <a:off x="468000" y="6359224"/>
            <a:ext cx="82072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VS Code</a:t>
            </a:r>
            <a:r>
              <a:rPr kumimoji="1" lang="ja-JP" altLang="en-US" dirty="0"/>
              <a:t>の画面</a:t>
            </a:r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B5FD31B2-78C1-F35E-5775-C74BB02D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259086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bg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92613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28ACC67-CC0F-CD0C-74BC-32762BB7D859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45865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の設定ファイル（</a:t>
              </a:r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setting.json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右上の「設定（</a:t>
              </a:r>
              <a:r>
                <a:rPr kumimoji="1" lang="en-US" altLang="ja-JP" dirty="0"/>
                <a:t>JSON</a:t>
              </a:r>
              <a:r>
                <a:rPr kumimoji="1" lang="ja-JP" altLang="en-US" dirty="0"/>
                <a:t>）を開く」をクリックする．</a:t>
              </a: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2929A771-7E46-6D06-EC6B-BD410BEF6A8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11" name="図 10">
                <a:extLst>
                  <a:ext uri="{FF2B5EF4-FFF2-40B4-BE49-F238E27FC236}">
                    <a16:creationId xmlns:a16="http://schemas.microsoft.com/office/drawing/2014/main" id="{3DD3C8C7-FCE5-0614-9AF3-4E83C8D0E854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3FBC5E8-4C00-07D7-54CC-C3F298B86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350871" y="2351597"/>
                <a:ext cx="180000" cy="18000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ADABCF2-6E18-4E90-E8EA-F3CEAE2A5BE1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6A9777D1-A75F-D542-5988-42E2EF48E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716796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bg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647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922D7E9-064A-1849-F06A-D3F71023C7B4}"/>
              </a:ext>
            </a:extLst>
          </p:cNvPr>
          <p:cNvGrpSpPr/>
          <p:nvPr/>
        </p:nvGrpSpPr>
        <p:grpSpPr>
          <a:xfrm>
            <a:off x="179996" y="1456024"/>
            <a:ext cx="8818325" cy="5272532"/>
            <a:chOff x="179994" y="1080000"/>
            <a:chExt cx="8818325" cy="5272532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45865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VS Code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の設定ファイル（</a:t>
              </a:r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setting.json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3"/>
              </a:pPr>
              <a:r>
                <a:rPr kumimoji="1" lang="ja-JP" altLang="en-US" dirty="0"/>
                <a:t>同封の「</a:t>
              </a:r>
              <a:r>
                <a:rPr kumimoji="1" lang="en-US" altLang="ja-JP" dirty="0"/>
                <a:t>contents_of_json.txt</a:t>
              </a:r>
              <a:r>
                <a:rPr kumimoji="1" lang="ja-JP" altLang="en-US" dirty="0"/>
                <a:t>」の中身をペーストする．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4E79FF8E-AEAA-312F-7164-A6C7274ED0E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665A8DA2-6D80-3FC7-0D2A-091E332454DC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6C51934C-1752-5564-C3BC-2381BD031A16}"/>
                  </a:ext>
                </a:extLst>
              </p:cNvPr>
              <p:cNvSpPr/>
              <p:nvPr/>
            </p:nvSpPr>
            <p:spPr>
              <a:xfrm>
                <a:off x="1678783" y="2566591"/>
                <a:ext cx="6357935" cy="3605609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4570EEC-1EF1-0341-F31B-F5643C5D0CF9}"/>
                </a:ext>
              </a:extLst>
            </p:cNvPr>
            <p:cNvSpPr txBox="1"/>
            <p:nvPr/>
          </p:nvSpPr>
          <p:spPr>
            <a:xfrm>
              <a:off x="468000" y="5983200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VS Code</a:t>
              </a:r>
              <a:r>
                <a:rPr kumimoji="1" lang="ja-JP" altLang="en-US" dirty="0"/>
                <a:t>の画面</a:t>
              </a:r>
            </a:p>
          </p:txBody>
        </p:sp>
      </p:grp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56EABBCB-EEB6-2FA3-AA7E-CBB1D50C1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716796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bg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919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D8853864-1506-EEA9-E0A4-BD099CE595F3}"/>
              </a:ext>
            </a:extLst>
          </p:cNvPr>
          <p:cNvGrpSpPr/>
          <p:nvPr/>
        </p:nvGrpSpPr>
        <p:grpSpPr>
          <a:xfrm>
            <a:off x="179996" y="1456024"/>
            <a:ext cx="8818325" cy="5273364"/>
            <a:chOff x="179994" y="1080000"/>
            <a:chExt cx="8818325" cy="527336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40286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Latex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の設定ファイル（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.</a:t>
              </a:r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latexmkrc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kumimoji="1" lang="ja-JP" altLang="en-US" dirty="0"/>
                <a:t>エクスプローラーを開き，「</a:t>
              </a:r>
              <a:r>
                <a:rPr kumimoji="1" lang="en-US" altLang="ja-JP" dirty="0"/>
                <a:t>%USERPROFILE%</a:t>
              </a:r>
              <a:r>
                <a:rPr kumimoji="1" lang="ja-JP" altLang="en-US" dirty="0"/>
                <a:t>」のディレクトリに移動する．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1A059A2-744C-127F-FA27-368F48C0367D}"/>
                </a:ext>
              </a:extLst>
            </p:cNvPr>
            <p:cNvSpPr txBox="1"/>
            <p:nvPr/>
          </p:nvSpPr>
          <p:spPr>
            <a:xfrm>
              <a:off x="468000" y="5984032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エクスプローラーの画面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3E2D0B1A-AC65-5FE3-C05E-867BB746CA3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grpSp>
            <p:nvGrpSpPr>
              <p:cNvPr id="9" name="グループ化 8">
                <a:extLst>
                  <a:ext uri="{FF2B5EF4-FFF2-40B4-BE49-F238E27FC236}">
                    <a16:creationId xmlns:a16="http://schemas.microsoft.com/office/drawing/2014/main" id="{4920BE7A-A7B8-CF74-D772-F0B8DBB935E6}"/>
                  </a:ext>
                </a:extLst>
              </p:cNvPr>
              <p:cNvGrpSpPr/>
              <p:nvPr/>
            </p:nvGrpSpPr>
            <p:grpSpPr>
              <a:xfrm>
                <a:off x="199800" y="2089468"/>
                <a:ext cx="8744400" cy="4219200"/>
                <a:chOff x="199800" y="2089468"/>
                <a:chExt cx="8744400" cy="4219200"/>
              </a:xfrm>
            </p:grpSpPr>
            <p:pic>
              <p:nvPicPr>
                <p:cNvPr id="14" name="図 13">
                  <a:extLst>
                    <a:ext uri="{FF2B5EF4-FFF2-40B4-BE49-F238E27FC236}">
                      <a16:creationId xmlns:a16="http://schemas.microsoft.com/office/drawing/2014/main" id="{CB430C8F-99C4-DA19-F7C4-51D6FCBFE8FC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99800" y="2089468"/>
                  <a:ext cx="8744400" cy="4219200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sp>
              <p:nvSpPr>
                <p:cNvPr id="8" name="正方形/長方形 7">
                  <a:extLst>
                    <a:ext uri="{FF2B5EF4-FFF2-40B4-BE49-F238E27FC236}">
                      <a16:creationId xmlns:a16="http://schemas.microsoft.com/office/drawing/2014/main" id="{0B8AF073-4B46-EEB7-EF86-BB795366BD08}"/>
                    </a:ext>
                  </a:extLst>
                </p:cNvPr>
                <p:cNvSpPr/>
                <p:nvPr/>
              </p:nvSpPr>
              <p:spPr>
                <a:xfrm>
                  <a:off x="8039325" y="6172200"/>
                  <a:ext cx="904875" cy="136468"/>
                </a:xfrm>
                <a:prstGeom prst="rect">
                  <a:avLst/>
                </a:prstGeom>
                <a:solidFill>
                  <a:srgbClr val="1C1C1C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endParaRPr kumimoji="1" lang="ja-JP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29277E75-C0D7-7824-1FAD-8B32065D4C7E}"/>
                  </a:ext>
                </a:extLst>
              </p:cNvPr>
              <p:cNvSpPr/>
              <p:nvPr/>
            </p:nvSpPr>
            <p:spPr>
              <a:xfrm>
                <a:off x="1591153" y="2399122"/>
                <a:ext cx="5114447" cy="22120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2F1ADC97-E380-EE39-32CF-A428CCC3C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058190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bg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868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0539AA-67C9-D2FA-FE13-C1C185A63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Visual Studio Code</a:t>
            </a:r>
            <a:r>
              <a:rPr kumimoji="1" lang="ja-JP" altLang="en-US" dirty="0"/>
              <a:t>のインストール・設定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4BB639-CC15-E9B5-EA93-8B0C9CF38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452C4-8698-4E85-B10D-B1C82E19C109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4D492-DF06-9D00-D0C9-3078ED441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D5AC6FF-AB75-459C-3C22-7F830853B8AA}"/>
              </a:ext>
            </a:extLst>
          </p:cNvPr>
          <p:cNvGrpSpPr/>
          <p:nvPr/>
        </p:nvGrpSpPr>
        <p:grpSpPr>
          <a:xfrm>
            <a:off x="179996" y="1456024"/>
            <a:ext cx="8818325" cy="5273364"/>
            <a:chOff x="179994" y="1080000"/>
            <a:chExt cx="8818325" cy="5273364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2A87EA49-7E8F-F0B5-B43C-62543291B4E7}"/>
                </a:ext>
              </a:extLst>
            </p:cNvPr>
            <p:cNvSpPr/>
            <p:nvPr/>
          </p:nvSpPr>
          <p:spPr>
            <a:xfrm>
              <a:off x="179995" y="1080000"/>
              <a:ext cx="216817" cy="432000"/>
            </a:xfrm>
            <a:prstGeom prst="rect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ja-JP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54CFC4D-7109-2753-A2AC-DD52F7AE393B}"/>
                </a:ext>
              </a:extLst>
            </p:cNvPr>
            <p:cNvSpPr txBox="1"/>
            <p:nvPr/>
          </p:nvSpPr>
          <p:spPr>
            <a:xfrm>
              <a:off x="396812" y="1095945"/>
              <a:ext cx="40286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1"/>
                  </a:solidFill>
                </a:rPr>
                <a:t>Latex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の設定ファイル（</a:t>
              </a:r>
              <a:r>
                <a:rPr kumimoji="1" lang="en-US" altLang="ja-JP" sz="2000" b="1" dirty="0">
                  <a:solidFill>
                    <a:schemeClr val="accent1"/>
                  </a:solidFill>
                </a:rPr>
                <a:t>.</a:t>
              </a:r>
              <a:r>
                <a:rPr kumimoji="1" lang="en-US" altLang="ja-JP" sz="2000" b="1" dirty="0" err="1">
                  <a:solidFill>
                    <a:schemeClr val="accent1"/>
                  </a:solidFill>
                </a:rPr>
                <a:t>latexmkrc</a:t>
              </a:r>
              <a:r>
                <a:rPr kumimoji="1" lang="ja-JP" altLang="en-US" sz="2000" b="1" dirty="0">
                  <a:solidFill>
                    <a:schemeClr val="accent1"/>
                  </a:solidFill>
                </a:rPr>
                <a:t>）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D325594-BD6A-86A1-89E4-D67DC19F5D55}"/>
                </a:ext>
              </a:extLst>
            </p:cNvPr>
            <p:cNvSpPr txBox="1"/>
            <p:nvPr/>
          </p:nvSpPr>
          <p:spPr>
            <a:xfrm>
              <a:off x="179994" y="1517301"/>
              <a:ext cx="88183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kumimoji="1" lang="ja-JP" altLang="en-US" dirty="0"/>
                <a:t>同封の「</a:t>
              </a:r>
              <a:r>
                <a:rPr kumimoji="1" lang="en-US" altLang="ja-JP" dirty="0"/>
                <a:t>.</a:t>
              </a:r>
              <a:r>
                <a:rPr kumimoji="1" lang="en-US" altLang="ja-JP" dirty="0" err="1"/>
                <a:t>latexmkrc</a:t>
              </a:r>
              <a:r>
                <a:rPr kumimoji="1" lang="ja-JP" altLang="en-US" dirty="0"/>
                <a:t>」ファイルをディレクトリに置く．</a:t>
              </a:r>
            </a:p>
          </p:txBody>
        </p: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F8BA35ED-DFC4-2DF7-E8DF-A426B182DA4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68000" y="2023200"/>
              <a:ext cx="8207201" cy="3960000"/>
              <a:chOff x="199800" y="2089468"/>
              <a:chExt cx="8744400" cy="4219200"/>
            </a:xfrm>
          </p:grpSpPr>
          <p:pic>
            <p:nvPicPr>
              <p:cNvPr id="9" name="図 8">
                <a:extLst>
                  <a:ext uri="{FF2B5EF4-FFF2-40B4-BE49-F238E27FC236}">
                    <a16:creationId xmlns:a16="http://schemas.microsoft.com/office/drawing/2014/main" id="{EC1A24A2-FDEA-5066-3F59-402CA4E97B6F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9800" y="2089468"/>
                <a:ext cx="8744400" cy="421920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8" name="正方形/長方形 7">
                <a:extLst>
                  <a:ext uri="{FF2B5EF4-FFF2-40B4-BE49-F238E27FC236}">
                    <a16:creationId xmlns:a16="http://schemas.microsoft.com/office/drawing/2014/main" id="{7E5D58BE-74C6-4324-A8CC-06E15E99E102}"/>
                  </a:ext>
                </a:extLst>
              </p:cNvPr>
              <p:cNvSpPr/>
              <p:nvPr/>
            </p:nvSpPr>
            <p:spPr>
              <a:xfrm>
                <a:off x="1863724" y="5948067"/>
                <a:ext cx="4616451" cy="221206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kumimoji="1" lang="ja-JP" altLang="en-US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4CC792C1-ACC3-777A-43EA-70EFC7529F21}"/>
                </a:ext>
              </a:extLst>
            </p:cNvPr>
            <p:cNvSpPr txBox="1"/>
            <p:nvPr/>
          </p:nvSpPr>
          <p:spPr>
            <a:xfrm>
              <a:off x="468000" y="5984032"/>
              <a:ext cx="82072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dirty="0"/>
                <a:t>エクスプローラーの画面</a:t>
              </a:r>
            </a:p>
          </p:txBody>
        </p:sp>
      </p:grp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327C4F95-145B-89E3-B4E7-4E78EE8B6A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495693"/>
              </p:ext>
            </p:extLst>
          </p:nvPr>
        </p:nvGraphicFramePr>
        <p:xfrm>
          <a:off x="0" y="901991"/>
          <a:ext cx="9144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78638311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20815121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1381926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41888436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81470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1.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ダウンロード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2. 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言語設定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3. LaTeX</a:t>
                      </a:r>
                      <a:r>
                        <a:rPr kumimoji="1" lang="ja-JP" altLang="en-US" sz="1600" b="0" dirty="0">
                          <a:solidFill>
                            <a:schemeClr val="accent1"/>
                          </a:solidFill>
                        </a:rPr>
                        <a:t>拡張機能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accent1"/>
                          </a:solidFill>
                        </a:rPr>
                        <a:t>4. </a:t>
                      </a:r>
                      <a:r>
                        <a:rPr kumimoji="1" lang="en-US" altLang="ja-JP" sz="1600" b="0" dirty="0" err="1">
                          <a:solidFill>
                            <a:schemeClr val="accent1"/>
                          </a:solidFill>
                        </a:rPr>
                        <a:t>setting.json</a:t>
                      </a:r>
                      <a:endParaRPr kumimoji="1" lang="ja-JP" altLang="en-US" sz="1600" b="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solidFill>
                            <a:schemeClr val="bg1"/>
                          </a:solidFill>
                        </a:rPr>
                        <a:t>5. .</a:t>
                      </a:r>
                      <a:r>
                        <a:rPr kumimoji="1" lang="en-US" altLang="ja-JP" sz="1600" b="0" dirty="0" err="1">
                          <a:solidFill>
                            <a:schemeClr val="bg1"/>
                          </a:solidFill>
                        </a:rPr>
                        <a:t>latexmkrc</a:t>
                      </a:r>
                      <a:endParaRPr kumimoji="1" lang="ja-JP" alt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505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5283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600"/>
  <p:tag name="ORIGINALHEIGHT" val="186.7761"/>
  <p:tag name="ORIGINALWIDTH" val="972.1357"/>
  <p:tag name="LATEXADDIN" val="\documentclass{article}&#10;\usepackage{amsmath}&#10;\pagestyle{empty}&#10;\begin{document}&#10;\begin{align}&#10;\phi(r_{ij})=4\varepsilon_{ij}\left\{\left(\frac{\sigma_{ij}}{r_{ij}}\right)^{12}-\left(\frac{\sigma_{ij}}{r_{ij}}\right)^6\right\}&#10;\nonumber&#10;\end{align}&#10;\end{document}"/>
  <p:tag name="IGUANATEXSIZE" val="18"/>
  <p:tag name="IGUANATEXCURSOR" val="206"/>
  <p:tag name="TRANSPARENCY" val="True"/>
  <p:tag name="LATEXENGINEID" val="4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テーマ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0E6A9E"/>
      </a:accent2>
      <a:accent3>
        <a:srgbClr val="DEEBF7"/>
      </a:accent3>
      <a:accent4>
        <a:srgbClr val="1F77B4"/>
      </a:accent4>
      <a:accent5>
        <a:srgbClr val="FF7F0E"/>
      </a:accent5>
      <a:accent6>
        <a:srgbClr val="2CA02C"/>
      </a:accent6>
      <a:hlink>
        <a:srgbClr val="0070C0"/>
      </a:hlink>
      <a:folHlink>
        <a:srgbClr val="0070C0"/>
      </a:folHlink>
    </a:clrScheme>
    <a:fontScheme name="ユーザー定義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25400">
          <a:noFill/>
        </a:ln>
      </a:spPr>
      <a:bodyPr rtlCol="0" anchor="ctr"/>
      <a:lstStyle>
        <a:defPPr algn="l">
          <a:defRPr kumimoji="1" sz="2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15956</TotalTime>
  <Words>1590</Words>
  <Application>Microsoft Office PowerPoint</Application>
  <PresentationFormat>画面に合わせる (4:3)</PresentationFormat>
  <Paragraphs>264</Paragraphs>
  <Slides>28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1" baseType="lpstr">
      <vt:lpstr>游ゴシック</vt:lpstr>
      <vt:lpstr>Arial</vt:lpstr>
      <vt:lpstr>Office テーマ</vt:lpstr>
      <vt:lpstr>LaTeXのインストールとイントロダクション</vt:lpstr>
      <vt:lpstr>PowerPoint プレゼンテーション</vt:lpstr>
      <vt:lpstr>PowerPoint プレゼンテーション</vt:lpstr>
      <vt:lpstr>はじめに</vt:lpstr>
      <vt:lpstr>PowerPoint プレゼンテーション</vt:lpstr>
      <vt:lpstr>TeX Liveのインストール</vt:lpstr>
      <vt:lpstr>TeX Liveのインストール</vt:lpstr>
      <vt:lpstr>TeX Liveのインストール</vt:lpstr>
      <vt:lpstr>TeX Liveのインストール</vt:lpstr>
      <vt:lpstr>TeX Liveのインストール</vt:lpstr>
      <vt:lpstr>TeX Liveのインストール</vt:lpstr>
      <vt:lpstr>TeX Liveのインストール</vt:lpstr>
      <vt:lpstr>TeX Liveのインストール</vt:lpstr>
      <vt:lpstr>PowerPoint プレゼンテーション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  <vt:lpstr>Visual Studio Codeのインストール・設定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深層学習を用いた 気泡噴流音の検知に関する研究</dc:title>
  <dc:creator>三上 奈生</dc:creator>
  <cp:lastModifiedBy>奈生 三上</cp:lastModifiedBy>
  <cp:revision>1107</cp:revision>
  <dcterms:created xsi:type="dcterms:W3CDTF">2022-02-03T13:12:19Z</dcterms:created>
  <dcterms:modified xsi:type="dcterms:W3CDTF">2023-10-16T10:17:45Z</dcterms:modified>
</cp:coreProperties>
</file>