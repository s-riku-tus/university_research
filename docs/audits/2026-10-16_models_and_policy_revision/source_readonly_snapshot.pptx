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6"/>
  </p:notesMasterIdLst>
  <p:sldIdLst>
    <p:sldId id="399" r:id="rId2"/>
    <p:sldId id="501" r:id="rId3"/>
    <p:sldId id="516" r:id="rId4"/>
    <p:sldId id="401" r:id="rId5"/>
    <p:sldId id="402" r:id="rId6"/>
    <p:sldId id="403" r:id="rId7"/>
    <p:sldId id="517" r:id="rId8"/>
    <p:sldId id="404" r:id="rId9"/>
    <p:sldId id="518" r:id="rId10"/>
    <p:sldId id="406" r:id="rId11"/>
    <p:sldId id="407" r:id="rId12"/>
    <p:sldId id="519" r:id="rId13"/>
    <p:sldId id="408" r:id="rId14"/>
    <p:sldId id="515" r:id="rId15"/>
  </p:sldIdLst>
  <p:sldSz cx="18288000" cy="10287000"/>
  <p:notesSz cx="6858000" cy="9144000"/>
  <p:embeddedFontLst>
    <p:embeddedFont>
      <p:font typeface="Source Han Sans JP" panose="020B0600070205080204" charset="-128"/>
      <p:regular r:id="rId17"/>
    </p:embeddedFont>
    <p:embeddedFont>
      <p:font typeface="Source Han Sans JP Bold" panose="020B0600070205080204" charset="-128"/>
      <p:regular r:id="rId18"/>
    </p:embeddedFont>
    <p:embeddedFont>
      <p:font typeface="Century Gothic Paneuropean" panose="020B0600070205080204" charset="0"/>
      <p:regular r:id="rId19"/>
    </p:embeddedFont>
    <p:embeddedFont>
      <p:font typeface="游ゴシック" panose="020B0400000000000000" pitchFamily="50" charset="-128"/>
      <p:regular r:id="rId20"/>
      <p:bold r:id="rId21"/>
    </p:embeddedFont>
    <p:embeddedFont>
      <p:font typeface="游ゴシック" panose="020B0400000000000000" pitchFamily="50" charset="-128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1F1"/>
    <a:srgbClr val="BED8D7"/>
    <a:srgbClr val="B3D1D0"/>
    <a:srgbClr val="91BDBC"/>
    <a:srgbClr val="61A3A1"/>
    <a:srgbClr val="95C1C0"/>
    <a:srgbClr val="FFFFFF"/>
    <a:srgbClr val="849A9A"/>
    <a:srgbClr val="AACECD"/>
    <a:srgbClr val="ABC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1DD41C-0630-45D5-9049-54DFDE666A7F}" v="83" dt="2026-05-22T00:42:41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74696" autoAdjust="0"/>
  </p:normalViewPr>
  <p:slideViewPr>
    <p:cSldViewPr>
      <p:cViewPr varScale="1">
        <p:scale>
          <a:sx n="50" d="100"/>
          <a:sy n="50" d="100"/>
        </p:scale>
        <p:origin x="30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370"/>
    </p:cViewPr>
  </p:sorterViewPr>
  <p:notesViewPr>
    <p:cSldViewPr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9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481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35141-B1DA-4BCF-9AAA-97947E23424F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8189-7185-406F-AF7C-BED606B3670B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1697-F5F8-4170-8723-96F9EA86E2DC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BFD-D654-4967-8B61-A3494FDAD3C3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7437-43BB-4691-A20F-B3DC80928B9C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B0C1-09DA-4824-A9FE-04B648356115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9CF7-FBD3-43A8-86EA-1BFF241249A7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9715500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3CE7-97B2-48B0-AAAA-F59DB167F20C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D9E0-6A31-47E1-86F8-E8D32905AA5C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8458-117C-445C-93D2-58146BCC020C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8477-63A2-4B58-B832-4FD9CBB3DB7F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46D91-97FF-446E-BDC2-075A4D5370E6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61199"/>
            <a:ext cx="620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495300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26627" y="4242220"/>
            <a:ext cx="1385473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アンサンブル学習に基づく音響識別による</a:t>
            </a:r>
            <a:endParaRPr lang="en-US" altLang="ja-JP" sz="40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  <a:p>
            <a:pPr algn="ctr"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プール沸騰の発生検知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/>
              <a:t>植木研究室　　</a:t>
            </a:r>
            <a:r>
              <a:rPr lang="ja-JP" altLang="en-US" sz="4000" dirty="0">
                <a:solidFill>
                  <a:srgbClr val="292B2B"/>
                </a:solidFill>
                <a:latin typeface="+mj-ea"/>
                <a:ea typeface="+mj-ea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+mj-ea"/>
              <a:ea typeface="+mj-ea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49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2026年10月16日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645596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D73F52F-7EA5-9483-9209-847FF85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B2D46370-B0AA-E6EF-7D69-27BC452AE345}"/>
              </a:ext>
            </a:extLst>
          </p:cNvPr>
          <p:cNvSpPr txBox="1"/>
          <p:nvPr/>
        </p:nvSpPr>
        <p:spPr>
          <a:xfrm>
            <a:off x="2111859" y="2538384"/>
            <a:ext cx="1385473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研究進捗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</p:spTree>
    <p:extLst>
      <p:ext uri="{BB962C8B-B14F-4D97-AF65-F5344CB8AC3E}">
        <p14:creationId xmlns:p14="http://schemas.microsoft.com/office/powerpoint/2010/main" val="842676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78CC8-D48C-2743-BDF1-ECD66C65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CEE746A5-2EA0-7091-CE1B-4CA2830713A6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70958775-508E-6262-548A-C76F63D77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41BA4E38-AE3E-68EF-51D9-A344EE59086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0152DED0-19F6-05C3-C9FF-989B1429AF0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BA6EA534-61D8-686C-86C9-B0FDB6111F9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CECFB917-CF11-0A3B-8B44-C670007A018C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91A2E58B-D56D-16D3-4661-BA3BBA74542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31378A26-691B-21D8-F51A-2BCE6659850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B26AAB03-99EC-2423-EABE-926D29D0C8F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29867762-ABD7-CC40-7E63-B819E3C692C8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7C70FADF-E307-0A92-9A76-AA2A20A2C00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11692D9C-3C53-381D-F3A1-3F5EFE102AA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2F474822-BEB2-EBEC-7A2F-017173F3CC9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98FB6128-7B40-96C8-A76A-6673F6DB3B7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20FB272E-47CE-4D63-AC8D-B52F20BC8A7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86641A16-74EF-B03F-FD0C-9EDF72B6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482A15FD-BC4A-9198-CEDF-1767C02D8C29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今回の発表内容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7244F5-E118-40AC-BF88-DDF28BFD2529}"/>
              </a:ext>
            </a:extLst>
          </p:cNvPr>
          <p:cNvSpPr txBox="1"/>
          <p:nvPr/>
        </p:nvSpPr>
        <p:spPr>
          <a:xfrm>
            <a:off x="3708400" y="4457700"/>
            <a:ext cx="1143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01
02
03</a:t>
            </a:r>
          </a:p>
          <a:p>
            <a:pPr algn="l"/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04</a:t>
            </a:r>
            <a:endParaRPr lang="ja-JP" altLang="en-US" sz="4400" dirty="0">
              <a:solidFill>
                <a:srgbClr val="202020"/>
              </a:solidFill>
              <a:latin typeface="Yu Gothic"/>
              <a:ea typeface="Yu Gothic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089934-D289-4A29-82F5-A8B268DA4E80}"/>
              </a:ext>
            </a:extLst>
          </p:cNvPr>
          <p:cNvSpPr txBox="1"/>
          <p:nvPr/>
        </p:nvSpPr>
        <p:spPr>
          <a:xfrm>
            <a:off x="5105400" y="4457700"/>
            <a:ext cx="10795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研究概要と雑音評価方法</a:t>
            </a:r>
          </a:p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熱流束回帰の結果</a:t>
            </a:r>
            <a:endParaRPr lang="en-US" altLang="ja-JP" sz="4400" b="1" dirty="0">
              <a:solidFill>
                <a:srgbClr val="20202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統合の働きと説明性</a:t>
            </a:r>
          </a:p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修士論文の構成と後期計画</a:t>
            </a:r>
          </a:p>
        </p:txBody>
      </p:sp>
    </p:spTree>
    <p:extLst>
      <p:ext uri="{BB962C8B-B14F-4D97-AF65-F5344CB8AC3E}">
        <p14:creationId xmlns:p14="http://schemas.microsoft.com/office/powerpoint/2010/main" val="3263072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C1750-AAE9-D4CC-C481-7291AFB72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0E73D87A-739E-46B9-55EE-4E9616948C3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5ADEF922-30DF-8AFB-9D42-9F4383A08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8FB4827B-41EF-5E8C-712A-B6DDB500C73B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B30773B7-BCE2-5CBE-0459-69DDD4EED14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AA9CFC40-D5E4-16DF-B3F2-C3A0419D5CD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7E178B25-EB19-F03C-3C25-4FF2817E66C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295E2504-70EE-E43C-DF2E-73F674B62763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AE592E99-81C8-2605-D20F-DC8B265D552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886215D5-4CE8-A004-5E5F-E2707501F2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625A59E6-E6B9-8733-3878-6A392EFAD6E9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5626A510-D6A4-F7B2-E05E-6DA01A2966A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C793E65A-069A-DA67-6161-E7326977684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64B4F56C-51F4-99F1-70F6-D589DB2F7EB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3B668000-DD8E-9517-FDCA-23D48C5B44F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4EFDE0C4-F1A1-8F9E-BBE8-0F7B413917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DAB83AB8-8AC5-D5C8-856C-0ECEDF81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3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07C3EF8-FFCF-F71B-5C94-07C36AB8E3E0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今回の発表内容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360F75-839E-A918-230E-2B6671D6F999}"/>
              </a:ext>
            </a:extLst>
          </p:cNvPr>
          <p:cNvSpPr txBox="1"/>
          <p:nvPr/>
        </p:nvSpPr>
        <p:spPr>
          <a:xfrm>
            <a:off x="3708400" y="4457700"/>
            <a:ext cx="1143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01
</a:t>
            </a:r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02
03</a:t>
            </a:r>
          </a:p>
          <a:p>
            <a:pPr algn="l"/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04</a:t>
            </a:r>
            <a:endParaRPr lang="ja-JP" altLang="en-US" sz="4400" dirty="0">
              <a:solidFill>
                <a:schemeClr val="bg1">
                  <a:lumMod val="95000"/>
                </a:schemeClr>
              </a:solidFill>
              <a:latin typeface="Yu Gothic"/>
              <a:ea typeface="Yu Gothic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100A382-4E10-40AC-6C06-3A335B2EE9FC}"/>
              </a:ext>
            </a:extLst>
          </p:cNvPr>
          <p:cNvSpPr txBox="1"/>
          <p:nvPr/>
        </p:nvSpPr>
        <p:spPr>
          <a:xfrm>
            <a:off x="5105400" y="4457700"/>
            <a:ext cx="10795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研究概要と雑音評価方法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熱流束回帰の結果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統合の働きと説明性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修士論文の構成と後期計画</a:t>
            </a:r>
          </a:p>
        </p:txBody>
      </p:sp>
    </p:spTree>
    <p:extLst>
      <p:ext uri="{BB962C8B-B14F-4D97-AF65-F5344CB8AC3E}">
        <p14:creationId xmlns:p14="http://schemas.microsoft.com/office/powerpoint/2010/main" val="46530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沸騰</a:t>
            </a:r>
            <a:r>
              <a:rPr lang="en-US" altLang="ja-JP" sz="3200" b="1" dirty="0">
                <a:solidFill>
                  <a:srgbClr val="202427"/>
                </a:solidFill>
                <a:latin typeface="Yu Gothic"/>
              </a:rPr>
              <a:t>-</a:t>
            </a: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未沸騰</a:t>
            </a:r>
            <a:r>
              <a:rPr sz="3200" b="1" dirty="0" err="1">
                <a:solidFill>
                  <a:srgbClr val="202427"/>
                </a:solidFill>
                <a:latin typeface="Yu Gothic"/>
              </a:rPr>
              <a:t>音響から熱流束・核沸騰開始</a:t>
            </a: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点</a:t>
            </a:r>
            <a:r>
              <a:rPr sz="3200" b="1" dirty="0">
                <a:solidFill>
                  <a:srgbClr val="202427"/>
                </a:solidFill>
                <a:latin typeface="Yu Gothic"/>
              </a:rPr>
              <a:t>（</a:t>
            </a:r>
            <a:r>
              <a:rPr sz="3200" b="1" dirty="0" err="1">
                <a:solidFill>
                  <a:srgbClr val="202427"/>
                </a:solidFill>
                <a:latin typeface="Yu Gothic"/>
              </a:rPr>
              <a:t>ONB）を推定し</a:t>
            </a:r>
            <a:r>
              <a:rPr sz="3200" b="1" dirty="0">
                <a:solidFill>
                  <a:srgbClr val="202427"/>
                </a:solidFill>
                <a:latin typeface="Yu Gothic"/>
              </a:rPr>
              <a:t>，</a:t>
            </a: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アンサンブル</a:t>
            </a:r>
            <a:r>
              <a:rPr sz="3200" b="1" dirty="0" err="1">
                <a:solidFill>
                  <a:srgbClr val="202427"/>
                </a:solidFill>
                <a:latin typeface="Yu Gothic"/>
              </a:rPr>
              <a:t>効果を</a:t>
            </a: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ノイズ</a:t>
            </a:r>
            <a:r>
              <a:rPr sz="3200" b="1" dirty="0" err="1">
                <a:solidFill>
                  <a:srgbClr val="202427"/>
                </a:solidFill>
                <a:latin typeface="Yu Gothic"/>
              </a:rPr>
              <a:t>下で調べる</a:t>
            </a:r>
            <a:endParaRPr sz="3200" b="1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20" name="PIPELINE_1"/>
          <p:cNvSpPr/>
          <p:nvPr/>
        </p:nvSpPr>
        <p:spPr>
          <a:xfrm>
            <a:off x="1512000" y="3690000"/>
            <a:ext cx="2628000" cy="2232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IPELINE_1_TITLE"/>
          <p:cNvSpPr txBox="1"/>
          <p:nvPr/>
        </p:nvSpPr>
        <p:spPr>
          <a:xfrm>
            <a:off x="1576800" y="4050000"/>
            <a:ext cx="2498400" cy="72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6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音響録音</a:t>
            </a:r>
          </a:p>
        </p:txBody>
      </p:sp>
      <p:sp>
        <p:nvSpPr>
          <p:cNvPr id="22" name="PIPELINE_1_BODY"/>
          <p:cNvSpPr txBox="1"/>
          <p:nvPr/>
        </p:nvSpPr>
        <p:spPr>
          <a:xfrm>
            <a:off x="1566000" y="5040000"/>
            <a:ext cx="2520000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300" b="0">
                <a:solidFill>
                  <a:srgbClr val="202427"/>
                </a:solidFill>
                <a:latin typeface="Yu Gothic"/>
                <a:ea typeface="Yu Gothic"/>
                <a:cs typeface="Yu Gothic"/>
              </a:rPr>
              <a:t>1秒区間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194000" y="4554000"/>
            <a:ext cx="251999" cy="306000"/>
          </a:xfrm>
          <a:prstGeom prst="rightArrow">
            <a:avLst/>
          </a:prstGeom>
          <a:solidFill>
            <a:srgbClr val="63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IPELINE_2"/>
          <p:cNvSpPr/>
          <p:nvPr/>
        </p:nvSpPr>
        <p:spPr>
          <a:xfrm>
            <a:off x="4500000" y="3690000"/>
            <a:ext cx="3096000" cy="2232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IPELINE_2_TITLE"/>
          <p:cNvSpPr txBox="1"/>
          <p:nvPr/>
        </p:nvSpPr>
        <p:spPr>
          <a:xfrm>
            <a:off x="4564800" y="4050000"/>
            <a:ext cx="2966400" cy="72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6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スペクトログラム</a:t>
            </a:r>
          </a:p>
        </p:txBody>
      </p:sp>
      <p:sp>
        <p:nvSpPr>
          <p:cNvPr id="26" name="PIPELINE_2_BODY"/>
          <p:cNvSpPr txBox="1"/>
          <p:nvPr/>
        </p:nvSpPr>
        <p:spPr>
          <a:xfrm>
            <a:off x="4554000" y="5040000"/>
            <a:ext cx="2987999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02427"/>
                </a:solidFill>
                <a:latin typeface="Yu Gothic"/>
              </a:rPr>
              <a:t>画像・周波数別の特徴</a:t>
            </a:r>
            <a:endParaRPr sz="2300" b="0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7650000" y="4554000"/>
            <a:ext cx="251999" cy="306000"/>
          </a:xfrm>
          <a:prstGeom prst="rightArrow">
            <a:avLst/>
          </a:prstGeom>
          <a:solidFill>
            <a:srgbClr val="63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IPELINE_3"/>
          <p:cNvSpPr/>
          <p:nvPr/>
        </p:nvSpPr>
        <p:spPr>
          <a:xfrm>
            <a:off x="7956000" y="3690000"/>
            <a:ext cx="3420000" cy="2232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PIPELINE_3_TITLE"/>
          <p:cNvSpPr txBox="1"/>
          <p:nvPr/>
        </p:nvSpPr>
        <p:spPr>
          <a:xfrm>
            <a:off x="8020800" y="4050000"/>
            <a:ext cx="3290400" cy="72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F6F73"/>
                </a:solidFill>
                <a:latin typeface="Yu Gothic"/>
              </a:rPr>
              <a:t>複数モデル</a:t>
            </a:r>
          </a:p>
        </p:txBody>
      </p:sp>
      <p:sp>
        <p:nvSpPr>
          <p:cNvPr id="30" name="PIPELINE_3_BODY"/>
          <p:cNvSpPr txBox="1"/>
          <p:nvPr/>
        </p:nvSpPr>
        <p:spPr>
          <a:xfrm>
            <a:off x="8010000" y="5040000"/>
            <a:ext cx="3311999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02427"/>
                </a:solidFill>
                <a:latin typeface="Yu Gothic"/>
              </a:rPr>
              <a:t>予測を重み付き平均</a:t>
            </a:r>
            <a:endParaRPr sz="2300" b="0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11430000" y="4554000"/>
            <a:ext cx="251999" cy="306000"/>
          </a:xfrm>
          <a:prstGeom prst="rightArrow">
            <a:avLst/>
          </a:prstGeom>
          <a:solidFill>
            <a:srgbClr val="63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IPELINE_4"/>
          <p:cNvSpPr/>
          <p:nvPr/>
        </p:nvSpPr>
        <p:spPr>
          <a:xfrm>
            <a:off x="11736000" y="3690000"/>
            <a:ext cx="2520000" cy="2232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IPELINE_4_TITLE"/>
          <p:cNvSpPr txBox="1"/>
          <p:nvPr/>
        </p:nvSpPr>
        <p:spPr>
          <a:xfrm>
            <a:off x="11800800" y="4050000"/>
            <a:ext cx="2390400" cy="72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6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熱流束</a:t>
            </a:r>
          </a:p>
        </p:txBody>
      </p:sp>
      <p:sp>
        <p:nvSpPr>
          <p:cNvPr id="34" name="PIPELINE_4_BODY"/>
          <p:cNvSpPr txBox="1"/>
          <p:nvPr/>
        </p:nvSpPr>
        <p:spPr>
          <a:xfrm>
            <a:off x="11790000" y="5040000"/>
            <a:ext cx="2412000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300" b="0" dirty="0">
                <a:solidFill>
                  <a:srgbClr val="202427"/>
                </a:solidFill>
                <a:latin typeface="Yu Gothic"/>
                <a:ea typeface="Yu Gothic"/>
                <a:cs typeface="Yu Gothic"/>
              </a:rPr>
              <a:t>予測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4310000" y="4554000"/>
            <a:ext cx="251999" cy="306000"/>
          </a:xfrm>
          <a:prstGeom prst="rightArrow">
            <a:avLst/>
          </a:prstGeom>
          <a:solidFill>
            <a:srgbClr val="63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IPELINE_5"/>
          <p:cNvSpPr/>
          <p:nvPr/>
        </p:nvSpPr>
        <p:spPr>
          <a:xfrm>
            <a:off x="14616000" y="3690000"/>
            <a:ext cx="2592000" cy="2232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IPELINE_5_TITLE"/>
          <p:cNvSpPr txBox="1"/>
          <p:nvPr/>
        </p:nvSpPr>
        <p:spPr>
          <a:xfrm>
            <a:off x="14680800" y="4050000"/>
            <a:ext cx="2462400" cy="72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F6F73"/>
                </a:solidFill>
                <a:latin typeface="Yu Gothic"/>
              </a:rPr>
              <a:t>核沸騰開始</a:t>
            </a:r>
          </a:p>
        </p:txBody>
      </p:sp>
      <p:sp>
        <p:nvSpPr>
          <p:cNvPr id="38" name="PIPELINE_5_BODY"/>
          <p:cNvSpPr txBox="1"/>
          <p:nvPr/>
        </p:nvSpPr>
        <p:spPr>
          <a:xfrm>
            <a:off x="14670000" y="5040000"/>
            <a:ext cx="2484000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>
                <a:solidFill>
                  <a:srgbClr val="202427"/>
                </a:solidFill>
                <a:latin typeface="Yu Gothic"/>
              </a:rPr>
              <a:t>（</a:t>
            </a:r>
            <a:r>
              <a:rPr sz="2300" b="0" dirty="0" err="1">
                <a:solidFill>
                  <a:srgbClr val="202427"/>
                </a:solidFill>
                <a:latin typeface="Yu Gothic"/>
              </a:rPr>
              <a:t>ONB）判定</a:t>
            </a:r>
            <a:endParaRPr sz="2300" b="0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39" name="EVALUATION_TITLE"/>
          <p:cNvSpPr txBox="1"/>
          <p:nvPr/>
        </p:nvSpPr>
        <p:spPr>
          <a:xfrm>
            <a:off x="1602000" y="7002000"/>
            <a:ext cx="4320000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確認する点</a:t>
            </a:r>
          </a:p>
        </p:txBody>
      </p:sp>
      <p:sp>
        <p:nvSpPr>
          <p:cNvPr id="40" name="EVALUATION_BODY"/>
          <p:cNvSpPr txBox="1"/>
          <p:nvPr/>
        </p:nvSpPr>
        <p:spPr>
          <a:xfrm>
            <a:off x="1602000" y="7686000"/>
            <a:ext cx="15732000" cy="63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ja-JP" altLang="en-US" sz="2800" dirty="0">
                <a:solidFill>
                  <a:srgbClr val="202427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予測精度 ／ </a:t>
            </a:r>
            <a:r>
              <a:rPr sz="2800" b="0" dirty="0" err="1">
                <a:solidFill>
                  <a:srgbClr val="202427"/>
                </a:solidFill>
                <a:latin typeface="Yu Gothic"/>
              </a:rPr>
              <a:t>予測誤差</a:t>
            </a:r>
            <a:r>
              <a:rPr sz="2800" b="0" dirty="0">
                <a:solidFill>
                  <a:srgbClr val="202427"/>
                </a:solidFill>
                <a:latin typeface="Yu Gothic"/>
              </a:rPr>
              <a:t> ／ </a:t>
            </a:r>
            <a:r>
              <a:rPr lang="ja-JP" altLang="en-US" sz="2800" dirty="0">
                <a:solidFill>
                  <a:srgbClr val="202427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説明性による</a:t>
            </a:r>
            <a:r>
              <a:rPr sz="2800" b="0" dirty="0" err="1">
                <a:solidFill>
                  <a:srgbClr val="202427"/>
                </a:solidFill>
                <a:latin typeface="Yu Gothic"/>
              </a:rPr>
              <a:t>各モデルが利用する特徴と誤り方</a:t>
            </a:r>
            <a:endParaRPr sz="2800" b="0" dirty="0">
              <a:solidFill>
                <a:srgbClr val="202427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1" name="QUESTION_background"/>
          <p:cNvSpPr/>
          <p:nvPr/>
        </p:nvSpPr>
        <p:spPr>
          <a:xfrm>
            <a:off x="1512000" y="8640000"/>
            <a:ext cx="15912000" cy="648000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QUESTION"/>
          <p:cNvSpPr txBox="1"/>
          <p:nvPr/>
        </p:nvSpPr>
        <p:spPr>
          <a:xfrm>
            <a:off x="1620000" y="8658000"/>
            <a:ext cx="15696000" cy="61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2F6F73"/>
                </a:solidFill>
                <a:latin typeface="Yu Gothic"/>
              </a:rPr>
              <a:t>どの性能が改善し，どの条件では改善しないかを明らかにする</a:t>
            </a:r>
            <a:endParaRPr sz="2500" b="1" dirty="0">
              <a:solidFill>
                <a:srgbClr val="2F6F73"/>
              </a:solidFill>
              <a:latin typeface="Yu Gothic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401221E2-A7B7-E444-77C5-E89DF6389AB5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1.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研究概要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ノイズ増加時に精度が上がる問題への対応として，</a:t>
            </a:r>
            <a:r>
              <a:rPr sz="3200" b="1" dirty="0">
                <a:solidFill>
                  <a:srgbClr val="202427"/>
                </a:solidFill>
                <a:latin typeface="Yu Gothic"/>
              </a:rPr>
              <a:t>旧</a:t>
            </a: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学習方式</a:t>
            </a:r>
            <a:r>
              <a:rPr sz="3200" b="1" dirty="0" err="1">
                <a:solidFill>
                  <a:srgbClr val="202427"/>
                </a:solidFill>
                <a:latin typeface="Yu Gothic"/>
              </a:rPr>
              <a:t>を修正し</a:t>
            </a:r>
            <a:r>
              <a:rPr sz="3200" b="1" dirty="0">
                <a:solidFill>
                  <a:srgbClr val="202427"/>
                </a:solidFill>
                <a:latin typeface="Yu Gothic"/>
              </a:rPr>
              <a:t>，</a:t>
            </a: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「</a:t>
            </a:r>
            <a:r>
              <a:rPr sz="3200" b="1" dirty="0" err="1">
                <a:solidFill>
                  <a:srgbClr val="202427"/>
                </a:solidFill>
                <a:latin typeface="Yu Gothic"/>
              </a:rPr>
              <a:t>同じ学習済みモデルに雑音を加えて影響を調べる</a:t>
            </a: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方式」を実施</a:t>
            </a:r>
            <a:endParaRPr sz="3200" b="1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21" name="LEFT_TITLE"/>
          <p:cNvSpPr txBox="1"/>
          <p:nvPr/>
        </p:nvSpPr>
        <p:spPr>
          <a:xfrm>
            <a:off x="1575500" y="3009900"/>
            <a:ext cx="8568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 err="1">
                <a:solidFill>
                  <a:srgbClr val="2F6F73"/>
                </a:solidFill>
                <a:latin typeface="Yu Gothic"/>
              </a:rPr>
              <a:t>旧方式に含まれていた問題</a:t>
            </a:r>
            <a:endParaRPr sz="2800" b="1" dirty="0">
              <a:solidFill>
                <a:srgbClr val="2F6F73"/>
              </a:solidFill>
              <a:latin typeface="Yu Gothic"/>
            </a:endParaRPr>
          </a:p>
        </p:txBody>
      </p:sp>
      <p:sp>
        <p:nvSpPr>
          <p:cNvPr id="27" name="RIGHT_TITLE"/>
          <p:cNvSpPr txBox="1"/>
          <p:nvPr/>
        </p:nvSpPr>
        <p:spPr>
          <a:xfrm>
            <a:off x="9829800" y="3009900"/>
            <a:ext cx="6768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F6F73"/>
                </a:solidFill>
                <a:latin typeface="Yu Gothic"/>
              </a:rPr>
              <a:t>今回の評価方法</a:t>
            </a:r>
          </a:p>
        </p:txBody>
      </p:sp>
      <p:sp>
        <p:nvSpPr>
          <p:cNvPr id="36" name="MATCHED_CAVEAT_background"/>
          <p:cNvSpPr/>
          <p:nvPr/>
        </p:nvSpPr>
        <p:spPr>
          <a:xfrm>
            <a:off x="1512000" y="8572500"/>
            <a:ext cx="15912000" cy="792000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ATCHED_CAVEAT"/>
          <p:cNvSpPr txBox="1"/>
          <p:nvPr/>
        </p:nvSpPr>
        <p:spPr>
          <a:xfrm>
            <a:off x="1620000" y="8590500"/>
            <a:ext cx="15696000" cy="756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2F6F73"/>
                </a:solidFill>
                <a:latin typeface="Yu Gothic"/>
              </a:rPr>
              <a:t>各雑音条件で学習し直す評価では一部の精度回復が残ったため，今回は同じモデルを固定して比較する</a:t>
            </a:r>
            <a:endParaRPr sz="2500" b="1" dirty="0">
              <a:solidFill>
                <a:srgbClr val="2F6F73"/>
              </a:solidFill>
              <a:latin typeface="Yu Gothic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BD41ACF-3CFC-80A2-A097-E997DCC34F1B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1.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雑音評価方法の見直し</a:t>
            </a:r>
          </a:p>
        </p:txBody>
      </p:sp>
      <p:sp>
        <p:nvSpPr>
          <p:cNvPr id="20" name="LEFT_TITLE">
            <a:extLst>
              <a:ext uri="{FF2B5EF4-FFF2-40B4-BE49-F238E27FC236}">
                <a16:creationId xmlns:a16="http://schemas.microsoft.com/office/drawing/2014/main" id="{47680703-1880-4936-1731-9697CB9D8BA8}"/>
              </a:ext>
            </a:extLst>
          </p:cNvPr>
          <p:cNvSpPr txBox="1"/>
          <p:nvPr/>
        </p:nvSpPr>
        <p:spPr>
          <a:xfrm>
            <a:off x="1819495" y="3771900"/>
            <a:ext cx="7758589" cy="51747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marL="45720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ja-JP" altLang="en-US" sz="2800" b="1" dirty="0">
                <a:latin typeface="Yu Gothic"/>
              </a:rPr>
              <a:t>ノイズ付加データ作成時の問題</a:t>
            </a:r>
            <a:endParaRPr lang="en-US" altLang="ja-JP" sz="2800" b="1" dirty="0">
              <a:latin typeface="Yu Gothic"/>
            </a:endParaRPr>
          </a:p>
          <a:p>
            <a:pPr marL="914400" lvl="1" indent="-45720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ja-JP" altLang="en-US" sz="2800" b="1" dirty="0">
                <a:latin typeface="Yu Gothic"/>
              </a:rPr>
              <a:t>元の音の強さが付加した雑音の強さにも反映されていた</a:t>
            </a:r>
            <a:endParaRPr lang="en-US" altLang="ja-JP" sz="2800" b="1" dirty="0">
              <a:latin typeface="Yu Gothic"/>
            </a:endParaRPr>
          </a:p>
          <a:p>
            <a:pPr marL="914400" lvl="1" indent="-45720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ja-JP" altLang="en-US" sz="2800" b="1" dirty="0">
                <a:latin typeface="Yu Gothic"/>
              </a:rPr>
              <a:t>→ノイズが大きくなるにつれてノイズ自体を根拠として予測し，高い精度となっていた</a:t>
            </a:r>
            <a:endParaRPr lang="en-US" altLang="ja-JP" sz="2800" b="1" dirty="0">
              <a:latin typeface="Yu Gothic"/>
            </a:endParaRPr>
          </a:p>
          <a:p>
            <a:pPr marL="457200" indent="-45720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ja-JP" altLang="en-US" sz="2800" b="1" dirty="0">
                <a:latin typeface="Yu Gothic"/>
              </a:rPr>
              <a:t>学習と検証時の問題</a:t>
            </a:r>
            <a:endParaRPr lang="en-US" altLang="ja-JP" sz="2800" b="1" dirty="0">
              <a:latin typeface="Yu Gothic"/>
            </a:endParaRPr>
          </a:p>
          <a:p>
            <a:pPr marL="914400" lvl="1" indent="-45720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ja-JP" altLang="en-US" sz="2800" b="1" dirty="0">
                <a:latin typeface="Yu Gothic"/>
              </a:rPr>
              <a:t>どちらも同じノイズ強度で行われていた</a:t>
            </a:r>
            <a:endParaRPr lang="en-US" altLang="ja-JP" sz="2800" b="1" dirty="0">
              <a:latin typeface="Yu Gothic"/>
            </a:endParaRPr>
          </a:p>
          <a:p>
            <a:pPr marL="914400" lvl="1" indent="-45720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ja-JP" altLang="en-US" sz="2800" b="1" dirty="0">
                <a:latin typeface="Yu Gothic"/>
              </a:rPr>
              <a:t>→ノイズが大きくても高精度となっていた</a:t>
            </a:r>
            <a:endParaRPr sz="2800" b="1" dirty="0">
              <a:latin typeface="Yu Gothic"/>
            </a:endParaRPr>
          </a:p>
        </p:txBody>
      </p:sp>
      <p:sp>
        <p:nvSpPr>
          <p:cNvPr id="38" name="LEFT_TITLE">
            <a:extLst>
              <a:ext uri="{FF2B5EF4-FFF2-40B4-BE49-F238E27FC236}">
                <a16:creationId xmlns:a16="http://schemas.microsoft.com/office/drawing/2014/main" id="{AEB597FD-1A88-608C-F7BC-70AE795C68E5}"/>
              </a:ext>
            </a:extLst>
          </p:cNvPr>
          <p:cNvSpPr txBox="1"/>
          <p:nvPr/>
        </p:nvSpPr>
        <p:spPr>
          <a:xfrm>
            <a:off x="10061795" y="3771900"/>
            <a:ext cx="7758589" cy="51747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marL="45720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ja-JP" altLang="en-US" sz="2800" b="1" dirty="0">
                <a:latin typeface="Yu Gothic"/>
              </a:rPr>
              <a:t>学習時</a:t>
            </a:r>
            <a:endParaRPr lang="en-US" altLang="ja-JP" sz="2800" b="1" dirty="0">
              <a:latin typeface="Yu Gothic"/>
            </a:endParaRPr>
          </a:p>
          <a:p>
            <a:pPr marL="914400" lvl="1" indent="-45720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ja-JP" altLang="en-US" sz="2800" b="1" dirty="0">
                <a:latin typeface="Yu Gothic"/>
              </a:rPr>
              <a:t>無雑音データのみ</a:t>
            </a:r>
            <a:endParaRPr lang="en-US" altLang="ja-JP" sz="2800" b="1" dirty="0">
              <a:latin typeface="Yu Gothic"/>
            </a:endParaRPr>
          </a:p>
          <a:p>
            <a:pPr marL="914400" lvl="1" indent="-45720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ja-JP" altLang="en-US" sz="2800" b="1" dirty="0">
                <a:latin typeface="Yu Gothic"/>
              </a:rPr>
              <a:t>作成するモデルは上記無雑音データで学習したモデルのみ</a:t>
            </a:r>
            <a:endParaRPr lang="en-US" altLang="ja-JP" sz="2800" b="1" dirty="0">
              <a:latin typeface="Yu Gothic"/>
            </a:endParaRPr>
          </a:p>
          <a:p>
            <a:pPr marL="45720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ja-JP" altLang="en-US" sz="2800" b="1" dirty="0">
                <a:latin typeface="Yu Gothic"/>
              </a:rPr>
              <a:t>検証時</a:t>
            </a:r>
            <a:endParaRPr lang="en-US" altLang="ja-JP" sz="2800" b="1" dirty="0">
              <a:latin typeface="Yu Gothic"/>
            </a:endParaRPr>
          </a:p>
          <a:p>
            <a:pPr marL="914400" lvl="1" indent="-45720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ja-JP" altLang="en-US" sz="2800" b="1" dirty="0">
                <a:latin typeface="Yu Gothic"/>
              </a:rPr>
              <a:t>検証データでは，従来と同じく各ノイズ段階のデータを作成する</a:t>
            </a:r>
            <a:endParaRPr lang="en-US" altLang="ja-JP" sz="2800" b="1" dirty="0">
              <a:latin typeface="Yu Gothic"/>
            </a:endParaRPr>
          </a:p>
          <a:p>
            <a:pPr marL="914400" lvl="1" indent="-457200">
              <a:lnSpc>
                <a:spcPct val="115000"/>
              </a:lnSpc>
              <a:buFont typeface="Wingdings" panose="05000000000000000000" pitchFamily="2" charset="2"/>
              <a:buChar char="l"/>
            </a:pPr>
            <a:r>
              <a:rPr lang="ja-JP" altLang="en-US" sz="2800" b="1" dirty="0">
                <a:latin typeface="Yu Gothic"/>
              </a:rPr>
              <a:t>無雑音データ学習モデルを，無雑音～</a:t>
            </a:r>
            <a:r>
              <a:rPr lang="en-US" altLang="ja-JP" sz="2800" b="1" dirty="0">
                <a:latin typeface="Yu Gothic"/>
              </a:rPr>
              <a:t>SNR-20</a:t>
            </a:r>
            <a:r>
              <a:rPr lang="ja-JP" altLang="en-US" sz="2800" b="1" dirty="0">
                <a:latin typeface="Yu Gothic"/>
              </a:rPr>
              <a:t>のデータで検証する</a:t>
            </a:r>
            <a:endParaRPr sz="2800" b="1" dirty="0">
              <a:latin typeface="Yu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02427"/>
                </a:solidFill>
                <a:latin typeface="Yu Gothic"/>
              </a:rPr>
              <a:t>同じ録音の未使用区間で，3モデル・2種類の4モデル・5モデル構成を比較する</a:t>
            </a:r>
          </a:p>
        </p:txBody>
      </p:sp>
      <p:sp>
        <p:nvSpPr>
          <p:cNvPr id="30" name="MODEL_TITLE"/>
          <p:cNvSpPr txBox="1"/>
          <p:nvPr/>
        </p:nvSpPr>
        <p:spPr>
          <a:xfrm>
            <a:off x="9360000" y="3114000"/>
            <a:ext cx="8063999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F6F73"/>
                </a:solidFill>
                <a:latin typeface="Yu Gothic"/>
              </a:rPr>
              <a:t>比較したモデル構成</a:t>
            </a:r>
          </a:p>
        </p:txBody>
      </p:sp>
      <p:sp>
        <p:nvSpPr>
          <p:cNvPr id="31" name="ORIGINAL_3"/>
          <p:cNvSpPr/>
          <p:nvPr/>
        </p:nvSpPr>
        <p:spPr>
          <a:xfrm>
            <a:off x="9360000" y="3780000"/>
            <a:ext cx="8063999" cy="1530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RIGINAL_3_TEXT"/>
          <p:cNvSpPr txBox="1"/>
          <p:nvPr/>
        </p:nvSpPr>
        <p:spPr>
          <a:xfrm>
            <a:off x="9522000" y="3978000"/>
            <a:ext cx="7740000" cy="115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02427"/>
                </a:solidFill>
                <a:latin typeface="Yu Gothic"/>
              </a:rPr>
              <a:t>3モデル統合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02427"/>
                </a:solidFill>
                <a:latin typeface="Yu Gothic"/>
              </a:rPr>
              <a:t>Random Forest・Conformer・AlexNet</a:t>
            </a:r>
          </a:p>
        </p:txBody>
      </p:sp>
      <p:sp>
        <p:nvSpPr>
          <p:cNvPr id="33" name="4モデル①&#10;元3＋HGB"/>
          <p:cNvSpPr/>
          <p:nvPr/>
        </p:nvSpPr>
        <p:spPr>
          <a:xfrm>
            <a:off x="9360000" y="5760000"/>
            <a:ext cx="3870000" cy="1350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4モデル①&#10;元3＋HGB_TEXT"/>
          <p:cNvSpPr txBox="1"/>
          <p:nvPr/>
        </p:nvSpPr>
        <p:spPr>
          <a:xfrm>
            <a:off x="9439200" y="5903999"/>
            <a:ext cx="3708000" cy="106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4モデルA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3モデル＋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HistGradientBoosting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（勾配ブースティング）</a:t>
            </a:r>
          </a:p>
        </p:txBody>
      </p:sp>
      <p:sp>
        <p:nvSpPr>
          <p:cNvPr id="35" name="4モデル②&#10;元3＋ET"/>
          <p:cNvSpPr/>
          <p:nvPr/>
        </p:nvSpPr>
        <p:spPr>
          <a:xfrm>
            <a:off x="13554000" y="5760000"/>
            <a:ext cx="3870000" cy="1350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4モデル②&#10;元3＋ET_TEXT"/>
          <p:cNvSpPr txBox="1"/>
          <p:nvPr/>
        </p:nvSpPr>
        <p:spPr>
          <a:xfrm>
            <a:off x="13633200" y="5903999"/>
            <a:ext cx="3708000" cy="106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4モデルB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3モデル＋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ExtraTrees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（ランダム化決定木）</a:t>
            </a:r>
          </a:p>
        </p:txBody>
      </p:sp>
      <p:sp>
        <p:nvSpPr>
          <p:cNvPr id="37" name="FIVE"/>
          <p:cNvSpPr/>
          <p:nvPr/>
        </p:nvSpPr>
        <p:spPr>
          <a:xfrm>
            <a:off x="9360000" y="7560000"/>
            <a:ext cx="8063999" cy="917999"/>
          </a:xfrm>
          <a:prstGeom prst="roundRect">
            <a:avLst>
              <a:gd name="adj" fmla="val 12000"/>
            </a:avLst>
          </a:prstGeom>
          <a:solidFill>
            <a:srgbClr val="2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IVE_TEXT"/>
          <p:cNvSpPr txBox="1"/>
          <p:nvPr/>
        </p:nvSpPr>
        <p:spPr>
          <a:xfrm>
            <a:off x="9450000" y="7722000"/>
            <a:ext cx="7883999" cy="59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</a:rPr>
              <a:t>5モデル統合：3モデル＋HistGradientBoosting＋ExtraTrees</a:t>
            </a: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AA381A5B-FD23-6E5C-E12C-CD1F016C105E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1.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現在の評価条件とモデル構成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C408E-7E2F-9345-3C10-EBE7D4C82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C7845C05-BDF4-5E66-D0E6-FEECCAD8B7A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375F60F6-0072-BAA7-7A9C-540BBBB23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7196651C-5D53-41FE-3FF3-53BA42D74D2E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E58FC85B-6274-2A06-FA52-C89F7ACF94C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292EF0A9-135A-4F7C-7709-655601649947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1DB89365-5C81-3C89-F8B0-79C616E0D45C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711B80F6-9B6C-053D-5473-65710C2FF42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C1F0480E-1141-FAE7-D9DD-C5F457AFF7F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A286E351-9C1E-47C5-0C55-627BC4D0D12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82E3989E-AC16-8BAB-5DB2-3AC2BE91131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3F1B301D-2211-856E-25BA-43C60A352B2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A57FB398-5144-7257-A357-F76B4405A7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CED7CEC2-4126-8208-802E-BE7FAEC8BAB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0D7501F7-7925-5262-9B4C-731EDF8D7F0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A995759F-23AA-D037-F396-BCE1A75C9B6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1CBADD36-A0CA-D6F5-A37A-E3456A28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7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E83C99AF-6EA1-C365-8562-5565797CC3E2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今回の発表内容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CB05917-ACF5-1ACA-DCBE-01539A9CDF81}"/>
              </a:ext>
            </a:extLst>
          </p:cNvPr>
          <p:cNvSpPr txBox="1"/>
          <p:nvPr/>
        </p:nvSpPr>
        <p:spPr>
          <a:xfrm>
            <a:off x="3708400" y="4457700"/>
            <a:ext cx="1143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01</a:t>
            </a:r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
02
</a:t>
            </a:r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03</a:t>
            </a:r>
          </a:p>
          <a:p>
            <a:pPr algn="l"/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04</a:t>
            </a:r>
            <a:endParaRPr lang="ja-JP" altLang="en-US" sz="4400" dirty="0">
              <a:solidFill>
                <a:schemeClr val="bg1">
                  <a:lumMod val="95000"/>
                </a:schemeClr>
              </a:solidFill>
              <a:latin typeface="Yu Gothic"/>
              <a:ea typeface="Yu Gothic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B03215-F44A-AA6E-8134-4396E2FEE6E3}"/>
              </a:ext>
            </a:extLst>
          </p:cNvPr>
          <p:cNvSpPr txBox="1"/>
          <p:nvPr/>
        </p:nvSpPr>
        <p:spPr>
          <a:xfrm>
            <a:off x="5105400" y="4457700"/>
            <a:ext cx="10795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研究概要と雑音評価方法</a:t>
            </a:r>
          </a:p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熱流束回帰の結果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統合の働きと説明性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修士論文の構成と後期計画</a:t>
            </a:r>
          </a:p>
        </p:txBody>
      </p:sp>
    </p:spTree>
    <p:extLst>
      <p:ext uri="{BB962C8B-B14F-4D97-AF65-F5344CB8AC3E}">
        <p14:creationId xmlns:p14="http://schemas.microsoft.com/office/powerpoint/2010/main" val="3119481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02427"/>
                </a:solidFill>
                <a:latin typeface="Yu Gothic"/>
              </a:rPr>
              <a:t>5モデル統合は3モデル統合より，全7条件で全評価区間の予測誤差が小さかった</a:t>
            </a:r>
          </a:p>
        </p:txBody>
      </p:sp>
      <p:sp>
        <p:nvSpPr>
          <p:cNvPr id="21" name="REGRESSION_CHART_TITLE"/>
          <p:cNvSpPr txBox="1"/>
          <p:nvPr/>
        </p:nvSpPr>
        <p:spPr>
          <a:xfrm>
            <a:off x="1512000" y="2476500"/>
            <a:ext cx="9720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F6F73"/>
                </a:solidFill>
                <a:latin typeface="Yu Gothic"/>
              </a:rPr>
              <a:t>雑音の強さごとの予測誤差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9149E5B-CC25-6227-42C0-42BCE8F08878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2.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熱流束回帰の結果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E5E68892-71F8-F8EF-3385-FE5930936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416" y="3173383"/>
            <a:ext cx="13537168" cy="6575417"/>
          </a:xfrm>
          <a:prstGeom prst="rect">
            <a:avLst/>
          </a:prstGeom>
        </p:spPr>
      </p:pic>
      <p:sp>
        <p:nvSpPr>
          <p:cNvPr id="33" name="Right Arrow 22">
            <a:extLst>
              <a:ext uri="{FF2B5EF4-FFF2-40B4-BE49-F238E27FC236}">
                <a16:creationId xmlns:a16="http://schemas.microsoft.com/office/drawing/2014/main" id="{8E52E426-96FF-8E87-5190-B67AB8739FC9}"/>
              </a:ext>
            </a:extLst>
          </p:cNvPr>
          <p:cNvSpPr/>
          <p:nvPr/>
        </p:nvSpPr>
        <p:spPr>
          <a:xfrm rot="9208561">
            <a:off x="15431736" y="2904069"/>
            <a:ext cx="641130" cy="614828"/>
          </a:xfrm>
          <a:prstGeom prst="rightArrow">
            <a:avLst/>
          </a:prstGeom>
          <a:solidFill>
            <a:srgbClr val="63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ght Arrow 22">
            <a:extLst>
              <a:ext uri="{FF2B5EF4-FFF2-40B4-BE49-F238E27FC236}">
                <a16:creationId xmlns:a16="http://schemas.microsoft.com/office/drawing/2014/main" id="{E76435C6-3C28-5655-4109-C594A4FCE4CC}"/>
              </a:ext>
            </a:extLst>
          </p:cNvPr>
          <p:cNvSpPr/>
          <p:nvPr/>
        </p:nvSpPr>
        <p:spPr>
          <a:xfrm rot="10800000">
            <a:off x="15431737" y="3918866"/>
            <a:ext cx="641130" cy="614828"/>
          </a:xfrm>
          <a:prstGeom prst="rightArrow">
            <a:avLst/>
          </a:prstGeom>
          <a:solidFill>
            <a:srgbClr val="63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LEFT_TITLE">
            <a:extLst>
              <a:ext uri="{FF2B5EF4-FFF2-40B4-BE49-F238E27FC236}">
                <a16:creationId xmlns:a16="http://schemas.microsoft.com/office/drawing/2014/main" id="{FF9654EB-F6D3-1BA6-E672-71B53B7CA72E}"/>
              </a:ext>
            </a:extLst>
          </p:cNvPr>
          <p:cNvSpPr txBox="1"/>
          <p:nvPr/>
        </p:nvSpPr>
        <p:spPr>
          <a:xfrm>
            <a:off x="15316200" y="2322720"/>
            <a:ext cx="2971800" cy="660606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2800" b="1" dirty="0">
                <a:latin typeface="Yu Gothic"/>
              </a:rPr>
              <a:t>Original 3 model</a:t>
            </a:r>
            <a:endParaRPr sz="2800" b="1" dirty="0">
              <a:latin typeface="Yu Gothic"/>
            </a:endParaRPr>
          </a:p>
        </p:txBody>
      </p:sp>
      <p:sp>
        <p:nvSpPr>
          <p:cNvPr id="39" name="LEFT_TITLE">
            <a:extLst>
              <a:ext uri="{FF2B5EF4-FFF2-40B4-BE49-F238E27FC236}">
                <a16:creationId xmlns:a16="http://schemas.microsoft.com/office/drawing/2014/main" id="{F52FB467-E96A-0DA3-9060-FD7F6B688CB6}"/>
              </a:ext>
            </a:extLst>
          </p:cNvPr>
          <p:cNvSpPr txBox="1"/>
          <p:nvPr/>
        </p:nvSpPr>
        <p:spPr>
          <a:xfrm>
            <a:off x="16306800" y="4000500"/>
            <a:ext cx="2971800" cy="660606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ja-JP" sz="2800" b="1" dirty="0">
                <a:latin typeface="Yu Gothic"/>
              </a:rPr>
              <a:t>4, 5 model</a:t>
            </a:r>
            <a:endParaRPr sz="2800" b="1" dirty="0">
              <a:latin typeface="Yu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D756-A268-8FE9-47FB-88FF2066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013E24DA-33BA-6F1B-3386-B50610EE27E0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7ECDE1FF-DC89-DD33-5D7E-12A126A87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306F5AA1-F839-B6D0-E84F-3DC1AD8F7795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E58644DD-8604-C504-1615-53CB7C25F43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197F7840-F970-A7AF-60C8-62182F677FCB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3F1F9E3D-B55E-997A-0EE8-2CEB6EBE2359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7DB9F3B1-94F3-8A8D-CFE0-49D9704707E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C9B06D9A-58B2-7597-CE86-A7E252241E4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F5338D3A-CA0F-B21D-6670-39A37116B5E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43A65872-540B-C3CC-37CC-562AB8E2BE37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FC92E208-9B3E-F360-B87B-EF066C26DDF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29BADA9B-83AB-9D3E-1F78-4A37B793E2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C2DC9AC3-5706-84D5-1C5B-D5286FA47CAB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1C85206C-1363-D7DE-68FC-10061FE56E9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8649736E-C407-A98B-1C67-4E8DE55A87A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34082288-2B5D-A0EC-3C00-86763F4F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9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FAD34CF-2B7E-F7F5-53DF-7F54DE59646A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今回の発表内容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2A08B7-0749-A18A-03EF-D693D3181437}"/>
              </a:ext>
            </a:extLst>
          </p:cNvPr>
          <p:cNvSpPr txBox="1"/>
          <p:nvPr/>
        </p:nvSpPr>
        <p:spPr>
          <a:xfrm>
            <a:off x="3708400" y="4457700"/>
            <a:ext cx="1143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01</a:t>
            </a:r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
</a:t>
            </a:r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02</a:t>
            </a:r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
03</a:t>
            </a:r>
          </a:p>
          <a:p>
            <a:pPr algn="l"/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04</a:t>
            </a:r>
            <a:endParaRPr lang="ja-JP" altLang="en-US" sz="4400" dirty="0">
              <a:solidFill>
                <a:schemeClr val="bg1">
                  <a:lumMod val="95000"/>
                </a:schemeClr>
              </a:solidFill>
              <a:latin typeface="Yu Gothic"/>
              <a:ea typeface="Yu Gothic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11741AE-3E41-000D-11F7-0024A12E9935}"/>
              </a:ext>
            </a:extLst>
          </p:cNvPr>
          <p:cNvSpPr txBox="1"/>
          <p:nvPr/>
        </p:nvSpPr>
        <p:spPr>
          <a:xfrm>
            <a:off x="5105400" y="4457700"/>
            <a:ext cx="10795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研究概要と雑音評価方法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熱流束回帰の結果</a:t>
            </a:r>
          </a:p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統合の働きと説明性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修士論文の構成と後期計画</a:t>
            </a:r>
          </a:p>
        </p:txBody>
      </p:sp>
    </p:spTree>
    <p:extLst>
      <p:ext uri="{BB962C8B-B14F-4D97-AF65-F5344CB8AC3E}">
        <p14:creationId xmlns:p14="http://schemas.microsoft.com/office/powerpoint/2010/main" val="4098015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dirty="0">
                <a:solidFill>
                  <a:srgbClr val="202427"/>
                </a:solidFill>
                <a:latin typeface="Yu Gothic"/>
              </a:rPr>
              <a:t>改善には，過大・過小予測の相殺だけでなく，3つの予測群が同じ側に外れた場合の誤差縮小も含まれる</a:t>
            </a:r>
          </a:p>
        </p:txBody>
      </p:sp>
      <p:sp>
        <p:nvSpPr>
          <p:cNvPr id="20" name="REGION_TITLE"/>
          <p:cNvSpPr txBox="1"/>
          <p:nvPr/>
        </p:nvSpPr>
        <p:spPr>
          <a:xfrm>
            <a:off x="1512000" y="2754000"/>
            <a:ext cx="8496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F6F73"/>
                </a:solidFill>
                <a:latin typeface="Yu Gothic"/>
              </a:rPr>
              <a:t>どの熱流束領域で改善したか</a:t>
            </a:r>
          </a:p>
        </p:txBody>
      </p:sp>
      <p:sp>
        <p:nvSpPr>
          <p:cNvPr id="25" name="DIRECTION_TITLE"/>
          <p:cNvSpPr txBox="1"/>
          <p:nvPr/>
        </p:nvSpPr>
        <p:spPr>
          <a:xfrm>
            <a:off x="10548000" y="2754000"/>
            <a:ext cx="6876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/>
            <a:r>
              <a:rPr sz="2200" b="1">
                <a:solidFill>
                  <a:srgbClr val="2F6F73"/>
                </a:solidFill>
                <a:latin typeface="Yu Gothic"/>
              </a:rPr>
              <a:t>同じ側に外れた予測の寄与</a:t>
            </a:r>
          </a:p>
        </p:txBody>
      </p:sp>
      <p:sp>
        <p:nvSpPr>
          <p:cNvPr id="31" name="REGION_CAVEAT"/>
          <p:cNvSpPr txBox="1"/>
          <p:nvPr/>
        </p:nvSpPr>
        <p:spPr>
          <a:xfrm>
            <a:off x="1984934" y="8913020"/>
            <a:ext cx="8820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800" b="1" dirty="0">
                <a:solidFill>
                  <a:srgbClr val="202427"/>
                </a:solidFill>
                <a:latin typeface="Yu Gothic"/>
              </a:rPr>
              <a:t>→</a:t>
            </a:r>
            <a:r>
              <a:rPr sz="2800" b="1" dirty="0" err="1">
                <a:solidFill>
                  <a:srgbClr val="202427"/>
                </a:solidFill>
                <a:latin typeface="Yu Gothic"/>
              </a:rPr>
              <a:t>強い雑音下では核沸騰開始付近の誤差が悪化</a:t>
            </a:r>
            <a:endParaRPr sz="2800" b="1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33" name="DIRECTION_TAKEAWAY"/>
          <p:cNvSpPr txBox="1"/>
          <p:nvPr/>
        </p:nvSpPr>
        <p:spPr>
          <a:xfrm>
            <a:off x="11214262" y="8875520"/>
            <a:ext cx="6660000" cy="737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latin typeface="Yu Gothic"/>
              </a:rPr>
              <a:t>−20 </a:t>
            </a:r>
            <a:r>
              <a:rPr sz="2800" b="1" dirty="0" err="1">
                <a:latin typeface="Yu Gothic"/>
              </a:rPr>
              <a:t>dBでは，同じ側に外れた区間が</a:t>
            </a:r>
            <a:endParaRPr sz="2800" b="1" dirty="0">
              <a:latin typeface="Yu Gothic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latin typeface="Yu Gothic"/>
              </a:rPr>
              <a:t>全体の誤差減少の87.15%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1893BB9-023C-059F-867C-D27E6F25A83D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3.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統合が誤差を減らす仕組み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4DEE5952-2A10-D660-0BC9-8506C01A4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000" y="3474000"/>
            <a:ext cx="8187012" cy="4863630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16A120E7-7FD5-889E-6D04-8D5AB7E8E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3251700"/>
            <a:ext cx="8508814" cy="5317201"/>
          </a:xfrm>
          <a:prstGeom prst="rect">
            <a:avLst/>
          </a:prstGeom>
        </p:spPr>
      </p:pic>
      <p:sp>
        <p:nvSpPr>
          <p:cNvPr id="35" name="REGION_CAVEAT">
            <a:extLst>
              <a:ext uri="{FF2B5EF4-FFF2-40B4-BE49-F238E27FC236}">
                <a16:creationId xmlns:a16="http://schemas.microsoft.com/office/drawing/2014/main" id="{32867C88-608C-6C68-6288-84D7F5FFDEE7}"/>
              </a:ext>
            </a:extLst>
          </p:cNvPr>
          <p:cNvSpPr txBox="1"/>
          <p:nvPr/>
        </p:nvSpPr>
        <p:spPr>
          <a:xfrm>
            <a:off x="2438400" y="3186000"/>
            <a:ext cx="2511000" cy="8545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3200" b="1" dirty="0">
                <a:solidFill>
                  <a:srgbClr val="FF0000"/>
                </a:solidFill>
                <a:latin typeface="Yu Gothic"/>
              </a:rPr>
              <a:t>改善</a:t>
            </a:r>
            <a:endParaRPr sz="3200" b="1" dirty="0">
              <a:solidFill>
                <a:srgbClr val="FF0000"/>
              </a:solidFill>
              <a:latin typeface="Yu Gothic"/>
            </a:endParaRPr>
          </a:p>
        </p:txBody>
      </p:sp>
      <p:sp>
        <p:nvSpPr>
          <p:cNvPr id="37" name="REGION_CAVEAT">
            <a:extLst>
              <a:ext uri="{FF2B5EF4-FFF2-40B4-BE49-F238E27FC236}">
                <a16:creationId xmlns:a16="http://schemas.microsoft.com/office/drawing/2014/main" id="{C5F414E2-9FF9-E5FF-95E7-33C57EC9B479}"/>
              </a:ext>
            </a:extLst>
          </p:cNvPr>
          <p:cNvSpPr txBox="1"/>
          <p:nvPr/>
        </p:nvSpPr>
        <p:spPr>
          <a:xfrm>
            <a:off x="2438400" y="7804401"/>
            <a:ext cx="2511000" cy="8545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3200" b="1" dirty="0">
                <a:solidFill>
                  <a:srgbClr val="FF0000"/>
                </a:solidFill>
                <a:latin typeface="Yu Gothic"/>
              </a:rPr>
              <a:t>悪化</a:t>
            </a:r>
            <a:endParaRPr sz="3200" b="1" dirty="0">
              <a:solidFill>
                <a:srgbClr val="FF0000"/>
              </a:solidFill>
              <a:latin typeface="Yu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202427"/>
                </a:solidFill>
                <a:latin typeface="Yu Gothic"/>
              </a:rPr>
              <a:t>同じ入力加工</a:t>
            </a: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（時間順序の入れ替え）</a:t>
            </a:r>
            <a:r>
              <a:rPr sz="3200" b="1" dirty="0" err="1">
                <a:solidFill>
                  <a:srgbClr val="202427"/>
                </a:solidFill>
                <a:latin typeface="Yu Gothic"/>
              </a:rPr>
              <a:t>を全モデルに与え，利用する情報の違いを予測誤差の変化で確かめた</a:t>
            </a:r>
            <a:endParaRPr sz="3200" b="1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23" name="PERTURBATION_TITLE"/>
          <p:cNvSpPr txBox="1"/>
          <p:nvPr/>
        </p:nvSpPr>
        <p:spPr>
          <a:xfrm>
            <a:off x="1512000" y="2705100"/>
            <a:ext cx="9180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rgbClr val="2F6F73"/>
                </a:solidFill>
                <a:latin typeface="Yu Gothic"/>
              </a:rPr>
              <a:t>共通加工：時間順序の入れ替え</a:t>
            </a:r>
            <a:endParaRPr sz="2700" b="1" dirty="0">
              <a:solidFill>
                <a:srgbClr val="2F6F73"/>
              </a:solidFill>
              <a:latin typeface="Yu Gothic"/>
            </a:endParaRPr>
          </a:p>
        </p:txBody>
      </p:sp>
      <p:sp>
        <p:nvSpPr>
          <p:cNvPr id="28" name="ENSEMBLE_CHANGE_TITLE"/>
          <p:cNvSpPr txBox="1"/>
          <p:nvPr/>
        </p:nvSpPr>
        <p:spPr>
          <a:xfrm>
            <a:off x="11589070" y="3274601"/>
            <a:ext cx="6263999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F6F73"/>
                </a:solidFill>
                <a:latin typeface="Yu Gothic"/>
              </a:rPr>
              <a:t>統合後の予測誤差［kW/m²］</a:t>
            </a:r>
          </a:p>
        </p:txBody>
      </p:sp>
      <p:graphicFrame>
        <p:nvGraphicFramePr>
          <p:cNvPr id="29" name="PERTURBATION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122719"/>
              </p:ext>
            </p:extLst>
          </p:nvPr>
        </p:nvGraphicFramePr>
        <p:xfrm>
          <a:off x="11589070" y="3886602"/>
          <a:ext cx="6264000" cy="20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構成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加工前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加工後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3モデル統合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34.07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47.52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5モデル統合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27.80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 dirty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31.10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PERTURBATION_RIGHT_TAKEAWAY"/>
          <p:cNvSpPr txBox="1"/>
          <p:nvPr/>
        </p:nvSpPr>
        <p:spPr>
          <a:xfrm>
            <a:off x="11589070" y="6442602"/>
            <a:ext cx="6263999" cy="1278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2F6F73"/>
                </a:solidFill>
                <a:latin typeface="Yu Gothic"/>
              </a:rPr>
              <a:t>同じ加工でも</a:t>
            </a:r>
            <a:endParaRPr sz="2100" b="1" dirty="0">
              <a:solidFill>
                <a:srgbClr val="2F6F73"/>
              </a:solidFill>
              <a:latin typeface="Yu Gothic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2F6F73"/>
                </a:solidFill>
                <a:latin typeface="Yu Gothic"/>
              </a:rPr>
              <a:t>モデルによって影響の大きさが異なる</a:t>
            </a:r>
            <a:endParaRPr sz="2100" b="1" dirty="0">
              <a:solidFill>
                <a:srgbClr val="2F6F73"/>
              </a:solidFill>
              <a:latin typeface="Yu Gothic"/>
            </a:endParaRPr>
          </a:p>
        </p:txBody>
      </p:sp>
      <p:sp>
        <p:nvSpPr>
          <p:cNvPr id="32" name="XAI_TO_THESIS_background"/>
          <p:cNvSpPr/>
          <p:nvPr/>
        </p:nvSpPr>
        <p:spPr>
          <a:xfrm>
            <a:off x="1524588" y="8708165"/>
            <a:ext cx="15912000" cy="1012474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XAI_TO_THESIS"/>
          <p:cNvSpPr txBox="1"/>
          <p:nvPr/>
        </p:nvSpPr>
        <p:spPr>
          <a:xfrm>
            <a:off x="1632588" y="8923356"/>
            <a:ext cx="15696000" cy="61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2500" b="1" dirty="0">
                <a:solidFill>
                  <a:srgbClr val="2F6F73"/>
                </a:solidFill>
                <a:latin typeface="Yu Gothic"/>
              </a:rPr>
              <a:t>画像を扱う</a:t>
            </a:r>
            <a:r>
              <a:rPr lang="en-US" altLang="ja-JP" sz="2500" b="1" dirty="0">
                <a:solidFill>
                  <a:srgbClr val="2F6F73"/>
                </a:solidFill>
                <a:latin typeface="Yu Gothic"/>
              </a:rPr>
              <a:t>2</a:t>
            </a:r>
            <a:r>
              <a:rPr lang="ja-JP" altLang="en-US" sz="2500" b="1" dirty="0">
                <a:solidFill>
                  <a:srgbClr val="2F6F73"/>
                </a:solidFill>
                <a:latin typeface="Yu Gothic"/>
              </a:rPr>
              <a:t>モデルのみ悪影響が出た．このような形で，</a:t>
            </a:r>
            <a:r>
              <a:rPr sz="2500" b="1" dirty="0" err="1">
                <a:solidFill>
                  <a:srgbClr val="2F6F73"/>
                </a:solidFill>
                <a:latin typeface="Yu Gothic"/>
              </a:rPr>
              <a:t>同じ入力加工で性能変化を比較</a:t>
            </a:r>
            <a:r>
              <a:rPr sz="2500" b="1" dirty="0">
                <a:solidFill>
                  <a:srgbClr val="2F6F73"/>
                </a:solidFill>
                <a:latin typeface="Yu Gothic"/>
              </a:rPr>
              <a:t> → </a:t>
            </a:r>
            <a:r>
              <a:rPr sz="2500" b="1" dirty="0" err="1">
                <a:solidFill>
                  <a:srgbClr val="2F6F73"/>
                </a:solidFill>
                <a:latin typeface="Yu Gothic"/>
              </a:rPr>
              <a:t>誤差改善と対応づける</a:t>
            </a:r>
            <a:endParaRPr sz="2500" b="1" dirty="0">
              <a:solidFill>
                <a:srgbClr val="2F6F73"/>
              </a:solidFill>
              <a:latin typeface="Yu Gothic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97C3BB6B-9930-AA8F-3031-46D451EC8277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3.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前回までの対応事項に関して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B4370836-AF94-AAEF-911B-B64760D3F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025" y="3327027"/>
            <a:ext cx="9705975" cy="49655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5FBE1-6A8B-7A84-846D-D4825D5AE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99DA571-9ED6-707F-3D90-D755EF58E6F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B6BCC70D-6888-9427-7F70-02E27FD60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F4546120-FA47-95FB-2357-3D82917957C8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094DE42C-CA9B-45D3-C5FA-3B9C67111FF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426B3029-95B7-D9F6-85C9-5519079B145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94FBC57E-8306-55F2-839A-B61F9DED29FB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98A99A10-4AE0-C70E-A760-CD5538680C50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2DB0CC1B-CA2F-6699-D1A9-AB0294A57D1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CAA960C5-C80C-1786-B4C2-79CBF5401EC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F23DB12D-89BA-3765-9811-5612E0DD06D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5970E40D-9967-E895-FA42-C4B5B0BA09E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DB2B7A33-CE8A-EE7A-8275-81B51B8802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6D521E6B-5856-2ED3-C17C-03BF7AEA3538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53B0444A-419F-028E-BA06-FF503C62D21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8FF8D29F-C27D-C6A8-CF32-87BA8EAA78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F5E6F867-779C-CF4D-5581-CC27D98FD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12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3BEFFE5C-B7ED-AA26-D19F-584D7006D26A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今回の発表内容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C9F813F-9584-CE7B-4FF2-2B08D941754F}"/>
              </a:ext>
            </a:extLst>
          </p:cNvPr>
          <p:cNvSpPr txBox="1"/>
          <p:nvPr/>
        </p:nvSpPr>
        <p:spPr>
          <a:xfrm>
            <a:off x="3708400" y="4457700"/>
            <a:ext cx="1143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01
02
03</a:t>
            </a:r>
          </a:p>
          <a:p>
            <a:pPr algn="l"/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04</a:t>
            </a:r>
            <a:endParaRPr lang="ja-JP" altLang="en-US" sz="4400" dirty="0">
              <a:solidFill>
                <a:srgbClr val="202020"/>
              </a:solidFill>
              <a:latin typeface="Yu Gothic"/>
              <a:ea typeface="Yu Gothic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60045D-2961-9F55-8E7B-2F31DDF81329}"/>
              </a:ext>
            </a:extLst>
          </p:cNvPr>
          <p:cNvSpPr txBox="1"/>
          <p:nvPr/>
        </p:nvSpPr>
        <p:spPr>
          <a:xfrm>
            <a:off x="5105400" y="4457700"/>
            <a:ext cx="10795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研究概要と雑音評価方法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熱流束回帰の結果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統合の働きと説明性</a:t>
            </a:r>
          </a:p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修士論文の構成と後期計画</a:t>
            </a:r>
          </a:p>
        </p:txBody>
      </p:sp>
    </p:spTree>
    <p:extLst>
      <p:ext uri="{BB962C8B-B14F-4D97-AF65-F5344CB8AC3E}">
        <p14:creationId xmlns:p14="http://schemas.microsoft.com/office/powerpoint/2010/main" val="3799151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202427"/>
                </a:solidFill>
                <a:latin typeface="Yu Gothic"/>
              </a:rPr>
              <a:t>性能結果と改善理由の分析を中心に，これまでの成果を修士論文へ配置する</a:t>
            </a:r>
            <a:endParaRPr sz="3200" b="1" dirty="0">
              <a:solidFill>
                <a:srgbClr val="202427"/>
              </a:solidFill>
              <a:latin typeface="Yu Gothic"/>
            </a:endParaRPr>
          </a:p>
        </p:txBody>
      </p:sp>
      <p:graphicFrame>
        <p:nvGraphicFramePr>
          <p:cNvPr id="21" name="THESIS_TABLE"/>
          <p:cNvGraphicFramePr>
            <a:graphicFrameLocks noGrp="1"/>
          </p:cNvGraphicFramePr>
          <p:nvPr/>
        </p:nvGraphicFramePr>
        <p:xfrm>
          <a:off x="1512000" y="3006000"/>
          <a:ext cx="15912000" cy="549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00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章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内容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現在配置できる成果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1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緒論・研究目的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目的と研究の問いを整理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2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実験・音響データ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実験条件とデータの説明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3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熱流束回帰・沸騰開始判定方法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現在のモデル・評価方法を整理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4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雑音評価方法の検討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旧方式の問題と現在の方法を整理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02427"/>
                          </a:solidFill>
                          <a:latin typeface="Yu Gothic"/>
                        </a:rPr>
                        <a:t>5</a:t>
                      </a:r>
                    </a:p>
                  </a:txBody>
                  <a:tcPr marL="64800" marR="64800" marT="36000" marB="36000" anchor="ctr">
                    <a:solidFill>
                      <a:srgbClr val="E2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02427"/>
                          </a:solidFill>
                          <a:latin typeface="Yu Gothic"/>
                        </a:rPr>
                        <a:t>単体モデル・統合モデルの性能評価</a:t>
                      </a:r>
                    </a:p>
                  </a:txBody>
                  <a:tcPr marL="64800" marR="64800" marT="36000" marB="36000" anchor="ctr">
                    <a:solidFill>
                      <a:srgbClr val="E2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02427"/>
                          </a:solidFill>
                          <a:latin typeface="Yu Gothic"/>
                        </a:rPr>
                        <a:t>3・4・5モデルの回帰・判定結果</a:t>
                      </a:r>
                    </a:p>
                  </a:txBody>
                  <a:tcPr marL="64800" marR="64800" marT="36000" marB="36000" anchor="ctr">
                    <a:solidFill>
                      <a:srgbClr val="E2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02427"/>
                          </a:solidFill>
                          <a:latin typeface="Yu Gothic"/>
                        </a:rPr>
                        <a:t>6</a:t>
                      </a:r>
                    </a:p>
                  </a:txBody>
                  <a:tcPr marL="64800" marR="64800" marT="36000" marB="36000" anchor="ctr">
                    <a:solidFill>
                      <a:srgbClr val="E2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02427"/>
                          </a:solidFill>
                          <a:latin typeface="Yu Gothic"/>
                        </a:rPr>
                        <a:t>誤差と特徴利用の要因分析</a:t>
                      </a:r>
                    </a:p>
                  </a:txBody>
                  <a:tcPr marL="64800" marR="64800" marT="36000" marB="36000" anchor="ctr">
                    <a:solidFill>
                      <a:srgbClr val="E2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02427"/>
                          </a:solidFill>
                          <a:latin typeface="Yu Gothic"/>
                        </a:rPr>
                        <a:t>誤差の減り方と入力依存の違いを整理</a:t>
                      </a:r>
                    </a:p>
                  </a:txBody>
                  <a:tcPr marL="64800" marR="64800" marT="36000" marB="36000" anchor="ctr">
                    <a:solidFill>
                      <a:srgbClr val="E2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7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総合考察・結言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成果・限界・今後の課題をまとめる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TextBox 24">
            <a:extLst>
              <a:ext uri="{FF2B5EF4-FFF2-40B4-BE49-F238E27FC236}">
                <a16:creationId xmlns:a16="http://schemas.microsoft.com/office/drawing/2014/main" id="{DB578208-7713-FC95-AD36-2F4B81648604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4.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修士論文の構成案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BD478F2-93FB-7553-E103-A6B3839A5A0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D11835D-57AA-BE86-BCDE-68226B602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B78E05A-DEF5-2D6B-B55B-DB82EC5920C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EE9B645-6430-60ED-1258-90350A0DD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7D062015-C78C-B7BE-0F9C-81E88D230C46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0F8FF6D-0F13-7307-815B-B6A9447179C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1D664AF-D53E-642F-86FD-B1A855E2DB9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9CA5124-E45E-0CB1-1810-EE57DA2A98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0A1028B-7828-4E23-A025-A2A2D2431A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17D89E3-8887-6561-DC46-CE8A5DF780C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5489C4AE-4A0B-0D6B-1EBE-B87B0D43218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322874F-AD47-9232-CAC5-BCBEFE78F5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A393E3CE-4414-5AEF-237E-CCB15579622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340D6A49-4FDE-F2E2-098C-1B68ABAF617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07D97A3-99DD-DF89-C8F5-40F48C6E3F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9EC6C07-FABB-D71C-DE41-019BC555F7B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9</a:t>
            </a:r>
          </a:p>
        </p:txBody>
      </p:sp>
      <p:graphicFrame>
        <p:nvGraphicFramePr>
          <p:cNvPr id="47" name="表 46">
            <a:extLst>
              <a:ext uri="{FF2B5EF4-FFF2-40B4-BE49-F238E27FC236}">
                <a16:creationId xmlns:a16="http://schemas.microsoft.com/office/drawing/2014/main" id="{CA17F5A5-19DF-44BA-8312-DB8A65D33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826628"/>
              </p:ext>
            </p:extLst>
          </p:nvPr>
        </p:nvGraphicFramePr>
        <p:xfrm>
          <a:off x="1219200" y="1808480"/>
          <a:ext cx="16268702" cy="736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949312998"/>
                    </a:ext>
                  </a:extLst>
                </a:gridCol>
                <a:gridCol w="1443567">
                  <a:extLst>
                    <a:ext uri="{9D8B030D-6E8A-4147-A177-3AD203B41FA5}">
                      <a16:colId xmlns:a16="http://schemas.microsoft.com/office/drawing/2014/main" val="1609288016"/>
                    </a:ext>
                  </a:extLst>
                </a:gridCol>
                <a:gridCol w="1443567">
                  <a:extLst>
                    <a:ext uri="{9D8B030D-6E8A-4147-A177-3AD203B41FA5}">
                      <a16:colId xmlns:a16="http://schemas.microsoft.com/office/drawing/2014/main" val="4226321308"/>
                    </a:ext>
                  </a:extLst>
                </a:gridCol>
                <a:gridCol w="1443567">
                  <a:extLst>
                    <a:ext uri="{9D8B030D-6E8A-4147-A177-3AD203B41FA5}">
                      <a16:colId xmlns:a16="http://schemas.microsoft.com/office/drawing/2014/main" val="997688572"/>
                    </a:ext>
                  </a:extLst>
                </a:gridCol>
                <a:gridCol w="1443567">
                  <a:extLst>
                    <a:ext uri="{9D8B030D-6E8A-4147-A177-3AD203B41FA5}">
                      <a16:colId xmlns:a16="http://schemas.microsoft.com/office/drawing/2014/main" val="1418800255"/>
                    </a:ext>
                  </a:extLst>
                </a:gridCol>
                <a:gridCol w="1443567">
                  <a:extLst>
                    <a:ext uri="{9D8B030D-6E8A-4147-A177-3AD203B41FA5}">
                      <a16:colId xmlns:a16="http://schemas.microsoft.com/office/drawing/2014/main" val="4099334226"/>
                    </a:ext>
                  </a:extLst>
                </a:gridCol>
                <a:gridCol w="1443567">
                  <a:extLst>
                    <a:ext uri="{9D8B030D-6E8A-4147-A177-3AD203B41FA5}">
                      <a16:colId xmlns:a16="http://schemas.microsoft.com/office/drawing/2014/main" val="390282484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ja-JP" sz="2400" b="1" dirty="0">
                          <a:solidFill>
                            <a:srgbClr val="FFFFFF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大項目</a:t>
                      </a:r>
                      <a:endParaRPr lang="ja-JP" sz="2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127000" marR="76200" anchor="ctr">
                    <a:solidFill>
                      <a:srgbClr val="70A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小項目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9月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10月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11月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12月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1月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2月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35817"/>
                  </a:ext>
                </a:extLst>
              </a:tr>
              <a:tr h="558800">
                <a:tc rowSpan="3">
                  <a:txBody>
                    <a:bodyPr/>
                    <a:lstStyle/>
                    <a:p>
                      <a:pPr algn="l"/>
                      <a:r>
                        <a:rPr lang="ja-JP" sz="2400" b="1" dirty="0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① 評価設計・学習</a:t>
                      </a:r>
                      <a:endParaRPr lang="ja-JP" sz="2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algn="l"/>
                      <a:r>
                        <a:rPr lang="ja-JP" sz="2400" b="1" dirty="0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データの確定</a:t>
                      </a:r>
                      <a:endParaRPr lang="ja-JP" sz="2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実験別に学習／テストデータを分割の実装</a:t>
                      </a: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772760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沸騰後のデータで閾値を設定・スクリーニング実装</a:t>
                      </a: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850233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上記実装でアンサンブル検証（全条件）</a:t>
                      </a: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159921"/>
                  </a:ext>
                </a:extLst>
              </a:tr>
              <a:tr h="558800">
                <a:tc rowSpan="3">
                  <a:txBody>
                    <a:bodyPr/>
                    <a:lstStyle/>
                    <a:p>
                      <a:pPr algn="l"/>
                      <a:r>
                        <a:rPr lang="ja-JP" sz="2400" b="1" dirty="0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② アンサンブル手法</a:t>
                      </a:r>
                      <a:endParaRPr lang="ja-JP" sz="2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algn="l"/>
                      <a:r>
                        <a:rPr lang="ja-JP" sz="2400" b="1" dirty="0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の確立</a:t>
                      </a:r>
                      <a:endParaRPr lang="ja-JP" sz="2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【</a:t>
                      </a:r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必要なら</a:t>
                      </a:r>
                      <a:r>
                        <a:rPr lang="en-US" altLang="ja-JP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】</a:t>
                      </a:r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単体モデルを下回る条件・要因を調査・整理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821586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【</a:t>
                      </a:r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必要なら</a:t>
                      </a:r>
                      <a:r>
                        <a:rPr lang="en-US" altLang="ja-JP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】</a:t>
                      </a:r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必要に応じて新たなアンサンブル手法を調査・実装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278673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【</a:t>
                      </a:r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必要なら</a:t>
                      </a:r>
                      <a:r>
                        <a:rPr lang="en-US" altLang="ja-JP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】</a:t>
                      </a:r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複数手法の比較でアンサンブル方法を確定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385712"/>
                  </a:ext>
                </a:extLst>
              </a:tr>
              <a:tr h="558800">
                <a:tc rowSpan="2">
                  <a:txBody>
                    <a:bodyPr/>
                    <a:lstStyle/>
                    <a:p>
                      <a:pPr algn="l"/>
                      <a:r>
                        <a:rPr lang="ja-JP" sz="2400" b="1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③ 説明性を用いた要</a:t>
                      </a:r>
                      <a:endParaRPr lang="ja-JP" sz="240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algn="l"/>
                      <a:r>
                        <a:rPr lang="ja-JP" sz="2400" b="1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因分析・検証</a:t>
                      </a:r>
                      <a:endParaRPr lang="ja-JP" sz="240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説明性指標で特徴利用を可視化・比較</a:t>
                      </a: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97552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各指標を踏まえて学習・推論パイプラインに活用できるか模索・実装・考察</a:t>
                      </a: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 dirty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01246"/>
                  </a:ext>
                </a:extLst>
              </a:tr>
              <a:tr h="558800">
                <a:tc rowSpan="3">
                  <a:txBody>
                    <a:bodyPr/>
                    <a:lstStyle/>
                    <a:p>
                      <a:pPr algn="l"/>
                      <a:r>
                        <a:rPr lang="ja-JP" sz="2400" b="1" dirty="0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④ 修論執筆・発表準</a:t>
                      </a:r>
                      <a:endParaRPr lang="ja-JP" sz="2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algn="l"/>
                      <a:r>
                        <a:rPr lang="ja-JP" sz="2400" b="1" dirty="0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</a:t>
                      </a:r>
                      <a:endParaRPr lang="ja-JP" sz="2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背景・実験方法（など書ける範囲から進めたい）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 dirty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449433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結果・考察・結論の整理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 dirty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864456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論文執筆完了・発表資料作成・発表練習など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 dirty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157597"/>
                  </a:ext>
                </a:extLst>
              </a:tr>
            </a:tbl>
          </a:graphicData>
        </a:graphic>
      </p:graphicFrame>
      <p:sp>
        <p:nvSpPr>
          <p:cNvPr id="59" name="矢印: 右 58">
            <a:extLst>
              <a:ext uri="{FF2B5EF4-FFF2-40B4-BE49-F238E27FC236}">
                <a16:creationId xmlns:a16="http://schemas.microsoft.com/office/drawing/2014/main" id="{D34DF569-FC79-4BB4-8B5E-7C19524629EA}"/>
              </a:ext>
            </a:extLst>
          </p:cNvPr>
          <p:cNvSpPr/>
          <p:nvPr/>
        </p:nvSpPr>
        <p:spPr>
          <a:xfrm>
            <a:off x="9620461" y="2418080"/>
            <a:ext cx="938318" cy="520700"/>
          </a:xfrm>
          <a:prstGeom prst="rightArrow">
            <a:avLst/>
          </a:prstGeom>
          <a:solidFill>
            <a:schemeClr val="bg1">
              <a:lumMod val="75000"/>
              <a:alpha val="93333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0" name="矢印: 右 59">
            <a:extLst>
              <a:ext uri="{FF2B5EF4-FFF2-40B4-BE49-F238E27FC236}">
                <a16:creationId xmlns:a16="http://schemas.microsoft.com/office/drawing/2014/main" id="{8236D079-26BE-4267-B3E8-D7B70D31F6EA}"/>
              </a:ext>
            </a:extLst>
          </p:cNvPr>
          <p:cNvSpPr/>
          <p:nvPr/>
        </p:nvSpPr>
        <p:spPr>
          <a:xfrm>
            <a:off x="9620461" y="3022600"/>
            <a:ext cx="938318" cy="520700"/>
          </a:xfrm>
          <a:prstGeom prst="rightArrow">
            <a:avLst/>
          </a:prstGeom>
          <a:solidFill>
            <a:schemeClr val="bg1">
              <a:lumMod val="75000"/>
              <a:alpha val="93333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1" name="矢印: 右 60">
            <a:extLst>
              <a:ext uri="{FF2B5EF4-FFF2-40B4-BE49-F238E27FC236}">
                <a16:creationId xmlns:a16="http://schemas.microsoft.com/office/drawing/2014/main" id="{598DB384-3834-4A6E-88C7-56ED64B1610A}"/>
              </a:ext>
            </a:extLst>
          </p:cNvPr>
          <p:cNvSpPr/>
          <p:nvPr/>
        </p:nvSpPr>
        <p:spPr>
          <a:xfrm>
            <a:off x="9982200" y="3713480"/>
            <a:ext cx="576579" cy="520700"/>
          </a:xfrm>
          <a:prstGeom prst="rightArrow">
            <a:avLst/>
          </a:prstGeom>
          <a:solidFill>
            <a:schemeClr val="bg1">
              <a:lumMod val="75000"/>
              <a:alpha val="93333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2" name="矢印: 右 61">
            <a:extLst>
              <a:ext uri="{FF2B5EF4-FFF2-40B4-BE49-F238E27FC236}">
                <a16:creationId xmlns:a16="http://schemas.microsoft.com/office/drawing/2014/main" id="{4938EDE1-97DD-420B-AF51-448FC8A8F529}"/>
              </a:ext>
            </a:extLst>
          </p:cNvPr>
          <p:cNvSpPr/>
          <p:nvPr/>
        </p:nvSpPr>
        <p:spPr>
          <a:xfrm>
            <a:off x="9981353" y="4331970"/>
            <a:ext cx="1010496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3" name="矢印: 右 62">
            <a:extLst>
              <a:ext uri="{FF2B5EF4-FFF2-40B4-BE49-F238E27FC236}">
                <a16:creationId xmlns:a16="http://schemas.microsoft.com/office/drawing/2014/main" id="{0AE1CEB5-7EBA-4989-96FD-CBE69C6CF335}"/>
              </a:ext>
            </a:extLst>
          </p:cNvPr>
          <p:cNvSpPr/>
          <p:nvPr/>
        </p:nvSpPr>
        <p:spPr>
          <a:xfrm>
            <a:off x="11485562" y="4911090"/>
            <a:ext cx="938318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4" name="矢印: 右 63">
            <a:extLst>
              <a:ext uri="{FF2B5EF4-FFF2-40B4-BE49-F238E27FC236}">
                <a16:creationId xmlns:a16="http://schemas.microsoft.com/office/drawing/2014/main" id="{EA5FB593-F8A7-47ED-8FE0-2DEC3D5FBF3D}"/>
              </a:ext>
            </a:extLst>
          </p:cNvPr>
          <p:cNvSpPr/>
          <p:nvPr/>
        </p:nvSpPr>
        <p:spPr>
          <a:xfrm>
            <a:off x="11706331" y="5582972"/>
            <a:ext cx="692912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5" name="矢印: 右 64">
            <a:extLst>
              <a:ext uri="{FF2B5EF4-FFF2-40B4-BE49-F238E27FC236}">
                <a16:creationId xmlns:a16="http://schemas.microsoft.com/office/drawing/2014/main" id="{08F95DCF-0470-4027-83DB-67FE192B535C}"/>
              </a:ext>
            </a:extLst>
          </p:cNvPr>
          <p:cNvSpPr/>
          <p:nvPr/>
        </p:nvSpPr>
        <p:spPr>
          <a:xfrm>
            <a:off x="9620461" y="6162040"/>
            <a:ext cx="1371388" cy="520700"/>
          </a:xfrm>
          <a:prstGeom prst="rightArrow">
            <a:avLst/>
          </a:prstGeom>
          <a:solidFill>
            <a:schemeClr val="bg1">
              <a:lumMod val="75000"/>
              <a:alpha val="93333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6" name="矢印: 右 65">
            <a:extLst>
              <a:ext uri="{FF2B5EF4-FFF2-40B4-BE49-F238E27FC236}">
                <a16:creationId xmlns:a16="http://schemas.microsoft.com/office/drawing/2014/main" id="{034692D6-33FA-4224-BC94-AEBDF0ACEF64}"/>
              </a:ext>
            </a:extLst>
          </p:cNvPr>
          <p:cNvSpPr/>
          <p:nvPr/>
        </p:nvSpPr>
        <p:spPr>
          <a:xfrm>
            <a:off x="10515600" y="6775554"/>
            <a:ext cx="1896343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dirty="0"/>
          </a:p>
        </p:txBody>
      </p:sp>
      <p:sp>
        <p:nvSpPr>
          <p:cNvPr id="69" name="矢印: 右 68">
            <a:extLst>
              <a:ext uri="{FF2B5EF4-FFF2-40B4-BE49-F238E27FC236}">
                <a16:creationId xmlns:a16="http://schemas.microsoft.com/office/drawing/2014/main" id="{EAC33907-6CA1-4E71-B9D5-716E2E981F75}"/>
              </a:ext>
            </a:extLst>
          </p:cNvPr>
          <p:cNvSpPr/>
          <p:nvPr/>
        </p:nvSpPr>
        <p:spPr>
          <a:xfrm>
            <a:off x="10558779" y="7429500"/>
            <a:ext cx="2381887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70" name="矢印: 右 69">
            <a:extLst>
              <a:ext uri="{FF2B5EF4-FFF2-40B4-BE49-F238E27FC236}">
                <a16:creationId xmlns:a16="http://schemas.microsoft.com/office/drawing/2014/main" id="{E72717AE-64DA-45FB-BB23-5FE9D2D1929D}"/>
              </a:ext>
            </a:extLst>
          </p:cNvPr>
          <p:cNvSpPr/>
          <p:nvPr/>
        </p:nvSpPr>
        <p:spPr>
          <a:xfrm>
            <a:off x="12877800" y="8039100"/>
            <a:ext cx="1082675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71" name="矢印: 右 70">
            <a:extLst>
              <a:ext uri="{FF2B5EF4-FFF2-40B4-BE49-F238E27FC236}">
                <a16:creationId xmlns:a16="http://schemas.microsoft.com/office/drawing/2014/main" id="{73B7A278-A94A-4AF4-AC8E-F2A1B5321EB6}"/>
              </a:ext>
            </a:extLst>
          </p:cNvPr>
          <p:cNvSpPr/>
          <p:nvPr/>
        </p:nvSpPr>
        <p:spPr>
          <a:xfrm>
            <a:off x="13960474" y="8608060"/>
            <a:ext cx="2346325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2A01B58C-24A4-65F3-D0FA-817BFF85E8E3}"/>
              </a:ext>
            </a:extLst>
          </p:cNvPr>
          <p:cNvSpPr txBox="1"/>
          <p:nvPr/>
        </p:nvSpPr>
        <p:spPr>
          <a:xfrm>
            <a:off x="1806795" y="305043"/>
            <a:ext cx="9652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</a:rPr>
              <a:t>4.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</a:rPr>
              <a:t>後期の研究計画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95A5FCC-5388-65C1-12BE-4C017000DFAF}"/>
              </a:ext>
            </a:extLst>
          </p:cNvPr>
          <p:cNvSpPr txBox="1"/>
          <p:nvPr/>
        </p:nvSpPr>
        <p:spPr>
          <a:xfrm>
            <a:off x="10291656" y="3480383"/>
            <a:ext cx="1400386" cy="1003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ja-JP" altLang="en-US" sz="28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今ここ</a:t>
            </a:r>
            <a:endParaRPr lang="ja-JP" altLang="en-US" sz="2800" b="1" dirty="0">
              <a:solidFill>
                <a:srgbClr val="22222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5411C9D-E9FD-84BD-1353-69D239F0FB69}"/>
              </a:ext>
            </a:extLst>
          </p:cNvPr>
          <p:cNvSpPr txBox="1"/>
          <p:nvPr/>
        </p:nvSpPr>
        <p:spPr>
          <a:xfrm>
            <a:off x="10125710" y="5920740"/>
            <a:ext cx="1400386" cy="1003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ja-JP" altLang="en-US" sz="28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今ここ</a:t>
            </a:r>
            <a:endParaRPr lang="ja-JP" altLang="en-US" sz="2800" b="1" dirty="0">
              <a:solidFill>
                <a:srgbClr val="22222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2502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482E6">
            <a:alpha val="94000"/>
          </a:srgbClr>
        </a:solidFill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5D7A1B7-69B7-4925-99B8-A306950AE00F}">
  <we:reference id="wa200010001" version="1.0.0.1" store="ja-JP" storeType="OMEX"/>
  <we:alternateReferences>
    <we:reference id="WA200010001" version="1.0.0.1" store="WA200010001" storeType="OMEX"/>
  </we:alternateReferences>
  <we:properties>
    <we:property name="claude.fileId" value="&quot;47c20542-9aa0-420f-8b84-a53bce3b6a32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1E0504D-397B-4E0E-9870-3BF79C012794}">
  <we:reference id="wa200010215" version="2.0.0.1" store="ja-JP" storeType="OMEX"/>
  <we:alternateReferences>
    <we:reference id="WA200010215" version="2.0.0.1" store="WA200010215" storeType="OMEX"/>
  </we:alternateReferences>
  <we:properties>
    <we:property name="bps.codex_control.document_id" value="&quot;923187e9-0861-413e-9a76-03a2dc2aca9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27276</TotalTime>
  <Words>855</Words>
  <Application>Microsoft Office PowerPoint</Application>
  <PresentationFormat>ユーザー設定</PresentationFormat>
  <Paragraphs>201</Paragraphs>
  <Slides>14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4" baseType="lpstr">
      <vt:lpstr>游ゴシック</vt:lpstr>
      <vt:lpstr>Calibri</vt:lpstr>
      <vt:lpstr>ＭＳ Ｐゴシック</vt:lpstr>
      <vt:lpstr>Century Gothic Paneuropean</vt:lpstr>
      <vt:lpstr>Source Han Sans JP Bold</vt:lpstr>
      <vt:lpstr>Source Han Sans JP</vt:lpstr>
      <vt:lpstr>Wingdings</vt:lpstr>
      <vt:lpstr>游ゴシック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研究進捗 2026年10月16日：図差し替え用11枚</dc:title>
  <dc:subject>本人の再検討案を基にした編集用スライド。実験グラフは挿入枠。</dc:subject>
  <dc:creator>柴崎陸</dc:creator>
  <cp:keywords>研究進捗, アンサンブル, ONB, 編集用, 2026-10-16</cp:keywords>
  <dc:description>添付PPTXの表紙・大学装飾を保持。グラフは後挿入。原ファイル未変更。</dc:description>
  <cp:lastModifiedBy>陸 柴崎</cp:lastModifiedBy>
  <cp:revision>298</cp:revision>
  <dcterms:created xsi:type="dcterms:W3CDTF">2006-08-16T00:00:00Z</dcterms:created>
  <dcterms:modified xsi:type="dcterms:W3CDTF">2026-10-16T02:29:23Z</dcterms:modified>
  <dc:identifier>DAGKJCfN4aw</dc:identifier>
</cp:coreProperties>
</file>